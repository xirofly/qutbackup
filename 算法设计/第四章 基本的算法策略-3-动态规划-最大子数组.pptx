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8"/>
  </p:notesMasterIdLst>
  <p:sldIdLst>
    <p:sldId id="395" r:id="rId2"/>
    <p:sldId id="259" r:id="rId3"/>
    <p:sldId id="425" r:id="rId4"/>
    <p:sldId id="484" r:id="rId5"/>
    <p:sldId id="422" r:id="rId6"/>
    <p:sldId id="423" r:id="rId7"/>
    <p:sldId id="424" r:id="rId8"/>
    <p:sldId id="478" r:id="rId9"/>
    <p:sldId id="479" r:id="rId10"/>
    <p:sldId id="427" r:id="rId11"/>
    <p:sldId id="480" r:id="rId12"/>
    <p:sldId id="481" r:id="rId13"/>
    <p:sldId id="435" r:id="rId14"/>
    <p:sldId id="436" r:id="rId15"/>
    <p:sldId id="440" r:id="rId16"/>
    <p:sldId id="441" r:id="rId17"/>
    <p:sldId id="437" r:id="rId18"/>
    <p:sldId id="438" r:id="rId19"/>
    <p:sldId id="439" r:id="rId20"/>
    <p:sldId id="448" r:id="rId21"/>
    <p:sldId id="454" r:id="rId22"/>
    <p:sldId id="457" r:id="rId23"/>
    <p:sldId id="458" r:id="rId24"/>
    <p:sldId id="459" r:id="rId25"/>
    <p:sldId id="460" r:id="rId26"/>
    <p:sldId id="461" r:id="rId27"/>
    <p:sldId id="462" r:id="rId28"/>
    <p:sldId id="463" r:id="rId29"/>
    <p:sldId id="469" r:id="rId30"/>
    <p:sldId id="474" r:id="rId31"/>
    <p:sldId id="526" r:id="rId32"/>
    <p:sldId id="287" r:id="rId33"/>
    <p:sldId id="288" r:id="rId34"/>
    <p:sldId id="289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10" r:id="rId54"/>
    <p:sldId id="312" r:id="rId55"/>
    <p:sldId id="313" r:id="rId56"/>
    <p:sldId id="314" r:id="rId57"/>
    <p:sldId id="315" r:id="rId58"/>
    <p:sldId id="316" r:id="rId59"/>
    <p:sldId id="317" r:id="rId60"/>
    <p:sldId id="318" r:id="rId61"/>
    <p:sldId id="319" r:id="rId62"/>
    <p:sldId id="320" r:id="rId63"/>
    <p:sldId id="321" r:id="rId64"/>
    <p:sldId id="322" r:id="rId65"/>
    <p:sldId id="323" r:id="rId66"/>
    <p:sldId id="324" r:id="rId67"/>
    <p:sldId id="325" r:id="rId68"/>
    <p:sldId id="326" r:id="rId69"/>
    <p:sldId id="327" r:id="rId70"/>
    <p:sldId id="328" r:id="rId71"/>
    <p:sldId id="329" r:id="rId72"/>
    <p:sldId id="330" r:id="rId73"/>
    <p:sldId id="331" r:id="rId74"/>
    <p:sldId id="332" r:id="rId75"/>
    <p:sldId id="333" r:id="rId76"/>
    <p:sldId id="334" r:id="rId77"/>
    <p:sldId id="335" r:id="rId78"/>
    <p:sldId id="336" r:id="rId79"/>
    <p:sldId id="337" r:id="rId80"/>
    <p:sldId id="338" r:id="rId81"/>
    <p:sldId id="339" r:id="rId82"/>
    <p:sldId id="340" r:id="rId83"/>
    <p:sldId id="341" r:id="rId84"/>
    <p:sldId id="342" r:id="rId85"/>
    <p:sldId id="343" r:id="rId86"/>
    <p:sldId id="344" r:id="rId87"/>
    <p:sldId id="345" r:id="rId88"/>
    <p:sldId id="346" r:id="rId89"/>
    <p:sldId id="347" r:id="rId90"/>
    <p:sldId id="348" r:id="rId91"/>
    <p:sldId id="349" r:id="rId92"/>
    <p:sldId id="350" r:id="rId93"/>
    <p:sldId id="351" r:id="rId94"/>
    <p:sldId id="352" r:id="rId95"/>
    <p:sldId id="353" r:id="rId96"/>
    <p:sldId id="354" r:id="rId97"/>
    <p:sldId id="355" r:id="rId98"/>
    <p:sldId id="356" r:id="rId99"/>
    <p:sldId id="357" r:id="rId100"/>
    <p:sldId id="358" r:id="rId101"/>
    <p:sldId id="359" r:id="rId102"/>
    <p:sldId id="360" r:id="rId103"/>
    <p:sldId id="361" r:id="rId104"/>
    <p:sldId id="362" r:id="rId105"/>
    <p:sldId id="363" r:id="rId106"/>
    <p:sldId id="364" r:id="rId10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834"/>
    <p:restoredTop sz="85672"/>
  </p:normalViewPr>
  <p:slideViewPr>
    <p:cSldViewPr snapToGrid="0" snapToObjects="1">
      <p:cViewPr varScale="1">
        <p:scale>
          <a:sx n="106" d="100"/>
          <a:sy n="106" d="100"/>
        </p:scale>
        <p:origin x="200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tableStyles" Target="tableStyle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notesMaster" Target="notesMasters/notesMaster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presProps" Target="presProp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7A31A9-199E-0040-B421-36D8B674C3C2}" type="datetimeFigureOut">
              <a:rPr kumimoji="1" lang="zh-CN" altLang="en-US" smtClean="0"/>
              <a:t>2023/5/24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91ABD9-FA3A-ED42-B2DF-4A75A1E7DD1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20058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6B3782-2C2A-4249-98A3-D66C57BFD1C7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AA5F0-770B-410C-90B7-ECBA0CF9027F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1ABD9-FA3A-ED42-B2DF-4A75A1E7DD15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254662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1ABD9-FA3A-ED42-B2DF-4A75A1E7DD15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763064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1ABD9-FA3A-ED42-B2DF-4A75A1E7DD15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405138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1ABD9-FA3A-ED42-B2DF-4A75A1E7DD15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006781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1ABD9-FA3A-ED42-B2DF-4A75A1E7DD15}" type="slidenum">
              <a:rPr kumimoji="1" lang="zh-CN" altLang="en-US" smtClean="0"/>
              <a:t>16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779966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1ABD9-FA3A-ED42-B2DF-4A75A1E7DD15}" type="slidenum">
              <a:rPr kumimoji="1" lang="zh-CN" altLang="en-US" smtClean="0"/>
              <a:t>18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425668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如果是一个未受过算法设计训练的同学来做，通常会想到蛮力枚举这种方法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1ABD9-FA3A-ED42-B2DF-4A75A1E7DD15}" type="slidenum">
              <a:rPr kumimoji="1" lang="zh-CN" altLang="en-US" smtClean="0"/>
              <a:t>19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559803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假定我们给出一个起始和结束下标，</a:t>
            </a:r>
            <a:r>
              <a:rPr kumimoji="1" lang="en-US" altLang="zh-CN" dirty="0"/>
              <a:t>l</a:t>
            </a:r>
            <a:r>
              <a:rPr kumimoji="1" lang="zh-CN" altLang="en-US" dirty="0"/>
              <a:t>和</a:t>
            </a:r>
            <a:r>
              <a:rPr kumimoji="1" lang="en-US" altLang="zh-CN"/>
              <a:t>r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1ABD9-FA3A-ED42-B2DF-4A75A1E7DD15}" type="slidenum">
              <a:rPr kumimoji="1" lang="zh-CN" altLang="en-US" smtClean="0"/>
              <a:t>20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597265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算法虽然很容易理解，很简单，但是它的开销并不低，我们来看一下时间复杂度。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1ABD9-FA3A-ED42-B2DF-4A75A1E7DD15}" type="slidenum">
              <a:rPr kumimoji="1" lang="zh-CN" altLang="en-US" smtClean="0"/>
              <a:t>21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477887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我们稍微观察一下，可以发现这个计算过程存在重复计算，其中有</a:t>
            </a:r>
            <a:r>
              <a:rPr kumimoji="1" lang="en-US" altLang="zh-CN" dirty="0"/>
              <a:t>6</a:t>
            </a:r>
            <a:r>
              <a:rPr kumimoji="1" lang="zh-CN" altLang="en-US" dirty="0"/>
              <a:t>位数在之前</a:t>
            </a:r>
            <a:r>
              <a:rPr kumimoji="1" lang="en-US" altLang="zh-CN" dirty="0"/>
              <a:t>S(3,8)</a:t>
            </a:r>
            <a:r>
              <a:rPr kumimoji="1" lang="zh-CN" altLang="en-US" dirty="0"/>
              <a:t>里面算过，在</a:t>
            </a:r>
            <a:r>
              <a:rPr kumimoji="1" lang="en-US" altLang="zh-CN" dirty="0"/>
              <a:t>S(3,9)</a:t>
            </a:r>
            <a:r>
              <a:rPr kumimoji="1" lang="zh-CN" altLang="en-US" dirty="0"/>
              <a:t>里又重复计算了，如何避免这种重复计算，可以启发我们优化枚举。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1ABD9-FA3A-ED42-B2DF-4A75A1E7DD15}" type="slidenum">
              <a:rPr kumimoji="1" lang="zh-CN" altLang="en-US" smtClean="0"/>
              <a:t>22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95416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枚举算法已经优化到这个地步了，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1ABD9-FA3A-ED42-B2DF-4A75A1E7DD15}" type="slidenum">
              <a:rPr kumimoji="1" lang="zh-CN" altLang="en-US" smtClean="0"/>
              <a:t>29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438445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1ABD9-FA3A-ED42-B2DF-4A75A1E7DD15}" type="slidenum">
              <a:rPr kumimoji="1" lang="zh-CN" altLang="en-US" smtClean="0"/>
              <a:t>30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305380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第一种情况，有了第</a:t>
            </a:r>
            <a:r>
              <a:rPr kumimoji="1" lang="en-US" altLang="zh-CN" dirty="0"/>
              <a:t>i+1</a:t>
            </a:r>
            <a:r>
              <a:rPr kumimoji="1" lang="zh-CN" altLang="en-US" dirty="0"/>
              <a:t>项的结尾，也就是记录在</a:t>
            </a:r>
            <a:r>
              <a:rPr kumimoji="1" lang="en-US" altLang="zh-CN" dirty="0"/>
              <a:t>rec【i+1】</a:t>
            </a:r>
            <a:r>
              <a:rPr kumimoji="1" lang="zh-CN" altLang="en-US" dirty="0"/>
              <a:t>里，那么第</a:t>
            </a:r>
            <a:r>
              <a:rPr kumimoji="1" lang="en-US" altLang="zh-CN" dirty="0" err="1"/>
              <a:t>i</a:t>
            </a:r>
            <a:r>
              <a:rPr kumimoji="1" lang="zh-CN" altLang="en-US" dirty="0"/>
              <a:t>项的结尾也就有了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1ABD9-FA3A-ED42-B2DF-4A75A1E7DD15}" type="slidenum">
              <a:rPr kumimoji="1" lang="zh-CN" altLang="en-US" smtClean="0"/>
              <a:t>76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01272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章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矩形 55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 descr="5"/>
          <p:cNvPicPr>
            <a:picLocks noChangeAspect="1"/>
          </p:cNvPicPr>
          <p:nvPr userDrawn="1"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-3822065" y="-434340"/>
            <a:ext cx="7726680" cy="7726680"/>
          </a:xfrm>
          <a:prstGeom prst="rect">
            <a:avLst/>
          </a:prstGeom>
        </p:spPr>
      </p:pic>
      <p:pic>
        <p:nvPicPr>
          <p:cNvPr id="3" name="图片 2" descr="5"/>
          <p:cNvPicPr>
            <a:picLocks noChangeAspect="1"/>
          </p:cNvPicPr>
          <p:nvPr userDrawn="1"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8355330" y="-434340"/>
            <a:ext cx="7726680" cy="7726680"/>
          </a:xfrm>
          <a:prstGeom prst="rect">
            <a:avLst/>
          </a:prstGeom>
        </p:spPr>
      </p:pic>
      <p:sp>
        <p:nvSpPr>
          <p:cNvPr id="9" name="任意多边形: 形状 8"/>
          <p:cNvSpPr/>
          <p:nvPr userDrawn="1"/>
        </p:nvSpPr>
        <p:spPr>
          <a:xfrm rot="21413345">
            <a:off x="-107772" y="5889232"/>
            <a:ext cx="12369445" cy="1288985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任意多边形: 形状 7"/>
          <p:cNvSpPr/>
          <p:nvPr userDrawn="1"/>
        </p:nvSpPr>
        <p:spPr>
          <a:xfrm rot="21413345">
            <a:off x="-60722" y="5797965"/>
            <a:ext cx="12335849" cy="1470933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任意多边形: 形状 6"/>
          <p:cNvSpPr/>
          <p:nvPr userDrawn="1"/>
        </p:nvSpPr>
        <p:spPr>
          <a:xfrm rot="21413345">
            <a:off x="-101880" y="5734499"/>
            <a:ext cx="12376686" cy="1507273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</p:nvPr>
        </p:nvSpPr>
        <p:spPr>
          <a:xfrm>
            <a:off x="468630" y="64930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300">
                <a:solidFill>
                  <a:schemeClr val="bg2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defRPr>
            </a:lvl1pPr>
          </a:lstStyle>
          <a:p>
            <a:r>
              <a:rPr lang="zh-CN" altLang="en-US" dirty="0"/>
              <a:t>百折不挠</a:t>
            </a:r>
            <a:r>
              <a:rPr lang="en-US" altLang="zh-CN" dirty="0"/>
              <a:t> </a:t>
            </a:r>
            <a:r>
              <a:rPr lang="zh-CN" altLang="en-US" dirty="0"/>
              <a:t>刚毅厚重</a:t>
            </a:r>
            <a:r>
              <a:rPr lang="en-US" altLang="zh-CN" dirty="0"/>
              <a:t> </a:t>
            </a:r>
            <a:r>
              <a:rPr lang="zh-CN" altLang="en-US" dirty="0"/>
              <a:t>勇承重载</a:t>
            </a:r>
          </a:p>
        </p:txBody>
      </p:sp>
    </p:spTree>
    <p:extLst>
      <p:ext uri="{BB962C8B-B14F-4D97-AF65-F5344CB8AC3E}">
        <p14:creationId xmlns:p14="http://schemas.microsoft.com/office/powerpoint/2010/main" val="1930393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C55D43-650A-8A4B-B4D9-196FB2C293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5E4EBA6-65F5-F74A-84A4-1DAA79C9FD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867305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F5F6E5-6A2C-7845-96D1-C3F40C702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972C42-3007-F74B-BAC1-5ECA14414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1DA583F-A0A9-184A-920D-99C2970D07D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 descr="5">
            <a:extLst>
              <a:ext uri="{FF2B5EF4-FFF2-40B4-BE49-F238E27FC236}">
                <a16:creationId xmlns:a16="http://schemas.microsoft.com/office/drawing/2014/main" id="{59417B76-385F-8F47-9B73-0CC349ACC12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-3822065" y="-434340"/>
            <a:ext cx="7726680" cy="7726680"/>
          </a:xfrm>
          <a:prstGeom prst="rect">
            <a:avLst/>
          </a:prstGeom>
        </p:spPr>
      </p:pic>
      <p:pic>
        <p:nvPicPr>
          <p:cNvPr id="6" name="图片 5" descr="5">
            <a:extLst>
              <a:ext uri="{FF2B5EF4-FFF2-40B4-BE49-F238E27FC236}">
                <a16:creationId xmlns:a16="http://schemas.microsoft.com/office/drawing/2014/main" id="{B1FF307E-882A-204E-8371-C5B671C94F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8355330" y="-434340"/>
            <a:ext cx="7726680" cy="7726680"/>
          </a:xfrm>
          <a:prstGeom prst="rect">
            <a:avLst/>
          </a:prstGeom>
        </p:spPr>
      </p:pic>
      <p:sp>
        <p:nvSpPr>
          <p:cNvPr id="7" name="任意多边形: 形状 8">
            <a:extLst>
              <a:ext uri="{FF2B5EF4-FFF2-40B4-BE49-F238E27FC236}">
                <a16:creationId xmlns:a16="http://schemas.microsoft.com/office/drawing/2014/main" id="{CD9F0C46-2A13-7B45-81EB-EFB03DDF0203}"/>
              </a:ext>
            </a:extLst>
          </p:cNvPr>
          <p:cNvSpPr/>
          <p:nvPr userDrawn="1"/>
        </p:nvSpPr>
        <p:spPr>
          <a:xfrm rot="21413345">
            <a:off x="-107772" y="5889232"/>
            <a:ext cx="12369445" cy="1288985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4DBBE2AB-3342-1A43-B2D9-3B6F8B655CDE}"/>
              </a:ext>
            </a:extLst>
          </p:cNvPr>
          <p:cNvSpPr/>
          <p:nvPr userDrawn="1"/>
        </p:nvSpPr>
        <p:spPr>
          <a:xfrm rot="21413345">
            <a:off x="-60722" y="5797965"/>
            <a:ext cx="12335849" cy="1470933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6">
            <a:extLst>
              <a:ext uri="{FF2B5EF4-FFF2-40B4-BE49-F238E27FC236}">
                <a16:creationId xmlns:a16="http://schemas.microsoft.com/office/drawing/2014/main" id="{238E4E78-41CE-BF47-A793-D77629CA3E76}"/>
              </a:ext>
            </a:extLst>
          </p:cNvPr>
          <p:cNvSpPr/>
          <p:nvPr userDrawn="1"/>
        </p:nvSpPr>
        <p:spPr>
          <a:xfrm rot="21413345">
            <a:off x="-101880" y="5734499"/>
            <a:ext cx="12376686" cy="1507273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日期占位符 9">
            <a:extLst>
              <a:ext uri="{FF2B5EF4-FFF2-40B4-BE49-F238E27FC236}">
                <a16:creationId xmlns:a16="http://schemas.microsoft.com/office/drawing/2014/main" id="{EF31D326-2891-3944-8D5B-E4558A6F15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8630" y="64930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300">
                <a:solidFill>
                  <a:schemeClr val="bg2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defRPr>
            </a:lvl1pPr>
          </a:lstStyle>
          <a:p>
            <a:r>
              <a:rPr lang="zh-CN" altLang="en-US" dirty="0"/>
              <a:t>百折不挠</a:t>
            </a:r>
            <a:r>
              <a:rPr lang="en-US" altLang="zh-CN" dirty="0"/>
              <a:t> </a:t>
            </a:r>
            <a:r>
              <a:rPr lang="zh-CN" altLang="en-US" dirty="0"/>
              <a:t>刚毅厚重</a:t>
            </a:r>
            <a:r>
              <a:rPr lang="en-US" altLang="zh-CN" dirty="0"/>
              <a:t> </a:t>
            </a:r>
            <a:r>
              <a:rPr lang="zh-CN" altLang="en-US" dirty="0"/>
              <a:t>勇承重载</a:t>
            </a:r>
          </a:p>
        </p:txBody>
      </p:sp>
    </p:spTree>
    <p:extLst>
      <p:ext uri="{BB962C8B-B14F-4D97-AF65-F5344CB8AC3E}">
        <p14:creationId xmlns:p14="http://schemas.microsoft.com/office/powerpoint/2010/main" val="2746427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7D2F9D-10B2-074B-8179-66513359D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A2FD4FF-6442-7D42-B1EE-9A10919FD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744574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C3275C-4BF5-474C-80F4-71D90D9D3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4C7054-56E6-B54D-86C2-B62A7024A4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E159AA6-2DAB-3D4B-968C-0C22098384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906202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2E1A48-F79F-564A-B2C8-EB0F930EF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9B51C87-D0E9-8B44-8CAB-1AE71AC396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EEDA7B3-E5BE-FC4D-B7BF-2B58A04934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5D6C4BB-9DB3-5143-8B4A-DBAE48BA77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FE585AB-BE90-9748-958F-7AFFC1666F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300348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1C073C-34CE-AC4E-ABB7-C7FC12F3B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93825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3583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379DE3-176F-7442-91F0-E6732C334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9DB349-89E5-AF43-A214-0FF14DB1A0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DA0DD20-A8C2-9849-809E-627CE58CD8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911671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F92B43-D872-114B-9A28-B00848866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D339AFF-5EFD-7944-A43D-2353E09902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D4B25B-91B6-DC42-9D31-70F2E52EAF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408073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1_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C22525-0C80-9541-BB3B-BC93FC851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98C1780-5833-6242-ABA7-FD54F283E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7935476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81D9FF4-CA80-5F4D-AD5D-F4CDA27A74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F123BF3-514A-1149-85D7-971F2301A7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2537626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D2C13E-B573-714B-95DA-FE1C7233BD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99F250F-66A4-CB44-B444-3B095FB2BB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7F82AD-DCFE-7E4E-BC3B-B8961D0D8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2023/5/24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56CDDD-056A-1A4C-95F9-15BE2F0C5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BCE82C-2DD0-3646-86EF-14086348D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421406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1E2E0D-F100-0B4D-BA37-588E52D6E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BA4034-A796-F141-8E93-7D05FA748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1E16C0-D6BE-0D44-807B-EE5C78EB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2023/5/24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0FBDA1-4D93-7443-974E-B17BB720E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B5421B-EACC-AE4F-B121-1D692C9CB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17817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60E980-962D-3F44-B0EA-A409EF1DA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EA65C97-A96A-6A4D-927E-F838B2F044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2C3D4C-C0E9-CC4A-8470-334D0F880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2023/5/24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D69112-64F2-DB41-9DE9-D0C488E2C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4F072F-377D-184E-8A96-A3A16B3BD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428796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A1FDEA-62E9-A94A-B877-2CEE48D65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4BAE09-663E-5246-B2E4-5FB1D3203C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53204E9-1F8D-1441-9E4C-06E8C04E0E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B1DC6EB-2F6E-0244-93A2-A837744C5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2023/5/24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DC55E37-181B-A148-966C-4DAF9A1A8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8BCD124-A548-0943-8084-CC531D000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263232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C78BAB-2899-214C-BD61-A44AF5D1A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D53B725-02FC-B943-BB4C-36416CD16F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685D86A-09D3-C44C-B9F4-6E588BD2E2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8530A9B-0EB2-7D46-9DBE-21F3FC0226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4191EEA-8572-9B4E-9BBC-22A9CFF172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A4ECD55-32DF-4F4E-87AB-7EA319859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2023/5/24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0257D9-AB89-CD48-8EAB-65F0C1A25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892495F-1C7B-FC49-9072-1A1CE7A02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567892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F79860-597F-4B4F-883A-07CEB0213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9DBCFC3-D3A4-C04F-BCEF-DEC58AC20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2023/5/24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C8B824B-4892-E447-B7D3-02DD4BE5F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F7D6A84-B6F8-E146-9356-7F8CA2E59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04938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5B2F9ED-98A6-1F40-B60C-87E353539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2023/5/24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4693E35-5555-584E-A717-28E84DBBC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5FBD873-0F17-9343-9583-D51ABBFA3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026514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3F2912-F3DA-C647-9CA0-A29982569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58FE21-107F-0A46-9DCC-01F8EFC192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0677B0A-3D49-6F4A-A0BD-178A30EA53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F78C4D0-E7BC-7346-A225-616065D0C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2023/5/24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D455970-7EEC-9F4D-9441-ACCDA32EB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89A71E7-E4C1-0345-916A-B57A481A6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937452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964561-286B-E149-AE7F-1FF412E94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63A84CE-2FA0-6E48-A6C9-C447366AD0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A4A75F7-3CD5-0848-9A3B-8CD1932876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47D8C3B-237F-1C49-99C1-735A2D853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2023/5/24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392BEC2-2425-2742-8386-3ADBB0626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A296E39-1419-7E45-BD69-DE0A3C7DC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248094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2AF69E-AF88-B64D-ABDD-04DB5D3E5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6F59B29-31C7-A143-8657-8AE1CB8EF2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F5996D-ACFA-8F4D-B912-DF75E3CC1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2023/5/24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32A62C-C6DE-D04B-8735-FED3190F3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0D29B5-61B5-B74D-BE03-88925EFB3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667057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50B4B1E-E39D-DD4A-B7F7-1B2FF26C70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D80FF54-B8C4-224E-8541-7902A00311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1664AE-D3DB-2A40-ACE1-DBC1E97AE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2023/5/24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D85D98-2BB9-784B-8D6D-76BBD0EA2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5E00FF-4311-1C4D-A115-27DB4E71F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687004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直接连接符 29"/>
          <p:cNvCxnSpPr/>
          <p:nvPr userDrawn="1"/>
        </p:nvCxnSpPr>
        <p:spPr>
          <a:xfrm flipV="1">
            <a:off x="2784475" y="5851525"/>
            <a:ext cx="0" cy="265430"/>
          </a:xfrm>
          <a:prstGeom prst="line">
            <a:avLst/>
          </a:prstGeom>
          <a:ln w="28575" cap="rnd">
            <a:solidFill>
              <a:srgbClr val="005D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 userDrawn="1"/>
        </p:nvCxnSpPr>
        <p:spPr>
          <a:xfrm flipV="1">
            <a:off x="2861310" y="5899150"/>
            <a:ext cx="0" cy="170180"/>
          </a:xfrm>
          <a:prstGeom prst="line">
            <a:avLst/>
          </a:prstGeom>
          <a:ln w="28575" cap="rnd">
            <a:solidFill>
              <a:srgbClr val="005D96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 userDrawn="1"/>
        </p:nvCxnSpPr>
        <p:spPr>
          <a:xfrm rot="16200000">
            <a:off x="2880995" y="5984240"/>
            <a:ext cx="113665" cy="0"/>
          </a:xfrm>
          <a:prstGeom prst="line">
            <a:avLst/>
          </a:prstGeom>
          <a:ln w="28575" cap="rnd">
            <a:solidFill>
              <a:srgbClr val="005D96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 userDrawn="1"/>
        </p:nvCxnSpPr>
        <p:spPr>
          <a:xfrm rot="10800000" flipH="1" flipV="1">
            <a:off x="9404350" y="5851525"/>
            <a:ext cx="0" cy="265430"/>
          </a:xfrm>
          <a:prstGeom prst="line">
            <a:avLst/>
          </a:prstGeom>
          <a:ln w="28575" cap="rnd">
            <a:solidFill>
              <a:srgbClr val="005D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 userDrawn="1"/>
        </p:nvCxnSpPr>
        <p:spPr>
          <a:xfrm rot="10800000" flipH="1" flipV="1">
            <a:off x="9327515" y="5899150"/>
            <a:ext cx="0" cy="170180"/>
          </a:xfrm>
          <a:prstGeom prst="line">
            <a:avLst/>
          </a:prstGeom>
          <a:ln w="28575" cap="rnd">
            <a:solidFill>
              <a:srgbClr val="005D96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 userDrawn="1"/>
        </p:nvCxnSpPr>
        <p:spPr>
          <a:xfrm rot="5400000" flipH="1">
            <a:off x="9193530" y="5984240"/>
            <a:ext cx="113665" cy="0"/>
          </a:xfrm>
          <a:prstGeom prst="line">
            <a:avLst/>
          </a:prstGeom>
          <a:ln w="28575" cap="rnd">
            <a:solidFill>
              <a:srgbClr val="005D96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图片占位符 12"/>
          <p:cNvSpPr>
            <a:spLocks noGrp="1"/>
          </p:cNvSpPr>
          <p:nvPr>
            <p:ph type="pic" sz="quarter" idx="12"/>
          </p:nvPr>
        </p:nvSpPr>
        <p:spPr>
          <a:xfrm>
            <a:off x="126" y="-5114"/>
            <a:ext cx="12191748" cy="3616817"/>
          </a:xfrm>
        </p:spPr>
      </p:sp>
      <p:sp>
        <p:nvSpPr>
          <p:cNvPr id="40" name="任意多边形: 形状 39"/>
          <p:cNvSpPr/>
          <p:nvPr userDrawn="1"/>
        </p:nvSpPr>
        <p:spPr>
          <a:xfrm>
            <a:off x="0" y="-10810"/>
            <a:ext cx="12192000" cy="3621880"/>
          </a:xfrm>
          <a:custGeom>
            <a:avLst/>
            <a:gdLst>
              <a:gd name="connsiteX0" fmla="*/ 0 w 12192000"/>
              <a:gd name="connsiteY0" fmla="*/ 0 h 3621880"/>
              <a:gd name="connsiteX1" fmla="*/ 12192000 w 12192000"/>
              <a:gd name="connsiteY1" fmla="*/ 0 h 3621880"/>
              <a:gd name="connsiteX2" fmla="*/ 12192000 w 12192000"/>
              <a:gd name="connsiteY2" fmla="*/ 3505120 h 3621880"/>
              <a:gd name="connsiteX3" fmla="*/ 12178164 w 12192000"/>
              <a:gd name="connsiteY3" fmla="*/ 3496691 h 3621880"/>
              <a:gd name="connsiteX4" fmla="*/ 6188598 w 12192000"/>
              <a:gd name="connsiteY4" fmla="*/ 2384382 h 3621880"/>
              <a:gd name="connsiteX5" fmla="*/ 48605 w 12192000"/>
              <a:gd name="connsiteY5" fmla="*/ 3588334 h 3621880"/>
              <a:gd name="connsiteX6" fmla="*/ 0 w 12192000"/>
              <a:gd name="connsiteY6" fmla="*/ 3621880 h 3621880"/>
              <a:gd name="connsiteX7" fmla="*/ 0 w 12192000"/>
              <a:gd name="connsiteY7" fmla="*/ 0 h 3621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621880">
                <a:moveTo>
                  <a:pt x="0" y="0"/>
                </a:moveTo>
                <a:lnTo>
                  <a:pt x="12192000" y="0"/>
                </a:lnTo>
                <a:lnTo>
                  <a:pt x="12192000" y="3505120"/>
                </a:lnTo>
                <a:lnTo>
                  <a:pt x="12178164" y="3496691"/>
                </a:lnTo>
                <a:cubicBezTo>
                  <a:pt x="11024675" y="2834150"/>
                  <a:pt x="8774972" y="2384382"/>
                  <a:pt x="6188598" y="2384382"/>
                </a:cubicBezTo>
                <a:cubicBezTo>
                  <a:pt x="3484661" y="2384382"/>
                  <a:pt x="1148698" y="2875967"/>
                  <a:pt x="48605" y="3588334"/>
                </a:cubicBezTo>
                <a:lnTo>
                  <a:pt x="0" y="362188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1" name="任意多边形: 形状 40"/>
          <p:cNvSpPr/>
          <p:nvPr userDrawn="1"/>
        </p:nvSpPr>
        <p:spPr>
          <a:xfrm>
            <a:off x="0" y="-10810"/>
            <a:ext cx="12192000" cy="3621880"/>
          </a:xfrm>
          <a:custGeom>
            <a:avLst/>
            <a:gdLst>
              <a:gd name="connsiteX0" fmla="*/ 0 w 12192000"/>
              <a:gd name="connsiteY0" fmla="*/ 0 h 3621880"/>
              <a:gd name="connsiteX1" fmla="*/ 12192000 w 12192000"/>
              <a:gd name="connsiteY1" fmla="*/ 0 h 3621880"/>
              <a:gd name="connsiteX2" fmla="*/ 12192000 w 12192000"/>
              <a:gd name="connsiteY2" fmla="*/ 3505120 h 3621880"/>
              <a:gd name="connsiteX3" fmla="*/ 12178164 w 12192000"/>
              <a:gd name="connsiteY3" fmla="*/ 3496691 h 3621880"/>
              <a:gd name="connsiteX4" fmla="*/ 6188598 w 12192000"/>
              <a:gd name="connsiteY4" fmla="*/ 2384382 h 3621880"/>
              <a:gd name="connsiteX5" fmla="*/ 48605 w 12192000"/>
              <a:gd name="connsiteY5" fmla="*/ 3588334 h 3621880"/>
              <a:gd name="connsiteX6" fmla="*/ 0 w 12192000"/>
              <a:gd name="connsiteY6" fmla="*/ 3621880 h 3621880"/>
              <a:gd name="connsiteX7" fmla="*/ 0 w 12192000"/>
              <a:gd name="connsiteY7" fmla="*/ 0 h 3621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621880">
                <a:moveTo>
                  <a:pt x="0" y="0"/>
                </a:moveTo>
                <a:lnTo>
                  <a:pt x="12192000" y="0"/>
                </a:lnTo>
                <a:lnTo>
                  <a:pt x="12192000" y="3505120"/>
                </a:lnTo>
                <a:lnTo>
                  <a:pt x="12178164" y="3496691"/>
                </a:lnTo>
                <a:cubicBezTo>
                  <a:pt x="11024675" y="2834150"/>
                  <a:pt x="8774972" y="2384382"/>
                  <a:pt x="6188598" y="2384382"/>
                </a:cubicBezTo>
                <a:cubicBezTo>
                  <a:pt x="3484661" y="2384382"/>
                  <a:pt x="1148698" y="2875967"/>
                  <a:pt x="48605" y="3588334"/>
                </a:cubicBezTo>
                <a:lnTo>
                  <a:pt x="0" y="362188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  <a:effectLst>
            <a:outerShdw blurRad="190500" dist="381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2" name="任意多边形: 形状 41"/>
          <p:cNvSpPr/>
          <p:nvPr userDrawn="1"/>
        </p:nvSpPr>
        <p:spPr>
          <a:xfrm>
            <a:off x="-170180" y="-10795"/>
            <a:ext cx="12532360" cy="3841115"/>
          </a:xfrm>
          <a:custGeom>
            <a:avLst/>
            <a:gdLst>
              <a:gd name="connsiteX0" fmla="*/ 0 w 12192000"/>
              <a:gd name="connsiteY0" fmla="*/ 0 h 3621880"/>
              <a:gd name="connsiteX1" fmla="*/ 12192000 w 12192000"/>
              <a:gd name="connsiteY1" fmla="*/ 0 h 3621880"/>
              <a:gd name="connsiteX2" fmla="*/ 12192000 w 12192000"/>
              <a:gd name="connsiteY2" fmla="*/ 3505120 h 3621880"/>
              <a:gd name="connsiteX3" fmla="*/ 12178164 w 12192000"/>
              <a:gd name="connsiteY3" fmla="*/ 3496691 h 3621880"/>
              <a:gd name="connsiteX4" fmla="*/ 6188598 w 12192000"/>
              <a:gd name="connsiteY4" fmla="*/ 2384382 h 3621880"/>
              <a:gd name="connsiteX5" fmla="*/ 48605 w 12192000"/>
              <a:gd name="connsiteY5" fmla="*/ 3588334 h 3621880"/>
              <a:gd name="connsiteX6" fmla="*/ 0 w 12192000"/>
              <a:gd name="connsiteY6" fmla="*/ 3621880 h 3621880"/>
              <a:gd name="connsiteX7" fmla="*/ 0 w 12192000"/>
              <a:gd name="connsiteY7" fmla="*/ 0 h 3621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621880">
                <a:moveTo>
                  <a:pt x="0" y="0"/>
                </a:moveTo>
                <a:lnTo>
                  <a:pt x="12192000" y="0"/>
                </a:lnTo>
                <a:lnTo>
                  <a:pt x="12192000" y="3505120"/>
                </a:lnTo>
                <a:lnTo>
                  <a:pt x="12178164" y="3496691"/>
                </a:lnTo>
                <a:cubicBezTo>
                  <a:pt x="11024675" y="2834150"/>
                  <a:pt x="8774972" y="2384382"/>
                  <a:pt x="6188598" y="2384382"/>
                </a:cubicBezTo>
                <a:cubicBezTo>
                  <a:pt x="3484661" y="2384382"/>
                  <a:pt x="1148698" y="2875967"/>
                  <a:pt x="48605" y="3588334"/>
                </a:cubicBezTo>
                <a:lnTo>
                  <a:pt x="0" y="362188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FilmGrain grainSize="5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586" t="-64169" r="586" b="-25181"/>
            </a:stretch>
          </a:blip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719867" y="3935404"/>
            <a:ext cx="6752267" cy="652810"/>
          </a:xfrm>
        </p:spPr>
        <p:txBody>
          <a:bodyPr lIns="0" tIns="0" rIns="0" bIns="0"/>
          <a:lstStyle>
            <a:lvl1pPr>
              <a:defRPr b="1">
                <a:solidFill>
                  <a:srgbClr val="005D96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defRPr>
            </a:lvl1pPr>
          </a:lstStyle>
          <a:p>
            <a:pPr lvl="0"/>
            <a:r>
              <a:rPr lang="zh-CN" altLang="en-US" b="1" dirty="0"/>
              <a:t>青岛理工大学答辩答辩模板</a:t>
            </a:r>
            <a:endParaRPr kumimoji="0" lang="zh-CN" altLang="en-US" sz="8800" b="1" i="0" u="none" strike="noStrike" kern="1200" cap="none" spc="100" normalizeH="0" baseline="0" noProof="0" dirty="0">
              <a:ln>
                <a:noFill/>
              </a:ln>
              <a:effectLst/>
              <a:uLnTx/>
              <a:uFillTx/>
              <a:latin typeface="方正大标宋简体" panose="02010601030101010101" pitchFamily="2" charset="-122"/>
              <a:ea typeface="方正大标宋简体" panose="02010601030101010101" pitchFamily="2" charset="-122"/>
            </a:endParaRPr>
          </a:p>
        </p:txBody>
      </p:sp>
      <p:sp>
        <p:nvSpPr>
          <p:cNvPr id="37" name="弧形 36"/>
          <p:cNvSpPr/>
          <p:nvPr userDrawn="1"/>
        </p:nvSpPr>
        <p:spPr>
          <a:xfrm>
            <a:off x="-912640" y="2648627"/>
            <a:ext cx="14352607" cy="5450476"/>
          </a:xfrm>
          <a:prstGeom prst="arc">
            <a:avLst>
              <a:gd name="adj1" fmla="val 11562219"/>
              <a:gd name="adj2" fmla="val 20729169"/>
            </a:avLst>
          </a:prstGeom>
          <a:ln w="53975">
            <a:solidFill>
              <a:srgbClr val="005D9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1" hasCustomPrompt="1"/>
          </p:nvPr>
        </p:nvSpPr>
        <p:spPr>
          <a:xfrm>
            <a:off x="515937" y="4657177"/>
            <a:ext cx="11160126" cy="337185"/>
          </a:xfrm>
          <a:prstGeom prst="rect">
            <a:avLst/>
          </a:prstGeom>
        </p:spPr>
        <p:txBody>
          <a:bodyPr vert="horz" wrap="square" lIns="0" tIns="45720" rIns="91440" bIns="45720" anchor="ctr" anchorCtr="0">
            <a:spAutoFit/>
          </a:bodyPr>
          <a:lstStyle>
            <a:lvl1pPr mar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200">
                <a:solidFill>
                  <a:srgbClr val="595959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altLang="zh-CN" dirty="0"/>
              <a:t>Qingdao University of Technology PowerPoint Template</a:t>
            </a:r>
            <a:endParaRPr lang="zh-CN" altLang="en-US" dirty="0"/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2704260" y="5219564"/>
            <a:ext cx="6783480" cy="99986"/>
            <a:chOff x="628656" y="974915"/>
            <a:chExt cx="11038056" cy="24702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628656" y="975360"/>
              <a:ext cx="8627657" cy="0"/>
            </a:xfrm>
            <a:prstGeom prst="line">
              <a:avLst/>
            </a:prstGeom>
            <a:ln w="19050">
              <a:solidFill>
                <a:srgbClr val="005D96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H="1">
              <a:off x="9233073" y="974915"/>
              <a:ext cx="23240" cy="24702"/>
            </a:xfrm>
            <a:prstGeom prst="line">
              <a:avLst/>
            </a:prstGeom>
            <a:ln w="19050" cap="rnd">
              <a:solidFill>
                <a:srgbClr val="005D9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 flipV="1">
              <a:off x="9233070" y="975360"/>
              <a:ext cx="189380" cy="24257"/>
            </a:xfrm>
            <a:prstGeom prst="line">
              <a:avLst/>
            </a:prstGeom>
            <a:ln w="19050" cap="rnd">
              <a:solidFill>
                <a:srgbClr val="005D96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>
              <a:off x="9422450" y="975360"/>
              <a:ext cx="2244262" cy="0"/>
            </a:xfrm>
            <a:prstGeom prst="line">
              <a:avLst/>
            </a:prstGeom>
            <a:ln w="19050">
              <a:solidFill>
                <a:srgbClr val="005D9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文本占位符 52"/>
          <p:cNvSpPr>
            <a:spLocks noGrp="1"/>
          </p:cNvSpPr>
          <p:nvPr>
            <p:ph type="body" sz="quarter" idx="13" hasCustomPrompt="1"/>
          </p:nvPr>
        </p:nvSpPr>
        <p:spPr>
          <a:xfrm>
            <a:off x="3979414" y="5821985"/>
            <a:ext cx="1978489" cy="304165"/>
          </a:xfrm>
          <a:prstGeom prst="rect">
            <a:avLst/>
          </a:prstGeom>
        </p:spPr>
        <p:txBody>
          <a:bodyPr vert="horz" wrap="square" lIns="0" tIns="0" rIns="0" bIns="0" anchor="b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spc="0">
                <a:solidFill>
                  <a:srgbClr val="005D96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  <a:sym typeface="方正大标宋简体" panose="02010601030101010101" pitchFamily="2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汇报人：青小理</a:t>
            </a:r>
          </a:p>
        </p:txBody>
      </p:sp>
      <p:sp>
        <p:nvSpPr>
          <p:cNvPr id="44" name="文本占位符 1"/>
          <p:cNvSpPr>
            <a:spLocks noGrp="1"/>
          </p:cNvSpPr>
          <p:nvPr>
            <p:ph type="body" sz="quarter" idx="15" hasCustomPrompt="1"/>
          </p:nvPr>
        </p:nvSpPr>
        <p:spPr>
          <a:xfrm>
            <a:off x="6756211" y="5838317"/>
            <a:ext cx="1849890" cy="287836"/>
          </a:xfrm>
          <a:prstGeom prst="rect">
            <a:avLst/>
          </a:prstGeom>
        </p:spPr>
        <p:txBody>
          <a:bodyPr vert="horz" wrap="square" lIns="0" tIns="0" rIns="0" bIns="0" anchor="b" anchorCtr="0">
            <a:normAutofit/>
          </a:bodyPr>
          <a:lstStyle>
            <a:lvl1pPr mar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spc="0">
                <a:solidFill>
                  <a:srgbClr val="005D96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  <a:sym typeface="方正大标宋简体" panose="02010601030101010101" pitchFamily="2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指导老师：青老师</a:t>
            </a:r>
          </a:p>
        </p:txBody>
      </p:sp>
      <p:sp>
        <p:nvSpPr>
          <p:cNvPr id="17" name="任意多边形: 形状 41"/>
          <p:cNvSpPr/>
          <p:nvPr userDrawn="1"/>
        </p:nvSpPr>
        <p:spPr>
          <a:xfrm>
            <a:off x="-170180" y="-56515"/>
            <a:ext cx="12532360" cy="3908425"/>
          </a:xfrm>
          <a:custGeom>
            <a:avLst/>
            <a:gdLst>
              <a:gd name="connsiteX0" fmla="*/ 0 w 12192000"/>
              <a:gd name="connsiteY0" fmla="*/ 0 h 3621880"/>
              <a:gd name="connsiteX1" fmla="*/ 12192000 w 12192000"/>
              <a:gd name="connsiteY1" fmla="*/ 0 h 3621880"/>
              <a:gd name="connsiteX2" fmla="*/ 12192000 w 12192000"/>
              <a:gd name="connsiteY2" fmla="*/ 3505120 h 3621880"/>
              <a:gd name="connsiteX3" fmla="*/ 12178164 w 12192000"/>
              <a:gd name="connsiteY3" fmla="*/ 3496691 h 3621880"/>
              <a:gd name="connsiteX4" fmla="*/ 6188598 w 12192000"/>
              <a:gd name="connsiteY4" fmla="*/ 2384382 h 3621880"/>
              <a:gd name="connsiteX5" fmla="*/ 48605 w 12192000"/>
              <a:gd name="connsiteY5" fmla="*/ 3588334 h 3621880"/>
              <a:gd name="connsiteX6" fmla="*/ 0 w 12192000"/>
              <a:gd name="connsiteY6" fmla="*/ 3621880 h 3621880"/>
              <a:gd name="connsiteX7" fmla="*/ 0 w 12192000"/>
              <a:gd name="connsiteY7" fmla="*/ 0 h 3621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621880">
                <a:moveTo>
                  <a:pt x="0" y="0"/>
                </a:moveTo>
                <a:lnTo>
                  <a:pt x="12192000" y="0"/>
                </a:lnTo>
                <a:lnTo>
                  <a:pt x="12192000" y="3505120"/>
                </a:lnTo>
                <a:lnTo>
                  <a:pt x="12178164" y="3496691"/>
                </a:lnTo>
                <a:cubicBezTo>
                  <a:pt x="11024675" y="2834150"/>
                  <a:pt x="8774972" y="2384382"/>
                  <a:pt x="6188598" y="2384382"/>
                </a:cubicBezTo>
                <a:cubicBezTo>
                  <a:pt x="3484661" y="2384382"/>
                  <a:pt x="1148698" y="2875967"/>
                  <a:pt x="48605" y="3588334"/>
                </a:cubicBezTo>
                <a:lnTo>
                  <a:pt x="0" y="3621880"/>
                </a:lnTo>
                <a:lnTo>
                  <a:pt x="0" y="0"/>
                </a:lnTo>
                <a:close/>
              </a:path>
            </a:pathLst>
          </a:custGeom>
          <a:solidFill>
            <a:srgbClr val="005D96">
              <a:alpha val="69000"/>
            </a:srgbClr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8" name="文本框 17"/>
          <p:cNvSpPr txBox="1"/>
          <p:nvPr userDrawn="1"/>
        </p:nvSpPr>
        <p:spPr>
          <a:xfrm>
            <a:off x="10196830" y="-135890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/>
          </a:p>
        </p:txBody>
      </p:sp>
      <p:pic>
        <p:nvPicPr>
          <p:cNvPr id="19" name="图片 18" descr="青岛理工大学校徽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283835" y="1692910"/>
            <a:ext cx="1783715" cy="1783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39552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矩形 55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 descr="5"/>
          <p:cNvPicPr>
            <a:picLocks noChangeAspect="1"/>
          </p:cNvPicPr>
          <p:nvPr userDrawn="1"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-3822065" y="-434340"/>
            <a:ext cx="7726680" cy="7726680"/>
          </a:xfrm>
          <a:prstGeom prst="rect">
            <a:avLst/>
          </a:prstGeom>
        </p:spPr>
      </p:pic>
      <p:pic>
        <p:nvPicPr>
          <p:cNvPr id="3" name="图片 2" descr="5"/>
          <p:cNvPicPr>
            <a:picLocks noChangeAspect="1"/>
          </p:cNvPicPr>
          <p:nvPr userDrawn="1"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8355330" y="-434340"/>
            <a:ext cx="7726680" cy="7726680"/>
          </a:xfrm>
          <a:prstGeom prst="rect">
            <a:avLst/>
          </a:prstGeom>
        </p:spPr>
      </p:pic>
      <p:sp>
        <p:nvSpPr>
          <p:cNvPr id="9" name="任意多边形: 形状 8"/>
          <p:cNvSpPr/>
          <p:nvPr userDrawn="1"/>
        </p:nvSpPr>
        <p:spPr>
          <a:xfrm rot="21413345">
            <a:off x="-107772" y="5889232"/>
            <a:ext cx="12369445" cy="1288985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任意多边形: 形状 7"/>
          <p:cNvSpPr/>
          <p:nvPr userDrawn="1"/>
        </p:nvSpPr>
        <p:spPr>
          <a:xfrm rot="21413345">
            <a:off x="-60722" y="5797965"/>
            <a:ext cx="12335849" cy="1470933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任意多边形: 形状 6"/>
          <p:cNvSpPr/>
          <p:nvPr userDrawn="1"/>
        </p:nvSpPr>
        <p:spPr>
          <a:xfrm rot="21413345">
            <a:off x="-101880" y="5734499"/>
            <a:ext cx="12376686" cy="1507273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</p:nvPr>
        </p:nvSpPr>
        <p:spPr>
          <a:xfrm>
            <a:off x="468630" y="64930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300">
                <a:solidFill>
                  <a:schemeClr val="bg2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defRPr>
            </a:lvl1pPr>
          </a:lstStyle>
          <a:p>
            <a:r>
              <a:rPr lang="zh-CN" altLang="en-US" dirty="0"/>
              <a:t>百折不挠</a:t>
            </a:r>
            <a:r>
              <a:rPr lang="en-US" altLang="zh-CN" dirty="0"/>
              <a:t> </a:t>
            </a:r>
            <a:r>
              <a:rPr lang="zh-CN" altLang="en-US" dirty="0"/>
              <a:t>刚毅厚重</a:t>
            </a:r>
            <a:r>
              <a:rPr lang="en-US" altLang="zh-CN" dirty="0"/>
              <a:t> </a:t>
            </a:r>
            <a:r>
              <a:rPr lang="zh-CN" altLang="en-US" dirty="0"/>
              <a:t>勇承重载</a:t>
            </a:r>
          </a:p>
        </p:txBody>
      </p:sp>
    </p:spTree>
    <p:extLst>
      <p:ext uri="{BB962C8B-B14F-4D97-AF65-F5344CB8AC3E}">
        <p14:creationId xmlns:p14="http://schemas.microsoft.com/office/powerpoint/2010/main" val="554457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D2D3ABB-1285-294F-A20A-F30083EB9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A1A8907-74D6-0D45-95A8-836E4EC85A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17F7AE-BD20-0A4F-80C4-18B0EDB6DE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5CF517-7373-6349-A426-5E433EDE14F4}" type="datetimeFigureOut">
              <a:rPr kumimoji="1" lang="zh-CN" altLang="en-US" smtClean="0"/>
              <a:t>2023/5/24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34DFE5-4086-414D-857D-C32B7481EA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6FCBA4-62E5-7A40-8979-12F1BF0DD7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487543E-91E5-5145-A581-4D7204F32DA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5">
            <a:extLst>
              <a:ext uri="{FF2B5EF4-FFF2-40B4-BE49-F238E27FC236}">
                <a16:creationId xmlns:a16="http://schemas.microsoft.com/office/drawing/2014/main" id="{86770886-93F4-434C-9FE2-AEFDCF90D23E}"/>
              </a:ext>
            </a:extLst>
          </p:cNvPr>
          <p:cNvPicPr>
            <a:picLocks noChangeAspect="1"/>
          </p:cNvPicPr>
          <p:nvPr userDrawn="1"/>
        </p:nvPicPr>
        <p:blipFill>
          <a:blip r:embed="rId27">
            <a:alphaModFix amt="30000"/>
          </a:blip>
          <a:stretch>
            <a:fillRect/>
          </a:stretch>
        </p:blipFill>
        <p:spPr>
          <a:xfrm>
            <a:off x="-3829050" y="-421622"/>
            <a:ext cx="7726680" cy="7726680"/>
          </a:xfrm>
          <a:prstGeom prst="rect">
            <a:avLst/>
          </a:prstGeom>
        </p:spPr>
      </p:pic>
      <p:pic>
        <p:nvPicPr>
          <p:cNvPr id="9" name="图片 8" descr="5">
            <a:extLst>
              <a:ext uri="{FF2B5EF4-FFF2-40B4-BE49-F238E27FC236}">
                <a16:creationId xmlns:a16="http://schemas.microsoft.com/office/drawing/2014/main" id="{33BEC999-C1B9-3948-9008-02B970DB7EAB}"/>
              </a:ext>
            </a:extLst>
          </p:cNvPr>
          <p:cNvPicPr>
            <a:picLocks noChangeAspect="1"/>
          </p:cNvPicPr>
          <p:nvPr userDrawn="1"/>
        </p:nvPicPr>
        <p:blipFill>
          <a:blip r:embed="rId27">
            <a:alphaModFix amt="30000"/>
          </a:blip>
          <a:stretch>
            <a:fillRect/>
          </a:stretch>
        </p:blipFill>
        <p:spPr>
          <a:xfrm>
            <a:off x="8328660" y="-434340"/>
            <a:ext cx="7726680" cy="7726680"/>
          </a:xfrm>
          <a:prstGeom prst="rect">
            <a:avLst/>
          </a:prstGeom>
        </p:spPr>
      </p:pic>
      <p:sp>
        <p:nvSpPr>
          <p:cNvPr id="10" name="任意多边形: 形状 8">
            <a:extLst>
              <a:ext uri="{FF2B5EF4-FFF2-40B4-BE49-F238E27FC236}">
                <a16:creationId xmlns:a16="http://schemas.microsoft.com/office/drawing/2014/main" id="{CF7A9872-9A2D-0544-B95E-53F0A0452969}"/>
              </a:ext>
            </a:extLst>
          </p:cNvPr>
          <p:cNvSpPr/>
          <p:nvPr userDrawn="1"/>
        </p:nvSpPr>
        <p:spPr>
          <a:xfrm rot="21413345">
            <a:off x="-107772" y="5889232"/>
            <a:ext cx="12369445" cy="1288985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任意多边形: 形状 7">
            <a:extLst>
              <a:ext uri="{FF2B5EF4-FFF2-40B4-BE49-F238E27FC236}">
                <a16:creationId xmlns:a16="http://schemas.microsoft.com/office/drawing/2014/main" id="{7990B218-ED19-EA44-9E8D-A10600CCD7A7}"/>
              </a:ext>
            </a:extLst>
          </p:cNvPr>
          <p:cNvSpPr/>
          <p:nvPr userDrawn="1"/>
        </p:nvSpPr>
        <p:spPr>
          <a:xfrm rot="21413345">
            <a:off x="-51285" y="5815216"/>
            <a:ext cx="12335849" cy="1470933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任意多边形: 形状 6">
            <a:extLst>
              <a:ext uri="{FF2B5EF4-FFF2-40B4-BE49-F238E27FC236}">
                <a16:creationId xmlns:a16="http://schemas.microsoft.com/office/drawing/2014/main" id="{AF003127-AEDD-8E4C-9F09-DA9AF5FD300F}"/>
              </a:ext>
            </a:extLst>
          </p:cNvPr>
          <p:cNvSpPr/>
          <p:nvPr userDrawn="1"/>
        </p:nvSpPr>
        <p:spPr>
          <a:xfrm rot="21413345">
            <a:off x="-9274" y="5823247"/>
            <a:ext cx="12376686" cy="1507273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日期占位符 9">
            <a:extLst>
              <a:ext uri="{FF2B5EF4-FFF2-40B4-BE49-F238E27FC236}">
                <a16:creationId xmlns:a16="http://schemas.microsoft.com/office/drawing/2014/main" id="{25D4FA56-C140-9844-933D-B552570A8775}"/>
              </a:ext>
            </a:extLst>
          </p:cNvPr>
          <p:cNvSpPr txBox="1">
            <a:spLocks/>
          </p:cNvSpPr>
          <p:nvPr userDrawn="1"/>
        </p:nvSpPr>
        <p:spPr>
          <a:xfrm>
            <a:off x="468630" y="64930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 spc="300">
                <a:solidFill>
                  <a:schemeClr val="bg2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百折不挠</a:t>
            </a:r>
            <a:r>
              <a:rPr lang="en-US" altLang="zh-CN"/>
              <a:t> </a:t>
            </a:r>
            <a:r>
              <a:rPr lang="zh-CN" altLang="en-US"/>
              <a:t>刚毅厚重</a:t>
            </a:r>
            <a:r>
              <a:rPr lang="en-US" altLang="zh-CN"/>
              <a:t> </a:t>
            </a:r>
            <a:r>
              <a:rPr lang="zh-CN" altLang="en-US"/>
              <a:t>勇承重载</a:t>
            </a:r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3BF4C09-9862-DF42-BD08-3AFBEDF9DF09}"/>
              </a:ext>
            </a:extLst>
          </p:cNvPr>
          <p:cNvSpPr/>
          <p:nvPr userDrawn="1"/>
        </p:nvSpPr>
        <p:spPr>
          <a:xfrm>
            <a:off x="762000" y="0"/>
            <a:ext cx="333926" cy="944563"/>
          </a:xfrm>
          <a:prstGeom prst="rect">
            <a:avLst/>
          </a:prstGeom>
          <a:solidFill>
            <a:srgbClr val="005D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pic>
        <p:nvPicPr>
          <p:cNvPr id="15" name="图片 14" descr="青岛理工大学校徽">
            <a:extLst>
              <a:ext uri="{FF2B5EF4-FFF2-40B4-BE49-F238E27FC236}">
                <a16:creationId xmlns:a16="http://schemas.microsoft.com/office/drawing/2014/main" id="{41EA12D9-A451-3B45-A579-CA2846C1C316}"/>
              </a:ext>
            </a:extLst>
          </p:cNvPr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10973435" y="221615"/>
            <a:ext cx="723265" cy="723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865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49" r:id="rId13"/>
    <p:sldLayoutId id="2147483650" r:id="rId14"/>
    <p:sldLayoutId id="2147483651" r:id="rId15"/>
    <p:sldLayoutId id="2147483652" r:id="rId16"/>
    <p:sldLayoutId id="2147483653" r:id="rId17"/>
    <p:sldLayoutId id="2147483654" r:id="rId18"/>
    <p:sldLayoutId id="2147483655" r:id="rId19"/>
    <p:sldLayoutId id="2147483656" r:id="rId20"/>
    <p:sldLayoutId id="2147483657" r:id="rId21"/>
    <p:sldLayoutId id="2147483658" r:id="rId22"/>
    <p:sldLayoutId id="2147483659" r:id="rId23"/>
    <p:sldLayoutId id="2147483660" r:id="rId24"/>
    <p:sldLayoutId id="2147483661" r:id="rId2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4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3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3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3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3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3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3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2719705" y="3857271"/>
            <a:ext cx="7350125" cy="652780"/>
          </a:xfrm>
        </p:spPr>
        <p:txBody>
          <a:bodyPr>
            <a:normAutofit/>
          </a:bodyPr>
          <a:lstStyle/>
          <a:p>
            <a:pPr algn="ctr"/>
            <a:r>
              <a:rPr lang="zh-CN" altLang="en-US" dirty="0"/>
              <a:t>算法设计与分析</a:t>
            </a:r>
            <a:endParaRPr lang="zh-CN" altLang="en-US" dirty="0">
              <a:solidFill>
                <a:srgbClr val="005D96"/>
              </a:solidFill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2704260" y="5219564"/>
            <a:ext cx="6783480" cy="99986"/>
            <a:chOff x="628656" y="974915"/>
            <a:chExt cx="11038056" cy="24702"/>
          </a:xfrm>
        </p:grpSpPr>
        <p:cxnSp>
          <p:nvCxnSpPr>
            <p:cNvPr id="40" name="直接连接符 39"/>
            <p:cNvCxnSpPr/>
            <p:nvPr/>
          </p:nvCxnSpPr>
          <p:spPr>
            <a:xfrm>
              <a:off x="628656" y="975360"/>
              <a:ext cx="8627657" cy="0"/>
            </a:xfrm>
            <a:prstGeom prst="line">
              <a:avLst/>
            </a:prstGeom>
            <a:ln w="19050">
              <a:solidFill>
                <a:srgbClr val="005D96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 flipH="1">
              <a:off x="9233073" y="974915"/>
              <a:ext cx="23240" cy="24702"/>
            </a:xfrm>
            <a:prstGeom prst="line">
              <a:avLst/>
            </a:prstGeom>
            <a:ln w="19050" cap="rnd">
              <a:solidFill>
                <a:srgbClr val="005D9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 flipV="1">
              <a:off x="9233070" y="975360"/>
              <a:ext cx="189380" cy="24257"/>
            </a:xfrm>
            <a:prstGeom prst="line">
              <a:avLst/>
            </a:prstGeom>
            <a:ln w="19050" cap="rnd">
              <a:solidFill>
                <a:srgbClr val="005D96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>
              <a:off x="9422450" y="975360"/>
              <a:ext cx="2244262" cy="0"/>
            </a:xfrm>
            <a:prstGeom prst="line">
              <a:avLst/>
            </a:prstGeom>
            <a:ln w="19050">
              <a:solidFill>
                <a:srgbClr val="005D9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5" name="直接连接符 94"/>
          <p:cNvCxnSpPr/>
          <p:nvPr/>
        </p:nvCxnSpPr>
        <p:spPr>
          <a:xfrm flipV="1">
            <a:off x="2784475" y="5848350"/>
            <a:ext cx="0" cy="265430"/>
          </a:xfrm>
          <a:prstGeom prst="line">
            <a:avLst/>
          </a:prstGeom>
          <a:ln w="28575" cap="rnd">
            <a:solidFill>
              <a:srgbClr val="005D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连接符 95"/>
          <p:cNvCxnSpPr/>
          <p:nvPr/>
        </p:nvCxnSpPr>
        <p:spPr>
          <a:xfrm flipV="1">
            <a:off x="2861310" y="5895340"/>
            <a:ext cx="0" cy="170180"/>
          </a:xfrm>
          <a:prstGeom prst="line">
            <a:avLst/>
          </a:prstGeom>
          <a:ln w="28575" cap="rnd">
            <a:solidFill>
              <a:srgbClr val="005D96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连接符 96"/>
          <p:cNvCxnSpPr/>
          <p:nvPr/>
        </p:nvCxnSpPr>
        <p:spPr>
          <a:xfrm rot="16200000">
            <a:off x="2880995" y="5981065"/>
            <a:ext cx="113665" cy="0"/>
          </a:xfrm>
          <a:prstGeom prst="line">
            <a:avLst/>
          </a:prstGeom>
          <a:ln w="28575" cap="rnd">
            <a:solidFill>
              <a:srgbClr val="005D96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组合 34"/>
          <p:cNvGrpSpPr/>
          <p:nvPr/>
        </p:nvGrpSpPr>
        <p:grpSpPr>
          <a:xfrm>
            <a:off x="3161491" y="5800840"/>
            <a:ext cx="5933868" cy="367111"/>
            <a:chOff x="3517041" y="5800840"/>
            <a:chExt cx="5082917" cy="367111"/>
          </a:xfrm>
        </p:grpSpPr>
        <p:sp>
          <p:nvSpPr>
            <p:cNvPr id="36" name="文本框 35"/>
            <p:cNvSpPr txBox="1"/>
            <p:nvPr/>
          </p:nvSpPr>
          <p:spPr>
            <a:xfrm>
              <a:off x="3826448" y="5856877"/>
              <a:ext cx="2349253" cy="283476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lvl="0" algn="r">
                <a:lnSpc>
                  <a:spcPct val="110000"/>
                </a:lnSpc>
                <a:defRPr/>
              </a:pPr>
              <a:r>
                <a:rPr lang="zh-CN" altLang="en-US" dirty="0">
                  <a:solidFill>
                    <a:srgbClr val="005D96"/>
                  </a:solidFill>
                  <a:latin typeface="方正大标宋简体" panose="02010601030101010101" pitchFamily="2" charset="-122"/>
                  <a:ea typeface="方正大标宋简体" panose="02010601030101010101" pitchFamily="2" charset="-122"/>
                </a:rPr>
                <a:t>开课专业班级：软件</a:t>
              </a:r>
              <a:r>
                <a:rPr lang="en-US" altLang="zh-CN" dirty="0">
                  <a:solidFill>
                    <a:srgbClr val="005D96"/>
                  </a:solidFill>
                  <a:latin typeface="方正大标宋简体" panose="02010601030101010101" pitchFamily="2" charset="-122"/>
                  <a:ea typeface="方正大标宋简体" panose="02010601030101010101" pitchFamily="2" charset="-122"/>
                </a:rPr>
                <a:t>211-3</a:t>
              </a:r>
              <a:r>
                <a:rPr kumimoji="0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5D96"/>
                  </a:solidFill>
                  <a:effectLst/>
                  <a:uLnTx/>
                  <a:uFillTx/>
                  <a:latin typeface="方正大标宋简体" panose="02010601030101010101" pitchFamily="2" charset="-122"/>
                  <a:ea typeface="方正大标宋简体" panose="02010601030101010101" pitchFamily="2" charset="-122"/>
                </a:rPr>
                <a:t> </a:t>
              </a: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6830089" y="5810965"/>
              <a:ext cx="1769869" cy="314894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dirty="0">
                  <a:solidFill>
                    <a:srgbClr val="005D96"/>
                  </a:solidFill>
                  <a:latin typeface="方正大标宋简体" panose="02010601030101010101" pitchFamily="2" charset="-122"/>
                  <a:ea typeface="方正大标宋简体" panose="02010601030101010101" pitchFamily="2" charset="-122"/>
                </a:rPr>
                <a:t>开课教师：</a:t>
              </a:r>
              <a:r>
                <a:rPr lang="zh-CN" altLang="en-US" sz="2000" dirty="0">
                  <a:solidFill>
                    <a:srgbClr val="005D96"/>
                  </a:solidFill>
                  <a:latin typeface="方正大标宋简体" panose="02010601030101010101" pitchFamily="2" charset="-122"/>
                  <a:ea typeface="方正大标宋简体" panose="02010601030101010101" pitchFamily="2" charset="-122"/>
                </a:rPr>
                <a:t>赵浩然</a:t>
              </a:r>
            </a:p>
          </p:txBody>
        </p:sp>
        <p:sp>
          <p:nvSpPr>
            <p:cNvPr id="39" name="graduate_57239"/>
            <p:cNvSpPr>
              <a:spLocks noChangeAspect="1"/>
            </p:cNvSpPr>
            <p:nvPr/>
          </p:nvSpPr>
          <p:spPr bwMode="auto">
            <a:xfrm>
              <a:off x="3517041" y="5800840"/>
              <a:ext cx="247420" cy="360000"/>
            </a:xfrm>
            <a:custGeom>
              <a:avLst/>
              <a:gdLst>
                <a:gd name="connsiteX0" fmla="*/ 142468 w 412043"/>
                <a:gd name="connsiteY0" fmla="*/ 396851 h 599527"/>
                <a:gd name="connsiteX1" fmla="*/ 153964 w 412043"/>
                <a:gd name="connsiteY1" fmla="*/ 405753 h 599527"/>
                <a:gd name="connsiteX2" fmla="*/ 144814 w 412043"/>
                <a:gd name="connsiteY2" fmla="*/ 585910 h 599527"/>
                <a:gd name="connsiteX3" fmla="*/ 135898 w 412043"/>
                <a:gd name="connsiteY3" fmla="*/ 595046 h 599527"/>
                <a:gd name="connsiteX4" fmla="*/ 15768 w 412043"/>
                <a:gd name="connsiteY4" fmla="*/ 599498 h 599527"/>
                <a:gd name="connsiteX5" fmla="*/ 6383 w 412043"/>
                <a:gd name="connsiteY5" fmla="*/ 590127 h 599527"/>
                <a:gd name="connsiteX6" fmla="*/ 142468 w 412043"/>
                <a:gd name="connsiteY6" fmla="*/ 396851 h 599527"/>
                <a:gd name="connsiteX7" fmla="*/ 275305 w 412043"/>
                <a:gd name="connsiteY7" fmla="*/ 271238 h 599527"/>
                <a:gd name="connsiteX8" fmla="*/ 222034 w 412043"/>
                <a:gd name="connsiteY8" fmla="*/ 284828 h 599527"/>
                <a:gd name="connsiteX9" fmla="*/ 158437 w 412043"/>
                <a:gd name="connsiteY9" fmla="*/ 287640 h 599527"/>
                <a:gd name="connsiteX10" fmla="*/ 99299 w 412043"/>
                <a:gd name="connsiteY10" fmla="*/ 277096 h 599527"/>
                <a:gd name="connsiteX11" fmla="*/ 205137 w 412043"/>
                <a:gd name="connsiteY11" fmla="*/ 392382 h 599527"/>
                <a:gd name="connsiteX12" fmla="*/ 312148 w 412043"/>
                <a:gd name="connsiteY12" fmla="*/ 309432 h 599527"/>
                <a:gd name="connsiteX13" fmla="*/ 305108 w 412043"/>
                <a:gd name="connsiteY13" fmla="*/ 310604 h 599527"/>
                <a:gd name="connsiteX14" fmla="*/ 275305 w 412043"/>
                <a:gd name="connsiteY14" fmla="*/ 271238 h 599527"/>
                <a:gd name="connsiteX15" fmla="*/ 93667 w 412043"/>
                <a:gd name="connsiteY15" fmla="*/ 210314 h 599527"/>
                <a:gd name="connsiteX16" fmla="*/ 93667 w 412043"/>
                <a:gd name="connsiteY16" fmla="*/ 212892 h 599527"/>
                <a:gd name="connsiteX17" fmla="*/ 100003 w 412043"/>
                <a:gd name="connsiteY17" fmla="*/ 213595 h 599527"/>
                <a:gd name="connsiteX18" fmla="*/ 93667 w 412043"/>
                <a:gd name="connsiteY18" fmla="*/ 210314 h 599527"/>
                <a:gd name="connsiteX19" fmla="*/ 80202 w 412043"/>
                <a:gd name="connsiteY19" fmla="*/ 186355 h 599527"/>
                <a:gd name="connsiteX20" fmla="*/ 89443 w 412043"/>
                <a:gd name="connsiteY20" fmla="*/ 186413 h 599527"/>
                <a:gd name="connsiteX21" fmla="*/ 269203 w 412043"/>
                <a:gd name="connsiteY21" fmla="*/ 193209 h 599527"/>
                <a:gd name="connsiteX22" fmla="*/ 279059 w 412043"/>
                <a:gd name="connsiteY22" fmla="*/ 193209 h 599527"/>
                <a:gd name="connsiteX23" fmla="*/ 284222 w 412043"/>
                <a:gd name="connsiteY23" fmla="*/ 197661 h 599527"/>
                <a:gd name="connsiteX24" fmla="*/ 288681 w 412043"/>
                <a:gd name="connsiteY24" fmla="*/ 255304 h 599527"/>
                <a:gd name="connsiteX25" fmla="*/ 312383 w 412043"/>
                <a:gd name="connsiteY25" fmla="*/ 289280 h 599527"/>
                <a:gd name="connsiteX26" fmla="*/ 314965 w 412043"/>
                <a:gd name="connsiteY26" fmla="*/ 201175 h 599527"/>
                <a:gd name="connsiteX27" fmla="*/ 330688 w 412043"/>
                <a:gd name="connsiteY27" fmla="*/ 199067 h 599527"/>
                <a:gd name="connsiteX28" fmla="*/ 260051 w 412043"/>
                <a:gd name="connsiteY28" fmla="*/ 401287 h 599527"/>
                <a:gd name="connsiteX29" fmla="*/ 263102 w 412043"/>
                <a:gd name="connsiteY29" fmla="*/ 401990 h 599527"/>
                <a:gd name="connsiteX30" fmla="*/ 401325 w 412043"/>
                <a:gd name="connsiteY30" fmla="*/ 590150 h 599527"/>
                <a:gd name="connsiteX31" fmla="*/ 389591 w 412043"/>
                <a:gd name="connsiteY31" fmla="*/ 599289 h 599527"/>
                <a:gd name="connsiteX32" fmla="*/ 262867 w 412043"/>
                <a:gd name="connsiteY32" fmla="*/ 595071 h 599527"/>
                <a:gd name="connsiteX33" fmla="*/ 253480 w 412043"/>
                <a:gd name="connsiteY33" fmla="*/ 585698 h 599527"/>
                <a:gd name="connsiteX34" fmla="*/ 247144 w 412043"/>
                <a:gd name="connsiteY34" fmla="*/ 414643 h 599527"/>
                <a:gd name="connsiteX35" fmla="*/ 248786 w 412043"/>
                <a:gd name="connsiteY35" fmla="*/ 410660 h 599527"/>
                <a:gd name="connsiteX36" fmla="*/ 251603 w 412043"/>
                <a:gd name="connsiteY36" fmla="*/ 404802 h 599527"/>
                <a:gd name="connsiteX37" fmla="*/ 205137 w 412043"/>
                <a:gd name="connsiteY37" fmla="*/ 410894 h 599527"/>
                <a:gd name="connsiteX38" fmla="*/ 75362 w 412043"/>
                <a:gd name="connsiteY38" fmla="*/ 194380 h 599527"/>
                <a:gd name="connsiteX39" fmla="*/ 80202 w 412043"/>
                <a:gd name="connsiteY39" fmla="*/ 186355 h 599527"/>
                <a:gd name="connsiteX40" fmla="*/ 204675 w 412043"/>
                <a:gd name="connsiteY40" fmla="*/ 1071 h 599527"/>
                <a:gd name="connsiteX41" fmla="*/ 297143 w 412043"/>
                <a:gd name="connsiteY41" fmla="*/ 36212 h 599527"/>
                <a:gd name="connsiteX42" fmla="*/ 407917 w 412043"/>
                <a:gd name="connsiteY42" fmla="*/ 88689 h 599527"/>
                <a:gd name="connsiteX43" fmla="*/ 405335 w 412043"/>
                <a:gd name="connsiteY43" fmla="*/ 105790 h 599527"/>
                <a:gd name="connsiteX44" fmla="*/ 367785 w 412043"/>
                <a:gd name="connsiteY44" fmla="*/ 126172 h 599527"/>
                <a:gd name="connsiteX45" fmla="*/ 313102 w 412043"/>
                <a:gd name="connsiteY45" fmla="*/ 136948 h 599527"/>
                <a:gd name="connsiteX46" fmla="*/ 200216 w 412043"/>
                <a:gd name="connsiteY46" fmla="*/ 93608 h 599527"/>
                <a:gd name="connsiteX47" fmla="*/ 282123 w 412043"/>
                <a:gd name="connsiteY47" fmla="*/ 147256 h 599527"/>
                <a:gd name="connsiteX48" fmla="*/ 285643 w 412043"/>
                <a:gd name="connsiteY48" fmla="*/ 153347 h 599527"/>
                <a:gd name="connsiteX49" fmla="*/ 285174 w 412043"/>
                <a:gd name="connsiteY49" fmla="*/ 165530 h 599527"/>
                <a:gd name="connsiteX50" fmla="*/ 172757 w 412043"/>
                <a:gd name="connsiteY50" fmla="*/ 198328 h 599527"/>
                <a:gd name="connsiteX51" fmla="*/ 8474 w 412043"/>
                <a:gd name="connsiteY51" fmla="*/ 110242 h 599527"/>
                <a:gd name="connsiteX52" fmla="*/ 3310 w 412043"/>
                <a:gd name="connsiteY52" fmla="*/ 97122 h 599527"/>
                <a:gd name="connsiteX53" fmla="*/ 113146 w 412043"/>
                <a:gd name="connsiteY53" fmla="*/ 45114 h 599527"/>
                <a:gd name="connsiteX54" fmla="*/ 204675 w 412043"/>
                <a:gd name="connsiteY54" fmla="*/ 1071 h 599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412043" h="599527">
                  <a:moveTo>
                    <a:pt x="142468" y="396851"/>
                  </a:moveTo>
                  <a:cubicBezTo>
                    <a:pt x="148333" y="395679"/>
                    <a:pt x="153730" y="399662"/>
                    <a:pt x="153964" y="405753"/>
                  </a:cubicBezTo>
                  <a:cubicBezTo>
                    <a:pt x="156545" y="464556"/>
                    <a:pt x="165461" y="529215"/>
                    <a:pt x="144814" y="585910"/>
                  </a:cubicBezTo>
                  <a:cubicBezTo>
                    <a:pt x="145048" y="590595"/>
                    <a:pt x="142233" y="595515"/>
                    <a:pt x="135898" y="595046"/>
                  </a:cubicBezTo>
                  <a:cubicBezTo>
                    <a:pt x="95776" y="591532"/>
                    <a:pt x="55889" y="595046"/>
                    <a:pt x="15768" y="599498"/>
                  </a:cubicBezTo>
                  <a:cubicBezTo>
                    <a:pt x="10606" y="599966"/>
                    <a:pt x="6383" y="594812"/>
                    <a:pt x="6383" y="590127"/>
                  </a:cubicBezTo>
                  <a:cubicBezTo>
                    <a:pt x="5913" y="512348"/>
                    <a:pt x="62224" y="414655"/>
                    <a:pt x="142468" y="396851"/>
                  </a:cubicBezTo>
                  <a:close/>
                  <a:moveTo>
                    <a:pt x="275305" y="271238"/>
                  </a:moveTo>
                  <a:cubicBezTo>
                    <a:pt x="260285" y="280845"/>
                    <a:pt x="239165" y="282251"/>
                    <a:pt x="222034" y="284828"/>
                  </a:cubicBezTo>
                  <a:cubicBezTo>
                    <a:pt x="201148" y="287875"/>
                    <a:pt x="179557" y="289280"/>
                    <a:pt x="158437" y="287640"/>
                  </a:cubicBezTo>
                  <a:cubicBezTo>
                    <a:pt x="143887" y="286469"/>
                    <a:pt x="116899" y="285531"/>
                    <a:pt x="99299" y="277096"/>
                  </a:cubicBezTo>
                  <a:cubicBezTo>
                    <a:pt x="110329" y="336145"/>
                    <a:pt x="139663" y="391679"/>
                    <a:pt x="205137" y="392382"/>
                  </a:cubicBezTo>
                  <a:cubicBezTo>
                    <a:pt x="262163" y="392851"/>
                    <a:pt x="296895" y="356062"/>
                    <a:pt x="312148" y="309432"/>
                  </a:cubicBezTo>
                  <a:cubicBezTo>
                    <a:pt x="310036" y="310135"/>
                    <a:pt x="307690" y="310604"/>
                    <a:pt x="305108" y="310604"/>
                  </a:cubicBezTo>
                  <a:cubicBezTo>
                    <a:pt x="287977" y="310604"/>
                    <a:pt x="279294" y="293030"/>
                    <a:pt x="275305" y="271238"/>
                  </a:cubicBezTo>
                  <a:close/>
                  <a:moveTo>
                    <a:pt x="93667" y="210314"/>
                  </a:moveTo>
                  <a:cubicBezTo>
                    <a:pt x="93667" y="211251"/>
                    <a:pt x="93667" y="212189"/>
                    <a:pt x="93667" y="212892"/>
                  </a:cubicBezTo>
                  <a:cubicBezTo>
                    <a:pt x="95779" y="213126"/>
                    <a:pt x="97891" y="213360"/>
                    <a:pt x="100003" y="213595"/>
                  </a:cubicBezTo>
                  <a:cubicBezTo>
                    <a:pt x="97891" y="212423"/>
                    <a:pt x="95779" y="211486"/>
                    <a:pt x="93667" y="210314"/>
                  </a:cubicBezTo>
                  <a:close/>
                  <a:moveTo>
                    <a:pt x="80202" y="186355"/>
                  </a:moveTo>
                  <a:cubicBezTo>
                    <a:pt x="82872" y="184714"/>
                    <a:pt x="86275" y="184422"/>
                    <a:pt x="89443" y="186413"/>
                  </a:cubicBezTo>
                  <a:cubicBezTo>
                    <a:pt x="144356" y="220156"/>
                    <a:pt x="213820" y="232340"/>
                    <a:pt x="269203" y="193209"/>
                  </a:cubicBezTo>
                  <a:cubicBezTo>
                    <a:pt x="272958" y="190397"/>
                    <a:pt x="276713" y="191100"/>
                    <a:pt x="279059" y="193209"/>
                  </a:cubicBezTo>
                  <a:cubicBezTo>
                    <a:pt x="281641" y="192271"/>
                    <a:pt x="284692" y="194380"/>
                    <a:pt x="284222" y="197661"/>
                  </a:cubicBezTo>
                  <a:cubicBezTo>
                    <a:pt x="281876" y="216172"/>
                    <a:pt x="285630" y="237261"/>
                    <a:pt x="288681" y="255304"/>
                  </a:cubicBezTo>
                  <a:cubicBezTo>
                    <a:pt x="289620" y="261162"/>
                    <a:pt x="304404" y="314587"/>
                    <a:pt x="312383" y="289280"/>
                  </a:cubicBezTo>
                  <a:cubicBezTo>
                    <a:pt x="321301" y="261162"/>
                    <a:pt x="315434" y="229997"/>
                    <a:pt x="314965" y="201175"/>
                  </a:cubicBezTo>
                  <a:cubicBezTo>
                    <a:pt x="314730" y="192037"/>
                    <a:pt x="328341" y="190397"/>
                    <a:pt x="330688" y="199067"/>
                  </a:cubicBezTo>
                  <a:cubicBezTo>
                    <a:pt x="349227" y="270300"/>
                    <a:pt x="328576" y="369887"/>
                    <a:pt x="260051" y="401287"/>
                  </a:cubicBezTo>
                  <a:cubicBezTo>
                    <a:pt x="261224" y="401287"/>
                    <a:pt x="262163" y="401521"/>
                    <a:pt x="263102" y="401990"/>
                  </a:cubicBezTo>
                  <a:cubicBezTo>
                    <a:pt x="332330" y="431983"/>
                    <a:pt x="406018" y="510481"/>
                    <a:pt x="401325" y="590150"/>
                  </a:cubicBezTo>
                  <a:cubicBezTo>
                    <a:pt x="401090" y="596711"/>
                    <a:pt x="395693" y="600226"/>
                    <a:pt x="389591" y="599289"/>
                  </a:cubicBezTo>
                  <a:cubicBezTo>
                    <a:pt x="347584" y="591790"/>
                    <a:pt x="305108" y="600460"/>
                    <a:pt x="262867" y="595071"/>
                  </a:cubicBezTo>
                  <a:cubicBezTo>
                    <a:pt x="257704" y="594368"/>
                    <a:pt x="253480" y="591322"/>
                    <a:pt x="253480" y="585698"/>
                  </a:cubicBezTo>
                  <a:cubicBezTo>
                    <a:pt x="252776" y="529226"/>
                    <a:pt x="239634" y="471115"/>
                    <a:pt x="247144" y="414643"/>
                  </a:cubicBezTo>
                  <a:cubicBezTo>
                    <a:pt x="247378" y="413003"/>
                    <a:pt x="248082" y="411831"/>
                    <a:pt x="248786" y="410660"/>
                  </a:cubicBezTo>
                  <a:cubicBezTo>
                    <a:pt x="249021" y="408551"/>
                    <a:pt x="249960" y="406442"/>
                    <a:pt x="251603" y="404802"/>
                  </a:cubicBezTo>
                  <a:cubicBezTo>
                    <a:pt x="237757" y="409722"/>
                    <a:pt x="222268" y="411831"/>
                    <a:pt x="205137" y="410894"/>
                  </a:cubicBezTo>
                  <a:cubicBezTo>
                    <a:pt x="96248" y="404802"/>
                    <a:pt x="70903" y="284360"/>
                    <a:pt x="75362" y="194380"/>
                  </a:cubicBezTo>
                  <a:cubicBezTo>
                    <a:pt x="75597" y="190983"/>
                    <a:pt x="77533" y="187995"/>
                    <a:pt x="80202" y="186355"/>
                  </a:cubicBezTo>
                  <a:close/>
                  <a:moveTo>
                    <a:pt x="204675" y="1071"/>
                  </a:moveTo>
                  <a:cubicBezTo>
                    <a:pt x="234481" y="-6191"/>
                    <a:pt x="272031" y="25435"/>
                    <a:pt x="297143" y="36212"/>
                  </a:cubicBezTo>
                  <a:cubicBezTo>
                    <a:pt x="334459" y="52142"/>
                    <a:pt x="374121" y="65730"/>
                    <a:pt x="407917" y="88689"/>
                  </a:cubicBezTo>
                  <a:cubicBezTo>
                    <a:pt x="415192" y="93843"/>
                    <a:pt x="411907" y="104150"/>
                    <a:pt x="405335" y="105790"/>
                  </a:cubicBezTo>
                  <a:cubicBezTo>
                    <a:pt x="398295" y="117035"/>
                    <a:pt x="379519" y="122189"/>
                    <a:pt x="367785" y="126172"/>
                  </a:cubicBezTo>
                  <a:cubicBezTo>
                    <a:pt x="351122" y="132029"/>
                    <a:pt x="331173" y="139291"/>
                    <a:pt x="313102" y="136948"/>
                  </a:cubicBezTo>
                  <a:cubicBezTo>
                    <a:pt x="271562" y="131092"/>
                    <a:pt x="243164" y="83769"/>
                    <a:pt x="200216" y="93608"/>
                  </a:cubicBezTo>
                  <a:cubicBezTo>
                    <a:pt x="211481" y="122658"/>
                    <a:pt x="255368" y="139760"/>
                    <a:pt x="282123" y="147256"/>
                  </a:cubicBezTo>
                  <a:cubicBezTo>
                    <a:pt x="285174" y="148193"/>
                    <a:pt x="286113" y="150770"/>
                    <a:pt x="285643" y="153347"/>
                  </a:cubicBezTo>
                  <a:cubicBezTo>
                    <a:pt x="288459" y="156627"/>
                    <a:pt x="289398" y="161547"/>
                    <a:pt x="285174" y="165530"/>
                  </a:cubicBezTo>
                  <a:cubicBezTo>
                    <a:pt x="254899" y="193408"/>
                    <a:pt x="213358" y="214961"/>
                    <a:pt x="172757" y="198328"/>
                  </a:cubicBezTo>
                  <a:cubicBezTo>
                    <a:pt x="115493" y="174666"/>
                    <a:pt x="65738" y="134840"/>
                    <a:pt x="8474" y="110242"/>
                  </a:cubicBezTo>
                  <a:cubicBezTo>
                    <a:pt x="728" y="112584"/>
                    <a:pt x="-3261" y="101339"/>
                    <a:pt x="3310" y="97122"/>
                  </a:cubicBezTo>
                  <a:cubicBezTo>
                    <a:pt x="37341" y="75569"/>
                    <a:pt x="76769" y="61982"/>
                    <a:pt x="113146" y="45114"/>
                  </a:cubicBezTo>
                  <a:cubicBezTo>
                    <a:pt x="142482" y="31526"/>
                    <a:pt x="173226" y="8568"/>
                    <a:pt x="204675" y="1071"/>
                  </a:cubicBezTo>
                  <a:close/>
                </a:path>
              </a:pathLst>
            </a:custGeom>
            <a:solidFill>
              <a:srgbClr val="005D96"/>
            </a:solidFill>
            <a:ln>
              <a:noFill/>
            </a:ln>
          </p:spPr>
          <p:txBody>
            <a:bodyPr/>
            <a:lstStyle/>
            <a:p>
              <a:endParaRPr lang="zh-CN" altLang="en-US" dirty="0">
                <a:solidFill>
                  <a:schemeClr val="accent4"/>
                </a:solidFill>
              </a:endParaRPr>
            </a:p>
          </p:txBody>
        </p:sp>
        <p:sp>
          <p:nvSpPr>
            <p:cNvPr id="45" name="professor_53644"/>
            <p:cNvSpPr>
              <a:spLocks noChangeAspect="1"/>
            </p:cNvSpPr>
            <p:nvPr/>
          </p:nvSpPr>
          <p:spPr bwMode="auto">
            <a:xfrm>
              <a:off x="6601606" y="5807951"/>
              <a:ext cx="254137" cy="360000"/>
            </a:xfrm>
            <a:custGeom>
              <a:avLst/>
              <a:gdLst>
                <a:gd name="connsiteX0" fmla="*/ 274879 w 424808"/>
                <a:gd name="connsiteY0" fmla="*/ 445205 h 601764"/>
                <a:gd name="connsiteX1" fmla="*/ 274879 w 424808"/>
                <a:gd name="connsiteY1" fmla="*/ 470531 h 601764"/>
                <a:gd name="connsiteX2" fmla="*/ 332512 w 424808"/>
                <a:gd name="connsiteY2" fmla="*/ 470531 h 601764"/>
                <a:gd name="connsiteX3" fmla="*/ 332512 w 424808"/>
                <a:gd name="connsiteY3" fmla="*/ 445205 h 601764"/>
                <a:gd name="connsiteX4" fmla="*/ 107051 w 424808"/>
                <a:gd name="connsiteY4" fmla="*/ 280818 h 601764"/>
                <a:gd name="connsiteX5" fmla="*/ 183588 w 424808"/>
                <a:gd name="connsiteY5" fmla="*/ 420340 h 601764"/>
                <a:gd name="connsiteX6" fmla="*/ 191426 w 424808"/>
                <a:gd name="connsiteY6" fmla="*/ 393633 h 601764"/>
                <a:gd name="connsiteX7" fmla="*/ 179899 w 424808"/>
                <a:gd name="connsiteY7" fmla="*/ 369228 h 601764"/>
                <a:gd name="connsiteX8" fmla="*/ 212174 w 424808"/>
                <a:gd name="connsiteY8" fmla="*/ 336074 h 601764"/>
                <a:gd name="connsiteX9" fmla="*/ 244910 w 424808"/>
                <a:gd name="connsiteY9" fmla="*/ 369228 h 601764"/>
                <a:gd name="connsiteX10" fmla="*/ 233383 w 424808"/>
                <a:gd name="connsiteY10" fmla="*/ 393633 h 601764"/>
                <a:gd name="connsiteX11" fmla="*/ 240760 w 424808"/>
                <a:gd name="connsiteY11" fmla="*/ 420340 h 601764"/>
                <a:gd name="connsiteX12" fmla="*/ 317758 w 424808"/>
                <a:gd name="connsiteY12" fmla="*/ 280818 h 601764"/>
                <a:gd name="connsiteX13" fmla="*/ 424726 w 424808"/>
                <a:gd name="connsiteY13" fmla="*/ 513815 h 601764"/>
                <a:gd name="connsiteX14" fmla="*/ 388763 w 424808"/>
                <a:gd name="connsiteY14" fmla="*/ 559861 h 601764"/>
                <a:gd name="connsiteX15" fmla="*/ 347267 w 424808"/>
                <a:gd name="connsiteY15" fmla="*/ 561703 h 601764"/>
                <a:gd name="connsiteX16" fmla="*/ 213557 w 424808"/>
                <a:gd name="connsiteY16" fmla="*/ 601764 h 601764"/>
                <a:gd name="connsiteX17" fmla="*/ 78003 w 424808"/>
                <a:gd name="connsiteY17" fmla="*/ 561703 h 601764"/>
                <a:gd name="connsiteX18" fmla="*/ 36507 w 424808"/>
                <a:gd name="connsiteY18" fmla="*/ 559861 h 601764"/>
                <a:gd name="connsiteX19" fmla="*/ 83 w 424808"/>
                <a:gd name="connsiteY19" fmla="*/ 513815 h 601764"/>
                <a:gd name="connsiteX20" fmla="*/ 107051 w 424808"/>
                <a:gd name="connsiteY20" fmla="*/ 280818 h 601764"/>
                <a:gd name="connsiteX21" fmla="*/ 184977 w 424808"/>
                <a:gd name="connsiteY21" fmla="*/ 152406 h 601764"/>
                <a:gd name="connsiteX22" fmla="*/ 153631 w 424808"/>
                <a:gd name="connsiteY22" fmla="*/ 166680 h 601764"/>
                <a:gd name="connsiteX23" fmla="*/ 153631 w 424808"/>
                <a:gd name="connsiteY23" fmla="*/ 167601 h 601764"/>
                <a:gd name="connsiteX24" fmla="*/ 170226 w 424808"/>
                <a:gd name="connsiteY24" fmla="*/ 184637 h 601764"/>
                <a:gd name="connsiteX25" fmla="*/ 178062 w 424808"/>
                <a:gd name="connsiteY25" fmla="*/ 184637 h 601764"/>
                <a:gd name="connsiteX26" fmla="*/ 195118 w 424808"/>
                <a:gd name="connsiteY26" fmla="*/ 167601 h 601764"/>
                <a:gd name="connsiteX27" fmla="*/ 184977 w 424808"/>
                <a:gd name="connsiteY27" fmla="*/ 152406 h 601764"/>
                <a:gd name="connsiteX28" fmla="*/ 247208 w 424808"/>
                <a:gd name="connsiteY28" fmla="*/ 150564 h 601764"/>
                <a:gd name="connsiteX29" fmla="*/ 230152 w 424808"/>
                <a:gd name="connsiteY29" fmla="*/ 167601 h 601764"/>
                <a:gd name="connsiteX30" fmla="*/ 247208 w 424808"/>
                <a:gd name="connsiteY30" fmla="*/ 184637 h 601764"/>
                <a:gd name="connsiteX31" fmla="*/ 254583 w 424808"/>
                <a:gd name="connsiteY31" fmla="*/ 184637 h 601764"/>
                <a:gd name="connsiteX32" fmla="*/ 271639 w 424808"/>
                <a:gd name="connsiteY32" fmla="*/ 167601 h 601764"/>
                <a:gd name="connsiteX33" fmla="*/ 254583 w 424808"/>
                <a:gd name="connsiteY33" fmla="*/ 150564 h 601764"/>
                <a:gd name="connsiteX34" fmla="*/ 236144 w 424808"/>
                <a:gd name="connsiteY34" fmla="*/ 107283 h 601764"/>
                <a:gd name="connsiteX35" fmla="*/ 196040 w 424808"/>
                <a:gd name="connsiteY35" fmla="*/ 145039 h 601764"/>
                <a:gd name="connsiteX36" fmla="*/ 201572 w 424808"/>
                <a:gd name="connsiteY36" fmla="*/ 150564 h 601764"/>
                <a:gd name="connsiteX37" fmla="*/ 223237 w 424808"/>
                <a:gd name="connsiteY37" fmla="*/ 150564 h 601764"/>
                <a:gd name="connsiteX38" fmla="*/ 247208 w 424808"/>
                <a:gd name="connsiteY38" fmla="*/ 138593 h 601764"/>
                <a:gd name="connsiteX39" fmla="*/ 254583 w 424808"/>
                <a:gd name="connsiteY39" fmla="*/ 138593 h 601764"/>
                <a:gd name="connsiteX40" fmla="*/ 284085 w 424808"/>
                <a:gd name="connsiteY40" fmla="*/ 167601 h 601764"/>
                <a:gd name="connsiteX41" fmla="*/ 254583 w 424808"/>
                <a:gd name="connsiteY41" fmla="*/ 197069 h 601764"/>
                <a:gd name="connsiteX42" fmla="*/ 247208 w 424808"/>
                <a:gd name="connsiteY42" fmla="*/ 197069 h 601764"/>
                <a:gd name="connsiteX43" fmla="*/ 217706 w 424808"/>
                <a:gd name="connsiteY43" fmla="*/ 167601 h 601764"/>
                <a:gd name="connsiteX44" fmla="*/ 218167 w 424808"/>
                <a:gd name="connsiteY44" fmla="*/ 162996 h 601764"/>
                <a:gd name="connsiteX45" fmla="*/ 206642 w 424808"/>
                <a:gd name="connsiteY45" fmla="*/ 162996 h 601764"/>
                <a:gd name="connsiteX46" fmla="*/ 207103 w 424808"/>
                <a:gd name="connsiteY46" fmla="*/ 167601 h 601764"/>
                <a:gd name="connsiteX47" fmla="*/ 178062 w 424808"/>
                <a:gd name="connsiteY47" fmla="*/ 197069 h 601764"/>
                <a:gd name="connsiteX48" fmla="*/ 170226 w 424808"/>
                <a:gd name="connsiteY48" fmla="*/ 197069 h 601764"/>
                <a:gd name="connsiteX49" fmla="*/ 141185 w 424808"/>
                <a:gd name="connsiteY49" fmla="*/ 170363 h 601764"/>
                <a:gd name="connsiteX50" fmla="*/ 119519 w 424808"/>
                <a:gd name="connsiteY50" fmla="*/ 173586 h 601764"/>
                <a:gd name="connsiteX51" fmla="*/ 212635 w 424808"/>
                <a:gd name="connsiteY51" fmla="*/ 280869 h 601764"/>
                <a:gd name="connsiteX52" fmla="*/ 307594 w 424808"/>
                <a:gd name="connsiteY52" fmla="*/ 155629 h 601764"/>
                <a:gd name="connsiteX53" fmla="*/ 236144 w 424808"/>
                <a:gd name="connsiteY53" fmla="*/ 107283 h 601764"/>
                <a:gd name="connsiteX54" fmla="*/ 212635 w 424808"/>
                <a:gd name="connsiteY54" fmla="*/ 0 h 601764"/>
                <a:gd name="connsiteX55" fmla="*/ 340323 w 424808"/>
                <a:gd name="connsiteY55" fmla="*/ 127082 h 601764"/>
                <a:gd name="connsiteX56" fmla="*/ 365215 w 424808"/>
                <a:gd name="connsiteY56" fmla="*/ 175889 h 601764"/>
                <a:gd name="connsiteX57" fmla="*/ 326955 w 424808"/>
                <a:gd name="connsiteY57" fmla="*/ 224695 h 601764"/>
                <a:gd name="connsiteX58" fmla="*/ 212635 w 424808"/>
                <a:gd name="connsiteY58" fmla="*/ 317244 h 601764"/>
                <a:gd name="connsiteX59" fmla="*/ 98315 w 424808"/>
                <a:gd name="connsiteY59" fmla="*/ 224695 h 601764"/>
                <a:gd name="connsiteX60" fmla="*/ 59594 w 424808"/>
                <a:gd name="connsiteY60" fmla="*/ 175889 h 601764"/>
                <a:gd name="connsiteX61" fmla="*/ 84947 w 424808"/>
                <a:gd name="connsiteY61" fmla="*/ 127082 h 601764"/>
                <a:gd name="connsiteX62" fmla="*/ 212635 w 424808"/>
                <a:gd name="connsiteY62" fmla="*/ 0 h 601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424808" h="601764">
                  <a:moveTo>
                    <a:pt x="274879" y="445205"/>
                  </a:moveTo>
                  <a:lnTo>
                    <a:pt x="274879" y="470531"/>
                  </a:lnTo>
                  <a:lnTo>
                    <a:pt x="332512" y="470531"/>
                  </a:lnTo>
                  <a:lnTo>
                    <a:pt x="332512" y="445205"/>
                  </a:lnTo>
                  <a:close/>
                  <a:moveTo>
                    <a:pt x="107051" y="280818"/>
                  </a:moveTo>
                  <a:lnTo>
                    <a:pt x="183588" y="420340"/>
                  </a:lnTo>
                  <a:lnTo>
                    <a:pt x="191426" y="393633"/>
                  </a:lnTo>
                  <a:cubicBezTo>
                    <a:pt x="184510" y="387647"/>
                    <a:pt x="179899" y="378898"/>
                    <a:pt x="179899" y="369228"/>
                  </a:cubicBezTo>
                  <a:cubicBezTo>
                    <a:pt x="179899" y="350809"/>
                    <a:pt x="193731" y="336074"/>
                    <a:pt x="212174" y="336074"/>
                  </a:cubicBezTo>
                  <a:cubicBezTo>
                    <a:pt x="230156" y="336074"/>
                    <a:pt x="244910" y="350809"/>
                    <a:pt x="244910" y="369228"/>
                  </a:cubicBezTo>
                  <a:cubicBezTo>
                    <a:pt x="244910" y="378898"/>
                    <a:pt x="240299" y="387647"/>
                    <a:pt x="233383" y="393633"/>
                  </a:cubicBezTo>
                  <a:lnTo>
                    <a:pt x="240760" y="420340"/>
                  </a:lnTo>
                  <a:lnTo>
                    <a:pt x="317758" y="280818"/>
                  </a:lnTo>
                  <a:cubicBezTo>
                    <a:pt x="367092" y="310288"/>
                    <a:pt x="417810" y="377977"/>
                    <a:pt x="424726" y="513815"/>
                  </a:cubicBezTo>
                  <a:cubicBezTo>
                    <a:pt x="426109" y="537759"/>
                    <a:pt x="409972" y="558480"/>
                    <a:pt x="388763" y="559861"/>
                  </a:cubicBezTo>
                  <a:cubicBezTo>
                    <a:pt x="387840" y="559861"/>
                    <a:pt x="347267" y="561703"/>
                    <a:pt x="347267" y="561703"/>
                  </a:cubicBezTo>
                  <a:cubicBezTo>
                    <a:pt x="322830" y="588410"/>
                    <a:pt x="274879" y="601764"/>
                    <a:pt x="213557" y="601764"/>
                  </a:cubicBezTo>
                  <a:cubicBezTo>
                    <a:pt x="155463" y="601764"/>
                    <a:pt x="103362" y="590713"/>
                    <a:pt x="78003" y="561703"/>
                  </a:cubicBezTo>
                  <a:cubicBezTo>
                    <a:pt x="78003" y="561703"/>
                    <a:pt x="36969" y="559861"/>
                    <a:pt x="36507" y="559861"/>
                  </a:cubicBezTo>
                  <a:cubicBezTo>
                    <a:pt x="14837" y="558480"/>
                    <a:pt x="-1300" y="537759"/>
                    <a:pt x="83" y="513815"/>
                  </a:cubicBezTo>
                  <a:cubicBezTo>
                    <a:pt x="6999" y="377056"/>
                    <a:pt x="57717" y="309827"/>
                    <a:pt x="107051" y="280818"/>
                  </a:cubicBezTo>
                  <a:close/>
                  <a:moveTo>
                    <a:pt x="184977" y="152406"/>
                  </a:moveTo>
                  <a:cubicBezTo>
                    <a:pt x="175758" y="157931"/>
                    <a:pt x="165155" y="162996"/>
                    <a:pt x="153631" y="166680"/>
                  </a:cubicBezTo>
                  <a:cubicBezTo>
                    <a:pt x="153631" y="167140"/>
                    <a:pt x="153631" y="167601"/>
                    <a:pt x="153631" y="167601"/>
                  </a:cubicBezTo>
                  <a:cubicBezTo>
                    <a:pt x="153631" y="176809"/>
                    <a:pt x="161007" y="184637"/>
                    <a:pt x="170226" y="184637"/>
                  </a:cubicBezTo>
                  <a:lnTo>
                    <a:pt x="178062" y="184637"/>
                  </a:lnTo>
                  <a:cubicBezTo>
                    <a:pt x="187282" y="184637"/>
                    <a:pt x="195118" y="176809"/>
                    <a:pt x="195118" y="167601"/>
                  </a:cubicBezTo>
                  <a:cubicBezTo>
                    <a:pt x="195118" y="160694"/>
                    <a:pt x="190969" y="155169"/>
                    <a:pt x="184977" y="152406"/>
                  </a:cubicBezTo>
                  <a:close/>
                  <a:moveTo>
                    <a:pt x="247208" y="150564"/>
                  </a:moveTo>
                  <a:cubicBezTo>
                    <a:pt x="237527" y="150564"/>
                    <a:pt x="230152" y="158392"/>
                    <a:pt x="230152" y="167601"/>
                  </a:cubicBezTo>
                  <a:cubicBezTo>
                    <a:pt x="230152" y="176809"/>
                    <a:pt x="237527" y="184637"/>
                    <a:pt x="247208" y="184637"/>
                  </a:cubicBezTo>
                  <a:lnTo>
                    <a:pt x="254583" y="184637"/>
                  </a:lnTo>
                  <a:cubicBezTo>
                    <a:pt x="263802" y="184637"/>
                    <a:pt x="271639" y="176809"/>
                    <a:pt x="271639" y="167601"/>
                  </a:cubicBezTo>
                  <a:cubicBezTo>
                    <a:pt x="271639" y="158392"/>
                    <a:pt x="263802" y="150564"/>
                    <a:pt x="254583" y="150564"/>
                  </a:cubicBezTo>
                  <a:close/>
                  <a:moveTo>
                    <a:pt x="236144" y="107283"/>
                  </a:moveTo>
                  <a:cubicBezTo>
                    <a:pt x="232457" y="111887"/>
                    <a:pt x="218628" y="129384"/>
                    <a:pt x="196040" y="145039"/>
                  </a:cubicBezTo>
                  <a:cubicBezTo>
                    <a:pt x="198345" y="146420"/>
                    <a:pt x="200189" y="148723"/>
                    <a:pt x="201572" y="150564"/>
                  </a:cubicBezTo>
                  <a:lnTo>
                    <a:pt x="223237" y="150564"/>
                  </a:lnTo>
                  <a:cubicBezTo>
                    <a:pt x="228769" y="143197"/>
                    <a:pt x="237066" y="138593"/>
                    <a:pt x="247208" y="138593"/>
                  </a:cubicBezTo>
                  <a:lnTo>
                    <a:pt x="254583" y="138593"/>
                  </a:lnTo>
                  <a:cubicBezTo>
                    <a:pt x="270717" y="138593"/>
                    <a:pt x="284085" y="151485"/>
                    <a:pt x="284085" y="167601"/>
                  </a:cubicBezTo>
                  <a:cubicBezTo>
                    <a:pt x="284085" y="183716"/>
                    <a:pt x="270717" y="197069"/>
                    <a:pt x="254583" y="197069"/>
                  </a:cubicBezTo>
                  <a:lnTo>
                    <a:pt x="247208" y="197069"/>
                  </a:lnTo>
                  <a:cubicBezTo>
                    <a:pt x="231074" y="197069"/>
                    <a:pt x="217706" y="183716"/>
                    <a:pt x="217706" y="167601"/>
                  </a:cubicBezTo>
                  <a:cubicBezTo>
                    <a:pt x="217706" y="166219"/>
                    <a:pt x="218167" y="164378"/>
                    <a:pt x="218167" y="162996"/>
                  </a:cubicBezTo>
                  <a:lnTo>
                    <a:pt x="206642" y="162996"/>
                  </a:lnTo>
                  <a:cubicBezTo>
                    <a:pt x="207103" y="164378"/>
                    <a:pt x="207103" y="166219"/>
                    <a:pt x="207103" y="167601"/>
                  </a:cubicBezTo>
                  <a:cubicBezTo>
                    <a:pt x="207103" y="183716"/>
                    <a:pt x="194196" y="197069"/>
                    <a:pt x="178062" y="197069"/>
                  </a:cubicBezTo>
                  <a:lnTo>
                    <a:pt x="170226" y="197069"/>
                  </a:lnTo>
                  <a:cubicBezTo>
                    <a:pt x="155014" y="197069"/>
                    <a:pt x="142568" y="185097"/>
                    <a:pt x="141185" y="170363"/>
                  </a:cubicBezTo>
                  <a:cubicBezTo>
                    <a:pt x="134270" y="171745"/>
                    <a:pt x="126895" y="173126"/>
                    <a:pt x="119519" y="173586"/>
                  </a:cubicBezTo>
                  <a:cubicBezTo>
                    <a:pt x="129200" y="235746"/>
                    <a:pt x="163311" y="280869"/>
                    <a:pt x="212635" y="280869"/>
                  </a:cubicBezTo>
                  <a:cubicBezTo>
                    <a:pt x="264724" y="280869"/>
                    <a:pt x="302985" y="228839"/>
                    <a:pt x="307594" y="155629"/>
                  </a:cubicBezTo>
                  <a:cubicBezTo>
                    <a:pt x="260576" y="144579"/>
                    <a:pt x="242598" y="119715"/>
                    <a:pt x="236144" y="107283"/>
                  </a:cubicBezTo>
                  <a:close/>
                  <a:moveTo>
                    <a:pt x="212635" y="0"/>
                  </a:moveTo>
                  <a:cubicBezTo>
                    <a:pt x="313126" y="0"/>
                    <a:pt x="333870" y="55713"/>
                    <a:pt x="340323" y="127082"/>
                  </a:cubicBezTo>
                  <a:cubicBezTo>
                    <a:pt x="359684" y="130305"/>
                    <a:pt x="370286" y="145499"/>
                    <a:pt x="365215" y="175889"/>
                  </a:cubicBezTo>
                  <a:cubicBezTo>
                    <a:pt x="361067" y="201213"/>
                    <a:pt x="349081" y="222854"/>
                    <a:pt x="326955" y="224695"/>
                  </a:cubicBezTo>
                  <a:cubicBezTo>
                    <a:pt x="305290" y="281790"/>
                    <a:pt x="262420" y="317244"/>
                    <a:pt x="212635" y="317244"/>
                  </a:cubicBezTo>
                  <a:cubicBezTo>
                    <a:pt x="160546" y="317244"/>
                    <a:pt x="119980" y="280409"/>
                    <a:pt x="98315" y="224695"/>
                  </a:cubicBezTo>
                  <a:cubicBezTo>
                    <a:pt x="76188" y="222854"/>
                    <a:pt x="64203" y="201213"/>
                    <a:pt x="59594" y="175889"/>
                  </a:cubicBezTo>
                  <a:cubicBezTo>
                    <a:pt x="54523" y="145499"/>
                    <a:pt x="65586" y="130305"/>
                    <a:pt x="84947" y="127082"/>
                  </a:cubicBezTo>
                  <a:cubicBezTo>
                    <a:pt x="91400" y="55713"/>
                    <a:pt x="111222" y="0"/>
                    <a:pt x="212635" y="0"/>
                  </a:cubicBezTo>
                  <a:close/>
                </a:path>
              </a:pathLst>
            </a:custGeom>
            <a:solidFill>
              <a:srgbClr val="005D96"/>
            </a:solidFill>
            <a:ln>
              <a:noFill/>
            </a:ln>
          </p:spPr>
          <p:txBody>
            <a:bodyPr/>
            <a:lstStyle/>
            <a:p>
              <a:endParaRPr lang="zh-CN" altLang="en-US" dirty="0">
                <a:solidFill>
                  <a:schemeClr val="accent4"/>
                </a:solidFill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-114300" y="450215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ADE574F-A14B-EE44-B58F-28595D784A7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08922" y="4734940"/>
            <a:ext cx="5881922" cy="337185"/>
          </a:xfrm>
        </p:spPr>
        <p:txBody>
          <a:bodyPr/>
          <a:lstStyle/>
          <a:p>
            <a:r>
              <a:rPr lang="en-US" altLang="zh-CN" b="1" dirty="0">
                <a:solidFill>
                  <a:schemeClr val="tx1"/>
                </a:solidFill>
              </a:rPr>
              <a:t>----</a:t>
            </a:r>
            <a:r>
              <a:rPr lang="zh-CN" altLang="en-US" b="1" dirty="0">
                <a:solidFill>
                  <a:schemeClr val="tx1"/>
                </a:solidFill>
              </a:rPr>
              <a:t> 课程编号：</a:t>
            </a:r>
            <a:r>
              <a:rPr lang="en-US" altLang="zh-CN" b="1" dirty="0">
                <a:solidFill>
                  <a:schemeClr val="tx1"/>
                </a:solidFill>
              </a:rPr>
              <a:t>BK10504150-01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5483860" y="981075"/>
            <a:ext cx="1360805" cy="1334770"/>
          </a:xfrm>
          <a:prstGeom prst="ellipse">
            <a:avLst/>
          </a:prstGeom>
          <a:gradFill>
            <a:gsLst>
              <a:gs pos="0">
                <a:srgbClr val="005D96"/>
              </a:gs>
              <a:gs pos="100000">
                <a:srgbClr val="06253A"/>
              </a:gs>
            </a:gsLst>
            <a:lin ang="13500000" scaled="1"/>
          </a:gradFill>
          <a:ln>
            <a:solidFill>
              <a:srgbClr val="005D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0" dirty="0">
                <a:latin typeface="Times New Roman Regular" panose="02020603050405020304" charset="0"/>
                <a:ea typeface="+mj-ea"/>
                <a:cs typeface="Times New Roman Regular" panose="02020603050405020304" charset="0"/>
              </a:rPr>
              <a:t>04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944526" y="2794468"/>
            <a:ext cx="630172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 spc="600" dirty="0">
                <a:solidFill>
                  <a:schemeClr val="tx2">
                    <a:lumMod val="50000"/>
                  </a:schemeClr>
                </a:solidFill>
              </a:rPr>
              <a:t>第四章 基本的算法策略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89F25AF-86B9-C443-AC0F-408445C8B7A5}"/>
              </a:ext>
            </a:extLst>
          </p:cNvPr>
          <p:cNvSpPr txBox="1"/>
          <p:nvPr/>
        </p:nvSpPr>
        <p:spPr>
          <a:xfrm>
            <a:off x="1268729" y="232528"/>
            <a:ext cx="454105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分而治之法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6871972-7126-AE40-8810-E975CFED95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2873" y="1434464"/>
            <a:ext cx="7488237" cy="471487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b="1" dirty="0">
                <a:solidFill>
                  <a:srgbClr val="80808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4.1 </a:t>
            </a:r>
            <a:r>
              <a:rPr lang="zh-CN" altLang="en-US" b="1" dirty="0">
                <a:solidFill>
                  <a:srgbClr val="80808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迭代算法</a:t>
            </a:r>
          </a:p>
          <a:p>
            <a:pPr algn="just">
              <a:lnSpc>
                <a:spcPct val="150000"/>
              </a:lnSpc>
            </a:pPr>
            <a:r>
              <a:rPr lang="en-US" altLang="zh-CN" b="1" dirty="0">
                <a:solidFill>
                  <a:srgbClr val="80808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4.2 </a:t>
            </a:r>
            <a:r>
              <a:rPr lang="zh-CN" altLang="en-US" b="1" dirty="0">
                <a:solidFill>
                  <a:srgbClr val="80808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蛮力法</a:t>
            </a:r>
          </a:p>
          <a:p>
            <a:pPr algn="just">
              <a:lnSpc>
                <a:spcPct val="150000"/>
              </a:lnSpc>
            </a:pPr>
            <a:r>
              <a:rPr lang="en-US" altLang="zh-CN" b="1" dirty="0">
                <a:solidFill>
                  <a:srgbClr val="80808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4.3 </a:t>
            </a:r>
            <a:r>
              <a:rPr lang="zh-CN" altLang="en-US" b="1" dirty="0">
                <a:solidFill>
                  <a:srgbClr val="80808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分治算法</a:t>
            </a:r>
          </a:p>
          <a:p>
            <a:pPr algn="just">
              <a:lnSpc>
                <a:spcPct val="150000"/>
              </a:lnSpc>
            </a:pPr>
            <a:r>
              <a:rPr lang="en-US" altLang="zh-CN" b="1" dirty="0">
                <a:solidFill>
                  <a:srgbClr val="80808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4.4 </a:t>
            </a:r>
            <a:r>
              <a:rPr lang="zh-CN" altLang="en-US" b="1" dirty="0">
                <a:solidFill>
                  <a:srgbClr val="80808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贪婪算法</a:t>
            </a:r>
          </a:p>
          <a:p>
            <a:pPr algn="just">
              <a:lnSpc>
                <a:spcPct val="150000"/>
              </a:lnSpc>
            </a:pP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4.5 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动态规划</a:t>
            </a:r>
          </a:p>
          <a:p>
            <a:pPr algn="just">
              <a:lnSpc>
                <a:spcPct val="150000"/>
              </a:lnSpc>
            </a:pPr>
            <a:r>
              <a:rPr lang="en-US" altLang="zh-CN" b="1" dirty="0">
                <a:solidFill>
                  <a:srgbClr val="80808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4.6 </a:t>
            </a:r>
            <a:r>
              <a:rPr lang="zh-CN" altLang="en-US" b="1" dirty="0">
                <a:solidFill>
                  <a:srgbClr val="80808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算法策略间的比较</a:t>
            </a:r>
          </a:p>
        </p:txBody>
      </p:sp>
    </p:spTree>
    <p:extLst>
      <p:ext uri="{BB962C8B-B14F-4D97-AF65-F5344CB8AC3E}">
        <p14:creationId xmlns:p14="http://schemas.microsoft.com/office/powerpoint/2010/main" val="82794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8727" y="1241742"/>
            <a:ext cx="6417310" cy="3957493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19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如何设计一个动态规划算法？</a:t>
            </a:r>
            <a:r>
              <a:rPr sz="2800" spc="-15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四个步骤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1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spc="-10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问题结构分析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1000125" lvl="2" indent="-295275">
              <a:lnSpc>
                <a:spcPct val="100000"/>
              </a:lnSpc>
              <a:spcBef>
                <a:spcPts val="550"/>
              </a:spcBef>
              <a:buClr>
                <a:srgbClr val="EB91D7"/>
              </a:buClr>
              <a:buSzPct val="70454"/>
              <a:buFont typeface="Times New Roman"/>
              <a:buChar char="o"/>
              <a:tabLst>
                <a:tab pos="1000125" algn="l"/>
                <a:tab pos="1000760" algn="l"/>
              </a:tabLst>
            </a:pPr>
            <a:r>
              <a:rPr sz="22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给出问题表示，</a:t>
            </a:r>
            <a:r>
              <a:rPr sz="2200" spc="-5" dirty="0" err="1">
                <a:solidFill>
                  <a:srgbClr val="7030A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明确原始问题</a:t>
            </a:r>
            <a:endParaRPr sz="2200" dirty="0">
              <a:solidFill>
                <a:srgbClr val="7030A0"/>
              </a:solidFill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5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spc="-10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递推关系建立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1000125" lvl="2" indent="-295275">
              <a:lnSpc>
                <a:spcPct val="100000"/>
              </a:lnSpc>
              <a:spcBef>
                <a:spcPts val="545"/>
              </a:spcBef>
              <a:buClr>
                <a:srgbClr val="EB91D7"/>
              </a:buClr>
              <a:buSzPct val="70454"/>
              <a:buFont typeface="Times New Roman"/>
              <a:buChar char="o"/>
              <a:tabLst>
                <a:tab pos="1000125" algn="l"/>
                <a:tab pos="1000760" algn="l"/>
              </a:tabLst>
            </a:pPr>
            <a:r>
              <a:rPr sz="2200" spc="-5" dirty="0" err="1">
                <a:solidFill>
                  <a:srgbClr val="7030A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分析最优结构</a:t>
            </a:r>
            <a:r>
              <a:rPr sz="22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</a:t>
            </a:r>
            <a:r>
              <a:rPr sz="2200" b="1" spc="-5" dirty="0" err="1">
                <a:solidFill>
                  <a:srgbClr val="7030A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构造递推公式</a:t>
            </a:r>
            <a:endParaRPr sz="2200" b="1" dirty="0">
              <a:solidFill>
                <a:srgbClr val="7030A0"/>
              </a:solidFill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6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spc="-10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自底向上计算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1000125" lvl="2" indent="-295275">
              <a:lnSpc>
                <a:spcPct val="100000"/>
              </a:lnSpc>
              <a:spcBef>
                <a:spcPts val="550"/>
              </a:spcBef>
              <a:buClr>
                <a:srgbClr val="EB91D7"/>
              </a:buClr>
              <a:buSzPct val="70454"/>
              <a:buFont typeface="Times New Roman"/>
              <a:buChar char="o"/>
              <a:tabLst>
                <a:tab pos="1000125" algn="l"/>
                <a:tab pos="1000760" algn="l"/>
              </a:tabLst>
            </a:pPr>
            <a:r>
              <a:rPr sz="2200" spc="-5" dirty="0" err="1">
                <a:solidFill>
                  <a:srgbClr val="7030A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确定计算顺序</a:t>
            </a:r>
            <a:r>
              <a:rPr sz="22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，依次求解问题</a:t>
            </a:r>
            <a:endParaRPr sz="22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5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spc="-10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最优方案追踪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1000125" lvl="2" indent="-295275">
              <a:lnSpc>
                <a:spcPct val="100000"/>
              </a:lnSpc>
              <a:spcBef>
                <a:spcPts val="545"/>
              </a:spcBef>
              <a:buClr>
                <a:srgbClr val="EB91D7"/>
              </a:buClr>
              <a:buSzPct val="70454"/>
              <a:buFont typeface="Times New Roman"/>
              <a:buChar char="o"/>
              <a:tabLst>
                <a:tab pos="1000125" algn="l"/>
                <a:tab pos="1000760" algn="l"/>
              </a:tabLst>
            </a:pPr>
            <a:r>
              <a:rPr sz="2200" spc="-5" dirty="0" err="1">
                <a:solidFill>
                  <a:srgbClr val="7030A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记录决策过程</a:t>
            </a:r>
            <a:r>
              <a:rPr sz="22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，输出最优方案</a:t>
            </a:r>
            <a:endParaRPr sz="22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9969" y="168852"/>
            <a:ext cx="3945221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动态规划小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结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116948" y="1018413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9"/>
                </a:lnTo>
                <a:lnTo>
                  <a:pt x="0" y="876426"/>
                </a:lnTo>
                <a:lnTo>
                  <a:pt x="7647" y="914364"/>
                </a:lnTo>
                <a:lnTo>
                  <a:pt x="28511" y="945324"/>
                </a:lnTo>
                <a:lnTo>
                  <a:pt x="59471" y="966188"/>
                </a:lnTo>
                <a:lnTo>
                  <a:pt x="97408" y="973836"/>
                </a:lnTo>
                <a:lnTo>
                  <a:pt x="1758823" y="973836"/>
                </a:lnTo>
                <a:lnTo>
                  <a:pt x="1796760" y="966188"/>
                </a:lnTo>
                <a:lnTo>
                  <a:pt x="1827720" y="945324"/>
                </a:lnTo>
                <a:lnTo>
                  <a:pt x="1848584" y="914364"/>
                </a:lnTo>
                <a:lnTo>
                  <a:pt x="1856231" y="876426"/>
                </a:lnTo>
                <a:lnTo>
                  <a:pt x="1856231" y="97409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346438" y="1314449"/>
            <a:ext cx="13970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>
                <a:solidFill>
                  <a:srgbClr val="FFFFFF"/>
                </a:solidFill>
                <a:latin typeface="PMingLiU"/>
                <a:cs typeface="PMingLiU"/>
              </a:rPr>
              <a:t>问题结构分析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825228" y="2052827"/>
            <a:ext cx="439420" cy="367030"/>
          </a:xfrm>
          <a:custGeom>
            <a:avLst/>
            <a:gdLst/>
            <a:ahLst/>
            <a:cxnLst/>
            <a:rect l="l" t="t" r="r" b="b"/>
            <a:pathLst>
              <a:path w="439420" h="367030">
                <a:moveTo>
                  <a:pt x="351154" y="0"/>
                </a:moveTo>
                <a:lnTo>
                  <a:pt x="87756" y="0"/>
                </a:lnTo>
                <a:lnTo>
                  <a:pt x="87756" y="183261"/>
                </a:lnTo>
                <a:lnTo>
                  <a:pt x="0" y="183261"/>
                </a:lnTo>
                <a:lnTo>
                  <a:pt x="219455" y="366522"/>
                </a:lnTo>
                <a:lnTo>
                  <a:pt x="438912" y="183261"/>
                </a:lnTo>
                <a:lnTo>
                  <a:pt x="351154" y="183261"/>
                </a:lnTo>
                <a:lnTo>
                  <a:pt x="35115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116948" y="2480691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9"/>
                </a:lnTo>
                <a:lnTo>
                  <a:pt x="0" y="876426"/>
                </a:lnTo>
                <a:lnTo>
                  <a:pt x="7647" y="914364"/>
                </a:lnTo>
                <a:lnTo>
                  <a:pt x="28511" y="945324"/>
                </a:lnTo>
                <a:lnTo>
                  <a:pt x="59471" y="966188"/>
                </a:lnTo>
                <a:lnTo>
                  <a:pt x="97408" y="973836"/>
                </a:lnTo>
                <a:lnTo>
                  <a:pt x="1758823" y="973836"/>
                </a:lnTo>
                <a:lnTo>
                  <a:pt x="1796760" y="966188"/>
                </a:lnTo>
                <a:lnTo>
                  <a:pt x="1827720" y="945324"/>
                </a:lnTo>
                <a:lnTo>
                  <a:pt x="1848584" y="914364"/>
                </a:lnTo>
                <a:lnTo>
                  <a:pt x="1856231" y="876426"/>
                </a:lnTo>
                <a:lnTo>
                  <a:pt x="1856231" y="97409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346438" y="2776982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>
                <a:solidFill>
                  <a:srgbClr val="FFFFFF"/>
                </a:solidFill>
                <a:latin typeface="PMingLiU"/>
                <a:cs typeface="PMingLiU"/>
              </a:rPr>
              <a:t>递推关系建立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825228" y="3515105"/>
            <a:ext cx="439420" cy="365125"/>
          </a:xfrm>
          <a:custGeom>
            <a:avLst/>
            <a:gdLst/>
            <a:ahLst/>
            <a:cxnLst/>
            <a:rect l="l" t="t" r="r" b="b"/>
            <a:pathLst>
              <a:path w="439420" h="365125">
                <a:moveTo>
                  <a:pt x="351154" y="0"/>
                </a:moveTo>
                <a:lnTo>
                  <a:pt x="87756" y="0"/>
                </a:lnTo>
                <a:lnTo>
                  <a:pt x="87756" y="182499"/>
                </a:lnTo>
                <a:lnTo>
                  <a:pt x="0" y="182499"/>
                </a:lnTo>
                <a:lnTo>
                  <a:pt x="219455" y="364998"/>
                </a:lnTo>
                <a:lnTo>
                  <a:pt x="438912" y="182499"/>
                </a:lnTo>
                <a:lnTo>
                  <a:pt x="351154" y="182499"/>
                </a:lnTo>
                <a:lnTo>
                  <a:pt x="35115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116948" y="3941445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8"/>
                </a:lnTo>
                <a:lnTo>
                  <a:pt x="0" y="876426"/>
                </a:lnTo>
                <a:lnTo>
                  <a:pt x="7647" y="914364"/>
                </a:lnTo>
                <a:lnTo>
                  <a:pt x="28511" y="945324"/>
                </a:lnTo>
                <a:lnTo>
                  <a:pt x="59471" y="966188"/>
                </a:lnTo>
                <a:lnTo>
                  <a:pt x="97408" y="973835"/>
                </a:lnTo>
                <a:lnTo>
                  <a:pt x="1758823" y="973835"/>
                </a:lnTo>
                <a:lnTo>
                  <a:pt x="1796760" y="966188"/>
                </a:lnTo>
                <a:lnTo>
                  <a:pt x="1827720" y="945324"/>
                </a:lnTo>
                <a:lnTo>
                  <a:pt x="1848584" y="914364"/>
                </a:lnTo>
                <a:lnTo>
                  <a:pt x="1856231" y="876426"/>
                </a:lnTo>
                <a:lnTo>
                  <a:pt x="1856231" y="97408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346438" y="4237735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>
                <a:solidFill>
                  <a:srgbClr val="FFFFFF"/>
                </a:solidFill>
                <a:latin typeface="PMingLiU"/>
                <a:cs typeface="PMingLiU"/>
              </a:rPr>
              <a:t>自底向上计算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825228" y="4975859"/>
            <a:ext cx="439420" cy="365125"/>
          </a:xfrm>
          <a:custGeom>
            <a:avLst/>
            <a:gdLst/>
            <a:ahLst/>
            <a:cxnLst/>
            <a:rect l="l" t="t" r="r" b="b"/>
            <a:pathLst>
              <a:path w="439420" h="365125">
                <a:moveTo>
                  <a:pt x="351154" y="0"/>
                </a:moveTo>
                <a:lnTo>
                  <a:pt x="87756" y="0"/>
                </a:lnTo>
                <a:lnTo>
                  <a:pt x="87756" y="182498"/>
                </a:lnTo>
                <a:lnTo>
                  <a:pt x="0" y="182498"/>
                </a:lnTo>
                <a:lnTo>
                  <a:pt x="219455" y="364997"/>
                </a:lnTo>
                <a:lnTo>
                  <a:pt x="438912" y="182498"/>
                </a:lnTo>
                <a:lnTo>
                  <a:pt x="351154" y="182498"/>
                </a:lnTo>
                <a:lnTo>
                  <a:pt x="35115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116948" y="5402198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9"/>
                </a:lnTo>
                <a:lnTo>
                  <a:pt x="0" y="876452"/>
                </a:lnTo>
                <a:lnTo>
                  <a:pt x="7647" y="914358"/>
                </a:lnTo>
                <a:lnTo>
                  <a:pt x="28511" y="945313"/>
                </a:lnTo>
                <a:lnTo>
                  <a:pt x="59471" y="966183"/>
                </a:lnTo>
                <a:lnTo>
                  <a:pt x="97408" y="973835"/>
                </a:lnTo>
                <a:lnTo>
                  <a:pt x="1758823" y="973835"/>
                </a:lnTo>
                <a:lnTo>
                  <a:pt x="1796760" y="966183"/>
                </a:lnTo>
                <a:lnTo>
                  <a:pt x="1827720" y="945313"/>
                </a:lnTo>
                <a:lnTo>
                  <a:pt x="1848584" y="914358"/>
                </a:lnTo>
                <a:lnTo>
                  <a:pt x="1856231" y="876452"/>
                </a:lnTo>
                <a:lnTo>
                  <a:pt x="1856231" y="97409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9346438" y="5698744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>
                <a:solidFill>
                  <a:srgbClr val="FFFFFF"/>
                </a:solidFill>
                <a:latin typeface="PMingLiU"/>
                <a:cs typeface="PMingLiU"/>
              </a:rPr>
              <a:t>最优方案追踪</a:t>
            </a:r>
            <a:endParaRPr sz="1800">
              <a:latin typeface="PMingLiU"/>
              <a:cs typeface="PMingLiU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1314449"/>
            <a:ext cx="8198359" cy="982319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19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给出问题表示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1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𝑷[𝒊</a:t>
            </a:r>
            <a:r>
              <a:rPr sz="2400" spc="-4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, 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𝒄]</a:t>
            </a:r>
            <a:r>
              <a:rPr sz="2400" spc="-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：</a:t>
            </a:r>
            <a:r>
              <a:rPr sz="24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前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𝒊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个商品可选、背包容量为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𝒄</a:t>
            </a:r>
            <a:r>
              <a:rPr sz="24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时的最大总价格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216912" y="3354069"/>
            <a:ext cx="66675" cy="283210"/>
          </a:xfrm>
          <a:custGeom>
            <a:avLst/>
            <a:gdLst/>
            <a:ahLst/>
            <a:cxnLst/>
            <a:rect l="l" t="t" r="r" b="b"/>
            <a:pathLst>
              <a:path w="66675" h="28321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41783" y="11430"/>
                </a:lnTo>
                <a:lnTo>
                  <a:pt x="41783" y="271780"/>
                </a:lnTo>
                <a:lnTo>
                  <a:pt x="0" y="271780"/>
                </a:lnTo>
                <a:lnTo>
                  <a:pt x="0" y="283210"/>
                </a:lnTo>
                <a:lnTo>
                  <a:pt x="66421" y="283210"/>
                </a:lnTo>
                <a:lnTo>
                  <a:pt x="66421" y="27178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36395" y="3354069"/>
            <a:ext cx="66675" cy="283210"/>
          </a:xfrm>
          <a:custGeom>
            <a:avLst/>
            <a:gdLst/>
            <a:ahLst/>
            <a:cxnLst/>
            <a:rect l="l" t="t" r="r" b="b"/>
            <a:pathLst>
              <a:path w="66675" h="28321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1780"/>
                </a:lnTo>
                <a:lnTo>
                  <a:pt x="0" y="283210"/>
                </a:lnTo>
                <a:lnTo>
                  <a:pt x="66421" y="283210"/>
                </a:lnTo>
                <a:lnTo>
                  <a:pt x="66421" y="271780"/>
                </a:lnTo>
                <a:lnTo>
                  <a:pt x="24765" y="271780"/>
                </a:lnTo>
                <a:lnTo>
                  <a:pt x="24765" y="1143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88340" y="2668941"/>
            <a:ext cx="8124190" cy="98806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19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明确原始问题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1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>
                <a:latin typeface="Cambria Math"/>
                <a:cs typeface="Cambria Math"/>
              </a:rPr>
              <a:t>𝑷</a:t>
            </a:r>
            <a:r>
              <a:rPr sz="2400" spc="30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𝒏,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𝑪</a:t>
            </a:r>
            <a:r>
              <a:rPr sz="2400" spc="300" dirty="0">
                <a:latin typeface="Cambria Math"/>
                <a:cs typeface="Cambria Math"/>
              </a:rPr>
              <a:t> </a:t>
            </a:r>
            <a:r>
              <a:rPr sz="2400" dirty="0">
                <a:latin typeface="PMingLiU"/>
                <a:cs typeface="PMingLiU"/>
              </a:rPr>
              <a:t>：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前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𝒏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个商品可选、背包容量为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𝑪</a:t>
            </a:r>
            <a:r>
              <a:rPr sz="24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时的最大总价格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04869" y="167146"/>
            <a:ext cx="684919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动态规划：一般步</a:t>
            </a:r>
            <a:r>
              <a:rPr spc="-60" dirty="0" err="1">
                <a:latin typeface="SimSun" panose="02010600030101010101" pitchFamily="2" charset="-122"/>
                <a:ea typeface="SimSun" panose="02010600030101010101" pitchFamily="2" charset="-122"/>
              </a:rPr>
              <a:t>骤</a:t>
            </a:r>
            <a:endParaRPr spc="-6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116948" y="1018413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9"/>
                </a:lnTo>
                <a:lnTo>
                  <a:pt x="0" y="876426"/>
                </a:lnTo>
                <a:lnTo>
                  <a:pt x="7647" y="914364"/>
                </a:lnTo>
                <a:lnTo>
                  <a:pt x="28511" y="945324"/>
                </a:lnTo>
                <a:lnTo>
                  <a:pt x="59471" y="966188"/>
                </a:lnTo>
                <a:lnTo>
                  <a:pt x="97408" y="973836"/>
                </a:lnTo>
                <a:lnTo>
                  <a:pt x="1758823" y="973836"/>
                </a:lnTo>
                <a:lnTo>
                  <a:pt x="1796760" y="966188"/>
                </a:lnTo>
                <a:lnTo>
                  <a:pt x="1827720" y="945324"/>
                </a:lnTo>
                <a:lnTo>
                  <a:pt x="1848584" y="914364"/>
                </a:lnTo>
                <a:lnTo>
                  <a:pt x="1856231" y="876426"/>
                </a:lnTo>
                <a:lnTo>
                  <a:pt x="1856231" y="97409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449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346438" y="1314449"/>
            <a:ext cx="13970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>
                <a:solidFill>
                  <a:srgbClr val="FFFFFF"/>
                </a:solidFill>
                <a:latin typeface="PMingLiU"/>
                <a:cs typeface="PMingLiU"/>
              </a:rPr>
              <a:t>问题结构分析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825228" y="2052827"/>
            <a:ext cx="439420" cy="367030"/>
          </a:xfrm>
          <a:custGeom>
            <a:avLst/>
            <a:gdLst/>
            <a:ahLst/>
            <a:cxnLst/>
            <a:rect l="l" t="t" r="r" b="b"/>
            <a:pathLst>
              <a:path w="439420" h="367030">
                <a:moveTo>
                  <a:pt x="351154" y="0"/>
                </a:moveTo>
                <a:lnTo>
                  <a:pt x="87756" y="0"/>
                </a:lnTo>
                <a:lnTo>
                  <a:pt x="87756" y="183261"/>
                </a:lnTo>
                <a:lnTo>
                  <a:pt x="0" y="183261"/>
                </a:lnTo>
                <a:lnTo>
                  <a:pt x="219455" y="366522"/>
                </a:lnTo>
                <a:lnTo>
                  <a:pt x="438912" y="183261"/>
                </a:lnTo>
                <a:lnTo>
                  <a:pt x="351154" y="183261"/>
                </a:lnTo>
                <a:lnTo>
                  <a:pt x="35115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116948" y="2480691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9"/>
                </a:lnTo>
                <a:lnTo>
                  <a:pt x="0" y="876426"/>
                </a:lnTo>
                <a:lnTo>
                  <a:pt x="7647" y="914364"/>
                </a:lnTo>
                <a:lnTo>
                  <a:pt x="28511" y="945324"/>
                </a:lnTo>
                <a:lnTo>
                  <a:pt x="59471" y="966188"/>
                </a:lnTo>
                <a:lnTo>
                  <a:pt x="97408" y="973836"/>
                </a:lnTo>
                <a:lnTo>
                  <a:pt x="1758823" y="973836"/>
                </a:lnTo>
                <a:lnTo>
                  <a:pt x="1796760" y="966188"/>
                </a:lnTo>
                <a:lnTo>
                  <a:pt x="1827720" y="945324"/>
                </a:lnTo>
                <a:lnTo>
                  <a:pt x="1848584" y="914364"/>
                </a:lnTo>
                <a:lnTo>
                  <a:pt x="1856231" y="876426"/>
                </a:lnTo>
                <a:lnTo>
                  <a:pt x="1856231" y="97409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346438" y="2776982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>
                <a:solidFill>
                  <a:srgbClr val="FFFFFF"/>
                </a:solidFill>
                <a:latin typeface="PMingLiU"/>
                <a:cs typeface="PMingLiU"/>
              </a:rPr>
              <a:t>递推关系建立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825228" y="3515105"/>
            <a:ext cx="439420" cy="365125"/>
          </a:xfrm>
          <a:custGeom>
            <a:avLst/>
            <a:gdLst/>
            <a:ahLst/>
            <a:cxnLst/>
            <a:rect l="l" t="t" r="r" b="b"/>
            <a:pathLst>
              <a:path w="439420" h="365125">
                <a:moveTo>
                  <a:pt x="351154" y="0"/>
                </a:moveTo>
                <a:lnTo>
                  <a:pt x="87756" y="0"/>
                </a:lnTo>
                <a:lnTo>
                  <a:pt x="87756" y="182499"/>
                </a:lnTo>
                <a:lnTo>
                  <a:pt x="0" y="182499"/>
                </a:lnTo>
                <a:lnTo>
                  <a:pt x="219455" y="364998"/>
                </a:lnTo>
                <a:lnTo>
                  <a:pt x="438912" y="182499"/>
                </a:lnTo>
                <a:lnTo>
                  <a:pt x="351154" y="182499"/>
                </a:lnTo>
                <a:lnTo>
                  <a:pt x="35115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116948" y="3941445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8"/>
                </a:lnTo>
                <a:lnTo>
                  <a:pt x="0" y="876426"/>
                </a:lnTo>
                <a:lnTo>
                  <a:pt x="7647" y="914364"/>
                </a:lnTo>
                <a:lnTo>
                  <a:pt x="28511" y="945324"/>
                </a:lnTo>
                <a:lnTo>
                  <a:pt x="59471" y="966188"/>
                </a:lnTo>
                <a:lnTo>
                  <a:pt x="97408" y="973835"/>
                </a:lnTo>
                <a:lnTo>
                  <a:pt x="1758823" y="973835"/>
                </a:lnTo>
                <a:lnTo>
                  <a:pt x="1796760" y="966188"/>
                </a:lnTo>
                <a:lnTo>
                  <a:pt x="1827720" y="945324"/>
                </a:lnTo>
                <a:lnTo>
                  <a:pt x="1848584" y="914364"/>
                </a:lnTo>
                <a:lnTo>
                  <a:pt x="1856231" y="876426"/>
                </a:lnTo>
                <a:lnTo>
                  <a:pt x="1856231" y="97408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9346438" y="4237735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>
                <a:solidFill>
                  <a:srgbClr val="FFFFFF"/>
                </a:solidFill>
                <a:latin typeface="PMingLiU"/>
                <a:cs typeface="PMingLiU"/>
              </a:rPr>
              <a:t>自底向上计算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825228" y="4975859"/>
            <a:ext cx="439420" cy="365125"/>
          </a:xfrm>
          <a:custGeom>
            <a:avLst/>
            <a:gdLst/>
            <a:ahLst/>
            <a:cxnLst/>
            <a:rect l="l" t="t" r="r" b="b"/>
            <a:pathLst>
              <a:path w="439420" h="365125">
                <a:moveTo>
                  <a:pt x="351154" y="0"/>
                </a:moveTo>
                <a:lnTo>
                  <a:pt x="87756" y="0"/>
                </a:lnTo>
                <a:lnTo>
                  <a:pt x="87756" y="182498"/>
                </a:lnTo>
                <a:lnTo>
                  <a:pt x="0" y="182498"/>
                </a:lnTo>
                <a:lnTo>
                  <a:pt x="219455" y="364997"/>
                </a:lnTo>
                <a:lnTo>
                  <a:pt x="438912" y="182498"/>
                </a:lnTo>
                <a:lnTo>
                  <a:pt x="351154" y="182498"/>
                </a:lnTo>
                <a:lnTo>
                  <a:pt x="35115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116948" y="5402198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9"/>
                </a:lnTo>
                <a:lnTo>
                  <a:pt x="0" y="876452"/>
                </a:lnTo>
                <a:lnTo>
                  <a:pt x="7647" y="914358"/>
                </a:lnTo>
                <a:lnTo>
                  <a:pt x="28511" y="945313"/>
                </a:lnTo>
                <a:lnTo>
                  <a:pt x="59471" y="966183"/>
                </a:lnTo>
                <a:lnTo>
                  <a:pt x="97408" y="973835"/>
                </a:lnTo>
                <a:lnTo>
                  <a:pt x="1758823" y="973835"/>
                </a:lnTo>
                <a:lnTo>
                  <a:pt x="1796760" y="966183"/>
                </a:lnTo>
                <a:lnTo>
                  <a:pt x="1827720" y="945313"/>
                </a:lnTo>
                <a:lnTo>
                  <a:pt x="1848584" y="914358"/>
                </a:lnTo>
                <a:lnTo>
                  <a:pt x="1856231" y="876452"/>
                </a:lnTo>
                <a:lnTo>
                  <a:pt x="1856231" y="97409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9346438" y="5698744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>
                <a:solidFill>
                  <a:srgbClr val="FFFFFF"/>
                </a:solidFill>
                <a:latin typeface="PMingLiU"/>
                <a:cs typeface="PMingLiU"/>
              </a:rPr>
              <a:t>最优方案追踪</a:t>
            </a:r>
            <a:endParaRPr sz="1800">
              <a:latin typeface="PMingLiU"/>
              <a:cs typeface="PMingLiU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1428" y="1162049"/>
            <a:ext cx="35712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分析最优（子）</a:t>
            </a:r>
            <a:r>
              <a:rPr sz="2800" spc="-2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结构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98747" y="2680207"/>
            <a:ext cx="120459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0">
                <a:latin typeface="PMingLiU"/>
                <a:cs typeface="PMingLiU"/>
              </a:rPr>
              <a:t>选择商品</a:t>
            </a:r>
            <a:r>
              <a:rPr sz="2000" spc="-50">
                <a:latin typeface="Cambria Math"/>
                <a:cs typeface="Cambria Math"/>
              </a:rPr>
              <a:t>𝒏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17080" y="2708656"/>
            <a:ext cx="120459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0">
                <a:latin typeface="PMingLiU"/>
                <a:cs typeface="PMingLiU"/>
              </a:rPr>
              <a:t>不选商品</a:t>
            </a:r>
            <a:r>
              <a:rPr sz="2000" spc="-50">
                <a:latin typeface="Cambria Math"/>
                <a:cs typeface="Cambria Math"/>
              </a:rPr>
              <a:t>𝒏</a:t>
            </a:r>
            <a:endParaRPr sz="2000">
              <a:latin typeface="Cambria Math"/>
              <a:cs typeface="Cambria Math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307841" y="3938015"/>
            <a:ext cx="604520" cy="537210"/>
            <a:chOff x="3307841" y="3938015"/>
            <a:chExt cx="604520" cy="537210"/>
          </a:xfrm>
        </p:grpSpPr>
        <p:pic>
          <p:nvPicPr>
            <p:cNvPr id="7" name="object 7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307841" y="3938015"/>
              <a:ext cx="604265" cy="5372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3502913" y="4009643"/>
              <a:ext cx="197358" cy="273557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2"/>
          <a:stretch>
            <a:fillRect/>
          </a:stretch>
        </p:blipFill>
        <p:spPr>
          <a:xfrm>
            <a:off x="6463284" y="3970020"/>
            <a:ext cx="605028" cy="53720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310379" y="3403853"/>
            <a:ext cx="22923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>
                <a:latin typeface="PMingLiU"/>
                <a:cs typeface="PMingLiU"/>
              </a:rPr>
              <a:t>…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445502" y="3421634"/>
            <a:ext cx="22923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>
                <a:latin typeface="PMingLiU"/>
                <a:cs typeface="PMingLiU"/>
              </a:rPr>
              <a:t>…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6447282" y="3385565"/>
            <a:ext cx="2044064" cy="466725"/>
            <a:chOff x="6447282" y="3385565"/>
            <a:chExt cx="2044064" cy="466725"/>
          </a:xfrm>
        </p:grpSpPr>
        <p:pic>
          <p:nvPicPr>
            <p:cNvPr id="13" name="object 13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6965442" y="3486629"/>
              <a:ext cx="366522" cy="31831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7738110" y="3385565"/>
              <a:ext cx="729233" cy="44348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6572898" y="3476135"/>
              <a:ext cx="282929" cy="33930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466332" y="3814571"/>
              <a:ext cx="2005964" cy="18415"/>
            </a:xfrm>
            <a:custGeom>
              <a:avLst/>
              <a:gdLst/>
              <a:ahLst/>
              <a:cxnLst/>
              <a:rect l="l" t="t" r="r" b="b"/>
              <a:pathLst>
                <a:path w="2005964" h="18414">
                  <a:moveTo>
                    <a:pt x="0" y="0"/>
                  </a:moveTo>
                  <a:lnTo>
                    <a:pt x="2005584" y="18414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3294126" y="1076705"/>
            <a:ext cx="3846195" cy="2742565"/>
            <a:chOff x="3294126" y="1076705"/>
            <a:chExt cx="3846195" cy="2742565"/>
          </a:xfrm>
        </p:grpSpPr>
        <p:pic>
          <p:nvPicPr>
            <p:cNvPr id="18" name="object 18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5043677" y="1533905"/>
              <a:ext cx="755141" cy="67056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/>
            <a:stretch>
              <a:fillRect/>
            </a:stretch>
          </p:blipFill>
          <p:spPr>
            <a:xfrm>
              <a:off x="5535930" y="1122425"/>
              <a:ext cx="365760" cy="44424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/>
            <a:stretch>
              <a:fillRect/>
            </a:stretch>
          </p:blipFill>
          <p:spPr>
            <a:xfrm>
              <a:off x="5142738" y="1102613"/>
              <a:ext cx="365760" cy="44348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9"/>
            <a:stretch>
              <a:fillRect/>
            </a:stretch>
          </p:blipFill>
          <p:spPr>
            <a:xfrm>
              <a:off x="6308598" y="1076705"/>
              <a:ext cx="729233" cy="443484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5115305" y="1505711"/>
              <a:ext cx="2005964" cy="18415"/>
            </a:xfrm>
            <a:custGeom>
              <a:avLst/>
              <a:gdLst/>
              <a:ahLst/>
              <a:cxnLst/>
              <a:rect l="l" t="t" r="r" b="b"/>
              <a:pathLst>
                <a:path w="2005964" h="18415">
                  <a:moveTo>
                    <a:pt x="0" y="0"/>
                  </a:moveTo>
                  <a:lnTo>
                    <a:pt x="2005584" y="18414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10"/>
            <a:stretch>
              <a:fillRect/>
            </a:stretch>
          </p:blipFill>
          <p:spPr>
            <a:xfrm>
              <a:off x="3797046" y="3451874"/>
              <a:ext cx="365760" cy="322296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1"/>
            <a:stretch>
              <a:fillRect/>
            </a:stretch>
          </p:blipFill>
          <p:spPr>
            <a:xfrm>
              <a:off x="4569714" y="3352800"/>
              <a:ext cx="729234" cy="443483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3404415" y="3428129"/>
              <a:ext cx="282341" cy="339305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3313176" y="3781805"/>
              <a:ext cx="2005964" cy="18415"/>
            </a:xfrm>
            <a:custGeom>
              <a:avLst/>
              <a:gdLst/>
              <a:ahLst/>
              <a:cxnLst/>
              <a:rect l="l" t="t" r="r" b="b"/>
              <a:pathLst>
                <a:path w="2005964" h="18414">
                  <a:moveTo>
                    <a:pt x="0" y="0"/>
                  </a:moveTo>
                  <a:lnTo>
                    <a:pt x="2005584" y="18415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5669279" y="737912"/>
            <a:ext cx="797560" cy="709930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000" spc="-10">
                <a:latin typeface="Cambria Math"/>
                <a:cs typeface="Cambria Math"/>
              </a:rPr>
              <a:t>𝑷[𝒏,</a:t>
            </a:r>
            <a:r>
              <a:rPr sz="2000" spc="-105">
                <a:latin typeface="Cambria Math"/>
                <a:cs typeface="Cambria Math"/>
              </a:rPr>
              <a:t> </a:t>
            </a:r>
            <a:r>
              <a:rPr sz="2000" spc="-25">
                <a:latin typeface="Cambria Math"/>
                <a:cs typeface="Cambria Math"/>
              </a:rPr>
              <a:t>𝑪]</a:t>
            </a:r>
            <a:endParaRPr sz="2000">
              <a:latin typeface="Cambria Math"/>
              <a:cs typeface="Cambria Math"/>
            </a:endParaRPr>
          </a:p>
          <a:p>
            <a:pPr marL="384175">
              <a:lnSpc>
                <a:spcPct val="100000"/>
              </a:lnSpc>
              <a:spcBef>
                <a:spcPts val="475"/>
              </a:spcBef>
            </a:pPr>
            <a:r>
              <a:rPr sz="1600">
                <a:latin typeface="PMingLiU"/>
                <a:cs typeface="PMingLiU"/>
              </a:rPr>
              <a:t>…</a:t>
            </a:r>
          </a:p>
        </p:txBody>
      </p:sp>
      <p:sp>
        <p:nvSpPr>
          <p:cNvPr id="28" name="object 28"/>
          <p:cNvSpPr/>
          <p:nvPr/>
        </p:nvSpPr>
        <p:spPr>
          <a:xfrm>
            <a:off x="4412742" y="2161031"/>
            <a:ext cx="3058795" cy="1183640"/>
          </a:xfrm>
          <a:custGeom>
            <a:avLst/>
            <a:gdLst/>
            <a:ahLst/>
            <a:cxnLst/>
            <a:rect l="l" t="t" r="r" b="b"/>
            <a:pathLst>
              <a:path w="3058795" h="1183639">
                <a:moveTo>
                  <a:pt x="1559052" y="0"/>
                </a:moveTo>
                <a:lnTo>
                  <a:pt x="1433322" y="23241"/>
                </a:lnTo>
                <a:lnTo>
                  <a:pt x="1456296" y="53682"/>
                </a:lnTo>
                <a:lnTo>
                  <a:pt x="0" y="1153160"/>
                </a:lnTo>
                <a:lnTo>
                  <a:pt x="22860" y="1183513"/>
                </a:lnTo>
                <a:lnTo>
                  <a:pt x="1479245" y="84086"/>
                </a:lnTo>
                <a:lnTo>
                  <a:pt x="1502156" y="114427"/>
                </a:lnTo>
                <a:lnTo>
                  <a:pt x="1538084" y="42164"/>
                </a:lnTo>
                <a:lnTo>
                  <a:pt x="1559052" y="0"/>
                </a:lnTo>
                <a:close/>
              </a:path>
              <a:path w="3058795" h="1183639">
                <a:moveTo>
                  <a:pt x="3058414" y="1137920"/>
                </a:moveTo>
                <a:lnTo>
                  <a:pt x="1683664" y="63817"/>
                </a:lnTo>
                <a:lnTo>
                  <a:pt x="1692833" y="52070"/>
                </a:lnTo>
                <a:lnTo>
                  <a:pt x="1707134" y="33782"/>
                </a:lnTo>
                <a:lnTo>
                  <a:pt x="1581912" y="8382"/>
                </a:lnTo>
                <a:lnTo>
                  <a:pt x="1636776" y="123825"/>
                </a:lnTo>
                <a:lnTo>
                  <a:pt x="1660271" y="93764"/>
                </a:lnTo>
                <a:lnTo>
                  <a:pt x="3034919" y="1168019"/>
                </a:lnTo>
                <a:lnTo>
                  <a:pt x="3058414" y="11379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3434079" y="4609846"/>
            <a:ext cx="189103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000">
                <a:latin typeface="Cambria Math"/>
                <a:cs typeface="Cambria Math"/>
              </a:rPr>
              <a:t>𝑷[𝒏</a:t>
            </a:r>
            <a:r>
              <a:rPr sz="2000" spc="-20">
                <a:latin typeface="Cambria Math"/>
                <a:cs typeface="Cambria Math"/>
              </a:rPr>
              <a:t> </a:t>
            </a:r>
            <a:r>
              <a:rPr sz="2000">
                <a:latin typeface="Cambria Math"/>
                <a:cs typeface="Cambria Math"/>
              </a:rPr>
              <a:t>−</a:t>
            </a:r>
            <a:r>
              <a:rPr sz="2000" spc="-5">
                <a:latin typeface="Cambria Math"/>
                <a:cs typeface="Cambria Math"/>
              </a:rPr>
              <a:t> </a:t>
            </a:r>
            <a:r>
              <a:rPr sz="2000" spc="-10">
                <a:latin typeface="Cambria Math"/>
                <a:cs typeface="Cambria Math"/>
              </a:rPr>
              <a:t>𝟏,</a:t>
            </a:r>
            <a:r>
              <a:rPr sz="2000" spc="-110">
                <a:latin typeface="Cambria Math"/>
                <a:cs typeface="Cambria Math"/>
              </a:rPr>
              <a:t> </a:t>
            </a:r>
            <a:r>
              <a:rPr sz="2000">
                <a:latin typeface="Cambria Math"/>
                <a:cs typeface="Cambria Math"/>
              </a:rPr>
              <a:t>𝑪</a:t>
            </a:r>
            <a:r>
              <a:rPr sz="2000" spc="-20">
                <a:latin typeface="Cambria Math"/>
                <a:cs typeface="Cambria Math"/>
              </a:rPr>
              <a:t> </a:t>
            </a:r>
            <a:r>
              <a:rPr sz="2000">
                <a:latin typeface="Cambria Math"/>
                <a:cs typeface="Cambria Math"/>
              </a:rPr>
              <a:t>− </a:t>
            </a:r>
            <a:r>
              <a:rPr sz="2000" spc="-25">
                <a:latin typeface="Cambria Math"/>
                <a:cs typeface="Cambria Math"/>
              </a:rPr>
              <a:t>𝒗</a:t>
            </a:r>
            <a:r>
              <a:rPr sz="2175" spc="-37" baseline="-15325">
                <a:latin typeface="Cambria Math"/>
                <a:cs typeface="Cambria Math"/>
              </a:rPr>
              <a:t>𝒏</a:t>
            </a:r>
            <a:r>
              <a:rPr sz="2000" spc="-25">
                <a:latin typeface="Cambria Math"/>
                <a:cs typeface="Cambria Math"/>
              </a:rPr>
              <a:t>]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975347" y="4609846"/>
            <a:ext cx="125285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>
                <a:latin typeface="Cambria Math"/>
                <a:cs typeface="Cambria Math"/>
              </a:rPr>
              <a:t>𝑷[𝒏</a:t>
            </a:r>
            <a:r>
              <a:rPr sz="2000" spc="-20">
                <a:latin typeface="Cambria Math"/>
                <a:cs typeface="Cambria Math"/>
              </a:rPr>
              <a:t> </a:t>
            </a:r>
            <a:r>
              <a:rPr sz="2000">
                <a:latin typeface="Cambria Math"/>
                <a:cs typeface="Cambria Math"/>
              </a:rPr>
              <a:t>−</a:t>
            </a:r>
            <a:r>
              <a:rPr sz="2000" spc="-5">
                <a:latin typeface="Cambria Math"/>
                <a:cs typeface="Cambria Math"/>
              </a:rPr>
              <a:t> </a:t>
            </a:r>
            <a:r>
              <a:rPr sz="2000" spc="-10">
                <a:latin typeface="Cambria Math"/>
                <a:cs typeface="Cambria Math"/>
              </a:rPr>
              <a:t>𝟏,</a:t>
            </a:r>
            <a:r>
              <a:rPr sz="2000" spc="-110">
                <a:latin typeface="Cambria Math"/>
                <a:cs typeface="Cambria Math"/>
              </a:rPr>
              <a:t> </a:t>
            </a:r>
            <a:r>
              <a:rPr sz="2000" spc="-25">
                <a:latin typeface="Cambria Math"/>
                <a:cs typeface="Cambria Math"/>
              </a:rPr>
              <a:t>𝑪]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9116948" y="1018413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9"/>
                </a:lnTo>
                <a:lnTo>
                  <a:pt x="0" y="876426"/>
                </a:lnTo>
                <a:lnTo>
                  <a:pt x="7647" y="914364"/>
                </a:lnTo>
                <a:lnTo>
                  <a:pt x="28511" y="945324"/>
                </a:lnTo>
                <a:lnTo>
                  <a:pt x="59471" y="966188"/>
                </a:lnTo>
                <a:lnTo>
                  <a:pt x="97408" y="973836"/>
                </a:lnTo>
                <a:lnTo>
                  <a:pt x="1758823" y="973836"/>
                </a:lnTo>
                <a:lnTo>
                  <a:pt x="1796760" y="966188"/>
                </a:lnTo>
                <a:lnTo>
                  <a:pt x="1827720" y="945324"/>
                </a:lnTo>
                <a:lnTo>
                  <a:pt x="1848584" y="914364"/>
                </a:lnTo>
                <a:lnTo>
                  <a:pt x="1856231" y="876426"/>
                </a:lnTo>
                <a:lnTo>
                  <a:pt x="1856231" y="97409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9346438" y="1314449"/>
            <a:ext cx="13970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>
                <a:solidFill>
                  <a:srgbClr val="FFFFFF"/>
                </a:solidFill>
                <a:latin typeface="PMingLiU"/>
                <a:cs typeface="PMingLiU"/>
              </a:rPr>
              <a:t>问题结构分析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9825228" y="2052827"/>
            <a:ext cx="439420" cy="367030"/>
          </a:xfrm>
          <a:custGeom>
            <a:avLst/>
            <a:gdLst/>
            <a:ahLst/>
            <a:cxnLst/>
            <a:rect l="l" t="t" r="r" b="b"/>
            <a:pathLst>
              <a:path w="439420" h="367030">
                <a:moveTo>
                  <a:pt x="351154" y="0"/>
                </a:moveTo>
                <a:lnTo>
                  <a:pt x="87756" y="0"/>
                </a:lnTo>
                <a:lnTo>
                  <a:pt x="87756" y="183261"/>
                </a:lnTo>
                <a:lnTo>
                  <a:pt x="0" y="183261"/>
                </a:lnTo>
                <a:lnTo>
                  <a:pt x="219455" y="366522"/>
                </a:lnTo>
                <a:lnTo>
                  <a:pt x="438912" y="183261"/>
                </a:lnTo>
                <a:lnTo>
                  <a:pt x="351154" y="183261"/>
                </a:lnTo>
                <a:lnTo>
                  <a:pt x="35115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9116948" y="2480691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9"/>
                </a:lnTo>
                <a:lnTo>
                  <a:pt x="0" y="876426"/>
                </a:lnTo>
                <a:lnTo>
                  <a:pt x="7647" y="914364"/>
                </a:lnTo>
                <a:lnTo>
                  <a:pt x="28511" y="945324"/>
                </a:lnTo>
                <a:lnTo>
                  <a:pt x="59471" y="966188"/>
                </a:lnTo>
                <a:lnTo>
                  <a:pt x="97408" y="973836"/>
                </a:lnTo>
                <a:lnTo>
                  <a:pt x="1758823" y="973836"/>
                </a:lnTo>
                <a:lnTo>
                  <a:pt x="1796760" y="966188"/>
                </a:lnTo>
                <a:lnTo>
                  <a:pt x="1827720" y="945324"/>
                </a:lnTo>
                <a:lnTo>
                  <a:pt x="1848584" y="914364"/>
                </a:lnTo>
                <a:lnTo>
                  <a:pt x="1856231" y="876426"/>
                </a:lnTo>
                <a:lnTo>
                  <a:pt x="1856231" y="97409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449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9346438" y="2776982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>
                <a:solidFill>
                  <a:srgbClr val="FFFFFF"/>
                </a:solidFill>
                <a:latin typeface="PMingLiU"/>
                <a:cs typeface="PMingLiU"/>
              </a:rPr>
              <a:t>递推关系建立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9825228" y="3515105"/>
            <a:ext cx="439420" cy="365125"/>
          </a:xfrm>
          <a:custGeom>
            <a:avLst/>
            <a:gdLst/>
            <a:ahLst/>
            <a:cxnLst/>
            <a:rect l="l" t="t" r="r" b="b"/>
            <a:pathLst>
              <a:path w="439420" h="365125">
                <a:moveTo>
                  <a:pt x="351154" y="0"/>
                </a:moveTo>
                <a:lnTo>
                  <a:pt x="87756" y="0"/>
                </a:lnTo>
                <a:lnTo>
                  <a:pt x="87756" y="182499"/>
                </a:lnTo>
                <a:lnTo>
                  <a:pt x="0" y="182499"/>
                </a:lnTo>
                <a:lnTo>
                  <a:pt x="219455" y="364998"/>
                </a:lnTo>
                <a:lnTo>
                  <a:pt x="438912" y="182499"/>
                </a:lnTo>
                <a:lnTo>
                  <a:pt x="351154" y="182499"/>
                </a:lnTo>
                <a:lnTo>
                  <a:pt x="35115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9116948" y="3941445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8"/>
                </a:lnTo>
                <a:lnTo>
                  <a:pt x="0" y="876426"/>
                </a:lnTo>
                <a:lnTo>
                  <a:pt x="7647" y="914364"/>
                </a:lnTo>
                <a:lnTo>
                  <a:pt x="28511" y="945324"/>
                </a:lnTo>
                <a:lnTo>
                  <a:pt x="59471" y="966188"/>
                </a:lnTo>
                <a:lnTo>
                  <a:pt x="97408" y="973835"/>
                </a:lnTo>
                <a:lnTo>
                  <a:pt x="1758823" y="973835"/>
                </a:lnTo>
                <a:lnTo>
                  <a:pt x="1796760" y="966188"/>
                </a:lnTo>
                <a:lnTo>
                  <a:pt x="1827720" y="945324"/>
                </a:lnTo>
                <a:lnTo>
                  <a:pt x="1848584" y="914364"/>
                </a:lnTo>
                <a:lnTo>
                  <a:pt x="1856231" y="876426"/>
                </a:lnTo>
                <a:lnTo>
                  <a:pt x="1856231" y="97408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9346438" y="4237735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>
                <a:solidFill>
                  <a:srgbClr val="FFFFFF"/>
                </a:solidFill>
                <a:latin typeface="PMingLiU"/>
                <a:cs typeface="PMingLiU"/>
              </a:rPr>
              <a:t>自底向上计算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9825228" y="4975859"/>
            <a:ext cx="439420" cy="365125"/>
          </a:xfrm>
          <a:custGeom>
            <a:avLst/>
            <a:gdLst/>
            <a:ahLst/>
            <a:cxnLst/>
            <a:rect l="l" t="t" r="r" b="b"/>
            <a:pathLst>
              <a:path w="439420" h="365125">
                <a:moveTo>
                  <a:pt x="351154" y="0"/>
                </a:moveTo>
                <a:lnTo>
                  <a:pt x="87756" y="0"/>
                </a:lnTo>
                <a:lnTo>
                  <a:pt x="87756" y="182498"/>
                </a:lnTo>
                <a:lnTo>
                  <a:pt x="0" y="182498"/>
                </a:lnTo>
                <a:lnTo>
                  <a:pt x="219455" y="364997"/>
                </a:lnTo>
                <a:lnTo>
                  <a:pt x="438912" y="182498"/>
                </a:lnTo>
                <a:lnTo>
                  <a:pt x="351154" y="182498"/>
                </a:lnTo>
                <a:lnTo>
                  <a:pt x="35115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9116948" y="5402198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9"/>
                </a:lnTo>
                <a:lnTo>
                  <a:pt x="0" y="876452"/>
                </a:lnTo>
                <a:lnTo>
                  <a:pt x="7647" y="914358"/>
                </a:lnTo>
                <a:lnTo>
                  <a:pt x="28511" y="945313"/>
                </a:lnTo>
                <a:lnTo>
                  <a:pt x="59471" y="966183"/>
                </a:lnTo>
                <a:lnTo>
                  <a:pt x="97408" y="973835"/>
                </a:lnTo>
                <a:lnTo>
                  <a:pt x="1758823" y="973835"/>
                </a:lnTo>
                <a:lnTo>
                  <a:pt x="1796760" y="966183"/>
                </a:lnTo>
                <a:lnTo>
                  <a:pt x="1827720" y="945313"/>
                </a:lnTo>
                <a:lnTo>
                  <a:pt x="1848584" y="914358"/>
                </a:lnTo>
                <a:lnTo>
                  <a:pt x="1856231" y="876452"/>
                </a:lnTo>
                <a:lnTo>
                  <a:pt x="1856231" y="97409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9346438" y="5698744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>
                <a:solidFill>
                  <a:srgbClr val="FFFFFF"/>
                </a:solidFill>
                <a:latin typeface="PMingLiU"/>
                <a:cs typeface="PMingLiU"/>
              </a:rPr>
              <a:t>最优方案追踪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44" name="object 6">
            <a:extLst>
              <a:ext uri="{FF2B5EF4-FFF2-40B4-BE49-F238E27FC236}">
                <a16:creationId xmlns:a16="http://schemas.microsoft.com/office/drawing/2014/main" id="{510B7663-4361-3046-BD68-7A7F755DE9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04869" y="167146"/>
            <a:ext cx="684919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动态规划：一般步</a:t>
            </a:r>
            <a:r>
              <a:rPr spc="-60" dirty="0" err="1">
                <a:latin typeface="SimSun" panose="02010600030101010101" pitchFamily="2" charset="-122"/>
                <a:ea typeface="SimSun" panose="02010600030101010101" pitchFamily="2" charset="-122"/>
              </a:rPr>
              <a:t>骤</a:t>
            </a:r>
            <a:endParaRPr spc="-6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698747" y="2680207"/>
            <a:ext cx="120459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0">
                <a:latin typeface="PMingLiU"/>
                <a:cs typeface="PMingLiU"/>
              </a:rPr>
              <a:t>选择商品</a:t>
            </a:r>
            <a:r>
              <a:rPr sz="2000" spc="-50">
                <a:latin typeface="Cambria Math"/>
                <a:cs typeface="Cambria Math"/>
              </a:rPr>
              <a:t>𝒏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17080" y="2708656"/>
            <a:ext cx="120459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0">
                <a:latin typeface="PMingLiU"/>
                <a:cs typeface="PMingLiU"/>
              </a:rPr>
              <a:t>不选商品</a:t>
            </a:r>
            <a:r>
              <a:rPr sz="2000" spc="-50">
                <a:latin typeface="Cambria Math"/>
                <a:cs typeface="Cambria Math"/>
              </a:rPr>
              <a:t>𝒏</a:t>
            </a:r>
            <a:endParaRPr sz="2000">
              <a:latin typeface="Cambria Math"/>
              <a:cs typeface="Cambria Math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307841" y="3938015"/>
            <a:ext cx="604520" cy="537210"/>
            <a:chOff x="3307841" y="3938015"/>
            <a:chExt cx="604520" cy="537210"/>
          </a:xfrm>
        </p:grpSpPr>
        <p:pic>
          <p:nvPicPr>
            <p:cNvPr id="7" name="object 7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307841" y="3938015"/>
              <a:ext cx="604265" cy="5372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3502913" y="4009643"/>
              <a:ext cx="197358" cy="273557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2"/>
          <a:stretch>
            <a:fillRect/>
          </a:stretch>
        </p:blipFill>
        <p:spPr>
          <a:xfrm>
            <a:off x="6463284" y="3970020"/>
            <a:ext cx="605028" cy="53720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310379" y="3403853"/>
            <a:ext cx="22923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>
                <a:latin typeface="PMingLiU"/>
                <a:cs typeface="PMingLiU"/>
              </a:rPr>
              <a:t>…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445502" y="3421634"/>
            <a:ext cx="22923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>
                <a:latin typeface="PMingLiU"/>
                <a:cs typeface="PMingLiU"/>
              </a:rPr>
              <a:t>…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6447282" y="3385565"/>
            <a:ext cx="2044064" cy="466725"/>
            <a:chOff x="6447282" y="3385565"/>
            <a:chExt cx="2044064" cy="466725"/>
          </a:xfrm>
        </p:grpSpPr>
        <p:pic>
          <p:nvPicPr>
            <p:cNvPr id="13" name="object 13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6965442" y="3486629"/>
              <a:ext cx="366522" cy="31831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7738110" y="3385565"/>
              <a:ext cx="729233" cy="44348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6572898" y="3476135"/>
              <a:ext cx="282929" cy="33930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466332" y="3814571"/>
              <a:ext cx="2005964" cy="18415"/>
            </a:xfrm>
            <a:custGeom>
              <a:avLst/>
              <a:gdLst/>
              <a:ahLst/>
              <a:cxnLst/>
              <a:rect l="l" t="t" r="r" b="b"/>
              <a:pathLst>
                <a:path w="2005964" h="18414">
                  <a:moveTo>
                    <a:pt x="0" y="0"/>
                  </a:moveTo>
                  <a:lnTo>
                    <a:pt x="2005584" y="18414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3294126" y="1076705"/>
            <a:ext cx="3846195" cy="2742565"/>
            <a:chOff x="3294126" y="1076705"/>
            <a:chExt cx="3846195" cy="2742565"/>
          </a:xfrm>
        </p:grpSpPr>
        <p:pic>
          <p:nvPicPr>
            <p:cNvPr id="18" name="object 18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5043677" y="1533905"/>
              <a:ext cx="755141" cy="67056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/>
            <a:stretch>
              <a:fillRect/>
            </a:stretch>
          </p:blipFill>
          <p:spPr>
            <a:xfrm>
              <a:off x="5535930" y="1122425"/>
              <a:ext cx="365760" cy="44424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/>
            <a:stretch>
              <a:fillRect/>
            </a:stretch>
          </p:blipFill>
          <p:spPr>
            <a:xfrm>
              <a:off x="5142738" y="1102613"/>
              <a:ext cx="365760" cy="44348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9"/>
            <a:stretch>
              <a:fillRect/>
            </a:stretch>
          </p:blipFill>
          <p:spPr>
            <a:xfrm>
              <a:off x="6308598" y="1076705"/>
              <a:ext cx="729233" cy="443484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5115305" y="1505711"/>
              <a:ext cx="2005964" cy="18415"/>
            </a:xfrm>
            <a:custGeom>
              <a:avLst/>
              <a:gdLst/>
              <a:ahLst/>
              <a:cxnLst/>
              <a:rect l="l" t="t" r="r" b="b"/>
              <a:pathLst>
                <a:path w="2005964" h="18415">
                  <a:moveTo>
                    <a:pt x="0" y="0"/>
                  </a:moveTo>
                  <a:lnTo>
                    <a:pt x="2005584" y="18414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3797046" y="3453863"/>
              <a:ext cx="365760" cy="318317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0"/>
            <a:stretch>
              <a:fillRect/>
            </a:stretch>
          </p:blipFill>
          <p:spPr>
            <a:xfrm>
              <a:off x="4569714" y="3352800"/>
              <a:ext cx="729234" cy="443483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3404415" y="3428129"/>
              <a:ext cx="282341" cy="339305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3313176" y="3781805"/>
              <a:ext cx="2005964" cy="18415"/>
            </a:xfrm>
            <a:custGeom>
              <a:avLst/>
              <a:gdLst/>
              <a:ahLst/>
              <a:cxnLst/>
              <a:rect l="l" t="t" r="r" b="b"/>
              <a:pathLst>
                <a:path w="2005964" h="18414">
                  <a:moveTo>
                    <a:pt x="0" y="0"/>
                  </a:moveTo>
                  <a:lnTo>
                    <a:pt x="2005584" y="18415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5669279" y="737912"/>
            <a:ext cx="797560" cy="709930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000" spc="-10">
                <a:latin typeface="Cambria Math"/>
                <a:cs typeface="Cambria Math"/>
              </a:rPr>
              <a:t>𝑷[𝒏,</a:t>
            </a:r>
            <a:r>
              <a:rPr sz="2000" spc="-105">
                <a:latin typeface="Cambria Math"/>
                <a:cs typeface="Cambria Math"/>
              </a:rPr>
              <a:t> </a:t>
            </a:r>
            <a:r>
              <a:rPr sz="2000" spc="-25">
                <a:latin typeface="Cambria Math"/>
                <a:cs typeface="Cambria Math"/>
              </a:rPr>
              <a:t>𝑪]</a:t>
            </a:r>
            <a:endParaRPr sz="2000">
              <a:latin typeface="Cambria Math"/>
              <a:cs typeface="Cambria Math"/>
            </a:endParaRPr>
          </a:p>
          <a:p>
            <a:pPr marL="384175">
              <a:lnSpc>
                <a:spcPct val="100000"/>
              </a:lnSpc>
              <a:spcBef>
                <a:spcPts val="475"/>
              </a:spcBef>
            </a:pPr>
            <a:r>
              <a:rPr sz="1600">
                <a:latin typeface="PMingLiU"/>
                <a:cs typeface="PMingLiU"/>
              </a:rPr>
              <a:t>…</a:t>
            </a:r>
          </a:p>
        </p:txBody>
      </p:sp>
      <p:sp>
        <p:nvSpPr>
          <p:cNvPr id="28" name="object 28"/>
          <p:cNvSpPr/>
          <p:nvPr/>
        </p:nvSpPr>
        <p:spPr>
          <a:xfrm>
            <a:off x="4412742" y="2161031"/>
            <a:ext cx="3058795" cy="1183640"/>
          </a:xfrm>
          <a:custGeom>
            <a:avLst/>
            <a:gdLst/>
            <a:ahLst/>
            <a:cxnLst/>
            <a:rect l="l" t="t" r="r" b="b"/>
            <a:pathLst>
              <a:path w="3058795" h="1183639">
                <a:moveTo>
                  <a:pt x="1559052" y="0"/>
                </a:moveTo>
                <a:lnTo>
                  <a:pt x="1433322" y="23241"/>
                </a:lnTo>
                <a:lnTo>
                  <a:pt x="1456296" y="53682"/>
                </a:lnTo>
                <a:lnTo>
                  <a:pt x="0" y="1153160"/>
                </a:lnTo>
                <a:lnTo>
                  <a:pt x="22860" y="1183513"/>
                </a:lnTo>
                <a:lnTo>
                  <a:pt x="1479245" y="84086"/>
                </a:lnTo>
                <a:lnTo>
                  <a:pt x="1502156" y="114427"/>
                </a:lnTo>
                <a:lnTo>
                  <a:pt x="1538084" y="42164"/>
                </a:lnTo>
                <a:lnTo>
                  <a:pt x="1559052" y="0"/>
                </a:lnTo>
                <a:close/>
              </a:path>
              <a:path w="3058795" h="1183639">
                <a:moveTo>
                  <a:pt x="3058414" y="1137920"/>
                </a:moveTo>
                <a:lnTo>
                  <a:pt x="1683664" y="63817"/>
                </a:lnTo>
                <a:lnTo>
                  <a:pt x="1692833" y="52070"/>
                </a:lnTo>
                <a:lnTo>
                  <a:pt x="1707134" y="33782"/>
                </a:lnTo>
                <a:lnTo>
                  <a:pt x="1581912" y="8382"/>
                </a:lnTo>
                <a:lnTo>
                  <a:pt x="1636776" y="123825"/>
                </a:lnTo>
                <a:lnTo>
                  <a:pt x="1660271" y="93764"/>
                </a:lnTo>
                <a:lnTo>
                  <a:pt x="3034919" y="1168019"/>
                </a:lnTo>
                <a:lnTo>
                  <a:pt x="3058414" y="11379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3434079" y="4609846"/>
            <a:ext cx="189103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000">
                <a:latin typeface="Cambria Math"/>
                <a:cs typeface="Cambria Math"/>
              </a:rPr>
              <a:t>𝑷[𝒏</a:t>
            </a:r>
            <a:r>
              <a:rPr sz="2000" spc="-20">
                <a:latin typeface="Cambria Math"/>
                <a:cs typeface="Cambria Math"/>
              </a:rPr>
              <a:t> </a:t>
            </a:r>
            <a:r>
              <a:rPr sz="2000">
                <a:latin typeface="Cambria Math"/>
                <a:cs typeface="Cambria Math"/>
              </a:rPr>
              <a:t>−</a:t>
            </a:r>
            <a:r>
              <a:rPr sz="2000" spc="-5">
                <a:latin typeface="Cambria Math"/>
                <a:cs typeface="Cambria Math"/>
              </a:rPr>
              <a:t> </a:t>
            </a:r>
            <a:r>
              <a:rPr sz="2000" spc="-10">
                <a:latin typeface="Cambria Math"/>
                <a:cs typeface="Cambria Math"/>
              </a:rPr>
              <a:t>𝟏,</a:t>
            </a:r>
            <a:r>
              <a:rPr sz="2000" spc="-110">
                <a:latin typeface="Cambria Math"/>
                <a:cs typeface="Cambria Math"/>
              </a:rPr>
              <a:t> </a:t>
            </a:r>
            <a:r>
              <a:rPr sz="2000">
                <a:latin typeface="Cambria Math"/>
                <a:cs typeface="Cambria Math"/>
              </a:rPr>
              <a:t>𝑪</a:t>
            </a:r>
            <a:r>
              <a:rPr sz="2000" spc="-20">
                <a:latin typeface="Cambria Math"/>
                <a:cs typeface="Cambria Math"/>
              </a:rPr>
              <a:t> </a:t>
            </a:r>
            <a:r>
              <a:rPr sz="2000">
                <a:latin typeface="Cambria Math"/>
                <a:cs typeface="Cambria Math"/>
              </a:rPr>
              <a:t>− </a:t>
            </a:r>
            <a:r>
              <a:rPr sz="2000" spc="-25">
                <a:latin typeface="Cambria Math"/>
                <a:cs typeface="Cambria Math"/>
              </a:rPr>
              <a:t>𝒗</a:t>
            </a:r>
            <a:r>
              <a:rPr sz="2175" spc="-37" baseline="-15325">
                <a:latin typeface="Cambria Math"/>
                <a:cs typeface="Cambria Math"/>
              </a:rPr>
              <a:t>𝒏</a:t>
            </a:r>
            <a:r>
              <a:rPr sz="2000" spc="-25">
                <a:latin typeface="Cambria Math"/>
                <a:cs typeface="Cambria Math"/>
              </a:rPr>
              <a:t>]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975347" y="4609846"/>
            <a:ext cx="125285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>
                <a:latin typeface="Cambria Math"/>
                <a:cs typeface="Cambria Math"/>
              </a:rPr>
              <a:t>𝑷[𝒏</a:t>
            </a:r>
            <a:r>
              <a:rPr sz="2000" spc="-20">
                <a:latin typeface="Cambria Math"/>
                <a:cs typeface="Cambria Math"/>
              </a:rPr>
              <a:t> </a:t>
            </a:r>
            <a:r>
              <a:rPr sz="2000">
                <a:latin typeface="Cambria Math"/>
                <a:cs typeface="Cambria Math"/>
              </a:rPr>
              <a:t>−</a:t>
            </a:r>
            <a:r>
              <a:rPr sz="2000" spc="-5">
                <a:latin typeface="Cambria Math"/>
                <a:cs typeface="Cambria Math"/>
              </a:rPr>
              <a:t> </a:t>
            </a:r>
            <a:r>
              <a:rPr sz="2000" spc="-10">
                <a:latin typeface="Cambria Math"/>
                <a:cs typeface="Cambria Math"/>
              </a:rPr>
              <a:t>𝟏,</a:t>
            </a:r>
            <a:r>
              <a:rPr sz="2000" spc="-110">
                <a:latin typeface="Cambria Math"/>
                <a:cs typeface="Cambria Math"/>
              </a:rPr>
              <a:t> </a:t>
            </a:r>
            <a:r>
              <a:rPr sz="2000" spc="-25">
                <a:latin typeface="Cambria Math"/>
                <a:cs typeface="Cambria Math"/>
              </a:rPr>
              <a:t>𝑪]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968496" y="3939540"/>
            <a:ext cx="1691005" cy="512445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53975" rIns="0" bIns="0" rtlCol="0">
            <a:spAutoFit/>
          </a:bodyPr>
          <a:lstStyle/>
          <a:p>
            <a:pPr marL="285750">
              <a:lnSpc>
                <a:spcPct val="100000"/>
              </a:lnSpc>
              <a:spcBef>
                <a:spcPts val="425"/>
              </a:spcBef>
            </a:pPr>
            <a:r>
              <a:rPr sz="2200" spc="-15">
                <a:solidFill>
                  <a:srgbClr val="FFFFFF"/>
                </a:solidFill>
                <a:latin typeface="PMingLiU"/>
                <a:cs typeface="PMingLiU"/>
              </a:rPr>
              <a:t>独立求解</a:t>
            </a:r>
            <a:endParaRPr sz="2200">
              <a:latin typeface="PMingLiU"/>
              <a:cs typeface="PMingLiU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193280" y="3945635"/>
            <a:ext cx="1691005" cy="512445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53340" rIns="0" bIns="0" rtlCol="0">
            <a:spAutoFit/>
          </a:bodyPr>
          <a:lstStyle/>
          <a:p>
            <a:pPr marL="285750">
              <a:lnSpc>
                <a:spcPct val="100000"/>
              </a:lnSpc>
              <a:spcBef>
                <a:spcPts val="420"/>
              </a:spcBef>
            </a:pPr>
            <a:r>
              <a:rPr sz="2200" spc="-15">
                <a:solidFill>
                  <a:srgbClr val="FFFFFF"/>
                </a:solidFill>
                <a:latin typeface="PMingLiU"/>
                <a:cs typeface="PMingLiU"/>
              </a:rPr>
              <a:t>独立求解</a:t>
            </a:r>
            <a:endParaRPr sz="2200">
              <a:latin typeface="PMingLiU"/>
              <a:cs typeface="PMingLiU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9116948" y="1018413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9"/>
                </a:lnTo>
                <a:lnTo>
                  <a:pt x="0" y="876426"/>
                </a:lnTo>
                <a:lnTo>
                  <a:pt x="7647" y="914364"/>
                </a:lnTo>
                <a:lnTo>
                  <a:pt x="28511" y="945324"/>
                </a:lnTo>
                <a:lnTo>
                  <a:pt x="59471" y="966188"/>
                </a:lnTo>
                <a:lnTo>
                  <a:pt x="97408" y="973836"/>
                </a:lnTo>
                <a:lnTo>
                  <a:pt x="1758823" y="973836"/>
                </a:lnTo>
                <a:lnTo>
                  <a:pt x="1796760" y="966188"/>
                </a:lnTo>
                <a:lnTo>
                  <a:pt x="1827720" y="945324"/>
                </a:lnTo>
                <a:lnTo>
                  <a:pt x="1848584" y="914364"/>
                </a:lnTo>
                <a:lnTo>
                  <a:pt x="1856231" y="876426"/>
                </a:lnTo>
                <a:lnTo>
                  <a:pt x="1856231" y="97409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9346438" y="1314449"/>
            <a:ext cx="13970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>
                <a:solidFill>
                  <a:srgbClr val="FFFFFF"/>
                </a:solidFill>
                <a:latin typeface="PMingLiU"/>
                <a:cs typeface="PMingLiU"/>
              </a:rPr>
              <a:t>问题结构分析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9825228" y="2052827"/>
            <a:ext cx="439420" cy="367030"/>
          </a:xfrm>
          <a:custGeom>
            <a:avLst/>
            <a:gdLst/>
            <a:ahLst/>
            <a:cxnLst/>
            <a:rect l="l" t="t" r="r" b="b"/>
            <a:pathLst>
              <a:path w="439420" h="367030">
                <a:moveTo>
                  <a:pt x="351154" y="0"/>
                </a:moveTo>
                <a:lnTo>
                  <a:pt x="87756" y="0"/>
                </a:lnTo>
                <a:lnTo>
                  <a:pt x="87756" y="183261"/>
                </a:lnTo>
                <a:lnTo>
                  <a:pt x="0" y="183261"/>
                </a:lnTo>
                <a:lnTo>
                  <a:pt x="219455" y="366522"/>
                </a:lnTo>
                <a:lnTo>
                  <a:pt x="438912" y="183261"/>
                </a:lnTo>
                <a:lnTo>
                  <a:pt x="351154" y="183261"/>
                </a:lnTo>
                <a:lnTo>
                  <a:pt x="35115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9116948" y="2480691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9"/>
                </a:lnTo>
                <a:lnTo>
                  <a:pt x="0" y="876426"/>
                </a:lnTo>
                <a:lnTo>
                  <a:pt x="7647" y="914364"/>
                </a:lnTo>
                <a:lnTo>
                  <a:pt x="28511" y="945324"/>
                </a:lnTo>
                <a:lnTo>
                  <a:pt x="59471" y="966188"/>
                </a:lnTo>
                <a:lnTo>
                  <a:pt x="97408" y="973836"/>
                </a:lnTo>
                <a:lnTo>
                  <a:pt x="1758823" y="973836"/>
                </a:lnTo>
                <a:lnTo>
                  <a:pt x="1796760" y="966188"/>
                </a:lnTo>
                <a:lnTo>
                  <a:pt x="1827720" y="945324"/>
                </a:lnTo>
                <a:lnTo>
                  <a:pt x="1848584" y="914364"/>
                </a:lnTo>
                <a:lnTo>
                  <a:pt x="1856231" y="876426"/>
                </a:lnTo>
                <a:lnTo>
                  <a:pt x="1856231" y="97409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449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9346438" y="2776982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>
                <a:solidFill>
                  <a:srgbClr val="FFFFFF"/>
                </a:solidFill>
                <a:latin typeface="PMingLiU"/>
                <a:cs typeface="PMingLiU"/>
              </a:rPr>
              <a:t>递推关系建立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9825228" y="3515105"/>
            <a:ext cx="439420" cy="365125"/>
          </a:xfrm>
          <a:custGeom>
            <a:avLst/>
            <a:gdLst/>
            <a:ahLst/>
            <a:cxnLst/>
            <a:rect l="l" t="t" r="r" b="b"/>
            <a:pathLst>
              <a:path w="439420" h="365125">
                <a:moveTo>
                  <a:pt x="351154" y="0"/>
                </a:moveTo>
                <a:lnTo>
                  <a:pt x="87756" y="0"/>
                </a:lnTo>
                <a:lnTo>
                  <a:pt x="87756" y="182499"/>
                </a:lnTo>
                <a:lnTo>
                  <a:pt x="0" y="182499"/>
                </a:lnTo>
                <a:lnTo>
                  <a:pt x="219455" y="364998"/>
                </a:lnTo>
                <a:lnTo>
                  <a:pt x="438912" y="182499"/>
                </a:lnTo>
                <a:lnTo>
                  <a:pt x="351154" y="182499"/>
                </a:lnTo>
                <a:lnTo>
                  <a:pt x="35115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9116948" y="3941445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8"/>
                </a:lnTo>
                <a:lnTo>
                  <a:pt x="0" y="876426"/>
                </a:lnTo>
                <a:lnTo>
                  <a:pt x="7647" y="914364"/>
                </a:lnTo>
                <a:lnTo>
                  <a:pt x="28511" y="945324"/>
                </a:lnTo>
                <a:lnTo>
                  <a:pt x="59471" y="966188"/>
                </a:lnTo>
                <a:lnTo>
                  <a:pt x="97408" y="973835"/>
                </a:lnTo>
                <a:lnTo>
                  <a:pt x="1758823" y="973835"/>
                </a:lnTo>
                <a:lnTo>
                  <a:pt x="1796760" y="966188"/>
                </a:lnTo>
                <a:lnTo>
                  <a:pt x="1827720" y="945324"/>
                </a:lnTo>
                <a:lnTo>
                  <a:pt x="1848584" y="914364"/>
                </a:lnTo>
                <a:lnTo>
                  <a:pt x="1856231" y="876426"/>
                </a:lnTo>
                <a:lnTo>
                  <a:pt x="1856231" y="97408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9346438" y="4237735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>
                <a:solidFill>
                  <a:srgbClr val="FFFFFF"/>
                </a:solidFill>
                <a:latin typeface="PMingLiU"/>
                <a:cs typeface="PMingLiU"/>
              </a:rPr>
              <a:t>自底向上计算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9825228" y="4975859"/>
            <a:ext cx="439420" cy="365125"/>
          </a:xfrm>
          <a:custGeom>
            <a:avLst/>
            <a:gdLst/>
            <a:ahLst/>
            <a:cxnLst/>
            <a:rect l="l" t="t" r="r" b="b"/>
            <a:pathLst>
              <a:path w="439420" h="365125">
                <a:moveTo>
                  <a:pt x="351154" y="0"/>
                </a:moveTo>
                <a:lnTo>
                  <a:pt x="87756" y="0"/>
                </a:lnTo>
                <a:lnTo>
                  <a:pt x="87756" y="182498"/>
                </a:lnTo>
                <a:lnTo>
                  <a:pt x="0" y="182498"/>
                </a:lnTo>
                <a:lnTo>
                  <a:pt x="219455" y="364997"/>
                </a:lnTo>
                <a:lnTo>
                  <a:pt x="438912" y="182498"/>
                </a:lnTo>
                <a:lnTo>
                  <a:pt x="351154" y="182498"/>
                </a:lnTo>
                <a:lnTo>
                  <a:pt x="35115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9116948" y="5402198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9"/>
                </a:lnTo>
                <a:lnTo>
                  <a:pt x="0" y="876452"/>
                </a:lnTo>
                <a:lnTo>
                  <a:pt x="7647" y="914358"/>
                </a:lnTo>
                <a:lnTo>
                  <a:pt x="28511" y="945313"/>
                </a:lnTo>
                <a:lnTo>
                  <a:pt x="59471" y="966183"/>
                </a:lnTo>
                <a:lnTo>
                  <a:pt x="97408" y="973835"/>
                </a:lnTo>
                <a:lnTo>
                  <a:pt x="1758823" y="973835"/>
                </a:lnTo>
                <a:lnTo>
                  <a:pt x="1796760" y="966183"/>
                </a:lnTo>
                <a:lnTo>
                  <a:pt x="1827720" y="945313"/>
                </a:lnTo>
                <a:lnTo>
                  <a:pt x="1848584" y="914358"/>
                </a:lnTo>
                <a:lnTo>
                  <a:pt x="1856231" y="876452"/>
                </a:lnTo>
                <a:lnTo>
                  <a:pt x="1856231" y="97409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9346438" y="5698744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>
                <a:solidFill>
                  <a:srgbClr val="FFFFFF"/>
                </a:solidFill>
                <a:latin typeface="PMingLiU"/>
                <a:cs typeface="PMingLiU"/>
              </a:rPr>
              <a:t>最优方案追踪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46" name="object 2">
            <a:extLst>
              <a:ext uri="{FF2B5EF4-FFF2-40B4-BE49-F238E27FC236}">
                <a16:creationId xmlns:a16="http://schemas.microsoft.com/office/drawing/2014/main" id="{9FC63112-F55D-3744-B5C2-C8FA9A0AB3DA}"/>
              </a:ext>
            </a:extLst>
          </p:cNvPr>
          <p:cNvSpPr txBox="1"/>
          <p:nvPr/>
        </p:nvSpPr>
        <p:spPr>
          <a:xfrm>
            <a:off x="761428" y="1162049"/>
            <a:ext cx="35712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分析最优（子）</a:t>
            </a:r>
            <a:r>
              <a:rPr sz="2800" spc="-2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结构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47" name="object 6">
            <a:extLst>
              <a:ext uri="{FF2B5EF4-FFF2-40B4-BE49-F238E27FC236}">
                <a16:creationId xmlns:a16="http://schemas.microsoft.com/office/drawing/2014/main" id="{3F26B061-FD8B-0647-95D8-03B89CFBAB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04869" y="167146"/>
            <a:ext cx="684919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动态规划：一般步</a:t>
            </a:r>
            <a:r>
              <a:rPr spc="-60" dirty="0" err="1">
                <a:latin typeface="SimSun" panose="02010600030101010101" pitchFamily="2" charset="-122"/>
                <a:ea typeface="SimSun" panose="02010600030101010101" pitchFamily="2" charset="-122"/>
              </a:rPr>
              <a:t>骤</a:t>
            </a:r>
            <a:endParaRPr spc="-6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698747" y="2680207"/>
            <a:ext cx="120459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0">
                <a:latin typeface="PMingLiU"/>
                <a:cs typeface="PMingLiU"/>
              </a:rPr>
              <a:t>选择商品</a:t>
            </a:r>
            <a:r>
              <a:rPr sz="2000" spc="-50">
                <a:latin typeface="Cambria Math"/>
                <a:cs typeface="Cambria Math"/>
              </a:rPr>
              <a:t>𝒏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17080" y="2708656"/>
            <a:ext cx="120459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0">
                <a:latin typeface="PMingLiU"/>
                <a:cs typeface="PMingLiU"/>
              </a:rPr>
              <a:t>不选商品</a:t>
            </a:r>
            <a:r>
              <a:rPr sz="2000" spc="-50">
                <a:latin typeface="Cambria Math"/>
                <a:cs typeface="Cambria Math"/>
              </a:rPr>
              <a:t>𝒏</a:t>
            </a:r>
            <a:endParaRPr sz="2000">
              <a:latin typeface="Cambria Math"/>
              <a:cs typeface="Cambria Math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307841" y="3938015"/>
            <a:ext cx="604520" cy="537210"/>
            <a:chOff x="3307841" y="3938015"/>
            <a:chExt cx="604520" cy="537210"/>
          </a:xfrm>
        </p:grpSpPr>
        <p:pic>
          <p:nvPicPr>
            <p:cNvPr id="7" name="object 7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307841" y="3938015"/>
              <a:ext cx="604265" cy="5372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3502913" y="4009643"/>
              <a:ext cx="197358" cy="273557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2"/>
          <a:stretch>
            <a:fillRect/>
          </a:stretch>
        </p:blipFill>
        <p:spPr>
          <a:xfrm>
            <a:off x="6463284" y="3970020"/>
            <a:ext cx="605028" cy="53720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310379" y="3403853"/>
            <a:ext cx="22923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>
                <a:latin typeface="PMingLiU"/>
                <a:cs typeface="PMingLiU"/>
              </a:rPr>
              <a:t>…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445502" y="3421634"/>
            <a:ext cx="22923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>
                <a:latin typeface="PMingLiU"/>
                <a:cs typeface="PMingLiU"/>
              </a:rPr>
              <a:t>…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6447282" y="3385565"/>
            <a:ext cx="2044064" cy="466725"/>
            <a:chOff x="6447282" y="3385565"/>
            <a:chExt cx="2044064" cy="466725"/>
          </a:xfrm>
        </p:grpSpPr>
        <p:pic>
          <p:nvPicPr>
            <p:cNvPr id="13" name="object 13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6965442" y="3484640"/>
              <a:ext cx="366522" cy="32229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7738110" y="3385565"/>
              <a:ext cx="729233" cy="44348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6572898" y="3476135"/>
              <a:ext cx="282929" cy="33930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466332" y="3814571"/>
              <a:ext cx="2005964" cy="18415"/>
            </a:xfrm>
            <a:custGeom>
              <a:avLst/>
              <a:gdLst/>
              <a:ahLst/>
              <a:cxnLst/>
              <a:rect l="l" t="t" r="r" b="b"/>
              <a:pathLst>
                <a:path w="2005964" h="18414">
                  <a:moveTo>
                    <a:pt x="0" y="0"/>
                  </a:moveTo>
                  <a:lnTo>
                    <a:pt x="2005584" y="18414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3294126" y="1076705"/>
            <a:ext cx="3846195" cy="2742565"/>
            <a:chOff x="3294126" y="1076705"/>
            <a:chExt cx="3846195" cy="2742565"/>
          </a:xfrm>
        </p:grpSpPr>
        <p:pic>
          <p:nvPicPr>
            <p:cNvPr id="18" name="object 18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5043677" y="1533905"/>
              <a:ext cx="755141" cy="67056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/>
            <a:stretch>
              <a:fillRect/>
            </a:stretch>
          </p:blipFill>
          <p:spPr>
            <a:xfrm>
              <a:off x="5535930" y="1122425"/>
              <a:ext cx="365760" cy="44424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/>
            <a:stretch>
              <a:fillRect/>
            </a:stretch>
          </p:blipFill>
          <p:spPr>
            <a:xfrm>
              <a:off x="5142738" y="1102613"/>
              <a:ext cx="365760" cy="44348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9"/>
            <a:stretch>
              <a:fillRect/>
            </a:stretch>
          </p:blipFill>
          <p:spPr>
            <a:xfrm>
              <a:off x="6308598" y="1076705"/>
              <a:ext cx="729233" cy="443484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5115305" y="1505711"/>
              <a:ext cx="2005964" cy="18415"/>
            </a:xfrm>
            <a:custGeom>
              <a:avLst/>
              <a:gdLst/>
              <a:ahLst/>
              <a:cxnLst/>
              <a:rect l="l" t="t" r="r" b="b"/>
              <a:pathLst>
                <a:path w="2005964" h="18415">
                  <a:moveTo>
                    <a:pt x="0" y="0"/>
                  </a:moveTo>
                  <a:lnTo>
                    <a:pt x="2005584" y="18414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3797046" y="3451874"/>
              <a:ext cx="365760" cy="322296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0"/>
            <a:stretch>
              <a:fillRect/>
            </a:stretch>
          </p:blipFill>
          <p:spPr>
            <a:xfrm>
              <a:off x="4569714" y="3352800"/>
              <a:ext cx="729234" cy="443483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3404415" y="3428129"/>
              <a:ext cx="282341" cy="339305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3313176" y="3781805"/>
              <a:ext cx="2005964" cy="18415"/>
            </a:xfrm>
            <a:custGeom>
              <a:avLst/>
              <a:gdLst/>
              <a:ahLst/>
              <a:cxnLst/>
              <a:rect l="l" t="t" r="r" b="b"/>
              <a:pathLst>
                <a:path w="2005964" h="18414">
                  <a:moveTo>
                    <a:pt x="0" y="0"/>
                  </a:moveTo>
                  <a:lnTo>
                    <a:pt x="2005584" y="18415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5669279" y="737912"/>
            <a:ext cx="797560" cy="709930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000" spc="-10">
                <a:latin typeface="Cambria Math"/>
                <a:cs typeface="Cambria Math"/>
              </a:rPr>
              <a:t>𝑷[𝒏,</a:t>
            </a:r>
            <a:r>
              <a:rPr sz="2000" spc="-105">
                <a:latin typeface="Cambria Math"/>
                <a:cs typeface="Cambria Math"/>
              </a:rPr>
              <a:t> </a:t>
            </a:r>
            <a:r>
              <a:rPr sz="2000" spc="-25">
                <a:latin typeface="Cambria Math"/>
                <a:cs typeface="Cambria Math"/>
              </a:rPr>
              <a:t>𝑪]</a:t>
            </a:r>
            <a:endParaRPr sz="2000">
              <a:latin typeface="Cambria Math"/>
              <a:cs typeface="Cambria Math"/>
            </a:endParaRPr>
          </a:p>
          <a:p>
            <a:pPr marL="384175">
              <a:lnSpc>
                <a:spcPct val="100000"/>
              </a:lnSpc>
              <a:spcBef>
                <a:spcPts val="475"/>
              </a:spcBef>
            </a:pPr>
            <a:r>
              <a:rPr sz="1600">
                <a:latin typeface="PMingLiU"/>
                <a:cs typeface="PMingLiU"/>
              </a:rPr>
              <a:t>…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5836920" y="1601724"/>
            <a:ext cx="1416685" cy="512445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53340" rIns="0" bIns="0" rtlCol="0">
            <a:spAutoFit/>
          </a:bodyPr>
          <a:lstStyle/>
          <a:p>
            <a:pPr marL="148590">
              <a:lnSpc>
                <a:spcPct val="100000"/>
              </a:lnSpc>
              <a:spcBef>
                <a:spcPts val="420"/>
              </a:spcBef>
            </a:pPr>
            <a:r>
              <a:rPr sz="2200" spc="-15">
                <a:solidFill>
                  <a:srgbClr val="FFFFFF"/>
                </a:solidFill>
                <a:latin typeface="PMingLiU"/>
                <a:cs typeface="PMingLiU"/>
              </a:rPr>
              <a:t>组合而成</a:t>
            </a:r>
            <a:endParaRPr sz="2200">
              <a:latin typeface="PMingLiU"/>
              <a:cs typeface="PMingLiU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412742" y="2161031"/>
            <a:ext cx="3058795" cy="1183640"/>
          </a:xfrm>
          <a:custGeom>
            <a:avLst/>
            <a:gdLst/>
            <a:ahLst/>
            <a:cxnLst/>
            <a:rect l="l" t="t" r="r" b="b"/>
            <a:pathLst>
              <a:path w="3058795" h="1183639">
                <a:moveTo>
                  <a:pt x="1559052" y="0"/>
                </a:moveTo>
                <a:lnTo>
                  <a:pt x="1433322" y="23241"/>
                </a:lnTo>
                <a:lnTo>
                  <a:pt x="1456296" y="53682"/>
                </a:lnTo>
                <a:lnTo>
                  <a:pt x="0" y="1153160"/>
                </a:lnTo>
                <a:lnTo>
                  <a:pt x="22860" y="1183513"/>
                </a:lnTo>
                <a:lnTo>
                  <a:pt x="1479245" y="84086"/>
                </a:lnTo>
                <a:lnTo>
                  <a:pt x="1502156" y="114427"/>
                </a:lnTo>
                <a:lnTo>
                  <a:pt x="1538084" y="42164"/>
                </a:lnTo>
                <a:lnTo>
                  <a:pt x="1559052" y="0"/>
                </a:lnTo>
                <a:close/>
              </a:path>
              <a:path w="3058795" h="1183639">
                <a:moveTo>
                  <a:pt x="3058414" y="1137920"/>
                </a:moveTo>
                <a:lnTo>
                  <a:pt x="1683664" y="63817"/>
                </a:lnTo>
                <a:lnTo>
                  <a:pt x="1692833" y="52070"/>
                </a:lnTo>
                <a:lnTo>
                  <a:pt x="1707134" y="33782"/>
                </a:lnTo>
                <a:lnTo>
                  <a:pt x="1581912" y="8382"/>
                </a:lnTo>
                <a:lnTo>
                  <a:pt x="1636776" y="123825"/>
                </a:lnTo>
                <a:lnTo>
                  <a:pt x="1660271" y="93764"/>
                </a:lnTo>
                <a:lnTo>
                  <a:pt x="3034919" y="1168019"/>
                </a:lnTo>
                <a:lnTo>
                  <a:pt x="3058414" y="11379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3434079" y="4609846"/>
            <a:ext cx="189103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000">
                <a:latin typeface="Cambria Math"/>
                <a:cs typeface="Cambria Math"/>
              </a:rPr>
              <a:t>𝑷[𝒏</a:t>
            </a:r>
            <a:r>
              <a:rPr sz="2000" spc="-20">
                <a:latin typeface="Cambria Math"/>
                <a:cs typeface="Cambria Math"/>
              </a:rPr>
              <a:t> </a:t>
            </a:r>
            <a:r>
              <a:rPr sz="2000">
                <a:latin typeface="Cambria Math"/>
                <a:cs typeface="Cambria Math"/>
              </a:rPr>
              <a:t>−</a:t>
            </a:r>
            <a:r>
              <a:rPr sz="2000" spc="-5">
                <a:latin typeface="Cambria Math"/>
                <a:cs typeface="Cambria Math"/>
              </a:rPr>
              <a:t> </a:t>
            </a:r>
            <a:r>
              <a:rPr sz="2000" spc="-10">
                <a:latin typeface="Cambria Math"/>
                <a:cs typeface="Cambria Math"/>
              </a:rPr>
              <a:t>𝟏,</a:t>
            </a:r>
            <a:r>
              <a:rPr sz="2000" spc="-110">
                <a:latin typeface="Cambria Math"/>
                <a:cs typeface="Cambria Math"/>
              </a:rPr>
              <a:t> </a:t>
            </a:r>
            <a:r>
              <a:rPr sz="2000">
                <a:latin typeface="Cambria Math"/>
                <a:cs typeface="Cambria Math"/>
              </a:rPr>
              <a:t>𝑪</a:t>
            </a:r>
            <a:r>
              <a:rPr sz="2000" spc="-20">
                <a:latin typeface="Cambria Math"/>
                <a:cs typeface="Cambria Math"/>
              </a:rPr>
              <a:t> </a:t>
            </a:r>
            <a:r>
              <a:rPr sz="2000">
                <a:latin typeface="Cambria Math"/>
                <a:cs typeface="Cambria Math"/>
              </a:rPr>
              <a:t>− </a:t>
            </a:r>
            <a:r>
              <a:rPr sz="2000" spc="-25">
                <a:latin typeface="Cambria Math"/>
                <a:cs typeface="Cambria Math"/>
              </a:rPr>
              <a:t>𝒗</a:t>
            </a:r>
            <a:r>
              <a:rPr sz="2175" spc="-37" baseline="-15325">
                <a:latin typeface="Cambria Math"/>
                <a:cs typeface="Cambria Math"/>
              </a:rPr>
              <a:t>𝒏</a:t>
            </a:r>
            <a:r>
              <a:rPr sz="2000" spc="-25">
                <a:latin typeface="Cambria Math"/>
                <a:cs typeface="Cambria Math"/>
              </a:rPr>
              <a:t>]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975347" y="4609846"/>
            <a:ext cx="125285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>
                <a:latin typeface="Cambria Math"/>
                <a:cs typeface="Cambria Math"/>
              </a:rPr>
              <a:t>𝑷[𝒏</a:t>
            </a:r>
            <a:r>
              <a:rPr sz="2000" spc="-20">
                <a:latin typeface="Cambria Math"/>
                <a:cs typeface="Cambria Math"/>
              </a:rPr>
              <a:t> </a:t>
            </a:r>
            <a:r>
              <a:rPr sz="2000">
                <a:latin typeface="Cambria Math"/>
                <a:cs typeface="Cambria Math"/>
              </a:rPr>
              <a:t>−</a:t>
            </a:r>
            <a:r>
              <a:rPr sz="2000" spc="-5">
                <a:latin typeface="Cambria Math"/>
                <a:cs typeface="Cambria Math"/>
              </a:rPr>
              <a:t> </a:t>
            </a:r>
            <a:r>
              <a:rPr sz="2000" spc="-10">
                <a:latin typeface="Cambria Math"/>
                <a:cs typeface="Cambria Math"/>
              </a:rPr>
              <a:t>𝟏,</a:t>
            </a:r>
            <a:r>
              <a:rPr sz="2000" spc="-110">
                <a:latin typeface="Cambria Math"/>
                <a:cs typeface="Cambria Math"/>
              </a:rPr>
              <a:t> </a:t>
            </a:r>
            <a:r>
              <a:rPr sz="2000" spc="-25">
                <a:latin typeface="Cambria Math"/>
                <a:cs typeface="Cambria Math"/>
              </a:rPr>
              <a:t>𝑪]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968496" y="3939540"/>
            <a:ext cx="1691005" cy="512445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53975" rIns="0" bIns="0" rtlCol="0">
            <a:spAutoFit/>
          </a:bodyPr>
          <a:lstStyle/>
          <a:p>
            <a:pPr marL="285750">
              <a:lnSpc>
                <a:spcPct val="100000"/>
              </a:lnSpc>
              <a:spcBef>
                <a:spcPts val="425"/>
              </a:spcBef>
            </a:pPr>
            <a:r>
              <a:rPr sz="2200" spc="-15">
                <a:solidFill>
                  <a:srgbClr val="FFFFFF"/>
                </a:solidFill>
                <a:latin typeface="PMingLiU"/>
                <a:cs typeface="PMingLiU"/>
              </a:rPr>
              <a:t>独立求解</a:t>
            </a:r>
            <a:endParaRPr sz="2200">
              <a:latin typeface="PMingLiU"/>
              <a:cs typeface="PMingLiU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193280" y="3945635"/>
            <a:ext cx="1691005" cy="512445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53340" rIns="0" bIns="0" rtlCol="0">
            <a:spAutoFit/>
          </a:bodyPr>
          <a:lstStyle/>
          <a:p>
            <a:pPr marL="285750">
              <a:lnSpc>
                <a:spcPct val="100000"/>
              </a:lnSpc>
              <a:spcBef>
                <a:spcPts val="420"/>
              </a:spcBef>
            </a:pPr>
            <a:r>
              <a:rPr sz="2200" spc="-15">
                <a:solidFill>
                  <a:srgbClr val="FFFFFF"/>
                </a:solidFill>
                <a:latin typeface="PMingLiU"/>
                <a:cs typeface="PMingLiU"/>
              </a:rPr>
              <a:t>独立求解</a:t>
            </a:r>
            <a:endParaRPr sz="2200">
              <a:latin typeface="PMingLiU"/>
              <a:cs typeface="PMingLiU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9116948" y="1018413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9"/>
                </a:lnTo>
                <a:lnTo>
                  <a:pt x="0" y="876426"/>
                </a:lnTo>
                <a:lnTo>
                  <a:pt x="7647" y="914364"/>
                </a:lnTo>
                <a:lnTo>
                  <a:pt x="28511" y="945324"/>
                </a:lnTo>
                <a:lnTo>
                  <a:pt x="59471" y="966188"/>
                </a:lnTo>
                <a:lnTo>
                  <a:pt x="97408" y="973836"/>
                </a:lnTo>
                <a:lnTo>
                  <a:pt x="1758823" y="973836"/>
                </a:lnTo>
                <a:lnTo>
                  <a:pt x="1796760" y="966188"/>
                </a:lnTo>
                <a:lnTo>
                  <a:pt x="1827720" y="945324"/>
                </a:lnTo>
                <a:lnTo>
                  <a:pt x="1848584" y="914364"/>
                </a:lnTo>
                <a:lnTo>
                  <a:pt x="1856231" y="876426"/>
                </a:lnTo>
                <a:lnTo>
                  <a:pt x="1856231" y="97409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9346438" y="1314449"/>
            <a:ext cx="13970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>
                <a:solidFill>
                  <a:srgbClr val="FFFFFF"/>
                </a:solidFill>
                <a:latin typeface="PMingLiU"/>
                <a:cs typeface="PMingLiU"/>
              </a:rPr>
              <a:t>问题结构分析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9825228" y="2052827"/>
            <a:ext cx="439420" cy="367030"/>
          </a:xfrm>
          <a:custGeom>
            <a:avLst/>
            <a:gdLst/>
            <a:ahLst/>
            <a:cxnLst/>
            <a:rect l="l" t="t" r="r" b="b"/>
            <a:pathLst>
              <a:path w="439420" h="367030">
                <a:moveTo>
                  <a:pt x="351154" y="0"/>
                </a:moveTo>
                <a:lnTo>
                  <a:pt x="87756" y="0"/>
                </a:lnTo>
                <a:lnTo>
                  <a:pt x="87756" y="183261"/>
                </a:lnTo>
                <a:lnTo>
                  <a:pt x="0" y="183261"/>
                </a:lnTo>
                <a:lnTo>
                  <a:pt x="219455" y="366522"/>
                </a:lnTo>
                <a:lnTo>
                  <a:pt x="438912" y="183261"/>
                </a:lnTo>
                <a:lnTo>
                  <a:pt x="351154" y="183261"/>
                </a:lnTo>
                <a:lnTo>
                  <a:pt x="35115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9116948" y="2480691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9"/>
                </a:lnTo>
                <a:lnTo>
                  <a:pt x="0" y="876426"/>
                </a:lnTo>
                <a:lnTo>
                  <a:pt x="7647" y="914364"/>
                </a:lnTo>
                <a:lnTo>
                  <a:pt x="28511" y="945324"/>
                </a:lnTo>
                <a:lnTo>
                  <a:pt x="59471" y="966188"/>
                </a:lnTo>
                <a:lnTo>
                  <a:pt x="97408" y="973836"/>
                </a:lnTo>
                <a:lnTo>
                  <a:pt x="1758823" y="973836"/>
                </a:lnTo>
                <a:lnTo>
                  <a:pt x="1796760" y="966188"/>
                </a:lnTo>
                <a:lnTo>
                  <a:pt x="1827720" y="945324"/>
                </a:lnTo>
                <a:lnTo>
                  <a:pt x="1848584" y="914364"/>
                </a:lnTo>
                <a:lnTo>
                  <a:pt x="1856231" y="876426"/>
                </a:lnTo>
                <a:lnTo>
                  <a:pt x="1856231" y="97409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449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9346438" y="2776982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>
                <a:solidFill>
                  <a:srgbClr val="FFFFFF"/>
                </a:solidFill>
                <a:latin typeface="PMingLiU"/>
                <a:cs typeface="PMingLiU"/>
              </a:rPr>
              <a:t>递推关系建立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9825228" y="3515105"/>
            <a:ext cx="439420" cy="365125"/>
          </a:xfrm>
          <a:custGeom>
            <a:avLst/>
            <a:gdLst/>
            <a:ahLst/>
            <a:cxnLst/>
            <a:rect l="l" t="t" r="r" b="b"/>
            <a:pathLst>
              <a:path w="439420" h="365125">
                <a:moveTo>
                  <a:pt x="351154" y="0"/>
                </a:moveTo>
                <a:lnTo>
                  <a:pt x="87756" y="0"/>
                </a:lnTo>
                <a:lnTo>
                  <a:pt x="87756" y="182499"/>
                </a:lnTo>
                <a:lnTo>
                  <a:pt x="0" y="182499"/>
                </a:lnTo>
                <a:lnTo>
                  <a:pt x="219455" y="364998"/>
                </a:lnTo>
                <a:lnTo>
                  <a:pt x="438912" y="182499"/>
                </a:lnTo>
                <a:lnTo>
                  <a:pt x="351154" y="182499"/>
                </a:lnTo>
                <a:lnTo>
                  <a:pt x="35115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9116948" y="3941445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8"/>
                </a:lnTo>
                <a:lnTo>
                  <a:pt x="0" y="876426"/>
                </a:lnTo>
                <a:lnTo>
                  <a:pt x="7647" y="914364"/>
                </a:lnTo>
                <a:lnTo>
                  <a:pt x="28511" y="945324"/>
                </a:lnTo>
                <a:lnTo>
                  <a:pt x="59471" y="966188"/>
                </a:lnTo>
                <a:lnTo>
                  <a:pt x="97408" y="973835"/>
                </a:lnTo>
                <a:lnTo>
                  <a:pt x="1758823" y="973835"/>
                </a:lnTo>
                <a:lnTo>
                  <a:pt x="1796760" y="966188"/>
                </a:lnTo>
                <a:lnTo>
                  <a:pt x="1827720" y="945324"/>
                </a:lnTo>
                <a:lnTo>
                  <a:pt x="1848584" y="914364"/>
                </a:lnTo>
                <a:lnTo>
                  <a:pt x="1856231" y="876426"/>
                </a:lnTo>
                <a:lnTo>
                  <a:pt x="1856231" y="97408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9346438" y="4237735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>
                <a:solidFill>
                  <a:srgbClr val="FFFFFF"/>
                </a:solidFill>
                <a:latin typeface="PMingLiU"/>
                <a:cs typeface="PMingLiU"/>
              </a:rPr>
              <a:t>自底向上计算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9825228" y="4975859"/>
            <a:ext cx="439420" cy="365125"/>
          </a:xfrm>
          <a:custGeom>
            <a:avLst/>
            <a:gdLst/>
            <a:ahLst/>
            <a:cxnLst/>
            <a:rect l="l" t="t" r="r" b="b"/>
            <a:pathLst>
              <a:path w="439420" h="365125">
                <a:moveTo>
                  <a:pt x="351154" y="0"/>
                </a:moveTo>
                <a:lnTo>
                  <a:pt x="87756" y="0"/>
                </a:lnTo>
                <a:lnTo>
                  <a:pt x="87756" y="182498"/>
                </a:lnTo>
                <a:lnTo>
                  <a:pt x="0" y="182498"/>
                </a:lnTo>
                <a:lnTo>
                  <a:pt x="219455" y="364997"/>
                </a:lnTo>
                <a:lnTo>
                  <a:pt x="438912" y="182498"/>
                </a:lnTo>
                <a:lnTo>
                  <a:pt x="351154" y="182498"/>
                </a:lnTo>
                <a:lnTo>
                  <a:pt x="35115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9116948" y="5402198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9"/>
                </a:lnTo>
                <a:lnTo>
                  <a:pt x="0" y="876452"/>
                </a:lnTo>
                <a:lnTo>
                  <a:pt x="7647" y="914358"/>
                </a:lnTo>
                <a:lnTo>
                  <a:pt x="28511" y="945313"/>
                </a:lnTo>
                <a:lnTo>
                  <a:pt x="59471" y="966183"/>
                </a:lnTo>
                <a:lnTo>
                  <a:pt x="97408" y="973835"/>
                </a:lnTo>
                <a:lnTo>
                  <a:pt x="1758823" y="973835"/>
                </a:lnTo>
                <a:lnTo>
                  <a:pt x="1796760" y="966183"/>
                </a:lnTo>
                <a:lnTo>
                  <a:pt x="1827720" y="945313"/>
                </a:lnTo>
                <a:lnTo>
                  <a:pt x="1848584" y="914358"/>
                </a:lnTo>
                <a:lnTo>
                  <a:pt x="1856231" y="876452"/>
                </a:lnTo>
                <a:lnTo>
                  <a:pt x="1856231" y="97409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9346438" y="5698744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>
                <a:solidFill>
                  <a:srgbClr val="FFFFFF"/>
                </a:solidFill>
                <a:latin typeface="PMingLiU"/>
                <a:cs typeface="PMingLiU"/>
              </a:rPr>
              <a:t>最优方案追踪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47" name="object 2">
            <a:extLst>
              <a:ext uri="{FF2B5EF4-FFF2-40B4-BE49-F238E27FC236}">
                <a16:creationId xmlns:a16="http://schemas.microsoft.com/office/drawing/2014/main" id="{1CC0ECDE-4E1D-6848-A396-0392F982411A}"/>
              </a:ext>
            </a:extLst>
          </p:cNvPr>
          <p:cNvSpPr txBox="1"/>
          <p:nvPr/>
        </p:nvSpPr>
        <p:spPr>
          <a:xfrm>
            <a:off x="761428" y="1162049"/>
            <a:ext cx="35712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分析最优（子）</a:t>
            </a:r>
            <a:r>
              <a:rPr sz="2800" spc="-2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结构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48" name="object 6">
            <a:extLst>
              <a:ext uri="{FF2B5EF4-FFF2-40B4-BE49-F238E27FC236}">
                <a16:creationId xmlns:a16="http://schemas.microsoft.com/office/drawing/2014/main" id="{59F446AC-8635-B046-B8AE-1CD82240CA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04869" y="167146"/>
            <a:ext cx="684919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动态规划：一般步</a:t>
            </a:r>
            <a:r>
              <a:rPr spc="-60" dirty="0" err="1">
                <a:latin typeface="SimSun" panose="02010600030101010101" pitchFamily="2" charset="-122"/>
                <a:ea typeface="SimSun" panose="02010600030101010101" pitchFamily="2" charset="-122"/>
              </a:rPr>
              <a:t>骤</a:t>
            </a:r>
            <a:endParaRPr spc="-6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9116948" y="1018413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9"/>
                </a:lnTo>
                <a:lnTo>
                  <a:pt x="0" y="876426"/>
                </a:lnTo>
                <a:lnTo>
                  <a:pt x="7647" y="914364"/>
                </a:lnTo>
                <a:lnTo>
                  <a:pt x="28511" y="945324"/>
                </a:lnTo>
                <a:lnTo>
                  <a:pt x="59471" y="966188"/>
                </a:lnTo>
                <a:lnTo>
                  <a:pt x="97408" y="973836"/>
                </a:lnTo>
                <a:lnTo>
                  <a:pt x="1758823" y="973836"/>
                </a:lnTo>
                <a:lnTo>
                  <a:pt x="1796760" y="966188"/>
                </a:lnTo>
                <a:lnTo>
                  <a:pt x="1827720" y="945324"/>
                </a:lnTo>
                <a:lnTo>
                  <a:pt x="1848584" y="914364"/>
                </a:lnTo>
                <a:lnTo>
                  <a:pt x="1856231" y="876426"/>
                </a:lnTo>
                <a:lnTo>
                  <a:pt x="1856231" y="97409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346438" y="1314449"/>
            <a:ext cx="13970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>
                <a:solidFill>
                  <a:srgbClr val="FFFFFF"/>
                </a:solidFill>
                <a:latin typeface="PMingLiU"/>
                <a:cs typeface="PMingLiU"/>
              </a:rPr>
              <a:t>问题结构分析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825228" y="2052827"/>
            <a:ext cx="439420" cy="367030"/>
          </a:xfrm>
          <a:custGeom>
            <a:avLst/>
            <a:gdLst/>
            <a:ahLst/>
            <a:cxnLst/>
            <a:rect l="l" t="t" r="r" b="b"/>
            <a:pathLst>
              <a:path w="439420" h="367030">
                <a:moveTo>
                  <a:pt x="351154" y="0"/>
                </a:moveTo>
                <a:lnTo>
                  <a:pt x="87756" y="0"/>
                </a:lnTo>
                <a:lnTo>
                  <a:pt x="87756" y="183261"/>
                </a:lnTo>
                <a:lnTo>
                  <a:pt x="0" y="183261"/>
                </a:lnTo>
                <a:lnTo>
                  <a:pt x="219455" y="366522"/>
                </a:lnTo>
                <a:lnTo>
                  <a:pt x="438912" y="183261"/>
                </a:lnTo>
                <a:lnTo>
                  <a:pt x="351154" y="183261"/>
                </a:lnTo>
                <a:lnTo>
                  <a:pt x="35115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116948" y="2480691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9"/>
                </a:lnTo>
                <a:lnTo>
                  <a:pt x="0" y="876426"/>
                </a:lnTo>
                <a:lnTo>
                  <a:pt x="7647" y="914364"/>
                </a:lnTo>
                <a:lnTo>
                  <a:pt x="28511" y="945324"/>
                </a:lnTo>
                <a:lnTo>
                  <a:pt x="59471" y="966188"/>
                </a:lnTo>
                <a:lnTo>
                  <a:pt x="97408" y="973836"/>
                </a:lnTo>
                <a:lnTo>
                  <a:pt x="1758823" y="973836"/>
                </a:lnTo>
                <a:lnTo>
                  <a:pt x="1796760" y="966188"/>
                </a:lnTo>
                <a:lnTo>
                  <a:pt x="1827720" y="945324"/>
                </a:lnTo>
                <a:lnTo>
                  <a:pt x="1848584" y="914364"/>
                </a:lnTo>
                <a:lnTo>
                  <a:pt x="1856231" y="876426"/>
                </a:lnTo>
                <a:lnTo>
                  <a:pt x="1856231" y="97409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449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346438" y="2776982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>
                <a:solidFill>
                  <a:srgbClr val="FFFFFF"/>
                </a:solidFill>
                <a:latin typeface="PMingLiU"/>
                <a:cs typeface="PMingLiU"/>
              </a:rPr>
              <a:t>递推关系建立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825228" y="3515105"/>
            <a:ext cx="439420" cy="365125"/>
          </a:xfrm>
          <a:custGeom>
            <a:avLst/>
            <a:gdLst/>
            <a:ahLst/>
            <a:cxnLst/>
            <a:rect l="l" t="t" r="r" b="b"/>
            <a:pathLst>
              <a:path w="439420" h="365125">
                <a:moveTo>
                  <a:pt x="351154" y="0"/>
                </a:moveTo>
                <a:lnTo>
                  <a:pt x="87756" y="0"/>
                </a:lnTo>
                <a:lnTo>
                  <a:pt x="87756" y="182499"/>
                </a:lnTo>
                <a:lnTo>
                  <a:pt x="0" y="182499"/>
                </a:lnTo>
                <a:lnTo>
                  <a:pt x="219455" y="364998"/>
                </a:lnTo>
                <a:lnTo>
                  <a:pt x="438912" y="182499"/>
                </a:lnTo>
                <a:lnTo>
                  <a:pt x="351154" y="182499"/>
                </a:lnTo>
                <a:lnTo>
                  <a:pt x="35115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116948" y="3941445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8"/>
                </a:lnTo>
                <a:lnTo>
                  <a:pt x="0" y="876426"/>
                </a:lnTo>
                <a:lnTo>
                  <a:pt x="7647" y="914364"/>
                </a:lnTo>
                <a:lnTo>
                  <a:pt x="28511" y="945324"/>
                </a:lnTo>
                <a:lnTo>
                  <a:pt x="59471" y="966188"/>
                </a:lnTo>
                <a:lnTo>
                  <a:pt x="97408" y="973835"/>
                </a:lnTo>
                <a:lnTo>
                  <a:pt x="1758823" y="973835"/>
                </a:lnTo>
                <a:lnTo>
                  <a:pt x="1796760" y="966188"/>
                </a:lnTo>
                <a:lnTo>
                  <a:pt x="1827720" y="945324"/>
                </a:lnTo>
                <a:lnTo>
                  <a:pt x="1848584" y="914364"/>
                </a:lnTo>
                <a:lnTo>
                  <a:pt x="1856231" y="876426"/>
                </a:lnTo>
                <a:lnTo>
                  <a:pt x="1856231" y="97408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346438" y="4237735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>
                <a:solidFill>
                  <a:srgbClr val="FFFFFF"/>
                </a:solidFill>
                <a:latin typeface="PMingLiU"/>
                <a:cs typeface="PMingLiU"/>
              </a:rPr>
              <a:t>自底向上计算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825228" y="4975859"/>
            <a:ext cx="439420" cy="365125"/>
          </a:xfrm>
          <a:custGeom>
            <a:avLst/>
            <a:gdLst/>
            <a:ahLst/>
            <a:cxnLst/>
            <a:rect l="l" t="t" r="r" b="b"/>
            <a:pathLst>
              <a:path w="439420" h="365125">
                <a:moveTo>
                  <a:pt x="351154" y="0"/>
                </a:moveTo>
                <a:lnTo>
                  <a:pt x="87756" y="0"/>
                </a:lnTo>
                <a:lnTo>
                  <a:pt x="87756" y="182498"/>
                </a:lnTo>
                <a:lnTo>
                  <a:pt x="0" y="182498"/>
                </a:lnTo>
                <a:lnTo>
                  <a:pt x="219455" y="364997"/>
                </a:lnTo>
                <a:lnTo>
                  <a:pt x="438912" y="182498"/>
                </a:lnTo>
                <a:lnTo>
                  <a:pt x="351154" y="182498"/>
                </a:lnTo>
                <a:lnTo>
                  <a:pt x="35115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116948" y="5402198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9"/>
                </a:lnTo>
                <a:lnTo>
                  <a:pt x="0" y="876452"/>
                </a:lnTo>
                <a:lnTo>
                  <a:pt x="7647" y="914358"/>
                </a:lnTo>
                <a:lnTo>
                  <a:pt x="28511" y="945313"/>
                </a:lnTo>
                <a:lnTo>
                  <a:pt x="59471" y="966183"/>
                </a:lnTo>
                <a:lnTo>
                  <a:pt x="97408" y="973835"/>
                </a:lnTo>
                <a:lnTo>
                  <a:pt x="1758823" y="973835"/>
                </a:lnTo>
                <a:lnTo>
                  <a:pt x="1796760" y="966183"/>
                </a:lnTo>
                <a:lnTo>
                  <a:pt x="1827720" y="945313"/>
                </a:lnTo>
                <a:lnTo>
                  <a:pt x="1848584" y="914358"/>
                </a:lnTo>
                <a:lnTo>
                  <a:pt x="1856231" y="876452"/>
                </a:lnTo>
                <a:lnTo>
                  <a:pt x="1856231" y="97409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9346438" y="5698744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>
                <a:solidFill>
                  <a:srgbClr val="FFFFFF"/>
                </a:solidFill>
                <a:latin typeface="PMingLiU"/>
                <a:cs typeface="PMingLiU"/>
              </a:rPr>
              <a:t>最优方案追踪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45691" y="1852422"/>
            <a:ext cx="7287259" cy="1868075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160655" rIns="0" bIns="0" rtlCol="0">
            <a:spAutoFit/>
          </a:bodyPr>
          <a:lstStyle/>
          <a:p>
            <a:pPr marL="548005">
              <a:lnSpc>
                <a:spcPct val="100000"/>
              </a:lnSpc>
              <a:spcBef>
                <a:spcPts val="1265"/>
              </a:spcBef>
            </a:pPr>
            <a:r>
              <a:rPr sz="2600" spc="-35" dirty="0" err="1">
                <a:solidFill>
                  <a:srgbClr val="FFFFFF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最优子结构性质</a:t>
            </a:r>
            <a:r>
              <a:rPr sz="2600" dirty="0" err="1">
                <a:solidFill>
                  <a:srgbClr val="FFFFFF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（</a:t>
            </a:r>
            <a:r>
              <a:rPr sz="2600" b="1" dirty="0" err="1">
                <a:solidFill>
                  <a:srgbClr val="FFFFFF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/>
              </a:rPr>
              <a:t>Optimal</a:t>
            </a:r>
            <a:r>
              <a:rPr sz="2600" b="1" spc="-35" dirty="0">
                <a:solidFill>
                  <a:srgbClr val="FFFFFF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/>
              </a:rPr>
              <a:t> </a:t>
            </a:r>
            <a:r>
              <a:rPr sz="2600" b="1" spc="-10" dirty="0">
                <a:solidFill>
                  <a:srgbClr val="FFFFFF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/>
              </a:rPr>
              <a:t>Substructure</a:t>
            </a:r>
            <a:r>
              <a:rPr sz="2600" spc="-10" dirty="0">
                <a:solidFill>
                  <a:srgbClr val="FFFFFF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）</a:t>
            </a:r>
            <a:endParaRPr sz="26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1005205" marR="481965">
              <a:lnSpc>
                <a:spcPct val="191700"/>
              </a:lnSpc>
              <a:spcBef>
                <a:spcPts val="50"/>
              </a:spcBef>
            </a:pPr>
            <a:r>
              <a:rPr sz="2400" dirty="0" err="1">
                <a:solidFill>
                  <a:srgbClr val="FFFFFF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问题的最优解由相关子问题最优解</a:t>
            </a:r>
            <a:r>
              <a:rPr sz="2400" spc="-15" dirty="0" err="1">
                <a:solidFill>
                  <a:srgbClr val="FFC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组合而成</a:t>
            </a:r>
            <a:r>
              <a:rPr sz="2400" spc="-10" dirty="0" err="1">
                <a:solidFill>
                  <a:srgbClr val="FFFFFF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子问题可以</a:t>
            </a:r>
            <a:r>
              <a:rPr sz="2400" spc="-20" dirty="0" err="1">
                <a:solidFill>
                  <a:srgbClr val="FFC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独立求解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18" name="object 2">
            <a:extLst>
              <a:ext uri="{FF2B5EF4-FFF2-40B4-BE49-F238E27FC236}">
                <a16:creationId xmlns:a16="http://schemas.microsoft.com/office/drawing/2014/main" id="{74BAA550-A4CD-4F48-91E8-87E3008CD253}"/>
              </a:ext>
            </a:extLst>
          </p:cNvPr>
          <p:cNvSpPr txBox="1"/>
          <p:nvPr/>
        </p:nvSpPr>
        <p:spPr>
          <a:xfrm>
            <a:off x="761428" y="1162049"/>
            <a:ext cx="35712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分析最优（子）</a:t>
            </a:r>
            <a:r>
              <a:rPr sz="2800" spc="-2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结构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19" name="object 6">
            <a:extLst>
              <a:ext uri="{FF2B5EF4-FFF2-40B4-BE49-F238E27FC236}">
                <a16:creationId xmlns:a16="http://schemas.microsoft.com/office/drawing/2014/main" id="{D711FC83-0C5D-654E-9069-4452A0C44A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04869" y="167146"/>
            <a:ext cx="684919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动态规划：一般步</a:t>
            </a:r>
            <a:r>
              <a:rPr spc="-60" dirty="0" err="1">
                <a:latin typeface="SimSun" panose="02010600030101010101" pitchFamily="2" charset="-122"/>
                <a:ea typeface="SimSun" panose="02010600030101010101" pitchFamily="2" charset="-122"/>
              </a:rPr>
              <a:t>骤</a:t>
            </a:r>
            <a:endParaRPr spc="-6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195472" y="5053783"/>
            <a:ext cx="66675" cy="283210"/>
          </a:xfrm>
          <a:custGeom>
            <a:avLst/>
            <a:gdLst/>
            <a:ahLst/>
            <a:cxnLst/>
            <a:rect l="l" t="t" r="r" b="b"/>
            <a:pathLst>
              <a:path w="66675" h="28321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41783" y="11430"/>
                </a:lnTo>
                <a:lnTo>
                  <a:pt x="41783" y="271780"/>
                </a:lnTo>
                <a:lnTo>
                  <a:pt x="0" y="271780"/>
                </a:lnTo>
                <a:lnTo>
                  <a:pt x="0" y="283210"/>
                </a:lnTo>
                <a:lnTo>
                  <a:pt x="66421" y="283210"/>
                </a:lnTo>
                <a:lnTo>
                  <a:pt x="66421" y="27178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736875" y="5053783"/>
            <a:ext cx="66675" cy="283210"/>
          </a:xfrm>
          <a:custGeom>
            <a:avLst/>
            <a:gdLst/>
            <a:ahLst/>
            <a:cxnLst/>
            <a:rect l="l" t="t" r="r" b="b"/>
            <a:pathLst>
              <a:path w="66675" h="28321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1780"/>
                </a:lnTo>
                <a:lnTo>
                  <a:pt x="0" y="283210"/>
                </a:lnTo>
                <a:lnTo>
                  <a:pt x="66421" y="283210"/>
                </a:lnTo>
                <a:lnTo>
                  <a:pt x="66421" y="271780"/>
                </a:lnTo>
                <a:lnTo>
                  <a:pt x="24765" y="271780"/>
                </a:lnTo>
                <a:lnTo>
                  <a:pt x="24765" y="1143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661304" y="5053783"/>
            <a:ext cx="66675" cy="283210"/>
          </a:xfrm>
          <a:custGeom>
            <a:avLst/>
            <a:gdLst/>
            <a:ahLst/>
            <a:cxnLst/>
            <a:rect l="l" t="t" r="r" b="b"/>
            <a:pathLst>
              <a:path w="66675" h="28321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41783" y="11430"/>
                </a:lnTo>
                <a:lnTo>
                  <a:pt x="41783" y="271780"/>
                </a:lnTo>
                <a:lnTo>
                  <a:pt x="0" y="271780"/>
                </a:lnTo>
                <a:lnTo>
                  <a:pt x="0" y="283210"/>
                </a:lnTo>
                <a:lnTo>
                  <a:pt x="66421" y="283210"/>
                </a:lnTo>
                <a:lnTo>
                  <a:pt x="66421" y="27178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658639" y="5053783"/>
            <a:ext cx="66675" cy="283210"/>
          </a:xfrm>
          <a:custGeom>
            <a:avLst/>
            <a:gdLst/>
            <a:ahLst/>
            <a:cxnLst/>
            <a:rect l="l" t="t" r="r" b="b"/>
            <a:pathLst>
              <a:path w="66675" h="28321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1780"/>
                </a:lnTo>
                <a:lnTo>
                  <a:pt x="0" y="283210"/>
                </a:lnTo>
                <a:lnTo>
                  <a:pt x="66421" y="283210"/>
                </a:lnTo>
                <a:lnTo>
                  <a:pt x="66421" y="271780"/>
                </a:lnTo>
                <a:lnTo>
                  <a:pt x="24765" y="271780"/>
                </a:lnTo>
                <a:lnTo>
                  <a:pt x="24765" y="1143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864246" y="5053783"/>
            <a:ext cx="66675" cy="283210"/>
          </a:xfrm>
          <a:custGeom>
            <a:avLst/>
            <a:gdLst/>
            <a:ahLst/>
            <a:cxnLst/>
            <a:rect l="l" t="t" r="r" b="b"/>
            <a:pathLst>
              <a:path w="66675" h="28321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41783" y="11430"/>
                </a:lnTo>
                <a:lnTo>
                  <a:pt x="41783" y="271780"/>
                </a:lnTo>
                <a:lnTo>
                  <a:pt x="0" y="271780"/>
                </a:lnTo>
                <a:lnTo>
                  <a:pt x="0" y="283210"/>
                </a:lnTo>
                <a:lnTo>
                  <a:pt x="66421" y="283210"/>
                </a:lnTo>
                <a:lnTo>
                  <a:pt x="66421" y="27178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219977" y="5053783"/>
            <a:ext cx="66675" cy="283210"/>
          </a:xfrm>
          <a:custGeom>
            <a:avLst/>
            <a:gdLst/>
            <a:ahLst/>
            <a:cxnLst/>
            <a:rect l="l" t="t" r="r" b="b"/>
            <a:pathLst>
              <a:path w="66675" h="28321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1780"/>
                </a:lnTo>
                <a:lnTo>
                  <a:pt x="0" y="283210"/>
                </a:lnTo>
                <a:lnTo>
                  <a:pt x="66421" y="283210"/>
                </a:lnTo>
                <a:lnTo>
                  <a:pt x="66421" y="271780"/>
                </a:lnTo>
                <a:lnTo>
                  <a:pt x="24765" y="271780"/>
                </a:lnTo>
                <a:lnTo>
                  <a:pt x="24765" y="1143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61428" y="4347861"/>
            <a:ext cx="7029450" cy="1033144"/>
          </a:xfrm>
          <a:prstGeom prst="rect">
            <a:avLst/>
          </a:prstGeom>
        </p:spPr>
        <p:txBody>
          <a:bodyPr vert="horz" wrap="square" lIns="0" tIns="128905" rIns="0" bIns="0" rtlCol="0">
            <a:spAutoFit/>
          </a:bodyPr>
          <a:lstStyle/>
          <a:p>
            <a:pPr marL="393700" indent="-342900">
              <a:lnSpc>
                <a:spcPct val="100000"/>
              </a:lnSpc>
              <a:spcBef>
                <a:spcPts val="101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93065" algn="l"/>
                <a:tab pos="393700" algn="l"/>
              </a:tabLst>
            </a:pPr>
            <a:r>
              <a:rPr sz="2800" spc="-2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构造递推公式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42315" lvl="1" indent="-347980">
              <a:lnSpc>
                <a:spcPct val="100000"/>
              </a:lnSpc>
              <a:spcBef>
                <a:spcPts val="78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42315" algn="l"/>
                <a:tab pos="742950" algn="l"/>
                <a:tab pos="1629410" algn="l"/>
                <a:tab pos="4225925" algn="l"/>
                <a:tab pos="6280785" algn="l"/>
              </a:tabLst>
            </a:pPr>
            <a:r>
              <a:rPr sz="2400" dirty="0">
                <a:latin typeface="Cambria Math"/>
                <a:cs typeface="Cambria Math"/>
              </a:rPr>
              <a:t>𝑷</a:t>
            </a:r>
            <a:r>
              <a:rPr sz="2400" spc="305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𝒊,</a:t>
            </a:r>
            <a:r>
              <a:rPr sz="2400" spc="-13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𝒄</a:t>
            </a:r>
            <a:r>
              <a:rPr sz="2400" dirty="0">
                <a:latin typeface="Cambria Math"/>
                <a:cs typeface="Cambria Math"/>
              </a:rPr>
              <a:t>	=</a:t>
            </a:r>
            <a:r>
              <a:rPr sz="2400" spc="12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𝐦𝐚𝐱{𝑷</a:t>
            </a:r>
            <a:r>
              <a:rPr sz="2400" spc="30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𝒊 − 𝟏,</a:t>
            </a:r>
            <a:r>
              <a:rPr sz="2400" spc="-14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𝒄</a:t>
            </a:r>
            <a:r>
              <a:rPr sz="2400" spc="315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r>
              <a:rPr sz="2400" dirty="0">
                <a:latin typeface="Cambria Math"/>
                <a:cs typeface="Cambria Math"/>
              </a:rPr>
              <a:t>	𝑷</a:t>
            </a:r>
            <a:r>
              <a:rPr sz="2400" spc="30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𝒊 −</a:t>
            </a:r>
            <a:r>
              <a:rPr sz="2400" spc="-1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𝟏,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𝒄</a:t>
            </a:r>
            <a:r>
              <a:rPr sz="2400" spc="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−</a:t>
            </a:r>
            <a:r>
              <a:rPr sz="2400" spc="5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𝒗</a:t>
            </a:r>
            <a:r>
              <a:rPr sz="2625" spc="-37" baseline="-15873" dirty="0">
                <a:latin typeface="Cambria Math"/>
                <a:cs typeface="Cambria Math"/>
              </a:rPr>
              <a:t>𝒊</a:t>
            </a:r>
            <a:r>
              <a:rPr sz="2625" baseline="-15873" dirty="0">
                <a:latin typeface="Cambria Math"/>
                <a:cs typeface="Cambria Math"/>
              </a:rPr>
              <a:t>	</a:t>
            </a:r>
            <a:r>
              <a:rPr sz="2400" dirty="0">
                <a:latin typeface="Cambria Math"/>
                <a:cs typeface="Cambria Math"/>
              </a:rPr>
              <a:t>+ </a:t>
            </a:r>
            <a:r>
              <a:rPr sz="2400" spc="-25" dirty="0">
                <a:latin typeface="Cambria Math"/>
                <a:cs typeface="Cambria Math"/>
              </a:rPr>
              <a:t>𝒑</a:t>
            </a:r>
            <a:r>
              <a:rPr sz="2625" spc="-37" baseline="-15873" dirty="0">
                <a:latin typeface="Cambria Math"/>
                <a:cs typeface="Cambria Math"/>
              </a:rPr>
              <a:t>𝒊</a:t>
            </a:r>
            <a:r>
              <a:rPr sz="2400" spc="-25" dirty="0">
                <a:latin typeface="Cambria Math"/>
                <a:cs typeface="Cambria Math"/>
              </a:rPr>
              <a:t>}</a:t>
            </a:r>
            <a:endParaRPr sz="2400" dirty="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116948" y="1018413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9"/>
                </a:lnTo>
                <a:lnTo>
                  <a:pt x="0" y="876426"/>
                </a:lnTo>
                <a:lnTo>
                  <a:pt x="7647" y="914364"/>
                </a:lnTo>
                <a:lnTo>
                  <a:pt x="28511" y="945324"/>
                </a:lnTo>
                <a:lnTo>
                  <a:pt x="59471" y="966188"/>
                </a:lnTo>
                <a:lnTo>
                  <a:pt x="97408" y="973836"/>
                </a:lnTo>
                <a:lnTo>
                  <a:pt x="1758823" y="973836"/>
                </a:lnTo>
                <a:lnTo>
                  <a:pt x="1796760" y="966188"/>
                </a:lnTo>
                <a:lnTo>
                  <a:pt x="1827720" y="945324"/>
                </a:lnTo>
                <a:lnTo>
                  <a:pt x="1848584" y="914364"/>
                </a:lnTo>
                <a:lnTo>
                  <a:pt x="1856231" y="876426"/>
                </a:lnTo>
                <a:lnTo>
                  <a:pt x="1856231" y="97409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346438" y="1314449"/>
            <a:ext cx="13970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>
                <a:solidFill>
                  <a:srgbClr val="FFFFFF"/>
                </a:solidFill>
                <a:latin typeface="PMingLiU"/>
                <a:cs typeface="PMingLiU"/>
              </a:rPr>
              <a:t>问题结构分析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825228" y="2052827"/>
            <a:ext cx="439420" cy="367030"/>
          </a:xfrm>
          <a:custGeom>
            <a:avLst/>
            <a:gdLst/>
            <a:ahLst/>
            <a:cxnLst/>
            <a:rect l="l" t="t" r="r" b="b"/>
            <a:pathLst>
              <a:path w="439420" h="367030">
                <a:moveTo>
                  <a:pt x="351154" y="0"/>
                </a:moveTo>
                <a:lnTo>
                  <a:pt x="87756" y="0"/>
                </a:lnTo>
                <a:lnTo>
                  <a:pt x="87756" y="183261"/>
                </a:lnTo>
                <a:lnTo>
                  <a:pt x="0" y="183261"/>
                </a:lnTo>
                <a:lnTo>
                  <a:pt x="219455" y="366522"/>
                </a:lnTo>
                <a:lnTo>
                  <a:pt x="438912" y="183261"/>
                </a:lnTo>
                <a:lnTo>
                  <a:pt x="351154" y="183261"/>
                </a:lnTo>
                <a:lnTo>
                  <a:pt x="35115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116948" y="2480691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9"/>
                </a:lnTo>
                <a:lnTo>
                  <a:pt x="0" y="876426"/>
                </a:lnTo>
                <a:lnTo>
                  <a:pt x="7647" y="914364"/>
                </a:lnTo>
                <a:lnTo>
                  <a:pt x="28511" y="945324"/>
                </a:lnTo>
                <a:lnTo>
                  <a:pt x="59471" y="966188"/>
                </a:lnTo>
                <a:lnTo>
                  <a:pt x="97408" y="973836"/>
                </a:lnTo>
                <a:lnTo>
                  <a:pt x="1758823" y="973836"/>
                </a:lnTo>
                <a:lnTo>
                  <a:pt x="1796760" y="966188"/>
                </a:lnTo>
                <a:lnTo>
                  <a:pt x="1827720" y="945324"/>
                </a:lnTo>
                <a:lnTo>
                  <a:pt x="1848584" y="914364"/>
                </a:lnTo>
                <a:lnTo>
                  <a:pt x="1856231" y="876426"/>
                </a:lnTo>
                <a:lnTo>
                  <a:pt x="1856231" y="97409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449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9346438" y="2776982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>
                <a:solidFill>
                  <a:srgbClr val="FFFFFF"/>
                </a:solidFill>
                <a:latin typeface="PMingLiU"/>
                <a:cs typeface="PMingLiU"/>
              </a:rPr>
              <a:t>递推关系建立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825228" y="3515105"/>
            <a:ext cx="439420" cy="365125"/>
          </a:xfrm>
          <a:custGeom>
            <a:avLst/>
            <a:gdLst/>
            <a:ahLst/>
            <a:cxnLst/>
            <a:rect l="l" t="t" r="r" b="b"/>
            <a:pathLst>
              <a:path w="439420" h="365125">
                <a:moveTo>
                  <a:pt x="351154" y="0"/>
                </a:moveTo>
                <a:lnTo>
                  <a:pt x="87756" y="0"/>
                </a:lnTo>
                <a:lnTo>
                  <a:pt x="87756" y="182499"/>
                </a:lnTo>
                <a:lnTo>
                  <a:pt x="0" y="182499"/>
                </a:lnTo>
                <a:lnTo>
                  <a:pt x="219455" y="364998"/>
                </a:lnTo>
                <a:lnTo>
                  <a:pt x="438912" y="182499"/>
                </a:lnTo>
                <a:lnTo>
                  <a:pt x="351154" y="182499"/>
                </a:lnTo>
                <a:lnTo>
                  <a:pt x="35115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116948" y="3941445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8"/>
                </a:lnTo>
                <a:lnTo>
                  <a:pt x="0" y="876426"/>
                </a:lnTo>
                <a:lnTo>
                  <a:pt x="7647" y="914364"/>
                </a:lnTo>
                <a:lnTo>
                  <a:pt x="28511" y="945324"/>
                </a:lnTo>
                <a:lnTo>
                  <a:pt x="59471" y="966188"/>
                </a:lnTo>
                <a:lnTo>
                  <a:pt x="97408" y="973835"/>
                </a:lnTo>
                <a:lnTo>
                  <a:pt x="1758823" y="973835"/>
                </a:lnTo>
                <a:lnTo>
                  <a:pt x="1796760" y="966188"/>
                </a:lnTo>
                <a:lnTo>
                  <a:pt x="1827720" y="945324"/>
                </a:lnTo>
                <a:lnTo>
                  <a:pt x="1848584" y="914364"/>
                </a:lnTo>
                <a:lnTo>
                  <a:pt x="1856231" y="876426"/>
                </a:lnTo>
                <a:lnTo>
                  <a:pt x="1856231" y="97408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9346438" y="4237735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>
                <a:solidFill>
                  <a:srgbClr val="FFFFFF"/>
                </a:solidFill>
                <a:latin typeface="PMingLiU"/>
                <a:cs typeface="PMingLiU"/>
              </a:rPr>
              <a:t>自底向上计算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825228" y="4975859"/>
            <a:ext cx="439420" cy="365125"/>
          </a:xfrm>
          <a:custGeom>
            <a:avLst/>
            <a:gdLst/>
            <a:ahLst/>
            <a:cxnLst/>
            <a:rect l="l" t="t" r="r" b="b"/>
            <a:pathLst>
              <a:path w="439420" h="365125">
                <a:moveTo>
                  <a:pt x="351154" y="0"/>
                </a:moveTo>
                <a:lnTo>
                  <a:pt x="87756" y="0"/>
                </a:lnTo>
                <a:lnTo>
                  <a:pt x="87756" y="182498"/>
                </a:lnTo>
                <a:lnTo>
                  <a:pt x="0" y="182498"/>
                </a:lnTo>
                <a:lnTo>
                  <a:pt x="219455" y="364997"/>
                </a:lnTo>
                <a:lnTo>
                  <a:pt x="438912" y="182498"/>
                </a:lnTo>
                <a:lnTo>
                  <a:pt x="351154" y="182498"/>
                </a:lnTo>
                <a:lnTo>
                  <a:pt x="35115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9116948" y="5402198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9"/>
                </a:lnTo>
                <a:lnTo>
                  <a:pt x="0" y="876452"/>
                </a:lnTo>
                <a:lnTo>
                  <a:pt x="7647" y="914358"/>
                </a:lnTo>
                <a:lnTo>
                  <a:pt x="28511" y="945313"/>
                </a:lnTo>
                <a:lnTo>
                  <a:pt x="59471" y="966183"/>
                </a:lnTo>
                <a:lnTo>
                  <a:pt x="97408" y="973835"/>
                </a:lnTo>
                <a:lnTo>
                  <a:pt x="1758823" y="973835"/>
                </a:lnTo>
                <a:lnTo>
                  <a:pt x="1796760" y="966183"/>
                </a:lnTo>
                <a:lnTo>
                  <a:pt x="1827720" y="945313"/>
                </a:lnTo>
                <a:lnTo>
                  <a:pt x="1848584" y="914358"/>
                </a:lnTo>
                <a:lnTo>
                  <a:pt x="1856231" y="876452"/>
                </a:lnTo>
                <a:lnTo>
                  <a:pt x="1856231" y="97409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9346438" y="5698744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>
                <a:solidFill>
                  <a:srgbClr val="FFFFFF"/>
                </a:solidFill>
                <a:latin typeface="PMingLiU"/>
                <a:cs typeface="PMingLiU"/>
              </a:rPr>
              <a:t>最优方案追踪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45691" y="1852422"/>
            <a:ext cx="7287259" cy="1868075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160655" rIns="0" bIns="0" rtlCol="0">
            <a:spAutoFit/>
          </a:bodyPr>
          <a:lstStyle/>
          <a:p>
            <a:pPr marL="548005">
              <a:lnSpc>
                <a:spcPct val="100000"/>
              </a:lnSpc>
              <a:spcBef>
                <a:spcPts val="1265"/>
              </a:spcBef>
            </a:pPr>
            <a:r>
              <a:rPr sz="2600" spc="-35" dirty="0" err="1">
                <a:solidFill>
                  <a:srgbClr val="FFFFFF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最优子结构性质</a:t>
            </a:r>
            <a:r>
              <a:rPr sz="2600" dirty="0" err="1">
                <a:solidFill>
                  <a:srgbClr val="FFFFFF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（</a:t>
            </a:r>
            <a:r>
              <a:rPr sz="2600" b="1" dirty="0" err="1">
                <a:solidFill>
                  <a:srgbClr val="FFFFFF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/>
              </a:rPr>
              <a:t>Optimal</a:t>
            </a:r>
            <a:r>
              <a:rPr sz="2600" b="1" spc="-35" dirty="0">
                <a:solidFill>
                  <a:srgbClr val="FFFFFF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/>
              </a:rPr>
              <a:t> </a:t>
            </a:r>
            <a:r>
              <a:rPr sz="2600" b="1" spc="-10" dirty="0">
                <a:solidFill>
                  <a:srgbClr val="FFFFFF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/>
              </a:rPr>
              <a:t>Substructure</a:t>
            </a:r>
            <a:r>
              <a:rPr sz="2600" spc="-10" dirty="0">
                <a:solidFill>
                  <a:srgbClr val="FFFFFF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）</a:t>
            </a:r>
            <a:endParaRPr sz="26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1005205" marR="481965">
              <a:lnSpc>
                <a:spcPct val="191700"/>
              </a:lnSpc>
              <a:spcBef>
                <a:spcPts val="50"/>
              </a:spcBef>
            </a:pPr>
            <a:r>
              <a:rPr sz="2400" dirty="0" err="1">
                <a:solidFill>
                  <a:srgbClr val="FFFFFF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问题的最优解由相关子问题最优解</a:t>
            </a:r>
            <a:r>
              <a:rPr sz="2400" spc="-15" dirty="0" err="1">
                <a:solidFill>
                  <a:srgbClr val="FFC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组合而成</a:t>
            </a:r>
            <a:r>
              <a:rPr sz="2400" spc="-10" dirty="0" err="1">
                <a:solidFill>
                  <a:srgbClr val="FFFFFF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子问题可以</a:t>
            </a:r>
            <a:r>
              <a:rPr sz="2400" spc="-20" dirty="0" err="1">
                <a:solidFill>
                  <a:srgbClr val="FFC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独立求解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25" name="object 2">
            <a:extLst>
              <a:ext uri="{FF2B5EF4-FFF2-40B4-BE49-F238E27FC236}">
                <a16:creationId xmlns:a16="http://schemas.microsoft.com/office/drawing/2014/main" id="{DF6A8189-B100-264E-B47B-B8DDAAA4255C}"/>
              </a:ext>
            </a:extLst>
          </p:cNvPr>
          <p:cNvSpPr txBox="1"/>
          <p:nvPr/>
        </p:nvSpPr>
        <p:spPr>
          <a:xfrm>
            <a:off x="761428" y="1162049"/>
            <a:ext cx="35712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分析最优（子）</a:t>
            </a:r>
            <a:r>
              <a:rPr sz="2800" spc="-2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结构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26" name="object 6">
            <a:extLst>
              <a:ext uri="{FF2B5EF4-FFF2-40B4-BE49-F238E27FC236}">
                <a16:creationId xmlns:a16="http://schemas.microsoft.com/office/drawing/2014/main" id="{243193BC-C553-DE4A-A182-1A53EE7A66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04869" y="167146"/>
            <a:ext cx="684919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动态规划：一般步</a:t>
            </a:r>
            <a:r>
              <a:rPr spc="-60" dirty="0" err="1">
                <a:latin typeface="SimSun" panose="02010600030101010101" pitchFamily="2" charset="-122"/>
                <a:ea typeface="SimSun" panose="02010600030101010101" pitchFamily="2" charset="-122"/>
              </a:rPr>
              <a:t>骤</a:t>
            </a:r>
            <a:endParaRPr spc="-6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46854" y="2118697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38227" y="10160"/>
                </a:lnTo>
                <a:lnTo>
                  <a:pt x="38227" y="250190"/>
                </a:lnTo>
                <a:lnTo>
                  <a:pt x="0" y="25019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5019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500449" y="2118697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0" y="25019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50190"/>
                </a:lnTo>
                <a:lnTo>
                  <a:pt x="22733" y="250190"/>
                </a:lnTo>
                <a:lnTo>
                  <a:pt x="22733" y="1016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38580" y="1005071"/>
            <a:ext cx="3215640" cy="139319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19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确定计算顺序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1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spc="-2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初始化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5485">
              <a:lnSpc>
                <a:spcPct val="100000"/>
              </a:lnSpc>
              <a:spcBef>
                <a:spcPts val="550"/>
              </a:spcBef>
              <a:tabLst>
                <a:tab pos="1000125" algn="l"/>
              </a:tabLst>
            </a:pPr>
            <a:r>
              <a:rPr sz="1550" spc="-50" dirty="0">
                <a:solidFill>
                  <a:srgbClr val="EB91D7"/>
                </a:solidFill>
                <a:latin typeface="Times New Roman"/>
                <a:cs typeface="Times New Roman"/>
              </a:rPr>
              <a:t>o</a:t>
            </a:r>
            <a:r>
              <a:rPr sz="1550" dirty="0">
                <a:solidFill>
                  <a:srgbClr val="EB91D7"/>
                </a:solidFill>
                <a:latin typeface="Times New Roman"/>
                <a:cs typeface="Times New Roman"/>
              </a:rPr>
              <a:t>	</a:t>
            </a:r>
            <a:r>
              <a:rPr sz="2200" spc="-5" dirty="0">
                <a:latin typeface="PMingLiU"/>
                <a:cs typeface="PMingLiU"/>
              </a:rPr>
              <a:t>容量为</a:t>
            </a:r>
            <a:r>
              <a:rPr sz="2200" b="1" dirty="0">
                <a:latin typeface="Times New Roman"/>
                <a:cs typeface="Times New Roman"/>
              </a:rPr>
              <a:t>0</a:t>
            </a:r>
            <a:r>
              <a:rPr sz="2200" dirty="0">
                <a:latin typeface="PMingLiU"/>
                <a:cs typeface="PMingLiU"/>
              </a:rPr>
              <a:t>时：</a:t>
            </a:r>
            <a:r>
              <a:rPr sz="2200" dirty="0">
                <a:latin typeface="Cambria Math"/>
                <a:cs typeface="Cambria Math"/>
              </a:rPr>
              <a:t>𝑷</a:t>
            </a:r>
            <a:r>
              <a:rPr sz="2200" spc="275" dirty="0">
                <a:latin typeface="Cambria Math"/>
                <a:cs typeface="Cambria Math"/>
              </a:rPr>
              <a:t> </a:t>
            </a:r>
            <a:r>
              <a:rPr sz="2200" spc="-10" dirty="0">
                <a:latin typeface="Cambria Math"/>
                <a:cs typeface="Cambria Math"/>
              </a:rPr>
              <a:t>𝒊</a:t>
            </a:r>
            <a:r>
              <a:rPr sz="2200" spc="-65" dirty="0">
                <a:latin typeface="Cambria Math"/>
                <a:cs typeface="Cambria Math"/>
              </a:rPr>
              <a:t>, </a:t>
            </a:r>
            <a:r>
              <a:rPr sz="2200" spc="-50" dirty="0">
                <a:latin typeface="Cambria Math"/>
                <a:cs typeface="Cambria Math"/>
              </a:rPr>
              <a:t>𝟎</a:t>
            </a:r>
            <a:endParaRPr sz="2200" dirty="0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439862" y="2118697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58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38227" y="10160"/>
                </a:lnTo>
                <a:lnTo>
                  <a:pt x="38227" y="250190"/>
                </a:lnTo>
                <a:lnTo>
                  <a:pt x="0" y="25019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5019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956119" y="2118697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58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0" y="25019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50190"/>
                </a:lnTo>
                <a:lnTo>
                  <a:pt x="22733" y="250190"/>
                </a:lnTo>
                <a:lnTo>
                  <a:pt x="22733" y="1016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103063" y="2036655"/>
            <a:ext cx="397256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51865" algn="l"/>
                <a:tab pos="3506470" algn="l"/>
              </a:tabLst>
            </a:pPr>
            <a:r>
              <a:rPr sz="2200">
                <a:latin typeface="Cambria Math"/>
                <a:cs typeface="Cambria Math"/>
              </a:rPr>
              <a:t>=</a:t>
            </a:r>
            <a:r>
              <a:rPr sz="2200" spc="110">
                <a:latin typeface="Cambria Math"/>
                <a:cs typeface="Cambria Math"/>
              </a:rPr>
              <a:t> </a:t>
            </a:r>
            <a:r>
              <a:rPr sz="2200" spc="-50">
                <a:latin typeface="Cambria Math"/>
                <a:cs typeface="Cambria Math"/>
              </a:rPr>
              <a:t>𝟎</a:t>
            </a:r>
            <a:r>
              <a:rPr sz="2200">
                <a:latin typeface="Cambria Math"/>
                <a:cs typeface="Cambria Math"/>
              </a:rPr>
              <a:t>	</a:t>
            </a:r>
            <a:r>
              <a:rPr sz="2200">
                <a:latin typeface="PMingLiU"/>
                <a:cs typeface="PMingLiU"/>
              </a:rPr>
              <a:t>没有商品时：</a:t>
            </a:r>
            <a:r>
              <a:rPr sz="2200">
                <a:latin typeface="Cambria Math"/>
                <a:cs typeface="Cambria Math"/>
              </a:rPr>
              <a:t>𝑷</a:t>
            </a:r>
            <a:r>
              <a:rPr sz="2200" spc="275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𝟎,</a:t>
            </a:r>
            <a:r>
              <a:rPr sz="2200" spc="-130">
                <a:latin typeface="Cambria Math"/>
                <a:cs typeface="Cambria Math"/>
              </a:rPr>
              <a:t> </a:t>
            </a:r>
            <a:r>
              <a:rPr sz="2200" spc="-50">
                <a:latin typeface="Cambria Math"/>
                <a:cs typeface="Cambria Math"/>
              </a:rPr>
              <a:t>𝒄</a:t>
            </a:r>
            <a:r>
              <a:rPr sz="2200">
                <a:latin typeface="Cambria Math"/>
                <a:cs typeface="Cambria Math"/>
              </a:rPr>
              <a:t>	=</a:t>
            </a:r>
            <a:r>
              <a:rPr sz="2200" spc="110">
                <a:latin typeface="Cambria Math"/>
                <a:cs typeface="Cambria Math"/>
              </a:rPr>
              <a:t> </a:t>
            </a:r>
            <a:r>
              <a:rPr sz="2200" spc="-50">
                <a:latin typeface="Cambria Math"/>
                <a:cs typeface="Cambria Math"/>
              </a:rPr>
              <a:t>𝟎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3180" y="2374053"/>
            <a:ext cx="7038975" cy="96774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729615" indent="-347980">
              <a:lnSpc>
                <a:spcPct val="100000"/>
              </a:lnSpc>
              <a:spcBef>
                <a:spcPts val="64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29615" algn="l"/>
                <a:tab pos="730250" algn="l"/>
              </a:tabLst>
            </a:pPr>
            <a:r>
              <a:rPr sz="2400" spc="-10" dirty="0">
                <a:latin typeface="Cambria Math"/>
                <a:cs typeface="Cambria Math"/>
              </a:rPr>
              <a:t>𝑷[𝒊</a:t>
            </a:r>
            <a:r>
              <a:rPr sz="2400" spc="-75" dirty="0">
                <a:latin typeface="Cambria Math"/>
                <a:cs typeface="Cambria Math"/>
              </a:rPr>
              <a:t>, </a:t>
            </a:r>
            <a:r>
              <a:rPr sz="2400" spc="-10" dirty="0">
                <a:latin typeface="Cambria Math"/>
                <a:cs typeface="Cambria Math"/>
              </a:rPr>
              <a:t>𝒄]</a:t>
            </a:r>
            <a:r>
              <a:rPr sz="2400" dirty="0" err="1">
                <a:latin typeface="PMingLiU"/>
                <a:cs typeface="PMingLiU"/>
              </a:rPr>
              <a:t>依赖于子问题</a:t>
            </a:r>
            <a:r>
              <a:rPr sz="2400" dirty="0">
                <a:latin typeface="Cambria Math"/>
                <a:cs typeface="Cambria Math"/>
              </a:rPr>
              <a:t>𝑷[𝒊</a:t>
            </a:r>
            <a:r>
              <a:rPr sz="2400" spc="5" dirty="0">
                <a:latin typeface="Cambria Math"/>
                <a:cs typeface="Cambria Math"/>
              </a:rPr>
              <a:t> − </a:t>
            </a:r>
            <a:r>
              <a:rPr sz="2400" spc="-10" dirty="0">
                <a:latin typeface="Cambria Math"/>
                <a:cs typeface="Cambria Math"/>
              </a:rPr>
              <a:t>𝟏</a:t>
            </a:r>
            <a:r>
              <a:rPr sz="2400" spc="-65" dirty="0">
                <a:latin typeface="Cambria Math"/>
                <a:cs typeface="Cambria Math"/>
              </a:rPr>
              <a:t>, </a:t>
            </a:r>
            <a:r>
              <a:rPr sz="2400" dirty="0">
                <a:latin typeface="Cambria Math"/>
                <a:cs typeface="Cambria Math"/>
              </a:rPr>
              <a:t>𝒄</a:t>
            </a:r>
            <a:r>
              <a:rPr sz="2400" spc="10" dirty="0">
                <a:latin typeface="Cambria Math"/>
                <a:cs typeface="Cambria Math"/>
              </a:rPr>
              <a:t> − </a:t>
            </a:r>
            <a:r>
              <a:rPr sz="2400" dirty="0">
                <a:latin typeface="Cambria Math"/>
                <a:cs typeface="Cambria Math"/>
              </a:rPr>
              <a:t>𝒗</a:t>
            </a:r>
            <a:r>
              <a:rPr sz="2625" baseline="-15873" dirty="0">
                <a:latin typeface="Cambria Math"/>
                <a:cs typeface="Cambria Math"/>
              </a:rPr>
              <a:t>𝒊</a:t>
            </a:r>
            <a:r>
              <a:rPr sz="2400" dirty="0">
                <a:latin typeface="Cambria Math"/>
                <a:cs typeface="Cambria Math"/>
              </a:rPr>
              <a:t>]</a:t>
            </a:r>
            <a:r>
              <a:rPr sz="2400" dirty="0" err="1">
                <a:latin typeface="PMingLiU"/>
                <a:cs typeface="PMingLiU"/>
              </a:rPr>
              <a:t>和</a:t>
            </a:r>
            <a:r>
              <a:rPr sz="2400" dirty="0">
                <a:latin typeface="Cambria Math"/>
                <a:cs typeface="Cambria Math"/>
              </a:rPr>
              <a:t>𝑷[𝒊</a:t>
            </a:r>
            <a:r>
              <a:rPr sz="2400" spc="5" dirty="0">
                <a:latin typeface="Cambria Math"/>
                <a:cs typeface="Cambria Math"/>
              </a:rPr>
              <a:t> − </a:t>
            </a:r>
            <a:r>
              <a:rPr sz="2400" dirty="0">
                <a:latin typeface="Cambria Math"/>
                <a:cs typeface="Cambria Math"/>
              </a:rPr>
              <a:t>𝟏,</a:t>
            </a:r>
            <a:r>
              <a:rPr sz="2400" spc="-120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𝒄]</a:t>
            </a:r>
            <a:endParaRPr sz="2400" dirty="0">
              <a:latin typeface="Cambria Math"/>
              <a:cs typeface="Cambria Math"/>
            </a:endParaRPr>
          </a:p>
          <a:p>
            <a:pPr marL="381000" indent="-342900">
              <a:lnSpc>
                <a:spcPct val="100000"/>
              </a:lnSpc>
              <a:spcBef>
                <a:spcPts val="63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80365" algn="l"/>
                <a:tab pos="381000" algn="l"/>
              </a:tabLst>
            </a:pPr>
            <a:r>
              <a:rPr sz="28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依次求解问题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116948" y="1018413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9"/>
                </a:lnTo>
                <a:lnTo>
                  <a:pt x="0" y="876426"/>
                </a:lnTo>
                <a:lnTo>
                  <a:pt x="7647" y="914364"/>
                </a:lnTo>
                <a:lnTo>
                  <a:pt x="28511" y="945324"/>
                </a:lnTo>
                <a:lnTo>
                  <a:pt x="59471" y="966188"/>
                </a:lnTo>
                <a:lnTo>
                  <a:pt x="97408" y="973836"/>
                </a:lnTo>
                <a:lnTo>
                  <a:pt x="1758823" y="973836"/>
                </a:lnTo>
                <a:lnTo>
                  <a:pt x="1796760" y="966188"/>
                </a:lnTo>
                <a:lnTo>
                  <a:pt x="1827720" y="945324"/>
                </a:lnTo>
                <a:lnTo>
                  <a:pt x="1848584" y="914364"/>
                </a:lnTo>
                <a:lnTo>
                  <a:pt x="1856231" y="876426"/>
                </a:lnTo>
                <a:lnTo>
                  <a:pt x="1856231" y="97409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346438" y="1314449"/>
            <a:ext cx="13970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>
                <a:solidFill>
                  <a:srgbClr val="FFFFFF"/>
                </a:solidFill>
                <a:latin typeface="PMingLiU"/>
                <a:cs typeface="PMingLiU"/>
              </a:rPr>
              <a:t>问题结构分析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825228" y="2052827"/>
            <a:ext cx="439420" cy="367030"/>
          </a:xfrm>
          <a:custGeom>
            <a:avLst/>
            <a:gdLst/>
            <a:ahLst/>
            <a:cxnLst/>
            <a:rect l="l" t="t" r="r" b="b"/>
            <a:pathLst>
              <a:path w="439420" h="367030">
                <a:moveTo>
                  <a:pt x="351154" y="0"/>
                </a:moveTo>
                <a:lnTo>
                  <a:pt x="87756" y="0"/>
                </a:lnTo>
                <a:lnTo>
                  <a:pt x="87756" y="183261"/>
                </a:lnTo>
                <a:lnTo>
                  <a:pt x="0" y="183261"/>
                </a:lnTo>
                <a:lnTo>
                  <a:pt x="219455" y="366522"/>
                </a:lnTo>
                <a:lnTo>
                  <a:pt x="438912" y="183261"/>
                </a:lnTo>
                <a:lnTo>
                  <a:pt x="351154" y="183261"/>
                </a:lnTo>
                <a:lnTo>
                  <a:pt x="35115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116948" y="2480691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9"/>
                </a:lnTo>
                <a:lnTo>
                  <a:pt x="0" y="876426"/>
                </a:lnTo>
                <a:lnTo>
                  <a:pt x="7647" y="914364"/>
                </a:lnTo>
                <a:lnTo>
                  <a:pt x="28511" y="945324"/>
                </a:lnTo>
                <a:lnTo>
                  <a:pt x="59471" y="966188"/>
                </a:lnTo>
                <a:lnTo>
                  <a:pt x="97408" y="973836"/>
                </a:lnTo>
                <a:lnTo>
                  <a:pt x="1758823" y="973836"/>
                </a:lnTo>
                <a:lnTo>
                  <a:pt x="1796760" y="966188"/>
                </a:lnTo>
                <a:lnTo>
                  <a:pt x="1827720" y="945324"/>
                </a:lnTo>
                <a:lnTo>
                  <a:pt x="1848584" y="914364"/>
                </a:lnTo>
                <a:lnTo>
                  <a:pt x="1856231" y="876426"/>
                </a:lnTo>
                <a:lnTo>
                  <a:pt x="1856231" y="97409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9346438" y="2776982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>
                <a:solidFill>
                  <a:srgbClr val="FFFFFF"/>
                </a:solidFill>
                <a:latin typeface="PMingLiU"/>
                <a:cs typeface="PMingLiU"/>
              </a:rPr>
              <a:t>递推关系建立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825228" y="3515105"/>
            <a:ext cx="439420" cy="365125"/>
          </a:xfrm>
          <a:custGeom>
            <a:avLst/>
            <a:gdLst/>
            <a:ahLst/>
            <a:cxnLst/>
            <a:rect l="l" t="t" r="r" b="b"/>
            <a:pathLst>
              <a:path w="439420" h="365125">
                <a:moveTo>
                  <a:pt x="351154" y="0"/>
                </a:moveTo>
                <a:lnTo>
                  <a:pt x="87756" y="0"/>
                </a:lnTo>
                <a:lnTo>
                  <a:pt x="87756" y="182499"/>
                </a:lnTo>
                <a:lnTo>
                  <a:pt x="0" y="182499"/>
                </a:lnTo>
                <a:lnTo>
                  <a:pt x="219455" y="364998"/>
                </a:lnTo>
                <a:lnTo>
                  <a:pt x="438912" y="182499"/>
                </a:lnTo>
                <a:lnTo>
                  <a:pt x="351154" y="182499"/>
                </a:lnTo>
                <a:lnTo>
                  <a:pt x="35115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116948" y="3941445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8"/>
                </a:lnTo>
                <a:lnTo>
                  <a:pt x="0" y="876426"/>
                </a:lnTo>
                <a:lnTo>
                  <a:pt x="7647" y="914364"/>
                </a:lnTo>
                <a:lnTo>
                  <a:pt x="28511" y="945324"/>
                </a:lnTo>
                <a:lnTo>
                  <a:pt x="59471" y="966188"/>
                </a:lnTo>
                <a:lnTo>
                  <a:pt x="97408" y="973835"/>
                </a:lnTo>
                <a:lnTo>
                  <a:pt x="1758823" y="973835"/>
                </a:lnTo>
                <a:lnTo>
                  <a:pt x="1796760" y="966188"/>
                </a:lnTo>
                <a:lnTo>
                  <a:pt x="1827720" y="945324"/>
                </a:lnTo>
                <a:lnTo>
                  <a:pt x="1848584" y="914364"/>
                </a:lnTo>
                <a:lnTo>
                  <a:pt x="1856231" y="876426"/>
                </a:lnTo>
                <a:lnTo>
                  <a:pt x="1856231" y="97408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83C8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9346438" y="4237735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>
                <a:solidFill>
                  <a:srgbClr val="FFFFFF"/>
                </a:solidFill>
                <a:latin typeface="PMingLiU"/>
                <a:cs typeface="PMingLiU"/>
              </a:rPr>
              <a:t>自底向上计算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825228" y="4975859"/>
            <a:ext cx="439420" cy="365125"/>
          </a:xfrm>
          <a:custGeom>
            <a:avLst/>
            <a:gdLst/>
            <a:ahLst/>
            <a:cxnLst/>
            <a:rect l="l" t="t" r="r" b="b"/>
            <a:pathLst>
              <a:path w="439420" h="365125">
                <a:moveTo>
                  <a:pt x="351154" y="0"/>
                </a:moveTo>
                <a:lnTo>
                  <a:pt x="87756" y="0"/>
                </a:lnTo>
                <a:lnTo>
                  <a:pt x="87756" y="182498"/>
                </a:lnTo>
                <a:lnTo>
                  <a:pt x="0" y="182498"/>
                </a:lnTo>
                <a:lnTo>
                  <a:pt x="219455" y="364997"/>
                </a:lnTo>
                <a:lnTo>
                  <a:pt x="438912" y="182498"/>
                </a:lnTo>
                <a:lnTo>
                  <a:pt x="351154" y="182498"/>
                </a:lnTo>
                <a:lnTo>
                  <a:pt x="35115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9116948" y="5402198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9"/>
                </a:lnTo>
                <a:lnTo>
                  <a:pt x="0" y="876452"/>
                </a:lnTo>
                <a:lnTo>
                  <a:pt x="7647" y="914358"/>
                </a:lnTo>
                <a:lnTo>
                  <a:pt x="28511" y="945313"/>
                </a:lnTo>
                <a:lnTo>
                  <a:pt x="59471" y="966183"/>
                </a:lnTo>
                <a:lnTo>
                  <a:pt x="97408" y="973835"/>
                </a:lnTo>
                <a:lnTo>
                  <a:pt x="1758823" y="973835"/>
                </a:lnTo>
                <a:lnTo>
                  <a:pt x="1796760" y="966183"/>
                </a:lnTo>
                <a:lnTo>
                  <a:pt x="1827720" y="945313"/>
                </a:lnTo>
                <a:lnTo>
                  <a:pt x="1848584" y="914358"/>
                </a:lnTo>
                <a:lnTo>
                  <a:pt x="1856231" y="876452"/>
                </a:lnTo>
                <a:lnTo>
                  <a:pt x="1856231" y="97409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9346438" y="5698744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>
                <a:solidFill>
                  <a:srgbClr val="FFFFFF"/>
                </a:solidFill>
                <a:latin typeface="PMingLiU"/>
                <a:cs typeface="PMingLiU"/>
              </a:rPr>
              <a:t>最优方案追踪</a:t>
            </a:r>
            <a:endParaRPr sz="1800">
              <a:latin typeface="PMingLiU"/>
              <a:cs typeface="PMingLiU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099628" y="3346788"/>
            <a:ext cx="7458075" cy="3430904"/>
            <a:chOff x="1049388" y="3035300"/>
            <a:chExt cx="7458075" cy="3430904"/>
          </a:xfrm>
        </p:grpSpPr>
        <p:sp>
          <p:nvSpPr>
            <p:cNvPr id="22" name="object 22"/>
            <p:cNvSpPr/>
            <p:nvPr/>
          </p:nvSpPr>
          <p:spPr>
            <a:xfrm>
              <a:off x="1049388" y="3047961"/>
              <a:ext cx="7458075" cy="3405504"/>
            </a:xfrm>
            <a:custGeom>
              <a:avLst/>
              <a:gdLst/>
              <a:ahLst/>
              <a:cxnLst/>
              <a:rect l="l" t="t" r="r" b="b"/>
              <a:pathLst>
                <a:path w="7458075" h="3405504">
                  <a:moveTo>
                    <a:pt x="7457567" y="0"/>
                  </a:moveTo>
                  <a:lnTo>
                    <a:pt x="0" y="0"/>
                  </a:lnTo>
                  <a:lnTo>
                    <a:pt x="0" y="3404997"/>
                  </a:lnTo>
                  <a:lnTo>
                    <a:pt x="7457567" y="3404997"/>
                  </a:lnTo>
                  <a:lnTo>
                    <a:pt x="7457567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566924" y="4020807"/>
              <a:ext cx="5940425" cy="487045"/>
            </a:xfrm>
            <a:custGeom>
              <a:avLst/>
              <a:gdLst/>
              <a:ahLst/>
              <a:cxnLst/>
              <a:rect l="l" t="t" r="r" b="b"/>
              <a:pathLst>
                <a:path w="5940425" h="487045">
                  <a:moveTo>
                    <a:pt x="742492" y="0"/>
                  </a:moveTo>
                  <a:lnTo>
                    <a:pt x="0" y="0"/>
                  </a:lnTo>
                  <a:lnTo>
                    <a:pt x="0" y="486422"/>
                  </a:lnTo>
                  <a:lnTo>
                    <a:pt x="742492" y="486422"/>
                  </a:lnTo>
                  <a:lnTo>
                    <a:pt x="742492" y="0"/>
                  </a:lnTo>
                  <a:close/>
                </a:path>
                <a:path w="5940425" h="487045">
                  <a:moveTo>
                    <a:pt x="2969945" y="0"/>
                  </a:moveTo>
                  <a:lnTo>
                    <a:pt x="2969945" y="0"/>
                  </a:lnTo>
                  <a:lnTo>
                    <a:pt x="742556" y="0"/>
                  </a:lnTo>
                  <a:lnTo>
                    <a:pt x="742556" y="486422"/>
                  </a:lnTo>
                  <a:lnTo>
                    <a:pt x="2969945" y="486422"/>
                  </a:lnTo>
                  <a:lnTo>
                    <a:pt x="2969945" y="0"/>
                  </a:lnTo>
                  <a:close/>
                </a:path>
                <a:path w="5940425" h="487045">
                  <a:moveTo>
                    <a:pt x="4454957" y="0"/>
                  </a:moveTo>
                  <a:lnTo>
                    <a:pt x="3712514" y="0"/>
                  </a:lnTo>
                  <a:lnTo>
                    <a:pt x="2970022" y="0"/>
                  </a:lnTo>
                  <a:lnTo>
                    <a:pt x="2970022" y="486422"/>
                  </a:lnTo>
                  <a:lnTo>
                    <a:pt x="3712464" y="486422"/>
                  </a:lnTo>
                  <a:lnTo>
                    <a:pt x="4454957" y="486422"/>
                  </a:lnTo>
                  <a:lnTo>
                    <a:pt x="4454957" y="0"/>
                  </a:lnTo>
                  <a:close/>
                </a:path>
                <a:path w="5940425" h="487045">
                  <a:moveTo>
                    <a:pt x="5939968" y="0"/>
                  </a:moveTo>
                  <a:lnTo>
                    <a:pt x="5197526" y="0"/>
                  </a:lnTo>
                  <a:lnTo>
                    <a:pt x="4455033" y="0"/>
                  </a:lnTo>
                  <a:lnTo>
                    <a:pt x="4455033" y="486422"/>
                  </a:lnTo>
                  <a:lnTo>
                    <a:pt x="5197475" y="486422"/>
                  </a:lnTo>
                  <a:lnTo>
                    <a:pt x="5939968" y="486422"/>
                  </a:lnTo>
                  <a:lnTo>
                    <a:pt x="5939968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566924" y="4507217"/>
              <a:ext cx="5940425" cy="487045"/>
            </a:xfrm>
            <a:custGeom>
              <a:avLst/>
              <a:gdLst/>
              <a:ahLst/>
              <a:cxnLst/>
              <a:rect l="l" t="t" r="r" b="b"/>
              <a:pathLst>
                <a:path w="5940425" h="487045">
                  <a:moveTo>
                    <a:pt x="742492" y="0"/>
                  </a:moveTo>
                  <a:lnTo>
                    <a:pt x="0" y="0"/>
                  </a:lnTo>
                  <a:lnTo>
                    <a:pt x="0" y="486422"/>
                  </a:lnTo>
                  <a:lnTo>
                    <a:pt x="742492" y="486422"/>
                  </a:lnTo>
                  <a:lnTo>
                    <a:pt x="742492" y="0"/>
                  </a:lnTo>
                  <a:close/>
                </a:path>
                <a:path w="5940425" h="487045">
                  <a:moveTo>
                    <a:pt x="2969945" y="0"/>
                  </a:moveTo>
                  <a:lnTo>
                    <a:pt x="2969945" y="0"/>
                  </a:lnTo>
                  <a:lnTo>
                    <a:pt x="742556" y="0"/>
                  </a:lnTo>
                  <a:lnTo>
                    <a:pt x="742556" y="486422"/>
                  </a:lnTo>
                  <a:lnTo>
                    <a:pt x="2969945" y="486422"/>
                  </a:lnTo>
                  <a:lnTo>
                    <a:pt x="2969945" y="0"/>
                  </a:lnTo>
                  <a:close/>
                </a:path>
                <a:path w="5940425" h="487045">
                  <a:moveTo>
                    <a:pt x="4454957" y="0"/>
                  </a:moveTo>
                  <a:lnTo>
                    <a:pt x="3712514" y="0"/>
                  </a:lnTo>
                  <a:lnTo>
                    <a:pt x="2970022" y="0"/>
                  </a:lnTo>
                  <a:lnTo>
                    <a:pt x="2970022" y="486422"/>
                  </a:lnTo>
                  <a:lnTo>
                    <a:pt x="3712464" y="486422"/>
                  </a:lnTo>
                  <a:lnTo>
                    <a:pt x="4454957" y="486422"/>
                  </a:lnTo>
                  <a:lnTo>
                    <a:pt x="4454957" y="0"/>
                  </a:lnTo>
                  <a:close/>
                </a:path>
                <a:path w="5940425" h="487045">
                  <a:moveTo>
                    <a:pt x="5939968" y="0"/>
                  </a:moveTo>
                  <a:lnTo>
                    <a:pt x="5197526" y="0"/>
                  </a:lnTo>
                  <a:lnTo>
                    <a:pt x="4455033" y="0"/>
                  </a:lnTo>
                  <a:lnTo>
                    <a:pt x="4455033" y="486422"/>
                  </a:lnTo>
                  <a:lnTo>
                    <a:pt x="5197475" y="486422"/>
                  </a:lnTo>
                  <a:lnTo>
                    <a:pt x="5939968" y="486422"/>
                  </a:lnTo>
                  <a:lnTo>
                    <a:pt x="5939968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566924" y="4993754"/>
              <a:ext cx="5940425" cy="487045"/>
            </a:xfrm>
            <a:custGeom>
              <a:avLst/>
              <a:gdLst/>
              <a:ahLst/>
              <a:cxnLst/>
              <a:rect l="l" t="t" r="r" b="b"/>
              <a:pathLst>
                <a:path w="5940425" h="487045">
                  <a:moveTo>
                    <a:pt x="742492" y="0"/>
                  </a:moveTo>
                  <a:lnTo>
                    <a:pt x="0" y="0"/>
                  </a:lnTo>
                  <a:lnTo>
                    <a:pt x="0" y="486422"/>
                  </a:lnTo>
                  <a:lnTo>
                    <a:pt x="742492" y="486422"/>
                  </a:lnTo>
                  <a:lnTo>
                    <a:pt x="742492" y="0"/>
                  </a:lnTo>
                  <a:close/>
                </a:path>
                <a:path w="5940425" h="487045">
                  <a:moveTo>
                    <a:pt x="2969945" y="0"/>
                  </a:moveTo>
                  <a:lnTo>
                    <a:pt x="2969945" y="0"/>
                  </a:lnTo>
                  <a:lnTo>
                    <a:pt x="742556" y="0"/>
                  </a:lnTo>
                  <a:lnTo>
                    <a:pt x="742556" y="486422"/>
                  </a:lnTo>
                  <a:lnTo>
                    <a:pt x="2969945" y="486422"/>
                  </a:lnTo>
                  <a:lnTo>
                    <a:pt x="2969945" y="0"/>
                  </a:lnTo>
                  <a:close/>
                </a:path>
                <a:path w="5940425" h="487045">
                  <a:moveTo>
                    <a:pt x="4454957" y="0"/>
                  </a:moveTo>
                  <a:lnTo>
                    <a:pt x="3712514" y="0"/>
                  </a:lnTo>
                  <a:lnTo>
                    <a:pt x="2970022" y="0"/>
                  </a:lnTo>
                  <a:lnTo>
                    <a:pt x="2970022" y="486422"/>
                  </a:lnTo>
                  <a:lnTo>
                    <a:pt x="3712464" y="486422"/>
                  </a:lnTo>
                  <a:lnTo>
                    <a:pt x="4454957" y="486422"/>
                  </a:lnTo>
                  <a:lnTo>
                    <a:pt x="4454957" y="0"/>
                  </a:lnTo>
                  <a:close/>
                </a:path>
                <a:path w="5940425" h="487045">
                  <a:moveTo>
                    <a:pt x="5939968" y="0"/>
                  </a:moveTo>
                  <a:lnTo>
                    <a:pt x="5197526" y="0"/>
                  </a:lnTo>
                  <a:lnTo>
                    <a:pt x="4455033" y="0"/>
                  </a:lnTo>
                  <a:lnTo>
                    <a:pt x="4455033" y="486422"/>
                  </a:lnTo>
                  <a:lnTo>
                    <a:pt x="5197475" y="486422"/>
                  </a:lnTo>
                  <a:lnTo>
                    <a:pt x="5939968" y="486422"/>
                  </a:lnTo>
                  <a:lnTo>
                    <a:pt x="5939968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566924" y="5480113"/>
              <a:ext cx="5940425" cy="487045"/>
            </a:xfrm>
            <a:custGeom>
              <a:avLst/>
              <a:gdLst/>
              <a:ahLst/>
              <a:cxnLst/>
              <a:rect l="l" t="t" r="r" b="b"/>
              <a:pathLst>
                <a:path w="5940425" h="487045">
                  <a:moveTo>
                    <a:pt x="742492" y="0"/>
                  </a:moveTo>
                  <a:lnTo>
                    <a:pt x="0" y="0"/>
                  </a:lnTo>
                  <a:lnTo>
                    <a:pt x="0" y="486422"/>
                  </a:lnTo>
                  <a:lnTo>
                    <a:pt x="742492" y="486422"/>
                  </a:lnTo>
                  <a:lnTo>
                    <a:pt x="742492" y="0"/>
                  </a:lnTo>
                  <a:close/>
                </a:path>
                <a:path w="5940425" h="487045">
                  <a:moveTo>
                    <a:pt x="2969945" y="0"/>
                  </a:moveTo>
                  <a:lnTo>
                    <a:pt x="2969945" y="0"/>
                  </a:lnTo>
                  <a:lnTo>
                    <a:pt x="742556" y="0"/>
                  </a:lnTo>
                  <a:lnTo>
                    <a:pt x="742556" y="486422"/>
                  </a:lnTo>
                  <a:lnTo>
                    <a:pt x="2969945" y="486422"/>
                  </a:lnTo>
                  <a:lnTo>
                    <a:pt x="2969945" y="0"/>
                  </a:lnTo>
                  <a:close/>
                </a:path>
                <a:path w="5940425" h="487045">
                  <a:moveTo>
                    <a:pt x="4454957" y="0"/>
                  </a:moveTo>
                  <a:lnTo>
                    <a:pt x="3712514" y="0"/>
                  </a:lnTo>
                  <a:lnTo>
                    <a:pt x="2970022" y="0"/>
                  </a:lnTo>
                  <a:lnTo>
                    <a:pt x="2970022" y="486422"/>
                  </a:lnTo>
                  <a:lnTo>
                    <a:pt x="3712464" y="486422"/>
                  </a:lnTo>
                  <a:lnTo>
                    <a:pt x="4454957" y="486422"/>
                  </a:lnTo>
                  <a:lnTo>
                    <a:pt x="4454957" y="0"/>
                  </a:lnTo>
                  <a:close/>
                </a:path>
                <a:path w="5940425" h="487045">
                  <a:moveTo>
                    <a:pt x="5939968" y="0"/>
                  </a:moveTo>
                  <a:lnTo>
                    <a:pt x="5197526" y="0"/>
                  </a:lnTo>
                  <a:lnTo>
                    <a:pt x="4455033" y="0"/>
                  </a:lnTo>
                  <a:lnTo>
                    <a:pt x="4455033" y="486422"/>
                  </a:lnTo>
                  <a:lnTo>
                    <a:pt x="5197475" y="486422"/>
                  </a:lnTo>
                  <a:lnTo>
                    <a:pt x="5939968" y="486422"/>
                  </a:lnTo>
                  <a:lnTo>
                    <a:pt x="5939968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566924" y="5966536"/>
              <a:ext cx="5940425" cy="487045"/>
            </a:xfrm>
            <a:custGeom>
              <a:avLst/>
              <a:gdLst/>
              <a:ahLst/>
              <a:cxnLst/>
              <a:rect l="l" t="t" r="r" b="b"/>
              <a:pathLst>
                <a:path w="5940425" h="487045">
                  <a:moveTo>
                    <a:pt x="742492" y="0"/>
                  </a:moveTo>
                  <a:lnTo>
                    <a:pt x="0" y="0"/>
                  </a:lnTo>
                  <a:lnTo>
                    <a:pt x="0" y="486422"/>
                  </a:lnTo>
                  <a:lnTo>
                    <a:pt x="742492" y="486422"/>
                  </a:lnTo>
                  <a:lnTo>
                    <a:pt x="742492" y="0"/>
                  </a:lnTo>
                  <a:close/>
                </a:path>
                <a:path w="5940425" h="487045">
                  <a:moveTo>
                    <a:pt x="2969945" y="0"/>
                  </a:moveTo>
                  <a:lnTo>
                    <a:pt x="2969945" y="0"/>
                  </a:lnTo>
                  <a:lnTo>
                    <a:pt x="742556" y="0"/>
                  </a:lnTo>
                  <a:lnTo>
                    <a:pt x="742556" y="486422"/>
                  </a:lnTo>
                  <a:lnTo>
                    <a:pt x="2969945" y="486422"/>
                  </a:lnTo>
                  <a:lnTo>
                    <a:pt x="2969945" y="0"/>
                  </a:lnTo>
                  <a:close/>
                </a:path>
                <a:path w="5940425" h="487045">
                  <a:moveTo>
                    <a:pt x="4454957" y="0"/>
                  </a:moveTo>
                  <a:lnTo>
                    <a:pt x="3712514" y="0"/>
                  </a:lnTo>
                  <a:lnTo>
                    <a:pt x="2970022" y="0"/>
                  </a:lnTo>
                  <a:lnTo>
                    <a:pt x="2970022" y="486422"/>
                  </a:lnTo>
                  <a:lnTo>
                    <a:pt x="3712464" y="486422"/>
                  </a:lnTo>
                  <a:lnTo>
                    <a:pt x="4454957" y="486422"/>
                  </a:lnTo>
                  <a:lnTo>
                    <a:pt x="4454957" y="0"/>
                  </a:lnTo>
                  <a:close/>
                </a:path>
                <a:path w="5940425" h="487045">
                  <a:moveTo>
                    <a:pt x="5939968" y="0"/>
                  </a:moveTo>
                  <a:lnTo>
                    <a:pt x="5197526" y="0"/>
                  </a:lnTo>
                  <a:lnTo>
                    <a:pt x="4455033" y="0"/>
                  </a:lnTo>
                  <a:lnTo>
                    <a:pt x="4455033" y="486422"/>
                  </a:lnTo>
                  <a:lnTo>
                    <a:pt x="5197475" y="486422"/>
                  </a:lnTo>
                  <a:lnTo>
                    <a:pt x="5939968" y="486422"/>
                  </a:lnTo>
                  <a:lnTo>
                    <a:pt x="5939968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309492" y="3041650"/>
              <a:ext cx="3712845" cy="3418204"/>
            </a:xfrm>
            <a:custGeom>
              <a:avLst/>
              <a:gdLst/>
              <a:ahLst/>
              <a:cxnLst/>
              <a:rect l="l" t="t" r="r" b="b"/>
              <a:pathLst>
                <a:path w="3712845" h="3418204">
                  <a:moveTo>
                    <a:pt x="0" y="0"/>
                  </a:moveTo>
                  <a:lnTo>
                    <a:pt x="0" y="3417658"/>
                  </a:lnTo>
                </a:path>
                <a:path w="3712845" h="3418204">
                  <a:moveTo>
                    <a:pt x="742442" y="0"/>
                  </a:moveTo>
                  <a:lnTo>
                    <a:pt x="742442" y="3417658"/>
                  </a:lnTo>
                </a:path>
                <a:path w="3712845" h="3418204">
                  <a:moveTo>
                    <a:pt x="1484884" y="0"/>
                  </a:moveTo>
                  <a:lnTo>
                    <a:pt x="1484884" y="3417658"/>
                  </a:lnTo>
                </a:path>
                <a:path w="3712845" h="3418204">
                  <a:moveTo>
                    <a:pt x="2227453" y="0"/>
                  </a:moveTo>
                  <a:lnTo>
                    <a:pt x="2227453" y="3417658"/>
                  </a:lnTo>
                </a:path>
                <a:path w="3712845" h="3418204">
                  <a:moveTo>
                    <a:pt x="2969895" y="0"/>
                  </a:moveTo>
                  <a:lnTo>
                    <a:pt x="2969895" y="3417658"/>
                  </a:lnTo>
                </a:path>
                <a:path w="3712845" h="3418204">
                  <a:moveTo>
                    <a:pt x="3712464" y="0"/>
                  </a:moveTo>
                  <a:lnTo>
                    <a:pt x="3712464" y="3417658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29" name="object 29"/>
          <p:cNvGraphicFramePr>
            <a:graphicFrameLocks noGrp="1"/>
          </p:cNvGraphicFramePr>
          <p:nvPr/>
        </p:nvGraphicFramePr>
        <p:xfrm>
          <a:off x="1093278" y="3353138"/>
          <a:ext cx="7464424" cy="340296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75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35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50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67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302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5247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86409">
                <a:tc>
                  <a:txBody>
                    <a:bodyPr/>
                    <a:lstStyle/>
                    <a:p>
                      <a:pPr marR="48260"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800" spc="-1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𝑷[𝒊,</a:t>
                      </a:r>
                      <a:r>
                        <a:rPr sz="1800" spc="-8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8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𝒄]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984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48895"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8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𝒄</a:t>
                      </a:r>
                      <a:r>
                        <a:rPr sz="1800" spc="11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8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=</a:t>
                      </a:r>
                      <a:r>
                        <a:rPr sz="1800" spc="10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800" spc="-6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𝟎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984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98425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98425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7940"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98425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8575"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…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98425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8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98425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258445" algn="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8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98425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8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98425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8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984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marR="48895"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800">
                          <a:latin typeface="Cambria Math"/>
                          <a:cs typeface="Cambria Math"/>
                        </a:rPr>
                        <a:t>𝒊</a:t>
                      </a:r>
                      <a:r>
                        <a:rPr sz="1800" spc="9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800">
                          <a:latin typeface="Cambria Math"/>
                          <a:cs typeface="Cambria Math"/>
                        </a:rPr>
                        <a:t>=</a:t>
                      </a:r>
                      <a:r>
                        <a:rPr sz="1800" spc="10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800" spc="-50">
                          <a:latin typeface="Cambria Math"/>
                          <a:cs typeface="Cambria Math"/>
                        </a:rPr>
                        <a:t>𝟎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984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800" b="1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984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800" b="1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98425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800" b="1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98425" marB="0"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7940"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800" b="1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98425" marB="0"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575"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800" b="1">
                          <a:latin typeface="Times New Roman"/>
                          <a:cs typeface="Times New Roman"/>
                        </a:rPr>
                        <a:t>…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98425" marB="0"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800" b="1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98425" marB="0"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97180" algn="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800" b="1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98425" marB="0"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800" b="1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98425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800" b="1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984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40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800" b="1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984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800" b="1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984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grid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800" b="1"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984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800" b="1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984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 grid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640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1800" b="1"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990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1800" b="1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990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grid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1800" b="1">
                          <a:latin typeface="Times New Roman"/>
                          <a:cs typeface="Times New Roman"/>
                        </a:rPr>
                        <a:t>4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990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1800" b="1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990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 grid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640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1800" b="1">
                          <a:latin typeface="Times New Roman"/>
                          <a:cs typeface="Times New Roman"/>
                        </a:rPr>
                        <a:t>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990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1800" b="1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990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grid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0" name="object 30"/>
          <p:cNvSpPr/>
          <p:nvPr/>
        </p:nvSpPr>
        <p:spPr>
          <a:xfrm>
            <a:off x="2930600" y="4405714"/>
            <a:ext cx="5237480" cy="2181860"/>
          </a:xfrm>
          <a:custGeom>
            <a:avLst/>
            <a:gdLst/>
            <a:ahLst/>
            <a:cxnLst/>
            <a:rect l="l" t="t" r="r" b="b"/>
            <a:pathLst>
              <a:path w="5237480" h="2181860">
                <a:moveTo>
                  <a:pt x="373126" y="1605153"/>
                </a:moveTo>
                <a:lnTo>
                  <a:pt x="370078" y="1567192"/>
                </a:lnTo>
                <a:lnTo>
                  <a:pt x="256159" y="1576539"/>
                </a:lnTo>
                <a:lnTo>
                  <a:pt x="259207" y="1614512"/>
                </a:lnTo>
                <a:lnTo>
                  <a:pt x="373126" y="1605153"/>
                </a:lnTo>
                <a:close/>
              </a:path>
              <a:path w="5237480" h="2181860">
                <a:moveTo>
                  <a:pt x="373126" y="1069467"/>
                </a:moveTo>
                <a:lnTo>
                  <a:pt x="370078" y="1031494"/>
                </a:lnTo>
                <a:lnTo>
                  <a:pt x="256159" y="1040892"/>
                </a:lnTo>
                <a:lnTo>
                  <a:pt x="259207" y="1078865"/>
                </a:lnTo>
                <a:lnTo>
                  <a:pt x="373126" y="1069467"/>
                </a:lnTo>
                <a:close/>
              </a:path>
              <a:path w="5237480" h="2181860">
                <a:moveTo>
                  <a:pt x="373126" y="534543"/>
                </a:moveTo>
                <a:lnTo>
                  <a:pt x="370078" y="496570"/>
                </a:lnTo>
                <a:lnTo>
                  <a:pt x="256159" y="505968"/>
                </a:lnTo>
                <a:lnTo>
                  <a:pt x="259207" y="543941"/>
                </a:lnTo>
                <a:lnTo>
                  <a:pt x="373126" y="534543"/>
                </a:lnTo>
                <a:close/>
              </a:path>
              <a:path w="5237480" h="2181860">
                <a:moveTo>
                  <a:pt x="525018" y="1592681"/>
                </a:moveTo>
                <a:lnTo>
                  <a:pt x="521970" y="1554708"/>
                </a:lnTo>
                <a:lnTo>
                  <a:pt x="408051" y="1564068"/>
                </a:lnTo>
                <a:lnTo>
                  <a:pt x="411099" y="1602041"/>
                </a:lnTo>
                <a:lnTo>
                  <a:pt x="525018" y="1592681"/>
                </a:lnTo>
                <a:close/>
              </a:path>
              <a:path w="5237480" h="2181860">
                <a:moveTo>
                  <a:pt x="525018" y="1057021"/>
                </a:moveTo>
                <a:lnTo>
                  <a:pt x="521970" y="1019048"/>
                </a:lnTo>
                <a:lnTo>
                  <a:pt x="408051" y="1028319"/>
                </a:lnTo>
                <a:lnTo>
                  <a:pt x="411099" y="1066292"/>
                </a:lnTo>
                <a:lnTo>
                  <a:pt x="525018" y="1057021"/>
                </a:lnTo>
                <a:close/>
              </a:path>
              <a:path w="5237480" h="2181860">
                <a:moveTo>
                  <a:pt x="525018" y="522097"/>
                </a:moveTo>
                <a:lnTo>
                  <a:pt x="521970" y="484124"/>
                </a:lnTo>
                <a:lnTo>
                  <a:pt x="408051" y="493395"/>
                </a:lnTo>
                <a:lnTo>
                  <a:pt x="411099" y="531368"/>
                </a:lnTo>
                <a:lnTo>
                  <a:pt x="525018" y="522097"/>
                </a:lnTo>
                <a:close/>
              </a:path>
              <a:path w="5237480" h="2181860">
                <a:moveTo>
                  <a:pt x="669925" y="2089696"/>
                </a:moveTo>
                <a:lnTo>
                  <a:pt x="666750" y="2051723"/>
                </a:lnTo>
                <a:lnTo>
                  <a:pt x="552831" y="2060956"/>
                </a:lnTo>
                <a:lnTo>
                  <a:pt x="556006" y="2098929"/>
                </a:lnTo>
                <a:lnTo>
                  <a:pt x="669925" y="2089696"/>
                </a:lnTo>
                <a:close/>
              </a:path>
              <a:path w="5237480" h="2181860">
                <a:moveTo>
                  <a:pt x="676910" y="1580210"/>
                </a:moveTo>
                <a:lnTo>
                  <a:pt x="673735" y="1542237"/>
                </a:lnTo>
                <a:lnTo>
                  <a:pt x="559943" y="1551584"/>
                </a:lnTo>
                <a:lnTo>
                  <a:pt x="562991" y="1589557"/>
                </a:lnTo>
                <a:lnTo>
                  <a:pt x="676910" y="1580210"/>
                </a:lnTo>
                <a:close/>
              </a:path>
              <a:path w="5237480" h="2181860">
                <a:moveTo>
                  <a:pt x="676910" y="1044575"/>
                </a:moveTo>
                <a:lnTo>
                  <a:pt x="673735" y="1006602"/>
                </a:lnTo>
                <a:lnTo>
                  <a:pt x="559943" y="1015873"/>
                </a:lnTo>
                <a:lnTo>
                  <a:pt x="562991" y="1053846"/>
                </a:lnTo>
                <a:lnTo>
                  <a:pt x="676910" y="1044575"/>
                </a:lnTo>
                <a:close/>
              </a:path>
              <a:path w="5237480" h="2181860">
                <a:moveTo>
                  <a:pt x="676910" y="509651"/>
                </a:moveTo>
                <a:lnTo>
                  <a:pt x="673735" y="471678"/>
                </a:lnTo>
                <a:lnTo>
                  <a:pt x="559943" y="480949"/>
                </a:lnTo>
                <a:lnTo>
                  <a:pt x="562991" y="518922"/>
                </a:lnTo>
                <a:lnTo>
                  <a:pt x="676910" y="509651"/>
                </a:lnTo>
                <a:close/>
              </a:path>
              <a:path w="5237480" h="2181860">
                <a:moveTo>
                  <a:pt x="821817" y="2077389"/>
                </a:moveTo>
                <a:lnTo>
                  <a:pt x="818642" y="2039416"/>
                </a:lnTo>
                <a:lnTo>
                  <a:pt x="704723" y="2048637"/>
                </a:lnTo>
                <a:lnTo>
                  <a:pt x="707898" y="2086622"/>
                </a:lnTo>
                <a:lnTo>
                  <a:pt x="821817" y="2077389"/>
                </a:lnTo>
                <a:close/>
              </a:path>
              <a:path w="5237480" h="2181860">
                <a:moveTo>
                  <a:pt x="828802" y="1567726"/>
                </a:moveTo>
                <a:lnTo>
                  <a:pt x="825627" y="1529753"/>
                </a:lnTo>
                <a:lnTo>
                  <a:pt x="711708" y="1539113"/>
                </a:lnTo>
                <a:lnTo>
                  <a:pt x="714883" y="1577086"/>
                </a:lnTo>
                <a:lnTo>
                  <a:pt x="828802" y="1567726"/>
                </a:lnTo>
                <a:close/>
              </a:path>
              <a:path w="5237480" h="2181860">
                <a:moveTo>
                  <a:pt x="828802" y="1032002"/>
                </a:moveTo>
                <a:lnTo>
                  <a:pt x="825627" y="994029"/>
                </a:lnTo>
                <a:lnTo>
                  <a:pt x="711708" y="1003427"/>
                </a:lnTo>
                <a:lnTo>
                  <a:pt x="714883" y="1041400"/>
                </a:lnTo>
                <a:lnTo>
                  <a:pt x="828802" y="1032002"/>
                </a:lnTo>
                <a:close/>
              </a:path>
              <a:path w="5237480" h="2181860">
                <a:moveTo>
                  <a:pt x="828802" y="497078"/>
                </a:moveTo>
                <a:lnTo>
                  <a:pt x="825627" y="459105"/>
                </a:lnTo>
                <a:lnTo>
                  <a:pt x="711708" y="468503"/>
                </a:lnTo>
                <a:lnTo>
                  <a:pt x="714883" y="506476"/>
                </a:lnTo>
                <a:lnTo>
                  <a:pt x="828802" y="497078"/>
                </a:lnTo>
                <a:close/>
              </a:path>
              <a:path w="5237480" h="2181860">
                <a:moveTo>
                  <a:pt x="973709" y="2065070"/>
                </a:moveTo>
                <a:lnTo>
                  <a:pt x="970661" y="2027097"/>
                </a:lnTo>
                <a:lnTo>
                  <a:pt x="856615" y="2036330"/>
                </a:lnTo>
                <a:lnTo>
                  <a:pt x="859790" y="2074303"/>
                </a:lnTo>
                <a:lnTo>
                  <a:pt x="973709" y="2065070"/>
                </a:lnTo>
                <a:close/>
              </a:path>
              <a:path w="5237480" h="2181860">
                <a:moveTo>
                  <a:pt x="980694" y="1555254"/>
                </a:moveTo>
                <a:lnTo>
                  <a:pt x="977519" y="1517281"/>
                </a:lnTo>
                <a:lnTo>
                  <a:pt x="863600" y="1526641"/>
                </a:lnTo>
                <a:lnTo>
                  <a:pt x="866775" y="1564614"/>
                </a:lnTo>
                <a:lnTo>
                  <a:pt x="980694" y="1555254"/>
                </a:lnTo>
                <a:close/>
              </a:path>
              <a:path w="5237480" h="2181860">
                <a:moveTo>
                  <a:pt x="980694" y="1019556"/>
                </a:moveTo>
                <a:lnTo>
                  <a:pt x="977519" y="981583"/>
                </a:lnTo>
                <a:lnTo>
                  <a:pt x="863600" y="990981"/>
                </a:lnTo>
                <a:lnTo>
                  <a:pt x="866775" y="1028954"/>
                </a:lnTo>
                <a:lnTo>
                  <a:pt x="980694" y="1019556"/>
                </a:lnTo>
                <a:close/>
              </a:path>
              <a:path w="5237480" h="2181860">
                <a:moveTo>
                  <a:pt x="980694" y="484632"/>
                </a:moveTo>
                <a:lnTo>
                  <a:pt x="977519" y="446659"/>
                </a:lnTo>
                <a:lnTo>
                  <a:pt x="863600" y="456057"/>
                </a:lnTo>
                <a:lnTo>
                  <a:pt x="866775" y="494030"/>
                </a:lnTo>
                <a:lnTo>
                  <a:pt x="980694" y="484632"/>
                </a:lnTo>
                <a:close/>
              </a:path>
              <a:path w="5237480" h="2181860">
                <a:moveTo>
                  <a:pt x="1125601" y="2052764"/>
                </a:moveTo>
                <a:lnTo>
                  <a:pt x="1122553" y="2014791"/>
                </a:lnTo>
                <a:lnTo>
                  <a:pt x="1008634" y="2024024"/>
                </a:lnTo>
                <a:lnTo>
                  <a:pt x="1011682" y="2061997"/>
                </a:lnTo>
                <a:lnTo>
                  <a:pt x="1125601" y="2052764"/>
                </a:lnTo>
                <a:close/>
              </a:path>
              <a:path w="5237480" h="2181860">
                <a:moveTo>
                  <a:pt x="1132586" y="1542770"/>
                </a:moveTo>
                <a:lnTo>
                  <a:pt x="1129411" y="1504797"/>
                </a:lnTo>
                <a:lnTo>
                  <a:pt x="1015492" y="1514157"/>
                </a:lnTo>
                <a:lnTo>
                  <a:pt x="1018667" y="1552130"/>
                </a:lnTo>
                <a:lnTo>
                  <a:pt x="1132586" y="1542770"/>
                </a:lnTo>
                <a:close/>
              </a:path>
              <a:path w="5237480" h="2181860">
                <a:moveTo>
                  <a:pt x="1132586" y="1007110"/>
                </a:moveTo>
                <a:lnTo>
                  <a:pt x="1129411" y="969137"/>
                </a:lnTo>
                <a:lnTo>
                  <a:pt x="1015492" y="978535"/>
                </a:lnTo>
                <a:lnTo>
                  <a:pt x="1018667" y="1016508"/>
                </a:lnTo>
                <a:lnTo>
                  <a:pt x="1132586" y="1007110"/>
                </a:lnTo>
                <a:close/>
              </a:path>
              <a:path w="5237480" h="2181860">
                <a:moveTo>
                  <a:pt x="1132586" y="472186"/>
                </a:moveTo>
                <a:lnTo>
                  <a:pt x="1129411" y="434213"/>
                </a:lnTo>
                <a:lnTo>
                  <a:pt x="1015492" y="443611"/>
                </a:lnTo>
                <a:lnTo>
                  <a:pt x="1018667" y="481584"/>
                </a:lnTo>
                <a:lnTo>
                  <a:pt x="1132586" y="472186"/>
                </a:lnTo>
                <a:close/>
              </a:path>
              <a:path w="5237480" h="2181860">
                <a:moveTo>
                  <a:pt x="1277493" y="2040458"/>
                </a:moveTo>
                <a:lnTo>
                  <a:pt x="1274445" y="2002485"/>
                </a:lnTo>
                <a:lnTo>
                  <a:pt x="1160526" y="2011718"/>
                </a:lnTo>
                <a:lnTo>
                  <a:pt x="1163574" y="2049691"/>
                </a:lnTo>
                <a:lnTo>
                  <a:pt x="1277493" y="2040458"/>
                </a:lnTo>
                <a:close/>
              </a:path>
              <a:path w="5237480" h="2181860">
                <a:moveTo>
                  <a:pt x="1284478" y="1530299"/>
                </a:moveTo>
                <a:lnTo>
                  <a:pt x="1281303" y="1492377"/>
                </a:lnTo>
                <a:lnTo>
                  <a:pt x="1167384" y="1501686"/>
                </a:lnTo>
                <a:lnTo>
                  <a:pt x="1170559" y="1539659"/>
                </a:lnTo>
                <a:lnTo>
                  <a:pt x="1284478" y="1530299"/>
                </a:lnTo>
                <a:close/>
              </a:path>
              <a:path w="5237480" h="2181860">
                <a:moveTo>
                  <a:pt x="1284478" y="994664"/>
                </a:moveTo>
                <a:lnTo>
                  <a:pt x="1281303" y="956691"/>
                </a:lnTo>
                <a:lnTo>
                  <a:pt x="1167384" y="965962"/>
                </a:lnTo>
                <a:lnTo>
                  <a:pt x="1170559" y="1003935"/>
                </a:lnTo>
                <a:lnTo>
                  <a:pt x="1284478" y="994664"/>
                </a:lnTo>
                <a:close/>
              </a:path>
              <a:path w="5237480" h="2181860">
                <a:moveTo>
                  <a:pt x="1284478" y="459740"/>
                </a:moveTo>
                <a:lnTo>
                  <a:pt x="1281303" y="421767"/>
                </a:lnTo>
                <a:lnTo>
                  <a:pt x="1167384" y="431038"/>
                </a:lnTo>
                <a:lnTo>
                  <a:pt x="1170559" y="469011"/>
                </a:lnTo>
                <a:lnTo>
                  <a:pt x="1284478" y="459740"/>
                </a:lnTo>
                <a:close/>
              </a:path>
              <a:path w="5237480" h="2181860">
                <a:moveTo>
                  <a:pt x="1429385" y="2028151"/>
                </a:moveTo>
                <a:lnTo>
                  <a:pt x="1426337" y="1990178"/>
                </a:lnTo>
                <a:lnTo>
                  <a:pt x="1312418" y="1999399"/>
                </a:lnTo>
                <a:lnTo>
                  <a:pt x="1315466" y="2037384"/>
                </a:lnTo>
                <a:lnTo>
                  <a:pt x="1429385" y="2028151"/>
                </a:lnTo>
                <a:close/>
              </a:path>
              <a:path w="5237480" h="2181860">
                <a:moveTo>
                  <a:pt x="1436370" y="1517815"/>
                </a:moveTo>
                <a:lnTo>
                  <a:pt x="1433195" y="1479804"/>
                </a:lnTo>
                <a:lnTo>
                  <a:pt x="1319276" y="1489202"/>
                </a:lnTo>
                <a:lnTo>
                  <a:pt x="1322451" y="1527175"/>
                </a:lnTo>
                <a:lnTo>
                  <a:pt x="1436370" y="1517815"/>
                </a:lnTo>
                <a:close/>
              </a:path>
              <a:path w="5237480" h="2181860">
                <a:moveTo>
                  <a:pt x="1436370" y="982091"/>
                </a:moveTo>
                <a:lnTo>
                  <a:pt x="1433195" y="944118"/>
                </a:lnTo>
                <a:lnTo>
                  <a:pt x="1319276" y="953516"/>
                </a:lnTo>
                <a:lnTo>
                  <a:pt x="1322451" y="991489"/>
                </a:lnTo>
                <a:lnTo>
                  <a:pt x="1436370" y="982091"/>
                </a:lnTo>
                <a:close/>
              </a:path>
              <a:path w="5237480" h="2181860">
                <a:moveTo>
                  <a:pt x="1436370" y="447167"/>
                </a:moveTo>
                <a:lnTo>
                  <a:pt x="1433195" y="409194"/>
                </a:lnTo>
                <a:lnTo>
                  <a:pt x="1319276" y="418592"/>
                </a:lnTo>
                <a:lnTo>
                  <a:pt x="1322451" y="456565"/>
                </a:lnTo>
                <a:lnTo>
                  <a:pt x="1436370" y="447167"/>
                </a:lnTo>
                <a:close/>
              </a:path>
              <a:path w="5237480" h="2181860">
                <a:moveTo>
                  <a:pt x="1581277" y="2015845"/>
                </a:moveTo>
                <a:lnTo>
                  <a:pt x="1578229" y="1977859"/>
                </a:lnTo>
                <a:lnTo>
                  <a:pt x="1464310" y="1987092"/>
                </a:lnTo>
                <a:lnTo>
                  <a:pt x="1467358" y="2025065"/>
                </a:lnTo>
                <a:lnTo>
                  <a:pt x="1581277" y="2015845"/>
                </a:lnTo>
                <a:close/>
              </a:path>
              <a:path w="5237480" h="2181860">
                <a:moveTo>
                  <a:pt x="1588262" y="1505343"/>
                </a:moveTo>
                <a:lnTo>
                  <a:pt x="1585087" y="1467358"/>
                </a:lnTo>
                <a:lnTo>
                  <a:pt x="1471168" y="1476756"/>
                </a:lnTo>
                <a:lnTo>
                  <a:pt x="1474343" y="1514703"/>
                </a:lnTo>
                <a:lnTo>
                  <a:pt x="1588262" y="1505343"/>
                </a:lnTo>
                <a:close/>
              </a:path>
              <a:path w="5237480" h="2181860">
                <a:moveTo>
                  <a:pt x="1588262" y="969645"/>
                </a:moveTo>
                <a:lnTo>
                  <a:pt x="1585087" y="931672"/>
                </a:lnTo>
                <a:lnTo>
                  <a:pt x="1471168" y="941070"/>
                </a:lnTo>
                <a:lnTo>
                  <a:pt x="1474343" y="979043"/>
                </a:lnTo>
                <a:lnTo>
                  <a:pt x="1588262" y="969645"/>
                </a:lnTo>
                <a:close/>
              </a:path>
              <a:path w="5237480" h="2181860">
                <a:moveTo>
                  <a:pt x="1588262" y="434721"/>
                </a:moveTo>
                <a:lnTo>
                  <a:pt x="1585087" y="396748"/>
                </a:lnTo>
                <a:lnTo>
                  <a:pt x="1471168" y="406146"/>
                </a:lnTo>
                <a:lnTo>
                  <a:pt x="1474343" y="444119"/>
                </a:lnTo>
                <a:lnTo>
                  <a:pt x="1588262" y="434721"/>
                </a:lnTo>
                <a:close/>
              </a:path>
              <a:path w="5237480" h="2181860">
                <a:moveTo>
                  <a:pt x="1733169" y="2003526"/>
                </a:moveTo>
                <a:lnTo>
                  <a:pt x="1730121" y="1965553"/>
                </a:lnTo>
                <a:lnTo>
                  <a:pt x="1616202" y="1974786"/>
                </a:lnTo>
                <a:lnTo>
                  <a:pt x="1619250" y="2012759"/>
                </a:lnTo>
                <a:lnTo>
                  <a:pt x="1733169" y="2003526"/>
                </a:lnTo>
                <a:close/>
              </a:path>
              <a:path w="5237480" h="2181860">
                <a:moveTo>
                  <a:pt x="1740154" y="1492885"/>
                </a:moveTo>
                <a:lnTo>
                  <a:pt x="1736979" y="1454912"/>
                </a:lnTo>
                <a:lnTo>
                  <a:pt x="1623060" y="1464310"/>
                </a:lnTo>
                <a:lnTo>
                  <a:pt x="1626235" y="1502219"/>
                </a:lnTo>
                <a:lnTo>
                  <a:pt x="1740154" y="1492885"/>
                </a:lnTo>
                <a:close/>
              </a:path>
              <a:path w="5237480" h="2181860">
                <a:moveTo>
                  <a:pt x="1740154" y="957199"/>
                </a:moveTo>
                <a:lnTo>
                  <a:pt x="1736979" y="919226"/>
                </a:lnTo>
                <a:lnTo>
                  <a:pt x="1623060" y="928624"/>
                </a:lnTo>
                <a:lnTo>
                  <a:pt x="1626235" y="966597"/>
                </a:lnTo>
                <a:lnTo>
                  <a:pt x="1740154" y="957199"/>
                </a:lnTo>
                <a:close/>
              </a:path>
              <a:path w="5237480" h="2181860">
                <a:moveTo>
                  <a:pt x="1740154" y="422275"/>
                </a:moveTo>
                <a:lnTo>
                  <a:pt x="1736979" y="384302"/>
                </a:lnTo>
                <a:lnTo>
                  <a:pt x="1623060" y="393700"/>
                </a:lnTo>
                <a:lnTo>
                  <a:pt x="1626235" y="431673"/>
                </a:lnTo>
                <a:lnTo>
                  <a:pt x="1740154" y="422275"/>
                </a:lnTo>
                <a:close/>
              </a:path>
              <a:path w="5237480" h="2181860">
                <a:moveTo>
                  <a:pt x="1885061" y="1991220"/>
                </a:moveTo>
                <a:lnTo>
                  <a:pt x="1882013" y="1953247"/>
                </a:lnTo>
                <a:lnTo>
                  <a:pt x="1768094" y="1962480"/>
                </a:lnTo>
                <a:lnTo>
                  <a:pt x="1771142" y="2000453"/>
                </a:lnTo>
                <a:lnTo>
                  <a:pt x="1885061" y="1991220"/>
                </a:lnTo>
                <a:close/>
              </a:path>
              <a:path w="5237480" h="2181860">
                <a:moveTo>
                  <a:pt x="1892046" y="1480439"/>
                </a:moveTo>
                <a:lnTo>
                  <a:pt x="1888871" y="1442466"/>
                </a:lnTo>
                <a:lnTo>
                  <a:pt x="1774952" y="1451737"/>
                </a:lnTo>
                <a:lnTo>
                  <a:pt x="1778127" y="1489710"/>
                </a:lnTo>
                <a:lnTo>
                  <a:pt x="1892046" y="1480439"/>
                </a:lnTo>
                <a:close/>
              </a:path>
              <a:path w="5237480" h="2181860">
                <a:moveTo>
                  <a:pt x="1892046" y="944753"/>
                </a:moveTo>
                <a:lnTo>
                  <a:pt x="1888871" y="906780"/>
                </a:lnTo>
                <a:lnTo>
                  <a:pt x="1774952" y="916051"/>
                </a:lnTo>
                <a:lnTo>
                  <a:pt x="1778127" y="954024"/>
                </a:lnTo>
                <a:lnTo>
                  <a:pt x="1892046" y="944753"/>
                </a:lnTo>
                <a:close/>
              </a:path>
              <a:path w="5237480" h="2181860">
                <a:moveTo>
                  <a:pt x="1892046" y="409829"/>
                </a:moveTo>
                <a:lnTo>
                  <a:pt x="1888871" y="371856"/>
                </a:lnTo>
                <a:lnTo>
                  <a:pt x="1774952" y="381127"/>
                </a:lnTo>
                <a:lnTo>
                  <a:pt x="1778127" y="419100"/>
                </a:lnTo>
                <a:lnTo>
                  <a:pt x="1892046" y="409829"/>
                </a:lnTo>
                <a:close/>
              </a:path>
              <a:path w="5237480" h="2181860">
                <a:moveTo>
                  <a:pt x="2036953" y="1978914"/>
                </a:moveTo>
                <a:lnTo>
                  <a:pt x="2033905" y="1940941"/>
                </a:lnTo>
                <a:lnTo>
                  <a:pt x="1919986" y="1950173"/>
                </a:lnTo>
                <a:lnTo>
                  <a:pt x="1923034" y="1988146"/>
                </a:lnTo>
                <a:lnTo>
                  <a:pt x="2036953" y="1978914"/>
                </a:lnTo>
                <a:close/>
              </a:path>
              <a:path w="5237480" h="2181860">
                <a:moveTo>
                  <a:pt x="2043938" y="1467866"/>
                </a:moveTo>
                <a:lnTo>
                  <a:pt x="2040763" y="1429893"/>
                </a:lnTo>
                <a:lnTo>
                  <a:pt x="1926844" y="1439291"/>
                </a:lnTo>
                <a:lnTo>
                  <a:pt x="1930019" y="1477264"/>
                </a:lnTo>
                <a:lnTo>
                  <a:pt x="2043938" y="1467866"/>
                </a:lnTo>
                <a:close/>
              </a:path>
              <a:path w="5237480" h="2181860">
                <a:moveTo>
                  <a:pt x="2043938" y="932180"/>
                </a:moveTo>
                <a:lnTo>
                  <a:pt x="2040763" y="894207"/>
                </a:lnTo>
                <a:lnTo>
                  <a:pt x="1926844" y="903605"/>
                </a:lnTo>
                <a:lnTo>
                  <a:pt x="1930019" y="941578"/>
                </a:lnTo>
                <a:lnTo>
                  <a:pt x="2043938" y="932180"/>
                </a:lnTo>
                <a:close/>
              </a:path>
              <a:path w="5237480" h="2181860">
                <a:moveTo>
                  <a:pt x="2043938" y="397256"/>
                </a:moveTo>
                <a:lnTo>
                  <a:pt x="2040763" y="359283"/>
                </a:lnTo>
                <a:lnTo>
                  <a:pt x="1926844" y="368681"/>
                </a:lnTo>
                <a:lnTo>
                  <a:pt x="1930019" y="406654"/>
                </a:lnTo>
                <a:lnTo>
                  <a:pt x="2043938" y="397256"/>
                </a:lnTo>
                <a:close/>
              </a:path>
              <a:path w="5237480" h="2181860">
                <a:moveTo>
                  <a:pt x="2188845" y="1966607"/>
                </a:moveTo>
                <a:lnTo>
                  <a:pt x="2185797" y="1928622"/>
                </a:lnTo>
                <a:lnTo>
                  <a:pt x="2071878" y="1937854"/>
                </a:lnTo>
                <a:lnTo>
                  <a:pt x="2074926" y="1975827"/>
                </a:lnTo>
                <a:lnTo>
                  <a:pt x="2188845" y="1966607"/>
                </a:lnTo>
                <a:close/>
              </a:path>
              <a:path w="5237480" h="2181860">
                <a:moveTo>
                  <a:pt x="2195830" y="1455420"/>
                </a:moveTo>
                <a:lnTo>
                  <a:pt x="2192655" y="1417447"/>
                </a:lnTo>
                <a:lnTo>
                  <a:pt x="2078736" y="1426845"/>
                </a:lnTo>
                <a:lnTo>
                  <a:pt x="2081911" y="1464818"/>
                </a:lnTo>
                <a:lnTo>
                  <a:pt x="2195830" y="1455420"/>
                </a:lnTo>
                <a:close/>
              </a:path>
              <a:path w="5237480" h="2181860">
                <a:moveTo>
                  <a:pt x="2195830" y="919734"/>
                </a:moveTo>
                <a:lnTo>
                  <a:pt x="2192655" y="881761"/>
                </a:lnTo>
                <a:lnTo>
                  <a:pt x="2078736" y="891159"/>
                </a:lnTo>
                <a:lnTo>
                  <a:pt x="2081911" y="929132"/>
                </a:lnTo>
                <a:lnTo>
                  <a:pt x="2195830" y="919734"/>
                </a:lnTo>
                <a:close/>
              </a:path>
              <a:path w="5237480" h="2181860">
                <a:moveTo>
                  <a:pt x="2195830" y="384810"/>
                </a:moveTo>
                <a:lnTo>
                  <a:pt x="2192655" y="346837"/>
                </a:lnTo>
                <a:lnTo>
                  <a:pt x="2078736" y="356235"/>
                </a:lnTo>
                <a:lnTo>
                  <a:pt x="2081911" y="394208"/>
                </a:lnTo>
                <a:lnTo>
                  <a:pt x="2195830" y="384810"/>
                </a:lnTo>
                <a:close/>
              </a:path>
              <a:path w="5237480" h="2181860">
                <a:moveTo>
                  <a:pt x="2340737" y="1954288"/>
                </a:moveTo>
                <a:lnTo>
                  <a:pt x="2337689" y="1916315"/>
                </a:lnTo>
                <a:lnTo>
                  <a:pt x="2223770" y="1925548"/>
                </a:lnTo>
                <a:lnTo>
                  <a:pt x="2226818" y="1963521"/>
                </a:lnTo>
                <a:lnTo>
                  <a:pt x="2340737" y="1954288"/>
                </a:lnTo>
                <a:close/>
              </a:path>
              <a:path w="5237480" h="2181860">
                <a:moveTo>
                  <a:pt x="2347722" y="1442974"/>
                </a:moveTo>
                <a:lnTo>
                  <a:pt x="2344547" y="1405001"/>
                </a:lnTo>
                <a:lnTo>
                  <a:pt x="2230628" y="1414399"/>
                </a:lnTo>
                <a:lnTo>
                  <a:pt x="2233803" y="1452372"/>
                </a:lnTo>
                <a:lnTo>
                  <a:pt x="2347722" y="1442974"/>
                </a:lnTo>
                <a:close/>
              </a:path>
              <a:path w="5237480" h="2181860">
                <a:moveTo>
                  <a:pt x="2347722" y="907288"/>
                </a:moveTo>
                <a:lnTo>
                  <a:pt x="2344547" y="869315"/>
                </a:lnTo>
                <a:lnTo>
                  <a:pt x="2230628" y="878713"/>
                </a:lnTo>
                <a:lnTo>
                  <a:pt x="2233803" y="916686"/>
                </a:lnTo>
                <a:lnTo>
                  <a:pt x="2347722" y="907288"/>
                </a:lnTo>
                <a:close/>
              </a:path>
              <a:path w="5237480" h="2181860">
                <a:moveTo>
                  <a:pt x="2347722" y="372364"/>
                </a:moveTo>
                <a:lnTo>
                  <a:pt x="2344547" y="334391"/>
                </a:lnTo>
                <a:lnTo>
                  <a:pt x="2230628" y="343789"/>
                </a:lnTo>
                <a:lnTo>
                  <a:pt x="2233803" y="381762"/>
                </a:lnTo>
                <a:lnTo>
                  <a:pt x="2347722" y="372364"/>
                </a:lnTo>
                <a:close/>
              </a:path>
              <a:path w="5237480" h="2181860">
                <a:moveTo>
                  <a:pt x="2492756" y="1941982"/>
                </a:moveTo>
                <a:lnTo>
                  <a:pt x="2489581" y="1904009"/>
                </a:lnTo>
                <a:lnTo>
                  <a:pt x="2375662" y="1913242"/>
                </a:lnTo>
                <a:lnTo>
                  <a:pt x="2378710" y="1951215"/>
                </a:lnTo>
                <a:lnTo>
                  <a:pt x="2492756" y="1941982"/>
                </a:lnTo>
                <a:close/>
              </a:path>
              <a:path w="5237480" h="2181860">
                <a:moveTo>
                  <a:pt x="2499614" y="1430528"/>
                </a:moveTo>
                <a:lnTo>
                  <a:pt x="2496439" y="1392555"/>
                </a:lnTo>
                <a:lnTo>
                  <a:pt x="2382520" y="1401826"/>
                </a:lnTo>
                <a:lnTo>
                  <a:pt x="2385695" y="1439799"/>
                </a:lnTo>
                <a:lnTo>
                  <a:pt x="2499614" y="1430528"/>
                </a:lnTo>
                <a:close/>
              </a:path>
              <a:path w="5237480" h="2181860">
                <a:moveTo>
                  <a:pt x="2499614" y="894842"/>
                </a:moveTo>
                <a:lnTo>
                  <a:pt x="2496439" y="856869"/>
                </a:lnTo>
                <a:lnTo>
                  <a:pt x="2382520" y="866140"/>
                </a:lnTo>
                <a:lnTo>
                  <a:pt x="2385695" y="904113"/>
                </a:lnTo>
                <a:lnTo>
                  <a:pt x="2499614" y="894842"/>
                </a:lnTo>
                <a:close/>
              </a:path>
              <a:path w="5237480" h="2181860">
                <a:moveTo>
                  <a:pt x="2499614" y="359918"/>
                </a:moveTo>
                <a:lnTo>
                  <a:pt x="2496439" y="321945"/>
                </a:lnTo>
                <a:lnTo>
                  <a:pt x="2382520" y="331216"/>
                </a:lnTo>
                <a:lnTo>
                  <a:pt x="2385695" y="369189"/>
                </a:lnTo>
                <a:lnTo>
                  <a:pt x="2499614" y="359918"/>
                </a:lnTo>
                <a:close/>
              </a:path>
              <a:path w="5237480" h="2181860">
                <a:moveTo>
                  <a:pt x="2644648" y="1929676"/>
                </a:moveTo>
                <a:lnTo>
                  <a:pt x="2641473" y="1891703"/>
                </a:lnTo>
                <a:lnTo>
                  <a:pt x="2527554" y="1900936"/>
                </a:lnTo>
                <a:lnTo>
                  <a:pt x="2530729" y="1938909"/>
                </a:lnTo>
                <a:lnTo>
                  <a:pt x="2644648" y="1929676"/>
                </a:lnTo>
                <a:close/>
              </a:path>
              <a:path w="5237480" h="2181860">
                <a:moveTo>
                  <a:pt x="2651506" y="1417955"/>
                </a:moveTo>
                <a:lnTo>
                  <a:pt x="2648331" y="1379982"/>
                </a:lnTo>
                <a:lnTo>
                  <a:pt x="2534412" y="1389380"/>
                </a:lnTo>
                <a:lnTo>
                  <a:pt x="2537587" y="1427353"/>
                </a:lnTo>
                <a:lnTo>
                  <a:pt x="2651506" y="1417955"/>
                </a:lnTo>
                <a:close/>
              </a:path>
              <a:path w="5237480" h="2181860">
                <a:moveTo>
                  <a:pt x="2651506" y="882269"/>
                </a:moveTo>
                <a:lnTo>
                  <a:pt x="2648331" y="844296"/>
                </a:lnTo>
                <a:lnTo>
                  <a:pt x="2534412" y="853694"/>
                </a:lnTo>
                <a:lnTo>
                  <a:pt x="2537587" y="891667"/>
                </a:lnTo>
                <a:lnTo>
                  <a:pt x="2651506" y="882269"/>
                </a:lnTo>
                <a:close/>
              </a:path>
              <a:path w="5237480" h="2181860">
                <a:moveTo>
                  <a:pt x="2651506" y="347345"/>
                </a:moveTo>
                <a:lnTo>
                  <a:pt x="2648331" y="309372"/>
                </a:lnTo>
                <a:lnTo>
                  <a:pt x="2534412" y="318770"/>
                </a:lnTo>
                <a:lnTo>
                  <a:pt x="2537587" y="356743"/>
                </a:lnTo>
                <a:lnTo>
                  <a:pt x="2651506" y="347345"/>
                </a:lnTo>
                <a:close/>
              </a:path>
              <a:path w="5237480" h="2181860">
                <a:moveTo>
                  <a:pt x="2796540" y="1917369"/>
                </a:moveTo>
                <a:lnTo>
                  <a:pt x="2793365" y="1879384"/>
                </a:lnTo>
                <a:lnTo>
                  <a:pt x="2679446" y="1888617"/>
                </a:lnTo>
                <a:lnTo>
                  <a:pt x="2682621" y="1926602"/>
                </a:lnTo>
                <a:lnTo>
                  <a:pt x="2796540" y="1917369"/>
                </a:lnTo>
                <a:close/>
              </a:path>
              <a:path w="5237480" h="2181860">
                <a:moveTo>
                  <a:pt x="2803398" y="1405509"/>
                </a:moveTo>
                <a:lnTo>
                  <a:pt x="2800223" y="1367536"/>
                </a:lnTo>
                <a:lnTo>
                  <a:pt x="2686304" y="1376934"/>
                </a:lnTo>
                <a:lnTo>
                  <a:pt x="2689479" y="1414907"/>
                </a:lnTo>
                <a:lnTo>
                  <a:pt x="2803398" y="1405509"/>
                </a:lnTo>
                <a:close/>
              </a:path>
              <a:path w="5237480" h="2181860">
                <a:moveTo>
                  <a:pt x="2803398" y="869823"/>
                </a:moveTo>
                <a:lnTo>
                  <a:pt x="2800223" y="831850"/>
                </a:lnTo>
                <a:lnTo>
                  <a:pt x="2686304" y="841248"/>
                </a:lnTo>
                <a:lnTo>
                  <a:pt x="2689479" y="879221"/>
                </a:lnTo>
                <a:lnTo>
                  <a:pt x="2803398" y="869823"/>
                </a:lnTo>
                <a:close/>
              </a:path>
              <a:path w="5237480" h="2181860">
                <a:moveTo>
                  <a:pt x="2803398" y="334899"/>
                </a:moveTo>
                <a:lnTo>
                  <a:pt x="2800223" y="296926"/>
                </a:lnTo>
                <a:lnTo>
                  <a:pt x="2686304" y="306324"/>
                </a:lnTo>
                <a:lnTo>
                  <a:pt x="2689479" y="344297"/>
                </a:lnTo>
                <a:lnTo>
                  <a:pt x="2803398" y="334899"/>
                </a:lnTo>
                <a:close/>
              </a:path>
              <a:path w="5237480" h="2181860">
                <a:moveTo>
                  <a:pt x="2948432" y="1905050"/>
                </a:moveTo>
                <a:lnTo>
                  <a:pt x="2945384" y="1867077"/>
                </a:lnTo>
                <a:lnTo>
                  <a:pt x="2831338" y="1876310"/>
                </a:lnTo>
                <a:lnTo>
                  <a:pt x="2834513" y="1914283"/>
                </a:lnTo>
                <a:lnTo>
                  <a:pt x="2948432" y="1905050"/>
                </a:lnTo>
                <a:close/>
              </a:path>
              <a:path w="5237480" h="2181860">
                <a:moveTo>
                  <a:pt x="2955290" y="1393063"/>
                </a:moveTo>
                <a:lnTo>
                  <a:pt x="2952115" y="1355090"/>
                </a:lnTo>
                <a:lnTo>
                  <a:pt x="2838196" y="1364488"/>
                </a:lnTo>
                <a:lnTo>
                  <a:pt x="2841371" y="1402461"/>
                </a:lnTo>
                <a:lnTo>
                  <a:pt x="2955290" y="1393063"/>
                </a:lnTo>
                <a:close/>
              </a:path>
              <a:path w="5237480" h="2181860">
                <a:moveTo>
                  <a:pt x="2955290" y="857377"/>
                </a:moveTo>
                <a:lnTo>
                  <a:pt x="2952115" y="819404"/>
                </a:lnTo>
                <a:lnTo>
                  <a:pt x="2838196" y="828802"/>
                </a:lnTo>
                <a:lnTo>
                  <a:pt x="2841371" y="866775"/>
                </a:lnTo>
                <a:lnTo>
                  <a:pt x="2955290" y="857377"/>
                </a:lnTo>
                <a:close/>
              </a:path>
              <a:path w="5237480" h="2181860">
                <a:moveTo>
                  <a:pt x="2955290" y="322453"/>
                </a:moveTo>
                <a:lnTo>
                  <a:pt x="2952115" y="284480"/>
                </a:lnTo>
                <a:lnTo>
                  <a:pt x="2838196" y="293878"/>
                </a:lnTo>
                <a:lnTo>
                  <a:pt x="2841371" y="331851"/>
                </a:lnTo>
                <a:lnTo>
                  <a:pt x="2955290" y="322453"/>
                </a:lnTo>
                <a:close/>
              </a:path>
              <a:path w="5237480" h="2181860">
                <a:moveTo>
                  <a:pt x="3100324" y="1892744"/>
                </a:moveTo>
                <a:lnTo>
                  <a:pt x="3097276" y="1854771"/>
                </a:lnTo>
                <a:lnTo>
                  <a:pt x="2983357" y="1864004"/>
                </a:lnTo>
                <a:lnTo>
                  <a:pt x="2986405" y="1901977"/>
                </a:lnTo>
                <a:lnTo>
                  <a:pt x="3100324" y="1892744"/>
                </a:lnTo>
                <a:close/>
              </a:path>
              <a:path w="5237480" h="2181860">
                <a:moveTo>
                  <a:pt x="3107182" y="1380617"/>
                </a:moveTo>
                <a:lnTo>
                  <a:pt x="3104007" y="1342644"/>
                </a:lnTo>
                <a:lnTo>
                  <a:pt x="2990088" y="1351915"/>
                </a:lnTo>
                <a:lnTo>
                  <a:pt x="2993263" y="1389888"/>
                </a:lnTo>
                <a:lnTo>
                  <a:pt x="3107182" y="1380617"/>
                </a:lnTo>
                <a:close/>
              </a:path>
              <a:path w="5237480" h="2181860">
                <a:moveTo>
                  <a:pt x="3107182" y="844931"/>
                </a:moveTo>
                <a:lnTo>
                  <a:pt x="3104007" y="806958"/>
                </a:lnTo>
                <a:lnTo>
                  <a:pt x="2990088" y="816229"/>
                </a:lnTo>
                <a:lnTo>
                  <a:pt x="2993263" y="854202"/>
                </a:lnTo>
                <a:lnTo>
                  <a:pt x="3107182" y="844931"/>
                </a:lnTo>
                <a:close/>
              </a:path>
              <a:path w="5237480" h="2181860">
                <a:moveTo>
                  <a:pt x="3107182" y="310007"/>
                </a:moveTo>
                <a:lnTo>
                  <a:pt x="3104007" y="272034"/>
                </a:lnTo>
                <a:lnTo>
                  <a:pt x="2990088" y="281305"/>
                </a:lnTo>
                <a:lnTo>
                  <a:pt x="2993263" y="319278"/>
                </a:lnTo>
                <a:lnTo>
                  <a:pt x="3107182" y="310007"/>
                </a:lnTo>
                <a:close/>
              </a:path>
              <a:path w="5237480" h="2181860">
                <a:moveTo>
                  <a:pt x="3252216" y="1880438"/>
                </a:moveTo>
                <a:lnTo>
                  <a:pt x="3249168" y="1842465"/>
                </a:lnTo>
                <a:lnTo>
                  <a:pt x="3135249" y="1851698"/>
                </a:lnTo>
                <a:lnTo>
                  <a:pt x="3138297" y="1889671"/>
                </a:lnTo>
                <a:lnTo>
                  <a:pt x="3252216" y="1880438"/>
                </a:lnTo>
                <a:close/>
              </a:path>
              <a:path w="5237480" h="2181860">
                <a:moveTo>
                  <a:pt x="3259074" y="1368044"/>
                </a:moveTo>
                <a:lnTo>
                  <a:pt x="3255899" y="1330071"/>
                </a:lnTo>
                <a:lnTo>
                  <a:pt x="3141980" y="1339469"/>
                </a:lnTo>
                <a:lnTo>
                  <a:pt x="3145155" y="1377442"/>
                </a:lnTo>
                <a:lnTo>
                  <a:pt x="3259074" y="1368044"/>
                </a:lnTo>
                <a:close/>
              </a:path>
              <a:path w="5237480" h="2181860">
                <a:moveTo>
                  <a:pt x="3259074" y="832358"/>
                </a:moveTo>
                <a:lnTo>
                  <a:pt x="3255899" y="794385"/>
                </a:lnTo>
                <a:lnTo>
                  <a:pt x="3141980" y="803783"/>
                </a:lnTo>
                <a:lnTo>
                  <a:pt x="3145155" y="841756"/>
                </a:lnTo>
                <a:lnTo>
                  <a:pt x="3259074" y="832358"/>
                </a:lnTo>
                <a:close/>
              </a:path>
              <a:path w="5237480" h="2181860">
                <a:moveTo>
                  <a:pt x="3259074" y="297434"/>
                </a:moveTo>
                <a:lnTo>
                  <a:pt x="3255899" y="259461"/>
                </a:lnTo>
                <a:lnTo>
                  <a:pt x="3141980" y="268859"/>
                </a:lnTo>
                <a:lnTo>
                  <a:pt x="3145155" y="306832"/>
                </a:lnTo>
                <a:lnTo>
                  <a:pt x="3259074" y="297434"/>
                </a:lnTo>
                <a:close/>
              </a:path>
              <a:path w="5237480" h="2181860">
                <a:moveTo>
                  <a:pt x="3404108" y="1868131"/>
                </a:moveTo>
                <a:lnTo>
                  <a:pt x="3401060" y="1830146"/>
                </a:lnTo>
                <a:lnTo>
                  <a:pt x="3287141" y="1839379"/>
                </a:lnTo>
                <a:lnTo>
                  <a:pt x="3290189" y="1877364"/>
                </a:lnTo>
                <a:lnTo>
                  <a:pt x="3404108" y="1868131"/>
                </a:lnTo>
                <a:close/>
              </a:path>
              <a:path w="5237480" h="2181860">
                <a:moveTo>
                  <a:pt x="3410966" y="1355598"/>
                </a:moveTo>
                <a:lnTo>
                  <a:pt x="3407791" y="1317625"/>
                </a:lnTo>
                <a:lnTo>
                  <a:pt x="3293872" y="1327023"/>
                </a:lnTo>
                <a:lnTo>
                  <a:pt x="3297047" y="1364996"/>
                </a:lnTo>
                <a:lnTo>
                  <a:pt x="3410966" y="1355598"/>
                </a:lnTo>
                <a:close/>
              </a:path>
              <a:path w="5237480" h="2181860">
                <a:moveTo>
                  <a:pt x="3410966" y="819912"/>
                </a:moveTo>
                <a:lnTo>
                  <a:pt x="3407791" y="781939"/>
                </a:lnTo>
                <a:lnTo>
                  <a:pt x="3293872" y="791337"/>
                </a:lnTo>
                <a:lnTo>
                  <a:pt x="3297047" y="829310"/>
                </a:lnTo>
                <a:lnTo>
                  <a:pt x="3410966" y="819912"/>
                </a:lnTo>
                <a:close/>
              </a:path>
              <a:path w="5237480" h="2181860">
                <a:moveTo>
                  <a:pt x="3410966" y="284988"/>
                </a:moveTo>
                <a:lnTo>
                  <a:pt x="3407791" y="247015"/>
                </a:lnTo>
                <a:lnTo>
                  <a:pt x="3293872" y="256413"/>
                </a:lnTo>
                <a:lnTo>
                  <a:pt x="3297047" y="294386"/>
                </a:lnTo>
                <a:lnTo>
                  <a:pt x="3410966" y="284988"/>
                </a:lnTo>
                <a:close/>
              </a:path>
              <a:path w="5237480" h="2181860">
                <a:moveTo>
                  <a:pt x="3556000" y="1855812"/>
                </a:moveTo>
                <a:lnTo>
                  <a:pt x="3552952" y="1817839"/>
                </a:lnTo>
                <a:lnTo>
                  <a:pt x="3439033" y="1827072"/>
                </a:lnTo>
                <a:lnTo>
                  <a:pt x="3442081" y="1865045"/>
                </a:lnTo>
                <a:lnTo>
                  <a:pt x="3556000" y="1855812"/>
                </a:lnTo>
                <a:close/>
              </a:path>
              <a:path w="5237480" h="2181860">
                <a:moveTo>
                  <a:pt x="3562731" y="1343152"/>
                </a:moveTo>
                <a:lnTo>
                  <a:pt x="3559683" y="1305179"/>
                </a:lnTo>
                <a:lnTo>
                  <a:pt x="3445764" y="1314577"/>
                </a:lnTo>
                <a:lnTo>
                  <a:pt x="3448939" y="1352550"/>
                </a:lnTo>
                <a:lnTo>
                  <a:pt x="3562731" y="1343152"/>
                </a:lnTo>
                <a:close/>
              </a:path>
              <a:path w="5237480" h="2181860">
                <a:moveTo>
                  <a:pt x="3562731" y="807466"/>
                </a:moveTo>
                <a:lnTo>
                  <a:pt x="3559683" y="769493"/>
                </a:lnTo>
                <a:lnTo>
                  <a:pt x="3445764" y="778891"/>
                </a:lnTo>
                <a:lnTo>
                  <a:pt x="3448939" y="816864"/>
                </a:lnTo>
                <a:lnTo>
                  <a:pt x="3562731" y="807466"/>
                </a:lnTo>
                <a:close/>
              </a:path>
              <a:path w="5237480" h="2181860">
                <a:moveTo>
                  <a:pt x="3562731" y="272542"/>
                </a:moveTo>
                <a:lnTo>
                  <a:pt x="3559683" y="234569"/>
                </a:lnTo>
                <a:lnTo>
                  <a:pt x="3445764" y="243967"/>
                </a:lnTo>
                <a:lnTo>
                  <a:pt x="3448939" y="281940"/>
                </a:lnTo>
                <a:lnTo>
                  <a:pt x="3562731" y="272542"/>
                </a:lnTo>
                <a:close/>
              </a:path>
              <a:path w="5237480" h="2181860">
                <a:moveTo>
                  <a:pt x="3707892" y="1843506"/>
                </a:moveTo>
                <a:lnTo>
                  <a:pt x="3704844" y="1805533"/>
                </a:lnTo>
                <a:lnTo>
                  <a:pt x="3590925" y="1814766"/>
                </a:lnTo>
                <a:lnTo>
                  <a:pt x="3593973" y="1852739"/>
                </a:lnTo>
                <a:lnTo>
                  <a:pt x="3707892" y="1843506"/>
                </a:lnTo>
                <a:close/>
              </a:path>
              <a:path w="5237480" h="2181860">
                <a:moveTo>
                  <a:pt x="3714610" y="1330706"/>
                </a:moveTo>
                <a:lnTo>
                  <a:pt x="3711562" y="1292733"/>
                </a:lnTo>
                <a:lnTo>
                  <a:pt x="3597656" y="1302004"/>
                </a:lnTo>
                <a:lnTo>
                  <a:pt x="3600704" y="1339977"/>
                </a:lnTo>
                <a:lnTo>
                  <a:pt x="3714610" y="1330706"/>
                </a:lnTo>
                <a:close/>
              </a:path>
              <a:path w="5237480" h="2181860">
                <a:moveTo>
                  <a:pt x="3714610" y="795020"/>
                </a:moveTo>
                <a:lnTo>
                  <a:pt x="3711562" y="757047"/>
                </a:lnTo>
                <a:lnTo>
                  <a:pt x="3597656" y="766318"/>
                </a:lnTo>
                <a:lnTo>
                  <a:pt x="3600704" y="804291"/>
                </a:lnTo>
                <a:lnTo>
                  <a:pt x="3714610" y="795020"/>
                </a:lnTo>
                <a:close/>
              </a:path>
              <a:path w="5237480" h="2181860">
                <a:moveTo>
                  <a:pt x="3714610" y="260096"/>
                </a:moveTo>
                <a:lnTo>
                  <a:pt x="3711562" y="222123"/>
                </a:lnTo>
                <a:lnTo>
                  <a:pt x="3597656" y="231394"/>
                </a:lnTo>
                <a:lnTo>
                  <a:pt x="3600704" y="269367"/>
                </a:lnTo>
                <a:lnTo>
                  <a:pt x="3714610" y="260096"/>
                </a:lnTo>
                <a:close/>
              </a:path>
              <a:path w="5237480" h="2181860">
                <a:moveTo>
                  <a:pt x="3859784" y="1831200"/>
                </a:moveTo>
                <a:lnTo>
                  <a:pt x="3856736" y="1793227"/>
                </a:lnTo>
                <a:lnTo>
                  <a:pt x="3742817" y="1802460"/>
                </a:lnTo>
                <a:lnTo>
                  <a:pt x="3745865" y="1840433"/>
                </a:lnTo>
                <a:lnTo>
                  <a:pt x="3859784" y="1831200"/>
                </a:lnTo>
                <a:close/>
              </a:path>
              <a:path w="5237480" h="2181860">
                <a:moveTo>
                  <a:pt x="3866515" y="1318133"/>
                </a:moveTo>
                <a:lnTo>
                  <a:pt x="3863467" y="1280160"/>
                </a:lnTo>
                <a:lnTo>
                  <a:pt x="3749535" y="1289558"/>
                </a:lnTo>
                <a:lnTo>
                  <a:pt x="3752596" y="1327531"/>
                </a:lnTo>
                <a:lnTo>
                  <a:pt x="3866515" y="1318133"/>
                </a:lnTo>
                <a:close/>
              </a:path>
              <a:path w="5237480" h="2181860">
                <a:moveTo>
                  <a:pt x="3866515" y="782447"/>
                </a:moveTo>
                <a:lnTo>
                  <a:pt x="3863467" y="744474"/>
                </a:lnTo>
                <a:lnTo>
                  <a:pt x="3749535" y="753872"/>
                </a:lnTo>
                <a:lnTo>
                  <a:pt x="3752596" y="791845"/>
                </a:lnTo>
                <a:lnTo>
                  <a:pt x="3866515" y="782447"/>
                </a:lnTo>
                <a:close/>
              </a:path>
              <a:path w="5237480" h="2181860">
                <a:moveTo>
                  <a:pt x="3866515" y="247523"/>
                </a:moveTo>
                <a:lnTo>
                  <a:pt x="3863467" y="209550"/>
                </a:lnTo>
                <a:lnTo>
                  <a:pt x="3749535" y="218948"/>
                </a:lnTo>
                <a:lnTo>
                  <a:pt x="3752596" y="256921"/>
                </a:lnTo>
                <a:lnTo>
                  <a:pt x="3866515" y="247523"/>
                </a:lnTo>
                <a:close/>
              </a:path>
              <a:path w="5237480" h="2181860">
                <a:moveTo>
                  <a:pt x="4011676" y="1818894"/>
                </a:moveTo>
                <a:lnTo>
                  <a:pt x="4008628" y="1780908"/>
                </a:lnTo>
                <a:lnTo>
                  <a:pt x="3894709" y="1790141"/>
                </a:lnTo>
                <a:lnTo>
                  <a:pt x="3897757" y="1828126"/>
                </a:lnTo>
                <a:lnTo>
                  <a:pt x="4011676" y="1818894"/>
                </a:lnTo>
                <a:close/>
              </a:path>
              <a:path w="5237480" h="2181860">
                <a:moveTo>
                  <a:pt x="4018407" y="1305687"/>
                </a:moveTo>
                <a:lnTo>
                  <a:pt x="4015359" y="1267714"/>
                </a:lnTo>
                <a:lnTo>
                  <a:pt x="3901440" y="1277112"/>
                </a:lnTo>
                <a:lnTo>
                  <a:pt x="3904488" y="1315085"/>
                </a:lnTo>
                <a:lnTo>
                  <a:pt x="4018407" y="1305687"/>
                </a:lnTo>
                <a:close/>
              </a:path>
              <a:path w="5237480" h="2181860">
                <a:moveTo>
                  <a:pt x="4018407" y="770001"/>
                </a:moveTo>
                <a:lnTo>
                  <a:pt x="4015359" y="732028"/>
                </a:lnTo>
                <a:lnTo>
                  <a:pt x="3901440" y="741426"/>
                </a:lnTo>
                <a:lnTo>
                  <a:pt x="3904488" y="779399"/>
                </a:lnTo>
                <a:lnTo>
                  <a:pt x="4018407" y="770001"/>
                </a:lnTo>
                <a:close/>
              </a:path>
              <a:path w="5237480" h="2181860">
                <a:moveTo>
                  <a:pt x="4018407" y="235077"/>
                </a:moveTo>
                <a:lnTo>
                  <a:pt x="4015359" y="197104"/>
                </a:lnTo>
                <a:lnTo>
                  <a:pt x="3901440" y="206502"/>
                </a:lnTo>
                <a:lnTo>
                  <a:pt x="3904488" y="244475"/>
                </a:lnTo>
                <a:lnTo>
                  <a:pt x="4018407" y="235077"/>
                </a:lnTo>
                <a:close/>
              </a:path>
              <a:path w="5237480" h="2181860">
                <a:moveTo>
                  <a:pt x="4163568" y="1806575"/>
                </a:moveTo>
                <a:lnTo>
                  <a:pt x="4160520" y="1768602"/>
                </a:lnTo>
                <a:lnTo>
                  <a:pt x="4046601" y="1777834"/>
                </a:lnTo>
                <a:lnTo>
                  <a:pt x="4049649" y="1815807"/>
                </a:lnTo>
                <a:lnTo>
                  <a:pt x="4163568" y="1806575"/>
                </a:lnTo>
                <a:close/>
              </a:path>
              <a:path w="5237480" h="2181860">
                <a:moveTo>
                  <a:pt x="4170299" y="1293241"/>
                </a:moveTo>
                <a:lnTo>
                  <a:pt x="4167251" y="1255268"/>
                </a:lnTo>
                <a:lnTo>
                  <a:pt x="4053332" y="1264666"/>
                </a:lnTo>
                <a:lnTo>
                  <a:pt x="4056380" y="1302639"/>
                </a:lnTo>
                <a:lnTo>
                  <a:pt x="4170299" y="1293241"/>
                </a:lnTo>
                <a:close/>
              </a:path>
              <a:path w="5237480" h="2181860">
                <a:moveTo>
                  <a:pt x="4170299" y="757555"/>
                </a:moveTo>
                <a:lnTo>
                  <a:pt x="4167251" y="719582"/>
                </a:lnTo>
                <a:lnTo>
                  <a:pt x="4053332" y="728980"/>
                </a:lnTo>
                <a:lnTo>
                  <a:pt x="4056380" y="766953"/>
                </a:lnTo>
                <a:lnTo>
                  <a:pt x="4170299" y="757555"/>
                </a:lnTo>
                <a:close/>
              </a:path>
              <a:path w="5237480" h="2181860">
                <a:moveTo>
                  <a:pt x="4170299" y="222631"/>
                </a:moveTo>
                <a:lnTo>
                  <a:pt x="4167251" y="184658"/>
                </a:lnTo>
                <a:lnTo>
                  <a:pt x="4053332" y="194056"/>
                </a:lnTo>
                <a:lnTo>
                  <a:pt x="4056380" y="232029"/>
                </a:lnTo>
                <a:lnTo>
                  <a:pt x="4170299" y="222631"/>
                </a:lnTo>
                <a:close/>
              </a:path>
              <a:path w="5237480" h="2181860">
                <a:moveTo>
                  <a:pt x="4315460" y="1794268"/>
                </a:moveTo>
                <a:lnTo>
                  <a:pt x="4312412" y="1756295"/>
                </a:lnTo>
                <a:lnTo>
                  <a:pt x="4198493" y="1765528"/>
                </a:lnTo>
                <a:lnTo>
                  <a:pt x="4201541" y="1803501"/>
                </a:lnTo>
                <a:lnTo>
                  <a:pt x="4315460" y="1794268"/>
                </a:lnTo>
                <a:close/>
              </a:path>
              <a:path w="5237480" h="2181860">
                <a:moveTo>
                  <a:pt x="4322191" y="1280795"/>
                </a:moveTo>
                <a:lnTo>
                  <a:pt x="4319143" y="1242822"/>
                </a:lnTo>
                <a:lnTo>
                  <a:pt x="4205224" y="1252093"/>
                </a:lnTo>
                <a:lnTo>
                  <a:pt x="4208272" y="1290066"/>
                </a:lnTo>
                <a:lnTo>
                  <a:pt x="4322191" y="1280795"/>
                </a:lnTo>
                <a:close/>
              </a:path>
              <a:path w="5237480" h="2181860">
                <a:moveTo>
                  <a:pt x="4322191" y="745109"/>
                </a:moveTo>
                <a:lnTo>
                  <a:pt x="4319143" y="707136"/>
                </a:lnTo>
                <a:lnTo>
                  <a:pt x="4205224" y="716407"/>
                </a:lnTo>
                <a:lnTo>
                  <a:pt x="4208272" y="754380"/>
                </a:lnTo>
                <a:lnTo>
                  <a:pt x="4322191" y="745109"/>
                </a:lnTo>
                <a:close/>
              </a:path>
              <a:path w="5237480" h="2181860">
                <a:moveTo>
                  <a:pt x="4322191" y="210185"/>
                </a:moveTo>
                <a:lnTo>
                  <a:pt x="4319143" y="172212"/>
                </a:lnTo>
                <a:lnTo>
                  <a:pt x="4205224" y="181483"/>
                </a:lnTo>
                <a:lnTo>
                  <a:pt x="4208272" y="219456"/>
                </a:lnTo>
                <a:lnTo>
                  <a:pt x="4322191" y="210185"/>
                </a:lnTo>
                <a:close/>
              </a:path>
              <a:path w="5237480" h="2181860">
                <a:moveTo>
                  <a:pt x="4467479" y="1781962"/>
                </a:moveTo>
                <a:lnTo>
                  <a:pt x="4464304" y="1743989"/>
                </a:lnTo>
                <a:lnTo>
                  <a:pt x="4350385" y="1753222"/>
                </a:lnTo>
                <a:lnTo>
                  <a:pt x="4353560" y="1791195"/>
                </a:lnTo>
                <a:lnTo>
                  <a:pt x="4467479" y="1781962"/>
                </a:lnTo>
                <a:close/>
              </a:path>
              <a:path w="5237480" h="2181860">
                <a:moveTo>
                  <a:pt x="4474083" y="1268222"/>
                </a:moveTo>
                <a:lnTo>
                  <a:pt x="4471035" y="1230249"/>
                </a:lnTo>
                <a:lnTo>
                  <a:pt x="4357116" y="1239647"/>
                </a:lnTo>
                <a:lnTo>
                  <a:pt x="4360164" y="1277620"/>
                </a:lnTo>
                <a:lnTo>
                  <a:pt x="4474083" y="1268222"/>
                </a:lnTo>
                <a:close/>
              </a:path>
              <a:path w="5237480" h="2181860">
                <a:moveTo>
                  <a:pt x="4474083" y="732536"/>
                </a:moveTo>
                <a:lnTo>
                  <a:pt x="4471035" y="694563"/>
                </a:lnTo>
                <a:lnTo>
                  <a:pt x="4357116" y="703961"/>
                </a:lnTo>
                <a:lnTo>
                  <a:pt x="4360164" y="741934"/>
                </a:lnTo>
                <a:lnTo>
                  <a:pt x="4474083" y="732536"/>
                </a:lnTo>
                <a:close/>
              </a:path>
              <a:path w="5237480" h="2181860">
                <a:moveTo>
                  <a:pt x="4474083" y="197612"/>
                </a:moveTo>
                <a:lnTo>
                  <a:pt x="4471035" y="159639"/>
                </a:lnTo>
                <a:lnTo>
                  <a:pt x="4357116" y="169037"/>
                </a:lnTo>
                <a:lnTo>
                  <a:pt x="4360164" y="207010"/>
                </a:lnTo>
                <a:lnTo>
                  <a:pt x="4474083" y="197612"/>
                </a:lnTo>
                <a:close/>
              </a:path>
              <a:path w="5237480" h="2181860">
                <a:moveTo>
                  <a:pt x="4619371" y="1769656"/>
                </a:moveTo>
                <a:lnTo>
                  <a:pt x="4616196" y="1731683"/>
                </a:lnTo>
                <a:lnTo>
                  <a:pt x="4502277" y="1740903"/>
                </a:lnTo>
                <a:lnTo>
                  <a:pt x="4505452" y="1778889"/>
                </a:lnTo>
                <a:lnTo>
                  <a:pt x="4619371" y="1769656"/>
                </a:lnTo>
                <a:close/>
              </a:path>
              <a:path w="5237480" h="2181860">
                <a:moveTo>
                  <a:pt x="4625975" y="1255776"/>
                </a:moveTo>
                <a:lnTo>
                  <a:pt x="4622927" y="1217803"/>
                </a:lnTo>
                <a:lnTo>
                  <a:pt x="4509008" y="1227201"/>
                </a:lnTo>
                <a:lnTo>
                  <a:pt x="4512056" y="1265174"/>
                </a:lnTo>
                <a:lnTo>
                  <a:pt x="4625975" y="1255776"/>
                </a:lnTo>
                <a:close/>
              </a:path>
              <a:path w="5237480" h="2181860">
                <a:moveTo>
                  <a:pt x="4625975" y="720090"/>
                </a:moveTo>
                <a:lnTo>
                  <a:pt x="4622927" y="682117"/>
                </a:lnTo>
                <a:lnTo>
                  <a:pt x="4509008" y="691515"/>
                </a:lnTo>
                <a:lnTo>
                  <a:pt x="4512056" y="729488"/>
                </a:lnTo>
                <a:lnTo>
                  <a:pt x="4625975" y="720090"/>
                </a:lnTo>
                <a:close/>
              </a:path>
              <a:path w="5237480" h="2181860">
                <a:moveTo>
                  <a:pt x="4625975" y="185166"/>
                </a:moveTo>
                <a:lnTo>
                  <a:pt x="4622927" y="147193"/>
                </a:lnTo>
                <a:lnTo>
                  <a:pt x="4509008" y="156591"/>
                </a:lnTo>
                <a:lnTo>
                  <a:pt x="4512056" y="194564"/>
                </a:lnTo>
                <a:lnTo>
                  <a:pt x="4625975" y="185166"/>
                </a:lnTo>
                <a:close/>
              </a:path>
              <a:path w="5237480" h="2181860">
                <a:moveTo>
                  <a:pt x="4771263" y="1757337"/>
                </a:moveTo>
                <a:lnTo>
                  <a:pt x="4768215" y="1719364"/>
                </a:lnTo>
                <a:lnTo>
                  <a:pt x="4654169" y="1728597"/>
                </a:lnTo>
                <a:lnTo>
                  <a:pt x="4657344" y="1766570"/>
                </a:lnTo>
                <a:lnTo>
                  <a:pt x="4771263" y="1757337"/>
                </a:lnTo>
                <a:close/>
              </a:path>
              <a:path w="5237480" h="2181860">
                <a:moveTo>
                  <a:pt x="4777867" y="1243330"/>
                </a:moveTo>
                <a:lnTo>
                  <a:pt x="4774819" y="1205357"/>
                </a:lnTo>
                <a:lnTo>
                  <a:pt x="4660900" y="1214755"/>
                </a:lnTo>
                <a:lnTo>
                  <a:pt x="4663948" y="1252728"/>
                </a:lnTo>
                <a:lnTo>
                  <a:pt x="4777867" y="1243330"/>
                </a:lnTo>
                <a:close/>
              </a:path>
              <a:path w="5237480" h="2181860">
                <a:moveTo>
                  <a:pt x="4777867" y="707644"/>
                </a:moveTo>
                <a:lnTo>
                  <a:pt x="4774819" y="669671"/>
                </a:lnTo>
                <a:lnTo>
                  <a:pt x="4660900" y="679069"/>
                </a:lnTo>
                <a:lnTo>
                  <a:pt x="4663948" y="717042"/>
                </a:lnTo>
                <a:lnTo>
                  <a:pt x="4777867" y="707644"/>
                </a:lnTo>
                <a:close/>
              </a:path>
              <a:path w="5237480" h="2181860">
                <a:moveTo>
                  <a:pt x="4777867" y="172720"/>
                </a:moveTo>
                <a:lnTo>
                  <a:pt x="4774819" y="134747"/>
                </a:lnTo>
                <a:lnTo>
                  <a:pt x="4660900" y="144145"/>
                </a:lnTo>
                <a:lnTo>
                  <a:pt x="4663948" y="182118"/>
                </a:lnTo>
                <a:lnTo>
                  <a:pt x="4777867" y="172720"/>
                </a:lnTo>
                <a:close/>
              </a:path>
              <a:path w="5237480" h="2181860">
                <a:moveTo>
                  <a:pt x="4923155" y="1745030"/>
                </a:moveTo>
                <a:lnTo>
                  <a:pt x="4920107" y="1707057"/>
                </a:lnTo>
                <a:lnTo>
                  <a:pt x="4806188" y="1716290"/>
                </a:lnTo>
                <a:lnTo>
                  <a:pt x="4809236" y="1754263"/>
                </a:lnTo>
                <a:lnTo>
                  <a:pt x="4923155" y="1745030"/>
                </a:lnTo>
                <a:close/>
              </a:path>
              <a:path w="5237480" h="2181860">
                <a:moveTo>
                  <a:pt x="4929759" y="1230884"/>
                </a:moveTo>
                <a:lnTo>
                  <a:pt x="4926711" y="1192911"/>
                </a:lnTo>
                <a:lnTo>
                  <a:pt x="4812792" y="1202182"/>
                </a:lnTo>
                <a:lnTo>
                  <a:pt x="4815840" y="1240155"/>
                </a:lnTo>
                <a:lnTo>
                  <a:pt x="4929759" y="1230884"/>
                </a:lnTo>
                <a:close/>
              </a:path>
              <a:path w="5237480" h="2181860">
                <a:moveTo>
                  <a:pt x="4929759" y="695198"/>
                </a:moveTo>
                <a:lnTo>
                  <a:pt x="4926711" y="657225"/>
                </a:lnTo>
                <a:lnTo>
                  <a:pt x="4812792" y="666496"/>
                </a:lnTo>
                <a:lnTo>
                  <a:pt x="4815840" y="704469"/>
                </a:lnTo>
                <a:lnTo>
                  <a:pt x="4929759" y="695198"/>
                </a:lnTo>
                <a:close/>
              </a:path>
              <a:path w="5237480" h="2181860">
                <a:moveTo>
                  <a:pt x="4929759" y="160274"/>
                </a:moveTo>
                <a:lnTo>
                  <a:pt x="4926711" y="122301"/>
                </a:lnTo>
                <a:lnTo>
                  <a:pt x="4812792" y="131572"/>
                </a:lnTo>
                <a:lnTo>
                  <a:pt x="4815840" y="169545"/>
                </a:lnTo>
                <a:lnTo>
                  <a:pt x="4929759" y="160274"/>
                </a:lnTo>
                <a:close/>
              </a:path>
              <a:path w="5237480" h="2181860">
                <a:moveTo>
                  <a:pt x="5075047" y="1732724"/>
                </a:moveTo>
                <a:lnTo>
                  <a:pt x="5071999" y="1694751"/>
                </a:lnTo>
                <a:lnTo>
                  <a:pt x="4958080" y="1703984"/>
                </a:lnTo>
                <a:lnTo>
                  <a:pt x="4961128" y="1741957"/>
                </a:lnTo>
                <a:lnTo>
                  <a:pt x="5075047" y="1732724"/>
                </a:lnTo>
                <a:close/>
              </a:path>
              <a:path w="5237480" h="2181860">
                <a:moveTo>
                  <a:pt x="5081651" y="1218311"/>
                </a:moveTo>
                <a:lnTo>
                  <a:pt x="5078603" y="1180338"/>
                </a:lnTo>
                <a:lnTo>
                  <a:pt x="4964684" y="1189736"/>
                </a:lnTo>
                <a:lnTo>
                  <a:pt x="4967732" y="1227709"/>
                </a:lnTo>
                <a:lnTo>
                  <a:pt x="5081651" y="1218311"/>
                </a:lnTo>
                <a:close/>
              </a:path>
              <a:path w="5237480" h="2181860">
                <a:moveTo>
                  <a:pt x="5081651" y="682625"/>
                </a:moveTo>
                <a:lnTo>
                  <a:pt x="5078603" y="644652"/>
                </a:lnTo>
                <a:lnTo>
                  <a:pt x="4964684" y="654050"/>
                </a:lnTo>
                <a:lnTo>
                  <a:pt x="4967732" y="692023"/>
                </a:lnTo>
                <a:lnTo>
                  <a:pt x="5081651" y="682625"/>
                </a:lnTo>
                <a:close/>
              </a:path>
              <a:path w="5237480" h="2181860">
                <a:moveTo>
                  <a:pt x="5081651" y="147701"/>
                </a:moveTo>
                <a:lnTo>
                  <a:pt x="5078603" y="109728"/>
                </a:lnTo>
                <a:lnTo>
                  <a:pt x="4964684" y="119126"/>
                </a:lnTo>
                <a:lnTo>
                  <a:pt x="4967732" y="157099"/>
                </a:lnTo>
                <a:lnTo>
                  <a:pt x="5081651" y="147701"/>
                </a:lnTo>
                <a:close/>
              </a:path>
              <a:path w="5237480" h="2181860">
                <a:moveTo>
                  <a:pt x="5236972" y="2124456"/>
                </a:moveTo>
                <a:lnTo>
                  <a:pt x="5198872" y="2105406"/>
                </a:lnTo>
                <a:lnTo>
                  <a:pt x="5122672" y="2067306"/>
                </a:lnTo>
                <a:lnTo>
                  <a:pt x="5122672" y="2105406"/>
                </a:lnTo>
                <a:lnTo>
                  <a:pt x="475983" y="2105406"/>
                </a:lnTo>
                <a:lnTo>
                  <a:pt x="518033" y="2102002"/>
                </a:lnTo>
                <a:lnTo>
                  <a:pt x="514858" y="2064029"/>
                </a:lnTo>
                <a:lnTo>
                  <a:pt x="400939" y="2073262"/>
                </a:lnTo>
                <a:lnTo>
                  <a:pt x="403517" y="2105406"/>
                </a:lnTo>
                <a:lnTo>
                  <a:pt x="365290" y="2105406"/>
                </a:lnTo>
                <a:lnTo>
                  <a:pt x="362966" y="2076335"/>
                </a:lnTo>
                <a:lnTo>
                  <a:pt x="249047" y="2085568"/>
                </a:lnTo>
                <a:lnTo>
                  <a:pt x="250634" y="2105406"/>
                </a:lnTo>
                <a:lnTo>
                  <a:pt x="212407" y="2105406"/>
                </a:lnTo>
                <a:lnTo>
                  <a:pt x="211074" y="2088642"/>
                </a:lnTo>
                <a:lnTo>
                  <a:pt x="118478" y="2096160"/>
                </a:lnTo>
                <a:lnTo>
                  <a:pt x="115443" y="2058174"/>
                </a:lnTo>
                <a:lnTo>
                  <a:pt x="37414" y="2105406"/>
                </a:lnTo>
                <a:lnTo>
                  <a:pt x="0" y="2105406"/>
                </a:lnTo>
                <a:lnTo>
                  <a:pt x="0" y="2143506"/>
                </a:lnTo>
                <a:lnTo>
                  <a:pt x="53594" y="2143506"/>
                </a:lnTo>
                <a:lnTo>
                  <a:pt x="124587" y="2172106"/>
                </a:lnTo>
                <a:lnTo>
                  <a:pt x="122275" y="2143506"/>
                </a:lnTo>
                <a:lnTo>
                  <a:pt x="5122672" y="2143506"/>
                </a:lnTo>
                <a:lnTo>
                  <a:pt x="5122672" y="2181606"/>
                </a:lnTo>
                <a:lnTo>
                  <a:pt x="5198872" y="2143506"/>
                </a:lnTo>
                <a:lnTo>
                  <a:pt x="5236972" y="2124456"/>
                </a:lnTo>
                <a:close/>
              </a:path>
              <a:path w="5237480" h="2181860">
                <a:moveTo>
                  <a:pt x="5236972" y="1655826"/>
                </a:moveTo>
                <a:lnTo>
                  <a:pt x="5198872" y="1636776"/>
                </a:lnTo>
                <a:lnTo>
                  <a:pt x="5122672" y="1598676"/>
                </a:lnTo>
                <a:lnTo>
                  <a:pt x="5122672" y="1636776"/>
                </a:lnTo>
                <a:lnTo>
                  <a:pt x="122466" y="1636776"/>
                </a:lnTo>
                <a:lnTo>
                  <a:pt x="121666" y="1626997"/>
                </a:lnTo>
                <a:lnTo>
                  <a:pt x="121577" y="1625828"/>
                </a:lnTo>
                <a:lnTo>
                  <a:pt x="221234" y="1617637"/>
                </a:lnTo>
                <a:lnTo>
                  <a:pt x="218186" y="1579664"/>
                </a:lnTo>
                <a:lnTo>
                  <a:pt x="118440" y="1587868"/>
                </a:lnTo>
                <a:lnTo>
                  <a:pt x="115316" y="1549882"/>
                </a:lnTo>
                <a:lnTo>
                  <a:pt x="6096" y="1616189"/>
                </a:lnTo>
                <a:lnTo>
                  <a:pt x="57378" y="1636776"/>
                </a:lnTo>
                <a:lnTo>
                  <a:pt x="0" y="1636776"/>
                </a:lnTo>
                <a:lnTo>
                  <a:pt x="0" y="1674876"/>
                </a:lnTo>
                <a:lnTo>
                  <a:pt x="5122672" y="1674876"/>
                </a:lnTo>
                <a:lnTo>
                  <a:pt x="5122672" y="1712976"/>
                </a:lnTo>
                <a:lnTo>
                  <a:pt x="5198872" y="1674876"/>
                </a:lnTo>
                <a:lnTo>
                  <a:pt x="5236972" y="1655826"/>
                </a:lnTo>
                <a:close/>
              </a:path>
              <a:path w="5237480" h="2181860">
                <a:moveTo>
                  <a:pt x="5236972" y="1123188"/>
                </a:moveTo>
                <a:lnTo>
                  <a:pt x="5198872" y="1104138"/>
                </a:lnTo>
                <a:lnTo>
                  <a:pt x="5122672" y="1066038"/>
                </a:lnTo>
                <a:lnTo>
                  <a:pt x="5122672" y="1104138"/>
                </a:lnTo>
                <a:lnTo>
                  <a:pt x="122720" y="1104138"/>
                </a:lnTo>
                <a:lnTo>
                  <a:pt x="121666" y="1091311"/>
                </a:lnTo>
                <a:lnTo>
                  <a:pt x="121577" y="1090142"/>
                </a:lnTo>
                <a:lnTo>
                  <a:pt x="221234" y="1081913"/>
                </a:lnTo>
                <a:lnTo>
                  <a:pt x="218186" y="1043940"/>
                </a:lnTo>
                <a:lnTo>
                  <a:pt x="118440" y="1052169"/>
                </a:lnTo>
                <a:lnTo>
                  <a:pt x="115316" y="1014222"/>
                </a:lnTo>
                <a:lnTo>
                  <a:pt x="6096" y="1080516"/>
                </a:lnTo>
                <a:lnTo>
                  <a:pt x="64909" y="1104138"/>
                </a:lnTo>
                <a:lnTo>
                  <a:pt x="0" y="1104138"/>
                </a:lnTo>
                <a:lnTo>
                  <a:pt x="0" y="1142238"/>
                </a:lnTo>
                <a:lnTo>
                  <a:pt x="5122672" y="1142238"/>
                </a:lnTo>
                <a:lnTo>
                  <a:pt x="5122672" y="1180338"/>
                </a:lnTo>
                <a:lnTo>
                  <a:pt x="5198872" y="1142238"/>
                </a:lnTo>
                <a:lnTo>
                  <a:pt x="5236972" y="1123188"/>
                </a:lnTo>
                <a:close/>
              </a:path>
              <a:path w="5237480" h="2181860">
                <a:moveTo>
                  <a:pt x="5236972" y="589788"/>
                </a:moveTo>
                <a:lnTo>
                  <a:pt x="5198872" y="570738"/>
                </a:lnTo>
                <a:lnTo>
                  <a:pt x="5122672" y="532638"/>
                </a:lnTo>
                <a:lnTo>
                  <a:pt x="5122672" y="570738"/>
                </a:lnTo>
                <a:lnTo>
                  <a:pt x="122847" y="570738"/>
                </a:lnTo>
                <a:lnTo>
                  <a:pt x="121666" y="556387"/>
                </a:lnTo>
                <a:lnTo>
                  <a:pt x="121577" y="555218"/>
                </a:lnTo>
                <a:lnTo>
                  <a:pt x="221234" y="546989"/>
                </a:lnTo>
                <a:lnTo>
                  <a:pt x="218186" y="509016"/>
                </a:lnTo>
                <a:lnTo>
                  <a:pt x="118440" y="517245"/>
                </a:lnTo>
                <a:lnTo>
                  <a:pt x="115316" y="479298"/>
                </a:lnTo>
                <a:lnTo>
                  <a:pt x="6096" y="545592"/>
                </a:lnTo>
                <a:lnTo>
                  <a:pt x="68719" y="570738"/>
                </a:lnTo>
                <a:lnTo>
                  <a:pt x="0" y="570738"/>
                </a:lnTo>
                <a:lnTo>
                  <a:pt x="0" y="608838"/>
                </a:lnTo>
                <a:lnTo>
                  <a:pt x="5122672" y="608838"/>
                </a:lnTo>
                <a:lnTo>
                  <a:pt x="5122672" y="646938"/>
                </a:lnTo>
                <a:lnTo>
                  <a:pt x="5198872" y="608838"/>
                </a:lnTo>
                <a:lnTo>
                  <a:pt x="5236972" y="589788"/>
                </a:lnTo>
                <a:close/>
              </a:path>
              <a:path w="5237480" h="2181860">
                <a:moveTo>
                  <a:pt x="5236972" y="57150"/>
                </a:moveTo>
                <a:lnTo>
                  <a:pt x="5198872" y="38100"/>
                </a:lnTo>
                <a:lnTo>
                  <a:pt x="5122672" y="0"/>
                </a:lnTo>
                <a:lnTo>
                  <a:pt x="5122672" y="38100"/>
                </a:lnTo>
                <a:lnTo>
                  <a:pt x="0" y="38100"/>
                </a:lnTo>
                <a:lnTo>
                  <a:pt x="0" y="76200"/>
                </a:lnTo>
                <a:lnTo>
                  <a:pt x="5122672" y="76200"/>
                </a:lnTo>
                <a:lnTo>
                  <a:pt x="5122672" y="114300"/>
                </a:lnTo>
                <a:lnTo>
                  <a:pt x="5198872" y="76200"/>
                </a:lnTo>
                <a:lnTo>
                  <a:pt x="5236972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6">
            <a:extLst>
              <a:ext uri="{FF2B5EF4-FFF2-40B4-BE49-F238E27FC236}">
                <a16:creationId xmlns:a16="http://schemas.microsoft.com/office/drawing/2014/main" id="{68F13FD2-2F8E-C94D-9AF7-5FA23DB0D4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04869" y="167146"/>
            <a:ext cx="684919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动态规划：一般步</a:t>
            </a:r>
            <a:r>
              <a:rPr spc="-60" dirty="0" err="1">
                <a:latin typeface="SimSun" panose="02010600030101010101" pitchFamily="2" charset="-122"/>
                <a:ea typeface="SimSun" panose="02010600030101010101" pitchFamily="2" charset="-122"/>
              </a:rPr>
              <a:t>骤</a:t>
            </a:r>
            <a:endParaRPr spc="-6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1253236"/>
            <a:ext cx="250380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记录决策过程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2385" y="1972182"/>
            <a:ext cx="66675" cy="283210"/>
          </a:xfrm>
          <a:custGeom>
            <a:avLst/>
            <a:gdLst/>
            <a:ahLst/>
            <a:cxnLst/>
            <a:rect l="l" t="t" r="r" b="b"/>
            <a:pathLst>
              <a:path w="66675" h="28321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41783" y="11430"/>
                </a:lnTo>
                <a:lnTo>
                  <a:pt x="41783" y="271780"/>
                </a:lnTo>
                <a:lnTo>
                  <a:pt x="0" y="271780"/>
                </a:lnTo>
                <a:lnTo>
                  <a:pt x="0" y="283210"/>
                </a:lnTo>
                <a:lnTo>
                  <a:pt x="66421" y="283210"/>
                </a:lnTo>
                <a:lnTo>
                  <a:pt x="66421" y="27178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844550" y="1972182"/>
            <a:ext cx="66675" cy="283210"/>
          </a:xfrm>
          <a:custGeom>
            <a:avLst/>
            <a:gdLst/>
            <a:ahLst/>
            <a:cxnLst/>
            <a:rect l="l" t="t" r="r" b="b"/>
            <a:pathLst>
              <a:path w="66675" h="28321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1780"/>
                </a:lnTo>
                <a:lnTo>
                  <a:pt x="0" y="283210"/>
                </a:lnTo>
                <a:lnTo>
                  <a:pt x="66421" y="283210"/>
                </a:lnTo>
                <a:lnTo>
                  <a:pt x="66421" y="271780"/>
                </a:lnTo>
                <a:lnTo>
                  <a:pt x="24765" y="271780"/>
                </a:lnTo>
                <a:lnTo>
                  <a:pt x="24765" y="1143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16306" y="1882774"/>
            <a:ext cx="20478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0045" indent="-347980">
              <a:lnSpc>
                <a:spcPct val="100000"/>
              </a:lnSpc>
              <a:spcBef>
                <a:spcPts val="10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360045" algn="l"/>
                <a:tab pos="360680" algn="l"/>
                <a:tab pos="1570990" algn="l"/>
              </a:tabLst>
            </a:pPr>
            <a:r>
              <a:rPr sz="2400" dirty="0">
                <a:latin typeface="Cambria Math"/>
                <a:cs typeface="Cambria Math"/>
              </a:rPr>
              <a:t>𝑹𝒆𝒄</a:t>
            </a:r>
            <a:r>
              <a:rPr sz="2400" spc="310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𝒊,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𝒄</a:t>
            </a:r>
            <a:r>
              <a:rPr sz="2400" dirty="0">
                <a:latin typeface="Cambria Math"/>
                <a:cs typeface="Cambria Math"/>
              </a:rPr>
              <a:t>	=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938909" y="1705991"/>
            <a:ext cx="1793239" cy="774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60705" algn="l"/>
              </a:tabLst>
            </a:pPr>
            <a:r>
              <a:rPr sz="2400" spc="-25" dirty="0">
                <a:latin typeface="Cambria Math"/>
                <a:cs typeface="Cambria Math"/>
              </a:rPr>
              <a:t>𝟏,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1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选择商品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560705" algn="l"/>
              </a:tabLst>
            </a:pPr>
            <a:r>
              <a:rPr sz="2400" spc="-25" dirty="0">
                <a:latin typeface="Cambria Math"/>
                <a:cs typeface="Cambria Math"/>
              </a:rPr>
              <a:t>𝟎,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1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不选商品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9116948" y="1018413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9"/>
                </a:lnTo>
                <a:lnTo>
                  <a:pt x="0" y="876426"/>
                </a:lnTo>
                <a:lnTo>
                  <a:pt x="7647" y="914364"/>
                </a:lnTo>
                <a:lnTo>
                  <a:pt x="28511" y="945324"/>
                </a:lnTo>
                <a:lnTo>
                  <a:pt x="59471" y="966188"/>
                </a:lnTo>
                <a:lnTo>
                  <a:pt x="97408" y="973836"/>
                </a:lnTo>
                <a:lnTo>
                  <a:pt x="1758823" y="973836"/>
                </a:lnTo>
                <a:lnTo>
                  <a:pt x="1796760" y="966188"/>
                </a:lnTo>
                <a:lnTo>
                  <a:pt x="1827720" y="945324"/>
                </a:lnTo>
                <a:lnTo>
                  <a:pt x="1848584" y="914364"/>
                </a:lnTo>
                <a:lnTo>
                  <a:pt x="1856231" y="876426"/>
                </a:lnTo>
                <a:lnTo>
                  <a:pt x="1856231" y="97409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9346438" y="1314449"/>
            <a:ext cx="13970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>
                <a:solidFill>
                  <a:srgbClr val="FFFFFF"/>
                </a:solidFill>
                <a:latin typeface="PMingLiU"/>
                <a:cs typeface="PMingLiU"/>
              </a:rPr>
              <a:t>问题结构分析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9825228" y="2052827"/>
            <a:ext cx="439420" cy="367030"/>
          </a:xfrm>
          <a:custGeom>
            <a:avLst/>
            <a:gdLst/>
            <a:ahLst/>
            <a:cxnLst/>
            <a:rect l="l" t="t" r="r" b="b"/>
            <a:pathLst>
              <a:path w="439420" h="367030">
                <a:moveTo>
                  <a:pt x="351154" y="0"/>
                </a:moveTo>
                <a:lnTo>
                  <a:pt x="87756" y="0"/>
                </a:lnTo>
                <a:lnTo>
                  <a:pt x="87756" y="183261"/>
                </a:lnTo>
                <a:lnTo>
                  <a:pt x="0" y="183261"/>
                </a:lnTo>
                <a:lnTo>
                  <a:pt x="219455" y="366522"/>
                </a:lnTo>
                <a:lnTo>
                  <a:pt x="438912" y="183261"/>
                </a:lnTo>
                <a:lnTo>
                  <a:pt x="351154" y="183261"/>
                </a:lnTo>
                <a:lnTo>
                  <a:pt x="35115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9116948" y="2480691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9"/>
                </a:lnTo>
                <a:lnTo>
                  <a:pt x="0" y="876426"/>
                </a:lnTo>
                <a:lnTo>
                  <a:pt x="7647" y="914364"/>
                </a:lnTo>
                <a:lnTo>
                  <a:pt x="28511" y="945324"/>
                </a:lnTo>
                <a:lnTo>
                  <a:pt x="59471" y="966188"/>
                </a:lnTo>
                <a:lnTo>
                  <a:pt x="97408" y="973836"/>
                </a:lnTo>
                <a:lnTo>
                  <a:pt x="1758823" y="973836"/>
                </a:lnTo>
                <a:lnTo>
                  <a:pt x="1796760" y="966188"/>
                </a:lnTo>
                <a:lnTo>
                  <a:pt x="1827720" y="945324"/>
                </a:lnTo>
                <a:lnTo>
                  <a:pt x="1848584" y="914364"/>
                </a:lnTo>
                <a:lnTo>
                  <a:pt x="1856231" y="876426"/>
                </a:lnTo>
                <a:lnTo>
                  <a:pt x="1856231" y="97409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9346438" y="2776982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>
                <a:solidFill>
                  <a:srgbClr val="FFFFFF"/>
                </a:solidFill>
                <a:latin typeface="PMingLiU"/>
                <a:cs typeface="PMingLiU"/>
              </a:rPr>
              <a:t>递推关系建立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9825228" y="3515105"/>
            <a:ext cx="439420" cy="365125"/>
          </a:xfrm>
          <a:custGeom>
            <a:avLst/>
            <a:gdLst/>
            <a:ahLst/>
            <a:cxnLst/>
            <a:rect l="l" t="t" r="r" b="b"/>
            <a:pathLst>
              <a:path w="439420" h="365125">
                <a:moveTo>
                  <a:pt x="351154" y="0"/>
                </a:moveTo>
                <a:lnTo>
                  <a:pt x="87756" y="0"/>
                </a:lnTo>
                <a:lnTo>
                  <a:pt x="87756" y="182499"/>
                </a:lnTo>
                <a:lnTo>
                  <a:pt x="0" y="182499"/>
                </a:lnTo>
                <a:lnTo>
                  <a:pt x="219455" y="364998"/>
                </a:lnTo>
                <a:lnTo>
                  <a:pt x="438912" y="182499"/>
                </a:lnTo>
                <a:lnTo>
                  <a:pt x="351154" y="182499"/>
                </a:lnTo>
                <a:lnTo>
                  <a:pt x="35115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9116948" y="3941445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8"/>
                </a:lnTo>
                <a:lnTo>
                  <a:pt x="0" y="876426"/>
                </a:lnTo>
                <a:lnTo>
                  <a:pt x="7647" y="914364"/>
                </a:lnTo>
                <a:lnTo>
                  <a:pt x="28511" y="945324"/>
                </a:lnTo>
                <a:lnTo>
                  <a:pt x="59471" y="966188"/>
                </a:lnTo>
                <a:lnTo>
                  <a:pt x="97408" y="973835"/>
                </a:lnTo>
                <a:lnTo>
                  <a:pt x="1758823" y="973835"/>
                </a:lnTo>
                <a:lnTo>
                  <a:pt x="1796760" y="966188"/>
                </a:lnTo>
                <a:lnTo>
                  <a:pt x="1827720" y="945324"/>
                </a:lnTo>
                <a:lnTo>
                  <a:pt x="1848584" y="914364"/>
                </a:lnTo>
                <a:lnTo>
                  <a:pt x="1856231" y="876426"/>
                </a:lnTo>
                <a:lnTo>
                  <a:pt x="1856231" y="97408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9346438" y="4237735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>
                <a:solidFill>
                  <a:srgbClr val="FFFFFF"/>
                </a:solidFill>
                <a:latin typeface="PMingLiU"/>
                <a:cs typeface="PMingLiU"/>
              </a:rPr>
              <a:t>自底向上计算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9825228" y="4975859"/>
            <a:ext cx="439420" cy="365125"/>
          </a:xfrm>
          <a:custGeom>
            <a:avLst/>
            <a:gdLst/>
            <a:ahLst/>
            <a:cxnLst/>
            <a:rect l="l" t="t" r="r" b="b"/>
            <a:pathLst>
              <a:path w="439420" h="365125">
                <a:moveTo>
                  <a:pt x="351154" y="0"/>
                </a:moveTo>
                <a:lnTo>
                  <a:pt x="87756" y="0"/>
                </a:lnTo>
                <a:lnTo>
                  <a:pt x="87756" y="182498"/>
                </a:lnTo>
                <a:lnTo>
                  <a:pt x="0" y="182498"/>
                </a:lnTo>
                <a:lnTo>
                  <a:pt x="219455" y="364997"/>
                </a:lnTo>
                <a:lnTo>
                  <a:pt x="438912" y="182498"/>
                </a:lnTo>
                <a:lnTo>
                  <a:pt x="351154" y="182498"/>
                </a:lnTo>
                <a:lnTo>
                  <a:pt x="35115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9116948" y="5402198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9"/>
                </a:lnTo>
                <a:lnTo>
                  <a:pt x="0" y="876452"/>
                </a:lnTo>
                <a:lnTo>
                  <a:pt x="7647" y="914358"/>
                </a:lnTo>
                <a:lnTo>
                  <a:pt x="28511" y="945313"/>
                </a:lnTo>
                <a:lnTo>
                  <a:pt x="59471" y="966183"/>
                </a:lnTo>
                <a:lnTo>
                  <a:pt x="97408" y="973835"/>
                </a:lnTo>
                <a:lnTo>
                  <a:pt x="1758823" y="973835"/>
                </a:lnTo>
                <a:lnTo>
                  <a:pt x="1796760" y="966183"/>
                </a:lnTo>
                <a:lnTo>
                  <a:pt x="1827720" y="945313"/>
                </a:lnTo>
                <a:lnTo>
                  <a:pt x="1848584" y="914358"/>
                </a:lnTo>
                <a:lnTo>
                  <a:pt x="1856231" y="876452"/>
                </a:lnTo>
                <a:lnTo>
                  <a:pt x="1856231" y="97409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83C8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9346438" y="5698744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>
                <a:solidFill>
                  <a:srgbClr val="FFFFFF"/>
                </a:solidFill>
                <a:latin typeface="PMingLiU"/>
                <a:cs typeface="PMingLiU"/>
              </a:rPr>
              <a:t>最优方案追踪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35" name="左大括号 34">
            <a:extLst>
              <a:ext uri="{FF2B5EF4-FFF2-40B4-BE49-F238E27FC236}">
                <a16:creationId xmlns:a16="http://schemas.microsoft.com/office/drawing/2014/main" id="{9135434D-5F2D-EA4D-867D-F36598742814}"/>
              </a:ext>
            </a:extLst>
          </p:cNvPr>
          <p:cNvSpPr/>
          <p:nvPr/>
        </p:nvSpPr>
        <p:spPr>
          <a:xfrm>
            <a:off x="2720027" y="1819656"/>
            <a:ext cx="178689" cy="547369"/>
          </a:xfrm>
          <a:prstGeom prst="leftBrace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object 2">
            <a:extLst>
              <a:ext uri="{FF2B5EF4-FFF2-40B4-BE49-F238E27FC236}">
                <a16:creationId xmlns:a16="http://schemas.microsoft.com/office/drawing/2014/main" id="{92EB420A-C147-3E41-B26D-134ECA984E22}"/>
              </a:ext>
            </a:extLst>
          </p:cNvPr>
          <p:cNvSpPr txBox="1"/>
          <p:nvPr/>
        </p:nvSpPr>
        <p:spPr>
          <a:xfrm>
            <a:off x="688340" y="2763544"/>
            <a:ext cx="3765550" cy="98806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19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输出最优方案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1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倒序判断是否选择商品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37" name="object 3">
            <a:extLst>
              <a:ext uri="{FF2B5EF4-FFF2-40B4-BE49-F238E27FC236}">
                <a16:creationId xmlns:a16="http://schemas.microsoft.com/office/drawing/2014/main" id="{6940E3EE-A8F5-E94A-851D-709D5D796894}"/>
              </a:ext>
            </a:extLst>
          </p:cNvPr>
          <p:cNvSpPr/>
          <p:nvPr/>
        </p:nvSpPr>
        <p:spPr>
          <a:xfrm>
            <a:off x="2418842" y="3887330"/>
            <a:ext cx="66675" cy="284480"/>
          </a:xfrm>
          <a:custGeom>
            <a:avLst/>
            <a:gdLst/>
            <a:ahLst/>
            <a:cxnLst/>
            <a:rect l="l" t="t" r="r" b="b"/>
            <a:pathLst>
              <a:path w="66675" h="28448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41783" y="11430"/>
                </a:lnTo>
                <a:lnTo>
                  <a:pt x="41783" y="273050"/>
                </a:lnTo>
                <a:lnTo>
                  <a:pt x="0" y="273050"/>
                </a:lnTo>
                <a:lnTo>
                  <a:pt x="0" y="284480"/>
                </a:lnTo>
                <a:lnTo>
                  <a:pt x="66421" y="284480"/>
                </a:lnTo>
                <a:lnTo>
                  <a:pt x="66421" y="27305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4">
            <a:extLst>
              <a:ext uri="{FF2B5EF4-FFF2-40B4-BE49-F238E27FC236}">
                <a16:creationId xmlns:a16="http://schemas.microsoft.com/office/drawing/2014/main" id="{B7100AD8-6F2C-4840-B476-5488E1048522}"/>
              </a:ext>
            </a:extLst>
          </p:cNvPr>
          <p:cNvSpPr/>
          <p:nvPr/>
        </p:nvSpPr>
        <p:spPr>
          <a:xfrm>
            <a:off x="1961007" y="3887330"/>
            <a:ext cx="66675" cy="284480"/>
          </a:xfrm>
          <a:custGeom>
            <a:avLst/>
            <a:gdLst/>
            <a:ahLst/>
            <a:cxnLst/>
            <a:rect l="l" t="t" r="r" b="b"/>
            <a:pathLst>
              <a:path w="66675" h="28448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3050"/>
                </a:lnTo>
                <a:lnTo>
                  <a:pt x="0" y="284480"/>
                </a:lnTo>
                <a:lnTo>
                  <a:pt x="66421" y="284480"/>
                </a:lnTo>
                <a:lnTo>
                  <a:pt x="66421" y="273050"/>
                </a:lnTo>
                <a:lnTo>
                  <a:pt x="24765" y="273050"/>
                </a:lnTo>
                <a:lnTo>
                  <a:pt x="24765" y="1143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5">
            <a:extLst>
              <a:ext uri="{FF2B5EF4-FFF2-40B4-BE49-F238E27FC236}">
                <a16:creationId xmlns:a16="http://schemas.microsoft.com/office/drawing/2014/main" id="{5FF54D9C-C9A5-8446-99E4-4DD34AFF31F6}"/>
              </a:ext>
            </a:extLst>
          </p:cNvPr>
          <p:cNvSpPr txBox="1"/>
          <p:nvPr/>
        </p:nvSpPr>
        <p:spPr>
          <a:xfrm>
            <a:off x="1032763" y="3798939"/>
            <a:ext cx="13931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0045" indent="-347980">
              <a:lnSpc>
                <a:spcPct val="100000"/>
              </a:lnSpc>
              <a:spcBef>
                <a:spcPts val="10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360045" algn="l"/>
                <a:tab pos="360680" algn="l"/>
              </a:tabLst>
            </a:pPr>
            <a:r>
              <a:rPr sz="2400">
                <a:latin typeface="Cambria Math"/>
                <a:cs typeface="Cambria Math"/>
              </a:rPr>
              <a:t>𝑹𝒆𝒄</a:t>
            </a:r>
            <a:r>
              <a:rPr sz="2400" spc="310">
                <a:latin typeface="Cambria Math"/>
                <a:cs typeface="Cambria Math"/>
              </a:rPr>
              <a:t> </a:t>
            </a:r>
            <a:r>
              <a:rPr sz="2400" spc="-10">
                <a:latin typeface="Cambria Math"/>
                <a:cs typeface="Cambria Math"/>
              </a:rPr>
              <a:t>𝒊,</a:t>
            </a:r>
            <a:r>
              <a:rPr sz="2400" spc="-135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𝒄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0" name="object 6">
            <a:extLst>
              <a:ext uri="{FF2B5EF4-FFF2-40B4-BE49-F238E27FC236}">
                <a16:creationId xmlns:a16="http://schemas.microsoft.com/office/drawing/2014/main" id="{694A30B9-5572-5148-884D-5E2DE9E40FBF}"/>
              </a:ext>
            </a:extLst>
          </p:cNvPr>
          <p:cNvSpPr txBox="1"/>
          <p:nvPr/>
        </p:nvSpPr>
        <p:spPr>
          <a:xfrm>
            <a:off x="2565907" y="3725787"/>
            <a:ext cx="6329045" cy="90360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75"/>
              </a:spcBef>
            </a:pPr>
            <a:r>
              <a:rPr sz="2400" spc="60" dirty="0">
                <a:latin typeface="Cambria Math"/>
                <a:cs typeface="Cambria Math"/>
              </a:rPr>
              <a:t>= </a:t>
            </a:r>
            <a:r>
              <a:rPr sz="2400" dirty="0">
                <a:latin typeface="Cambria Math"/>
                <a:cs typeface="Cambria Math"/>
              </a:rPr>
              <a:t>𝟏</a:t>
            </a:r>
            <a:r>
              <a:rPr sz="2400" dirty="0" err="1">
                <a:latin typeface="PMingLiU"/>
                <a:cs typeface="PMingLiU"/>
              </a:rPr>
              <a:t>时，选择商品</a:t>
            </a:r>
            <a:r>
              <a:rPr sz="2400" spc="-10" dirty="0">
                <a:latin typeface="Cambria Math"/>
                <a:cs typeface="Cambria Math"/>
              </a:rPr>
              <a:t>𝒊</a:t>
            </a:r>
            <a:r>
              <a:rPr sz="2400" spc="-5" dirty="0">
                <a:latin typeface="PMingLiU"/>
                <a:cs typeface="PMingLiU"/>
              </a:rPr>
              <a:t>，</a:t>
            </a:r>
            <a:r>
              <a:rPr sz="2400" spc="-5" dirty="0" err="1">
                <a:latin typeface="PMingLiU"/>
                <a:cs typeface="PMingLiU"/>
              </a:rPr>
              <a:t>考察子问题</a:t>
            </a:r>
            <a:r>
              <a:rPr sz="2400" dirty="0">
                <a:latin typeface="Cambria Math"/>
                <a:cs typeface="Cambria Math"/>
              </a:rPr>
              <a:t>𝑷[𝒊</a:t>
            </a:r>
            <a:r>
              <a:rPr sz="2400" spc="-5" dirty="0">
                <a:latin typeface="Cambria Math"/>
                <a:cs typeface="Cambria Math"/>
              </a:rPr>
              <a:t> − </a:t>
            </a:r>
            <a:r>
              <a:rPr sz="2400" dirty="0">
                <a:latin typeface="Cambria Math"/>
                <a:cs typeface="Cambria Math"/>
              </a:rPr>
              <a:t>𝟏,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𝒄</a:t>
            </a:r>
            <a:r>
              <a:rPr sz="2400" spc="-5" dirty="0">
                <a:latin typeface="Cambria Math"/>
                <a:cs typeface="Cambria Math"/>
              </a:rPr>
              <a:t> − </a:t>
            </a:r>
            <a:r>
              <a:rPr sz="2400" spc="-25" dirty="0">
                <a:latin typeface="Cambria Math"/>
                <a:cs typeface="Cambria Math"/>
              </a:rPr>
              <a:t>𝒗</a:t>
            </a:r>
            <a:r>
              <a:rPr sz="2625" spc="-37" baseline="-15873" dirty="0">
                <a:latin typeface="Cambria Math"/>
                <a:cs typeface="Cambria Math"/>
              </a:rPr>
              <a:t>𝒊</a:t>
            </a:r>
            <a:r>
              <a:rPr sz="2400" spc="-25" dirty="0">
                <a:latin typeface="Cambria Math"/>
                <a:cs typeface="Cambria Math"/>
              </a:rPr>
              <a:t>]</a:t>
            </a:r>
            <a:endParaRPr sz="2400" dirty="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575"/>
              </a:spcBef>
            </a:pPr>
            <a:r>
              <a:rPr sz="2400" spc="60" dirty="0">
                <a:latin typeface="Cambria Math"/>
                <a:cs typeface="Cambria Math"/>
              </a:rPr>
              <a:t>= </a:t>
            </a:r>
            <a:r>
              <a:rPr sz="2400" dirty="0">
                <a:latin typeface="Cambria Math"/>
                <a:cs typeface="Cambria Math"/>
              </a:rPr>
              <a:t>𝟎</a:t>
            </a:r>
            <a:r>
              <a:rPr sz="2400" dirty="0" err="1">
                <a:latin typeface="PMingLiU"/>
                <a:cs typeface="PMingLiU"/>
              </a:rPr>
              <a:t>时，不选商品</a:t>
            </a:r>
            <a:r>
              <a:rPr sz="2400" spc="-10" dirty="0">
                <a:latin typeface="Cambria Math"/>
                <a:cs typeface="Cambria Math"/>
              </a:rPr>
              <a:t>𝒊</a:t>
            </a:r>
            <a:r>
              <a:rPr sz="2400" spc="-5" dirty="0">
                <a:latin typeface="PMingLiU"/>
                <a:cs typeface="PMingLiU"/>
              </a:rPr>
              <a:t>，</a:t>
            </a:r>
            <a:r>
              <a:rPr sz="2400" spc="-5" dirty="0" err="1">
                <a:latin typeface="PMingLiU"/>
                <a:cs typeface="PMingLiU"/>
              </a:rPr>
              <a:t>考察子问题</a:t>
            </a:r>
            <a:r>
              <a:rPr sz="2400" dirty="0">
                <a:latin typeface="Cambria Math"/>
                <a:cs typeface="Cambria Math"/>
              </a:rPr>
              <a:t>𝑷[𝒊 − 𝟏,</a:t>
            </a:r>
            <a:r>
              <a:rPr sz="2400" spc="-130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𝒄]</a:t>
            </a:r>
            <a:endParaRPr sz="2400" dirty="0">
              <a:latin typeface="Cambria Math"/>
              <a:cs typeface="Cambria Math"/>
            </a:endParaRPr>
          </a:p>
        </p:txBody>
      </p:sp>
      <p:sp>
        <p:nvSpPr>
          <p:cNvPr id="41" name="object 7">
            <a:extLst>
              <a:ext uri="{FF2B5EF4-FFF2-40B4-BE49-F238E27FC236}">
                <a16:creationId xmlns:a16="http://schemas.microsoft.com/office/drawing/2014/main" id="{782B9B8A-3054-CF4B-B2EC-343691E76F63}"/>
              </a:ext>
            </a:extLst>
          </p:cNvPr>
          <p:cNvSpPr/>
          <p:nvPr/>
        </p:nvSpPr>
        <p:spPr>
          <a:xfrm>
            <a:off x="2418842" y="4326750"/>
            <a:ext cx="66675" cy="283210"/>
          </a:xfrm>
          <a:custGeom>
            <a:avLst/>
            <a:gdLst/>
            <a:ahLst/>
            <a:cxnLst/>
            <a:rect l="l" t="t" r="r" b="b"/>
            <a:pathLst>
              <a:path w="66675" h="28321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41783" y="11430"/>
                </a:lnTo>
                <a:lnTo>
                  <a:pt x="41783" y="271780"/>
                </a:lnTo>
                <a:lnTo>
                  <a:pt x="0" y="271780"/>
                </a:lnTo>
                <a:lnTo>
                  <a:pt x="0" y="283210"/>
                </a:lnTo>
                <a:lnTo>
                  <a:pt x="66421" y="283210"/>
                </a:lnTo>
                <a:lnTo>
                  <a:pt x="66421" y="27178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8">
            <a:extLst>
              <a:ext uri="{FF2B5EF4-FFF2-40B4-BE49-F238E27FC236}">
                <a16:creationId xmlns:a16="http://schemas.microsoft.com/office/drawing/2014/main" id="{EB3BA590-332A-E34B-B007-1D36B25BE494}"/>
              </a:ext>
            </a:extLst>
          </p:cNvPr>
          <p:cNvSpPr/>
          <p:nvPr/>
        </p:nvSpPr>
        <p:spPr>
          <a:xfrm>
            <a:off x="1961007" y="4326750"/>
            <a:ext cx="66675" cy="283210"/>
          </a:xfrm>
          <a:custGeom>
            <a:avLst/>
            <a:gdLst/>
            <a:ahLst/>
            <a:cxnLst/>
            <a:rect l="l" t="t" r="r" b="b"/>
            <a:pathLst>
              <a:path w="66675" h="28321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1780"/>
                </a:lnTo>
                <a:lnTo>
                  <a:pt x="0" y="283210"/>
                </a:lnTo>
                <a:lnTo>
                  <a:pt x="66421" y="283210"/>
                </a:lnTo>
                <a:lnTo>
                  <a:pt x="66421" y="271780"/>
                </a:lnTo>
                <a:lnTo>
                  <a:pt x="24765" y="271780"/>
                </a:lnTo>
                <a:lnTo>
                  <a:pt x="24765" y="1143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9">
            <a:extLst>
              <a:ext uri="{FF2B5EF4-FFF2-40B4-BE49-F238E27FC236}">
                <a16:creationId xmlns:a16="http://schemas.microsoft.com/office/drawing/2014/main" id="{D3F314C9-687D-A444-91A5-099B6DD5A85F}"/>
              </a:ext>
            </a:extLst>
          </p:cNvPr>
          <p:cNvSpPr txBox="1"/>
          <p:nvPr/>
        </p:nvSpPr>
        <p:spPr>
          <a:xfrm>
            <a:off x="1032763" y="4237851"/>
            <a:ext cx="13931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0045" indent="-347980">
              <a:lnSpc>
                <a:spcPct val="100000"/>
              </a:lnSpc>
              <a:spcBef>
                <a:spcPts val="10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360045" algn="l"/>
                <a:tab pos="360680" algn="l"/>
              </a:tabLst>
            </a:pPr>
            <a:r>
              <a:rPr sz="2400">
                <a:latin typeface="Cambria Math"/>
                <a:cs typeface="Cambria Math"/>
              </a:rPr>
              <a:t>𝑹𝒆𝒄</a:t>
            </a:r>
            <a:r>
              <a:rPr sz="2400" spc="310">
                <a:latin typeface="Cambria Math"/>
                <a:cs typeface="Cambria Math"/>
              </a:rPr>
              <a:t> </a:t>
            </a:r>
            <a:r>
              <a:rPr sz="2400" spc="-10">
                <a:latin typeface="Cambria Math"/>
                <a:cs typeface="Cambria Math"/>
              </a:rPr>
              <a:t>𝒊,</a:t>
            </a:r>
            <a:r>
              <a:rPr sz="2400" spc="-135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𝒄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4" name="object 6">
            <a:extLst>
              <a:ext uri="{FF2B5EF4-FFF2-40B4-BE49-F238E27FC236}">
                <a16:creationId xmlns:a16="http://schemas.microsoft.com/office/drawing/2014/main" id="{DF606143-8182-8F45-B2D1-DD61ECBCAF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04869" y="167146"/>
            <a:ext cx="684919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动态规划：一般步</a:t>
            </a:r>
            <a:r>
              <a:rPr spc="-60" dirty="0" err="1">
                <a:latin typeface="SimSun" panose="02010600030101010101" pitchFamily="2" charset="-122"/>
                <a:ea typeface="SimSun" panose="02010600030101010101" pitchFamily="2" charset="-122"/>
              </a:rPr>
              <a:t>骤</a:t>
            </a:r>
            <a:endParaRPr spc="-6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89F25AF-86B9-C443-AC0F-408445C8B7A5}"/>
              </a:ext>
            </a:extLst>
          </p:cNvPr>
          <p:cNvSpPr txBox="1"/>
          <p:nvPr/>
        </p:nvSpPr>
        <p:spPr>
          <a:xfrm>
            <a:off x="1268729" y="232528"/>
            <a:ext cx="491831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问题背景</a:t>
            </a:r>
            <a:r>
              <a:rPr lang="en-US" altLang="zh-CN" sz="4400" dirty="0">
                <a:latin typeface="SimSun" panose="02010600030101010101" pitchFamily="2" charset="-122"/>
                <a:ea typeface="SimSun" panose="02010600030101010101" pitchFamily="2" charset="-122"/>
              </a:rPr>
              <a:t>--</a:t>
            </a:r>
            <a:r>
              <a:rPr lang="zh-CN" altLang="en-US" sz="4000" dirty="0">
                <a:latin typeface="SimSun" panose="02010600030101010101" pitchFamily="2" charset="-122"/>
                <a:ea typeface="SimSun" panose="02010600030101010101" pitchFamily="2" charset="-122"/>
              </a:rPr>
              <a:t>子数组</a:t>
            </a:r>
            <a:endParaRPr lang="zh-CN" altLang="en-US" sz="44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72421C4E-4B51-8444-ABD2-3931488AD65F}"/>
              </a:ext>
            </a:extLst>
          </p:cNvPr>
          <p:cNvGraphicFramePr>
            <a:graphicFrameLocks noGrp="1"/>
          </p:cNvGraphicFramePr>
          <p:nvPr/>
        </p:nvGraphicFramePr>
        <p:xfrm>
          <a:off x="3000248" y="1348598"/>
          <a:ext cx="6254750" cy="10369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610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9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94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spc="-50">
                          <a:latin typeface="Cambria Math"/>
                          <a:cs typeface="Cambria Math"/>
                        </a:rPr>
                        <a:t>𝑿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78105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dirty="0">
                          <a:latin typeface="Times New Roman"/>
                          <a:cs typeface="Times New Roman"/>
                        </a:rPr>
                        <a:t>6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object 4">
            <a:extLst>
              <a:ext uri="{FF2B5EF4-FFF2-40B4-BE49-F238E27FC236}">
                <a16:creationId xmlns:a16="http://schemas.microsoft.com/office/drawing/2014/main" id="{235A3FBF-0E2F-2745-B661-B96E2AE4730C}"/>
              </a:ext>
            </a:extLst>
          </p:cNvPr>
          <p:cNvSpPr txBox="1"/>
          <p:nvPr/>
        </p:nvSpPr>
        <p:spPr>
          <a:xfrm>
            <a:off x="795218" y="2756788"/>
            <a:ext cx="559689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b="1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子数组</a:t>
            </a: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为数组</a:t>
            </a:r>
            <a:r>
              <a:rPr sz="28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𝑿</a:t>
            </a: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中</a:t>
            </a:r>
            <a:r>
              <a:rPr sz="2800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连续</a:t>
            </a:r>
            <a:r>
              <a:rPr sz="28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的一段序列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</p:spTree>
    <p:extLst>
      <p:ext uri="{BB962C8B-B14F-4D97-AF65-F5344CB8AC3E}">
        <p14:creationId xmlns:p14="http://schemas.microsoft.com/office/powerpoint/2010/main" val="2892692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89F25AF-86B9-C443-AC0F-408445C8B7A5}"/>
              </a:ext>
            </a:extLst>
          </p:cNvPr>
          <p:cNvSpPr txBox="1"/>
          <p:nvPr/>
        </p:nvSpPr>
        <p:spPr>
          <a:xfrm>
            <a:off x="1268729" y="232528"/>
            <a:ext cx="491831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问题背景</a:t>
            </a:r>
            <a:r>
              <a:rPr lang="en-US" altLang="zh-CN" sz="4400" dirty="0">
                <a:latin typeface="SimSun" panose="02010600030101010101" pitchFamily="2" charset="-122"/>
                <a:ea typeface="SimSun" panose="02010600030101010101" pitchFamily="2" charset="-122"/>
              </a:rPr>
              <a:t>--</a:t>
            </a:r>
            <a:r>
              <a:rPr lang="zh-CN" altLang="en-US" sz="4000" dirty="0">
                <a:latin typeface="SimSun" panose="02010600030101010101" pitchFamily="2" charset="-122"/>
                <a:ea typeface="SimSun" panose="02010600030101010101" pitchFamily="2" charset="-122"/>
              </a:rPr>
              <a:t>子数组</a:t>
            </a:r>
            <a:endParaRPr lang="zh-CN" altLang="en-US" sz="44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DD8BBFDE-82EE-EF4A-9C5D-473070F2BFDC}"/>
              </a:ext>
            </a:extLst>
          </p:cNvPr>
          <p:cNvGraphicFramePr>
            <a:graphicFrameLocks noGrp="1"/>
          </p:cNvGraphicFramePr>
          <p:nvPr/>
        </p:nvGraphicFramePr>
        <p:xfrm>
          <a:off x="3000248" y="1348598"/>
          <a:ext cx="6254750" cy="10369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610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9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94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spc="-50">
                          <a:latin typeface="Cambria Math"/>
                          <a:cs typeface="Cambria Math"/>
                        </a:rPr>
                        <a:t>𝑿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78105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object 4">
            <a:extLst>
              <a:ext uri="{FF2B5EF4-FFF2-40B4-BE49-F238E27FC236}">
                <a16:creationId xmlns:a16="http://schemas.microsoft.com/office/drawing/2014/main" id="{730B065B-0968-F149-9318-8ACE43EC2469}"/>
              </a:ext>
            </a:extLst>
          </p:cNvPr>
          <p:cNvSpPr txBox="1"/>
          <p:nvPr/>
        </p:nvSpPr>
        <p:spPr>
          <a:xfrm>
            <a:off x="795217" y="2756788"/>
            <a:ext cx="10581343" cy="11089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ts val="436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子数组</a:t>
            </a:r>
            <a:r>
              <a:rPr sz="28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𝑿</a:t>
            </a:r>
            <a:r>
              <a:rPr lang="en-US" altLang="zh-CN" sz="28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[3..7]</a:t>
            </a:r>
          </a:p>
          <a:p>
            <a:pPr marL="927100" lvl="1" indent="-457200">
              <a:lnSpc>
                <a:spcPts val="436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 pitchFamily="2" charset="2"/>
              <a:buChar char="u"/>
              <a:tabLst>
                <a:tab pos="354965" algn="l"/>
                <a:tab pos="355600" algn="l"/>
              </a:tabLst>
            </a:pPr>
            <a:r>
              <a:rPr lang="zh-CN" altLang="en-US" sz="2800" dirty="0">
                <a:latin typeface="PMingLiU"/>
                <a:cs typeface="PMingLiU"/>
              </a:rPr>
              <a:t>求和为：</a:t>
            </a:r>
            <a:r>
              <a:rPr lang="zh-CN" altLang="en-US" sz="2800" dirty="0">
                <a:solidFill>
                  <a:srgbClr val="FF0000"/>
                </a:solidFill>
                <a:latin typeface="Cambria Math"/>
                <a:cs typeface="Cambria Math"/>
              </a:rPr>
              <a:t>𝟑 </a:t>
            </a:r>
            <a:r>
              <a:rPr lang="en-US" altLang="zh-CN" sz="2800" dirty="0">
                <a:solidFill>
                  <a:srgbClr val="FF0000"/>
                </a:solidFill>
                <a:latin typeface="Cambria Math"/>
                <a:cs typeface="Cambria Math"/>
              </a:rPr>
              <a:t>+ 𝟓 − 𝟒</a:t>
            </a:r>
            <a:r>
              <a:rPr lang="zh-CN" altLang="en-US" sz="2800" spc="-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lang="en-US" altLang="zh-CN" sz="2800" spc="-5" dirty="0">
                <a:solidFill>
                  <a:srgbClr val="FF0000"/>
                </a:solidFill>
                <a:latin typeface="Cambria Math"/>
                <a:cs typeface="Cambria Math"/>
              </a:rPr>
              <a:t>+ </a:t>
            </a:r>
            <a:r>
              <a:rPr lang="zh-CN" altLang="en-US" sz="2800" dirty="0">
                <a:solidFill>
                  <a:srgbClr val="FF0000"/>
                </a:solidFill>
                <a:latin typeface="Cambria Math"/>
                <a:cs typeface="Cambria Math"/>
              </a:rPr>
              <a:t>𝟑 </a:t>
            </a:r>
            <a:r>
              <a:rPr lang="en-US" altLang="zh-CN" sz="2800" dirty="0">
                <a:solidFill>
                  <a:srgbClr val="FF0000"/>
                </a:solidFill>
                <a:latin typeface="Cambria Math"/>
                <a:cs typeface="Cambria Math"/>
              </a:rPr>
              <a:t>+ 𝟐</a:t>
            </a:r>
            <a:r>
              <a:rPr lang="zh-CN" altLang="en-US" sz="2800" spc="8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lang="en-US" altLang="zh-CN" sz="2800" spc="85" dirty="0">
                <a:solidFill>
                  <a:srgbClr val="FF0000"/>
                </a:solidFill>
                <a:latin typeface="Cambria Math"/>
                <a:cs typeface="Cambria Math"/>
              </a:rPr>
              <a:t>= </a:t>
            </a:r>
            <a:r>
              <a:rPr lang="zh-CN" altLang="en-US" sz="2800" spc="-50" dirty="0">
                <a:solidFill>
                  <a:srgbClr val="FF0000"/>
                </a:solidFill>
                <a:latin typeface="Cambria Math"/>
                <a:cs typeface="Cambria Math"/>
              </a:rPr>
              <a:t>𝟗</a:t>
            </a:r>
            <a:endParaRPr lang="zh-CN" altLang="en-US" sz="2800" dirty="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1294974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89F25AF-86B9-C443-AC0F-408445C8B7A5}"/>
              </a:ext>
            </a:extLst>
          </p:cNvPr>
          <p:cNvSpPr txBox="1"/>
          <p:nvPr/>
        </p:nvSpPr>
        <p:spPr>
          <a:xfrm>
            <a:off x="1268729" y="232528"/>
            <a:ext cx="491831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问题背景</a:t>
            </a:r>
            <a:r>
              <a:rPr lang="en-US" altLang="zh-CN" sz="4400" dirty="0">
                <a:latin typeface="SimSun" panose="02010600030101010101" pitchFamily="2" charset="-122"/>
                <a:ea typeface="SimSun" panose="02010600030101010101" pitchFamily="2" charset="-122"/>
              </a:rPr>
              <a:t>--</a:t>
            </a:r>
            <a:r>
              <a:rPr lang="zh-CN" altLang="en-US" sz="4000" dirty="0">
                <a:latin typeface="SimSun" panose="02010600030101010101" pitchFamily="2" charset="-122"/>
                <a:ea typeface="SimSun" panose="02010600030101010101" pitchFamily="2" charset="-122"/>
              </a:rPr>
              <a:t>子数组</a:t>
            </a:r>
            <a:endParaRPr lang="zh-CN" altLang="en-US" sz="44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730B065B-0968-F149-9318-8ACE43EC2469}"/>
              </a:ext>
            </a:extLst>
          </p:cNvPr>
          <p:cNvSpPr txBox="1"/>
          <p:nvPr/>
        </p:nvSpPr>
        <p:spPr>
          <a:xfrm>
            <a:off x="795217" y="2756788"/>
            <a:ext cx="10581343" cy="2263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ts val="436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子数组</a:t>
            </a:r>
            <a:r>
              <a:rPr sz="28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𝑿</a:t>
            </a:r>
            <a:r>
              <a:rPr lang="en-US" altLang="zh-CN" sz="28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[3..7]</a:t>
            </a:r>
          </a:p>
          <a:p>
            <a:pPr marL="927100" lvl="1" indent="-457200">
              <a:lnSpc>
                <a:spcPts val="436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 pitchFamily="2" charset="2"/>
              <a:buChar char="u"/>
              <a:tabLst>
                <a:tab pos="354965" algn="l"/>
                <a:tab pos="355600" algn="l"/>
              </a:tabLst>
            </a:pPr>
            <a:r>
              <a:rPr lang="zh-CN" altLang="en-US" sz="2800" dirty="0">
                <a:latin typeface="PMingLiU"/>
                <a:cs typeface="PMingLiU"/>
              </a:rPr>
              <a:t>求和为：</a:t>
            </a:r>
            <a:r>
              <a:rPr lang="zh-CN" altLang="en-US" sz="2800" dirty="0">
                <a:latin typeface="Cambria Math"/>
                <a:cs typeface="Cambria Math"/>
              </a:rPr>
              <a:t>𝟑 </a:t>
            </a:r>
            <a:r>
              <a:rPr lang="en-US" altLang="zh-CN" sz="2800" dirty="0">
                <a:latin typeface="Cambria Math"/>
                <a:cs typeface="Cambria Math"/>
              </a:rPr>
              <a:t>+ 𝟓 − 𝟒</a:t>
            </a:r>
            <a:r>
              <a:rPr lang="zh-CN" altLang="en-US" sz="2800" spc="-5" dirty="0">
                <a:latin typeface="Cambria Math"/>
                <a:cs typeface="Cambria Math"/>
              </a:rPr>
              <a:t> </a:t>
            </a:r>
            <a:r>
              <a:rPr lang="en-US" altLang="zh-CN" sz="2800" spc="-5" dirty="0">
                <a:latin typeface="Cambria Math"/>
                <a:cs typeface="Cambria Math"/>
              </a:rPr>
              <a:t>+ </a:t>
            </a:r>
            <a:r>
              <a:rPr lang="zh-CN" altLang="en-US" sz="2800" dirty="0">
                <a:latin typeface="Cambria Math"/>
                <a:cs typeface="Cambria Math"/>
              </a:rPr>
              <a:t>𝟑 </a:t>
            </a:r>
            <a:r>
              <a:rPr lang="en-US" altLang="zh-CN" sz="2800" dirty="0">
                <a:latin typeface="Cambria Math"/>
                <a:cs typeface="Cambria Math"/>
              </a:rPr>
              <a:t>+ 𝟐</a:t>
            </a:r>
            <a:r>
              <a:rPr lang="zh-CN" altLang="en-US" sz="2800" spc="85" dirty="0">
                <a:latin typeface="Cambria Math"/>
                <a:cs typeface="Cambria Math"/>
              </a:rPr>
              <a:t> </a:t>
            </a:r>
            <a:r>
              <a:rPr lang="en-US" altLang="zh-CN" sz="2800" spc="85" dirty="0">
                <a:latin typeface="Cambria Math"/>
                <a:cs typeface="Cambria Math"/>
              </a:rPr>
              <a:t>= </a:t>
            </a:r>
            <a:r>
              <a:rPr lang="zh-CN" altLang="en-US" sz="2800" spc="-50" dirty="0">
                <a:latin typeface="Cambria Math"/>
                <a:cs typeface="Cambria Math"/>
              </a:rPr>
              <a:t>𝟗</a:t>
            </a:r>
            <a:endParaRPr lang="zh-CN" altLang="en-US" sz="2800" dirty="0">
              <a:latin typeface="Cambria Math"/>
              <a:cs typeface="Cambria Math"/>
            </a:endParaRPr>
          </a:p>
          <a:p>
            <a:pPr marL="469900" indent="-457200">
              <a:lnSpc>
                <a:spcPts val="436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 pitchFamily="2" charset="2"/>
              <a:buChar char="l"/>
              <a:tabLst>
                <a:tab pos="354965" algn="l"/>
                <a:tab pos="355600" algn="l"/>
              </a:tabLst>
            </a:pPr>
            <a:r>
              <a:rPr lang="zh-CN" altLang="en-US" sz="28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子数组</a:t>
            </a:r>
            <a:r>
              <a:rPr lang="zh-CN" altLang="en-US" sz="28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𝑿</a:t>
            </a:r>
            <a:r>
              <a:rPr lang="en-US" altLang="zh-CN" sz="28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[1..10]</a:t>
            </a:r>
          </a:p>
          <a:p>
            <a:pPr marL="927100" lvl="1" indent="-457200">
              <a:lnSpc>
                <a:spcPts val="436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 pitchFamily="2" charset="2"/>
              <a:buChar char="u"/>
              <a:tabLst>
                <a:tab pos="354965" algn="l"/>
                <a:tab pos="355600" algn="l"/>
              </a:tabLst>
            </a:pPr>
            <a:r>
              <a:rPr lang="zh-CN" altLang="en-US" sz="2800" dirty="0">
                <a:latin typeface="PMingLiU"/>
                <a:cs typeface="PMingLiU"/>
              </a:rPr>
              <a:t>求和为：</a:t>
            </a:r>
            <a:r>
              <a:rPr lang="zh-CN" altLang="en-US" sz="2800" dirty="0">
                <a:solidFill>
                  <a:srgbClr val="FF0000"/>
                </a:solidFill>
                <a:latin typeface="Cambria Math"/>
                <a:cs typeface="Cambria Math"/>
              </a:rPr>
              <a:t>−𝟏 − 𝟑 </a:t>
            </a:r>
            <a:r>
              <a:rPr lang="en-US" altLang="zh-CN" sz="2800" dirty="0">
                <a:solidFill>
                  <a:srgbClr val="FF0000"/>
                </a:solidFill>
                <a:latin typeface="Cambria Math"/>
                <a:cs typeface="Cambria Math"/>
              </a:rPr>
              <a:t>+ 𝟑 + 𝟓 − 𝟒 + 𝟑 + 𝟐 − 𝟐 + 𝟑 + 𝟔</a:t>
            </a:r>
            <a:r>
              <a:rPr lang="zh-CN" altLang="en-US" sz="2800" spc="9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lang="en-US" altLang="zh-CN" sz="2800" spc="90" dirty="0">
                <a:solidFill>
                  <a:srgbClr val="FF0000"/>
                </a:solidFill>
                <a:latin typeface="Cambria Math"/>
                <a:cs typeface="Cambria Math"/>
              </a:rPr>
              <a:t>= </a:t>
            </a:r>
            <a:r>
              <a:rPr lang="zh-CN" altLang="en-US" sz="2800" spc="-25" dirty="0">
                <a:solidFill>
                  <a:srgbClr val="FF0000"/>
                </a:solidFill>
                <a:latin typeface="Cambria Math"/>
                <a:cs typeface="Cambria Math"/>
              </a:rPr>
              <a:t>𝟏𝟐</a:t>
            </a:r>
            <a:endParaRPr lang="en-US" altLang="zh-CN" sz="2800" dirty="0">
              <a:latin typeface="Cambria Math"/>
              <a:cs typeface="Cambria Math"/>
            </a:endParaRPr>
          </a:p>
        </p:txBody>
      </p:sp>
      <p:graphicFrame>
        <p:nvGraphicFramePr>
          <p:cNvPr id="6" name="object 8">
            <a:extLst>
              <a:ext uri="{FF2B5EF4-FFF2-40B4-BE49-F238E27FC236}">
                <a16:creationId xmlns:a16="http://schemas.microsoft.com/office/drawing/2014/main" id="{69386A09-9EA5-6A41-99AA-1723465753C2}"/>
              </a:ext>
            </a:extLst>
          </p:cNvPr>
          <p:cNvGraphicFramePr>
            <a:graphicFrameLocks noGrp="1"/>
          </p:cNvGraphicFramePr>
          <p:nvPr/>
        </p:nvGraphicFramePr>
        <p:xfrm>
          <a:off x="3000248" y="1348598"/>
          <a:ext cx="6254750" cy="10369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610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9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94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spc="-50">
                          <a:latin typeface="Cambria Math"/>
                          <a:cs typeface="Cambria Math"/>
                        </a:rPr>
                        <a:t>𝑿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78105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6834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89F25AF-86B9-C443-AC0F-408445C8B7A5}"/>
              </a:ext>
            </a:extLst>
          </p:cNvPr>
          <p:cNvSpPr txBox="1"/>
          <p:nvPr/>
        </p:nvSpPr>
        <p:spPr>
          <a:xfrm>
            <a:off x="1268729" y="232528"/>
            <a:ext cx="491831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问题背景</a:t>
            </a:r>
            <a:r>
              <a:rPr lang="en-US" altLang="zh-CN" sz="4400" dirty="0">
                <a:latin typeface="SimSun" panose="02010600030101010101" pitchFamily="2" charset="-122"/>
                <a:ea typeface="SimSun" panose="02010600030101010101" pitchFamily="2" charset="-122"/>
              </a:rPr>
              <a:t>--</a:t>
            </a:r>
            <a:r>
              <a:rPr lang="zh-CN" altLang="en-US" sz="4000" dirty="0">
                <a:latin typeface="SimSun" panose="02010600030101010101" pitchFamily="2" charset="-122"/>
                <a:ea typeface="SimSun" panose="02010600030101010101" pitchFamily="2" charset="-122"/>
              </a:rPr>
              <a:t>子数组</a:t>
            </a:r>
            <a:endParaRPr lang="zh-CN" altLang="en-US" sz="44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730B065B-0968-F149-9318-8ACE43EC2469}"/>
              </a:ext>
            </a:extLst>
          </p:cNvPr>
          <p:cNvSpPr txBox="1"/>
          <p:nvPr/>
        </p:nvSpPr>
        <p:spPr>
          <a:xfrm>
            <a:off x="795217" y="2756788"/>
            <a:ext cx="10581343" cy="34172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ts val="436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子数组</a:t>
            </a:r>
            <a:r>
              <a:rPr sz="28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𝑿</a:t>
            </a:r>
            <a:r>
              <a:rPr lang="en-US" altLang="zh-CN" sz="28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[3..7]</a:t>
            </a:r>
          </a:p>
          <a:p>
            <a:pPr marL="927100" lvl="1" indent="-457200">
              <a:lnSpc>
                <a:spcPts val="436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 pitchFamily="2" charset="2"/>
              <a:buChar char="u"/>
              <a:tabLst>
                <a:tab pos="354965" algn="l"/>
                <a:tab pos="355600" algn="l"/>
              </a:tabLst>
            </a:pPr>
            <a:r>
              <a:rPr lang="zh-CN" altLang="en-US" sz="2800" dirty="0">
                <a:latin typeface="PMingLiU"/>
                <a:cs typeface="PMingLiU"/>
              </a:rPr>
              <a:t>求和为：</a:t>
            </a:r>
            <a:r>
              <a:rPr lang="zh-CN" altLang="en-US" sz="2800" dirty="0">
                <a:latin typeface="Cambria Math"/>
                <a:cs typeface="Cambria Math"/>
              </a:rPr>
              <a:t>𝟑 </a:t>
            </a:r>
            <a:r>
              <a:rPr lang="en-US" altLang="zh-CN" sz="2800" dirty="0">
                <a:latin typeface="Cambria Math"/>
                <a:cs typeface="Cambria Math"/>
              </a:rPr>
              <a:t>+ 𝟓 − 𝟒</a:t>
            </a:r>
            <a:r>
              <a:rPr lang="zh-CN" altLang="en-US" sz="2800" spc="-5" dirty="0">
                <a:latin typeface="Cambria Math"/>
                <a:cs typeface="Cambria Math"/>
              </a:rPr>
              <a:t> </a:t>
            </a:r>
            <a:r>
              <a:rPr lang="en-US" altLang="zh-CN" sz="2800" spc="-5" dirty="0">
                <a:latin typeface="Cambria Math"/>
                <a:cs typeface="Cambria Math"/>
              </a:rPr>
              <a:t>+ </a:t>
            </a:r>
            <a:r>
              <a:rPr lang="zh-CN" altLang="en-US" sz="2800" dirty="0">
                <a:latin typeface="Cambria Math"/>
                <a:cs typeface="Cambria Math"/>
              </a:rPr>
              <a:t>𝟑 </a:t>
            </a:r>
            <a:r>
              <a:rPr lang="en-US" altLang="zh-CN" sz="2800" dirty="0">
                <a:latin typeface="Cambria Math"/>
                <a:cs typeface="Cambria Math"/>
              </a:rPr>
              <a:t>+ 𝟐</a:t>
            </a:r>
            <a:r>
              <a:rPr lang="zh-CN" altLang="en-US" sz="2800" spc="85" dirty="0">
                <a:latin typeface="Cambria Math"/>
                <a:cs typeface="Cambria Math"/>
              </a:rPr>
              <a:t> </a:t>
            </a:r>
            <a:r>
              <a:rPr lang="en-US" altLang="zh-CN" sz="2800" spc="85" dirty="0">
                <a:latin typeface="Cambria Math"/>
                <a:cs typeface="Cambria Math"/>
              </a:rPr>
              <a:t>= </a:t>
            </a:r>
            <a:r>
              <a:rPr lang="zh-CN" altLang="en-US" sz="2800" spc="-50" dirty="0">
                <a:latin typeface="Cambria Math"/>
                <a:cs typeface="Cambria Math"/>
              </a:rPr>
              <a:t>𝟗</a:t>
            </a:r>
            <a:endParaRPr lang="zh-CN" altLang="en-US" sz="2800" dirty="0">
              <a:latin typeface="Cambria Math"/>
              <a:cs typeface="Cambria Math"/>
            </a:endParaRPr>
          </a:p>
          <a:p>
            <a:pPr marL="469900" indent="-457200">
              <a:lnSpc>
                <a:spcPts val="436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 pitchFamily="2" charset="2"/>
              <a:buChar char="l"/>
              <a:tabLst>
                <a:tab pos="354965" algn="l"/>
                <a:tab pos="355600" algn="l"/>
              </a:tabLst>
            </a:pPr>
            <a:r>
              <a:rPr lang="zh-CN" altLang="en-US" sz="28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子数组</a:t>
            </a:r>
            <a:r>
              <a:rPr lang="zh-CN" altLang="en-US" sz="28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𝑿</a:t>
            </a:r>
            <a:r>
              <a:rPr lang="en-US" altLang="zh-CN" sz="28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[1..10]</a:t>
            </a:r>
          </a:p>
          <a:p>
            <a:pPr marL="927100" lvl="1" indent="-457200">
              <a:lnSpc>
                <a:spcPts val="436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 pitchFamily="2" charset="2"/>
              <a:buChar char="u"/>
              <a:tabLst>
                <a:tab pos="354965" algn="l"/>
                <a:tab pos="355600" algn="l"/>
              </a:tabLst>
            </a:pPr>
            <a:r>
              <a:rPr lang="zh-CN" altLang="en-US" sz="2800" dirty="0">
                <a:latin typeface="PMingLiU"/>
                <a:cs typeface="PMingLiU"/>
              </a:rPr>
              <a:t>求和为：</a:t>
            </a:r>
            <a:r>
              <a:rPr lang="zh-CN" altLang="en-US" sz="2800" dirty="0">
                <a:latin typeface="Cambria Math"/>
                <a:cs typeface="Cambria Math"/>
              </a:rPr>
              <a:t>−𝟏 − 𝟑 </a:t>
            </a:r>
            <a:r>
              <a:rPr lang="en-US" altLang="zh-CN" sz="2800" dirty="0">
                <a:latin typeface="Cambria Math"/>
                <a:cs typeface="Cambria Math"/>
              </a:rPr>
              <a:t>+ 𝟑 + 𝟓 − 𝟒 + 𝟑 + 𝟐 − 𝟐 + 𝟑 + 𝟔</a:t>
            </a:r>
            <a:r>
              <a:rPr lang="zh-CN" altLang="en-US" sz="2800" spc="90" dirty="0">
                <a:latin typeface="Cambria Math"/>
                <a:cs typeface="Cambria Math"/>
              </a:rPr>
              <a:t> </a:t>
            </a:r>
            <a:r>
              <a:rPr lang="en-US" altLang="zh-CN" sz="2800" spc="90" dirty="0">
                <a:latin typeface="Cambria Math"/>
                <a:cs typeface="Cambria Math"/>
              </a:rPr>
              <a:t>= </a:t>
            </a:r>
            <a:r>
              <a:rPr lang="zh-CN" altLang="en-US" sz="2800" spc="-25" dirty="0">
                <a:latin typeface="Cambria Math"/>
                <a:cs typeface="Cambria Math"/>
              </a:rPr>
              <a:t>𝟏𝟐</a:t>
            </a:r>
            <a:endParaRPr lang="en-US" altLang="zh-CN" sz="2800" dirty="0">
              <a:latin typeface="Cambria Math"/>
              <a:cs typeface="Cambria Math"/>
            </a:endParaRPr>
          </a:p>
          <a:p>
            <a:pPr marL="469900" indent="-457200">
              <a:lnSpc>
                <a:spcPts val="436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 pitchFamily="2" charset="2"/>
              <a:buChar char="l"/>
              <a:tabLst>
                <a:tab pos="354965" algn="l"/>
                <a:tab pos="355600" algn="l"/>
              </a:tabLst>
            </a:pPr>
            <a:r>
              <a:rPr lang="zh-CN" altLang="en-US" sz="28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子数组</a:t>
            </a:r>
            <a:r>
              <a:rPr lang="zh-CN" altLang="en-US" sz="28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𝑿</a:t>
            </a:r>
            <a:r>
              <a:rPr lang="en-US" altLang="zh-CN" sz="28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[3..10]</a:t>
            </a:r>
          </a:p>
          <a:p>
            <a:pPr marL="927100" lvl="1" indent="-457200">
              <a:lnSpc>
                <a:spcPts val="436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 pitchFamily="2" charset="2"/>
              <a:buChar char="u"/>
              <a:tabLst>
                <a:tab pos="354965" algn="l"/>
                <a:tab pos="355600" algn="l"/>
              </a:tabLst>
            </a:pPr>
            <a:r>
              <a:rPr lang="zh-CN" altLang="en-US" sz="2800" dirty="0">
                <a:latin typeface="PMingLiU"/>
                <a:cs typeface="PMingLiU"/>
              </a:rPr>
              <a:t>求和为：</a:t>
            </a:r>
            <a:r>
              <a:rPr lang="zh-CN" altLang="en-US" sz="2800" dirty="0">
                <a:solidFill>
                  <a:srgbClr val="FF0000"/>
                </a:solidFill>
                <a:latin typeface="Cambria Math"/>
                <a:cs typeface="Cambria Math"/>
              </a:rPr>
              <a:t>𝟑 </a:t>
            </a:r>
            <a:r>
              <a:rPr lang="en-US" altLang="zh-CN" sz="2800" dirty="0">
                <a:solidFill>
                  <a:srgbClr val="FF0000"/>
                </a:solidFill>
                <a:latin typeface="Cambria Math"/>
                <a:cs typeface="Cambria Math"/>
              </a:rPr>
              <a:t>+ 𝟓 − 𝟒</a:t>
            </a:r>
            <a:r>
              <a:rPr lang="zh-CN" altLang="en-US" sz="2800" spc="-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lang="en-US" altLang="zh-CN" sz="2800" spc="-5" dirty="0">
                <a:solidFill>
                  <a:srgbClr val="FF0000"/>
                </a:solidFill>
                <a:latin typeface="Cambria Math"/>
                <a:cs typeface="Cambria Math"/>
              </a:rPr>
              <a:t>+ </a:t>
            </a:r>
            <a:r>
              <a:rPr lang="zh-CN" altLang="en-US" sz="2800" dirty="0">
                <a:solidFill>
                  <a:srgbClr val="FF0000"/>
                </a:solidFill>
                <a:latin typeface="Cambria Math"/>
                <a:cs typeface="Cambria Math"/>
              </a:rPr>
              <a:t>𝟑 </a:t>
            </a:r>
            <a:r>
              <a:rPr lang="en-US" altLang="zh-CN" sz="2800" dirty="0">
                <a:solidFill>
                  <a:srgbClr val="FF0000"/>
                </a:solidFill>
                <a:latin typeface="Cambria Math"/>
                <a:cs typeface="Cambria Math"/>
              </a:rPr>
              <a:t>+ 𝟐 − 𝟐</a:t>
            </a:r>
            <a:r>
              <a:rPr lang="zh-CN" altLang="en-US" sz="2800" spc="-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lang="en-US" altLang="zh-CN" sz="2800" spc="-5" dirty="0">
                <a:solidFill>
                  <a:srgbClr val="FF0000"/>
                </a:solidFill>
                <a:latin typeface="Cambria Math"/>
                <a:cs typeface="Cambria Math"/>
              </a:rPr>
              <a:t>+ </a:t>
            </a:r>
            <a:r>
              <a:rPr lang="zh-CN" altLang="en-US" sz="2800" dirty="0">
                <a:solidFill>
                  <a:srgbClr val="FF0000"/>
                </a:solidFill>
                <a:latin typeface="Cambria Math"/>
                <a:cs typeface="Cambria Math"/>
              </a:rPr>
              <a:t>𝟑 </a:t>
            </a:r>
            <a:r>
              <a:rPr lang="en-US" altLang="zh-CN" sz="2800" dirty="0">
                <a:solidFill>
                  <a:srgbClr val="FF0000"/>
                </a:solidFill>
                <a:latin typeface="Cambria Math"/>
                <a:cs typeface="Cambria Math"/>
              </a:rPr>
              <a:t>+ 𝟔</a:t>
            </a:r>
            <a:r>
              <a:rPr lang="zh-CN" altLang="en-US" sz="2800" spc="8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lang="en-US" altLang="zh-CN" sz="2800" spc="85" dirty="0">
                <a:solidFill>
                  <a:srgbClr val="FF0000"/>
                </a:solidFill>
                <a:latin typeface="Cambria Math"/>
                <a:cs typeface="Cambria Math"/>
              </a:rPr>
              <a:t>= </a:t>
            </a:r>
            <a:r>
              <a:rPr lang="zh-CN" altLang="en-US" sz="2800" spc="-25" dirty="0">
                <a:solidFill>
                  <a:srgbClr val="FF0000"/>
                </a:solidFill>
                <a:latin typeface="Cambria Math"/>
                <a:cs typeface="Cambria Math"/>
              </a:rPr>
              <a:t>𝟏𝟔</a:t>
            </a:r>
            <a:endParaRPr lang="zh-CN" altLang="en-US" sz="2800" dirty="0">
              <a:latin typeface="Cambria Math"/>
              <a:cs typeface="Cambria Math"/>
            </a:endParaRPr>
          </a:p>
        </p:txBody>
      </p:sp>
      <p:graphicFrame>
        <p:nvGraphicFramePr>
          <p:cNvPr id="6" name="object 10">
            <a:extLst>
              <a:ext uri="{FF2B5EF4-FFF2-40B4-BE49-F238E27FC236}">
                <a16:creationId xmlns:a16="http://schemas.microsoft.com/office/drawing/2014/main" id="{5AB2BADA-4BE5-C345-BA6B-1FD4B1C367E8}"/>
              </a:ext>
            </a:extLst>
          </p:cNvPr>
          <p:cNvGraphicFramePr>
            <a:graphicFrameLocks noGrp="1"/>
          </p:cNvGraphicFramePr>
          <p:nvPr/>
        </p:nvGraphicFramePr>
        <p:xfrm>
          <a:off x="3000248" y="1348598"/>
          <a:ext cx="6254750" cy="10369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610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9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94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spc="-50">
                          <a:latin typeface="Cambria Math"/>
                          <a:cs typeface="Cambria Math"/>
                        </a:rPr>
                        <a:t>𝑿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78105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5106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89F25AF-86B9-C443-AC0F-408445C8B7A5}"/>
              </a:ext>
            </a:extLst>
          </p:cNvPr>
          <p:cNvSpPr txBox="1"/>
          <p:nvPr/>
        </p:nvSpPr>
        <p:spPr>
          <a:xfrm>
            <a:off x="1268729" y="232528"/>
            <a:ext cx="491831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问题背景</a:t>
            </a:r>
            <a:r>
              <a:rPr lang="en-US" altLang="zh-CN" sz="4400" dirty="0">
                <a:latin typeface="SimSun" panose="02010600030101010101" pitchFamily="2" charset="-122"/>
                <a:ea typeface="SimSun" panose="02010600030101010101" pitchFamily="2" charset="-122"/>
              </a:rPr>
              <a:t>--</a:t>
            </a:r>
            <a:r>
              <a:rPr lang="zh-CN" altLang="en-US" sz="4000" dirty="0">
                <a:latin typeface="SimSun" panose="02010600030101010101" pitchFamily="2" charset="-122"/>
                <a:ea typeface="SimSun" panose="02010600030101010101" pitchFamily="2" charset="-122"/>
              </a:rPr>
              <a:t>子数组</a:t>
            </a:r>
            <a:endParaRPr lang="zh-CN" altLang="en-US" sz="44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6F232C58-5174-EA44-937E-01307CA24FB3}"/>
              </a:ext>
            </a:extLst>
          </p:cNvPr>
          <p:cNvSpPr/>
          <p:nvPr/>
        </p:nvSpPr>
        <p:spPr>
          <a:xfrm>
            <a:off x="3215513" y="2662681"/>
            <a:ext cx="77470" cy="331470"/>
          </a:xfrm>
          <a:custGeom>
            <a:avLst/>
            <a:gdLst/>
            <a:ahLst/>
            <a:cxnLst/>
            <a:rect l="l" t="t" r="r" b="b"/>
            <a:pathLst>
              <a:path w="77470" h="331469">
                <a:moveTo>
                  <a:pt x="77470" y="0"/>
                </a:moveTo>
                <a:lnTo>
                  <a:pt x="0" y="0"/>
                </a:lnTo>
                <a:lnTo>
                  <a:pt x="0" y="12700"/>
                </a:lnTo>
                <a:lnTo>
                  <a:pt x="48641" y="12700"/>
                </a:lnTo>
                <a:lnTo>
                  <a:pt x="48641" y="317500"/>
                </a:lnTo>
                <a:lnTo>
                  <a:pt x="0" y="317500"/>
                </a:lnTo>
                <a:lnTo>
                  <a:pt x="0" y="331470"/>
                </a:lnTo>
                <a:lnTo>
                  <a:pt x="77470" y="331470"/>
                </a:lnTo>
                <a:lnTo>
                  <a:pt x="77470" y="317500"/>
                </a:lnTo>
                <a:lnTo>
                  <a:pt x="77470" y="12700"/>
                </a:lnTo>
                <a:lnTo>
                  <a:pt x="774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95EB0515-C863-CD4E-AABF-9F210A1F0D58}"/>
              </a:ext>
            </a:extLst>
          </p:cNvPr>
          <p:cNvSpPr/>
          <p:nvPr/>
        </p:nvSpPr>
        <p:spPr>
          <a:xfrm>
            <a:off x="2433828" y="2662681"/>
            <a:ext cx="77470" cy="331470"/>
          </a:xfrm>
          <a:custGeom>
            <a:avLst/>
            <a:gdLst/>
            <a:ahLst/>
            <a:cxnLst/>
            <a:rect l="l" t="t" r="r" b="b"/>
            <a:pathLst>
              <a:path w="77469" h="331469">
                <a:moveTo>
                  <a:pt x="77470" y="0"/>
                </a:moveTo>
                <a:lnTo>
                  <a:pt x="0" y="0"/>
                </a:lnTo>
                <a:lnTo>
                  <a:pt x="0" y="12700"/>
                </a:lnTo>
                <a:lnTo>
                  <a:pt x="0" y="317500"/>
                </a:lnTo>
                <a:lnTo>
                  <a:pt x="0" y="331470"/>
                </a:lnTo>
                <a:lnTo>
                  <a:pt x="77470" y="331470"/>
                </a:lnTo>
                <a:lnTo>
                  <a:pt x="77470" y="317500"/>
                </a:lnTo>
                <a:lnTo>
                  <a:pt x="28829" y="317500"/>
                </a:lnTo>
                <a:lnTo>
                  <a:pt x="28829" y="12700"/>
                </a:lnTo>
                <a:lnTo>
                  <a:pt x="77470" y="12700"/>
                </a:lnTo>
                <a:lnTo>
                  <a:pt x="774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C1C53FA7-F2D2-DF4D-8EB3-73D7A7FE52F2}"/>
              </a:ext>
            </a:extLst>
          </p:cNvPr>
          <p:cNvSpPr/>
          <p:nvPr/>
        </p:nvSpPr>
        <p:spPr>
          <a:xfrm>
            <a:off x="3428873" y="3613911"/>
            <a:ext cx="77470" cy="331470"/>
          </a:xfrm>
          <a:custGeom>
            <a:avLst/>
            <a:gdLst/>
            <a:ahLst/>
            <a:cxnLst/>
            <a:rect l="l" t="t" r="r" b="b"/>
            <a:pathLst>
              <a:path w="77470" h="331470">
                <a:moveTo>
                  <a:pt x="77470" y="0"/>
                </a:moveTo>
                <a:lnTo>
                  <a:pt x="0" y="0"/>
                </a:lnTo>
                <a:lnTo>
                  <a:pt x="0" y="12700"/>
                </a:lnTo>
                <a:lnTo>
                  <a:pt x="48641" y="12700"/>
                </a:lnTo>
                <a:lnTo>
                  <a:pt x="48641" y="317500"/>
                </a:lnTo>
                <a:lnTo>
                  <a:pt x="0" y="317500"/>
                </a:lnTo>
                <a:lnTo>
                  <a:pt x="0" y="331470"/>
                </a:lnTo>
                <a:lnTo>
                  <a:pt x="77470" y="331470"/>
                </a:lnTo>
                <a:lnTo>
                  <a:pt x="77470" y="317500"/>
                </a:lnTo>
                <a:lnTo>
                  <a:pt x="77470" y="12700"/>
                </a:lnTo>
                <a:lnTo>
                  <a:pt x="774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5C2C0981-EB9F-2D48-85DA-67A7AA459C59}"/>
              </a:ext>
            </a:extLst>
          </p:cNvPr>
          <p:cNvSpPr/>
          <p:nvPr/>
        </p:nvSpPr>
        <p:spPr>
          <a:xfrm>
            <a:off x="2433828" y="3613911"/>
            <a:ext cx="77470" cy="331470"/>
          </a:xfrm>
          <a:custGeom>
            <a:avLst/>
            <a:gdLst/>
            <a:ahLst/>
            <a:cxnLst/>
            <a:rect l="l" t="t" r="r" b="b"/>
            <a:pathLst>
              <a:path w="77469" h="331470">
                <a:moveTo>
                  <a:pt x="77470" y="0"/>
                </a:moveTo>
                <a:lnTo>
                  <a:pt x="0" y="0"/>
                </a:lnTo>
                <a:lnTo>
                  <a:pt x="0" y="12700"/>
                </a:lnTo>
                <a:lnTo>
                  <a:pt x="0" y="317500"/>
                </a:lnTo>
                <a:lnTo>
                  <a:pt x="0" y="331470"/>
                </a:lnTo>
                <a:lnTo>
                  <a:pt x="77470" y="331470"/>
                </a:lnTo>
                <a:lnTo>
                  <a:pt x="77470" y="317500"/>
                </a:lnTo>
                <a:lnTo>
                  <a:pt x="28829" y="317500"/>
                </a:lnTo>
                <a:lnTo>
                  <a:pt x="28829" y="12700"/>
                </a:lnTo>
                <a:lnTo>
                  <a:pt x="77470" y="12700"/>
                </a:lnTo>
                <a:lnTo>
                  <a:pt x="774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777D1457-B09F-D442-9F87-54C955E440C8}"/>
              </a:ext>
            </a:extLst>
          </p:cNvPr>
          <p:cNvSpPr/>
          <p:nvPr/>
        </p:nvSpPr>
        <p:spPr>
          <a:xfrm>
            <a:off x="3428873" y="4565141"/>
            <a:ext cx="77470" cy="330200"/>
          </a:xfrm>
          <a:custGeom>
            <a:avLst/>
            <a:gdLst/>
            <a:ahLst/>
            <a:cxnLst/>
            <a:rect l="l" t="t" r="r" b="b"/>
            <a:pathLst>
              <a:path w="77470" h="330200">
                <a:moveTo>
                  <a:pt x="77470" y="0"/>
                </a:moveTo>
                <a:lnTo>
                  <a:pt x="0" y="0"/>
                </a:lnTo>
                <a:lnTo>
                  <a:pt x="0" y="12700"/>
                </a:lnTo>
                <a:lnTo>
                  <a:pt x="48641" y="12700"/>
                </a:lnTo>
                <a:lnTo>
                  <a:pt x="48641" y="317500"/>
                </a:lnTo>
                <a:lnTo>
                  <a:pt x="0" y="317500"/>
                </a:lnTo>
                <a:lnTo>
                  <a:pt x="0" y="330200"/>
                </a:lnTo>
                <a:lnTo>
                  <a:pt x="77470" y="330200"/>
                </a:lnTo>
                <a:lnTo>
                  <a:pt x="77470" y="317500"/>
                </a:lnTo>
                <a:lnTo>
                  <a:pt x="77470" y="12700"/>
                </a:lnTo>
                <a:lnTo>
                  <a:pt x="774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1A581814-E26B-0F4F-8BC8-70AE20E4DF9E}"/>
              </a:ext>
            </a:extLst>
          </p:cNvPr>
          <p:cNvSpPr/>
          <p:nvPr/>
        </p:nvSpPr>
        <p:spPr>
          <a:xfrm>
            <a:off x="2433828" y="4565141"/>
            <a:ext cx="77470" cy="330200"/>
          </a:xfrm>
          <a:custGeom>
            <a:avLst/>
            <a:gdLst/>
            <a:ahLst/>
            <a:cxnLst/>
            <a:rect l="l" t="t" r="r" b="b"/>
            <a:pathLst>
              <a:path w="77469" h="330200">
                <a:moveTo>
                  <a:pt x="77470" y="0"/>
                </a:moveTo>
                <a:lnTo>
                  <a:pt x="0" y="0"/>
                </a:lnTo>
                <a:lnTo>
                  <a:pt x="0" y="12700"/>
                </a:lnTo>
                <a:lnTo>
                  <a:pt x="0" y="317500"/>
                </a:lnTo>
                <a:lnTo>
                  <a:pt x="0" y="330200"/>
                </a:lnTo>
                <a:lnTo>
                  <a:pt x="77470" y="330200"/>
                </a:lnTo>
                <a:lnTo>
                  <a:pt x="77470" y="317500"/>
                </a:lnTo>
                <a:lnTo>
                  <a:pt x="28829" y="317500"/>
                </a:lnTo>
                <a:lnTo>
                  <a:pt x="28829" y="12700"/>
                </a:lnTo>
                <a:lnTo>
                  <a:pt x="77470" y="12700"/>
                </a:lnTo>
                <a:lnTo>
                  <a:pt x="774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692842D6-C2A1-244F-8D46-9F823A823A36}"/>
              </a:ext>
            </a:extLst>
          </p:cNvPr>
          <p:cNvSpPr txBox="1">
            <a:spLocks/>
          </p:cNvSpPr>
          <p:nvPr/>
        </p:nvSpPr>
        <p:spPr>
          <a:xfrm>
            <a:off x="688340" y="2517938"/>
            <a:ext cx="8013700" cy="2891790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indent="-342900">
              <a:lnSpc>
                <a:spcPct val="100000"/>
              </a:lnSpc>
              <a:spcBef>
                <a:spcPts val="82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lang="zh-CN" altLang="en-US">
                <a:latin typeface="PMingLiU"/>
                <a:cs typeface="PMingLiU"/>
              </a:rPr>
              <a:t>子数组</a:t>
            </a:r>
            <a:r>
              <a:rPr lang="zh-CN" altLang="en-US"/>
              <a:t>𝑿</a:t>
            </a:r>
            <a:r>
              <a:rPr lang="zh-CN" altLang="en-US" spc="360"/>
              <a:t> </a:t>
            </a:r>
            <a:r>
              <a:rPr lang="zh-CN" altLang="en-US" spc="-10"/>
              <a:t>𝟑</a:t>
            </a:r>
            <a:r>
              <a:rPr lang="en-US" altLang="zh-CN" spc="-80"/>
              <a:t>. . </a:t>
            </a:r>
            <a:r>
              <a:rPr lang="zh-CN" altLang="en-US" spc="-50"/>
              <a:t>𝟕</a:t>
            </a:r>
          </a:p>
          <a:p>
            <a:pPr marL="704215" lvl="1" indent="-347980">
              <a:lnSpc>
                <a:spcPct val="100000"/>
              </a:lnSpc>
              <a:spcBef>
                <a:spcPts val="6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lang="zh-CN" altLang="en-US">
                <a:latin typeface="PMingLiU"/>
                <a:cs typeface="PMingLiU"/>
              </a:rPr>
              <a:t>求和为：</a:t>
            </a:r>
            <a:r>
              <a:rPr lang="zh-CN" altLang="en-US">
                <a:latin typeface="Cambria Math"/>
                <a:cs typeface="Cambria Math"/>
              </a:rPr>
              <a:t>𝟑 </a:t>
            </a:r>
            <a:r>
              <a:rPr lang="en-US" altLang="zh-CN">
                <a:latin typeface="Cambria Math"/>
                <a:cs typeface="Cambria Math"/>
              </a:rPr>
              <a:t>+ 𝟓 − 𝟒</a:t>
            </a:r>
            <a:r>
              <a:rPr lang="zh-CN" altLang="en-US" spc="-5">
                <a:latin typeface="Cambria Math"/>
                <a:cs typeface="Cambria Math"/>
              </a:rPr>
              <a:t> </a:t>
            </a:r>
            <a:r>
              <a:rPr lang="en-US" altLang="zh-CN" spc="-5">
                <a:latin typeface="Cambria Math"/>
                <a:cs typeface="Cambria Math"/>
              </a:rPr>
              <a:t>+ </a:t>
            </a:r>
            <a:r>
              <a:rPr lang="zh-CN" altLang="en-US">
                <a:latin typeface="Cambria Math"/>
                <a:cs typeface="Cambria Math"/>
              </a:rPr>
              <a:t>𝟑 </a:t>
            </a:r>
            <a:r>
              <a:rPr lang="en-US" altLang="zh-CN">
                <a:latin typeface="Cambria Math"/>
                <a:cs typeface="Cambria Math"/>
              </a:rPr>
              <a:t>+ 𝟐</a:t>
            </a:r>
            <a:r>
              <a:rPr lang="zh-CN" altLang="en-US" spc="85">
                <a:latin typeface="Cambria Math"/>
                <a:cs typeface="Cambria Math"/>
              </a:rPr>
              <a:t> </a:t>
            </a:r>
            <a:r>
              <a:rPr lang="en-US" altLang="zh-CN" spc="85">
                <a:latin typeface="Cambria Math"/>
                <a:cs typeface="Cambria Math"/>
              </a:rPr>
              <a:t>= </a:t>
            </a:r>
            <a:r>
              <a:rPr lang="zh-CN" altLang="en-US" spc="-50">
                <a:latin typeface="Cambria Math"/>
                <a:cs typeface="Cambria Math"/>
              </a:rPr>
              <a:t>𝟗</a:t>
            </a:r>
            <a:endParaRPr lang="zh-CN" altLang="en-US">
              <a:latin typeface="Cambria Math"/>
              <a:cs typeface="Cambria Math"/>
            </a:endParaRPr>
          </a:p>
          <a:p>
            <a:pPr marL="355600" indent="-342900">
              <a:lnSpc>
                <a:spcPct val="100000"/>
              </a:lnSpc>
              <a:spcBef>
                <a:spcPts val="62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lang="zh-CN" altLang="en-US">
                <a:latin typeface="PMingLiU"/>
                <a:cs typeface="PMingLiU"/>
              </a:rPr>
              <a:t>子数组</a:t>
            </a:r>
            <a:r>
              <a:rPr lang="zh-CN" altLang="en-US"/>
              <a:t>𝑿</a:t>
            </a:r>
            <a:r>
              <a:rPr lang="zh-CN" altLang="en-US" spc="355"/>
              <a:t> </a:t>
            </a:r>
            <a:r>
              <a:rPr lang="zh-CN" altLang="en-US" spc="-10"/>
              <a:t>𝟏</a:t>
            </a:r>
            <a:r>
              <a:rPr lang="en-US" altLang="zh-CN" spc="-80"/>
              <a:t>. . </a:t>
            </a:r>
            <a:r>
              <a:rPr lang="zh-CN" altLang="en-US" spc="-25"/>
              <a:t>𝟏𝟎</a:t>
            </a:r>
          </a:p>
          <a:p>
            <a:pPr marL="704215" lvl="1" indent="-347980">
              <a:lnSpc>
                <a:spcPct val="100000"/>
              </a:lnSpc>
              <a:spcBef>
                <a:spcPts val="62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lang="zh-CN" altLang="en-US">
                <a:latin typeface="PMingLiU"/>
                <a:cs typeface="PMingLiU"/>
              </a:rPr>
              <a:t>求和为：</a:t>
            </a:r>
            <a:r>
              <a:rPr lang="zh-CN" altLang="en-US">
                <a:latin typeface="Cambria Math"/>
                <a:cs typeface="Cambria Math"/>
              </a:rPr>
              <a:t>−𝟏 − 𝟑 </a:t>
            </a:r>
            <a:r>
              <a:rPr lang="en-US" altLang="zh-CN">
                <a:latin typeface="Cambria Math"/>
                <a:cs typeface="Cambria Math"/>
              </a:rPr>
              <a:t>+ 𝟑 + 𝟓 − 𝟒 + 𝟑 + 𝟐 − 𝟐 + 𝟑 + 𝟔</a:t>
            </a:r>
            <a:r>
              <a:rPr lang="zh-CN" altLang="en-US" spc="90">
                <a:latin typeface="Cambria Math"/>
                <a:cs typeface="Cambria Math"/>
              </a:rPr>
              <a:t> </a:t>
            </a:r>
            <a:r>
              <a:rPr lang="en-US" altLang="zh-CN" spc="90">
                <a:latin typeface="Cambria Math"/>
                <a:cs typeface="Cambria Math"/>
              </a:rPr>
              <a:t>= </a:t>
            </a:r>
            <a:r>
              <a:rPr lang="zh-CN" altLang="en-US" spc="-25">
                <a:latin typeface="Cambria Math"/>
                <a:cs typeface="Cambria Math"/>
              </a:rPr>
              <a:t>𝟏𝟐</a:t>
            </a:r>
            <a:endParaRPr lang="zh-CN" altLang="en-US">
              <a:latin typeface="Cambria Math"/>
              <a:cs typeface="Cambria Math"/>
            </a:endParaRPr>
          </a:p>
          <a:p>
            <a:pPr marL="355600" indent="-342900">
              <a:lnSpc>
                <a:spcPct val="100000"/>
              </a:lnSpc>
              <a:spcBef>
                <a:spcPts val="62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lang="zh-CN" altLang="en-US" spc="-10">
                <a:latin typeface="PMingLiU"/>
                <a:cs typeface="PMingLiU"/>
              </a:rPr>
              <a:t>子数组</a:t>
            </a:r>
            <a:r>
              <a:rPr lang="zh-CN" altLang="en-US"/>
              <a:t>𝑿</a:t>
            </a:r>
            <a:r>
              <a:rPr lang="zh-CN" altLang="en-US" spc="360"/>
              <a:t> </a:t>
            </a:r>
            <a:r>
              <a:rPr lang="zh-CN" altLang="en-US" spc="-10"/>
              <a:t>𝟑</a:t>
            </a:r>
            <a:r>
              <a:rPr lang="en-US" altLang="zh-CN" spc="-80"/>
              <a:t>. . </a:t>
            </a:r>
            <a:r>
              <a:rPr lang="zh-CN" altLang="en-US" spc="-25"/>
              <a:t>𝟏𝟎</a:t>
            </a:r>
          </a:p>
          <a:p>
            <a:pPr marL="704215" lvl="1" indent="-347980">
              <a:lnSpc>
                <a:spcPct val="100000"/>
              </a:lnSpc>
              <a:spcBef>
                <a:spcPts val="6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lang="zh-CN" altLang="en-US">
                <a:latin typeface="PMingLiU"/>
                <a:cs typeface="PMingLiU"/>
              </a:rPr>
              <a:t>求和为：</a:t>
            </a:r>
            <a:r>
              <a:rPr lang="zh-CN" altLang="en-US">
                <a:latin typeface="Cambria Math"/>
                <a:cs typeface="Cambria Math"/>
              </a:rPr>
              <a:t>𝟑 </a:t>
            </a:r>
            <a:r>
              <a:rPr lang="en-US" altLang="zh-CN">
                <a:latin typeface="Cambria Math"/>
                <a:cs typeface="Cambria Math"/>
              </a:rPr>
              <a:t>+ 𝟓 − 𝟒</a:t>
            </a:r>
            <a:r>
              <a:rPr lang="zh-CN" altLang="en-US" spc="-5">
                <a:latin typeface="Cambria Math"/>
                <a:cs typeface="Cambria Math"/>
              </a:rPr>
              <a:t> </a:t>
            </a:r>
            <a:r>
              <a:rPr lang="en-US" altLang="zh-CN" spc="-5">
                <a:latin typeface="Cambria Math"/>
                <a:cs typeface="Cambria Math"/>
              </a:rPr>
              <a:t>+ </a:t>
            </a:r>
            <a:r>
              <a:rPr lang="zh-CN" altLang="en-US">
                <a:latin typeface="Cambria Math"/>
                <a:cs typeface="Cambria Math"/>
              </a:rPr>
              <a:t>𝟑 </a:t>
            </a:r>
            <a:r>
              <a:rPr lang="en-US" altLang="zh-CN">
                <a:latin typeface="Cambria Math"/>
                <a:cs typeface="Cambria Math"/>
              </a:rPr>
              <a:t>+ 𝟐 − 𝟐</a:t>
            </a:r>
            <a:r>
              <a:rPr lang="zh-CN" altLang="en-US" spc="-5">
                <a:latin typeface="Cambria Math"/>
                <a:cs typeface="Cambria Math"/>
              </a:rPr>
              <a:t> </a:t>
            </a:r>
            <a:r>
              <a:rPr lang="en-US" altLang="zh-CN" spc="-5">
                <a:latin typeface="Cambria Math"/>
                <a:cs typeface="Cambria Math"/>
              </a:rPr>
              <a:t>+ </a:t>
            </a:r>
            <a:r>
              <a:rPr lang="zh-CN" altLang="en-US">
                <a:latin typeface="Cambria Math"/>
                <a:cs typeface="Cambria Math"/>
              </a:rPr>
              <a:t>𝟑 </a:t>
            </a:r>
            <a:r>
              <a:rPr lang="en-US" altLang="zh-CN">
                <a:latin typeface="Cambria Math"/>
                <a:cs typeface="Cambria Math"/>
              </a:rPr>
              <a:t>+ 𝟔</a:t>
            </a:r>
            <a:r>
              <a:rPr lang="zh-CN" altLang="en-US" spc="85">
                <a:latin typeface="Cambria Math"/>
                <a:cs typeface="Cambria Math"/>
              </a:rPr>
              <a:t> </a:t>
            </a:r>
            <a:r>
              <a:rPr lang="en-US" altLang="zh-CN" spc="85">
                <a:latin typeface="Cambria Math"/>
                <a:cs typeface="Cambria Math"/>
              </a:rPr>
              <a:t>= </a:t>
            </a:r>
            <a:r>
              <a:rPr lang="zh-CN" altLang="en-US" spc="-25">
                <a:latin typeface="Cambria Math"/>
                <a:cs typeface="Cambria Math"/>
              </a:rPr>
              <a:t>𝟏𝟔</a:t>
            </a:r>
            <a:endParaRPr lang="zh-CN" altLang="en-US">
              <a:latin typeface="Cambria Math"/>
              <a:cs typeface="Cambria Math"/>
            </a:endParaRPr>
          </a:p>
        </p:txBody>
      </p:sp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A5E365D2-133A-F44A-B735-C2E133682227}"/>
              </a:ext>
            </a:extLst>
          </p:cNvPr>
          <p:cNvGraphicFramePr>
            <a:graphicFrameLocks noGrp="1"/>
          </p:cNvGraphicFramePr>
          <p:nvPr/>
        </p:nvGraphicFramePr>
        <p:xfrm>
          <a:off x="3000248" y="1348598"/>
          <a:ext cx="6254750" cy="10369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610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 dirty="0">
                          <a:latin typeface="Times New Roman"/>
                          <a:cs typeface="Times New Roman"/>
                        </a:rPr>
                        <a:t>4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9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94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spc="-50">
                          <a:latin typeface="Cambria Math"/>
                          <a:cs typeface="Cambria Math"/>
                        </a:rPr>
                        <a:t>𝑿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78105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dirty="0">
                          <a:latin typeface="Times New Roman"/>
                          <a:cs typeface="Times New Roman"/>
                        </a:rPr>
                        <a:t>6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object 11">
            <a:extLst>
              <a:ext uri="{FF2B5EF4-FFF2-40B4-BE49-F238E27FC236}">
                <a16:creationId xmlns:a16="http://schemas.microsoft.com/office/drawing/2014/main" id="{EB5A372C-D6E7-4247-926C-F5E183C88735}"/>
              </a:ext>
            </a:extLst>
          </p:cNvPr>
          <p:cNvSpPr/>
          <p:nvPr/>
        </p:nvSpPr>
        <p:spPr>
          <a:xfrm>
            <a:off x="5552059" y="6115050"/>
            <a:ext cx="77470" cy="331470"/>
          </a:xfrm>
          <a:custGeom>
            <a:avLst/>
            <a:gdLst/>
            <a:ahLst/>
            <a:cxnLst/>
            <a:rect l="l" t="t" r="r" b="b"/>
            <a:pathLst>
              <a:path w="77470" h="331470">
                <a:moveTo>
                  <a:pt x="77470" y="0"/>
                </a:moveTo>
                <a:lnTo>
                  <a:pt x="0" y="0"/>
                </a:lnTo>
                <a:lnTo>
                  <a:pt x="0" y="12700"/>
                </a:lnTo>
                <a:lnTo>
                  <a:pt x="48641" y="12700"/>
                </a:lnTo>
                <a:lnTo>
                  <a:pt x="48641" y="317500"/>
                </a:lnTo>
                <a:lnTo>
                  <a:pt x="0" y="317500"/>
                </a:lnTo>
                <a:lnTo>
                  <a:pt x="0" y="331470"/>
                </a:lnTo>
                <a:lnTo>
                  <a:pt x="77470" y="331470"/>
                </a:lnTo>
                <a:lnTo>
                  <a:pt x="77470" y="317500"/>
                </a:lnTo>
                <a:lnTo>
                  <a:pt x="77470" y="12700"/>
                </a:lnTo>
                <a:lnTo>
                  <a:pt x="774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75D79D2E-77FE-B243-BCC2-29D6F6D0749D}"/>
              </a:ext>
            </a:extLst>
          </p:cNvPr>
          <p:cNvSpPr/>
          <p:nvPr/>
        </p:nvSpPr>
        <p:spPr>
          <a:xfrm>
            <a:off x="4557776" y="6115050"/>
            <a:ext cx="77470" cy="331470"/>
          </a:xfrm>
          <a:custGeom>
            <a:avLst/>
            <a:gdLst/>
            <a:ahLst/>
            <a:cxnLst/>
            <a:rect l="l" t="t" r="r" b="b"/>
            <a:pathLst>
              <a:path w="77470" h="331470">
                <a:moveTo>
                  <a:pt x="77470" y="0"/>
                </a:moveTo>
                <a:lnTo>
                  <a:pt x="0" y="0"/>
                </a:lnTo>
                <a:lnTo>
                  <a:pt x="0" y="12700"/>
                </a:lnTo>
                <a:lnTo>
                  <a:pt x="0" y="317500"/>
                </a:lnTo>
                <a:lnTo>
                  <a:pt x="0" y="331470"/>
                </a:lnTo>
                <a:lnTo>
                  <a:pt x="77470" y="331470"/>
                </a:lnTo>
                <a:lnTo>
                  <a:pt x="77470" y="317500"/>
                </a:lnTo>
                <a:lnTo>
                  <a:pt x="28829" y="317500"/>
                </a:lnTo>
                <a:lnTo>
                  <a:pt x="28829" y="12700"/>
                </a:lnTo>
                <a:lnTo>
                  <a:pt x="77470" y="12700"/>
                </a:lnTo>
                <a:lnTo>
                  <a:pt x="774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126DFEF3-8798-6A4F-9B60-C6D4A225827F}"/>
              </a:ext>
            </a:extLst>
          </p:cNvPr>
          <p:cNvSpPr txBox="1"/>
          <p:nvPr/>
        </p:nvSpPr>
        <p:spPr>
          <a:xfrm>
            <a:off x="1937766" y="5458967"/>
            <a:ext cx="8316595" cy="1004121"/>
          </a:xfrm>
          <a:prstGeom prst="rect">
            <a:avLst/>
          </a:prstGeom>
          <a:noFill/>
          <a:ln w="38100">
            <a:noFill/>
          </a:ln>
        </p:spPr>
        <p:txBody>
          <a:bodyPr vert="horz" wrap="square" lIns="0" tIns="140970" rIns="0" bIns="0" rtlCol="0">
            <a:spAutoFit/>
          </a:bodyPr>
          <a:lstStyle/>
          <a:p>
            <a:pPr marL="1266825" marR="1245235" indent="-13335">
              <a:lnSpc>
                <a:spcPct val="100000"/>
              </a:lnSpc>
              <a:spcBef>
                <a:spcPts val="1110"/>
              </a:spcBef>
              <a:tabLst>
                <a:tab pos="3830954" algn="l"/>
              </a:tabLst>
            </a:pPr>
            <a:r>
              <a:rPr lang="zh-CN" altLang="en-US" sz="2800" spc="-10" dirty="0">
                <a:solidFill>
                  <a:srgbClr val="FF0000"/>
                </a:solidFill>
                <a:latin typeface="PMingLiU"/>
                <a:cs typeface="PMingLiU"/>
              </a:rPr>
              <a:t>问题：</a:t>
            </a:r>
            <a:r>
              <a:rPr lang="zh-CN" altLang="en-US" sz="2800" spc="-10" dirty="0">
                <a:latin typeface="PMingLiU"/>
                <a:cs typeface="PMingLiU"/>
              </a:rPr>
              <a:t>寻找数组</a:t>
            </a:r>
            <a:r>
              <a:rPr lang="zh-CN" altLang="en-US" sz="2800" spc="-10" dirty="0">
                <a:latin typeface="Cambria Math"/>
                <a:cs typeface="Cambria Math"/>
              </a:rPr>
              <a:t>𝑿</a:t>
            </a:r>
            <a:r>
              <a:rPr lang="zh-CN" altLang="en-US" sz="2800" dirty="0">
                <a:latin typeface="PMingLiU"/>
                <a:cs typeface="PMingLiU"/>
              </a:rPr>
              <a:t>最大的</a:t>
            </a:r>
            <a:r>
              <a:rPr lang="zh-CN" altLang="en-US" sz="2800" spc="-15" dirty="0">
                <a:latin typeface="PMingLiU"/>
                <a:cs typeface="PMingLiU"/>
              </a:rPr>
              <a:t>非</a:t>
            </a:r>
            <a:r>
              <a:rPr lang="zh-CN" altLang="en-US" sz="2800" dirty="0">
                <a:latin typeface="PMingLiU"/>
                <a:cs typeface="PMingLiU"/>
              </a:rPr>
              <a:t>空子</a:t>
            </a:r>
            <a:r>
              <a:rPr lang="zh-CN" altLang="en-US" sz="2800" spc="-15" dirty="0">
                <a:latin typeface="PMingLiU"/>
                <a:cs typeface="PMingLiU"/>
              </a:rPr>
              <a:t>数</a:t>
            </a:r>
            <a:r>
              <a:rPr lang="zh-CN" altLang="en-US" sz="2800" spc="-10" dirty="0">
                <a:latin typeface="PMingLiU"/>
                <a:cs typeface="PMingLiU"/>
              </a:rPr>
              <a:t>组</a:t>
            </a:r>
            <a:r>
              <a:rPr lang="en-US" altLang="zh-CN" sz="2800" spc="555" dirty="0">
                <a:latin typeface="PMingLiU"/>
                <a:cs typeface="PMingLiU"/>
              </a:rPr>
              <a:t>?</a:t>
            </a:r>
            <a:r>
              <a:rPr sz="2800" dirty="0" err="1">
                <a:latin typeface="PMingLiU"/>
                <a:cs typeface="PMingLiU"/>
              </a:rPr>
              <a:t>答案</a:t>
            </a:r>
            <a:r>
              <a:rPr sz="2800" dirty="0">
                <a:latin typeface="PMingLiU"/>
                <a:cs typeface="PMingLiU"/>
              </a:rPr>
              <a:t>：</a:t>
            </a:r>
            <a:r>
              <a:rPr sz="2800" dirty="0">
                <a:latin typeface="Cambria Math"/>
                <a:cs typeface="Cambria Math"/>
              </a:rPr>
              <a:t>𝑿</a:t>
            </a:r>
            <a:r>
              <a:rPr sz="2800" spc="355" dirty="0">
                <a:latin typeface="Cambria Math"/>
                <a:cs typeface="Cambria Math"/>
              </a:rPr>
              <a:t> </a:t>
            </a:r>
            <a:r>
              <a:rPr sz="2800" spc="-10" dirty="0">
                <a:latin typeface="Cambria Math"/>
                <a:cs typeface="Cambria Math"/>
              </a:rPr>
              <a:t>𝟑.</a:t>
            </a:r>
            <a:r>
              <a:rPr sz="2800" spc="-15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.</a:t>
            </a:r>
            <a:r>
              <a:rPr sz="2800" spc="-150" dirty="0">
                <a:latin typeface="Cambria Math"/>
                <a:cs typeface="Cambria Math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𝟏𝟎</a:t>
            </a:r>
            <a:r>
              <a:rPr sz="2800" dirty="0">
                <a:latin typeface="Cambria Math"/>
                <a:cs typeface="Cambria Math"/>
              </a:rPr>
              <a:t>	=</a:t>
            </a:r>
            <a:r>
              <a:rPr sz="2800" spc="150" dirty="0">
                <a:latin typeface="Cambria Math"/>
                <a:cs typeface="Cambria Math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𝟏𝟔</a:t>
            </a:r>
            <a:endParaRPr sz="2800" dirty="0">
              <a:latin typeface="Cambria Math"/>
              <a:cs typeface="Cambria Math"/>
            </a:endParaRPr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010E3663-CE62-5C40-934C-0CA680CA01D2}"/>
              </a:ext>
            </a:extLst>
          </p:cNvPr>
          <p:cNvSpPr/>
          <p:nvPr/>
        </p:nvSpPr>
        <p:spPr>
          <a:xfrm>
            <a:off x="2683819" y="6053238"/>
            <a:ext cx="3871358" cy="395063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60962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89F25AF-86B9-C443-AC0F-408445C8B7A5}"/>
              </a:ext>
            </a:extLst>
          </p:cNvPr>
          <p:cNvSpPr txBox="1"/>
          <p:nvPr/>
        </p:nvSpPr>
        <p:spPr>
          <a:xfrm>
            <a:off x="1268729" y="232528"/>
            <a:ext cx="491831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问题定义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180CA087-0D00-DC40-A492-136FA7883E0F}"/>
              </a:ext>
            </a:extLst>
          </p:cNvPr>
          <p:cNvSpPr/>
          <p:nvPr/>
        </p:nvSpPr>
        <p:spPr>
          <a:xfrm>
            <a:off x="1847849" y="2442875"/>
            <a:ext cx="8828067" cy="3471040"/>
          </a:xfrm>
          <a:custGeom>
            <a:avLst/>
            <a:gdLst/>
            <a:ahLst/>
            <a:cxnLst/>
            <a:rect l="l" t="t" r="r" b="b"/>
            <a:pathLst>
              <a:path w="8633460" h="3503929">
                <a:moveTo>
                  <a:pt x="0" y="3503676"/>
                </a:moveTo>
                <a:lnTo>
                  <a:pt x="8633460" y="3503676"/>
                </a:lnTo>
                <a:lnTo>
                  <a:pt x="8633460" y="0"/>
                </a:lnTo>
                <a:lnTo>
                  <a:pt x="0" y="0"/>
                </a:lnTo>
                <a:lnTo>
                  <a:pt x="0" y="3503676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ADA3DBCB-0121-B749-87D6-1599A4190E7A}"/>
              </a:ext>
            </a:extLst>
          </p:cNvPr>
          <p:cNvSpPr txBox="1"/>
          <p:nvPr/>
        </p:nvSpPr>
        <p:spPr>
          <a:xfrm>
            <a:off x="1901189" y="5123336"/>
            <a:ext cx="4927123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200" spc="-25" dirty="0" err="1">
                <a:solidFill>
                  <a:srgbClr val="006FC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输出</a:t>
            </a:r>
            <a:endParaRPr sz="22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323850" indent="-285750">
              <a:lnSpc>
                <a:spcPct val="100000"/>
              </a:lnSpc>
              <a:spcBef>
                <a:spcPts val="40"/>
              </a:spcBef>
              <a:buFont typeface="Arial"/>
              <a:buChar char="•"/>
              <a:tabLst>
                <a:tab pos="323215" algn="l"/>
                <a:tab pos="323850" algn="l"/>
              </a:tabLst>
            </a:pPr>
            <a:r>
              <a:rPr sz="22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求出</a:t>
            </a:r>
            <a:r>
              <a:rPr sz="22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𝑺(𝒍,</a:t>
            </a:r>
            <a:r>
              <a:rPr sz="2200" spc="-8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</a:t>
            </a:r>
            <a:r>
              <a:rPr sz="22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𝒓)</a:t>
            </a:r>
            <a:r>
              <a:rPr sz="22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的</a:t>
            </a:r>
            <a:r>
              <a:rPr sz="2200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最大值，记为</a:t>
            </a:r>
            <a:r>
              <a:rPr sz="2200" spc="-2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𝑺</a:t>
            </a:r>
            <a:r>
              <a:rPr sz="2400" spc="-30" baseline="-15625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𝒎𝒂𝒙</a:t>
            </a:r>
            <a:endParaRPr sz="2400" baseline="-15625" dirty="0">
              <a:latin typeface="SimSun" panose="02010600030101010101" pitchFamily="2" charset="-122"/>
              <a:ea typeface="SimSun" panose="02010600030101010101" pitchFamily="2" charset="-122"/>
              <a:cs typeface="Cambria Math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99C2CF80-374E-1145-91AD-9C943BF3BDF3}"/>
              </a:ext>
            </a:extLst>
          </p:cNvPr>
          <p:cNvSpPr/>
          <p:nvPr/>
        </p:nvSpPr>
        <p:spPr>
          <a:xfrm>
            <a:off x="2100833" y="2011582"/>
            <a:ext cx="2447290" cy="445770"/>
          </a:xfrm>
          <a:custGeom>
            <a:avLst/>
            <a:gdLst/>
            <a:ahLst/>
            <a:cxnLst/>
            <a:rect l="l" t="t" r="r" b="b"/>
            <a:pathLst>
              <a:path w="2447290" h="445769">
                <a:moveTo>
                  <a:pt x="2335276" y="0"/>
                </a:moveTo>
                <a:lnTo>
                  <a:pt x="111506" y="0"/>
                </a:lnTo>
                <a:lnTo>
                  <a:pt x="0" y="445769"/>
                </a:lnTo>
                <a:lnTo>
                  <a:pt x="2446782" y="445769"/>
                </a:lnTo>
                <a:lnTo>
                  <a:pt x="2335276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EC1E6C73-90DE-9B46-AB40-766A07BFDEBE}"/>
              </a:ext>
            </a:extLst>
          </p:cNvPr>
          <p:cNvSpPr txBox="1"/>
          <p:nvPr/>
        </p:nvSpPr>
        <p:spPr>
          <a:xfrm>
            <a:off x="724916" y="1263366"/>
            <a:ext cx="5208270" cy="16471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形式化定义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65405" algn="ctr">
              <a:lnSpc>
                <a:spcPct val="100000"/>
              </a:lnSpc>
              <a:spcBef>
                <a:spcPts val="3055"/>
              </a:spcBef>
            </a:pPr>
            <a:r>
              <a:rPr sz="2400" spc="-10" dirty="0" err="1">
                <a:solidFill>
                  <a:srgbClr val="FFFFFF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最大子数组问题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1250315">
              <a:lnSpc>
                <a:spcPct val="100000"/>
              </a:lnSpc>
              <a:spcBef>
                <a:spcPts val="830"/>
              </a:spcBef>
            </a:pPr>
            <a:r>
              <a:rPr sz="2200" b="1" dirty="0">
                <a:solidFill>
                  <a:srgbClr val="006FC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Max</a:t>
            </a:r>
            <a:r>
              <a:rPr sz="2200" b="1" spc="-50" dirty="0">
                <a:solidFill>
                  <a:srgbClr val="006FC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sz="2200" b="1" dirty="0">
                <a:solidFill>
                  <a:srgbClr val="006FC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Continuous</a:t>
            </a:r>
            <a:r>
              <a:rPr sz="2200" b="1" spc="-45" dirty="0">
                <a:solidFill>
                  <a:srgbClr val="006FC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sz="2200" b="1" dirty="0">
                <a:solidFill>
                  <a:srgbClr val="006FC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Subarray,</a:t>
            </a:r>
            <a:r>
              <a:rPr sz="2200" b="1" spc="-50" dirty="0">
                <a:solidFill>
                  <a:srgbClr val="006FC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sz="2200" b="1" spc="-25" dirty="0">
                <a:solidFill>
                  <a:srgbClr val="006FC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MCS</a:t>
            </a:r>
            <a:endParaRPr sz="22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CB96FF16-22E5-EF43-8AA3-310BED277449}"/>
              </a:ext>
            </a:extLst>
          </p:cNvPr>
          <p:cNvSpPr txBox="1"/>
          <p:nvPr/>
        </p:nvSpPr>
        <p:spPr>
          <a:xfrm>
            <a:off x="1939288" y="3111402"/>
            <a:ext cx="8542021" cy="10438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200" spc="-25" dirty="0" err="1">
                <a:solidFill>
                  <a:srgbClr val="006FC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输入</a:t>
            </a:r>
            <a:endParaRPr sz="22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342265" marR="5080" indent="-342265">
              <a:lnSpc>
                <a:spcPts val="2600"/>
              </a:lnSpc>
              <a:spcBef>
                <a:spcPts val="165"/>
              </a:spcBef>
              <a:buFont typeface="Arial"/>
              <a:buChar char="•"/>
              <a:tabLst>
                <a:tab pos="342265" algn="l"/>
                <a:tab pos="342900" algn="l"/>
              </a:tabLst>
            </a:pPr>
            <a:r>
              <a:rPr sz="22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给定一个数组</a:t>
            </a:r>
            <a:r>
              <a:rPr sz="22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𝑿[𝟏.</a:t>
            </a:r>
            <a:r>
              <a:rPr sz="2200" spc="-8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.</a:t>
            </a:r>
            <a:r>
              <a:rPr sz="22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𝒏]</a:t>
            </a:r>
            <a:r>
              <a:rPr sz="2200" spc="-1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</a:t>
            </a:r>
            <a:r>
              <a:rPr sz="22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对于任意一对数组下标为</a:t>
            </a:r>
            <a:r>
              <a:rPr sz="22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𝒍,𝒓</a:t>
            </a:r>
            <a:r>
              <a:rPr sz="2200" spc="7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(</a:t>
            </a:r>
            <a:r>
              <a:rPr sz="2200" spc="7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𝒍</a:t>
            </a:r>
            <a:r>
              <a:rPr sz="2200" spc="4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≤</a:t>
            </a:r>
            <a:r>
              <a:rPr sz="2200" spc="5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𝒓</a:t>
            </a:r>
            <a:r>
              <a:rPr sz="2200" spc="2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)</a:t>
            </a:r>
            <a:r>
              <a:rPr sz="2200" spc="2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的</a:t>
            </a:r>
            <a:r>
              <a:rPr sz="2200" spc="-30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非空</a:t>
            </a:r>
            <a:r>
              <a:rPr sz="2200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子数组</a:t>
            </a:r>
            <a:r>
              <a:rPr sz="22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，其和记为</a:t>
            </a:r>
            <a:endParaRPr sz="22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CB0C53F6-A747-7049-8192-787F0A2DEDEB}"/>
                  </a:ext>
                </a:extLst>
              </p:cNvPr>
              <p:cNvSpPr txBox="1"/>
              <p:nvPr/>
            </p:nvSpPr>
            <p:spPr>
              <a:xfrm>
                <a:off x="4735579" y="4223510"/>
                <a:ext cx="1896160" cy="8402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  <m:sup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  <m:e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kumimoji="1" lang="zh-CN" altLang="en-US" sz="20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CB0C53F6-A747-7049-8192-787F0A2DED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5579" y="4223510"/>
                <a:ext cx="1896160" cy="840295"/>
              </a:xfrm>
              <a:prstGeom prst="rect">
                <a:avLst/>
              </a:prstGeom>
              <a:blipFill>
                <a:blip r:embed="rId3"/>
                <a:stretch>
                  <a:fillRect l="-1987" t="-119403" r="-5960" b="-1791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98346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89F25AF-86B9-C443-AC0F-408445C8B7A5}"/>
              </a:ext>
            </a:extLst>
          </p:cNvPr>
          <p:cNvSpPr txBox="1"/>
          <p:nvPr/>
        </p:nvSpPr>
        <p:spPr>
          <a:xfrm>
            <a:off x="1268729" y="232528"/>
            <a:ext cx="491831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蛮力枚举</a:t>
            </a: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A3E31B1A-71A7-6145-B6D8-81CDA703F20D}"/>
              </a:ext>
            </a:extLst>
          </p:cNvPr>
          <p:cNvGraphicFramePr>
            <a:graphicFrameLocks noGrp="1"/>
          </p:cNvGraphicFramePr>
          <p:nvPr/>
        </p:nvGraphicFramePr>
        <p:xfrm>
          <a:off x="3000248" y="1348598"/>
          <a:ext cx="6254750" cy="10369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610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9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94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spc="-50">
                          <a:latin typeface="Cambria Math"/>
                          <a:cs typeface="Cambria Math"/>
                        </a:rPr>
                        <a:t>𝑿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78105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dirty="0">
                          <a:latin typeface="Times New Roman"/>
                          <a:cs typeface="Times New Roman"/>
                        </a:rPr>
                        <a:t>6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object 2">
            <a:extLst>
              <a:ext uri="{FF2B5EF4-FFF2-40B4-BE49-F238E27FC236}">
                <a16:creationId xmlns:a16="http://schemas.microsoft.com/office/drawing/2014/main" id="{D3395FFD-40E1-094E-A5A7-AF96B38ADDA7}"/>
              </a:ext>
            </a:extLst>
          </p:cNvPr>
          <p:cNvSpPr txBox="1"/>
          <p:nvPr/>
        </p:nvSpPr>
        <p:spPr>
          <a:xfrm>
            <a:off x="688340" y="2951480"/>
            <a:ext cx="10379463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数组</a:t>
            </a:r>
            <a:r>
              <a:rPr sz="28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𝑿[𝟏</a:t>
            </a:r>
            <a:r>
              <a:rPr sz="2800" spc="-8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..</a:t>
            </a:r>
            <a:r>
              <a:rPr sz="28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𝒏]</a:t>
            </a:r>
            <a:r>
              <a:rPr sz="2800" spc="-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</a:t>
            </a:r>
            <a:r>
              <a:rPr sz="28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其所有的下标</a:t>
            </a:r>
            <a:r>
              <a:rPr sz="28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𝒍,𝒓(𝒍</a:t>
            </a:r>
            <a:r>
              <a:rPr sz="2800" spc="1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≤</a:t>
            </a:r>
            <a:r>
              <a:rPr sz="28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𝒓)</a:t>
            </a:r>
            <a:r>
              <a:rPr sz="28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组合分为以下两种情况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9425EFAA-96D5-284A-BA84-DF7E3FB4B1C8}"/>
              </a:ext>
            </a:extLst>
          </p:cNvPr>
          <p:cNvSpPr txBox="1"/>
          <p:nvPr/>
        </p:nvSpPr>
        <p:spPr>
          <a:xfrm>
            <a:off x="3768597" y="3637408"/>
            <a:ext cx="16954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0">
                <a:latin typeface="Cambria Math"/>
                <a:cs typeface="Cambria Math"/>
              </a:rPr>
              <a:t>𝒏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B3F4E808-1B52-884E-81AE-DCAEE068CB55}"/>
              </a:ext>
            </a:extLst>
          </p:cNvPr>
          <p:cNvSpPr txBox="1"/>
          <p:nvPr/>
        </p:nvSpPr>
        <p:spPr>
          <a:xfrm>
            <a:off x="1007363" y="3492628"/>
            <a:ext cx="44767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5445" indent="-347980">
              <a:lnSpc>
                <a:spcPct val="100000"/>
              </a:lnSpc>
              <a:spcBef>
                <a:spcPts val="10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385445" algn="l"/>
                <a:tab pos="386080" algn="l"/>
              </a:tabLst>
            </a:pPr>
            <a:r>
              <a:rPr sz="2400" dirty="0" err="1">
                <a:latin typeface="PMingLiU"/>
                <a:cs typeface="PMingLiU"/>
              </a:rPr>
              <a:t>当</a:t>
            </a:r>
            <a:r>
              <a:rPr sz="2400" dirty="0">
                <a:latin typeface="Cambria Math"/>
                <a:cs typeface="Cambria Math"/>
              </a:rPr>
              <a:t>𝒍</a:t>
            </a:r>
            <a:r>
              <a:rPr sz="2400" spc="85" dirty="0">
                <a:latin typeface="Cambria Math"/>
                <a:cs typeface="Cambria Math"/>
              </a:rPr>
              <a:t> = </a:t>
            </a:r>
            <a:r>
              <a:rPr sz="2400" dirty="0">
                <a:latin typeface="Cambria Math"/>
                <a:cs typeface="Cambria Math"/>
              </a:rPr>
              <a:t>𝒓</a:t>
            </a:r>
            <a:r>
              <a:rPr sz="2400" dirty="0" err="1">
                <a:latin typeface="PMingLiU"/>
                <a:cs typeface="PMingLiU"/>
              </a:rPr>
              <a:t>时，一共</a:t>
            </a:r>
            <a:r>
              <a:rPr sz="2400" dirty="0">
                <a:latin typeface="Cambria Math"/>
                <a:cs typeface="Cambria Math"/>
              </a:rPr>
              <a:t>𝑪</a:t>
            </a:r>
            <a:r>
              <a:rPr sz="2625" baseline="28571" dirty="0">
                <a:latin typeface="Cambria Math"/>
                <a:cs typeface="Cambria Math"/>
              </a:rPr>
              <a:t>𝟏</a:t>
            </a:r>
            <a:r>
              <a:rPr sz="2625" spc="690" baseline="28571" dirty="0">
                <a:latin typeface="Cambria Math"/>
                <a:cs typeface="Cambria Math"/>
              </a:rPr>
              <a:t> </a:t>
            </a:r>
            <a:r>
              <a:rPr sz="2400" spc="65" dirty="0">
                <a:latin typeface="Cambria Math"/>
                <a:cs typeface="Cambria Math"/>
              </a:rPr>
              <a:t>= </a:t>
            </a:r>
            <a:r>
              <a:rPr sz="2400" dirty="0">
                <a:latin typeface="Cambria Math"/>
                <a:cs typeface="Cambria Math"/>
              </a:rPr>
              <a:t>𝒏</a:t>
            </a:r>
            <a:r>
              <a:rPr sz="2400" spc="-20" dirty="0" err="1">
                <a:latin typeface="PMingLiU"/>
                <a:cs typeface="PMingLiU"/>
              </a:rPr>
              <a:t>种组合</a:t>
            </a:r>
            <a:endParaRPr sz="2400" dirty="0">
              <a:latin typeface="PMingLiU"/>
              <a:cs typeface="PMingLiU"/>
            </a:endParaRPr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33970642-465C-E945-97F5-3B139A042283}"/>
              </a:ext>
            </a:extLst>
          </p:cNvPr>
          <p:cNvSpPr txBox="1"/>
          <p:nvPr/>
        </p:nvSpPr>
        <p:spPr>
          <a:xfrm>
            <a:off x="3770121" y="4133980"/>
            <a:ext cx="16954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0">
                <a:latin typeface="Cambria Math"/>
                <a:cs typeface="Cambria Math"/>
              </a:rPr>
              <a:t>𝒏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10" name="object 6">
            <a:extLst>
              <a:ext uri="{FF2B5EF4-FFF2-40B4-BE49-F238E27FC236}">
                <a16:creationId xmlns:a16="http://schemas.microsoft.com/office/drawing/2014/main" id="{09EA462C-774B-D142-A2E6-6D344B13B7B2}"/>
              </a:ext>
            </a:extLst>
          </p:cNvPr>
          <p:cNvSpPr txBox="1"/>
          <p:nvPr/>
        </p:nvSpPr>
        <p:spPr>
          <a:xfrm>
            <a:off x="1007363" y="3988692"/>
            <a:ext cx="388429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5445" indent="-347980">
              <a:lnSpc>
                <a:spcPct val="100000"/>
              </a:lnSpc>
              <a:spcBef>
                <a:spcPts val="10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385445" algn="l"/>
                <a:tab pos="386080" algn="l"/>
              </a:tabLst>
            </a:pPr>
            <a:r>
              <a:rPr sz="2400" spc="-10">
                <a:latin typeface="PMingLiU"/>
                <a:cs typeface="PMingLiU"/>
              </a:rPr>
              <a:t>当</a:t>
            </a:r>
            <a:r>
              <a:rPr sz="2400">
                <a:latin typeface="Cambria Math"/>
                <a:cs typeface="Cambria Math"/>
              </a:rPr>
              <a:t>𝒍</a:t>
            </a:r>
            <a:r>
              <a:rPr sz="2400" spc="95">
                <a:latin typeface="Cambria Math"/>
                <a:cs typeface="Cambria Math"/>
              </a:rPr>
              <a:t> &lt; </a:t>
            </a:r>
            <a:r>
              <a:rPr sz="2400">
                <a:latin typeface="Cambria Math"/>
                <a:cs typeface="Cambria Math"/>
              </a:rPr>
              <a:t>𝒓</a:t>
            </a:r>
            <a:r>
              <a:rPr sz="2400" spc="-10">
                <a:latin typeface="PMingLiU"/>
                <a:cs typeface="PMingLiU"/>
              </a:rPr>
              <a:t>时，一共</a:t>
            </a:r>
            <a:r>
              <a:rPr sz="2400" spc="-10">
                <a:latin typeface="Cambria Math"/>
                <a:cs typeface="Cambria Math"/>
              </a:rPr>
              <a:t>𝑪</a:t>
            </a:r>
            <a:r>
              <a:rPr sz="2625" spc="-15" baseline="28571">
                <a:latin typeface="Cambria Math"/>
                <a:cs typeface="Cambria Math"/>
              </a:rPr>
              <a:t>𝟐</a:t>
            </a:r>
            <a:r>
              <a:rPr sz="2625" spc="-292" baseline="28571">
                <a:latin typeface="Cambria Math"/>
                <a:cs typeface="Cambria Math"/>
              </a:rPr>
              <a:t> </a:t>
            </a:r>
            <a:r>
              <a:rPr sz="2400" spc="-25">
                <a:latin typeface="PMingLiU"/>
                <a:cs typeface="PMingLiU"/>
              </a:rPr>
              <a:t>种组合</a:t>
            </a:r>
            <a:endParaRPr sz="2400">
              <a:latin typeface="PMingLiU"/>
              <a:cs typeface="PMingLiU"/>
            </a:endParaRPr>
          </a:p>
        </p:txBody>
      </p:sp>
      <p:sp>
        <p:nvSpPr>
          <p:cNvPr id="11" name="object 7">
            <a:extLst>
              <a:ext uri="{FF2B5EF4-FFF2-40B4-BE49-F238E27FC236}">
                <a16:creationId xmlns:a16="http://schemas.microsoft.com/office/drawing/2014/main" id="{B5D21D81-770A-BE4D-8222-163E78D129A0}"/>
              </a:ext>
            </a:extLst>
          </p:cNvPr>
          <p:cNvSpPr txBox="1"/>
          <p:nvPr/>
        </p:nvSpPr>
        <p:spPr>
          <a:xfrm>
            <a:off x="2620264" y="4746864"/>
            <a:ext cx="193675" cy="3378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50" spc="-50">
                <a:solidFill>
                  <a:srgbClr val="FF0000"/>
                </a:solidFill>
                <a:latin typeface="Cambria Math"/>
                <a:cs typeface="Cambria Math"/>
              </a:rPr>
              <a:t>𝒏</a:t>
            </a:r>
            <a:endParaRPr sz="2050">
              <a:latin typeface="Cambria Math"/>
              <a:cs typeface="Cambria Math"/>
            </a:endParaRPr>
          </a:p>
        </p:txBody>
      </p:sp>
      <p:sp>
        <p:nvSpPr>
          <p:cNvPr id="12" name="object 8">
            <a:extLst>
              <a:ext uri="{FF2B5EF4-FFF2-40B4-BE49-F238E27FC236}">
                <a16:creationId xmlns:a16="http://schemas.microsoft.com/office/drawing/2014/main" id="{556C65FD-7633-484F-A72E-E1143EFB645D}"/>
              </a:ext>
            </a:extLst>
          </p:cNvPr>
          <p:cNvSpPr txBox="1"/>
          <p:nvPr/>
        </p:nvSpPr>
        <p:spPr>
          <a:xfrm>
            <a:off x="662940" y="4578463"/>
            <a:ext cx="7982584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80365" algn="l"/>
                <a:tab pos="381000" algn="l"/>
              </a:tabLst>
            </a:pPr>
            <a:r>
              <a:rPr sz="2800" dirty="0" err="1">
                <a:latin typeface="PMingLiU"/>
                <a:cs typeface="PMingLiU"/>
              </a:rPr>
              <a:t>枚举</a:t>
            </a:r>
            <a:r>
              <a:rPr sz="2800" dirty="0">
                <a:solidFill>
                  <a:srgbClr val="FF0000"/>
                </a:solidFill>
                <a:latin typeface="Cambria Math"/>
                <a:cs typeface="Cambria Math"/>
              </a:rPr>
              <a:t>𝒏 + </a:t>
            </a:r>
            <a:r>
              <a:rPr sz="2800" spc="95" dirty="0">
                <a:solidFill>
                  <a:srgbClr val="FF0000"/>
                </a:solidFill>
                <a:latin typeface="Cambria Math"/>
                <a:cs typeface="Cambria Math"/>
              </a:rPr>
              <a:t>𝑪</a:t>
            </a:r>
            <a:r>
              <a:rPr sz="3075" spc="142" baseline="28455" dirty="0">
                <a:solidFill>
                  <a:srgbClr val="FF0000"/>
                </a:solidFill>
                <a:latin typeface="Cambria Math"/>
                <a:cs typeface="Cambria Math"/>
              </a:rPr>
              <a:t>𝟐</a:t>
            </a:r>
            <a:r>
              <a:rPr sz="2800" dirty="0" err="1">
                <a:latin typeface="PMingLiU"/>
                <a:cs typeface="PMingLiU"/>
              </a:rPr>
              <a:t>种下标</a:t>
            </a:r>
            <a:r>
              <a:rPr sz="2800" dirty="0">
                <a:latin typeface="Cambria Math"/>
                <a:cs typeface="Cambria Math"/>
              </a:rPr>
              <a:t>𝒍,</a:t>
            </a:r>
            <a:r>
              <a:rPr sz="2800" spc="-15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𝒓</a:t>
            </a:r>
            <a:r>
              <a:rPr sz="2800" spc="-10" dirty="0" err="1">
                <a:latin typeface="PMingLiU"/>
                <a:cs typeface="PMingLiU"/>
              </a:rPr>
              <a:t>组合，</a:t>
            </a:r>
            <a:r>
              <a:rPr sz="28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求出最大子数组之和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</p:spTree>
    <p:extLst>
      <p:ext uri="{BB962C8B-B14F-4D97-AF65-F5344CB8AC3E}">
        <p14:creationId xmlns:p14="http://schemas.microsoft.com/office/powerpoint/2010/main" val="2135566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89F25AF-86B9-C443-AC0F-408445C8B7A5}"/>
              </a:ext>
            </a:extLst>
          </p:cNvPr>
          <p:cNvSpPr txBox="1"/>
          <p:nvPr/>
        </p:nvSpPr>
        <p:spPr>
          <a:xfrm>
            <a:off x="1268729" y="232528"/>
            <a:ext cx="516769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蛮力枚举</a:t>
            </a:r>
            <a:r>
              <a:rPr lang="en-US" altLang="zh-CN" sz="4400" dirty="0">
                <a:latin typeface="SimSun" panose="02010600030101010101" pitchFamily="2" charset="-122"/>
                <a:ea typeface="SimSun" panose="02010600030101010101" pitchFamily="2" charset="-122"/>
              </a:rPr>
              <a:t>-</a:t>
            </a:r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算法实例</a:t>
            </a:r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BDDFDB26-99D9-5048-A45C-4F5961877B1F}"/>
              </a:ext>
            </a:extLst>
          </p:cNvPr>
          <p:cNvSpPr txBox="1"/>
          <p:nvPr/>
        </p:nvSpPr>
        <p:spPr>
          <a:xfrm>
            <a:off x="747715" y="1161794"/>
            <a:ext cx="2491740" cy="105092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7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  <a:tab pos="1414145" algn="l"/>
              </a:tabLst>
            </a:pP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𝒍</a:t>
            </a:r>
            <a:r>
              <a:rPr sz="2800" spc="16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800" spc="15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 spc="-25">
                <a:solidFill>
                  <a:srgbClr val="FF0000"/>
                </a:solidFill>
                <a:latin typeface="Cambria Math"/>
                <a:cs typeface="Cambria Math"/>
              </a:rPr>
              <a:t>𝟑,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	𝒓</a:t>
            </a:r>
            <a:r>
              <a:rPr sz="2800" spc="15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800" spc="15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 spc="-50">
                <a:solidFill>
                  <a:srgbClr val="FF0000"/>
                </a:solidFill>
                <a:latin typeface="Cambria Math"/>
                <a:cs typeface="Cambria Math"/>
              </a:rPr>
              <a:t>𝟖</a:t>
            </a:r>
            <a:endParaRPr sz="2800">
              <a:latin typeface="Cambria Math"/>
              <a:cs typeface="Cambria Math"/>
            </a:endParaRP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>
                <a:solidFill>
                  <a:srgbClr val="FF0000"/>
                </a:solidFill>
                <a:latin typeface="PMingLiU"/>
                <a:cs typeface="PMingLiU"/>
              </a:rPr>
              <a:t>计算</a:t>
            </a:r>
            <a:r>
              <a:rPr sz="2800" spc="-10">
                <a:solidFill>
                  <a:srgbClr val="FF0000"/>
                </a:solidFill>
                <a:latin typeface="Cambria Math"/>
                <a:cs typeface="Cambria Math"/>
              </a:rPr>
              <a:t>𝑺(𝟑</a:t>
            </a:r>
            <a:r>
              <a:rPr sz="2800" spc="-65">
                <a:solidFill>
                  <a:srgbClr val="FF0000"/>
                </a:solidFill>
                <a:latin typeface="Cambria Math"/>
                <a:cs typeface="Cambria Math"/>
              </a:rPr>
              <a:t>, </a:t>
            </a:r>
            <a:r>
              <a:rPr sz="2800" spc="-25">
                <a:solidFill>
                  <a:srgbClr val="FF0000"/>
                </a:solidFill>
                <a:latin typeface="Cambria Math"/>
                <a:cs typeface="Cambria Math"/>
              </a:rPr>
              <a:t>𝟖)</a:t>
            </a:r>
            <a:r>
              <a:rPr sz="2800" spc="-25">
                <a:latin typeface="PMingLiU"/>
                <a:cs typeface="PMingLiU"/>
              </a:rPr>
              <a:t>：</a:t>
            </a:r>
            <a:endParaRPr sz="2800">
              <a:latin typeface="PMingLiU"/>
              <a:cs typeface="PMingLiU"/>
            </a:endParaRPr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E383A4A8-E985-AE40-A447-D65A6D59B021}"/>
              </a:ext>
            </a:extLst>
          </p:cNvPr>
          <p:cNvGraphicFramePr>
            <a:graphicFrameLocks noGrp="1"/>
          </p:cNvGraphicFramePr>
          <p:nvPr/>
        </p:nvGraphicFramePr>
        <p:xfrm>
          <a:off x="2826004" y="2883012"/>
          <a:ext cx="6254750" cy="10369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610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6375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9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94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spc="-50">
                          <a:latin typeface="Cambria Math"/>
                          <a:cs typeface="Cambria Math"/>
                        </a:rPr>
                        <a:t>𝑿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7874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637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3D35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3D35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3D35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3D35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3D35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3D35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object 5">
            <a:extLst>
              <a:ext uri="{FF2B5EF4-FFF2-40B4-BE49-F238E27FC236}">
                <a16:creationId xmlns:a16="http://schemas.microsoft.com/office/drawing/2014/main" id="{3C861611-6448-8946-A86A-D9BE39331B0C}"/>
              </a:ext>
            </a:extLst>
          </p:cNvPr>
          <p:cNvSpPr/>
          <p:nvPr/>
        </p:nvSpPr>
        <p:spPr>
          <a:xfrm>
            <a:off x="7587233" y="3925823"/>
            <a:ext cx="114300" cy="549275"/>
          </a:xfrm>
          <a:custGeom>
            <a:avLst/>
            <a:gdLst/>
            <a:ahLst/>
            <a:cxnLst/>
            <a:rect l="l" t="t" r="r" b="b"/>
            <a:pathLst>
              <a:path w="114300" h="549275">
                <a:moveTo>
                  <a:pt x="76200" y="95250"/>
                </a:moveTo>
                <a:lnTo>
                  <a:pt x="38100" y="95250"/>
                </a:lnTo>
                <a:lnTo>
                  <a:pt x="38100" y="549148"/>
                </a:lnTo>
                <a:lnTo>
                  <a:pt x="76200" y="549148"/>
                </a:lnTo>
                <a:lnTo>
                  <a:pt x="76200" y="95250"/>
                </a:lnTo>
                <a:close/>
              </a:path>
              <a:path w="114300" h="549275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549275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43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A2E85F48-3EAA-E04F-A90A-584AF6710A54}"/>
              </a:ext>
            </a:extLst>
          </p:cNvPr>
          <p:cNvSpPr/>
          <p:nvPr/>
        </p:nvSpPr>
        <p:spPr>
          <a:xfrm>
            <a:off x="5807709" y="4578096"/>
            <a:ext cx="564515" cy="234950"/>
          </a:xfrm>
          <a:custGeom>
            <a:avLst/>
            <a:gdLst/>
            <a:ahLst/>
            <a:cxnLst/>
            <a:rect l="l" t="t" r="r" b="b"/>
            <a:pathLst>
              <a:path w="564514" h="234950">
                <a:moveTo>
                  <a:pt x="489457" y="0"/>
                </a:moveTo>
                <a:lnTo>
                  <a:pt x="486028" y="9524"/>
                </a:lnTo>
                <a:lnTo>
                  <a:pt x="499649" y="15428"/>
                </a:lnTo>
                <a:lnTo>
                  <a:pt x="511365" y="23606"/>
                </a:lnTo>
                <a:lnTo>
                  <a:pt x="535156" y="61450"/>
                </a:lnTo>
                <a:lnTo>
                  <a:pt x="542925" y="116331"/>
                </a:lnTo>
                <a:lnTo>
                  <a:pt x="542045" y="137023"/>
                </a:lnTo>
                <a:lnTo>
                  <a:pt x="528954" y="187832"/>
                </a:lnTo>
                <a:lnTo>
                  <a:pt x="499790" y="219497"/>
                </a:lnTo>
                <a:lnTo>
                  <a:pt x="486410" y="225424"/>
                </a:lnTo>
                <a:lnTo>
                  <a:pt x="489457" y="234949"/>
                </a:lnTo>
                <a:lnTo>
                  <a:pt x="534320" y="208285"/>
                </a:lnTo>
                <a:lnTo>
                  <a:pt x="559546" y="159035"/>
                </a:lnTo>
                <a:lnTo>
                  <a:pt x="564388" y="117474"/>
                </a:lnTo>
                <a:lnTo>
                  <a:pt x="563173" y="95976"/>
                </a:lnTo>
                <a:lnTo>
                  <a:pt x="553458" y="57788"/>
                </a:lnTo>
                <a:lnTo>
                  <a:pt x="521350" y="15049"/>
                </a:lnTo>
                <a:lnTo>
                  <a:pt x="506434" y="6143"/>
                </a:lnTo>
                <a:lnTo>
                  <a:pt x="489457" y="0"/>
                </a:lnTo>
                <a:close/>
              </a:path>
              <a:path w="564514" h="234950">
                <a:moveTo>
                  <a:pt x="74929" y="0"/>
                </a:moveTo>
                <a:lnTo>
                  <a:pt x="30067" y="26717"/>
                </a:lnTo>
                <a:lnTo>
                  <a:pt x="4841" y="76072"/>
                </a:lnTo>
                <a:lnTo>
                  <a:pt x="0" y="117474"/>
                </a:lnTo>
                <a:lnTo>
                  <a:pt x="1194" y="139100"/>
                </a:lnTo>
                <a:lnTo>
                  <a:pt x="10822" y="177303"/>
                </a:lnTo>
                <a:lnTo>
                  <a:pt x="42830" y="219916"/>
                </a:lnTo>
                <a:lnTo>
                  <a:pt x="74929" y="234949"/>
                </a:lnTo>
                <a:lnTo>
                  <a:pt x="77850" y="225424"/>
                </a:lnTo>
                <a:lnTo>
                  <a:pt x="64470" y="219497"/>
                </a:lnTo>
                <a:lnTo>
                  <a:pt x="52911" y="211248"/>
                </a:lnTo>
                <a:lnTo>
                  <a:pt x="29211" y="172785"/>
                </a:lnTo>
                <a:lnTo>
                  <a:pt x="21336" y="116331"/>
                </a:lnTo>
                <a:lnTo>
                  <a:pt x="22215" y="96260"/>
                </a:lnTo>
                <a:lnTo>
                  <a:pt x="35305" y="46735"/>
                </a:lnTo>
                <a:lnTo>
                  <a:pt x="64684" y="15428"/>
                </a:lnTo>
                <a:lnTo>
                  <a:pt x="78231" y="9524"/>
                </a:lnTo>
                <a:lnTo>
                  <a:pt x="7492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F5F57C17-7D7E-4444-94EF-0A63CE3325F1}"/>
              </a:ext>
            </a:extLst>
          </p:cNvPr>
          <p:cNvSpPr txBox="1"/>
          <p:nvPr/>
        </p:nvSpPr>
        <p:spPr>
          <a:xfrm>
            <a:off x="5493258" y="4475226"/>
            <a:ext cx="4296410" cy="4000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147320">
              <a:lnSpc>
                <a:spcPct val="100000"/>
              </a:lnSpc>
              <a:spcBef>
                <a:spcPts val="305"/>
              </a:spcBef>
              <a:tabLst>
                <a:tab pos="972819" algn="l"/>
              </a:tabLst>
            </a:pP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2000" spc="38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10">
                <a:solidFill>
                  <a:srgbClr val="FF0000"/>
                </a:solidFill>
                <a:latin typeface="Cambria Math"/>
                <a:cs typeface="Cambria Math"/>
              </a:rPr>
              <a:t>𝟑,</a:t>
            </a:r>
            <a:r>
              <a:rPr sz="2000" spc="-11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𝟖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	=</a:t>
            </a:r>
            <a:r>
              <a:rPr sz="2000" spc="10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𝟑</a:t>
            </a:r>
            <a:r>
              <a:rPr sz="2000" spc="-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+</a:t>
            </a:r>
            <a:r>
              <a:rPr sz="2000" spc="-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𝟓</a:t>
            </a:r>
            <a:r>
              <a:rPr sz="2000" spc="-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−</a:t>
            </a:r>
            <a:r>
              <a:rPr sz="2000" spc="-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𝟒</a:t>
            </a:r>
            <a:r>
              <a:rPr sz="2000" spc="-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+</a:t>
            </a:r>
            <a:r>
              <a:rPr sz="2000" spc="-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𝟑</a:t>
            </a:r>
            <a:r>
              <a:rPr sz="2000" spc="-1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+</a:t>
            </a:r>
            <a:r>
              <a:rPr sz="2000" spc="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𝟐</a:t>
            </a:r>
            <a:r>
              <a:rPr sz="2000" spc="-1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− 𝟐</a:t>
            </a:r>
            <a:r>
              <a:rPr sz="2000" spc="9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11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𝟕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BDB74CE0-0DA1-6241-8015-CE479BA3D890}"/>
              </a:ext>
            </a:extLst>
          </p:cNvPr>
          <p:cNvSpPr/>
          <p:nvPr/>
        </p:nvSpPr>
        <p:spPr>
          <a:xfrm>
            <a:off x="4693158" y="2375154"/>
            <a:ext cx="114300" cy="549275"/>
          </a:xfrm>
          <a:custGeom>
            <a:avLst/>
            <a:gdLst/>
            <a:ahLst/>
            <a:cxnLst/>
            <a:rect l="l" t="t" r="r" b="b"/>
            <a:pathLst>
              <a:path w="114300" h="549275">
                <a:moveTo>
                  <a:pt x="38100" y="434848"/>
                </a:moveTo>
                <a:lnTo>
                  <a:pt x="0" y="434848"/>
                </a:lnTo>
                <a:lnTo>
                  <a:pt x="57150" y="549148"/>
                </a:lnTo>
                <a:lnTo>
                  <a:pt x="104775" y="453898"/>
                </a:lnTo>
                <a:lnTo>
                  <a:pt x="38100" y="453898"/>
                </a:lnTo>
                <a:lnTo>
                  <a:pt x="38100" y="434848"/>
                </a:lnTo>
                <a:close/>
              </a:path>
              <a:path w="114300" h="549275">
                <a:moveTo>
                  <a:pt x="76200" y="0"/>
                </a:moveTo>
                <a:lnTo>
                  <a:pt x="38100" y="0"/>
                </a:lnTo>
                <a:lnTo>
                  <a:pt x="38100" y="453898"/>
                </a:lnTo>
                <a:lnTo>
                  <a:pt x="76200" y="453898"/>
                </a:lnTo>
                <a:lnTo>
                  <a:pt x="76200" y="0"/>
                </a:lnTo>
                <a:close/>
              </a:path>
              <a:path w="114300" h="549275">
                <a:moveTo>
                  <a:pt x="114300" y="434848"/>
                </a:moveTo>
                <a:lnTo>
                  <a:pt x="76200" y="434848"/>
                </a:lnTo>
                <a:lnTo>
                  <a:pt x="76200" y="453898"/>
                </a:lnTo>
                <a:lnTo>
                  <a:pt x="104775" y="453898"/>
                </a:lnTo>
                <a:lnTo>
                  <a:pt x="114300" y="434848"/>
                </a:lnTo>
                <a:close/>
              </a:path>
            </a:pathLst>
          </a:custGeom>
          <a:solidFill>
            <a:srgbClr val="043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4625AC19-9654-4E4B-8EE4-BC3041AA8AFB}"/>
              </a:ext>
            </a:extLst>
          </p:cNvPr>
          <p:cNvSpPr txBox="1"/>
          <p:nvPr/>
        </p:nvSpPr>
        <p:spPr>
          <a:xfrm>
            <a:off x="4283202" y="1975104"/>
            <a:ext cx="950594" cy="4000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130175">
              <a:lnSpc>
                <a:spcPct val="100000"/>
              </a:lnSpc>
              <a:spcBef>
                <a:spcPts val="305"/>
              </a:spcBef>
            </a:pP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𝒍</a:t>
            </a:r>
            <a:r>
              <a:rPr sz="2000" spc="45">
                <a:solidFill>
                  <a:srgbClr val="FF0000"/>
                </a:solidFill>
                <a:latin typeface="Cambria Math"/>
                <a:cs typeface="Cambria Math"/>
              </a:rPr>
              <a:t> 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55">
                <a:solidFill>
                  <a:srgbClr val="FF0000"/>
                </a:solidFill>
                <a:latin typeface="Cambria Math"/>
                <a:cs typeface="Cambria Math"/>
              </a:rPr>
              <a:t> 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𝟑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B5793330-D9FA-C54A-8E06-1EEDEC35F8FE}"/>
              </a:ext>
            </a:extLst>
          </p:cNvPr>
          <p:cNvSpPr/>
          <p:nvPr/>
        </p:nvSpPr>
        <p:spPr>
          <a:xfrm>
            <a:off x="7588757" y="2369820"/>
            <a:ext cx="114300" cy="549275"/>
          </a:xfrm>
          <a:custGeom>
            <a:avLst/>
            <a:gdLst/>
            <a:ahLst/>
            <a:cxnLst/>
            <a:rect l="l" t="t" r="r" b="b"/>
            <a:pathLst>
              <a:path w="114300" h="549275">
                <a:moveTo>
                  <a:pt x="38100" y="434847"/>
                </a:moveTo>
                <a:lnTo>
                  <a:pt x="0" y="434847"/>
                </a:lnTo>
                <a:lnTo>
                  <a:pt x="57150" y="549147"/>
                </a:lnTo>
                <a:lnTo>
                  <a:pt x="104775" y="453897"/>
                </a:lnTo>
                <a:lnTo>
                  <a:pt x="38100" y="453897"/>
                </a:lnTo>
                <a:lnTo>
                  <a:pt x="38100" y="434847"/>
                </a:lnTo>
                <a:close/>
              </a:path>
              <a:path w="114300" h="549275">
                <a:moveTo>
                  <a:pt x="76200" y="0"/>
                </a:moveTo>
                <a:lnTo>
                  <a:pt x="38100" y="0"/>
                </a:lnTo>
                <a:lnTo>
                  <a:pt x="38100" y="453897"/>
                </a:lnTo>
                <a:lnTo>
                  <a:pt x="76200" y="453897"/>
                </a:lnTo>
                <a:lnTo>
                  <a:pt x="76200" y="0"/>
                </a:lnTo>
                <a:close/>
              </a:path>
              <a:path w="114300" h="549275">
                <a:moveTo>
                  <a:pt x="114300" y="434847"/>
                </a:moveTo>
                <a:lnTo>
                  <a:pt x="76200" y="434847"/>
                </a:lnTo>
                <a:lnTo>
                  <a:pt x="76200" y="453897"/>
                </a:lnTo>
                <a:lnTo>
                  <a:pt x="104775" y="453897"/>
                </a:lnTo>
                <a:lnTo>
                  <a:pt x="114300" y="434847"/>
                </a:lnTo>
                <a:close/>
              </a:path>
            </a:pathLst>
          </a:custGeom>
          <a:solidFill>
            <a:srgbClr val="043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0D24C548-DCCF-E449-A03E-F18F20A7F617}"/>
              </a:ext>
            </a:extLst>
          </p:cNvPr>
          <p:cNvSpPr txBox="1"/>
          <p:nvPr/>
        </p:nvSpPr>
        <p:spPr>
          <a:xfrm>
            <a:off x="7178802" y="1969770"/>
            <a:ext cx="882015" cy="4000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130175">
              <a:lnSpc>
                <a:spcPct val="100000"/>
              </a:lnSpc>
              <a:spcBef>
                <a:spcPts val="305"/>
              </a:spcBef>
            </a:pP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𝒓</a:t>
            </a:r>
            <a:r>
              <a:rPr sz="2000" spc="10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11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𝟖</a:t>
            </a:r>
            <a:endParaRPr sz="200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8225392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89F25AF-86B9-C443-AC0F-408445C8B7A5}"/>
              </a:ext>
            </a:extLst>
          </p:cNvPr>
          <p:cNvSpPr txBox="1"/>
          <p:nvPr/>
        </p:nvSpPr>
        <p:spPr>
          <a:xfrm>
            <a:off x="1268729" y="232528"/>
            <a:ext cx="516769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蛮力枚举</a:t>
            </a:r>
          </a:p>
        </p:txBody>
      </p:sp>
      <p:sp>
        <p:nvSpPr>
          <p:cNvPr id="12" name="object 8">
            <a:extLst>
              <a:ext uri="{FF2B5EF4-FFF2-40B4-BE49-F238E27FC236}">
                <a16:creationId xmlns:a16="http://schemas.microsoft.com/office/drawing/2014/main" id="{062670C5-B067-374A-BE74-B4A2EE58429D}"/>
              </a:ext>
            </a:extLst>
          </p:cNvPr>
          <p:cNvSpPr txBox="1"/>
          <p:nvPr/>
        </p:nvSpPr>
        <p:spPr>
          <a:xfrm>
            <a:off x="662940" y="1253311"/>
            <a:ext cx="985012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80365" algn="l"/>
                <a:tab pos="381000" algn="l"/>
              </a:tabLst>
            </a:pPr>
            <a:r>
              <a:rPr sz="2800" dirty="0" err="1">
                <a:latin typeface="PMingLiU"/>
                <a:cs typeface="PMingLiU"/>
              </a:rPr>
              <a:t>枚举</a:t>
            </a:r>
            <a:r>
              <a:rPr sz="2800" dirty="0">
                <a:latin typeface="Cambria Math"/>
                <a:cs typeface="Cambria Math"/>
              </a:rPr>
              <a:t>𝒏 + </a:t>
            </a:r>
            <a:r>
              <a:rPr sz="2800" spc="100" dirty="0">
                <a:latin typeface="Cambria Math"/>
                <a:cs typeface="Cambria Math"/>
              </a:rPr>
              <a:t>𝑪</a:t>
            </a:r>
            <a:r>
              <a:rPr sz="3075" spc="150" baseline="28455" dirty="0">
                <a:latin typeface="Cambria Math"/>
                <a:cs typeface="Cambria Math"/>
              </a:rPr>
              <a:t>𝟐</a:t>
            </a:r>
            <a:r>
              <a:rPr sz="2800" spc="-5" dirty="0" err="1">
                <a:latin typeface="PMingLiU"/>
                <a:cs typeface="PMingLiU"/>
              </a:rPr>
              <a:t>种可能的</a:t>
            </a:r>
            <a:r>
              <a:rPr sz="2800" spc="85" dirty="0" err="1">
                <a:solidFill>
                  <a:srgbClr val="FF0000"/>
                </a:solidFill>
                <a:latin typeface="PMingLiU"/>
                <a:cs typeface="PMingLiU"/>
              </a:rPr>
              <a:t>区间</a:t>
            </a:r>
            <a:r>
              <a:rPr sz="2800" spc="85" dirty="0">
                <a:solidFill>
                  <a:srgbClr val="FF0000"/>
                </a:solidFill>
                <a:latin typeface="PMingLiU"/>
                <a:cs typeface="PMingLiU"/>
              </a:rPr>
              <a:t> </a:t>
            </a:r>
            <a:r>
              <a:rPr sz="2800" dirty="0">
                <a:latin typeface="Cambria Math"/>
                <a:cs typeface="Cambria Math"/>
              </a:rPr>
              <a:t>𝒍,</a:t>
            </a:r>
            <a:r>
              <a:rPr sz="2800" spc="-15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𝒓</a:t>
            </a:r>
            <a:r>
              <a:rPr sz="2800" spc="36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(𝒍</a:t>
            </a:r>
            <a:r>
              <a:rPr sz="2800" spc="100" dirty="0">
                <a:latin typeface="Cambria Math"/>
                <a:cs typeface="Cambria Math"/>
              </a:rPr>
              <a:t> ≤ </a:t>
            </a:r>
            <a:r>
              <a:rPr sz="2800" dirty="0">
                <a:latin typeface="Cambria Math"/>
                <a:cs typeface="Cambria Math"/>
              </a:rPr>
              <a:t>𝐫)</a:t>
            </a:r>
            <a:r>
              <a:rPr sz="2800" spc="-5" dirty="0">
                <a:latin typeface="PMingLiU"/>
                <a:cs typeface="PMingLiU"/>
              </a:rPr>
              <a:t>，</a:t>
            </a:r>
            <a:r>
              <a:rPr sz="2800" spc="-5" dirty="0" err="1">
                <a:latin typeface="PMingLiU"/>
                <a:cs typeface="PMingLiU"/>
              </a:rPr>
              <a:t>求解最大子数组之和</a:t>
            </a:r>
            <a:r>
              <a:rPr sz="2800" spc="-50" dirty="0">
                <a:latin typeface="Cambria Math"/>
                <a:cs typeface="Cambria Math"/>
              </a:rPr>
              <a:t>𝑺</a:t>
            </a:r>
            <a:endParaRPr sz="2800" dirty="0">
              <a:latin typeface="Cambria Math"/>
              <a:cs typeface="Cambria Math"/>
            </a:endParaRPr>
          </a:p>
        </p:txBody>
      </p:sp>
      <p:sp>
        <p:nvSpPr>
          <p:cNvPr id="14" name="object 9">
            <a:extLst>
              <a:ext uri="{FF2B5EF4-FFF2-40B4-BE49-F238E27FC236}">
                <a16:creationId xmlns:a16="http://schemas.microsoft.com/office/drawing/2014/main" id="{442512D4-B488-B743-8984-23C37B05CB82}"/>
              </a:ext>
            </a:extLst>
          </p:cNvPr>
          <p:cNvSpPr txBox="1"/>
          <p:nvPr/>
        </p:nvSpPr>
        <p:spPr>
          <a:xfrm>
            <a:off x="10430580" y="1365231"/>
            <a:ext cx="577850" cy="3378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50" spc="-25" dirty="0">
                <a:latin typeface="Cambria Math"/>
                <a:cs typeface="Cambria Math"/>
              </a:rPr>
              <a:t>𝒎𝒂𝒙</a:t>
            </a:r>
            <a:endParaRPr sz="2050" dirty="0">
              <a:latin typeface="Cambria Math"/>
              <a:cs typeface="Cambria Math"/>
            </a:endParaRPr>
          </a:p>
        </p:txBody>
      </p:sp>
      <p:pic>
        <p:nvPicPr>
          <p:cNvPr id="10" name="object 2">
            <a:extLst>
              <a:ext uri="{FF2B5EF4-FFF2-40B4-BE49-F238E27FC236}">
                <a16:creationId xmlns:a16="http://schemas.microsoft.com/office/drawing/2014/main" id="{FEE0E62F-9FE9-EC45-AAA1-B498AABB033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49230" y="1869996"/>
            <a:ext cx="8779462" cy="4275968"/>
          </a:xfrm>
          <a:prstGeom prst="rect">
            <a:avLst/>
          </a:prstGeom>
        </p:spPr>
      </p:pic>
      <p:sp>
        <p:nvSpPr>
          <p:cNvPr id="11" name="object 9">
            <a:extLst>
              <a:ext uri="{FF2B5EF4-FFF2-40B4-BE49-F238E27FC236}">
                <a16:creationId xmlns:a16="http://schemas.microsoft.com/office/drawing/2014/main" id="{DEA9FC84-C190-FB4A-9819-B204D8249C1B}"/>
              </a:ext>
            </a:extLst>
          </p:cNvPr>
          <p:cNvSpPr txBox="1"/>
          <p:nvPr/>
        </p:nvSpPr>
        <p:spPr>
          <a:xfrm>
            <a:off x="6174996" y="5549570"/>
            <a:ext cx="3642360" cy="600075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5588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440"/>
              </a:spcBef>
            </a:pPr>
            <a:r>
              <a:rPr sz="2800" spc="-5">
                <a:solidFill>
                  <a:srgbClr val="FFFFFF"/>
                </a:solidFill>
                <a:latin typeface="PMingLiU"/>
                <a:cs typeface="PMingLiU"/>
              </a:rPr>
              <a:t>时间复杂度：</a:t>
            </a:r>
            <a:r>
              <a:rPr sz="2800" spc="-10">
                <a:solidFill>
                  <a:srgbClr val="FFFFFF"/>
                </a:solidFill>
                <a:latin typeface="Cambria Math"/>
                <a:cs typeface="Cambria Math"/>
              </a:rPr>
              <a:t>𝑶(𝒏</a:t>
            </a:r>
            <a:r>
              <a:rPr sz="3075" spc="-15" baseline="28455">
                <a:solidFill>
                  <a:srgbClr val="FFFFFF"/>
                </a:solidFill>
                <a:latin typeface="Cambria Math"/>
                <a:cs typeface="Cambria Math"/>
              </a:rPr>
              <a:t>𝟑</a:t>
            </a:r>
            <a:r>
              <a:rPr sz="2800" spc="-10">
                <a:solidFill>
                  <a:srgbClr val="FFFFFF"/>
                </a:solidFill>
                <a:latin typeface="Cambria Math"/>
                <a:cs typeface="Cambria Math"/>
              </a:rPr>
              <a:t>)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3" name="object 10">
            <a:extLst>
              <a:ext uri="{FF2B5EF4-FFF2-40B4-BE49-F238E27FC236}">
                <a16:creationId xmlns:a16="http://schemas.microsoft.com/office/drawing/2014/main" id="{E4B963BC-D2BF-6648-B10C-F43ED51DE9EB}"/>
              </a:ext>
            </a:extLst>
          </p:cNvPr>
          <p:cNvSpPr/>
          <p:nvPr/>
        </p:nvSpPr>
        <p:spPr>
          <a:xfrm>
            <a:off x="7132551" y="3685718"/>
            <a:ext cx="125095" cy="848360"/>
          </a:xfrm>
          <a:custGeom>
            <a:avLst/>
            <a:gdLst/>
            <a:ahLst/>
            <a:cxnLst/>
            <a:rect l="l" t="t" r="r" b="b"/>
            <a:pathLst>
              <a:path w="125095" h="848360">
                <a:moveTo>
                  <a:pt x="0" y="0"/>
                </a:moveTo>
                <a:lnTo>
                  <a:pt x="24336" y="823"/>
                </a:lnTo>
                <a:lnTo>
                  <a:pt x="44196" y="3063"/>
                </a:lnTo>
                <a:lnTo>
                  <a:pt x="57578" y="6375"/>
                </a:lnTo>
                <a:lnTo>
                  <a:pt x="62483" y="10413"/>
                </a:lnTo>
                <a:lnTo>
                  <a:pt x="62483" y="416305"/>
                </a:lnTo>
                <a:lnTo>
                  <a:pt x="67389" y="420344"/>
                </a:lnTo>
                <a:lnTo>
                  <a:pt x="80772" y="423656"/>
                </a:lnTo>
                <a:lnTo>
                  <a:pt x="100631" y="425896"/>
                </a:lnTo>
                <a:lnTo>
                  <a:pt x="124967" y="426719"/>
                </a:lnTo>
                <a:lnTo>
                  <a:pt x="100631" y="427543"/>
                </a:lnTo>
                <a:lnTo>
                  <a:pt x="80771" y="429783"/>
                </a:lnTo>
                <a:lnTo>
                  <a:pt x="67389" y="433095"/>
                </a:lnTo>
                <a:lnTo>
                  <a:pt x="62483" y="437133"/>
                </a:lnTo>
                <a:lnTo>
                  <a:pt x="62483" y="837691"/>
                </a:lnTo>
                <a:lnTo>
                  <a:pt x="57578" y="841730"/>
                </a:lnTo>
                <a:lnTo>
                  <a:pt x="44195" y="845042"/>
                </a:lnTo>
                <a:lnTo>
                  <a:pt x="24336" y="847282"/>
                </a:lnTo>
                <a:lnTo>
                  <a:pt x="0" y="848105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1">
            <a:extLst>
              <a:ext uri="{FF2B5EF4-FFF2-40B4-BE49-F238E27FC236}">
                <a16:creationId xmlns:a16="http://schemas.microsoft.com/office/drawing/2014/main" id="{8EF3D3B8-8FA4-2946-A4BE-AB8D42FA74BD}"/>
              </a:ext>
            </a:extLst>
          </p:cNvPr>
          <p:cNvSpPr/>
          <p:nvPr/>
        </p:nvSpPr>
        <p:spPr>
          <a:xfrm>
            <a:off x="7828256" y="3157653"/>
            <a:ext cx="134620" cy="2006600"/>
          </a:xfrm>
          <a:custGeom>
            <a:avLst/>
            <a:gdLst/>
            <a:ahLst/>
            <a:cxnLst/>
            <a:rect l="l" t="t" r="r" b="b"/>
            <a:pathLst>
              <a:path w="134620" h="2006600">
                <a:moveTo>
                  <a:pt x="0" y="0"/>
                </a:moveTo>
                <a:lnTo>
                  <a:pt x="26122" y="871"/>
                </a:lnTo>
                <a:lnTo>
                  <a:pt x="47434" y="3254"/>
                </a:lnTo>
                <a:lnTo>
                  <a:pt x="61793" y="6804"/>
                </a:lnTo>
                <a:lnTo>
                  <a:pt x="67055" y="11175"/>
                </a:lnTo>
                <a:lnTo>
                  <a:pt x="67055" y="998219"/>
                </a:lnTo>
                <a:lnTo>
                  <a:pt x="72318" y="1002591"/>
                </a:lnTo>
                <a:lnTo>
                  <a:pt x="86677" y="1006141"/>
                </a:lnTo>
                <a:lnTo>
                  <a:pt x="107989" y="1008524"/>
                </a:lnTo>
                <a:lnTo>
                  <a:pt x="134111" y="1009395"/>
                </a:lnTo>
                <a:lnTo>
                  <a:pt x="107989" y="1010284"/>
                </a:lnTo>
                <a:lnTo>
                  <a:pt x="86677" y="1012697"/>
                </a:lnTo>
                <a:lnTo>
                  <a:pt x="72318" y="1016253"/>
                </a:lnTo>
                <a:lnTo>
                  <a:pt x="67055" y="1020572"/>
                </a:lnTo>
                <a:lnTo>
                  <a:pt x="67055" y="1995170"/>
                </a:lnTo>
                <a:lnTo>
                  <a:pt x="61793" y="1999541"/>
                </a:lnTo>
                <a:lnTo>
                  <a:pt x="47434" y="2003091"/>
                </a:lnTo>
                <a:lnTo>
                  <a:pt x="26122" y="2005474"/>
                </a:lnTo>
                <a:lnTo>
                  <a:pt x="0" y="2006345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2">
            <a:extLst>
              <a:ext uri="{FF2B5EF4-FFF2-40B4-BE49-F238E27FC236}">
                <a16:creationId xmlns:a16="http://schemas.microsoft.com/office/drawing/2014/main" id="{FBB9057B-99CA-FC4B-A7EA-15D766167B7E}"/>
              </a:ext>
            </a:extLst>
          </p:cNvPr>
          <p:cNvSpPr/>
          <p:nvPr/>
        </p:nvSpPr>
        <p:spPr>
          <a:xfrm>
            <a:off x="8712939" y="2840660"/>
            <a:ext cx="136525" cy="2618740"/>
          </a:xfrm>
          <a:custGeom>
            <a:avLst/>
            <a:gdLst/>
            <a:ahLst/>
            <a:cxnLst/>
            <a:rect l="l" t="t" r="r" b="b"/>
            <a:pathLst>
              <a:path w="136525" h="2618740">
                <a:moveTo>
                  <a:pt x="0" y="0"/>
                </a:moveTo>
                <a:lnTo>
                  <a:pt x="26568" y="892"/>
                </a:lnTo>
                <a:lnTo>
                  <a:pt x="48244" y="3333"/>
                </a:lnTo>
                <a:lnTo>
                  <a:pt x="62847" y="6965"/>
                </a:lnTo>
                <a:lnTo>
                  <a:pt x="68199" y="11429"/>
                </a:lnTo>
                <a:lnTo>
                  <a:pt x="68199" y="1305940"/>
                </a:lnTo>
                <a:lnTo>
                  <a:pt x="73550" y="1310332"/>
                </a:lnTo>
                <a:lnTo>
                  <a:pt x="88153" y="1313926"/>
                </a:lnTo>
                <a:lnTo>
                  <a:pt x="109829" y="1316353"/>
                </a:lnTo>
                <a:lnTo>
                  <a:pt x="136398" y="1317243"/>
                </a:lnTo>
                <a:lnTo>
                  <a:pt x="109829" y="1318136"/>
                </a:lnTo>
                <a:lnTo>
                  <a:pt x="88153" y="1320577"/>
                </a:lnTo>
                <a:lnTo>
                  <a:pt x="73550" y="1324209"/>
                </a:lnTo>
                <a:lnTo>
                  <a:pt x="68199" y="1328673"/>
                </a:lnTo>
                <a:lnTo>
                  <a:pt x="68199" y="2606802"/>
                </a:lnTo>
                <a:lnTo>
                  <a:pt x="62847" y="2611266"/>
                </a:lnTo>
                <a:lnTo>
                  <a:pt x="48244" y="2614898"/>
                </a:lnTo>
                <a:lnTo>
                  <a:pt x="26568" y="2617339"/>
                </a:lnTo>
                <a:lnTo>
                  <a:pt x="0" y="2618231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3">
            <a:extLst>
              <a:ext uri="{FF2B5EF4-FFF2-40B4-BE49-F238E27FC236}">
                <a16:creationId xmlns:a16="http://schemas.microsoft.com/office/drawing/2014/main" id="{624D4E11-B1F0-4C42-8E39-48DDA1AE067A}"/>
              </a:ext>
            </a:extLst>
          </p:cNvPr>
          <p:cNvSpPr txBox="1"/>
          <p:nvPr/>
        </p:nvSpPr>
        <p:spPr>
          <a:xfrm>
            <a:off x="7282918" y="3880536"/>
            <a:ext cx="2483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623060" algn="l"/>
              </a:tabLst>
            </a:pP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𝑶(𝒏)</a:t>
            </a:r>
            <a:r>
              <a:rPr sz="2000" spc="37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3300" spc="-15" baseline="-6313">
                <a:solidFill>
                  <a:srgbClr val="FF0000"/>
                </a:solidFill>
                <a:latin typeface="Cambria Math"/>
                <a:cs typeface="Cambria Math"/>
              </a:rPr>
              <a:t>𝑶(𝒏</a:t>
            </a:r>
            <a:r>
              <a:rPr sz="2400" spc="-15" baseline="19097">
                <a:solidFill>
                  <a:srgbClr val="FF0000"/>
                </a:solidFill>
                <a:latin typeface="Cambria Math"/>
                <a:cs typeface="Cambria Math"/>
              </a:rPr>
              <a:t>𝟐</a:t>
            </a:r>
            <a:r>
              <a:rPr sz="3300" spc="-15" baseline="-6313">
                <a:solidFill>
                  <a:srgbClr val="FF0000"/>
                </a:solidFill>
                <a:latin typeface="Cambria Math"/>
                <a:cs typeface="Cambria Math"/>
              </a:rPr>
              <a:t>)</a:t>
            </a:r>
            <a:r>
              <a:rPr sz="3300" baseline="-6313">
                <a:solidFill>
                  <a:srgbClr val="FF0000"/>
                </a:solidFill>
                <a:latin typeface="Cambria Math"/>
                <a:cs typeface="Cambria Math"/>
              </a:rPr>
              <a:t>	</a:t>
            </a:r>
            <a:r>
              <a:rPr sz="3600" spc="-30" baseline="-10416">
                <a:solidFill>
                  <a:srgbClr val="FF0000"/>
                </a:solidFill>
                <a:latin typeface="Cambria Math"/>
                <a:cs typeface="Cambria Math"/>
              </a:rPr>
              <a:t>𝑶(𝒏</a:t>
            </a:r>
            <a:r>
              <a:rPr sz="2625" spc="-30" baseline="12698">
                <a:solidFill>
                  <a:srgbClr val="FF0000"/>
                </a:solidFill>
                <a:latin typeface="Cambria Math"/>
                <a:cs typeface="Cambria Math"/>
              </a:rPr>
              <a:t>𝟑</a:t>
            </a:r>
            <a:r>
              <a:rPr sz="3600" spc="-30" baseline="-10416">
                <a:solidFill>
                  <a:srgbClr val="FF0000"/>
                </a:solidFill>
                <a:latin typeface="Cambria Math"/>
                <a:cs typeface="Cambria Math"/>
              </a:rPr>
              <a:t>)</a:t>
            </a:r>
            <a:endParaRPr sz="3600" baseline="-10416">
              <a:latin typeface="Cambria Math"/>
              <a:cs typeface="Cambria Math"/>
            </a:endParaRPr>
          </a:p>
        </p:txBody>
      </p:sp>
      <p:sp>
        <p:nvSpPr>
          <p:cNvPr id="15" name="object 7">
            <a:extLst>
              <a:ext uri="{FF2B5EF4-FFF2-40B4-BE49-F238E27FC236}">
                <a16:creationId xmlns:a16="http://schemas.microsoft.com/office/drawing/2014/main" id="{691F42DE-09FC-9D46-86BF-F233D4012ACB}"/>
              </a:ext>
            </a:extLst>
          </p:cNvPr>
          <p:cNvSpPr txBox="1"/>
          <p:nvPr/>
        </p:nvSpPr>
        <p:spPr>
          <a:xfrm>
            <a:off x="2595880" y="1430640"/>
            <a:ext cx="193675" cy="3378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50" spc="-50">
                <a:latin typeface="Cambria Math"/>
                <a:cs typeface="Cambria Math"/>
              </a:rPr>
              <a:t>𝒏</a:t>
            </a:r>
            <a:endParaRPr sz="205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22085684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700901ED-D040-C749-BE90-D9DE047114BE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941430" y="2927319"/>
            <a:ext cx="6089067" cy="2278225"/>
          </a:xfrm>
          <a:prstGeom prst="rect">
            <a:avLst/>
          </a:prstGeom>
        </p:spPr>
      </p:pic>
      <p:pic>
        <p:nvPicPr>
          <p:cNvPr id="4" name="object 3">
            <a:extLst>
              <a:ext uri="{FF2B5EF4-FFF2-40B4-BE49-F238E27FC236}">
                <a16:creationId xmlns:a16="http://schemas.microsoft.com/office/drawing/2014/main" id="{AF8608E1-C6BA-F048-98DC-6B7BA05DF508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5858869" y="1169599"/>
            <a:ext cx="4839462" cy="1552039"/>
          </a:xfrm>
          <a:prstGeom prst="rect">
            <a:avLst/>
          </a:prstGeom>
        </p:spPr>
      </p:pic>
      <p:grpSp>
        <p:nvGrpSpPr>
          <p:cNvPr id="5" name="object 4">
            <a:extLst>
              <a:ext uri="{FF2B5EF4-FFF2-40B4-BE49-F238E27FC236}">
                <a16:creationId xmlns:a16="http://schemas.microsoft.com/office/drawing/2014/main" id="{0BAE904E-4A16-744E-8F07-DD0431256696}"/>
              </a:ext>
            </a:extLst>
          </p:cNvPr>
          <p:cNvGrpSpPr/>
          <p:nvPr/>
        </p:nvGrpSpPr>
        <p:grpSpPr>
          <a:xfrm>
            <a:off x="233213" y="1068647"/>
            <a:ext cx="5454650" cy="4350385"/>
            <a:chOff x="319277" y="756666"/>
            <a:chExt cx="5454650" cy="4350385"/>
          </a:xfrm>
        </p:grpSpPr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5DDCEE5B-B4E3-E041-A9A0-BB8016276AE7}"/>
                </a:ext>
              </a:extLst>
            </p:cNvPr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398262" y="878672"/>
              <a:ext cx="4772933" cy="1531174"/>
            </a:xfrm>
            <a:prstGeom prst="rect">
              <a:avLst/>
            </a:prstGeom>
          </p:spPr>
        </p:pic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59B591F5-5557-8B4C-A034-661405FB9E25}"/>
                </a:ext>
              </a:extLst>
            </p:cNvPr>
            <p:cNvSpPr/>
            <p:nvPr/>
          </p:nvSpPr>
          <p:spPr>
            <a:xfrm>
              <a:off x="338327" y="775716"/>
              <a:ext cx="5416550" cy="4312285"/>
            </a:xfrm>
            <a:custGeom>
              <a:avLst/>
              <a:gdLst/>
              <a:ahLst/>
              <a:cxnLst/>
              <a:rect l="l" t="t" r="r" b="b"/>
              <a:pathLst>
                <a:path w="5416550" h="4312285">
                  <a:moveTo>
                    <a:pt x="0" y="233680"/>
                  </a:moveTo>
                  <a:lnTo>
                    <a:pt x="4748" y="186592"/>
                  </a:lnTo>
                  <a:lnTo>
                    <a:pt x="18366" y="142732"/>
                  </a:lnTo>
                  <a:lnTo>
                    <a:pt x="39914" y="103038"/>
                  </a:lnTo>
                  <a:lnTo>
                    <a:pt x="68453" y="68453"/>
                  </a:lnTo>
                  <a:lnTo>
                    <a:pt x="103042" y="39915"/>
                  </a:lnTo>
                  <a:lnTo>
                    <a:pt x="142742" y="18367"/>
                  </a:lnTo>
                  <a:lnTo>
                    <a:pt x="186614" y="4748"/>
                  </a:lnTo>
                  <a:lnTo>
                    <a:pt x="233718" y="0"/>
                  </a:lnTo>
                  <a:lnTo>
                    <a:pt x="5182616" y="0"/>
                  </a:lnTo>
                  <a:lnTo>
                    <a:pt x="5229703" y="4748"/>
                  </a:lnTo>
                  <a:lnTo>
                    <a:pt x="5273563" y="18367"/>
                  </a:lnTo>
                  <a:lnTo>
                    <a:pt x="5313257" y="39915"/>
                  </a:lnTo>
                  <a:lnTo>
                    <a:pt x="5347843" y="68453"/>
                  </a:lnTo>
                  <a:lnTo>
                    <a:pt x="5376380" y="103038"/>
                  </a:lnTo>
                  <a:lnTo>
                    <a:pt x="5397928" y="142732"/>
                  </a:lnTo>
                  <a:lnTo>
                    <a:pt x="5411547" y="186592"/>
                  </a:lnTo>
                  <a:lnTo>
                    <a:pt x="5416296" y="233680"/>
                  </a:lnTo>
                  <a:lnTo>
                    <a:pt x="5416296" y="4078478"/>
                  </a:lnTo>
                  <a:lnTo>
                    <a:pt x="5411547" y="4125565"/>
                  </a:lnTo>
                  <a:lnTo>
                    <a:pt x="5397928" y="4169425"/>
                  </a:lnTo>
                  <a:lnTo>
                    <a:pt x="5376380" y="4209119"/>
                  </a:lnTo>
                  <a:lnTo>
                    <a:pt x="5347843" y="4243705"/>
                  </a:lnTo>
                  <a:lnTo>
                    <a:pt x="5313257" y="4272242"/>
                  </a:lnTo>
                  <a:lnTo>
                    <a:pt x="5273563" y="4293790"/>
                  </a:lnTo>
                  <a:lnTo>
                    <a:pt x="5229703" y="4307409"/>
                  </a:lnTo>
                  <a:lnTo>
                    <a:pt x="5182616" y="4312158"/>
                  </a:lnTo>
                  <a:lnTo>
                    <a:pt x="233718" y="4312158"/>
                  </a:lnTo>
                  <a:lnTo>
                    <a:pt x="186614" y="4307409"/>
                  </a:lnTo>
                  <a:lnTo>
                    <a:pt x="142742" y="4293790"/>
                  </a:lnTo>
                  <a:lnTo>
                    <a:pt x="103042" y="4272242"/>
                  </a:lnTo>
                  <a:lnTo>
                    <a:pt x="68453" y="4243705"/>
                  </a:lnTo>
                  <a:lnTo>
                    <a:pt x="39914" y="4209119"/>
                  </a:lnTo>
                  <a:lnTo>
                    <a:pt x="18366" y="4169425"/>
                  </a:lnTo>
                  <a:lnTo>
                    <a:pt x="4748" y="4125565"/>
                  </a:lnTo>
                  <a:lnTo>
                    <a:pt x="0" y="4078478"/>
                  </a:lnTo>
                  <a:lnTo>
                    <a:pt x="0" y="23368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7">
              <a:extLst>
                <a:ext uri="{FF2B5EF4-FFF2-40B4-BE49-F238E27FC236}">
                  <a16:creationId xmlns:a16="http://schemas.microsoft.com/office/drawing/2014/main" id="{B5F8D04D-E9D2-744D-8635-B7B83CBC8591}"/>
                </a:ext>
              </a:extLst>
            </p:cNvPr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444994" y="2688391"/>
              <a:ext cx="5197615" cy="2230318"/>
            </a:xfrm>
            <a:prstGeom prst="rect">
              <a:avLst/>
            </a:prstGeom>
          </p:spPr>
        </p:pic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95CA9A0C-FF55-1E40-9F9D-9B8A868215A3}"/>
              </a:ext>
            </a:extLst>
          </p:cNvPr>
          <p:cNvSpPr txBox="1"/>
          <p:nvPr/>
        </p:nvSpPr>
        <p:spPr>
          <a:xfrm>
            <a:off x="1229910" y="5602546"/>
            <a:ext cx="2937510" cy="60007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85090" rIns="0" bIns="0" rtlCol="0">
            <a:spAutoFit/>
          </a:bodyPr>
          <a:lstStyle/>
          <a:p>
            <a:pPr marL="161925">
              <a:lnSpc>
                <a:spcPct val="100000"/>
              </a:lnSpc>
              <a:spcBef>
                <a:spcPts val="670"/>
              </a:spcBef>
            </a:pPr>
            <a:r>
              <a:rPr sz="2400">
                <a:latin typeface="PMingLiU"/>
                <a:cs typeface="PMingLiU"/>
              </a:rPr>
              <a:t>计算</a:t>
            </a:r>
            <a:r>
              <a:rPr sz="2400">
                <a:latin typeface="Cambria Math"/>
                <a:cs typeface="Cambria Math"/>
              </a:rPr>
              <a:t>𝑺(𝟑</a:t>
            </a:r>
            <a:r>
              <a:rPr sz="2400" spc="-65">
                <a:latin typeface="Cambria Math"/>
                <a:cs typeface="Cambria Math"/>
              </a:rPr>
              <a:t>, </a:t>
            </a:r>
            <a:r>
              <a:rPr sz="2400">
                <a:latin typeface="Cambria Math"/>
                <a:cs typeface="Cambria Math"/>
              </a:rPr>
              <a:t>𝟖)</a:t>
            </a:r>
            <a:r>
              <a:rPr sz="2400">
                <a:latin typeface="PMingLiU"/>
                <a:cs typeface="PMingLiU"/>
              </a:rPr>
              <a:t>循环</a:t>
            </a:r>
            <a:r>
              <a:rPr sz="2400">
                <a:latin typeface="Cambria Math"/>
                <a:cs typeface="Cambria Math"/>
              </a:rPr>
              <a:t>𝟔</a:t>
            </a:r>
            <a:r>
              <a:rPr sz="2400" spc="-50">
                <a:latin typeface="PMingLiU"/>
                <a:cs typeface="PMingLiU"/>
              </a:rPr>
              <a:t>次</a:t>
            </a:r>
            <a:endParaRPr sz="2400">
              <a:latin typeface="PMingLiU"/>
              <a:cs typeface="PMingLiU"/>
            </a:endParaRPr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DB5E1262-3D8B-F743-85DC-938E309FD4DF}"/>
              </a:ext>
            </a:extLst>
          </p:cNvPr>
          <p:cNvSpPr txBox="1"/>
          <p:nvPr/>
        </p:nvSpPr>
        <p:spPr>
          <a:xfrm>
            <a:off x="7393728" y="5602546"/>
            <a:ext cx="2936875" cy="60007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85090" rIns="0" bIns="0" rtlCol="0">
            <a:spAutoFit/>
          </a:bodyPr>
          <a:lstStyle/>
          <a:p>
            <a:pPr marL="161925">
              <a:lnSpc>
                <a:spcPct val="100000"/>
              </a:lnSpc>
              <a:spcBef>
                <a:spcPts val="670"/>
              </a:spcBef>
            </a:pPr>
            <a:r>
              <a:rPr sz="2400">
                <a:latin typeface="PMingLiU"/>
                <a:cs typeface="PMingLiU"/>
              </a:rPr>
              <a:t>计算</a:t>
            </a:r>
            <a:r>
              <a:rPr sz="2400">
                <a:latin typeface="Cambria Math"/>
                <a:cs typeface="Cambria Math"/>
              </a:rPr>
              <a:t>𝑺(𝟑</a:t>
            </a:r>
            <a:r>
              <a:rPr sz="2400" spc="-65">
                <a:latin typeface="Cambria Math"/>
                <a:cs typeface="Cambria Math"/>
              </a:rPr>
              <a:t>, </a:t>
            </a:r>
            <a:r>
              <a:rPr sz="2400">
                <a:latin typeface="Cambria Math"/>
                <a:cs typeface="Cambria Math"/>
              </a:rPr>
              <a:t>𝟗)</a:t>
            </a:r>
            <a:r>
              <a:rPr sz="2400">
                <a:latin typeface="PMingLiU"/>
                <a:cs typeface="PMingLiU"/>
              </a:rPr>
              <a:t>循环</a:t>
            </a:r>
            <a:r>
              <a:rPr sz="2400">
                <a:latin typeface="Cambria Math"/>
                <a:cs typeface="Cambria Math"/>
              </a:rPr>
              <a:t>𝟕</a:t>
            </a:r>
            <a:r>
              <a:rPr sz="2400" spc="-50">
                <a:latin typeface="PMingLiU"/>
                <a:cs typeface="PMingLiU"/>
              </a:rPr>
              <a:t>次</a:t>
            </a:r>
            <a:endParaRPr sz="2400">
              <a:latin typeface="PMingLiU"/>
              <a:cs typeface="PMingLiU"/>
            </a:endParaRPr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CDE86E81-3F05-F44D-B20A-28E304586335}"/>
              </a:ext>
            </a:extLst>
          </p:cNvPr>
          <p:cNvSpPr txBox="1"/>
          <p:nvPr/>
        </p:nvSpPr>
        <p:spPr>
          <a:xfrm>
            <a:off x="4684056" y="5990579"/>
            <a:ext cx="2139950" cy="59944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78740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620"/>
              </a:spcBef>
            </a:pPr>
            <a:r>
              <a:rPr sz="2400" spc="-10">
                <a:solidFill>
                  <a:srgbClr val="FF0000"/>
                </a:solidFill>
                <a:latin typeface="PMingLiU"/>
                <a:cs typeface="PMingLiU"/>
              </a:rPr>
              <a:t>存在重复计算</a:t>
            </a:r>
            <a:endParaRPr sz="2400">
              <a:latin typeface="PMingLiU"/>
              <a:cs typeface="PMingLiU"/>
            </a:endParaRPr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CFFBEDAE-17DA-694E-BDAE-B319BE09F4B2}"/>
              </a:ext>
            </a:extLst>
          </p:cNvPr>
          <p:cNvSpPr/>
          <p:nvPr/>
        </p:nvSpPr>
        <p:spPr>
          <a:xfrm rot="21275480">
            <a:off x="2694219" y="6108316"/>
            <a:ext cx="1990089" cy="482600"/>
          </a:xfrm>
          <a:custGeom>
            <a:avLst/>
            <a:gdLst/>
            <a:ahLst/>
            <a:cxnLst/>
            <a:rect l="l" t="t" r="r" b="b"/>
            <a:pathLst>
              <a:path w="1990089" h="482600">
                <a:moveTo>
                  <a:pt x="1874014" y="445324"/>
                </a:moveTo>
                <a:lnTo>
                  <a:pt x="1865883" y="482561"/>
                </a:lnTo>
                <a:lnTo>
                  <a:pt x="1989836" y="451040"/>
                </a:lnTo>
                <a:lnTo>
                  <a:pt x="1987785" y="449389"/>
                </a:lnTo>
                <a:lnTo>
                  <a:pt x="1892681" y="449389"/>
                </a:lnTo>
                <a:lnTo>
                  <a:pt x="1874014" y="445324"/>
                </a:lnTo>
                <a:close/>
              </a:path>
              <a:path w="1990089" h="482600">
                <a:moveTo>
                  <a:pt x="1882141" y="408100"/>
                </a:moveTo>
                <a:lnTo>
                  <a:pt x="1874014" y="445324"/>
                </a:lnTo>
                <a:lnTo>
                  <a:pt x="1892681" y="449389"/>
                </a:lnTo>
                <a:lnTo>
                  <a:pt x="1900808" y="412165"/>
                </a:lnTo>
                <a:lnTo>
                  <a:pt x="1882141" y="408100"/>
                </a:lnTo>
                <a:close/>
              </a:path>
              <a:path w="1990089" h="482600">
                <a:moveTo>
                  <a:pt x="1890268" y="370878"/>
                </a:moveTo>
                <a:lnTo>
                  <a:pt x="1882141" y="408100"/>
                </a:lnTo>
                <a:lnTo>
                  <a:pt x="1900808" y="412165"/>
                </a:lnTo>
                <a:lnTo>
                  <a:pt x="1892681" y="449389"/>
                </a:lnTo>
                <a:lnTo>
                  <a:pt x="1987785" y="449389"/>
                </a:lnTo>
                <a:lnTo>
                  <a:pt x="1890268" y="370878"/>
                </a:lnTo>
                <a:close/>
              </a:path>
              <a:path w="1990089" h="482600">
                <a:moveTo>
                  <a:pt x="8128" y="0"/>
                </a:moveTo>
                <a:lnTo>
                  <a:pt x="0" y="37236"/>
                </a:lnTo>
                <a:lnTo>
                  <a:pt x="1874014" y="445324"/>
                </a:lnTo>
                <a:lnTo>
                  <a:pt x="1882141" y="408100"/>
                </a:lnTo>
                <a:lnTo>
                  <a:pt x="812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8B45E7B5-50FE-9545-8B19-35778BFA58AD}"/>
              </a:ext>
            </a:extLst>
          </p:cNvPr>
          <p:cNvSpPr/>
          <p:nvPr/>
        </p:nvSpPr>
        <p:spPr>
          <a:xfrm rot="335422">
            <a:off x="6823752" y="6119125"/>
            <a:ext cx="1875155" cy="481330"/>
          </a:xfrm>
          <a:custGeom>
            <a:avLst/>
            <a:gdLst/>
            <a:ahLst/>
            <a:cxnLst/>
            <a:rect l="l" t="t" r="r" b="b"/>
            <a:pathLst>
              <a:path w="1875154" h="481329">
                <a:moveTo>
                  <a:pt x="98551" y="369570"/>
                </a:moveTo>
                <a:lnTo>
                  <a:pt x="0" y="450989"/>
                </a:lnTo>
                <a:lnTo>
                  <a:pt x="124205" y="480923"/>
                </a:lnTo>
                <a:lnTo>
                  <a:pt x="116642" y="448094"/>
                </a:lnTo>
                <a:lnTo>
                  <a:pt x="97027" y="448094"/>
                </a:lnTo>
                <a:lnTo>
                  <a:pt x="88518" y="410972"/>
                </a:lnTo>
                <a:lnTo>
                  <a:pt x="107100" y="406676"/>
                </a:lnTo>
                <a:lnTo>
                  <a:pt x="98551" y="369570"/>
                </a:lnTo>
                <a:close/>
              </a:path>
              <a:path w="1875154" h="481329">
                <a:moveTo>
                  <a:pt x="107100" y="406676"/>
                </a:moveTo>
                <a:lnTo>
                  <a:pt x="88518" y="410972"/>
                </a:lnTo>
                <a:lnTo>
                  <a:pt x="97027" y="448094"/>
                </a:lnTo>
                <a:lnTo>
                  <a:pt x="115650" y="443789"/>
                </a:lnTo>
                <a:lnTo>
                  <a:pt x="107100" y="406676"/>
                </a:lnTo>
                <a:close/>
              </a:path>
              <a:path w="1875154" h="481329">
                <a:moveTo>
                  <a:pt x="115650" y="443789"/>
                </a:moveTo>
                <a:lnTo>
                  <a:pt x="97027" y="448094"/>
                </a:lnTo>
                <a:lnTo>
                  <a:pt x="116642" y="448094"/>
                </a:lnTo>
                <a:lnTo>
                  <a:pt x="115650" y="443789"/>
                </a:lnTo>
                <a:close/>
              </a:path>
              <a:path w="1875154" h="481329">
                <a:moveTo>
                  <a:pt x="1866264" y="0"/>
                </a:moveTo>
                <a:lnTo>
                  <a:pt x="107100" y="406676"/>
                </a:lnTo>
                <a:lnTo>
                  <a:pt x="115650" y="443789"/>
                </a:lnTo>
                <a:lnTo>
                  <a:pt x="1874901" y="37122"/>
                </a:lnTo>
                <a:lnTo>
                  <a:pt x="18662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71EC82A1-42BC-9646-A905-0E4E1D687A92}"/>
              </a:ext>
            </a:extLst>
          </p:cNvPr>
          <p:cNvSpPr/>
          <p:nvPr/>
        </p:nvSpPr>
        <p:spPr>
          <a:xfrm>
            <a:off x="5843820" y="1069408"/>
            <a:ext cx="6170930" cy="4311650"/>
          </a:xfrm>
          <a:custGeom>
            <a:avLst/>
            <a:gdLst/>
            <a:ahLst/>
            <a:cxnLst/>
            <a:rect l="l" t="t" r="r" b="b"/>
            <a:pathLst>
              <a:path w="6170930" h="4311650">
                <a:moveTo>
                  <a:pt x="0" y="233680"/>
                </a:moveTo>
                <a:lnTo>
                  <a:pt x="4748" y="186592"/>
                </a:lnTo>
                <a:lnTo>
                  <a:pt x="18367" y="142732"/>
                </a:lnTo>
                <a:lnTo>
                  <a:pt x="39915" y="103038"/>
                </a:lnTo>
                <a:lnTo>
                  <a:pt x="68453" y="68453"/>
                </a:lnTo>
                <a:lnTo>
                  <a:pt x="103038" y="39915"/>
                </a:lnTo>
                <a:lnTo>
                  <a:pt x="142732" y="18367"/>
                </a:lnTo>
                <a:lnTo>
                  <a:pt x="186592" y="4748"/>
                </a:lnTo>
                <a:lnTo>
                  <a:pt x="233679" y="0"/>
                </a:lnTo>
                <a:lnTo>
                  <a:pt x="5936995" y="0"/>
                </a:lnTo>
                <a:lnTo>
                  <a:pt x="5984083" y="4748"/>
                </a:lnTo>
                <a:lnTo>
                  <a:pt x="6027943" y="18367"/>
                </a:lnTo>
                <a:lnTo>
                  <a:pt x="6067637" y="39915"/>
                </a:lnTo>
                <a:lnTo>
                  <a:pt x="6102222" y="68453"/>
                </a:lnTo>
                <a:lnTo>
                  <a:pt x="6130760" y="103038"/>
                </a:lnTo>
                <a:lnTo>
                  <a:pt x="6152308" y="142732"/>
                </a:lnTo>
                <a:lnTo>
                  <a:pt x="6165927" y="186592"/>
                </a:lnTo>
                <a:lnTo>
                  <a:pt x="6170675" y="233680"/>
                </a:lnTo>
                <a:lnTo>
                  <a:pt x="6170675" y="4077716"/>
                </a:lnTo>
                <a:lnTo>
                  <a:pt x="6165927" y="4124803"/>
                </a:lnTo>
                <a:lnTo>
                  <a:pt x="6152308" y="4168663"/>
                </a:lnTo>
                <a:lnTo>
                  <a:pt x="6130760" y="4208357"/>
                </a:lnTo>
                <a:lnTo>
                  <a:pt x="6102223" y="4242943"/>
                </a:lnTo>
                <a:lnTo>
                  <a:pt x="6067637" y="4271480"/>
                </a:lnTo>
                <a:lnTo>
                  <a:pt x="6027943" y="4293028"/>
                </a:lnTo>
                <a:lnTo>
                  <a:pt x="5984083" y="4306647"/>
                </a:lnTo>
                <a:lnTo>
                  <a:pt x="5936995" y="4311396"/>
                </a:lnTo>
                <a:lnTo>
                  <a:pt x="233679" y="4311396"/>
                </a:lnTo>
                <a:lnTo>
                  <a:pt x="186592" y="4306647"/>
                </a:lnTo>
                <a:lnTo>
                  <a:pt x="142732" y="4293028"/>
                </a:lnTo>
                <a:lnTo>
                  <a:pt x="103038" y="4271480"/>
                </a:lnTo>
                <a:lnTo>
                  <a:pt x="68452" y="4242943"/>
                </a:lnTo>
                <a:lnTo>
                  <a:pt x="39915" y="4208357"/>
                </a:lnTo>
                <a:lnTo>
                  <a:pt x="18367" y="4168663"/>
                </a:lnTo>
                <a:lnTo>
                  <a:pt x="4748" y="4124803"/>
                </a:lnTo>
                <a:lnTo>
                  <a:pt x="0" y="4077716"/>
                </a:lnTo>
                <a:lnTo>
                  <a:pt x="0" y="233680"/>
                </a:lnTo>
                <a:close/>
              </a:path>
            </a:pathLst>
          </a:custGeom>
          <a:ln w="38100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F395171-0032-AC42-9C98-F2C97941E610}"/>
              </a:ext>
            </a:extLst>
          </p:cNvPr>
          <p:cNvSpPr txBox="1"/>
          <p:nvPr/>
        </p:nvSpPr>
        <p:spPr>
          <a:xfrm>
            <a:off x="1229910" y="112575"/>
            <a:ext cx="516769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蛮力枚举</a:t>
            </a:r>
            <a:r>
              <a:rPr lang="en-US" altLang="zh-CN" sz="4400" dirty="0">
                <a:latin typeface="SimSun" panose="02010600030101010101" pitchFamily="2" charset="-122"/>
                <a:ea typeface="SimSun" panose="02010600030101010101" pitchFamily="2" charset="-122"/>
              </a:rPr>
              <a:t>-</a:t>
            </a:r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实例分析</a:t>
            </a:r>
          </a:p>
        </p:txBody>
      </p:sp>
    </p:spTree>
    <p:extLst>
      <p:ext uri="{BB962C8B-B14F-4D97-AF65-F5344CB8AC3E}">
        <p14:creationId xmlns:p14="http://schemas.microsoft.com/office/powerpoint/2010/main" val="19461297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1AE0DEB-B80A-614C-A31D-B65BB6ED7B00}"/>
              </a:ext>
            </a:extLst>
          </p:cNvPr>
          <p:cNvSpPr txBox="1"/>
          <p:nvPr/>
        </p:nvSpPr>
        <p:spPr>
          <a:xfrm>
            <a:off x="1123278" y="202609"/>
            <a:ext cx="994544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优化枚举：算法实例</a:t>
            </a: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530F0F60-1766-FB43-94EF-0AA77322B25C}"/>
              </a:ext>
            </a:extLst>
          </p:cNvPr>
          <p:cNvSpPr/>
          <p:nvPr/>
        </p:nvSpPr>
        <p:spPr>
          <a:xfrm>
            <a:off x="3494891" y="1442954"/>
            <a:ext cx="790575" cy="329565"/>
          </a:xfrm>
          <a:custGeom>
            <a:avLst/>
            <a:gdLst/>
            <a:ahLst/>
            <a:cxnLst/>
            <a:rect l="l" t="t" r="r" b="b"/>
            <a:pathLst>
              <a:path w="790575" h="329565">
                <a:moveTo>
                  <a:pt x="684911" y="0"/>
                </a:moveTo>
                <a:lnTo>
                  <a:pt x="680212" y="13335"/>
                </a:lnTo>
                <a:lnTo>
                  <a:pt x="699281" y="21669"/>
                </a:lnTo>
                <a:lnTo>
                  <a:pt x="715708" y="33146"/>
                </a:lnTo>
                <a:lnTo>
                  <a:pt x="740537" y="65531"/>
                </a:lnTo>
                <a:lnTo>
                  <a:pt x="755110" y="109362"/>
                </a:lnTo>
                <a:lnTo>
                  <a:pt x="759967" y="163194"/>
                </a:lnTo>
                <a:lnTo>
                  <a:pt x="758751" y="192246"/>
                </a:lnTo>
                <a:lnTo>
                  <a:pt x="748984" y="242347"/>
                </a:lnTo>
                <a:lnTo>
                  <a:pt x="729333" y="281493"/>
                </a:lnTo>
                <a:lnTo>
                  <a:pt x="699512" y="307921"/>
                </a:lnTo>
                <a:lnTo>
                  <a:pt x="680719" y="316229"/>
                </a:lnTo>
                <a:lnTo>
                  <a:pt x="684911" y="329564"/>
                </a:lnTo>
                <a:lnTo>
                  <a:pt x="729853" y="308514"/>
                </a:lnTo>
                <a:lnTo>
                  <a:pt x="762888" y="272034"/>
                </a:lnTo>
                <a:lnTo>
                  <a:pt x="783288" y="223154"/>
                </a:lnTo>
                <a:lnTo>
                  <a:pt x="790066" y="164846"/>
                </a:lnTo>
                <a:lnTo>
                  <a:pt x="788356" y="134651"/>
                </a:lnTo>
                <a:lnTo>
                  <a:pt x="774743" y="81121"/>
                </a:lnTo>
                <a:lnTo>
                  <a:pt x="747793" y="37522"/>
                </a:lnTo>
                <a:lnTo>
                  <a:pt x="708792" y="8618"/>
                </a:lnTo>
                <a:lnTo>
                  <a:pt x="684911" y="0"/>
                </a:lnTo>
                <a:close/>
              </a:path>
              <a:path w="790575" h="329565">
                <a:moveTo>
                  <a:pt x="105155" y="0"/>
                </a:moveTo>
                <a:lnTo>
                  <a:pt x="60309" y="21129"/>
                </a:lnTo>
                <a:lnTo>
                  <a:pt x="27177" y="57785"/>
                </a:lnTo>
                <a:lnTo>
                  <a:pt x="6826" y="106743"/>
                </a:lnTo>
                <a:lnTo>
                  <a:pt x="0" y="164846"/>
                </a:lnTo>
                <a:lnTo>
                  <a:pt x="1692" y="195185"/>
                </a:lnTo>
                <a:lnTo>
                  <a:pt x="15269" y="248767"/>
                </a:lnTo>
                <a:lnTo>
                  <a:pt x="42201" y="292203"/>
                </a:lnTo>
                <a:lnTo>
                  <a:pt x="81202" y="320968"/>
                </a:lnTo>
                <a:lnTo>
                  <a:pt x="105155" y="329564"/>
                </a:lnTo>
                <a:lnTo>
                  <a:pt x="109347" y="316229"/>
                </a:lnTo>
                <a:lnTo>
                  <a:pt x="90537" y="307921"/>
                </a:lnTo>
                <a:lnTo>
                  <a:pt x="74310" y="296338"/>
                </a:lnTo>
                <a:lnTo>
                  <a:pt x="49656" y="263398"/>
                </a:lnTo>
                <a:lnTo>
                  <a:pt x="34972" y="218630"/>
                </a:lnTo>
                <a:lnTo>
                  <a:pt x="30099" y="163194"/>
                </a:lnTo>
                <a:lnTo>
                  <a:pt x="31315" y="135022"/>
                </a:lnTo>
                <a:lnTo>
                  <a:pt x="41082" y="86203"/>
                </a:lnTo>
                <a:lnTo>
                  <a:pt x="60723" y="47767"/>
                </a:lnTo>
                <a:lnTo>
                  <a:pt x="90858" y="21669"/>
                </a:lnTo>
                <a:lnTo>
                  <a:pt x="109854" y="13335"/>
                </a:lnTo>
                <a:lnTo>
                  <a:pt x="10515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667B7E61-C843-5E43-97AB-3268AE124242}"/>
              </a:ext>
            </a:extLst>
          </p:cNvPr>
          <p:cNvSpPr txBox="1"/>
          <p:nvPr/>
        </p:nvSpPr>
        <p:spPr>
          <a:xfrm>
            <a:off x="731372" y="1339702"/>
            <a:ext cx="427355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  <a:tab pos="1414145" algn="l"/>
                <a:tab pos="2530475" algn="l"/>
                <a:tab pos="2879725" algn="l"/>
                <a:tab pos="3683635" algn="l"/>
              </a:tabLst>
            </a:pP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𝒍</a:t>
            </a:r>
            <a:r>
              <a:rPr sz="2800" spc="16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800" spc="15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 spc="-25">
                <a:solidFill>
                  <a:srgbClr val="FF0000"/>
                </a:solidFill>
                <a:latin typeface="Cambria Math"/>
                <a:cs typeface="Cambria Math"/>
              </a:rPr>
              <a:t>𝟑,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	𝒓</a:t>
            </a:r>
            <a:r>
              <a:rPr sz="2800" spc="15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800" spc="15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 spc="-25">
                <a:solidFill>
                  <a:srgbClr val="FF0000"/>
                </a:solidFill>
                <a:latin typeface="Cambria Math"/>
                <a:cs typeface="Cambria Math"/>
              </a:rPr>
              <a:t>𝟕,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	</a:t>
            </a:r>
            <a:r>
              <a:rPr sz="2800" spc="-5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	</a:t>
            </a:r>
            <a:r>
              <a:rPr sz="2800" spc="-10">
                <a:solidFill>
                  <a:srgbClr val="FF0000"/>
                </a:solidFill>
                <a:latin typeface="Cambria Math"/>
                <a:cs typeface="Cambria Math"/>
              </a:rPr>
              <a:t>𝟑,</a:t>
            </a:r>
            <a:r>
              <a:rPr sz="2800" spc="-15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 spc="-50">
                <a:solidFill>
                  <a:srgbClr val="FF0000"/>
                </a:solidFill>
                <a:latin typeface="Cambria Math"/>
                <a:cs typeface="Cambria Math"/>
              </a:rPr>
              <a:t>𝟕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	=</a:t>
            </a:r>
            <a:r>
              <a:rPr sz="2800" spc="15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 spc="-50">
                <a:solidFill>
                  <a:srgbClr val="FF0000"/>
                </a:solidFill>
                <a:latin typeface="Cambria Math"/>
                <a:cs typeface="Cambria Math"/>
              </a:rPr>
              <a:t>𝟗</a:t>
            </a:r>
            <a:endParaRPr sz="2800">
              <a:latin typeface="Cambria Math"/>
              <a:cs typeface="Cambria Math"/>
            </a:endParaRPr>
          </a:p>
        </p:txBody>
      </p:sp>
      <p:graphicFrame>
        <p:nvGraphicFramePr>
          <p:cNvPr id="7" name="object 5">
            <a:extLst>
              <a:ext uri="{FF2B5EF4-FFF2-40B4-BE49-F238E27FC236}">
                <a16:creationId xmlns:a16="http://schemas.microsoft.com/office/drawing/2014/main" id="{8685E3CF-A29E-FF46-9BFC-AE4312774D13}"/>
              </a:ext>
            </a:extLst>
          </p:cNvPr>
          <p:cNvGraphicFramePr>
            <a:graphicFrameLocks noGrp="1"/>
          </p:cNvGraphicFramePr>
          <p:nvPr/>
        </p:nvGraphicFramePr>
        <p:xfrm>
          <a:off x="2869036" y="3291805"/>
          <a:ext cx="6254750" cy="10369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610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6375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9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94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spc="-50">
                          <a:latin typeface="Cambria Math"/>
                          <a:cs typeface="Cambria Math"/>
                        </a:rPr>
                        <a:t>𝑿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7874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637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3D35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object 6">
            <a:extLst>
              <a:ext uri="{FF2B5EF4-FFF2-40B4-BE49-F238E27FC236}">
                <a16:creationId xmlns:a16="http://schemas.microsoft.com/office/drawing/2014/main" id="{5D0D9F83-6FAE-AE4F-9D4E-FDDABF413302}"/>
              </a:ext>
            </a:extLst>
          </p:cNvPr>
          <p:cNvSpPr/>
          <p:nvPr/>
        </p:nvSpPr>
        <p:spPr>
          <a:xfrm>
            <a:off x="4736190" y="2783947"/>
            <a:ext cx="114300" cy="549275"/>
          </a:xfrm>
          <a:custGeom>
            <a:avLst/>
            <a:gdLst/>
            <a:ahLst/>
            <a:cxnLst/>
            <a:rect l="l" t="t" r="r" b="b"/>
            <a:pathLst>
              <a:path w="114300" h="549275">
                <a:moveTo>
                  <a:pt x="38100" y="434848"/>
                </a:moveTo>
                <a:lnTo>
                  <a:pt x="0" y="434848"/>
                </a:lnTo>
                <a:lnTo>
                  <a:pt x="57150" y="549148"/>
                </a:lnTo>
                <a:lnTo>
                  <a:pt x="104775" y="453898"/>
                </a:lnTo>
                <a:lnTo>
                  <a:pt x="38100" y="453898"/>
                </a:lnTo>
                <a:lnTo>
                  <a:pt x="38100" y="434848"/>
                </a:lnTo>
                <a:close/>
              </a:path>
              <a:path w="114300" h="549275">
                <a:moveTo>
                  <a:pt x="76200" y="0"/>
                </a:moveTo>
                <a:lnTo>
                  <a:pt x="38100" y="0"/>
                </a:lnTo>
                <a:lnTo>
                  <a:pt x="38100" y="453898"/>
                </a:lnTo>
                <a:lnTo>
                  <a:pt x="76200" y="453898"/>
                </a:lnTo>
                <a:lnTo>
                  <a:pt x="76200" y="0"/>
                </a:lnTo>
                <a:close/>
              </a:path>
              <a:path w="114300" h="549275">
                <a:moveTo>
                  <a:pt x="114300" y="434848"/>
                </a:moveTo>
                <a:lnTo>
                  <a:pt x="76200" y="434848"/>
                </a:lnTo>
                <a:lnTo>
                  <a:pt x="76200" y="453898"/>
                </a:lnTo>
                <a:lnTo>
                  <a:pt x="104775" y="453898"/>
                </a:lnTo>
                <a:lnTo>
                  <a:pt x="114300" y="434848"/>
                </a:lnTo>
                <a:close/>
              </a:path>
            </a:pathLst>
          </a:custGeom>
          <a:solidFill>
            <a:srgbClr val="043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7DEB20D6-B2F7-8D48-818D-A268BE7DD4BD}"/>
              </a:ext>
            </a:extLst>
          </p:cNvPr>
          <p:cNvSpPr txBox="1"/>
          <p:nvPr/>
        </p:nvSpPr>
        <p:spPr>
          <a:xfrm>
            <a:off x="4354428" y="2383897"/>
            <a:ext cx="838200" cy="4000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129539">
              <a:lnSpc>
                <a:spcPct val="100000"/>
              </a:lnSpc>
              <a:spcBef>
                <a:spcPts val="305"/>
              </a:spcBef>
            </a:pP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𝒍</a:t>
            </a:r>
            <a:r>
              <a:rPr sz="2000" spc="10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10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𝟑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05213DA9-C0DB-C341-85E3-C0B9B5C8819F}"/>
              </a:ext>
            </a:extLst>
          </p:cNvPr>
          <p:cNvSpPr/>
          <p:nvPr/>
        </p:nvSpPr>
        <p:spPr>
          <a:xfrm>
            <a:off x="7060289" y="2778613"/>
            <a:ext cx="114300" cy="549275"/>
          </a:xfrm>
          <a:custGeom>
            <a:avLst/>
            <a:gdLst/>
            <a:ahLst/>
            <a:cxnLst/>
            <a:rect l="l" t="t" r="r" b="b"/>
            <a:pathLst>
              <a:path w="114300" h="549275">
                <a:moveTo>
                  <a:pt x="38100" y="434847"/>
                </a:moveTo>
                <a:lnTo>
                  <a:pt x="0" y="434847"/>
                </a:lnTo>
                <a:lnTo>
                  <a:pt x="57150" y="549147"/>
                </a:lnTo>
                <a:lnTo>
                  <a:pt x="104775" y="453897"/>
                </a:lnTo>
                <a:lnTo>
                  <a:pt x="38100" y="453897"/>
                </a:lnTo>
                <a:lnTo>
                  <a:pt x="38100" y="434847"/>
                </a:lnTo>
                <a:close/>
              </a:path>
              <a:path w="114300" h="549275">
                <a:moveTo>
                  <a:pt x="76200" y="0"/>
                </a:moveTo>
                <a:lnTo>
                  <a:pt x="38100" y="0"/>
                </a:lnTo>
                <a:lnTo>
                  <a:pt x="38100" y="453897"/>
                </a:lnTo>
                <a:lnTo>
                  <a:pt x="76200" y="453897"/>
                </a:lnTo>
                <a:lnTo>
                  <a:pt x="76200" y="0"/>
                </a:lnTo>
                <a:close/>
              </a:path>
              <a:path w="114300" h="549275">
                <a:moveTo>
                  <a:pt x="114300" y="434847"/>
                </a:moveTo>
                <a:lnTo>
                  <a:pt x="76200" y="434847"/>
                </a:lnTo>
                <a:lnTo>
                  <a:pt x="76200" y="453897"/>
                </a:lnTo>
                <a:lnTo>
                  <a:pt x="104775" y="453897"/>
                </a:lnTo>
                <a:lnTo>
                  <a:pt x="114300" y="434847"/>
                </a:lnTo>
                <a:close/>
              </a:path>
            </a:pathLst>
          </a:custGeom>
          <a:solidFill>
            <a:srgbClr val="043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0A32F1D4-E283-674E-853B-3DF42AF6ABBF}"/>
              </a:ext>
            </a:extLst>
          </p:cNvPr>
          <p:cNvSpPr txBox="1"/>
          <p:nvPr/>
        </p:nvSpPr>
        <p:spPr>
          <a:xfrm>
            <a:off x="6678527" y="2378563"/>
            <a:ext cx="882015" cy="4000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130175">
              <a:lnSpc>
                <a:spcPct val="100000"/>
              </a:lnSpc>
              <a:spcBef>
                <a:spcPts val="305"/>
              </a:spcBef>
            </a:pP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𝒓</a:t>
            </a:r>
            <a:r>
              <a:rPr sz="2000" spc="10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10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𝟕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97E7D460-4BFE-2A45-BC0D-4FFE108B8EB6}"/>
              </a:ext>
            </a:extLst>
          </p:cNvPr>
          <p:cNvSpPr txBox="1"/>
          <p:nvPr/>
        </p:nvSpPr>
        <p:spPr>
          <a:xfrm>
            <a:off x="6376776" y="4896972"/>
            <a:ext cx="1504950" cy="4000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39369" rIns="0" bIns="0" rtlCol="0">
            <a:spAutoFit/>
          </a:bodyPr>
          <a:lstStyle/>
          <a:p>
            <a:pPr marL="133350">
              <a:lnSpc>
                <a:spcPct val="100000"/>
              </a:lnSpc>
              <a:spcBef>
                <a:spcPts val="309"/>
              </a:spcBef>
            </a:pPr>
            <a:r>
              <a:rPr sz="2000" spc="-20">
                <a:solidFill>
                  <a:srgbClr val="FF0000"/>
                </a:solidFill>
                <a:latin typeface="Cambria Math"/>
                <a:cs typeface="Cambria Math"/>
              </a:rPr>
              <a:t>𝑺(𝟑,</a:t>
            </a:r>
            <a:r>
              <a:rPr sz="2000" spc="-11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𝟕)</a:t>
            </a:r>
            <a:r>
              <a:rPr sz="2000" spc="11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12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𝟗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3" name="object 11">
            <a:extLst>
              <a:ext uri="{FF2B5EF4-FFF2-40B4-BE49-F238E27FC236}">
                <a16:creationId xmlns:a16="http://schemas.microsoft.com/office/drawing/2014/main" id="{CD68DC2C-8659-8147-84D4-13955B5FC10F}"/>
              </a:ext>
            </a:extLst>
          </p:cNvPr>
          <p:cNvSpPr/>
          <p:nvPr/>
        </p:nvSpPr>
        <p:spPr>
          <a:xfrm>
            <a:off x="7065624" y="4348333"/>
            <a:ext cx="114300" cy="549275"/>
          </a:xfrm>
          <a:custGeom>
            <a:avLst/>
            <a:gdLst/>
            <a:ahLst/>
            <a:cxnLst/>
            <a:rect l="l" t="t" r="r" b="b"/>
            <a:pathLst>
              <a:path w="114300" h="549275">
                <a:moveTo>
                  <a:pt x="76200" y="95250"/>
                </a:moveTo>
                <a:lnTo>
                  <a:pt x="38100" y="95250"/>
                </a:lnTo>
                <a:lnTo>
                  <a:pt x="38100" y="549148"/>
                </a:lnTo>
                <a:lnTo>
                  <a:pt x="76200" y="549148"/>
                </a:lnTo>
                <a:lnTo>
                  <a:pt x="76200" y="95250"/>
                </a:lnTo>
                <a:close/>
              </a:path>
              <a:path w="114300" h="549275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549275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431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547000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1AE0DEB-B80A-614C-A31D-B65BB6ED7B00}"/>
              </a:ext>
            </a:extLst>
          </p:cNvPr>
          <p:cNvSpPr txBox="1"/>
          <p:nvPr/>
        </p:nvSpPr>
        <p:spPr>
          <a:xfrm>
            <a:off x="1123278" y="202609"/>
            <a:ext cx="994544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优化枚举：算法实例</a:t>
            </a:r>
          </a:p>
        </p:txBody>
      </p:sp>
      <p:sp>
        <p:nvSpPr>
          <p:cNvPr id="14" name="object 3">
            <a:extLst>
              <a:ext uri="{FF2B5EF4-FFF2-40B4-BE49-F238E27FC236}">
                <a16:creationId xmlns:a16="http://schemas.microsoft.com/office/drawing/2014/main" id="{8991D219-58B6-3641-9CBC-A74A805A3C50}"/>
              </a:ext>
            </a:extLst>
          </p:cNvPr>
          <p:cNvSpPr/>
          <p:nvPr/>
        </p:nvSpPr>
        <p:spPr>
          <a:xfrm>
            <a:off x="3505649" y="1399924"/>
            <a:ext cx="790575" cy="329565"/>
          </a:xfrm>
          <a:custGeom>
            <a:avLst/>
            <a:gdLst/>
            <a:ahLst/>
            <a:cxnLst/>
            <a:rect l="l" t="t" r="r" b="b"/>
            <a:pathLst>
              <a:path w="790575" h="329565">
                <a:moveTo>
                  <a:pt x="684911" y="0"/>
                </a:moveTo>
                <a:lnTo>
                  <a:pt x="680212" y="13335"/>
                </a:lnTo>
                <a:lnTo>
                  <a:pt x="699281" y="21669"/>
                </a:lnTo>
                <a:lnTo>
                  <a:pt x="715708" y="33146"/>
                </a:lnTo>
                <a:lnTo>
                  <a:pt x="740537" y="65531"/>
                </a:lnTo>
                <a:lnTo>
                  <a:pt x="755110" y="109362"/>
                </a:lnTo>
                <a:lnTo>
                  <a:pt x="759967" y="163194"/>
                </a:lnTo>
                <a:lnTo>
                  <a:pt x="758751" y="192246"/>
                </a:lnTo>
                <a:lnTo>
                  <a:pt x="748984" y="242347"/>
                </a:lnTo>
                <a:lnTo>
                  <a:pt x="729333" y="281493"/>
                </a:lnTo>
                <a:lnTo>
                  <a:pt x="699512" y="307921"/>
                </a:lnTo>
                <a:lnTo>
                  <a:pt x="680719" y="316229"/>
                </a:lnTo>
                <a:lnTo>
                  <a:pt x="684911" y="329564"/>
                </a:lnTo>
                <a:lnTo>
                  <a:pt x="729853" y="308514"/>
                </a:lnTo>
                <a:lnTo>
                  <a:pt x="762888" y="272034"/>
                </a:lnTo>
                <a:lnTo>
                  <a:pt x="783288" y="223154"/>
                </a:lnTo>
                <a:lnTo>
                  <a:pt x="790066" y="164846"/>
                </a:lnTo>
                <a:lnTo>
                  <a:pt x="788356" y="134651"/>
                </a:lnTo>
                <a:lnTo>
                  <a:pt x="774743" y="81121"/>
                </a:lnTo>
                <a:lnTo>
                  <a:pt x="747793" y="37522"/>
                </a:lnTo>
                <a:lnTo>
                  <a:pt x="708792" y="8618"/>
                </a:lnTo>
                <a:lnTo>
                  <a:pt x="684911" y="0"/>
                </a:lnTo>
                <a:close/>
              </a:path>
              <a:path w="790575" h="329565">
                <a:moveTo>
                  <a:pt x="105155" y="0"/>
                </a:moveTo>
                <a:lnTo>
                  <a:pt x="60309" y="21129"/>
                </a:lnTo>
                <a:lnTo>
                  <a:pt x="27177" y="57785"/>
                </a:lnTo>
                <a:lnTo>
                  <a:pt x="6826" y="106743"/>
                </a:lnTo>
                <a:lnTo>
                  <a:pt x="0" y="164846"/>
                </a:lnTo>
                <a:lnTo>
                  <a:pt x="1692" y="195185"/>
                </a:lnTo>
                <a:lnTo>
                  <a:pt x="15269" y="248767"/>
                </a:lnTo>
                <a:lnTo>
                  <a:pt x="42201" y="292203"/>
                </a:lnTo>
                <a:lnTo>
                  <a:pt x="81202" y="320968"/>
                </a:lnTo>
                <a:lnTo>
                  <a:pt x="105155" y="329564"/>
                </a:lnTo>
                <a:lnTo>
                  <a:pt x="109347" y="316229"/>
                </a:lnTo>
                <a:lnTo>
                  <a:pt x="90537" y="307921"/>
                </a:lnTo>
                <a:lnTo>
                  <a:pt x="74310" y="296338"/>
                </a:lnTo>
                <a:lnTo>
                  <a:pt x="49656" y="263398"/>
                </a:lnTo>
                <a:lnTo>
                  <a:pt x="34972" y="218630"/>
                </a:lnTo>
                <a:lnTo>
                  <a:pt x="30099" y="163194"/>
                </a:lnTo>
                <a:lnTo>
                  <a:pt x="31315" y="135022"/>
                </a:lnTo>
                <a:lnTo>
                  <a:pt x="41082" y="86203"/>
                </a:lnTo>
                <a:lnTo>
                  <a:pt x="60723" y="47767"/>
                </a:lnTo>
                <a:lnTo>
                  <a:pt x="90858" y="21669"/>
                </a:lnTo>
                <a:lnTo>
                  <a:pt x="109854" y="13335"/>
                </a:lnTo>
                <a:lnTo>
                  <a:pt x="10515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4">
            <a:extLst>
              <a:ext uri="{FF2B5EF4-FFF2-40B4-BE49-F238E27FC236}">
                <a16:creationId xmlns:a16="http://schemas.microsoft.com/office/drawing/2014/main" id="{B4262A8B-52C4-DF41-97BD-A9A77DCF2C92}"/>
              </a:ext>
            </a:extLst>
          </p:cNvPr>
          <p:cNvSpPr txBox="1"/>
          <p:nvPr/>
        </p:nvSpPr>
        <p:spPr>
          <a:xfrm>
            <a:off x="742130" y="1296672"/>
            <a:ext cx="4191635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  <a:tab pos="1414145" algn="l"/>
                <a:tab pos="2530475" algn="l"/>
                <a:tab pos="2879725" algn="l"/>
                <a:tab pos="3683635" algn="l"/>
              </a:tabLst>
            </a:pP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𝒍</a:t>
            </a:r>
            <a:r>
              <a:rPr sz="2800" spc="16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800" spc="15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 spc="-25">
                <a:solidFill>
                  <a:srgbClr val="FF0000"/>
                </a:solidFill>
                <a:latin typeface="Cambria Math"/>
                <a:cs typeface="Cambria Math"/>
              </a:rPr>
              <a:t>𝟑,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	𝒓</a:t>
            </a:r>
            <a:r>
              <a:rPr sz="2800" spc="15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800" spc="15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 spc="-25">
                <a:solidFill>
                  <a:srgbClr val="FF0000"/>
                </a:solidFill>
                <a:latin typeface="Cambria Math"/>
                <a:cs typeface="Cambria Math"/>
              </a:rPr>
              <a:t>𝟖,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	</a:t>
            </a:r>
            <a:r>
              <a:rPr sz="2800" spc="-5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	</a:t>
            </a:r>
            <a:r>
              <a:rPr sz="2800" spc="-10">
                <a:solidFill>
                  <a:srgbClr val="FF0000"/>
                </a:solidFill>
                <a:latin typeface="Cambria Math"/>
                <a:cs typeface="Cambria Math"/>
              </a:rPr>
              <a:t>𝟑,</a:t>
            </a:r>
            <a:r>
              <a:rPr sz="2800" spc="-15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 spc="-50">
                <a:solidFill>
                  <a:srgbClr val="FF0000"/>
                </a:solidFill>
                <a:latin typeface="Cambria Math"/>
                <a:cs typeface="Cambria Math"/>
              </a:rPr>
              <a:t>𝟖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	=</a:t>
            </a:r>
            <a:r>
              <a:rPr sz="2800" spc="-2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 spc="-50">
                <a:solidFill>
                  <a:srgbClr val="FF0000"/>
                </a:solidFill>
                <a:latin typeface="Cambria Math"/>
                <a:cs typeface="Cambria Math"/>
              </a:rPr>
              <a:t>?</a:t>
            </a:r>
            <a:endParaRPr sz="2800">
              <a:latin typeface="Cambria Math"/>
              <a:cs typeface="Cambria Math"/>
            </a:endParaRPr>
          </a:p>
        </p:txBody>
      </p:sp>
      <p:graphicFrame>
        <p:nvGraphicFramePr>
          <p:cNvPr id="16" name="object 5">
            <a:extLst>
              <a:ext uri="{FF2B5EF4-FFF2-40B4-BE49-F238E27FC236}">
                <a16:creationId xmlns:a16="http://schemas.microsoft.com/office/drawing/2014/main" id="{15A11C5F-4E12-9240-A5FF-893698E59384}"/>
              </a:ext>
            </a:extLst>
          </p:cNvPr>
          <p:cNvGraphicFramePr>
            <a:graphicFrameLocks noGrp="1"/>
          </p:cNvGraphicFramePr>
          <p:nvPr/>
        </p:nvGraphicFramePr>
        <p:xfrm>
          <a:off x="2879794" y="3248775"/>
          <a:ext cx="6254750" cy="10369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610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6375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9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94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spc="-50">
                          <a:latin typeface="Cambria Math"/>
                          <a:cs typeface="Cambria Math"/>
                        </a:rPr>
                        <a:t>𝑿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7874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637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3D35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object 6">
            <a:extLst>
              <a:ext uri="{FF2B5EF4-FFF2-40B4-BE49-F238E27FC236}">
                <a16:creationId xmlns:a16="http://schemas.microsoft.com/office/drawing/2014/main" id="{B4862D1E-2926-7645-B1A6-66F8F9787EE2}"/>
              </a:ext>
            </a:extLst>
          </p:cNvPr>
          <p:cNvSpPr/>
          <p:nvPr/>
        </p:nvSpPr>
        <p:spPr>
          <a:xfrm>
            <a:off x="4746948" y="2740917"/>
            <a:ext cx="114300" cy="549275"/>
          </a:xfrm>
          <a:custGeom>
            <a:avLst/>
            <a:gdLst/>
            <a:ahLst/>
            <a:cxnLst/>
            <a:rect l="l" t="t" r="r" b="b"/>
            <a:pathLst>
              <a:path w="114300" h="549275">
                <a:moveTo>
                  <a:pt x="38100" y="434848"/>
                </a:moveTo>
                <a:lnTo>
                  <a:pt x="0" y="434848"/>
                </a:lnTo>
                <a:lnTo>
                  <a:pt x="57150" y="549148"/>
                </a:lnTo>
                <a:lnTo>
                  <a:pt x="104775" y="453898"/>
                </a:lnTo>
                <a:lnTo>
                  <a:pt x="38100" y="453898"/>
                </a:lnTo>
                <a:lnTo>
                  <a:pt x="38100" y="434848"/>
                </a:lnTo>
                <a:close/>
              </a:path>
              <a:path w="114300" h="549275">
                <a:moveTo>
                  <a:pt x="76200" y="0"/>
                </a:moveTo>
                <a:lnTo>
                  <a:pt x="38100" y="0"/>
                </a:lnTo>
                <a:lnTo>
                  <a:pt x="38100" y="453898"/>
                </a:lnTo>
                <a:lnTo>
                  <a:pt x="76200" y="453898"/>
                </a:lnTo>
                <a:lnTo>
                  <a:pt x="76200" y="0"/>
                </a:lnTo>
                <a:close/>
              </a:path>
              <a:path w="114300" h="549275">
                <a:moveTo>
                  <a:pt x="114300" y="434848"/>
                </a:moveTo>
                <a:lnTo>
                  <a:pt x="76200" y="434848"/>
                </a:lnTo>
                <a:lnTo>
                  <a:pt x="76200" y="453898"/>
                </a:lnTo>
                <a:lnTo>
                  <a:pt x="104775" y="453898"/>
                </a:lnTo>
                <a:lnTo>
                  <a:pt x="114300" y="434848"/>
                </a:lnTo>
                <a:close/>
              </a:path>
            </a:pathLst>
          </a:custGeom>
          <a:solidFill>
            <a:srgbClr val="043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7">
            <a:extLst>
              <a:ext uri="{FF2B5EF4-FFF2-40B4-BE49-F238E27FC236}">
                <a16:creationId xmlns:a16="http://schemas.microsoft.com/office/drawing/2014/main" id="{B11C9CC4-C28F-B74A-B778-3E571CA710A4}"/>
              </a:ext>
            </a:extLst>
          </p:cNvPr>
          <p:cNvSpPr txBox="1"/>
          <p:nvPr/>
        </p:nvSpPr>
        <p:spPr>
          <a:xfrm>
            <a:off x="4365186" y="2340867"/>
            <a:ext cx="838200" cy="4000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129539">
              <a:lnSpc>
                <a:spcPct val="100000"/>
              </a:lnSpc>
              <a:spcBef>
                <a:spcPts val="305"/>
              </a:spcBef>
            </a:pP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𝒍</a:t>
            </a:r>
            <a:r>
              <a:rPr sz="2000" spc="10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10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𝟑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9" name="object 8">
            <a:extLst>
              <a:ext uri="{FF2B5EF4-FFF2-40B4-BE49-F238E27FC236}">
                <a16:creationId xmlns:a16="http://schemas.microsoft.com/office/drawing/2014/main" id="{C8487066-ADA2-1147-8896-DCC7C31594E2}"/>
              </a:ext>
            </a:extLst>
          </p:cNvPr>
          <p:cNvSpPr/>
          <p:nvPr/>
        </p:nvSpPr>
        <p:spPr>
          <a:xfrm>
            <a:off x="7628070" y="2735583"/>
            <a:ext cx="114300" cy="549275"/>
          </a:xfrm>
          <a:custGeom>
            <a:avLst/>
            <a:gdLst/>
            <a:ahLst/>
            <a:cxnLst/>
            <a:rect l="l" t="t" r="r" b="b"/>
            <a:pathLst>
              <a:path w="114300" h="549275">
                <a:moveTo>
                  <a:pt x="38100" y="434847"/>
                </a:moveTo>
                <a:lnTo>
                  <a:pt x="0" y="434847"/>
                </a:lnTo>
                <a:lnTo>
                  <a:pt x="57150" y="549147"/>
                </a:lnTo>
                <a:lnTo>
                  <a:pt x="104775" y="453897"/>
                </a:lnTo>
                <a:lnTo>
                  <a:pt x="38100" y="453897"/>
                </a:lnTo>
                <a:lnTo>
                  <a:pt x="38100" y="434847"/>
                </a:lnTo>
                <a:close/>
              </a:path>
              <a:path w="114300" h="549275">
                <a:moveTo>
                  <a:pt x="76200" y="0"/>
                </a:moveTo>
                <a:lnTo>
                  <a:pt x="38100" y="0"/>
                </a:lnTo>
                <a:lnTo>
                  <a:pt x="38100" y="453897"/>
                </a:lnTo>
                <a:lnTo>
                  <a:pt x="76200" y="453897"/>
                </a:lnTo>
                <a:lnTo>
                  <a:pt x="76200" y="0"/>
                </a:lnTo>
                <a:close/>
              </a:path>
              <a:path w="114300" h="549275">
                <a:moveTo>
                  <a:pt x="114300" y="434847"/>
                </a:moveTo>
                <a:lnTo>
                  <a:pt x="76200" y="434847"/>
                </a:lnTo>
                <a:lnTo>
                  <a:pt x="76200" y="453897"/>
                </a:lnTo>
                <a:lnTo>
                  <a:pt x="104775" y="453897"/>
                </a:lnTo>
                <a:lnTo>
                  <a:pt x="114300" y="434847"/>
                </a:lnTo>
                <a:close/>
              </a:path>
            </a:pathLst>
          </a:custGeom>
          <a:solidFill>
            <a:srgbClr val="043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9">
            <a:extLst>
              <a:ext uri="{FF2B5EF4-FFF2-40B4-BE49-F238E27FC236}">
                <a16:creationId xmlns:a16="http://schemas.microsoft.com/office/drawing/2014/main" id="{7A146FB9-9686-6F45-A517-83402C4975CA}"/>
              </a:ext>
            </a:extLst>
          </p:cNvPr>
          <p:cNvSpPr txBox="1"/>
          <p:nvPr/>
        </p:nvSpPr>
        <p:spPr>
          <a:xfrm>
            <a:off x="7246308" y="2335533"/>
            <a:ext cx="882015" cy="4000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130810">
              <a:lnSpc>
                <a:spcPct val="100000"/>
              </a:lnSpc>
              <a:spcBef>
                <a:spcPts val="305"/>
              </a:spcBef>
            </a:pP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𝒓</a:t>
            </a:r>
            <a:r>
              <a:rPr sz="2000" spc="10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10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𝟖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1" name="object 10">
            <a:extLst>
              <a:ext uri="{FF2B5EF4-FFF2-40B4-BE49-F238E27FC236}">
                <a16:creationId xmlns:a16="http://schemas.microsoft.com/office/drawing/2014/main" id="{33676805-0AA4-604D-8FDF-2A97415DA316}"/>
              </a:ext>
            </a:extLst>
          </p:cNvPr>
          <p:cNvSpPr txBox="1"/>
          <p:nvPr/>
        </p:nvSpPr>
        <p:spPr>
          <a:xfrm>
            <a:off x="6387534" y="4853942"/>
            <a:ext cx="1504950" cy="4000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39369" rIns="0" bIns="0" rtlCol="0">
            <a:spAutoFit/>
          </a:bodyPr>
          <a:lstStyle/>
          <a:p>
            <a:pPr marL="133350">
              <a:lnSpc>
                <a:spcPct val="100000"/>
              </a:lnSpc>
              <a:spcBef>
                <a:spcPts val="309"/>
              </a:spcBef>
            </a:pPr>
            <a:r>
              <a:rPr sz="2000" spc="-20">
                <a:solidFill>
                  <a:srgbClr val="FF0000"/>
                </a:solidFill>
                <a:latin typeface="Cambria Math"/>
                <a:cs typeface="Cambria Math"/>
              </a:rPr>
              <a:t>𝑺(𝟑,</a:t>
            </a:r>
            <a:r>
              <a:rPr sz="2000" spc="-11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𝟕)</a:t>
            </a:r>
            <a:r>
              <a:rPr sz="2000" spc="11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12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𝟗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2" name="object 11">
            <a:extLst>
              <a:ext uri="{FF2B5EF4-FFF2-40B4-BE49-F238E27FC236}">
                <a16:creationId xmlns:a16="http://schemas.microsoft.com/office/drawing/2014/main" id="{5D063487-687A-C34A-8848-F760B2E8F8FA}"/>
              </a:ext>
            </a:extLst>
          </p:cNvPr>
          <p:cNvSpPr/>
          <p:nvPr/>
        </p:nvSpPr>
        <p:spPr>
          <a:xfrm>
            <a:off x="7076382" y="4305303"/>
            <a:ext cx="114300" cy="549275"/>
          </a:xfrm>
          <a:custGeom>
            <a:avLst/>
            <a:gdLst/>
            <a:ahLst/>
            <a:cxnLst/>
            <a:rect l="l" t="t" r="r" b="b"/>
            <a:pathLst>
              <a:path w="114300" h="549275">
                <a:moveTo>
                  <a:pt x="76200" y="95250"/>
                </a:moveTo>
                <a:lnTo>
                  <a:pt x="38100" y="95250"/>
                </a:lnTo>
                <a:lnTo>
                  <a:pt x="38100" y="549148"/>
                </a:lnTo>
                <a:lnTo>
                  <a:pt x="76200" y="549148"/>
                </a:lnTo>
                <a:lnTo>
                  <a:pt x="76200" y="95250"/>
                </a:lnTo>
                <a:close/>
              </a:path>
              <a:path w="114300" h="549275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549275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431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805689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65B47308-664D-DB47-8266-6D968D40346C}"/>
              </a:ext>
            </a:extLst>
          </p:cNvPr>
          <p:cNvSpPr txBox="1"/>
          <p:nvPr/>
        </p:nvSpPr>
        <p:spPr>
          <a:xfrm>
            <a:off x="1123278" y="202609"/>
            <a:ext cx="994544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优化枚举：算法实例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993ACF99-9DF4-644F-A826-3A005EBB3B25}"/>
              </a:ext>
            </a:extLst>
          </p:cNvPr>
          <p:cNvSpPr/>
          <p:nvPr/>
        </p:nvSpPr>
        <p:spPr>
          <a:xfrm>
            <a:off x="3559436" y="1399924"/>
            <a:ext cx="790575" cy="329565"/>
          </a:xfrm>
          <a:custGeom>
            <a:avLst/>
            <a:gdLst/>
            <a:ahLst/>
            <a:cxnLst/>
            <a:rect l="l" t="t" r="r" b="b"/>
            <a:pathLst>
              <a:path w="790575" h="329565">
                <a:moveTo>
                  <a:pt x="684911" y="0"/>
                </a:moveTo>
                <a:lnTo>
                  <a:pt x="680212" y="13335"/>
                </a:lnTo>
                <a:lnTo>
                  <a:pt x="699281" y="21669"/>
                </a:lnTo>
                <a:lnTo>
                  <a:pt x="715708" y="33146"/>
                </a:lnTo>
                <a:lnTo>
                  <a:pt x="740537" y="65531"/>
                </a:lnTo>
                <a:lnTo>
                  <a:pt x="755110" y="109362"/>
                </a:lnTo>
                <a:lnTo>
                  <a:pt x="759967" y="163194"/>
                </a:lnTo>
                <a:lnTo>
                  <a:pt x="758751" y="192246"/>
                </a:lnTo>
                <a:lnTo>
                  <a:pt x="748984" y="242347"/>
                </a:lnTo>
                <a:lnTo>
                  <a:pt x="729333" y="281493"/>
                </a:lnTo>
                <a:lnTo>
                  <a:pt x="699512" y="307921"/>
                </a:lnTo>
                <a:lnTo>
                  <a:pt x="680719" y="316229"/>
                </a:lnTo>
                <a:lnTo>
                  <a:pt x="684911" y="329564"/>
                </a:lnTo>
                <a:lnTo>
                  <a:pt x="729853" y="308514"/>
                </a:lnTo>
                <a:lnTo>
                  <a:pt x="762888" y="272034"/>
                </a:lnTo>
                <a:lnTo>
                  <a:pt x="783288" y="223154"/>
                </a:lnTo>
                <a:lnTo>
                  <a:pt x="790066" y="164846"/>
                </a:lnTo>
                <a:lnTo>
                  <a:pt x="788356" y="134651"/>
                </a:lnTo>
                <a:lnTo>
                  <a:pt x="774743" y="81121"/>
                </a:lnTo>
                <a:lnTo>
                  <a:pt x="747793" y="37522"/>
                </a:lnTo>
                <a:lnTo>
                  <a:pt x="708792" y="8618"/>
                </a:lnTo>
                <a:lnTo>
                  <a:pt x="684911" y="0"/>
                </a:lnTo>
                <a:close/>
              </a:path>
              <a:path w="790575" h="329565">
                <a:moveTo>
                  <a:pt x="105155" y="0"/>
                </a:moveTo>
                <a:lnTo>
                  <a:pt x="60309" y="21129"/>
                </a:lnTo>
                <a:lnTo>
                  <a:pt x="27177" y="57785"/>
                </a:lnTo>
                <a:lnTo>
                  <a:pt x="6826" y="106743"/>
                </a:lnTo>
                <a:lnTo>
                  <a:pt x="0" y="164846"/>
                </a:lnTo>
                <a:lnTo>
                  <a:pt x="1692" y="195185"/>
                </a:lnTo>
                <a:lnTo>
                  <a:pt x="15269" y="248767"/>
                </a:lnTo>
                <a:lnTo>
                  <a:pt x="42201" y="292203"/>
                </a:lnTo>
                <a:lnTo>
                  <a:pt x="81202" y="320968"/>
                </a:lnTo>
                <a:lnTo>
                  <a:pt x="105155" y="329564"/>
                </a:lnTo>
                <a:lnTo>
                  <a:pt x="109347" y="316229"/>
                </a:lnTo>
                <a:lnTo>
                  <a:pt x="90537" y="307921"/>
                </a:lnTo>
                <a:lnTo>
                  <a:pt x="74310" y="296338"/>
                </a:lnTo>
                <a:lnTo>
                  <a:pt x="49656" y="263398"/>
                </a:lnTo>
                <a:lnTo>
                  <a:pt x="34972" y="218630"/>
                </a:lnTo>
                <a:lnTo>
                  <a:pt x="30099" y="163194"/>
                </a:lnTo>
                <a:lnTo>
                  <a:pt x="31315" y="135022"/>
                </a:lnTo>
                <a:lnTo>
                  <a:pt x="41082" y="86203"/>
                </a:lnTo>
                <a:lnTo>
                  <a:pt x="60723" y="47767"/>
                </a:lnTo>
                <a:lnTo>
                  <a:pt x="90858" y="21669"/>
                </a:lnTo>
                <a:lnTo>
                  <a:pt x="109854" y="13335"/>
                </a:lnTo>
                <a:lnTo>
                  <a:pt x="10515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123A138A-F7B9-C240-850D-5F22BE64D798}"/>
              </a:ext>
            </a:extLst>
          </p:cNvPr>
          <p:cNvSpPr txBox="1"/>
          <p:nvPr/>
        </p:nvSpPr>
        <p:spPr>
          <a:xfrm>
            <a:off x="795917" y="1296672"/>
            <a:ext cx="427355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  <a:tab pos="1414145" algn="l"/>
                <a:tab pos="2530475" algn="l"/>
                <a:tab pos="2879725" algn="l"/>
                <a:tab pos="3683635" algn="l"/>
              </a:tabLst>
            </a:pP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𝒍</a:t>
            </a:r>
            <a:r>
              <a:rPr sz="2800" spc="16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800" spc="15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 spc="-25">
                <a:solidFill>
                  <a:srgbClr val="FF0000"/>
                </a:solidFill>
                <a:latin typeface="Cambria Math"/>
                <a:cs typeface="Cambria Math"/>
              </a:rPr>
              <a:t>𝟑,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	𝒓</a:t>
            </a:r>
            <a:r>
              <a:rPr sz="2800" spc="15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800" spc="15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 spc="-25">
                <a:solidFill>
                  <a:srgbClr val="FF0000"/>
                </a:solidFill>
                <a:latin typeface="Cambria Math"/>
                <a:cs typeface="Cambria Math"/>
              </a:rPr>
              <a:t>𝟖,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	</a:t>
            </a:r>
            <a:r>
              <a:rPr sz="2800" spc="-5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	</a:t>
            </a:r>
            <a:r>
              <a:rPr sz="2800" spc="-10">
                <a:solidFill>
                  <a:srgbClr val="FF0000"/>
                </a:solidFill>
                <a:latin typeface="Cambria Math"/>
                <a:cs typeface="Cambria Math"/>
              </a:rPr>
              <a:t>𝟑,</a:t>
            </a:r>
            <a:r>
              <a:rPr sz="2800" spc="-15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 spc="-50">
                <a:solidFill>
                  <a:srgbClr val="FF0000"/>
                </a:solidFill>
                <a:latin typeface="Cambria Math"/>
                <a:cs typeface="Cambria Math"/>
              </a:rPr>
              <a:t>𝟖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	=</a:t>
            </a:r>
            <a:r>
              <a:rPr sz="2800" spc="15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 spc="-50">
                <a:solidFill>
                  <a:srgbClr val="FF0000"/>
                </a:solidFill>
                <a:latin typeface="Cambria Math"/>
                <a:cs typeface="Cambria Math"/>
              </a:rPr>
              <a:t>𝟕</a:t>
            </a:r>
            <a:endParaRPr sz="2800">
              <a:latin typeface="Cambria Math"/>
              <a:cs typeface="Cambria Math"/>
            </a:endParaRP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00E482FB-EF50-8347-A014-589A1D8BA78B}"/>
              </a:ext>
            </a:extLst>
          </p:cNvPr>
          <p:cNvGraphicFramePr>
            <a:graphicFrameLocks noGrp="1"/>
          </p:cNvGraphicFramePr>
          <p:nvPr/>
        </p:nvGraphicFramePr>
        <p:xfrm>
          <a:off x="2933581" y="3248775"/>
          <a:ext cx="6254750" cy="10369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610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6375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9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94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spc="-50">
                          <a:latin typeface="Cambria Math"/>
                          <a:cs typeface="Cambria Math"/>
                        </a:rPr>
                        <a:t>𝑿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7874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637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3D35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3D35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object 6">
            <a:extLst>
              <a:ext uri="{FF2B5EF4-FFF2-40B4-BE49-F238E27FC236}">
                <a16:creationId xmlns:a16="http://schemas.microsoft.com/office/drawing/2014/main" id="{B8DA5483-36AD-B344-A71D-5ED2E8F0A030}"/>
              </a:ext>
            </a:extLst>
          </p:cNvPr>
          <p:cNvSpPr txBox="1"/>
          <p:nvPr/>
        </p:nvSpPr>
        <p:spPr>
          <a:xfrm>
            <a:off x="6255392" y="4853942"/>
            <a:ext cx="3061335" cy="4000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39369" rIns="0" bIns="0" rtlCol="0">
            <a:spAutoFit/>
          </a:bodyPr>
          <a:lstStyle/>
          <a:p>
            <a:pPr marL="140335">
              <a:lnSpc>
                <a:spcPct val="100000"/>
              </a:lnSpc>
              <a:spcBef>
                <a:spcPts val="309"/>
              </a:spcBef>
            </a:pPr>
            <a:r>
              <a:rPr sz="2000" spc="-20">
                <a:solidFill>
                  <a:srgbClr val="FF0000"/>
                </a:solidFill>
                <a:latin typeface="Cambria Math"/>
                <a:cs typeface="Cambria Math"/>
              </a:rPr>
              <a:t>𝑺(𝟑,</a:t>
            </a:r>
            <a:r>
              <a:rPr sz="2000" spc="-10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𝟖)</a:t>
            </a:r>
            <a:r>
              <a:rPr sz="2000" spc="9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10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10">
                <a:solidFill>
                  <a:srgbClr val="FF0000"/>
                </a:solidFill>
                <a:latin typeface="Cambria Math"/>
                <a:cs typeface="Cambria Math"/>
              </a:rPr>
              <a:t>𝑺(𝟑,</a:t>
            </a:r>
            <a:r>
              <a:rPr sz="2000" spc="-11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𝟕)</a:t>
            </a:r>
            <a:r>
              <a:rPr sz="2000" spc="-1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−</a:t>
            </a:r>
            <a:r>
              <a:rPr sz="2000" spc="1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𝟐</a:t>
            </a:r>
            <a:r>
              <a:rPr sz="2000" spc="10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114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𝟕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EBF694EE-EFAD-414B-8E3D-0DE913A67DA2}"/>
              </a:ext>
            </a:extLst>
          </p:cNvPr>
          <p:cNvSpPr/>
          <p:nvPr/>
        </p:nvSpPr>
        <p:spPr>
          <a:xfrm>
            <a:off x="7687191" y="4305303"/>
            <a:ext cx="114300" cy="549275"/>
          </a:xfrm>
          <a:custGeom>
            <a:avLst/>
            <a:gdLst/>
            <a:ahLst/>
            <a:cxnLst/>
            <a:rect l="l" t="t" r="r" b="b"/>
            <a:pathLst>
              <a:path w="114300" h="549275">
                <a:moveTo>
                  <a:pt x="76200" y="95250"/>
                </a:moveTo>
                <a:lnTo>
                  <a:pt x="38100" y="95250"/>
                </a:lnTo>
                <a:lnTo>
                  <a:pt x="38100" y="549148"/>
                </a:lnTo>
                <a:lnTo>
                  <a:pt x="76200" y="549148"/>
                </a:lnTo>
                <a:lnTo>
                  <a:pt x="76200" y="95250"/>
                </a:lnTo>
                <a:close/>
              </a:path>
              <a:path w="114300" h="549275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549275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43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EDBD83F9-8CDF-F945-A5C8-9BFFBE05B9A0}"/>
              </a:ext>
            </a:extLst>
          </p:cNvPr>
          <p:cNvSpPr/>
          <p:nvPr/>
        </p:nvSpPr>
        <p:spPr>
          <a:xfrm>
            <a:off x="4800735" y="2740917"/>
            <a:ext cx="114300" cy="549275"/>
          </a:xfrm>
          <a:custGeom>
            <a:avLst/>
            <a:gdLst/>
            <a:ahLst/>
            <a:cxnLst/>
            <a:rect l="l" t="t" r="r" b="b"/>
            <a:pathLst>
              <a:path w="114300" h="549275">
                <a:moveTo>
                  <a:pt x="38100" y="434848"/>
                </a:moveTo>
                <a:lnTo>
                  <a:pt x="0" y="434848"/>
                </a:lnTo>
                <a:lnTo>
                  <a:pt x="57150" y="549148"/>
                </a:lnTo>
                <a:lnTo>
                  <a:pt x="104775" y="453898"/>
                </a:lnTo>
                <a:lnTo>
                  <a:pt x="38100" y="453898"/>
                </a:lnTo>
                <a:lnTo>
                  <a:pt x="38100" y="434848"/>
                </a:lnTo>
                <a:close/>
              </a:path>
              <a:path w="114300" h="549275">
                <a:moveTo>
                  <a:pt x="76200" y="0"/>
                </a:moveTo>
                <a:lnTo>
                  <a:pt x="38100" y="0"/>
                </a:lnTo>
                <a:lnTo>
                  <a:pt x="38100" y="453898"/>
                </a:lnTo>
                <a:lnTo>
                  <a:pt x="76200" y="453898"/>
                </a:lnTo>
                <a:lnTo>
                  <a:pt x="76200" y="0"/>
                </a:lnTo>
                <a:close/>
              </a:path>
              <a:path w="114300" h="549275">
                <a:moveTo>
                  <a:pt x="114300" y="434848"/>
                </a:moveTo>
                <a:lnTo>
                  <a:pt x="76200" y="434848"/>
                </a:lnTo>
                <a:lnTo>
                  <a:pt x="76200" y="453898"/>
                </a:lnTo>
                <a:lnTo>
                  <a:pt x="104775" y="453898"/>
                </a:lnTo>
                <a:lnTo>
                  <a:pt x="114300" y="434848"/>
                </a:lnTo>
                <a:close/>
              </a:path>
            </a:pathLst>
          </a:custGeom>
          <a:solidFill>
            <a:srgbClr val="043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C2C0D65A-FFA3-A14C-A296-D7C414587AF7}"/>
              </a:ext>
            </a:extLst>
          </p:cNvPr>
          <p:cNvSpPr txBox="1"/>
          <p:nvPr/>
        </p:nvSpPr>
        <p:spPr>
          <a:xfrm>
            <a:off x="4418973" y="2340867"/>
            <a:ext cx="838200" cy="4000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129539">
              <a:lnSpc>
                <a:spcPct val="100000"/>
              </a:lnSpc>
              <a:spcBef>
                <a:spcPts val="305"/>
              </a:spcBef>
            </a:pP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𝒍</a:t>
            </a:r>
            <a:r>
              <a:rPr sz="2000" spc="10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10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𝟑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F86C3221-8BB9-7547-88E5-B2B5AC07BA51}"/>
              </a:ext>
            </a:extLst>
          </p:cNvPr>
          <p:cNvSpPr/>
          <p:nvPr/>
        </p:nvSpPr>
        <p:spPr>
          <a:xfrm>
            <a:off x="7681857" y="2735583"/>
            <a:ext cx="114300" cy="549275"/>
          </a:xfrm>
          <a:custGeom>
            <a:avLst/>
            <a:gdLst/>
            <a:ahLst/>
            <a:cxnLst/>
            <a:rect l="l" t="t" r="r" b="b"/>
            <a:pathLst>
              <a:path w="114300" h="549275">
                <a:moveTo>
                  <a:pt x="38100" y="434847"/>
                </a:moveTo>
                <a:lnTo>
                  <a:pt x="0" y="434847"/>
                </a:lnTo>
                <a:lnTo>
                  <a:pt x="57150" y="549147"/>
                </a:lnTo>
                <a:lnTo>
                  <a:pt x="104775" y="453897"/>
                </a:lnTo>
                <a:lnTo>
                  <a:pt x="38100" y="453897"/>
                </a:lnTo>
                <a:lnTo>
                  <a:pt x="38100" y="434847"/>
                </a:lnTo>
                <a:close/>
              </a:path>
              <a:path w="114300" h="549275">
                <a:moveTo>
                  <a:pt x="76200" y="0"/>
                </a:moveTo>
                <a:lnTo>
                  <a:pt x="38100" y="0"/>
                </a:lnTo>
                <a:lnTo>
                  <a:pt x="38100" y="453897"/>
                </a:lnTo>
                <a:lnTo>
                  <a:pt x="76200" y="453897"/>
                </a:lnTo>
                <a:lnTo>
                  <a:pt x="76200" y="0"/>
                </a:lnTo>
                <a:close/>
              </a:path>
              <a:path w="114300" h="549275">
                <a:moveTo>
                  <a:pt x="114300" y="434847"/>
                </a:moveTo>
                <a:lnTo>
                  <a:pt x="76200" y="434847"/>
                </a:lnTo>
                <a:lnTo>
                  <a:pt x="76200" y="453897"/>
                </a:lnTo>
                <a:lnTo>
                  <a:pt x="104775" y="453897"/>
                </a:lnTo>
                <a:lnTo>
                  <a:pt x="114300" y="434847"/>
                </a:lnTo>
                <a:close/>
              </a:path>
            </a:pathLst>
          </a:custGeom>
          <a:solidFill>
            <a:srgbClr val="043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40E711F0-B4BE-374F-8CEE-6AB165CE15EB}"/>
              </a:ext>
            </a:extLst>
          </p:cNvPr>
          <p:cNvSpPr txBox="1"/>
          <p:nvPr/>
        </p:nvSpPr>
        <p:spPr>
          <a:xfrm>
            <a:off x="7300095" y="2335533"/>
            <a:ext cx="882015" cy="4000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130810">
              <a:lnSpc>
                <a:spcPct val="100000"/>
              </a:lnSpc>
              <a:spcBef>
                <a:spcPts val="305"/>
              </a:spcBef>
            </a:pP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𝒓</a:t>
            </a:r>
            <a:r>
              <a:rPr sz="2000" spc="10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10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𝟖</a:t>
            </a:r>
            <a:endParaRPr sz="200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29755383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09A9D7AB-9996-F94E-943E-1401ADDB824A}"/>
              </a:ext>
            </a:extLst>
          </p:cNvPr>
          <p:cNvSpPr/>
          <p:nvPr/>
        </p:nvSpPr>
        <p:spPr>
          <a:xfrm>
            <a:off x="3537922" y="1399925"/>
            <a:ext cx="790575" cy="329565"/>
          </a:xfrm>
          <a:custGeom>
            <a:avLst/>
            <a:gdLst/>
            <a:ahLst/>
            <a:cxnLst/>
            <a:rect l="l" t="t" r="r" b="b"/>
            <a:pathLst>
              <a:path w="790575" h="329565">
                <a:moveTo>
                  <a:pt x="684911" y="0"/>
                </a:moveTo>
                <a:lnTo>
                  <a:pt x="680212" y="13335"/>
                </a:lnTo>
                <a:lnTo>
                  <a:pt x="699281" y="21669"/>
                </a:lnTo>
                <a:lnTo>
                  <a:pt x="715708" y="33146"/>
                </a:lnTo>
                <a:lnTo>
                  <a:pt x="740537" y="65531"/>
                </a:lnTo>
                <a:lnTo>
                  <a:pt x="755110" y="109362"/>
                </a:lnTo>
                <a:lnTo>
                  <a:pt x="759967" y="163194"/>
                </a:lnTo>
                <a:lnTo>
                  <a:pt x="758751" y="192246"/>
                </a:lnTo>
                <a:lnTo>
                  <a:pt x="748984" y="242347"/>
                </a:lnTo>
                <a:lnTo>
                  <a:pt x="729333" y="281493"/>
                </a:lnTo>
                <a:lnTo>
                  <a:pt x="699512" y="307921"/>
                </a:lnTo>
                <a:lnTo>
                  <a:pt x="680719" y="316229"/>
                </a:lnTo>
                <a:lnTo>
                  <a:pt x="684911" y="329564"/>
                </a:lnTo>
                <a:lnTo>
                  <a:pt x="729853" y="308514"/>
                </a:lnTo>
                <a:lnTo>
                  <a:pt x="762888" y="272034"/>
                </a:lnTo>
                <a:lnTo>
                  <a:pt x="783288" y="223154"/>
                </a:lnTo>
                <a:lnTo>
                  <a:pt x="790066" y="164846"/>
                </a:lnTo>
                <a:lnTo>
                  <a:pt x="788356" y="134651"/>
                </a:lnTo>
                <a:lnTo>
                  <a:pt x="774743" y="81121"/>
                </a:lnTo>
                <a:lnTo>
                  <a:pt x="747793" y="37522"/>
                </a:lnTo>
                <a:lnTo>
                  <a:pt x="708792" y="8618"/>
                </a:lnTo>
                <a:lnTo>
                  <a:pt x="684911" y="0"/>
                </a:lnTo>
                <a:close/>
              </a:path>
              <a:path w="790575" h="329565">
                <a:moveTo>
                  <a:pt x="105155" y="0"/>
                </a:moveTo>
                <a:lnTo>
                  <a:pt x="60309" y="21129"/>
                </a:lnTo>
                <a:lnTo>
                  <a:pt x="27177" y="57785"/>
                </a:lnTo>
                <a:lnTo>
                  <a:pt x="6826" y="106743"/>
                </a:lnTo>
                <a:lnTo>
                  <a:pt x="0" y="164846"/>
                </a:lnTo>
                <a:lnTo>
                  <a:pt x="1692" y="195185"/>
                </a:lnTo>
                <a:lnTo>
                  <a:pt x="15269" y="248767"/>
                </a:lnTo>
                <a:lnTo>
                  <a:pt x="42201" y="292203"/>
                </a:lnTo>
                <a:lnTo>
                  <a:pt x="81202" y="320968"/>
                </a:lnTo>
                <a:lnTo>
                  <a:pt x="105155" y="329564"/>
                </a:lnTo>
                <a:lnTo>
                  <a:pt x="109347" y="316229"/>
                </a:lnTo>
                <a:lnTo>
                  <a:pt x="90537" y="307921"/>
                </a:lnTo>
                <a:lnTo>
                  <a:pt x="74310" y="296338"/>
                </a:lnTo>
                <a:lnTo>
                  <a:pt x="49656" y="263398"/>
                </a:lnTo>
                <a:lnTo>
                  <a:pt x="34972" y="218630"/>
                </a:lnTo>
                <a:lnTo>
                  <a:pt x="30099" y="163194"/>
                </a:lnTo>
                <a:lnTo>
                  <a:pt x="31315" y="135022"/>
                </a:lnTo>
                <a:lnTo>
                  <a:pt x="41082" y="86203"/>
                </a:lnTo>
                <a:lnTo>
                  <a:pt x="60723" y="47767"/>
                </a:lnTo>
                <a:lnTo>
                  <a:pt x="90858" y="21669"/>
                </a:lnTo>
                <a:lnTo>
                  <a:pt x="109854" y="13335"/>
                </a:lnTo>
                <a:lnTo>
                  <a:pt x="10515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79DBB83C-892A-6A4E-A445-80FC356AF57C}"/>
              </a:ext>
            </a:extLst>
          </p:cNvPr>
          <p:cNvSpPr txBox="1"/>
          <p:nvPr/>
        </p:nvSpPr>
        <p:spPr>
          <a:xfrm>
            <a:off x="774403" y="1296673"/>
            <a:ext cx="427355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  <a:tab pos="1414145" algn="l"/>
                <a:tab pos="2530475" algn="l"/>
                <a:tab pos="2879725" algn="l"/>
                <a:tab pos="3683635" algn="l"/>
              </a:tabLst>
            </a:pP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𝒍</a:t>
            </a:r>
            <a:r>
              <a:rPr sz="2800" spc="16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800" spc="15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 spc="-25">
                <a:solidFill>
                  <a:srgbClr val="FF0000"/>
                </a:solidFill>
                <a:latin typeface="Cambria Math"/>
                <a:cs typeface="Cambria Math"/>
              </a:rPr>
              <a:t>𝟑,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	𝒓</a:t>
            </a:r>
            <a:r>
              <a:rPr sz="2800" spc="15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800" spc="15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 spc="-25">
                <a:solidFill>
                  <a:srgbClr val="FF0000"/>
                </a:solidFill>
                <a:latin typeface="Cambria Math"/>
                <a:cs typeface="Cambria Math"/>
              </a:rPr>
              <a:t>𝟖,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	</a:t>
            </a:r>
            <a:r>
              <a:rPr sz="2800" spc="-5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	</a:t>
            </a:r>
            <a:r>
              <a:rPr sz="2800" spc="-10">
                <a:solidFill>
                  <a:srgbClr val="FF0000"/>
                </a:solidFill>
                <a:latin typeface="Cambria Math"/>
                <a:cs typeface="Cambria Math"/>
              </a:rPr>
              <a:t>𝟑,</a:t>
            </a:r>
            <a:r>
              <a:rPr sz="2800" spc="-15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 spc="-50">
                <a:solidFill>
                  <a:srgbClr val="FF0000"/>
                </a:solidFill>
                <a:latin typeface="Cambria Math"/>
                <a:cs typeface="Cambria Math"/>
              </a:rPr>
              <a:t>𝟖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	=</a:t>
            </a:r>
            <a:r>
              <a:rPr sz="2800" spc="15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 spc="-50">
                <a:solidFill>
                  <a:srgbClr val="FF0000"/>
                </a:solidFill>
                <a:latin typeface="Cambria Math"/>
                <a:cs typeface="Cambria Math"/>
              </a:rPr>
              <a:t>𝟕</a:t>
            </a:r>
            <a:endParaRPr sz="2800">
              <a:latin typeface="Cambria Math"/>
              <a:cs typeface="Cambria Math"/>
            </a:endParaRPr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7B609B5B-8A2F-1348-84C2-093374E98411}"/>
              </a:ext>
            </a:extLst>
          </p:cNvPr>
          <p:cNvGraphicFramePr>
            <a:graphicFrameLocks noGrp="1"/>
          </p:cNvGraphicFramePr>
          <p:nvPr/>
        </p:nvGraphicFramePr>
        <p:xfrm>
          <a:off x="2912067" y="3248776"/>
          <a:ext cx="6254750" cy="10369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610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6375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9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94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spc="-50">
                          <a:latin typeface="Cambria Math"/>
                          <a:cs typeface="Cambria Math"/>
                        </a:rPr>
                        <a:t>𝑿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7874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637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3D35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object 6">
            <a:extLst>
              <a:ext uri="{FF2B5EF4-FFF2-40B4-BE49-F238E27FC236}">
                <a16:creationId xmlns:a16="http://schemas.microsoft.com/office/drawing/2014/main" id="{12894FF1-7850-7E49-9806-ECEAB36D9203}"/>
              </a:ext>
            </a:extLst>
          </p:cNvPr>
          <p:cNvSpPr txBox="1"/>
          <p:nvPr/>
        </p:nvSpPr>
        <p:spPr>
          <a:xfrm>
            <a:off x="6991306" y="4853943"/>
            <a:ext cx="1504950" cy="4000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39369" rIns="0" bIns="0" rtlCol="0">
            <a:spAutoFit/>
          </a:bodyPr>
          <a:lstStyle/>
          <a:p>
            <a:pPr marL="133350">
              <a:lnSpc>
                <a:spcPct val="100000"/>
              </a:lnSpc>
              <a:spcBef>
                <a:spcPts val="309"/>
              </a:spcBef>
            </a:pPr>
            <a:r>
              <a:rPr sz="2000" spc="-20">
                <a:solidFill>
                  <a:srgbClr val="FF0000"/>
                </a:solidFill>
                <a:latin typeface="Cambria Math"/>
                <a:cs typeface="Cambria Math"/>
              </a:rPr>
              <a:t>𝑺(𝟑,</a:t>
            </a:r>
            <a:r>
              <a:rPr sz="2000" spc="-10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𝟖)</a:t>
            </a:r>
            <a:r>
              <a:rPr sz="2000" spc="11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12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𝟕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E29B1CF6-75AC-B942-8C01-27EB8E76972D}"/>
              </a:ext>
            </a:extLst>
          </p:cNvPr>
          <p:cNvSpPr/>
          <p:nvPr/>
        </p:nvSpPr>
        <p:spPr>
          <a:xfrm>
            <a:off x="7665677" y="4305304"/>
            <a:ext cx="114300" cy="549275"/>
          </a:xfrm>
          <a:custGeom>
            <a:avLst/>
            <a:gdLst/>
            <a:ahLst/>
            <a:cxnLst/>
            <a:rect l="l" t="t" r="r" b="b"/>
            <a:pathLst>
              <a:path w="114300" h="549275">
                <a:moveTo>
                  <a:pt x="76200" y="95250"/>
                </a:moveTo>
                <a:lnTo>
                  <a:pt x="38100" y="95250"/>
                </a:lnTo>
                <a:lnTo>
                  <a:pt x="38100" y="549148"/>
                </a:lnTo>
                <a:lnTo>
                  <a:pt x="76200" y="549148"/>
                </a:lnTo>
                <a:lnTo>
                  <a:pt x="76200" y="95250"/>
                </a:lnTo>
                <a:close/>
              </a:path>
              <a:path w="114300" h="549275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549275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43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3F43B801-5DFC-7741-B1C7-670F34299205}"/>
              </a:ext>
            </a:extLst>
          </p:cNvPr>
          <p:cNvSpPr/>
          <p:nvPr/>
        </p:nvSpPr>
        <p:spPr>
          <a:xfrm>
            <a:off x="4779221" y="2740918"/>
            <a:ext cx="114300" cy="549275"/>
          </a:xfrm>
          <a:custGeom>
            <a:avLst/>
            <a:gdLst/>
            <a:ahLst/>
            <a:cxnLst/>
            <a:rect l="l" t="t" r="r" b="b"/>
            <a:pathLst>
              <a:path w="114300" h="549275">
                <a:moveTo>
                  <a:pt x="38100" y="434848"/>
                </a:moveTo>
                <a:lnTo>
                  <a:pt x="0" y="434848"/>
                </a:lnTo>
                <a:lnTo>
                  <a:pt x="57150" y="549148"/>
                </a:lnTo>
                <a:lnTo>
                  <a:pt x="104775" y="453898"/>
                </a:lnTo>
                <a:lnTo>
                  <a:pt x="38100" y="453898"/>
                </a:lnTo>
                <a:lnTo>
                  <a:pt x="38100" y="434848"/>
                </a:lnTo>
                <a:close/>
              </a:path>
              <a:path w="114300" h="549275">
                <a:moveTo>
                  <a:pt x="76200" y="0"/>
                </a:moveTo>
                <a:lnTo>
                  <a:pt x="38100" y="0"/>
                </a:lnTo>
                <a:lnTo>
                  <a:pt x="38100" y="453898"/>
                </a:lnTo>
                <a:lnTo>
                  <a:pt x="76200" y="453898"/>
                </a:lnTo>
                <a:lnTo>
                  <a:pt x="76200" y="0"/>
                </a:lnTo>
                <a:close/>
              </a:path>
              <a:path w="114300" h="549275">
                <a:moveTo>
                  <a:pt x="114300" y="434848"/>
                </a:moveTo>
                <a:lnTo>
                  <a:pt x="76200" y="434848"/>
                </a:lnTo>
                <a:lnTo>
                  <a:pt x="76200" y="453898"/>
                </a:lnTo>
                <a:lnTo>
                  <a:pt x="104775" y="453898"/>
                </a:lnTo>
                <a:lnTo>
                  <a:pt x="114300" y="434848"/>
                </a:lnTo>
                <a:close/>
              </a:path>
            </a:pathLst>
          </a:custGeom>
          <a:solidFill>
            <a:srgbClr val="043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48D179C5-A97E-034F-90B9-10E74712EA65}"/>
              </a:ext>
            </a:extLst>
          </p:cNvPr>
          <p:cNvSpPr txBox="1"/>
          <p:nvPr/>
        </p:nvSpPr>
        <p:spPr>
          <a:xfrm>
            <a:off x="4397459" y="2340868"/>
            <a:ext cx="838200" cy="4000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129539">
              <a:lnSpc>
                <a:spcPct val="100000"/>
              </a:lnSpc>
              <a:spcBef>
                <a:spcPts val="305"/>
              </a:spcBef>
            </a:pP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𝒍</a:t>
            </a:r>
            <a:r>
              <a:rPr sz="2000" spc="10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10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𝟑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27A37CB6-781A-9941-985F-7ADEE11C6D45}"/>
              </a:ext>
            </a:extLst>
          </p:cNvPr>
          <p:cNvSpPr/>
          <p:nvPr/>
        </p:nvSpPr>
        <p:spPr>
          <a:xfrm>
            <a:off x="7660343" y="2735584"/>
            <a:ext cx="114300" cy="549275"/>
          </a:xfrm>
          <a:custGeom>
            <a:avLst/>
            <a:gdLst/>
            <a:ahLst/>
            <a:cxnLst/>
            <a:rect l="l" t="t" r="r" b="b"/>
            <a:pathLst>
              <a:path w="114300" h="549275">
                <a:moveTo>
                  <a:pt x="38100" y="434847"/>
                </a:moveTo>
                <a:lnTo>
                  <a:pt x="0" y="434847"/>
                </a:lnTo>
                <a:lnTo>
                  <a:pt x="57150" y="549147"/>
                </a:lnTo>
                <a:lnTo>
                  <a:pt x="104775" y="453897"/>
                </a:lnTo>
                <a:lnTo>
                  <a:pt x="38100" y="453897"/>
                </a:lnTo>
                <a:lnTo>
                  <a:pt x="38100" y="434847"/>
                </a:lnTo>
                <a:close/>
              </a:path>
              <a:path w="114300" h="549275">
                <a:moveTo>
                  <a:pt x="76200" y="0"/>
                </a:moveTo>
                <a:lnTo>
                  <a:pt x="38100" y="0"/>
                </a:lnTo>
                <a:lnTo>
                  <a:pt x="38100" y="453897"/>
                </a:lnTo>
                <a:lnTo>
                  <a:pt x="76200" y="453897"/>
                </a:lnTo>
                <a:lnTo>
                  <a:pt x="76200" y="0"/>
                </a:lnTo>
                <a:close/>
              </a:path>
              <a:path w="114300" h="549275">
                <a:moveTo>
                  <a:pt x="114300" y="434847"/>
                </a:moveTo>
                <a:lnTo>
                  <a:pt x="76200" y="434847"/>
                </a:lnTo>
                <a:lnTo>
                  <a:pt x="76200" y="453897"/>
                </a:lnTo>
                <a:lnTo>
                  <a:pt x="104775" y="453897"/>
                </a:lnTo>
                <a:lnTo>
                  <a:pt x="114300" y="434847"/>
                </a:lnTo>
                <a:close/>
              </a:path>
            </a:pathLst>
          </a:custGeom>
          <a:solidFill>
            <a:srgbClr val="043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D35AF001-C441-564B-8251-2C9E5063B573}"/>
              </a:ext>
            </a:extLst>
          </p:cNvPr>
          <p:cNvSpPr txBox="1"/>
          <p:nvPr/>
        </p:nvSpPr>
        <p:spPr>
          <a:xfrm>
            <a:off x="7278581" y="2335534"/>
            <a:ext cx="882015" cy="4000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130810">
              <a:lnSpc>
                <a:spcPct val="100000"/>
              </a:lnSpc>
              <a:spcBef>
                <a:spcPts val="305"/>
              </a:spcBef>
            </a:pP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𝒓</a:t>
            </a:r>
            <a:r>
              <a:rPr sz="2000" spc="10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10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𝟖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9ADC04E-3D89-8E4E-9475-9771CADBD5BC}"/>
              </a:ext>
            </a:extLst>
          </p:cNvPr>
          <p:cNvSpPr txBox="1"/>
          <p:nvPr/>
        </p:nvSpPr>
        <p:spPr>
          <a:xfrm>
            <a:off x="1123278" y="202609"/>
            <a:ext cx="994544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优化枚举：算法实例</a:t>
            </a:r>
          </a:p>
        </p:txBody>
      </p:sp>
    </p:spTree>
    <p:extLst>
      <p:ext uri="{BB962C8B-B14F-4D97-AF65-F5344CB8AC3E}">
        <p14:creationId xmlns:p14="http://schemas.microsoft.com/office/powerpoint/2010/main" val="42496059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39C23A1A-0A4E-2045-A0CC-8710CEECC98C}"/>
              </a:ext>
            </a:extLst>
          </p:cNvPr>
          <p:cNvSpPr/>
          <p:nvPr/>
        </p:nvSpPr>
        <p:spPr>
          <a:xfrm>
            <a:off x="3548678" y="1335378"/>
            <a:ext cx="790575" cy="329565"/>
          </a:xfrm>
          <a:custGeom>
            <a:avLst/>
            <a:gdLst/>
            <a:ahLst/>
            <a:cxnLst/>
            <a:rect l="l" t="t" r="r" b="b"/>
            <a:pathLst>
              <a:path w="790575" h="329565">
                <a:moveTo>
                  <a:pt x="684911" y="0"/>
                </a:moveTo>
                <a:lnTo>
                  <a:pt x="680212" y="13335"/>
                </a:lnTo>
                <a:lnTo>
                  <a:pt x="699281" y="21669"/>
                </a:lnTo>
                <a:lnTo>
                  <a:pt x="715708" y="33146"/>
                </a:lnTo>
                <a:lnTo>
                  <a:pt x="740537" y="65531"/>
                </a:lnTo>
                <a:lnTo>
                  <a:pt x="755110" y="109362"/>
                </a:lnTo>
                <a:lnTo>
                  <a:pt x="759967" y="163194"/>
                </a:lnTo>
                <a:lnTo>
                  <a:pt x="758751" y="192246"/>
                </a:lnTo>
                <a:lnTo>
                  <a:pt x="748984" y="242347"/>
                </a:lnTo>
                <a:lnTo>
                  <a:pt x="729333" y="281493"/>
                </a:lnTo>
                <a:lnTo>
                  <a:pt x="699512" y="307921"/>
                </a:lnTo>
                <a:lnTo>
                  <a:pt x="680719" y="316229"/>
                </a:lnTo>
                <a:lnTo>
                  <a:pt x="684911" y="329564"/>
                </a:lnTo>
                <a:lnTo>
                  <a:pt x="729853" y="308514"/>
                </a:lnTo>
                <a:lnTo>
                  <a:pt x="762888" y="272034"/>
                </a:lnTo>
                <a:lnTo>
                  <a:pt x="783288" y="223154"/>
                </a:lnTo>
                <a:lnTo>
                  <a:pt x="790066" y="164846"/>
                </a:lnTo>
                <a:lnTo>
                  <a:pt x="788356" y="134651"/>
                </a:lnTo>
                <a:lnTo>
                  <a:pt x="774743" y="81121"/>
                </a:lnTo>
                <a:lnTo>
                  <a:pt x="747793" y="37522"/>
                </a:lnTo>
                <a:lnTo>
                  <a:pt x="708792" y="8618"/>
                </a:lnTo>
                <a:lnTo>
                  <a:pt x="684911" y="0"/>
                </a:lnTo>
                <a:close/>
              </a:path>
              <a:path w="790575" h="329565">
                <a:moveTo>
                  <a:pt x="105155" y="0"/>
                </a:moveTo>
                <a:lnTo>
                  <a:pt x="60309" y="21129"/>
                </a:lnTo>
                <a:lnTo>
                  <a:pt x="27177" y="57785"/>
                </a:lnTo>
                <a:lnTo>
                  <a:pt x="6826" y="106743"/>
                </a:lnTo>
                <a:lnTo>
                  <a:pt x="0" y="164846"/>
                </a:lnTo>
                <a:lnTo>
                  <a:pt x="1692" y="195185"/>
                </a:lnTo>
                <a:lnTo>
                  <a:pt x="15269" y="248767"/>
                </a:lnTo>
                <a:lnTo>
                  <a:pt x="42201" y="292203"/>
                </a:lnTo>
                <a:lnTo>
                  <a:pt x="81202" y="320968"/>
                </a:lnTo>
                <a:lnTo>
                  <a:pt x="105155" y="329564"/>
                </a:lnTo>
                <a:lnTo>
                  <a:pt x="109347" y="316229"/>
                </a:lnTo>
                <a:lnTo>
                  <a:pt x="90537" y="307921"/>
                </a:lnTo>
                <a:lnTo>
                  <a:pt x="74310" y="296338"/>
                </a:lnTo>
                <a:lnTo>
                  <a:pt x="49656" y="263398"/>
                </a:lnTo>
                <a:lnTo>
                  <a:pt x="34972" y="218630"/>
                </a:lnTo>
                <a:lnTo>
                  <a:pt x="30099" y="163194"/>
                </a:lnTo>
                <a:lnTo>
                  <a:pt x="31315" y="135022"/>
                </a:lnTo>
                <a:lnTo>
                  <a:pt x="41082" y="86203"/>
                </a:lnTo>
                <a:lnTo>
                  <a:pt x="60723" y="47767"/>
                </a:lnTo>
                <a:lnTo>
                  <a:pt x="90858" y="21669"/>
                </a:lnTo>
                <a:lnTo>
                  <a:pt x="109854" y="13335"/>
                </a:lnTo>
                <a:lnTo>
                  <a:pt x="10515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B1780029-07AD-4245-8877-7F8460B17472}"/>
              </a:ext>
            </a:extLst>
          </p:cNvPr>
          <p:cNvSpPr txBox="1"/>
          <p:nvPr/>
        </p:nvSpPr>
        <p:spPr>
          <a:xfrm>
            <a:off x="785159" y="1232126"/>
            <a:ext cx="4191635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  <a:tab pos="1414145" algn="l"/>
                <a:tab pos="2530475" algn="l"/>
                <a:tab pos="2879725" algn="l"/>
                <a:tab pos="3683635" algn="l"/>
              </a:tabLst>
            </a:pP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𝒍</a:t>
            </a:r>
            <a:r>
              <a:rPr sz="2800" spc="16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800" spc="15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 spc="-25">
                <a:solidFill>
                  <a:srgbClr val="FF0000"/>
                </a:solidFill>
                <a:latin typeface="Cambria Math"/>
                <a:cs typeface="Cambria Math"/>
              </a:rPr>
              <a:t>𝟑,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	𝒓</a:t>
            </a:r>
            <a:r>
              <a:rPr sz="2800" spc="15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800" spc="15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 spc="-25">
                <a:solidFill>
                  <a:srgbClr val="FF0000"/>
                </a:solidFill>
                <a:latin typeface="Cambria Math"/>
                <a:cs typeface="Cambria Math"/>
              </a:rPr>
              <a:t>𝟗,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	</a:t>
            </a:r>
            <a:r>
              <a:rPr sz="2800" spc="-5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	</a:t>
            </a:r>
            <a:r>
              <a:rPr sz="2800" spc="-10">
                <a:solidFill>
                  <a:srgbClr val="FF0000"/>
                </a:solidFill>
                <a:latin typeface="Cambria Math"/>
                <a:cs typeface="Cambria Math"/>
              </a:rPr>
              <a:t>𝟑,</a:t>
            </a:r>
            <a:r>
              <a:rPr sz="2800" spc="-15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 spc="-50">
                <a:solidFill>
                  <a:srgbClr val="FF0000"/>
                </a:solidFill>
                <a:latin typeface="Cambria Math"/>
                <a:cs typeface="Cambria Math"/>
              </a:rPr>
              <a:t>𝟗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	=</a:t>
            </a:r>
            <a:r>
              <a:rPr sz="2800" spc="-2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 spc="-50">
                <a:solidFill>
                  <a:srgbClr val="FF0000"/>
                </a:solidFill>
                <a:latin typeface="Cambria Math"/>
                <a:cs typeface="Cambria Math"/>
              </a:rPr>
              <a:t>?</a:t>
            </a:r>
            <a:endParaRPr sz="2800">
              <a:latin typeface="Cambria Math"/>
              <a:cs typeface="Cambria Math"/>
            </a:endParaRPr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AD849AF2-D13A-5643-9A07-1F39C8E76788}"/>
              </a:ext>
            </a:extLst>
          </p:cNvPr>
          <p:cNvGraphicFramePr>
            <a:graphicFrameLocks noGrp="1"/>
          </p:cNvGraphicFramePr>
          <p:nvPr/>
        </p:nvGraphicFramePr>
        <p:xfrm>
          <a:off x="2922823" y="3184229"/>
          <a:ext cx="6254750" cy="10369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610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6375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9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94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spc="-50">
                          <a:latin typeface="Cambria Math"/>
                          <a:cs typeface="Cambria Math"/>
                        </a:rPr>
                        <a:t>𝑿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7874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637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3D35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object 6">
            <a:extLst>
              <a:ext uri="{FF2B5EF4-FFF2-40B4-BE49-F238E27FC236}">
                <a16:creationId xmlns:a16="http://schemas.microsoft.com/office/drawing/2014/main" id="{A4325BA2-2C2D-D742-885E-3F503578B2F4}"/>
              </a:ext>
            </a:extLst>
          </p:cNvPr>
          <p:cNvSpPr/>
          <p:nvPr/>
        </p:nvSpPr>
        <p:spPr>
          <a:xfrm>
            <a:off x="4789977" y="2676371"/>
            <a:ext cx="114300" cy="549275"/>
          </a:xfrm>
          <a:custGeom>
            <a:avLst/>
            <a:gdLst/>
            <a:ahLst/>
            <a:cxnLst/>
            <a:rect l="l" t="t" r="r" b="b"/>
            <a:pathLst>
              <a:path w="114300" h="549275">
                <a:moveTo>
                  <a:pt x="38100" y="434848"/>
                </a:moveTo>
                <a:lnTo>
                  <a:pt x="0" y="434848"/>
                </a:lnTo>
                <a:lnTo>
                  <a:pt x="57150" y="549148"/>
                </a:lnTo>
                <a:lnTo>
                  <a:pt x="104775" y="453898"/>
                </a:lnTo>
                <a:lnTo>
                  <a:pt x="38100" y="453898"/>
                </a:lnTo>
                <a:lnTo>
                  <a:pt x="38100" y="434848"/>
                </a:lnTo>
                <a:close/>
              </a:path>
              <a:path w="114300" h="549275">
                <a:moveTo>
                  <a:pt x="76200" y="0"/>
                </a:moveTo>
                <a:lnTo>
                  <a:pt x="38100" y="0"/>
                </a:lnTo>
                <a:lnTo>
                  <a:pt x="38100" y="453898"/>
                </a:lnTo>
                <a:lnTo>
                  <a:pt x="76200" y="453898"/>
                </a:lnTo>
                <a:lnTo>
                  <a:pt x="76200" y="0"/>
                </a:lnTo>
                <a:close/>
              </a:path>
              <a:path w="114300" h="549275">
                <a:moveTo>
                  <a:pt x="114300" y="434848"/>
                </a:moveTo>
                <a:lnTo>
                  <a:pt x="76200" y="434848"/>
                </a:lnTo>
                <a:lnTo>
                  <a:pt x="76200" y="453898"/>
                </a:lnTo>
                <a:lnTo>
                  <a:pt x="104775" y="453898"/>
                </a:lnTo>
                <a:lnTo>
                  <a:pt x="114300" y="434848"/>
                </a:lnTo>
                <a:close/>
              </a:path>
            </a:pathLst>
          </a:custGeom>
          <a:solidFill>
            <a:srgbClr val="043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743F7B1-2CBF-FA4D-B3FE-84F0F49DDE04}"/>
              </a:ext>
            </a:extLst>
          </p:cNvPr>
          <p:cNvSpPr txBox="1"/>
          <p:nvPr/>
        </p:nvSpPr>
        <p:spPr>
          <a:xfrm>
            <a:off x="4408215" y="2276321"/>
            <a:ext cx="838200" cy="4000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129539">
              <a:lnSpc>
                <a:spcPct val="100000"/>
              </a:lnSpc>
              <a:spcBef>
                <a:spcPts val="305"/>
              </a:spcBef>
            </a:pP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𝒍</a:t>
            </a:r>
            <a:r>
              <a:rPr sz="2000" spc="10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10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𝟑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D33E8A63-1ADD-5C43-83D3-00B26D5C45E0}"/>
              </a:ext>
            </a:extLst>
          </p:cNvPr>
          <p:cNvSpPr/>
          <p:nvPr/>
        </p:nvSpPr>
        <p:spPr>
          <a:xfrm>
            <a:off x="8242599" y="2671037"/>
            <a:ext cx="114300" cy="549275"/>
          </a:xfrm>
          <a:custGeom>
            <a:avLst/>
            <a:gdLst/>
            <a:ahLst/>
            <a:cxnLst/>
            <a:rect l="l" t="t" r="r" b="b"/>
            <a:pathLst>
              <a:path w="114300" h="549275">
                <a:moveTo>
                  <a:pt x="38100" y="434847"/>
                </a:moveTo>
                <a:lnTo>
                  <a:pt x="0" y="434847"/>
                </a:lnTo>
                <a:lnTo>
                  <a:pt x="57150" y="549147"/>
                </a:lnTo>
                <a:lnTo>
                  <a:pt x="104775" y="453897"/>
                </a:lnTo>
                <a:lnTo>
                  <a:pt x="38100" y="453897"/>
                </a:lnTo>
                <a:lnTo>
                  <a:pt x="38100" y="434847"/>
                </a:lnTo>
                <a:close/>
              </a:path>
              <a:path w="114300" h="549275">
                <a:moveTo>
                  <a:pt x="76200" y="0"/>
                </a:moveTo>
                <a:lnTo>
                  <a:pt x="38100" y="0"/>
                </a:lnTo>
                <a:lnTo>
                  <a:pt x="38100" y="453897"/>
                </a:lnTo>
                <a:lnTo>
                  <a:pt x="76200" y="453897"/>
                </a:lnTo>
                <a:lnTo>
                  <a:pt x="76200" y="0"/>
                </a:lnTo>
                <a:close/>
              </a:path>
              <a:path w="114300" h="549275">
                <a:moveTo>
                  <a:pt x="114300" y="434847"/>
                </a:moveTo>
                <a:lnTo>
                  <a:pt x="76200" y="434847"/>
                </a:lnTo>
                <a:lnTo>
                  <a:pt x="76200" y="453897"/>
                </a:lnTo>
                <a:lnTo>
                  <a:pt x="104775" y="453897"/>
                </a:lnTo>
                <a:lnTo>
                  <a:pt x="114300" y="434847"/>
                </a:lnTo>
                <a:close/>
              </a:path>
            </a:pathLst>
          </a:custGeom>
          <a:solidFill>
            <a:srgbClr val="043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33CDFCCE-0117-5247-BBBF-90D6C438C7D7}"/>
              </a:ext>
            </a:extLst>
          </p:cNvPr>
          <p:cNvSpPr txBox="1"/>
          <p:nvPr/>
        </p:nvSpPr>
        <p:spPr>
          <a:xfrm>
            <a:off x="7860837" y="2270987"/>
            <a:ext cx="882015" cy="4000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130810">
              <a:lnSpc>
                <a:spcPct val="100000"/>
              </a:lnSpc>
              <a:spcBef>
                <a:spcPts val="305"/>
              </a:spcBef>
            </a:pP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𝒓</a:t>
            </a:r>
            <a:r>
              <a:rPr sz="2000" spc="10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10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𝟗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6B0F1D2F-6E26-8040-94FF-89FAD822E607}"/>
              </a:ext>
            </a:extLst>
          </p:cNvPr>
          <p:cNvSpPr txBox="1"/>
          <p:nvPr/>
        </p:nvSpPr>
        <p:spPr>
          <a:xfrm>
            <a:off x="7002062" y="4789396"/>
            <a:ext cx="1504950" cy="4000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39369" rIns="0" bIns="0" rtlCol="0">
            <a:spAutoFit/>
          </a:bodyPr>
          <a:lstStyle/>
          <a:p>
            <a:pPr marL="133350">
              <a:lnSpc>
                <a:spcPct val="100000"/>
              </a:lnSpc>
              <a:spcBef>
                <a:spcPts val="309"/>
              </a:spcBef>
            </a:pPr>
            <a:r>
              <a:rPr sz="2000" spc="-20">
                <a:solidFill>
                  <a:srgbClr val="FF0000"/>
                </a:solidFill>
                <a:latin typeface="Cambria Math"/>
                <a:cs typeface="Cambria Math"/>
              </a:rPr>
              <a:t>𝑺(𝟑,</a:t>
            </a:r>
            <a:r>
              <a:rPr sz="2000" spc="-10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𝟖)</a:t>
            </a:r>
            <a:r>
              <a:rPr sz="2000" spc="11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12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𝟕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563FE087-E635-7741-B8D5-F4210468B827}"/>
              </a:ext>
            </a:extLst>
          </p:cNvPr>
          <p:cNvSpPr/>
          <p:nvPr/>
        </p:nvSpPr>
        <p:spPr>
          <a:xfrm>
            <a:off x="7676433" y="4240757"/>
            <a:ext cx="114300" cy="549275"/>
          </a:xfrm>
          <a:custGeom>
            <a:avLst/>
            <a:gdLst/>
            <a:ahLst/>
            <a:cxnLst/>
            <a:rect l="l" t="t" r="r" b="b"/>
            <a:pathLst>
              <a:path w="114300" h="549275">
                <a:moveTo>
                  <a:pt x="76200" y="95250"/>
                </a:moveTo>
                <a:lnTo>
                  <a:pt x="38100" y="95250"/>
                </a:lnTo>
                <a:lnTo>
                  <a:pt x="38100" y="549148"/>
                </a:lnTo>
                <a:lnTo>
                  <a:pt x="76200" y="549148"/>
                </a:lnTo>
                <a:lnTo>
                  <a:pt x="76200" y="95250"/>
                </a:lnTo>
                <a:close/>
              </a:path>
              <a:path w="114300" h="549275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549275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43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86BFD33-745A-4E48-AC3D-ED10D1A60F7F}"/>
              </a:ext>
            </a:extLst>
          </p:cNvPr>
          <p:cNvSpPr txBox="1"/>
          <p:nvPr/>
        </p:nvSpPr>
        <p:spPr>
          <a:xfrm>
            <a:off x="1123278" y="202609"/>
            <a:ext cx="994544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优化枚举：算法实例</a:t>
            </a:r>
          </a:p>
        </p:txBody>
      </p:sp>
    </p:spTree>
    <p:extLst>
      <p:ext uri="{BB962C8B-B14F-4D97-AF65-F5344CB8AC3E}">
        <p14:creationId xmlns:p14="http://schemas.microsoft.com/office/powerpoint/2010/main" val="22722396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0461DF6E-8DD3-5244-962E-20E5304FA3CE}"/>
              </a:ext>
            </a:extLst>
          </p:cNvPr>
          <p:cNvSpPr/>
          <p:nvPr/>
        </p:nvSpPr>
        <p:spPr>
          <a:xfrm>
            <a:off x="3570197" y="1324616"/>
            <a:ext cx="790575" cy="329565"/>
          </a:xfrm>
          <a:custGeom>
            <a:avLst/>
            <a:gdLst/>
            <a:ahLst/>
            <a:cxnLst/>
            <a:rect l="l" t="t" r="r" b="b"/>
            <a:pathLst>
              <a:path w="790575" h="329565">
                <a:moveTo>
                  <a:pt x="684911" y="0"/>
                </a:moveTo>
                <a:lnTo>
                  <a:pt x="680212" y="13335"/>
                </a:lnTo>
                <a:lnTo>
                  <a:pt x="699281" y="21669"/>
                </a:lnTo>
                <a:lnTo>
                  <a:pt x="715708" y="33146"/>
                </a:lnTo>
                <a:lnTo>
                  <a:pt x="740537" y="65531"/>
                </a:lnTo>
                <a:lnTo>
                  <a:pt x="755110" y="109362"/>
                </a:lnTo>
                <a:lnTo>
                  <a:pt x="759967" y="163194"/>
                </a:lnTo>
                <a:lnTo>
                  <a:pt x="758751" y="192246"/>
                </a:lnTo>
                <a:lnTo>
                  <a:pt x="748984" y="242347"/>
                </a:lnTo>
                <a:lnTo>
                  <a:pt x="729333" y="281493"/>
                </a:lnTo>
                <a:lnTo>
                  <a:pt x="699512" y="307921"/>
                </a:lnTo>
                <a:lnTo>
                  <a:pt x="680719" y="316229"/>
                </a:lnTo>
                <a:lnTo>
                  <a:pt x="684911" y="329564"/>
                </a:lnTo>
                <a:lnTo>
                  <a:pt x="729853" y="308514"/>
                </a:lnTo>
                <a:lnTo>
                  <a:pt x="762888" y="272034"/>
                </a:lnTo>
                <a:lnTo>
                  <a:pt x="783288" y="223154"/>
                </a:lnTo>
                <a:lnTo>
                  <a:pt x="790066" y="164846"/>
                </a:lnTo>
                <a:lnTo>
                  <a:pt x="788356" y="134651"/>
                </a:lnTo>
                <a:lnTo>
                  <a:pt x="774743" y="81121"/>
                </a:lnTo>
                <a:lnTo>
                  <a:pt x="747793" y="37522"/>
                </a:lnTo>
                <a:lnTo>
                  <a:pt x="708792" y="8618"/>
                </a:lnTo>
                <a:lnTo>
                  <a:pt x="684911" y="0"/>
                </a:lnTo>
                <a:close/>
              </a:path>
              <a:path w="790575" h="329565">
                <a:moveTo>
                  <a:pt x="105155" y="0"/>
                </a:moveTo>
                <a:lnTo>
                  <a:pt x="60309" y="21129"/>
                </a:lnTo>
                <a:lnTo>
                  <a:pt x="27177" y="57785"/>
                </a:lnTo>
                <a:lnTo>
                  <a:pt x="6826" y="106743"/>
                </a:lnTo>
                <a:lnTo>
                  <a:pt x="0" y="164846"/>
                </a:lnTo>
                <a:lnTo>
                  <a:pt x="1692" y="195185"/>
                </a:lnTo>
                <a:lnTo>
                  <a:pt x="15269" y="248767"/>
                </a:lnTo>
                <a:lnTo>
                  <a:pt x="42201" y="292203"/>
                </a:lnTo>
                <a:lnTo>
                  <a:pt x="81202" y="320968"/>
                </a:lnTo>
                <a:lnTo>
                  <a:pt x="105155" y="329564"/>
                </a:lnTo>
                <a:lnTo>
                  <a:pt x="109347" y="316229"/>
                </a:lnTo>
                <a:lnTo>
                  <a:pt x="90537" y="307921"/>
                </a:lnTo>
                <a:lnTo>
                  <a:pt x="74310" y="296338"/>
                </a:lnTo>
                <a:lnTo>
                  <a:pt x="49656" y="263398"/>
                </a:lnTo>
                <a:lnTo>
                  <a:pt x="34972" y="218630"/>
                </a:lnTo>
                <a:lnTo>
                  <a:pt x="30099" y="163194"/>
                </a:lnTo>
                <a:lnTo>
                  <a:pt x="31315" y="135022"/>
                </a:lnTo>
                <a:lnTo>
                  <a:pt x="41082" y="86203"/>
                </a:lnTo>
                <a:lnTo>
                  <a:pt x="60723" y="47767"/>
                </a:lnTo>
                <a:lnTo>
                  <a:pt x="90858" y="21669"/>
                </a:lnTo>
                <a:lnTo>
                  <a:pt x="109854" y="13335"/>
                </a:lnTo>
                <a:lnTo>
                  <a:pt x="10515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3725BC6E-2116-9C46-8694-AF42AF642251}"/>
              </a:ext>
            </a:extLst>
          </p:cNvPr>
          <p:cNvSpPr txBox="1"/>
          <p:nvPr/>
        </p:nvSpPr>
        <p:spPr>
          <a:xfrm>
            <a:off x="806678" y="1221364"/>
            <a:ext cx="4191635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  <a:tab pos="1414145" algn="l"/>
                <a:tab pos="2530475" algn="l"/>
                <a:tab pos="2879725" algn="l"/>
                <a:tab pos="3683635" algn="l"/>
              </a:tabLst>
            </a:pP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𝒍</a:t>
            </a:r>
            <a:r>
              <a:rPr sz="2800" spc="16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800" spc="15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 spc="-25">
                <a:solidFill>
                  <a:srgbClr val="FF0000"/>
                </a:solidFill>
                <a:latin typeface="Cambria Math"/>
                <a:cs typeface="Cambria Math"/>
              </a:rPr>
              <a:t>𝟑,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	𝒓</a:t>
            </a:r>
            <a:r>
              <a:rPr sz="2800" spc="15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800" spc="15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 spc="-25">
                <a:solidFill>
                  <a:srgbClr val="FF0000"/>
                </a:solidFill>
                <a:latin typeface="Cambria Math"/>
                <a:cs typeface="Cambria Math"/>
              </a:rPr>
              <a:t>𝟗,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	</a:t>
            </a:r>
            <a:r>
              <a:rPr sz="2800" spc="-5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	</a:t>
            </a:r>
            <a:r>
              <a:rPr sz="2800" spc="-10">
                <a:solidFill>
                  <a:srgbClr val="FF0000"/>
                </a:solidFill>
                <a:latin typeface="Cambria Math"/>
                <a:cs typeface="Cambria Math"/>
              </a:rPr>
              <a:t>𝟑,</a:t>
            </a:r>
            <a:r>
              <a:rPr sz="2800" spc="-15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 spc="-50">
                <a:solidFill>
                  <a:srgbClr val="FF0000"/>
                </a:solidFill>
                <a:latin typeface="Cambria Math"/>
                <a:cs typeface="Cambria Math"/>
              </a:rPr>
              <a:t>𝟗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	=</a:t>
            </a:r>
            <a:r>
              <a:rPr sz="2800" spc="-2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 spc="-50">
                <a:solidFill>
                  <a:srgbClr val="FF0000"/>
                </a:solidFill>
                <a:latin typeface="Cambria Math"/>
                <a:cs typeface="Cambria Math"/>
              </a:rPr>
              <a:t>?</a:t>
            </a:r>
            <a:endParaRPr sz="2800">
              <a:latin typeface="Cambria Math"/>
              <a:cs typeface="Cambria Math"/>
            </a:endParaRPr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9FBA08FF-0E4D-454C-8654-7E78DE972F01}"/>
              </a:ext>
            </a:extLst>
          </p:cNvPr>
          <p:cNvGraphicFramePr>
            <a:graphicFrameLocks noGrp="1"/>
          </p:cNvGraphicFramePr>
          <p:nvPr/>
        </p:nvGraphicFramePr>
        <p:xfrm>
          <a:off x="2944342" y="3173467"/>
          <a:ext cx="6254750" cy="10369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610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6375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9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94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spc="-50">
                          <a:latin typeface="Cambria Math"/>
                          <a:cs typeface="Cambria Math"/>
                        </a:rPr>
                        <a:t>𝑿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7874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637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3D35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3D35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object 6">
            <a:extLst>
              <a:ext uri="{FF2B5EF4-FFF2-40B4-BE49-F238E27FC236}">
                <a16:creationId xmlns:a16="http://schemas.microsoft.com/office/drawing/2014/main" id="{FB180BC7-E971-D641-A1FB-1755583EFC46}"/>
              </a:ext>
            </a:extLst>
          </p:cNvPr>
          <p:cNvSpPr/>
          <p:nvPr/>
        </p:nvSpPr>
        <p:spPr>
          <a:xfrm>
            <a:off x="4811496" y="2665609"/>
            <a:ext cx="114300" cy="549275"/>
          </a:xfrm>
          <a:custGeom>
            <a:avLst/>
            <a:gdLst/>
            <a:ahLst/>
            <a:cxnLst/>
            <a:rect l="l" t="t" r="r" b="b"/>
            <a:pathLst>
              <a:path w="114300" h="549275">
                <a:moveTo>
                  <a:pt x="38100" y="434848"/>
                </a:moveTo>
                <a:lnTo>
                  <a:pt x="0" y="434848"/>
                </a:lnTo>
                <a:lnTo>
                  <a:pt x="57150" y="549148"/>
                </a:lnTo>
                <a:lnTo>
                  <a:pt x="104775" y="453898"/>
                </a:lnTo>
                <a:lnTo>
                  <a:pt x="38100" y="453898"/>
                </a:lnTo>
                <a:lnTo>
                  <a:pt x="38100" y="434848"/>
                </a:lnTo>
                <a:close/>
              </a:path>
              <a:path w="114300" h="549275">
                <a:moveTo>
                  <a:pt x="76200" y="0"/>
                </a:moveTo>
                <a:lnTo>
                  <a:pt x="38100" y="0"/>
                </a:lnTo>
                <a:lnTo>
                  <a:pt x="38100" y="453898"/>
                </a:lnTo>
                <a:lnTo>
                  <a:pt x="76200" y="453898"/>
                </a:lnTo>
                <a:lnTo>
                  <a:pt x="76200" y="0"/>
                </a:lnTo>
                <a:close/>
              </a:path>
              <a:path w="114300" h="549275">
                <a:moveTo>
                  <a:pt x="114300" y="434848"/>
                </a:moveTo>
                <a:lnTo>
                  <a:pt x="76200" y="434848"/>
                </a:lnTo>
                <a:lnTo>
                  <a:pt x="76200" y="453898"/>
                </a:lnTo>
                <a:lnTo>
                  <a:pt x="104775" y="453898"/>
                </a:lnTo>
                <a:lnTo>
                  <a:pt x="114300" y="434848"/>
                </a:lnTo>
                <a:close/>
              </a:path>
            </a:pathLst>
          </a:custGeom>
          <a:solidFill>
            <a:srgbClr val="043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68655D29-6873-4F44-9D1F-5A5A086BA521}"/>
              </a:ext>
            </a:extLst>
          </p:cNvPr>
          <p:cNvSpPr txBox="1"/>
          <p:nvPr/>
        </p:nvSpPr>
        <p:spPr>
          <a:xfrm>
            <a:off x="4429734" y="2265559"/>
            <a:ext cx="838200" cy="4000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129539">
              <a:lnSpc>
                <a:spcPct val="100000"/>
              </a:lnSpc>
              <a:spcBef>
                <a:spcPts val="305"/>
              </a:spcBef>
            </a:pP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𝒍</a:t>
            </a:r>
            <a:r>
              <a:rPr sz="2000" spc="10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10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𝟑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BF1760DF-4B90-094E-955D-D99D6781CAE2}"/>
              </a:ext>
            </a:extLst>
          </p:cNvPr>
          <p:cNvSpPr/>
          <p:nvPr/>
        </p:nvSpPr>
        <p:spPr>
          <a:xfrm>
            <a:off x="8264118" y="2660275"/>
            <a:ext cx="114300" cy="549275"/>
          </a:xfrm>
          <a:custGeom>
            <a:avLst/>
            <a:gdLst/>
            <a:ahLst/>
            <a:cxnLst/>
            <a:rect l="l" t="t" r="r" b="b"/>
            <a:pathLst>
              <a:path w="114300" h="549275">
                <a:moveTo>
                  <a:pt x="38100" y="434847"/>
                </a:moveTo>
                <a:lnTo>
                  <a:pt x="0" y="434847"/>
                </a:lnTo>
                <a:lnTo>
                  <a:pt x="57150" y="549147"/>
                </a:lnTo>
                <a:lnTo>
                  <a:pt x="104775" y="453897"/>
                </a:lnTo>
                <a:lnTo>
                  <a:pt x="38100" y="453897"/>
                </a:lnTo>
                <a:lnTo>
                  <a:pt x="38100" y="434847"/>
                </a:lnTo>
                <a:close/>
              </a:path>
              <a:path w="114300" h="549275">
                <a:moveTo>
                  <a:pt x="76200" y="0"/>
                </a:moveTo>
                <a:lnTo>
                  <a:pt x="38100" y="0"/>
                </a:lnTo>
                <a:lnTo>
                  <a:pt x="38100" y="453897"/>
                </a:lnTo>
                <a:lnTo>
                  <a:pt x="76200" y="453897"/>
                </a:lnTo>
                <a:lnTo>
                  <a:pt x="76200" y="0"/>
                </a:lnTo>
                <a:close/>
              </a:path>
              <a:path w="114300" h="549275">
                <a:moveTo>
                  <a:pt x="114300" y="434847"/>
                </a:moveTo>
                <a:lnTo>
                  <a:pt x="76200" y="434847"/>
                </a:lnTo>
                <a:lnTo>
                  <a:pt x="76200" y="453897"/>
                </a:lnTo>
                <a:lnTo>
                  <a:pt x="104775" y="453897"/>
                </a:lnTo>
                <a:lnTo>
                  <a:pt x="114300" y="434847"/>
                </a:lnTo>
                <a:close/>
              </a:path>
            </a:pathLst>
          </a:custGeom>
          <a:solidFill>
            <a:srgbClr val="043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D87B8D3B-5A5D-F14C-BDC3-4B87E50A2D5D}"/>
              </a:ext>
            </a:extLst>
          </p:cNvPr>
          <p:cNvSpPr txBox="1"/>
          <p:nvPr/>
        </p:nvSpPr>
        <p:spPr>
          <a:xfrm>
            <a:off x="7882356" y="2260225"/>
            <a:ext cx="882015" cy="4000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130810">
              <a:lnSpc>
                <a:spcPct val="100000"/>
              </a:lnSpc>
              <a:spcBef>
                <a:spcPts val="305"/>
              </a:spcBef>
            </a:pP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𝒓</a:t>
            </a:r>
            <a:r>
              <a:rPr sz="2000" spc="10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10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𝟗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B0F0D90F-619C-4446-B0B5-243BD921B43A}"/>
              </a:ext>
            </a:extLst>
          </p:cNvPr>
          <p:cNvSpPr/>
          <p:nvPr/>
        </p:nvSpPr>
        <p:spPr>
          <a:xfrm>
            <a:off x="7045806" y="4881758"/>
            <a:ext cx="565150" cy="235585"/>
          </a:xfrm>
          <a:custGeom>
            <a:avLst/>
            <a:gdLst/>
            <a:ahLst/>
            <a:cxnLst/>
            <a:rect l="l" t="t" r="r" b="b"/>
            <a:pathLst>
              <a:path w="565150" h="235585">
                <a:moveTo>
                  <a:pt x="490092" y="0"/>
                </a:moveTo>
                <a:lnTo>
                  <a:pt x="486790" y="9525"/>
                </a:lnTo>
                <a:lnTo>
                  <a:pt x="500411" y="15484"/>
                </a:lnTo>
                <a:lnTo>
                  <a:pt x="512127" y="23669"/>
                </a:lnTo>
                <a:lnTo>
                  <a:pt x="535864" y="61575"/>
                </a:lnTo>
                <a:lnTo>
                  <a:pt x="543686" y="116332"/>
                </a:lnTo>
                <a:lnTo>
                  <a:pt x="542807" y="137094"/>
                </a:lnTo>
                <a:lnTo>
                  <a:pt x="529716" y="187833"/>
                </a:lnTo>
                <a:lnTo>
                  <a:pt x="500552" y="219622"/>
                </a:lnTo>
                <a:lnTo>
                  <a:pt x="487172" y="225552"/>
                </a:lnTo>
                <a:lnTo>
                  <a:pt x="490092" y="235077"/>
                </a:lnTo>
                <a:lnTo>
                  <a:pt x="535027" y="208412"/>
                </a:lnTo>
                <a:lnTo>
                  <a:pt x="560292" y="159162"/>
                </a:lnTo>
                <a:lnTo>
                  <a:pt x="565150" y="117602"/>
                </a:lnTo>
                <a:lnTo>
                  <a:pt x="563935" y="96049"/>
                </a:lnTo>
                <a:lnTo>
                  <a:pt x="554220" y="57898"/>
                </a:lnTo>
                <a:lnTo>
                  <a:pt x="522097" y="15113"/>
                </a:lnTo>
                <a:lnTo>
                  <a:pt x="507142" y="6163"/>
                </a:lnTo>
                <a:lnTo>
                  <a:pt x="490092" y="0"/>
                </a:lnTo>
                <a:close/>
              </a:path>
              <a:path w="565150" h="235585">
                <a:moveTo>
                  <a:pt x="74929" y="0"/>
                </a:moveTo>
                <a:lnTo>
                  <a:pt x="30067" y="26824"/>
                </a:lnTo>
                <a:lnTo>
                  <a:pt x="4841" y="76152"/>
                </a:lnTo>
                <a:lnTo>
                  <a:pt x="0" y="117602"/>
                </a:lnTo>
                <a:lnTo>
                  <a:pt x="1194" y="139227"/>
                </a:lnTo>
                <a:lnTo>
                  <a:pt x="10822" y="177430"/>
                </a:lnTo>
                <a:lnTo>
                  <a:pt x="42830" y="220043"/>
                </a:lnTo>
                <a:lnTo>
                  <a:pt x="74929" y="235077"/>
                </a:lnTo>
                <a:lnTo>
                  <a:pt x="77850" y="225552"/>
                </a:lnTo>
                <a:lnTo>
                  <a:pt x="64470" y="219622"/>
                </a:lnTo>
                <a:lnTo>
                  <a:pt x="52911" y="211359"/>
                </a:lnTo>
                <a:lnTo>
                  <a:pt x="29211" y="172856"/>
                </a:lnTo>
                <a:lnTo>
                  <a:pt x="21335" y="116332"/>
                </a:lnTo>
                <a:lnTo>
                  <a:pt x="22215" y="96333"/>
                </a:lnTo>
                <a:lnTo>
                  <a:pt x="35305" y="46863"/>
                </a:lnTo>
                <a:lnTo>
                  <a:pt x="64684" y="15484"/>
                </a:lnTo>
                <a:lnTo>
                  <a:pt x="78231" y="9525"/>
                </a:lnTo>
                <a:lnTo>
                  <a:pt x="7492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C0871C81-5422-354A-95C5-9D6381EEE110}"/>
              </a:ext>
            </a:extLst>
          </p:cNvPr>
          <p:cNvSpPr/>
          <p:nvPr/>
        </p:nvSpPr>
        <p:spPr>
          <a:xfrm>
            <a:off x="8132419" y="4881758"/>
            <a:ext cx="565150" cy="235585"/>
          </a:xfrm>
          <a:custGeom>
            <a:avLst/>
            <a:gdLst/>
            <a:ahLst/>
            <a:cxnLst/>
            <a:rect l="l" t="t" r="r" b="b"/>
            <a:pathLst>
              <a:path w="565150" h="235585">
                <a:moveTo>
                  <a:pt x="490093" y="0"/>
                </a:moveTo>
                <a:lnTo>
                  <a:pt x="486791" y="9525"/>
                </a:lnTo>
                <a:lnTo>
                  <a:pt x="500411" y="15484"/>
                </a:lnTo>
                <a:lnTo>
                  <a:pt x="512127" y="23669"/>
                </a:lnTo>
                <a:lnTo>
                  <a:pt x="535864" y="61575"/>
                </a:lnTo>
                <a:lnTo>
                  <a:pt x="543687" y="116332"/>
                </a:lnTo>
                <a:lnTo>
                  <a:pt x="542807" y="137094"/>
                </a:lnTo>
                <a:lnTo>
                  <a:pt x="529717" y="187833"/>
                </a:lnTo>
                <a:lnTo>
                  <a:pt x="500552" y="219622"/>
                </a:lnTo>
                <a:lnTo>
                  <a:pt x="487172" y="225552"/>
                </a:lnTo>
                <a:lnTo>
                  <a:pt x="490093" y="235077"/>
                </a:lnTo>
                <a:lnTo>
                  <a:pt x="535027" y="208412"/>
                </a:lnTo>
                <a:lnTo>
                  <a:pt x="560292" y="159162"/>
                </a:lnTo>
                <a:lnTo>
                  <a:pt x="565150" y="117602"/>
                </a:lnTo>
                <a:lnTo>
                  <a:pt x="563935" y="96049"/>
                </a:lnTo>
                <a:lnTo>
                  <a:pt x="554220" y="57898"/>
                </a:lnTo>
                <a:lnTo>
                  <a:pt x="522097" y="15113"/>
                </a:lnTo>
                <a:lnTo>
                  <a:pt x="507142" y="6163"/>
                </a:lnTo>
                <a:lnTo>
                  <a:pt x="490093" y="0"/>
                </a:lnTo>
                <a:close/>
              </a:path>
              <a:path w="565150" h="235585">
                <a:moveTo>
                  <a:pt x="74929" y="0"/>
                </a:moveTo>
                <a:lnTo>
                  <a:pt x="30067" y="26824"/>
                </a:lnTo>
                <a:lnTo>
                  <a:pt x="4841" y="76152"/>
                </a:lnTo>
                <a:lnTo>
                  <a:pt x="0" y="117602"/>
                </a:lnTo>
                <a:lnTo>
                  <a:pt x="1194" y="139227"/>
                </a:lnTo>
                <a:lnTo>
                  <a:pt x="10822" y="177430"/>
                </a:lnTo>
                <a:lnTo>
                  <a:pt x="42830" y="220043"/>
                </a:lnTo>
                <a:lnTo>
                  <a:pt x="74929" y="235077"/>
                </a:lnTo>
                <a:lnTo>
                  <a:pt x="77850" y="225552"/>
                </a:lnTo>
                <a:lnTo>
                  <a:pt x="64470" y="219622"/>
                </a:lnTo>
                <a:lnTo>
                  <a:pt x="52911" y="211359"/>
                </a:lnTo>
                <a:lnTo>
                  <a:pt x="29211" y="172856"/>
                </a:lnTo>
                <a:lnTo>
                  <a:pt x="21336" y="116332"/>
                </a:lnTo>
                <a:lnTo>
                  <a:pt x="22215" y="96333"/>
                </a:lnTo>
                <a:lnTo>
                  <a:pt x="35305" y="46863"/>
                </a:lnTo>
                <a:lnTo>
                  <a:pt x="64684" y="15484"/>
                </a:lnTo>
                <a:lnTo>
                  <a:pt x="78232" y="9525"/>
                </a:lnTo>
                <a:lnTo>
                  <a:pt x="7492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719997C2-80A3-474C-A8F4-74B863596287}"/>
              </a:ext>
            </a:extLst>
          </p:cNvPr>
          <p:cNvSpPr txBox="1"/>
          <p:nvPr/>
        </p:nvSpPr>
        <p:spPr>
          <a:xfrm>
            <a:off x="6737831" y="4778634"/>
            <a:ext cx="3217545" cy="4000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39369" rIns="0" bIns="0" rtlCol="0">
            <a:spAutoFit/>
          </a:bodyPr>
          <a:lstStyle/>
          <a:p>
            <a:pPr marL="141605">
              <a:lnSpc>
                <a:spcPct val="100000"/>
              </a:lnSpc>
              <a:spcBef>
                <a:spcPts val="309"/>
              </a:spcBef>
              <a:tabLst>
                <a:tab pos="967105" algn="l"/>
                <a:tab pos="2038985" algn="l"/>
              </a:tabLst>
            </a:pP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2000" spc="38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10">
                <a:solidFill>
                  <a:srgbClr val="FF0000"/>
                </a:solidFill>
                <a:latin typeface="Cambria Math"/>
                <a:cs typeface="Cambria Math"/>
              </a:rPr>
              <a:t>𝟑,</a:t>
            </a:r>
            <a:r>
              <a:rPr sz="2000" spc="-11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𝟗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	=</a:t>
            </a:r>
            <a:r>
              <a:rPr sz="2000" spc="10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2000" spc="37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10">
                <a:solidFill>
                  <a:srgbClr val="FF0000"/>
                </a:solidFill>
                <a:latin typeface="Cambria Math"/>
                <a:cs typeface="Cambria Math"/>
              </a:rPr>
              <a:t>𝟑,</a:t>
            </a:r>
            <a:r>
              <a:rPr sz="2000" spc="-10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50">
                <a:solidFill>
                  <a:srgbClr val="FF0000"/>
                </a:solidFill>
                <a:latin typeface="Cambria Math"/>
                <a:cs typeface="Cambria Math"/>
              </a:rPr>
              <a:t>𝟖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	+</a:t>
            </a:r>
            <a:r>
              <a:rPr sz="2000" spc="-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𝟑</a:t>
            </a:r>
            <a:r>
              <a:rPr sz="2000" spc="10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10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25">
                <a:solidFill>
                  <a:srgbClr val="FF0000"/>
                </a:solidFill>
                <a:latin typeface="Cambria Math"/>
                <a:cs typeface="Cambria Math"/>
              </a:rPr>
              <a:t>𝟏𝟎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7EA590D0-7E0B-3F4F-AA49-96F0C42EFD4E}"/>
              </a:ext>
            </a:extLst>
          </p:cNvPr>
          <p:cNvSpPr/>
          <p:nvPr/>
        </p:nvSpPr>
        <p:spPr>
          <a:xfrm>
            <a:off x="8254973" y="4229995"/>
            <a:ext cx="114300" cy="549275"/>
          </a:xfrm>
          <a:custGeom>
            <a:avLst/>
            <a:gdLst/>
            <a:ahLst/>
            <a:cxnLst/>
            <a:rect l="l" t="t" r="r" b="b"/>
            <a:pathLst>
              <a:path w="114300" h="549275">
                <a:moveTo>
                  <a:pt x="76200" y="95250"/>
                </a:moveTo>
                <a:lnTo>
                  <a:pt x="38100" y="95250"/>
                </a:lnTo>
                <a:lnTo>
                  <a:pt x="38100" y="549148"/>
                </a:lnTo>
                <a:lnTo>
                  <a:pt x="76200" y="549148"/>
                </a:lnTo>
                <a:lnTo>
                  <a:pt x="76200" y="95250"/>
                </a:lnTo>
                <a:close/>
              </a:path>
              <a:path w="114300" h="549275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549275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43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FF3E044-5946-8944-9807-5BBA0C720BE0}"/>
              </a:ext>
            </a:extLst>
          </p:cNvPr>
          <p:cNvSpPr txBox="1"/>
          <p:nvPr/>
        </p:nvSpPr>
        <p:spPr>
          <a:xfrm>
            <a:off x="1123278" y="202609"/>
            <a:ext cx="994544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优化枚举：算法实例</a:t>
            </a:r>
          </a:p>
        </p:txBody>
      </p:sp>
    </p:spTree>
    <p:extLst>
      <p:ext uri="{BB962C8B-B14F-4D97-AF65-F5344CB8AC3E}">
        <p14:creationId xmlns:p14="http://schemas.microsoft.com/office/powerpoint/2010/main" val="38520388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52DE0A2-BF30-A549-8B34-A97716A83C5C}"/>
              </a:ext>
            </a:extLst>
          </p:cNvPr>
          <p:cNvSpPr txBox="1"/>
          <p:nvPr/>
        </p:nvSpPr>
        <p:spPr>
          <a:xfrm>
            <a:off x="1123278" y="113142"/>
            <a:ext cx="994544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优化枚举：伪代码</a:t>
            </a:r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C5E7D8F8-5966-9347-B4AE-75A0AB19F050}"/>
              </a:ext>
            </a:extLst>
          </p:cNvPr>
          <p:cNvSpPr/>
          <p:nvPr/>
        </p:nvSpPr>
        <p:spPr>
          <a:xfrm>
            <a:off x="2960057" y="1372491"/>
            <a:ext cx="687705" cy="329565"/>
          </a:xfrm>
          <a:custGeom>
            <a:avLst/>
            <a:gdLst/>
            <a:ahLst/>
            <a:cxnLst/>
            <a:rect l="l" t="t" r="r" b="b"/>
            <a:pathLst>
              <a:path w="687704" h="329565">
                <a:moveTo>
                  <a:pt x="582041" y="0"/>
                </a:moveTo>
                <a:lnTo>
                  <a:pt x="577342" y="13335"/>
                </a:lnTo>
                <a:lnTo>
                  <a:pt x="596411" y="21669"/>
                </a:lnTo>
                <a:lnTo>
                  <a:pt x="612838" y="33147"/>
                </a:lnTo>
                <a:lnTo>
                  <a:pt x="637667" y="65532"/>
                </a:lnTo>
                <a:lnTo>
                  <a:pt x="652240" y="109362"/>
                </a:lnTo>
                <a:lnTo>
                  <a:pt x="657097" y="163195"/>
                </a:lnTo>
                <a:lnTo>
                  <a:pt x="655881" y="192246"/>
                </a:lnTo>
                <a:lnTo>
                  <a:pt x="646114" y="242347"/>
                </a:lnTo>
                <a:lnTo>
                  <a:pt x="626463" y="281493"/>
                </a:lnTo>
                <a:lnTo>
                  <a:pt x="596642" y="307921"/>
                </a:lnTo>
                <a:lnTo>
                  <a:pt x="577849" y="316230"/>
                </a:lnTo>
                <a:lnTo>
                  <a:pt x="582041" y="329565"/>
                </a:lnTo>
                <a:lnTo>
                  <a:pt x="626983" y="308514"/>
                </a:lnTo>
                <a:lnTo>
                  <a:pt x="660019" y="272034"/>
                </a:lnTo>
                <a:lnTo>
                  <a:pt x="680418" y="223154"/>
                </a:lnTo>
                <a:lnTo>
                  <a:pt x="687196" y="164846"/>
                </a:lnTo>
                <a:lnTo>
                  <a:pt x="685486" y="134651"/>
                </a:lnTo>
                <a:lnTo>
                  <a:pt x="671873" y="81121"/>
                </a:lnTo>
                <a:lnTo>
                  <a:pt x="644923" y="37522"/>
                </a:lnTo>
                <a:lnTo>
                  <a:pt x="605922" y="8618"/>
                </a:lnTo>
                <a:lnTo>
                  <a:pt x="582041" y="0"/>
                </a:lnTo>
                <a:close/>
              </a:path>
              <a:path w="687704" h="329565">
                <a:moveTo>
                  <a:pt x="105156" y="0"/>
                </a:moveTo>
                <a:lnTo>
                  <a:pt x="60309" y="21129"/>
                </a:lnTo>
                <a:lnTo>
                  <a:pt x="27177" y="57785"/>
                </a:lnTo>
                <a:lnTo>
                  <a:pt x="6826" y="106743"/>
                </a:lnTo>
                <a:lnTo>
                  <a:pt x="0" y="164846"/>
                </a:lnTo>
                <a:lnTo>
                  <a:pt x="1692" y="195185"/>
                </a:lnTo>
                <a:lnTo>
                  <a:pt x="15269" y="248767"/>
                </a:lnTo>
                <a:lnTo>
                  <a:pt x="42201" y="292203"/>
                </a:lnTo>
                <a:lnTo>
                  <a:pt x="81202" y="320968"/>
                </a:lnTo>
                <a:lnTo>
                  <a:pt x="105156" y="329565"/>
                </a:lnTo>
                <a:lnTo>
                  <a:pt x="109346" y="316230"/>
                </a:lnTo>
                <a:lnTo>
                  <a:pt x="90537" y="307921"/>
                </a:lnTo>
                <a:lnTo>
                  <a:pt x="74310" y="296338"/>
                </a:lnTo>
                <a:lnTo>
                  <a:pt x="49656" y="263398"/>
                </a:lnTo>
                <a:lnTo>
                  <a:pt x="34972" y="218630"/>
                </a:lnTo>
                <a:lnTo>
                  <a:pt x="30099" y="163195"/>
                </a:lnTo>
                <a:lnTo>
                  <a:pt x="31315" y="135022"/>
                </a:lnTo>
                <a:lnTo>
                  <a:pt x="41082" y="86203"/>
                </a:lnTo>
                <a:lnTo>
                  <a:pt x="60723" y="47767"/>
                </a:lnTo>
                <a:lnTo>
                  <a:pt x="90858" y="21669"/>
                </a:lnTo>
                <a:lnTo>
                  <a:pt x="109855" y="13335"/>
                </a:lnTo>
                <a:lnTo>
                  <a:pt x="1051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E230E347-85EC-E04C-BF83-0E4AC3DF9689}"/>
              </a:ext>
            </a:extLst>
          </p:cNvPr>
          <p:cNvSpPr txBox="1"/>
          <p:nvPr/>
        </p:nvSpPr>
        <p:spPr>
          <a:xfrm>
            <a:off x="742130" y="1269240"/>
            <a:ext cx="280162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  <a:tab pos="2334260" algn="l"/>
              </a:tabLst>
            </a:pPr>
            <a:r>
              <a:rPr sz="2800" spc="-10" dirty="0" err="1">
                <a:latin typeface="PMingLiU"/>
                <a:cs typeface="PMingLiU"/>
              </a:rPr>
              <a:t>核心思</a:t>
            </a:r>
            <a:r>
              <a:rPr sz="2800" dirty="0" err="1">
                <a:latin typeface="PMingLiU"/>
                <a:cs typeface="PMingLiU"/>
              </a:rPr>
              <a:t>想</a:t>
            </a:r>
            <a:r>
              <a:rPr sz="2800" dirty="0">
                <a:latin typeface="PMingLiU"/>
                <a:cs typeface="PMingLiU"/>
              </a:rPr>
              <a:t>:</a:t>
            </a:r>
            <a:r>
              <a:rPr sz="2800" spc="175" dirty="0">
                <a:latin typeface="PMingLiU"/>
                <a:cs typeface="PMingLiU"/>
              </a:rPr>
              <a:t> </a:t>
            </a:r>
            <a:r>
              <a:rPr sz="2800" spc="-50" dirty="0">
                <a:latin typeface="Cambria Math"/>
                <a:cs typeface="Cambria Math"/>
              </a:rPr>
              <a:t>𝑺</a:t>
            </a:r>
            <a:r>
              <a:rPr sz="2800" dirty="0">
                <a:latin typeface="Cambria Math"/>
                <a:cs typeface="Cambria Math"/>
              </a:rPr>
              <a:t>	𝒍,</a:t>
            </a:r>
            <a:r>
              <a:rPr sz="2800" spc="-160" dirty="0">
                <a:latin typeface="Cambria Math"/>
                <a:cs typeface="Cambria Math"/>
              </a:rPr>
              <a:t> </a:t>
            </a:r>
            <a:r>
              <a:rPr sz="2800" spc="-50" dirty="0">
                <a:solidFill>
                  <a:srgbClr val="FF0000"/>
                </a:solidFill>
                <a:latin typeface="Cambria Math"/>
                <a:cs typeface="Cambria Math"/>
              </a:rPr>
              <a:t>𝒓</a:t>
            </a:r>
            <a:endParaRPr sz="2800" dirty="0">
              <a:latin typeface="Cambria Math"/>
              <a:cs typeface="Cambria Math"/>
            </a:endParaRP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47BDEE0E-3CDA-6C4B-BD51-7F48F64C0315}"/>
              </a:ext>
            </a:extLst>
          </p:cNvPr>
          <p:cNvSpPr txBox="1"/>
          <p:nvPr/>
        </p:nvSpPr>
        <p:spPr>
          <a:xfrm>
            <a:off x="4380172" y="1453391"/>
            <a:ext cx="407670" cy="3378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50" spc="-25">
                <a:latin typeface="Cambria Math"/>
                <a:cs typeface="Cambria Math"/>
              </a:rPr>
              <a:t>𝒊=𝒍</a:t>
            </a:r>
            <a:endParaRPr sz="2050">
              <a:latin typeface="Cambria Math"/>
              <a:cs typeface="Cambria Math"/>
            </a:endParaRPr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DF4846F6-A319-CF40-9467-D159BCB251A3}"/>
              </a:ext>
            </a:extLst>
          </p:cNvPr>
          <p:cNvSpPr txBox="1"/>
          <p:nvPr/>
        </p:nvSpPr>
        <p:spPr>
          <a:xfrm>
            <a:off x="3739075" y="1123699"/>
            <a:ext cx="83185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4200" baseline="-22817">
                <a:latin typeface="Cambria Math"/>
                <a:cs typeface="Cambria Math"/>
              </a:rPr>
              <a:t>=</a:t>
            </a:r>
            <a:r>
              <a:rPr sz="4200" spc="209" baseline="-22817">
                <a:latin typeface="Cambria Math"/>
                <a:cs typeface="Cambria Math"/>
              </a:rPr>
              <a:t> </a:t>
            </a:r>
            <a:r>
              <a:rPr sz="4200" spc="232" baseline="-20833">
                <a:latin typeface="Cambria Math"/>
                <a:cs typeface="Cambria Math"/>
              </a:rPr>
              <a:t>σ</a:t>
            </a:r>
            <a:r>
              <a:rPr sz="2050" spc="155">
                <a:latin typeface="Cambria Math"/>
                <a:cs typeface="Cambria Math"/>
              </a:rPr>
              <a:t>𝒓</a:t>
            </a:r>
            <a:endParaRPr sz="2050">
              <a:latin typeface="Cambria Math"/>
              <a:cs typeface="Cambria Math"/>
            </a:endParaRPr>
          </a:p>
        </p:txBody>
      </p:sp>
      <p:sp>
        <p:nvSpPr>
          <p:cNvPr id="8" name="object 9">
            <a:extLst>
              <a:ext uri="{FF2B5EF4-FFF2-40B4-BE49-F238E27FC236}">
                <a16:creationId xmlns:a16="http://schemas.microsoft.com/office/drawing/2014/main" id="{B07A1678-4594-B946-92F6-6A773E931F41}"/>
              </a:ext>
            </a:extLst>
          </p:cNvPr>
          <p:cNvSpPr txBox="1"/>
          <p:nvPr/>
        </p:nvSpPr>
        <p:spPr>
          <a:xfrm>
            <a:off x="4822131" y="1269240"/>
            <a:ext cx="1015365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>
                <a:latin typeface="Cambria Math"/>
                <a:cs typeface="Cambria Math"/>
              </a:rPr>
              <a:t>𝑿[𝒊]</a:t>
            </a:r>
            <a:r>
              <a:rPr sz="2800" spc="130">
                <a:latin typeface="Cambria Math"/>
                <a:cs typeface="Cambria Math"/>
              </a:rPr>
              <a:t> </a:t>
            </a:r>
            <a:r>
              <a:rPr sz="2800" spc="-50">
                <a:latin typeface="Cambria Math"/>
                <a:cs typeface="Cambria Math"/>
              </a:rPr>
              <a:t>=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9" name="object 10">
            <a:extLst>
              <a:ext uri="{FF2B5EF4-FFF2-40B4-BE49-F238E27FC236}">
                <a16:creationId xmlns:a16="http://schemas.microsoft.com/office/drawing/2014/main" id="{862EC092-B378-C840-A903-198E53E43F33}"/>
              </a:ext>
            </a:extLst>
          </p:cNvPr>
          <p:cNvSpPr/>
          <p:nvPr/>
        </p:nvSpPr>
        <p:spPr>
          <a:xfrm>
            <a:off x="6273234" y="1372491"/>
            <a:ext cx="1322705" cy="329565"/>
          </a:xfrm>
          <a:custGeom>
            <a:avLst/>
            <a:gdLst/>
            <a:ahLst/>
            <a:cxnLst/>
            <a:rect l="l" t="t" r="r" b="b"/>
            <a:pathLst>
              <a:path w="1322704" h="329565">
                <a:moveTo>
                  <a:pt x="1217549" y="0"/>
                </a:moveTo>
                <a:lnTo>
                  <a:pt x="1212850" y="13335"/>
                </a:lnTo>
                <a:lnTo>
                  <a:pt x="1231919" y="21669"/>
                </a:lnTo>
                <a:lnTo>
                  <a:pt x="1248346" y="33147"/>
                </a:lnTo>
                <a:lnTo>
                  <a:pt x="1273175" y="65532"/>
                </a:lnTo>
                <a:lnTo>
                  <a:pt x="1287748" y="109362"/>
                </a:lnTo>
                <a:lnTo>
                  <a:pt x="1292605" y="163195"/>
                </a:lnTo>
                <a:lnTo>
                  <a:pt x="1291389" y="192246"/>
                </a:lnTo>
                <a:lnTo>
                  <a:pt x="1281622" y="242347"/>
                </a:lnTo>
                <a:lnTo>
                  <a:pt x="1261971" y="281493"/>
                </a:lnTo>
                <a:lnTo>
                  <a:pt x="1232150" y="307921"/>
                </a:lnTo>
                <a:lnTo>
                  <a:pt x="1213357" y="316230"/>
                </a:lnTo>
                <a:lnTo>
                  <a:pt x="1217549" y="329565"/>
                </a:lnTo>
                <a:lnTo>
                  <a:pt x="1262491" y="308514"/>
                </a:lnTo>
                <a:lnTo>
                  <a:pt x="1295527" y="272034"/>
                </a:lnTo>
                <a:lnTo>
                  <a:pt x="1315926" y="223154"/>
                </a:lnTo>
                <a:lnTo>
                  <a:pt x="1322704" y="164846"/>
                </a:lnTo>
                <a:lnTo>
                  <a:pt x="1320994" y="134651"/>
                </a:lnTo>
                <a:lnTo>
                  <a:pt x="1307381" y="81121"/>
                </a:lnTo>
                <a:lnTo>
                  <a:pt x="1280431" y="37522"/>
                </a:lnTo>
                <a:lnTo>
                  <a:pt x="1241430" y="8618"/>
                </a:lnTo>
                <a:lnTo>
                  <a:pt x="1217549" y="0"/>
                </a:lnTo>
                <a:close/>
              </a:path>
              <a:path w="1322704" h="329565">
                <a:moveTo>
                  <a:pt x="105155" y="0"/>
                </a:moveTo>
                <a:lnTo>
                  <a:pt x="60309" y="21129"/>
                </a:lnTo>
                <a:lnTo>
                  <a:pt x="27177" y="57785"/>
                </a:lnTo>
                <a:lnTo>
                  <a:pt x="6826" y="106743"/>
                </a:lnTo>
                <a:lnTo>
                  <a:pt x="0" y="164846"/>
                </a:lnTo>
                <a:lnTo>
                  <a:pt x="1692" y="195185"/>
                </a:lnTo>
                <a:lnTo>
                  <a:pt x="15269" y="248767"/>
                </a:lnTo>
                <a:lnTo>
                  <a:pt x="42201" y="292203"/>
                </a:lnTo>
                <a:lnTo>
                  <a:pt x="81202" y="320968"/>
                </a:lnTo>
                <a:lnTo>
                  <a:pt x="105155" y="329565"/>
                </a:lnTo>
                <a:lnTo>
                  <a:pt x="109346" y="316230"/>
                </a:lnTo>
                <a:lnTo>
                  <a:pt x="90537" y="307921"/>
                </a:lnTo>
                <a:lnTo>
                  <a:pt x="74310" y="296338"/>
                </a:lnTo>
                <a:lnTo>
                  <a:pt x="49656" y="263398"/>
                </a:lnTo>
                <a:lnTo>
                  <a:pt x="34972" y="218630"/>
                </a:lnTo>
                <a:lnTo>
                  <a:pt x="30098" y="163195"/>
                </a:lnTo>
                <a:lnTo>
                  <a:pt x="31315" y="135022"/>
                </a:lnTo>
                <a:lnTo>
                  <a:pt x="41082" y="86203"/>
                </a:lnTo>
                <a:lnTo>
                  <a:pt x="60723" y="47767"/>
                </a:lnTo>
                <a:lnTo>
                  <a:pt x="90858" y="21669"/>
                </a:lnTo>
                <a:lnTo>
                  <a:pt x="109854" y="13335"/>
                </a:lnTo>
                <a:lnTo>
                  <a:pt x="1051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1">
            <a:extLst>
              <a:ext uri="{FF2B5EF4-FFF2-40B4-BE49-F238E27FC236}">
                <a16:creationId xmlns:a16="http://schemas.microsoft.com/office/drawing/2014/main" id="{64BCC1C7-A9B7-6049-A736-D9CFA76D8B12}"/>
              </a:ext>
            </a:extLst>
          </p:cNvPr>
          <p:cNvSpPr txBox="1"/>
          <p:nvPr/>
        </p:nvSpPr>
        <p:spPr>
          <a:xfrm>
            <a:off x="6027869" y="1269240"/>
            <a:ext cx="146558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61950" algn="l"/>
              </a:tabLst>
            </a:pPr>
            <a:r>
              <a:rPr sz="2800" spc="-50">
                <a:latin typeface="Cambria Math"/>
                <a:cs typeface="Cambria Math"/>
              </a:rPr>
              <a:t>𝑺</a:t>
            </a:r>
            <a:r>
              <a:rPr sz="2800">
                <a:latin typeface="Cambria Math"/>
                <a:cs typeface="Cambria Math"/>
              </a:rPr>
              <a:t>	𝒍,</a:t>
            </a:r>
            <a:r>
              <a:rPr sz="2800" spc="-155">
                <a:latin typeface="Cambria Math"/>
                <a:cs typeface="Cambria Math"/>
              </a:rPr>
              <a:t> 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𝒓</a:t>
            </a:r>
            <a:r>
              <a:rPr sz="2800" spc="-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− </a:t>
            </a:r>
            <a:r>
              <a:rPr sz="2800" spc="-50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1" name="object 12">
            <a:extLst>
              <a:ext uri="{FF2B5EF4-FFF2-40B4-BE49-F238E27FC236}">
                <a16:creationId xmlns:a16="http://schemas.microsoft.com/office/drawing/2014/main" id="{5FA3DF6D-A0B7-1B4F-BF5B-777A1E2BE4E3}"/>
              </a:ext>
            </a:extLst>
          </p:cNvPr>
          <p:cNvSpPr/>
          <p:nvPr/>
        </p:nvSpPr>
        <p:spPr>
          <a:xfrm>
            <a:off x="8619305" y="1371602"/>
            <a:ext cx="77470" cy="331470"/>
          </a:xfrm>
          <a:custGeom>
            <a:avLst/>
            <a:gdLst/>
            <a:ahLst/>
            <a:cxnLst/>
            <a:rect l="l" t="t" r="r" b="b"/>
            <a:pathLst>
              <a:path w="77470" h="331469">
                <a:moveTo>
                  <a:pt x="77470" y="0"/>
                </a:moveTo>
                <a:lnTo>
                  <a:pt x="0" y="0"/>
                </a:lnTo>
                <a:lnTo>
                  <a:pt x="0" y="12700"/>
                </a:lnTo>
                <a:lnTo>
                  <a:pt x="48641" y="12700"/>
                </a:lnTo>
                <a:lnTo>
                  <a:pt x="48641" y="317500"/>
                </a:lnTo>
                <a:lnTo>
                  <a:pt x="0" y="317500"/>
                </a:lnTo>
                <a:lnTo>
                  <a:pt x="0" y="331470"/>
                </a:lnTo>
                <a:lnTo>
                  <a:pt x="77470" y="331470"/>
                </a:lnTo>
                <a:lnTo>
                  <a:pt x="77470" y="317500"/>
                </a:lnTo>
                <a:lnTo>
                  <a:pt x="77470" y="12700"/>
                </a:lnTo>
                <a:lnTo>
                  <a:pt x="774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3">
            <a:extLst>
              <a:ext uri="{FF2B5EF4-FFF2-40B4-BE49-F238E27FC236}">
                <a16:creationId xmlns:a16="http://schemas.microsoft.com/office/drawing/2014/main" id="{FE9F4639-1CF5-6F47-B1E5-00AC046C730C}"/>
              </a:ext>
            </a:extLst>
          </p:cNvPr>
          <p:cNvSpPr/>
          <p:nvPr/>
        </p:nvSpPr>
        <p:spPr>
          <a:xfrm>
            <a:off x="8335968" y="1371602"/>
            <a:ext cx="77470" cy="331470"/>
          </a:xfrm>
          <a:custGeom>
            <a:avLst/>
            <a:gdLst/>
            <a:ahLst/>
            <a:cxnLst/>
            <a:rect l="l" t="t" r="r" b="b"/>
            <a:pathLst>
              <a:path w="77470" h="331469">
                <a:moveTo>
                  <a:pt x="77470" y="0"/>
                </a:moveTo>
                <a:lnTo>
                  <a:pt x="0" y="0"/>
                </a:lnTo>
                <a:lnTo>
                  <a:pt x="0" y="12700"/>
                </a:lnTo>
                <a:lnTo>
                  <a:pt x="0" y="317500"/>
                </a:lnTo>
                <a:lnTo>
                  <a:pt x="0" y="331470"/>
                </a:lnTo>
                <a:lnTo>
                  <a:pt x="77470" y="331470"/>
                </a:lnTo>
                <a:lnTo>
                  <a:pt x="77470" y="317500"/>
                </a:lnTo>
                <a:lnTo>
                  <a:pt x="28829" y="317500"/>
                </a:lnTo>
                <a:lnTo>
                  <a:pt x="28829" y="12700"/>
                </a:lnTo>
                <a:lnTo>
                  <a:pt x="77470" y="12700"/>
                </a:lnTo>
                <a:lnTo>
                  <a:pt x="774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4">
            <a:extLst>
              <a:ext uri="{FF2B5EF4-FFF2-40B4-BE49-F238E27FC236}">
                <a16:creationId xmlns:a16="http://schemas.microsoft.com/office/drawing/2014/main" id="{F7356955-2122-9043-83A7-B678FF4AE5A2}"/>
              </a:ext>
            </a:extLst>
          </p:cNvPr>
          <p:cNvSpPr txBox="1"/>
          <p:nvPr/>
        </p:nvSpPr>
        <p:spPr>
          <a:xfrm>
            <a:off x="7693601" y="1269240"/>
            <a:ext cx="93218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>
                <a:latin typeface="Cambria Math"/>
                <a:cs typeface="Cambria Math"/>
              </a:rPr>
              <a:t>+ 𝑿</a:t>
            </a:r>
            <a:r>
              <a:rPr sz="2800" spc="360">
                <a:latin typeface="Cambria Math"/>
                <a:cs typeface="Cambria Math"/>
              </a:rPr>
              <a:t> </a:t>
            </a:r>
            <a:r>
              <a:rPr sz="2800" spc="-60">
                <a:solidFill>
                  <a:srgbClr val="FF0000"/>
                </a:solidFill>
                <a:latin typeface="Cambria Math"/>
                <a:cs typeface="Cambria Math"/>
              </a:rPr>
              <a:t>𝒓</a:t>
            </a:r>
            <a:endParaRPr sz="2800">
              <a:latin typeface="Cambria Math"/>
              <a:cs typeface="Cambria Math"/>
            </a:endParaRPr>
          </a:p>
        </p:txBody>
      </p:sp>
      <p:pic>
        <p:nvPicPr>
          <p:cNvPr id="17" name="object 2">
            <a:extLst>
              <a:ext uri="{FF2B5EF4-FFF2-40B4-BE49-F238E27FC236}">
                <a16:creationId xmlns:a16="http://schemas.microsoft.com/office/drawing/2014/main" id="{6B0D910A-7F36-0045-BBA5-4E0A97B2E7B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93624" y="1936196"/>
            <a:ext cx="9684758" cy="4072118"/>
          </a:xfrm>
          <a:prstGeom prst="rect">
            <a:avLst/>
          </a:prstGeom>
        </p:spPr>
      </p:pic>
      <p:sp>
        <p:nvSpPr>
          <p:cNvPr id="21" name="object 14">
            <a:extLst>
              <a:ext uri="{FF2B5EF4-FFF2-40B4-BE49-F238E27FC236}">
                <a16:creationId xmlns:a16="http://schemas.microsoft.com/office/drawing/2014/main" id="{C92B183B-2D10-4B46-A308-B1C6E42BE745}"/>
              </a:ext>
            </a:extLst>
          </p:cNvPr>
          <p:cNvSpPr txBox="1"/>
          <p:nvPr/>
        </p:nvSpPr>
        <p:spPr>
          <a:xfrm>
            <a:off x="6815910" y="5381826"/>
            <a:ext cx="3642360" cy="59944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5588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440"/>
              </a:spcBef>
            </a:pPr>
            <a:r>
              <a:rPr sz="2800" spc="-5" dirty="0" err="1">
                <a:solidFill>
                  <a:srgbClr val="FFFFFF"/>
                </a:solidFill>
                <a:latin typeface="PMingLiU"/>
                <a:cs typeface="PMingLiU"/>
              </a:rPr>
              <a:t>时间复杂度</a:t>
            </a:r>
            <a:r>
              <a:rPr sz="2800" spc="-5" dirty="0">
                <a:solidFill>
                  <a:srgbClr val="FFFFFF"/>
                </a:solidFill>
                <a:latin typeface="PMingLiU"/>
                <a:cs typeface="PMingLiU"/>
              </a:rPr>
              <a:t>：</a:t>
            </a:r>
            <a:r>
              <a:rPr sz="2800" spc="-10" dirty="0">
                <a:solidFill>
                  <a:srgbClr val="FFFFFF"/>
                </a:solidFill>
                <a:latin typeface="Cambria Math"/>
                <a:cs typeface="Cambria Math"/>
              </a:rPr>
              <a:t>𝑶(𝒏</a:t>
            </a:r>
            <a:r>
              <a:rPr sz="3075" spc="-15" baseline="28455" dirty="0">
                <a:solidFill>
                  <a:srgbClr val="FFFFFF"/>
                </a:solidFill>
                <a:latin typeface="Cambria Math"/>
                <a:cs typeface="Cambria Math"/>
              </a:rPr>
              <a:t>𝟐</a:t>
            </a:r>
            <a:r>
              <a:rPr sz="2800" spc="-10" dirty="0">
                <a:solidFill>
                  <a:srgbClr val="FFFFFF"/>
                </a:solidFill>
                <a:latin typeface="Cambria Math"/>
                <a:cs typeface="Cambria Math"/>
              </a:rPr>
              <a:t>)</a:t>
            </a:r>
            <a:endParaRPr sz="2800" dirty="0">
              <a:latin typeface="Cambria Math"/>
              <a:cs typeface="Cambria Math"/>
            </a:endParaRPr>
          </a:p>
        </p:txBody>
      </p:sp>
      <p:sp>
        <p:nvSpPr>
          <p:cNvPr id="22" name="object 15">
            <a:extLst>
              <a:ext uri="{FF2B5EF4-FFF2-40B4-BE49-F238E27FC236}">
                <a16:creationId xmlns:a16="http://schemas.microsoft.com/office/drawing/2014/main" id="{DBC42436-B7D1-EA47-A6BB-E627D1E41076}"/>
              </a:ext>
            </a:extLst>
          </p:cNvPr>
          <p:cNvSpPr/>
          <p:nvPr/>
        </p:nvSpPr>
        <p:spPr>
          <a:xfrm>
            <a:off x="6353427" y="3799882"/>
            <a:ext cx="203835" cy="1207770"/>
          </a:xfrm>
          <a:custGeom>
            <a:avLst/>
            <a:gdLst/>
            <a:ahLst/>
            <a:cxnLst/>
            <a:rect l="l" t="t" r="r" b="b"/>
            <a:pathLst>
              <a:path w="203834" h="1207770">
                <a:moveTo>
                  <a:pt x="0" y="0"/>
                </a:moveTo>
                <a:lnTo>
                  <a:pt x="39576" y="1335"/>
                </a:lnTo>
                <a:lnTo>
                  <a:pt x="71913" y="4968"/>
                </a:lnTo>
                <a:lnTo>
                  <a:pt x="93725" y="10340"/>
                </a:lnTo>
                <a:lnTo>
                  <a:pt x="101726" y="16890"/>
                </a:lnTo>
                <a:lnTo>
                  <a:pt x="101726" y="590676"/>
                </a:lnTo>
                <a:lnTo>
                  <a:pt x="109727" y="597300"/>
                </a:lnTo>
                <a:lnTo>
                  <a:pt x="131540" y="602710"/>
                </a:lnTo>
                <a:lnTo>
                  <a:pt x="163877" y="606357"/>
                </a:lnTo>
                <a:lnTo>
                  <a:pt x="203453" y="607694"/>
                </a:lnTo>
                <a:lnTo>
                  <a:pt x="163877" y="609012"/>
                </a:lnTo>
                <a:lnTo>
                  <a:pt x="131540" y="612616"/>
                </a:lnTo>
                <a:lnTo>
                  <a:pt x="109727" y="617981"/>
                </a:lnTo>
                <a:lnTo>
                  <a:pt x="101726" y="624585"/>
                </a:lnTo>
                <a:lnTo>
                  <a:pt x="101726" y="1190751"/>
                </a:lnTo>
                <a:lnTo>
                  <a:pt x="93725" y="1197375"/>
                </a:lnTo>
                <a:lnTo>
                  <a:pt x="71913" y="1202785"/>
                </a:lnTo>
                <a:lnTo>
                  <a:pt x="39576" y="1206432"/>
                </a:lnTo>
                <a:lnTo>
                  <a:pt x="0" y="120776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6">
            <a:extLst>
              <a:ext uri="{FF2B5EF4-FFF2-40B4-BE49-F238E27FC236}">
                <a16:creationId xmlns:a16="http://schemas.microsoft.com/office/drawing/2014/main" id="{9607BC3D-1BD7-F94F-9E58-570044CB07E4}"/>
              </a:ext>
            </a:extLst>
          </p:cNvPr>
          <p:cNvSpPr/>
          <p:nvPr/>
        </p:nvSpPr>
        <p:spPr>
          <a:xfrm>
            <a:off x="7091805" y="3078267"/>
            <a:ext cx="135255" cy="2239010"/>
          </a:xfrm>
          <a:custGeom>
            <a:avLst/>
            <a:gdLst/>
            <a:ahLst/>
            <a:cxnLst/>
            <a:rect l="l" t="t" r="r" b="b"/>
            <a:pathLst>
              <a:path w="135254" h="2239010">
                <a:moveTo>
                  <a:pt x="0" y="0"/>
                </a:moveTo>
                <a:lnTo>
                  <a:pt x="26235" y="888"/>
                </a:lnTo>
                <a:lnTo>
                  <a:pt x="47672" y="3301"/>
                </a:lnTo>
                <a:lnTo>
                  <a:pt x="62132" y="6857"/>
                </a:lnTo>
                <a:lnTo>
                  <a:pt x="67436" y="11175"/>
                </a:lnTo>
                <a:lnTo>
                  <a:pt x="67436" y="1115060"/>
                </a:lnTo>
                <a:lnTo>
                  <a:pt x="72741" y="1119451"/>
                </a:lnTo>
                <a:lnTo>
                  <a:pt x="87201" y="1123045"/>
                </a:lnTo>
                <a:lnTo>
                  <a:pt x="108638" y="1125472"/>
                </a:lnTo>
                <a:lnTo>
                  <a:pt x="134874" y="1126363"/>
                </a:lnTo>
                <a:lnTo>
                  <a:pt x="108638" y="1127252"/>
                </a:lnTo>
                <a:lnTo>
                  <a:pt x="87201" y="1129665"/>
                </a:lnTo>
                <a:lnTo>
                  <a:pt x="72741" y="1133221"/>
                </a:lnTo>
                <a:lnTo>
                  <a:pt x="67436" y="1137539"/>
                </a:lnTo>
                <a:lnTo>
                  <a:pt x="67436" y="2227580"/>
                </a:lnTo>
                <a:lnTo>
                  <a:pt x="62132" y="2231898"/>
                </a:lnTo>
                <a:lnTo>
                  <a:pt x="47672" y="2235454"/>
                </a:lnTo>
                <a:lnTo>
                  <a:pt x="26235" y="2237867"/>
                </a:lnTo>
                <a:lnTo>
                  <a:pt x="0" y="2238756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17">
            <a:extLst>
              <a:ext uri="{FF2B5EF4-FFF2-40B4-BE49-F238E27FC236}">
                <a16:creationId xmlns:a16="http://schemas.microsoft.com/office/drawing/2014/main" id="{CB56908E-FCFA-DF4E-A0C5-B7A32EBC5E33}"/>
              </a:ext>
            </a:extLst>
          </p:cNvPr>
          <p:cNvSpPr txBox="1"/>
          <p:nvPr/>
        </p:nvSpPr>
        <p:spPr>
          <a:xfrm>
            <a:off x="6559676" y="4155990"/>
            <a:ext cx="15119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𝑶(𝒏)</a:t>
            </a:r>
            <a:r>
              <a:rPr sz="2000" spc="47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3300" spc="-30" baseline="-6313">
                <a:solidFill>
                  <a:srgbClr val="FF0000"/>
                </a:solidFill>
                <a:latin typeface="Cambria Math"/>
                <a:cs typeface="Cambria Math"/>
              </a:rPr>
              <a:t>𝑶(𝒏</a:t>
            </a:r>
            <a:r>
              <a:rPr sz="2400" spc="-30" baseline="19097">
                <a:solidFill>
                  <a:srgbClr val="FF0000"/>
                </a:solidFill>
                <a:latin typeface="Cambria Math"/>
                <a:cs typeface="Cambria Math"/>
              </a:rPr>
              <a:t>𝟐</a:t>
            </a:r>
            <a:r>
              <a:rPr sz="3300" spc="-30" baseline="-6313">
                <a:solidFill>
                  <a:srgbClr val="FF0000"/>
                </a:solidFill>
                <a:latin typeface="Cambria Math"/>
                <a:cs typeface="Cambria Math"/>
              </a:rPr>
              <a:t>)</a:t>
            </a:r>
            <a:endParaRPr sz="3300" baseline="-6313">
              <a:latin typeface="Cambria Math"/>
              <a:cs typeface="Cambria Math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A90DE97F-F6D2-2246-80ED-09868C3918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7588" y="1271213"/>
            <a:ext cx="335756" cy="461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277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9972ADDC-C18E-AD43-B3F9-3AC472FC5825}"/>
              </a:ext>
            </a:extLst>
          </p:cNvPr>
          <p:cNvSpPr txBox="1"/>
          <p:nvPr/>
        </p:nvSpPr>
        <p:spPr>
          <a:xfrm>
            <a:off x="1123278" y="113142"/>
            <a:ext cx="994544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分而治之：一般步骤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B4D97A49-82F7-354C-9C34-B1D61E47C47F}"/>
              </a:ext>
            </a:extLst>
          </p:cNvPr>
          <p:cNvSpPr/>
          <p:nvPr/>
        </p:nvSpPr>
        <p:spPr>
          <a:xfrm>
            <a:off x="9963531" y="5203356"/>
            <a:ext cx="1896110" cy="652780"/>
          </a:xfrm>
          <a:custGeom>
            <a:avLst/>
            <a:gdLst/>
            <a:ahLst/>
            <a:cxnLst/>
            <a:rect l="l" t="t" r="r" b="b"/>
            <a:pathLst>
              <a:path w="1896108" h="652779">
                <a:moveTo>
                  <a:pt x="1787144" y="0"/>
                </a:moveTo>
                <a:lnTo>
                  <a:pt x="108712" y="0"/>
                </a:lnTo>
                <a:lnTo>
                  <a:pt x="66383" y="8542"/>
                </a:lnTo>
                <a:lnTo>
                  <a:pt x="31829" y="31838"/>
                </a:lnTo>
                <a:lnTo>
                  <a:pt x="8538" y="66394"/>
                </a:lnTo>
                <a:lnTo>
                  <a:pt x="0" y="108711"/>
                </a:lnTo>
                <a:lnTo>
                  <a:pt x="0" y="543559"/>
                </a:lnTo>
                <a:lnTo>
                  <a:pt x="8538" y="585872"/>
                </a:lnTo>
                <a:lnTo>
                  <a:pt x="31829" y="620428"/>
                </a:lnTo>
                <a:lnTo>
                  <a:pt x="66383" y="643727"/>
                </a:lnTo>
                <a:lnTo>
                  <a:pt x="108712" y="652271"/>
                </a:lnTo>
                <a:lnTo>
                  <a:pt x="1787144" y="652271"/>
                </a:lnTo>
                <a:lnTo>
                  <a:pt x="1829472" y="643727"/>
                </a:lnTo>
                <a:lnTo>
                  <a:pt x="1864026" y="620428"/>
                </a:lnTo>
                <a:lnTo>
                  <a:pt x="1887317" y="585872"/>
                </a:lnTo>
                <a:lnTo>
                  <a:pt x="1895855" y="543559"/>
                </a:lnTo>
                <a:lnTo>
                  <a:pt x="1895855" y="108711"/>
                </a:lnTo>
                <a:lnTo>
                  <a:pt x="1887317" y="66394"/>
                </a:lnTo>
                <a:lnTo>
                  <a:pt x="1864026" y="31838"/>
                </a:lnTo>
                <a:lnTo>
                  <a:pt x="1829472" y="8542"/>
                </a:lnTo>
                <a:lnTo>
                  <a:pt x="1787144" y="0"/>
                </a:lnTo>
                <a:close/>
              </a:path>
            </a:pathLst>
          </a:custGeom>
          <a:solidFill>
            <a:srgbClr val="25AD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723ACC78-E823-EF46-B10D-10D6F8521133}"/>
              </a:ext>
            </a:extLst>
          </p:cNvPr>
          <p:cNvSpPr/>
          <p:nvPr/>
        </p:nvSpPr>
        <p:spPr>
          <a:xfrm>
            <a:off x="9963531" y="4117094"/>
            <a:ext cx="1896110" cy="652780"/>
          </a:xfrm>
          <a:custGeom>
            <a:avLst/>
            <a:gdLst/>
            <a:ahLst/>
            <a:cxnLst/>
            <a:rect l="l" t="t" r="r" b="b"/>
            <a:pathLst>
              <a:path w="1896108" h="652779">
                <a:moveTo>
                  <a:pt x="1787144" y="0"/>
                </a:moveTo>
                <a:lnTo>
                  <a:pt x="108712" y="0"/>
                </a:lnTo>
                <a:lnTo>
                  <a:pt x="66383" y="8538"/>
                </a:lnTo>
                <a:lnTo>
                  <a:pt x="31829" y="31829"/>
                </a:lnTo>
                <a:lnTo>
                  <a:pt x="8538" y="66383"/>
                </a:lnTo>
                <a:lnTo>
                  <a:pt x="0" y="108712"/>
                </a:lnTo>
                <a:lnTo>
                  <a:pt x="0" y="543559"/>
                </a:lnTo>
                <a:lnTo>
                  <a:pt x="8538" y="585888"/>
                </a:lnTo>
                <a:lnTo>
                  <a:pt x="31829" y="620442"/>
                </a:lnTo>
                <a:lnTo>
                  <a:pt x="66383" y="643733"/>
                </a:lnTo>
                <a:lnTo>
                  <a:pt x="108712" y="652271"/>
                </a:lnTo>
                <a:lnTo>
                  <a:pt x="1787144" y="652271"/>
                </a:lnTo>
                <a:lnTo>
                  <a:pt x="1829472" y="643733"/>
                </a:lnTo>
                <a:lnTo>
                  <a:pt x="1864026" y="620442"/>
                </a:lnTo>
                <a:lnTo>
                  <a:pt x="1887317" y="585888"/>
                </a:lnTo>
                <a:lnTo>
                  <a:pt x="1895855" y="543559"/>
                </a:lnTo>
                <a:lnTo>
                  <a:pt x="1895855" y="108712"/>
                </a:lnTo>
                <a:lnTo>
                  <a:pt x="1887317" y="66383"/>
                </a:lnTo>
                <a:lnTo>
                  <a:pt x="1864026" y="31829"/>
                </a:lnTo>
                <a:lnTo>
                  <a:pt x="1829472" y="8538"/>
                </a:lnTo>
                <a:lnTo>
                  <a:pt x="1787144" y="0"/>
                </a:lnTo>
                <a:close/>
              </a:path>
            </a:pathLst>
          </a:custGeom>
          <a:solidFill>
            <a:srgbClr val="25AD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E7A33469-EBF4-724C-ADA4-324BFB6A52E1}"/>
              </a:ext>
            </a:extLst>
          </p:cNvPr>
          <p:cNvSpPr/>
          <p:nvPr/>
        </p:nvSpPr>
        <p:spPr>
          <a:xfrm>
            <a:off x="9963531" y="3213729"/>
            <a:ext cx="1896110" cy="652780"/>
          </a:xfrm>
          <a:custGeom>
            <a:avLst/>
            <a:gdLst/>
            <a:ahLst/>
            <a:cxnLst/>
            <a:rect l="l" t="t" r="r" b="b"/>
            <a:pathLst>
              <a:path w="1896108" h="652779">
                <a:moveTo>
                  <a:pt x="1787144" y="0"/>
                </a:moveTo>
                <a:lnTo>
                  <a:pt x="108712" y="0"/>
                </a:lnTo>
                <a:lnTo>
                  <a:pt x="66383" y="8538"/>
                </a:lnTo>
                <a:lnTo>
                  <a:pt x="31829" y="31829"/>
                </a:lnTo>
                <a:lnTo>
                  <a:pt x="8538" y="66383"/>
                </a:lnTo>
                <a:lnTo>
                  <a:pt x="0" y="108712"/>
                </a:lnTo>
                <a:lnTo>
                  <a:pt x="0" y="543560"/>
                </a:lnTo>
                <a:lnTo>
                  <a:pt x="8538" y="585888"/>
                </a:lnTo>
                <a:lnTo>
                  <a:pt x="31829" y="620442"/>
                </a:lnTo>
                <a:lnTo>
                  <a:pt x="66383" y="643733"/>
                </a:lnTo>
                <a:lnTo>
                  <a:pt x="108712" y="652272"/>
                </a:lnTo>
                <a:lnTo>
                  <a:pt x="1787144" y="652272"/>
                </a:lnTo>
                <a:lnTo>
                  <a:pt x="1829472" y="643733"/>
                </a:lnTo>
                <a:lnTo>
                  <a:pt x="1864026" y="620442"/>
                </a:lnTo>
                <a:lnTo>
                  <a:pt x="1887317" y="585888"/>
                </a:lnTo>
                <a:lnTo>
                  <a:pt x="1895855" y="543560"/>
                </a:lnTo>
                <a:lnTo>
                  <a:pt x="1895855" y="108712"/>
                </a:lnTo>
                <a:lnTo>
                  <a:pt x="1887317" y="66383"/>
                </a:lnTo>
                <a:lnTo>
                  <a:pt x="1864026" y="31829"/>
                </a:lnTo>
                <a:lnTo>
                  <a:pt x="1829472" y="8538"/>
                </a:lnTo>
                <a:lnTo>
                  <a:pt x="1787144" y="0"/>
                </a:lnTo>
                <a:close/>
              </a:path>
            </a:pathLst>
          </a:custGeom>
          <a:solidFill>
            <a:srgbClr val="25AD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85046BD9-D00E-784F-8CE7-27A3DAC07CD8}"/>
              </a:ext>
            </a:extLst>
          </p:cNvPr>
          <p:cNvSpPr txBox="1"/>
          <p:nvPr/>
        </p:nvSpPr>
        <p:spPr>
          <a:xfrm>
            <a:off x="10136631" y="3281841"/>
            <a:ext cx="1549400" cy="2649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 err="1">
                <a:solidFill>
                  <a:srgbClr val="FFC000"/>
                </a:solidFill>
                <a:latin typeface="PMingLiU"/>
                <a:cs typeface="PMingLiU"/>
              </a:rPr>
              <a:t>分解</a:t>
            </a:r>
            <a:r>
              <a:rPr sz="2400" spc="-20" dirty="0" err="1">
                <a:solidFill>
                  <a:srgbClr val="FFFFFF"/>
                </a:solidFill>
                <a:latin typeface="PMingLiU"/>
                <a:cs typeface="PMingLiU"/>
              </a:rPr>
              <a:t>原问题</a:t>
            </a:r>
            <a:endParaRPr sz="2400" dirty="0">
              <a:latin typeface="PMingLiU"/>
              <a:cs typeface="PMingLiU"/>
            </a:endParaRPr>
          </a:p>
          <a:p>
            <a:pPr marL="12700" marR="5080">
              <a:lnSpc>
                <a:spcPct val="308700"/>
              </a:lnSpc>
            </a:pPr>
            <a:r>
              <a:rPr sz="2400" dirty="0" err="1">
                <a:solidFill>
                  <a:srgbClr val="FFC000"/>
                </a:solidFill>
                <a:latin typeface="PMingLiU"/>
                <a:cs typeface="PMingLiU"/>
              </a:rPr>
              <a:t>解决</a:t>
            </a:r>
            <a:r>
              <a:rPr sz="2400" spc="-20" dirty="0" err="1">
                <a:solidFill>
                  <a:srgbClr val="FFFFFF"/>
                </a:solidFill>
                <a:latin typeface="PMingLiU"/>
                <a:cs typeface="PMingLiU"/>
              </a:rPr>
              <a:t>子问</a:t>
            </a:r>
            <a:r>
              <a:rPr lang="zh-CN" altLang="en-US" sz="2400" spc="-20" dirty="0">
                <a:solidFill>
                  <a:srgbClr val="FFFFFF"/>
                </a:solidFill>
                <a:latin typeface="PMingLiU"/>
                <a:cs typeface="PMingLiU"/>
              </a:rPr>
              <a:t>题</a:t>
            </a:r>
            <a:r>
              <a:rPr sz="2400" dirty="0" err="1">
                <a:solidFill>
                  <a:srgbClr val="FFC000"/>
                </a:solidFill>
                <a:latin typeface="PMingLiU"/>
                <a:cs typeface="PMingLiU"/>
              </a:rPr>
              <a:t>合并</a:t>
            </a:r>
            <a:r>
              <a:rPr sz="2400" spc="-20" dirty="0" err="1">
                <a:solidFill>
                  <a:srgbClr val="FFFFFF"/>
                </a:solidFill>
                <a:latin typeface="PMingLiU"/>
                <a:cs typeface="PMingLiU"/>
              </a:rPr>
              <a:t>问题解</a:t>
            </a:r>
            <a:endParaRPr sz="2400" dirty="0">
              <a:latin typeface="PMingLiU"/>
              <a:cs typeface="PMingLiU"/>
            </a:endParaRPr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6078CA9F-F3D8-E346-AD09-FE4EEBC0C032}"/>
              </a:ext>
            </a:extLst>
          </p:cNvPr>
          <p:cNvSpPr/>
          <p:nvPr/>
        </p:nvSpPr>
        <p:spPr>
          <a:xfrm>
            <a:off x="8094599" y="3483609"/>
            <a:ext cx="77470" cy="331470"/>
          </a:xfrm>
          <a:custGeom>
            <a:avLst/>
            <a:gdLst/>
            <a:ahLst/>
            <a:cxnLst/>
            <a:rect l="l" t="t" r="r" b="b"/>
            <a:pathLst>
              <a:path w="77470" h="331470">
                <a:moveTo>
                  <a:pt x="77470" y="0"/>
                </a:moveTo>
                <a:lnTo>
                  <a:pt x="0" y="0"/>
                </a:lnTo>
                <a:lnTo>
                  <a:pt x="0" y="13970"/>
                </a:lnTo>
                <a:lnTo>
                  <a:pt x="48641" y="13970"/>
                </a:lnTo>
                <a:lnTo>
                  <a:pt x="48641" y="318770"/>
                </a:lnTo>
                <a:lnTo>
                  <a:pt x="0" y="318770"/>
                </a:lnTo>
                <a:lnTo>
                  <a:pt x="0" y="331470"/>
                </a:lnTo>
                <a:lnTo>
                  <a:pt x="77470" y="331470"/>
                </a:lnTo>
                <a:lnTo>
                  <a:pt x="77470" y="318770"/>
                </a:lnTo>
                <a:lnTo>
                  <a:pt x="77470" y="13970"/>
                </a:lnTo>
                <a:lnTo>
                  <a:pt x="774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A4F8F641-BD01-7F45-99CF-A2AAF9FE2CEB}"/>
              </a:ext>
            </a:extLst>
          </p:cNvPr>
          <p:cNvSpPr/>
          <p:nvPr/>
        </p:nvSpPr>
        <p:spPr>
          <a:xfrm>
            <a:off x="6254496" y="3483609"/>
            <a:ext cx="77470" cy="331470"/>
          </a:xfrm>
          <a:custGeom>
            <a:avLst/>
            <a:gdLst/>
            <a:ahLst/>
            <a:cxnLst/>
            <a:rect l="l" t="t" r="r" b="b"/>
            <a:pathLst>
              <a:path w="77470" h="331470">
                <a:moveTo>
                  <a:pt x="77470" y="0"/>
                </a:moveTo>
                <a:lnTo>
                  <a:pt x="0" y="0"/>
                </a:lnTo>
                <a:lnTo>
                  <a:pt x="0" y="13970"/>
                </a:lnTo>
                <a:lnTo>
                  <a:pt x="0" y="318770"/>
                </a:lnTo>
                <a:lnTo>
                  <a:pt x="0" y="331470"/>
                </a:lnTo>
                <a:lnTo>
                  <a:pt x="77470" y="331470"/>
                </a:lnTo>
                <a:lnTo>
                  <a:pt x="77470" y="318770"/>
                </a:lnTo>
                <a:lnTo>
                  <a:pt x="28829" y="318770"/>
                </a:lnTo>
                <a:lnTo>
                  <a:pt x="28829" y="13970"/>
                </a:lnTo>
                <a:lnTo>
                  <a:pt x="77470" y="13970"/>
                </a:lnTo>
                <a:lnTo>
                  <a:pt x="774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4">
            <a:extLst>
              <a:ext uri="{FF2B5EF4-FFF2-40B4-BE49-F238E27FC236}">
                <a16:creationId xmlns:a16="http://schemas.microsoft.com/office/drawing/2014/main" id="{FCE76C59-D82D-F04A-B98D-71D45660C606}"/>
              </a:ext>
            </a:extLst>
          </p:cNvPr>
          <p:cNvSpPr txBox="1"/>
          <p:nvPr/>
        </p:nvSpPr>
        <p:spPr>
          <a:xfrm>
            <a:off x="662940" y="3306876"/>
            <a:ext cx="7463155" cy="148463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7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80365" algn="l"/>
                <a:tab pos="381000" algn="l"/>
              </a:tabLst>
            </a:pP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将数组</a:t>
            </a:r>
            <a:r>
              <a:rPr sz="2800" spc="-10" dirty="0">
                <a:latin typeface="Cambria Math"/>
                <a:cs typeface="Cambria Math"/>
              </a:rPr>
              <a:t>𝑿[𝟏</a:t>
            </a:r>
            <a:r>
              <a:rPr sz="2800" spc="-80" dirty="0">
                <a:latin typeface="Cambria Math"/>
                <a:cs typeface="Cambria Math"/>
              </a:rPr>
              <a:t>. . </a:t>
            </a:r>
            <a:r>
              <a:rPr sz="2800" spc="-10" dirty="0">
                <a:latin typeface="Cambria Math"/>
                <a:cs typeface="Cambria Math"/>
              </a:rPr>
              <a:t>𝒏]</a:t>
            </a: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分为</a:t>
            </a:r>
            <a:r>
              <a:rPr sz="2800" spc="-10" dirty="0">
                <a:latin typeface="Cambria Math"/>
                <a:cs typeface="Cambria Math"/>
              </a:rPr>
              <a:t>𝑿[𝟏</a:t>
            </a:r>
            <a:r>
              <a:rPr sz="2800" spc="-80" dirty="0">
                <a:latin typeface="Cambria Math"/>
                <a:cs typeface="Cambria Math"/>
              </a:rPr>
              <a:t>. . </a:t>
            </a:r>
            <a:r>
              <a:rPr sz="2800" spc="-10" dirty="0">
                <a:latin typeface="Cambria Math"/>
                <a:cs typeface="Cambria Math"/>
              </a:rPr>
              <a:t>𝒏/𝟐]</a:t>
            </a: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和</a:t>
            </a:r>
            <a:r>
              <a:rPr sz="2800" dirty="0">
                <a:latin typeface="Cambria Math"/>
                <a:cs typeface="Cambria Math"/>
              </a:rPr>
              <a:t>𝑿</a:t>
            </a:r>
            <a:r>
              <a:rPr sz="2800" spc="38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𝒏/𝟐</a:t>
            </a:r>
            <a:r>
              <a:rPr sz="2800" spc="5" dirty="0">
                <a:latin typeface="Cambria Math"/>
                <a:cs typeface="Cambria Math"/>
              </a:rPr>
              <a:t> + </a:t>
            </a:r>
            <a:r>
              <a:rPr sz="2800" spc="-10" dirty="0">
                <a:latin typeface="Cambria Math"/>
                <a:cs typeface="Cambria Math"/>
              </a:rPr>
              <a:t>𝟏</a:t>
            </a:r>
            <a:r>
              <a:rPr sz="2800" spc="-75" dirty="0">
                <a:latin typeface="Cambria Math"/>
                <a:cs typeface="Cambria Math"/>
              </a:rPr>
              <a:t>. . </a:t>
            </a:r>
            <a:r>
              <a:rPr sz="2800" spc="-50" dirty="0">
                <a:latin typeface="Cambria Math"/>
                <a:cs typeface="Cambria Math"/>
              </a:rPr>
              <a:t>𝒏</a:t>
            </a:r>
            <a:endParaRPr sz="2800" dirty="0">
              <a:latin typeface="Cambria Math"/>
              <a:cs typeface="Cambria Math"/>
            </a:endParaRPr>
          </a:p>
          <a:p>
            <a:pPr marL="381000" indent="-342900">
              <a:lnSpc>
                <a:spcPct val="100000"/>
              </a:lnSpc>
              <a:spcBef>
                <a:spcPts val="6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80365" algn="l"/>
                <a:tab pos="381000" algn="l"/>
              </a:tabLst>
            </a:pPr>
            <a:r>
              <a:rPr sz="28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递归求解子问题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29615" lvl="1" indent="-347980">
              <a:lnSpc>
                <a:spcPct val="100000"/>
              </a:lnSpc>
              <a:spcBef>
                <a:spcPts val="68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29615" algn="l"/>
                <a:tab pos="730250" algn="l"/>
              </a:tabLst>
            </a:pPr>
            <a:r>
              <a:rPr sz="2400" dirty="0">
                <a:solidFill>
                  <a:srgbClr val="1CB450"/>
                </a:solidFill>
                <a:latin typeface="Cambria Math"/>
                <a:cs typeface="Cambria Math"/>
              </a:rPr>
              <a:t>𝑺</a:t>
            </a:r>
            <a:r>
              <a:rPr sz="2625" baseline="-15873" dirty="0">
                <a:solidFill>
                  <a:srgbClr val="1CB450"/>
                </a:solidFill>
                <a:latin typeface="Cambria Math"/>
                <a:cs typeface="Cambria Math"/>
              </a:rPr>
              <a:t>𝟏</a:t>
            </a:r>
            <a:r>
              <a:rPr sz="2400" spc="-5" dirty="0">
                <a:latin typeface="PMingLiU"/>
                <a:cs typeface="PMingLiU"/>
              </a:rPr>
              <a:t>：</a:t>
            </a:r>
            <a:r>
              <a:rPr sz="24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数组</a:t>
            </a:r>
            <a:r>
              <a:rPr sz="2400" spc="-10" dirty="0">
                <a:latin typeface="Cambria Math"/>
                <a:cs typeface="Cambria Math"/>
              </a:rPr>
              <a:t>𝑿[𝟏</a:t>
            </a:r>
            <a:r>
              <a:rPr sz="2400" spc="-55" dirty="0">
                <a:latin typeface="Cambria Math"/>
                <a:cs typeface="Cambria Math"/>
              </a:rPr>
              <a:t>. . </a:t>
            </a:r>
            <a:r>
              <a:rPr sz="2400" dirty="0">
                <a:latin typeface="Cambria Math"/>
                <a:cs typeface="Cambria Math"/>
              </a:rPr>
              <a:t>𝒏/𝟐</a:t>
            </a:r>
            <a:r>
              <a:rPr sz="2400" spc="20" dirty="0">
                <a:latin typeface="Cambria Math"/>
                <a:cs typeface="Cambria Math"/>
              </a:rPr>
              <a:t>] </a:t>
            </a:r>
            <a:r>
              <a:rPr sz="24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的最大子数组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11" name="object 5">
            <a:extLst>
              <a:ext uri="{FF2B5EF4-FFF2-40B4-BE49-F238E27FC236}">
                <a16:creationId xmlns:a16="http://schemas.microsoft.com/office/drawing/2014/main" id="{92E377DF-8486-774A-A9FE-4ECD1BC524C6}"/>
              </a:ext>
            </a:extLst>
          </p:cNvPr>
          <p:cNvSpPr/>
          <p:nvPr/>
        </p:nvSpPr>
        <p:spPr>
          <a:xfrm>
            <a:off x="6369177" y="6315824"/>
            <a:ext cx="1390650" cy="283845"/>
          </a:xfrm>
          <a:custGeom>
            <a:avLst/>
            <a:gdLst/>
            <a:ahLst/>
            <a:cxnLst/>
            <a:rect l="l" t="t" r="r" b="b"/>
            <a:pathLst>
              <a:path w="1390650" h="283845">
                <a:moveTo>
                  <a:pt x="1299464" y="0"/>
                </a:moveTo>
                <a:lnTo>
                  <a:pt x="1295527" y="0"/>
                </a:lnTo>
                <a:lnTo>
                  <a:pt x="1295527" y="11303"/>
                </a:lnTo>
                <a:lnTo>
                  <a:pt x="1297813" y="11303"/>
                </a:lnTo>
                <a:lnTo>
                  <a:pt x="1308002" y="12005"/>
                </a:lnTo>
                <a:lnTo>
                  <a:pt x="1340738" y="37447"/>
                </a:lnTo>
                <a:lnTo>
                  <a:pt x="1343787" y="59677"/>
                </a:lnTo>
                <a:lnTo>
                  <a:pt x="1343598" y="65194"/>
                </a:lnTo>
                <a:lnTo>
                  <a:pt x="1343040" y="71324"/>
                </a:lnTo>
                <a:lnTo>
                  <a:pt x="1342126" y="78067"/>
                </a:lnTo>
                <a:lnTo>
                  <a:pt x="1340866" y="85420"/>
                </a:lnTo>
                <a:lnTo>
                  <a:pt x="1338833" y="95643"/>
                </a:lnTo>
                <a:lnTo>
                  <a:pt x="1337818" y="102933"/>
                </a:lnTo>
                <a:lnTo>
                  <a:pt x="1337818" y="115735"/>
                </a:lnTo>
                <a:lnTo>
                  <a:pt x="1340357" y="122656"/>
                </a:lnTo>
                <a:lnTo>
                  <a:pt x="1350264" y="133477"/>
                </a:lnTo>
                <a:lnTo>
                  <a:pt x="1356105" y="137464"/>
                </a:lnTo>
                <a:lnTo>
                  <a:pt x="1362964" y="140042"/>
                </a:lnTo>
                <a:lnTo>
                  <a:pt x="1362964" y="142722"/>
                </a:lnTo>
                <a:lnTo>
                  <a:pt x="1356105" y="145300"/>
                </a:lnTo>
                <a:lnTo>
                  <a:pt x="1350264" y="149301"/>
                </a:lnTo>
                <a:lnTo>
                  <a:pt x="1340357" y="160108"/>
                </a:lnTo>
                <a:lnTo>
                  <a:pt x="1337818" y="167030"/>
                </a:lnTo>
                <a:lnTo>
                  <a:pt x="1337818" y="179832"/>
                </a:lnTo>
                <a:lnTo>
                  <a:pt x="1338833" y="187121"/>
                </a:lnTo>
                <a:lnTo>
                  <a:pt x="1340866" y="197345"/>
                </a:lnTo>
                <a:lnTo>
                  <a:pt x="1342126" y="204703"/>
                </a:lnTo>
                <a:lnTo>
                  <a:pt x="1343040" y="211445"/>
                </a:lnTo>
                <a:lnTo>
                  <a:pt x="1343598" y="217572"/>
                </a:lnTo>
                <a:lnTo>
                  <a:pt x="1343787" y="223088"/>
                </a:lnTo>
                <a:lnTo>
                  <a:pt x="1343025" y="235575"/>
                </a:lnTo>
                <a:lnTo>
                  <a:pt x="1317037" y="269694"/>
                </a:lnTo>
                <a:lnTo>
                  <a:pt x="1297813" y="272503"/>
                </a:lnTo>
                <a:lnTo>
                  <a:pt x="1295527" y="272503"/>
                </a:lnTo>
                <a:lnTo>
                  <a:pt x="1295527" y="283806"/>
                </a:lnTo>
                <a:lnTo>
                  <a:pt x="1299464" y="283806"/>
                </a:lnTo>
                <a:lnTo>
                  <a:pt x="1315819" y="282585"/>
                </a:lnTo>
                <a:lnTo>
                  <a:pt x="1351788" y="267817"/>
                </a:lnTo>
                <a:lnTo>
                  <a:pt x="1369059" y="220408"/>
                </a:lnTo>
                <a:lnTo>
                  <a:pt x="1368845" y="214021"/>
                </a:lnTo>
                <a:lnTo>
                  <a:pt x="1368202" y="207205"/>
                </a:lnTo>
                <a:lnTo>
                  <a:pt x="1367131" y="199957"/>
                </a:lnTo>
                <a:lnTo>
                  <a:pt x="1365630" y="192278"/>
                </a:lnTo>
                <a:lnTo>
                  <a:pt x="1363218" y="181762"/>
                </a:lnTo>
                <a:lnTo>
                  <a:pt x="1362075" y="174726"/>
                </a:lnTo>
                <a:lnTo>
                  <a:pt x="1362075" y="164299"/>
                </a:lnTo>
                <a:lnTo>
                  <a:pt x="1364488" y="158724"/>
                </a:lnTo>
                <a:lnTo>
                  <a:pt x="1373886" y="150088"/>
                </a:lnTo>
                <a:lnTo>
                  <a:pt x="1380998" y="147789"/>
                </a:lnTo>
                <a:lnTo>
                  <a:pt x="1390523" y="147485"/>
                </a:lnTo>
                <a:lnTo>
                  <a:pt x="1390523" y="135280"/>
                </a:lnTo>
                <a:lnTo>
                  <a:pt x="1380998" y="134988"/>
                </a:lnTo>
                <a:lnTo>
                  <a:pt x="1373886" y="132676"/>
                </a:lnTo>
                <a:lnTo>
                  <a:pt x="1364488" y="124040"/>
                </a:lnTo>
                <a:lnTo>
                  <a:pt x="1362075" y="118465"/>
                </a:lnTo>
                <a:lnTo>
                  <a:pt x="1362075" y="108051"/>
                </a:lnTo>
                <a:lnTo>
                  <a:pt x="1363218" y="101003"/>
                </a:lnTo>
                <a:lnTo>
                  <a:pt x="1365630" y="90487"/>
                </a:lnTo>
                <a:lnTo>
                  <a:pt x="1367131" y="82813"/>
                </a:lnTo>
                <a:lnTo>
                  <a:pt x="1368202" y="75565"/>
                </a:lnTo>
                <a:lnTo>
                  <a:pt x="1368845" y="68745"/>
                </a:lnTo>
                <a:lnTo>
                  <a:pt x="1369059" y="62357"/>
                </a:lnTo>
                <a:lnTo>
                  <a:pt x="1367986" y="47850"/>
                </a:lnTo>
                <a:lnTo>
                  <a:pt x="1342005" y="9222"/>
                </a:lnTo>
                <a:lnTo>
                  <a:pt x="1315819" y="1221"/>
                </a:lnTo>
                <a:lnTo>
                  <a:pt x="1299464" y="0"/>
                </a:lnTo>
                <a:close/>
              </a:path>
              <a:path w="1390650" h="283845">
                <a:moveTo>
                  <a:pt x="94996" y="0"/>
                </a:moveTo>
                <a:lnTo>
                  <a:pt x="91186" y="0"/>
                </a:lnTo>
                <a:lnTo>
                  <a:pt x="74777" y="1221"/>
                </a:lnTo>
                <a:lnTo>
                  <a:pt x="38862" y="16002"/>
                </a:lnTo>
                <a:lnTo>
                  <a:pt x="21665" y="59524"/>
                </a:lnTo>
                <a:lnTo>
                  <a:pt x="21558" y="65042"/>
                </a:lnTo>
                <a:lnTo>
                  <a:pt x="21679" y="68598"/>
                </a:lnTo>
                <a:lnTo>
                  <a:pt x="22336" y="75417"/>
                </a:lnTo>
                <a:lnTo>
                  <a:pt x="23445" y="82662"/>
                </a:lnTo>
                <a:lnTo>
                  <a:pt x="25019" y="90335"/>
                </a:lnTo>
                <a:lnTo>
                  <a:pt x="27305" y="100850"/>
                </a:lnTo>
                <a:lnTo>
                  <a:pt x="28448" y="107899"/>
                </a:lnTo>
                <a:lnTo>
                  <a:pt x="28448" y="118313"/>
                </a:lnTo>
                <a:lnTo>
                  <a:pt x="26162" y="123901"/>
                </a:lnTo>
                <a:lnTo>
                  <a:pt x="21336" y="128219"/>
                </a:lnTo>
                <a:lnTo>
                  <a:pt x="16637" y="132524"/>
                </a:lnTo>
                <a:lnTo>
                  <a:pt x="9525" y="134835"/>
                </a:lnTo>
                <a:lnTo>
                  <a:pt x="0" y="135128"/>
                </a:lnTo>
                <a:lnTo>
                  <a:pt x="0" y="147332"/>
                </a:lnTo>
                <a:lnTo>
                  <a:pt x="9525" y="147637"/>
                </a:lnTo>
                <a:lnTo>
                  <a:pt x="16637" y="149948"/>
                </a:lnTo>
                <a:lnTo>
                  <a:pt x="21336" y="154254"/>
                </a:lnTo>
                <a:lnTo>
                  <a:pt x="26162" y="158572"/>
                </a:lnTo>
                <a:lnTo>
                  <a:pt x="28448" y="164160"/>
                </a:lnTo>
                <a:lnTo>
                  <a:pt x="28448" y="174574"/>
                </a:lnTo>
                <a:lnTo>
                  <a:pt x="27305" y="181622"/>
                </a:lnTo>
                <a:lnTo>
                  <a:pt x="25019" y="192138"/>
                </a:lnTo>
                <a:lnTo>
                  <a:pt x="23445" y="199810"/>
                </a:lnTo>
                <a:lnTo>
                  <a:pt x="22336" y="207056"/>
                </a:lnTo>
                <a:lnTo>
                  <a:pt x="21679" y="213874"/>
                </a:lnTo>
                <a:lnTo>
                  <a:pt x="21462" y="220268"/>
                </a:lnTo>
                <a:lnTo>
                  <a:pt x="22556" y="235292"/>
                </a:lnTo>
                <a:lnTo>
                  <a:pt x="48627" y="274589"/>
                </a:lnTo>
                <a:lnTo>
                  <a:pt x="91186" y="283806"/>
                </a:lnTo>
                <a:lnTo>
                  <a:pt x="94996" y="283806"/>
                </a:lnTo>
                <a:lnTo>
                  <a:pt x="94996" y="272503"/>
                </a:lnTo>
                <a:lnTo>
                  <a:pt x="92710" y="272503"/>
                </a:lnTo>
                <a:lnTo>
                  <a:pt x="82520" y="271801"/>
                </a:lnTo>
                <a:lnTo>
                  <a:pt x="49784" y="246064"/>
                </a:lnTo>
                <a:lnTo>
                  <a:pt x="46736" y="222948"/>
                </a:lnTo>
                <a:lnTo>
                  <a:pt x="46926" y="217431"/>
                </a:lnTo>
                <a:lnTo>
                  <a:pt x="47498" y="211299"/>
                </a:lnTo>
                <a:lnTo>
                  <a:pt x="48450" y="204553"/>
                </a:lnTo>
                <a:lnTo>
                  <a:pt x="49784" y="197192"/>
                </a:lnTo>
                <a:lnTo>
                  <a:pt x="51688" y="186969"/>
                </a:lnTo>
                <a:lnTo>
                  <a:pt x="52705" y="179679"/>
                </a:lnTo>
                <a:lnTo>
                  <a:pt x="52705" y="166878"/>
                </a:lnTo>
                <a:lnTo>
                  <a:pt x="50292" y="159969"/>
                </a:lnTo>
                <a:lnTo>
                  <a:pt x="40386" y="149148"/>
                </a:lnTo>
                <a:lnTo>
                  <a:pt x="34417" y="145161"/>
                </a:lnTo>
                <a:lnTo>
                  <a:pt x="27559" y="142570"/>
                </a:lnTo>
                <a:lnTo>
                  <a:pt x="27559" y="139890"/>
                </a:lnTo>
                <a:lnTo>
                  <a:pt x="34417" y="137312"/>
                </a:lnTo>
                <a:lnTo>
                  <a:pt x="40386" y="133324"/>
                </a:lnTo>
                <a:lnTo>
                  <a:pt x="50292" y="122504"/>
                </a:lnTo>
                <a:lnTo>
                  <a:pt x="52705" y="115582"/>
                </a:lnTo>
                <a:lnTo>
                  <a:pt x="52705" y="102793"/>
                </a:lnTo>
                <a:lnTo>
                  <a:pt x="51688" y="95491"/>
                </a:lnTo>
                <a:lnTo>
                  <a:pt x="49784" y="85280"/>
                </a:lnTo>
                <a:lnTo>
                  <a:pt x="48450" y="77920"/>
                </a:lnTo>
                <a:lnTo>
                  <a:pt x="47498" y="71173"/>
                </a:lnTo>
                <a:lnTo>
                  <a:pt x="46926" y="65042"/>
                </a:lnTo>
                <a:lnTo>
                  <a:pt x="46736" y="59524"/>
                </a:lnTo>
                <a:lnTo>
                  <a:pt x="47497" y="47561"/>
                </a:lnTo>
                <a:lnTo>
                  <a:pt x="73485" y="14112"/>
                </a:lnTo>
                <a:lnTo>
                  <a:pt x="92710" y="11303"/>
                </a:lnTo>
                <a:lnTo>
                  <a:pt x="94996" y="11303"/>
                </a:lnTo>
                <a:lnTo>
                  <a:pt x="9499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6">
            <a:extLst>
              <a:ext uri="{FF2B5EF4-FFF2-40B4-BE49-F238E27FC236}">
                <a16:creationId xmlns:a16="http://schemas.microsoft.com/office/drawing/2014/main" id="{A6F907DB-E6A3-5844-98F2-B9259CFC5405}"/>
              </a:ext>
            </a:extLst>
          </p:cNvPr>
          <p:cNvSpPr txBox="1"/>
          <p:nvPr/>
        </p:nvSpPr>
        <p:spPr>
          <a:xfrm>
            <a:off x="662940" y="4770689"/>
            <a:ext cx="7018655" cy="1848485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729615" indent="-347980">
              <a:lnSpc>
                <a:spcPct val="100000"/>
              </a:lnSpc>
              <a:spcBef>
                <a:spcPts val="63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29615" algn="l"/>
                <a:tab pos="730250" algn="l"/>
              </a:tabLst>
            </a:pPr>
            <a:r>
              <a:rPr sz="2400" dirty="0">
                <a:solidFill>
                  <a:srgbClr val="0000FF"/>
                </a:solidFill>
                <a:latin typeface="Cambria Math"/>
                <a:cs typeface="Cambria Math"/>
              </a:rPr>
              <a:t>𝑺</a:t>
            </a:r>
            <a:r>
              <a:rPr sz="2625" baseline="-15873" dirty="0">
                <a:solidFill>
                  <a:srgbClr val="0000FF"/>
                </a:solidFill>
                <a:latin typeface="Cambria Math"/>
                <a:cs typeface="Cambria Math"/>
              </a:rPr>
              <a:t>𝟐</a:t>
            </a:r>
            <a:r>
              <a:rPr sz="2400" spc="-5" dirty="0">
                <a:latin typeface="PMingLiU"/>
                <a:cs typeface="PMingLiU"/>
              </a:rPr>
              <a:t>：</a:t>
            </a:r>
            <a:r>
              <a:rPr sz="24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数组</a:t>
            </a:r>
            <a:r>
              <a:rPr sz="2400" dirty="0">
                <a:latin typeface="Cambria Math"/>
                <a:cs typeface="Cambria Math"/>
              </a:rPr>
              <a:t>𝑿[𝒏/𝟐</a:t>
            </a:r>
            <a:r>
              <a:rPr sz="2400" spc="10" dirty="0">
                <a:latin typeface="Cambria Math"/>
                <a:cs typeface="Cambria Math"/>
              </a:rPr>
              <a:t> + </a:t>
            </a:r>
            <a:r>
              <a:rPr sz="2400" dirty="0">
                <a:latin typeface="Cambria Math"/>
                <a:cs typeface="Cambria Math"/>
              </a:rPr>
              <a:t>𝟏.</a:t>
            </a:r>
            <a:r>
              <a:rPr sz="2400" spc="-80" dirty="0">
                <a:latin typeface="Cambria Math"/>
                <a:cs typeface="Cambria Math"/>
              </a:rPr>
              <a:t> . </a:t>
            </a:r>
            <a:r>
              <a:rPr sz="2400" dirty="0">
                <a:latin typeface="Cambria Math"/>
                <a:cs typeface="Cambria Math"/>
              </a:rPr>
              <a:t>𝒏]</a:t>
            </a:r>
            <a:r>
              <a:rPr sz="2400" spc="15" dirty="0">
                <a:latin typeface="Cambria Math"/>
                <a:cs typeface="Cambria Math"/>
              </a:rPr>
              <a:t> </a:t>
            </a:r>
            <a:r>
              <a:rPr sz="24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的最大子数组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381000" indent="-342900">
              <a:lnSpc>
                <a:spcPct val="100000"/>
              </a:lnSpc>
              <a:spcBef>
                <a:spcPts val="63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80365" algn="l"/>
                <a:tab pos="381000" algn="l"/>
              </a:tabLst>
            </a:pPr>
            <a:r>
              <a:rPr sz="28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合并子问题</a:t>
            </a:r>
            <a:r>
              <a:rPr sz="2800" spc="-10" dirty="0" err="1">
                <a:latin typeface="PMingLiU"/>
                <a:cs typeface="PMingLiU"/>
              </a:rPr>
              <a:t>，</a:t>
            </a:r>
            <a:r>
              <a:rPr sz="28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得到</a:t>
            </a:r>
            <a:r>
              <a:rPr sz="2800" spc="-20" dirty="0">
                <a:latin typeface="Cambria Math"/>
                <a:cs typeface="Cambria Math"/>
              </a:rPr>
              <a:t>𝑺</a:t>
            </a:r>
            <a:r>
              <a:rPr sz="3075" spc="-30" baseline="-14905" dirty="0">
                <a:latin typeface="Cambria Math"/>
                <a:cs typeface="Cambria Math"/>
              </a:rPr>
              <a:t>𝒎𝒂𝒙</a:t>
            </a:r>
            <a:endParaRPr sz="3075" baseline="-14905" dirty="0">
              <a:latin typeface="Cambria Math"/>
              <a:cs typeface="Cambria Math"/>
            </a:endParaRPr>
          </a:p>
          <a:p>
            <a:pPr marL="729615" lvl="1" indent="-347980">
              <a:lnSpc>
                <a:spcPct val="100000"/>
              </a:lnSpc>
              <a:spcBef>
                <a:spcPts val="61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29615" algn="l"/>
                <a:tab pos="730250" algn="l"/>
              </a:tabLst>
            </a:pP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2625" baseline="-15873" dirty="0">
                <a:solidFill>
                  <a:srgbClr val="FF0000"/>
                </a:solidFill>
                <a:latin typeface="Cambria Math"/>
                <a:cs typeface="Cambria Math"/>
              </a:rPr>
              <a:t>𝟑</a:t>
            </a:r>
            <a:r>
              <a:rPr sz="2400" spc="-5" dirty="0">
                <a:latin typeface="PMingLiU"/>
                <a:cs typeface="PMingLiU"/>
              </a:rPr>
              <a:t>：</a:t>
            </a:r>
            <a:r>
              <a:rPr sz="24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跨中点的最大子数组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29615" lvl="1" indent="-347980">
              <a:lnSpc>
                <a:spcPct val="100000"/>
              </a:lnSpc>
              <a:spcBef>
                <a:spcPts val="56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29615" algn="l"/>
                <a:tab pos="730250" algn="l"/>
              </a:tabLst>
            </a:pP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数组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𝑿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的最大子数组之和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2625" baseline="-15873" dirty="0">
                <a:solidFill>
                  <a:srgbClr val="FF0000"/>
                </a:solidFill>
                <a:latin typeface="Cambria Math"/>
                <a:cs typeface="Cambria Math"/>
              </a:rPr>
              <a:t>𝒎𝒂𝒙</a:t>
            </a:r>
            <a:r>
              <a:rPr sz="2625" spc="637" baseline="-15873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85" dirty="0">
                <a:solidFill>
                  <a:srgbClr val="FF0000"/>
                </a:solidFill>
                <a:latin typeface="Cambria Math"/>
                <a:cs typeface="Cambria Math"/>
              </a:rPr>
              <a:t>= 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𝒎𝒂𝒙</a:t>
            </a:r>
            <a:r>
              <a:rPr sz="2400" spc="45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2625" baseline="-15873" dirty="0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r>
              <a:rPr sz="2400" spc="-60" dirty="0">
                <a:solidFill>
                  <a:srgbClr val="FF0000"/>
                </a:solidFill>
                <a:latin typeface="Cambria Math"/>
                <a:cs typeface="Cambria Math"/>
              </a:rPr>
              <a:t>, 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2625" baseline="-15873" dirty="0">
                <a:solidFill>
                  <a:srgbClr val="FF0000"/>
                </a:solidFill>
                <a:latin typeface="Cambria Math"/>
                <a:cs typeface="Cambria Math"/>
              </a:rPr>
              <a:t>𝟐</a:t>
            </a:r>
            <a:r>
              <a:rPr sz="2400" spc="-60" dirty="0">
                <a:solidFill>
                  <a:srgbClr val="FF0000"/>
                </a:solidFill>
                <a:latin typeface="Cambria Math"/>
                <a:cs typeface="Cambria Math"/>
              </a:rPr>
              <a:t>, </a:t>
            </a:r>
            <a:r>
              <a:rPr sz="2400" spc="-25" dirty="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2625" spc="-37" baseline="-15873" dirty="0">
                <a:solidFill>
                  <a:srgbClr val="FF0000"/>
                </a:solidFill>
                <a:latin typeface="Cambria Math"/>
                <a:cs typeface="Cambria Math"/>
              </a:rPr>
              <a:t>𝟑</a:t>
            </a:r>
            <a:endParaRPr sz="2625" baseline="-15873" dirty="0">
              <a:latin typeface="Cambria Math"/>
              <a:cs typeface="Cambria Math"/>
            </a:endParaRPr>
          </a:p>
        </p:txBody>
      </p:sp>
      <p:graphicFrame>
        <p:nvGraphicFramePr>
          <p:cNvPr id="13" name="object 7">
            <a:extLst>
              <a:ext uri="{FF2B5EF4-FFF2-40B4-BE49-F238E27FC236}">
                <a16:creationId xmlns:a16="http://schemas.microsoft.com/office/drawing/2014/main" id="{BDFCE2EF-40C9-1548-8910-FA5B92C5281D}"/>
              </a:ext>
            </a:extLst>
          </p:cNvPr>
          <p:cNvGraphicFramePr>
            <a:graphicFrameLocks noGrp="1"/>
          </p:cNvGraphicFramePr>
          <p:nvPr/>
        </p:nvGraphicFramePr>
        <p:xfrm>
          <a:off x="2737866" y="1092708"/>
          <a:ext cx="5756273" cy="6946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3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3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31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531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531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19380"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FF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310"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object 8">
            <a:extLst>
              <a:ext uri="{FF2B5EF4-FFF2-40B4-BE49-F238E27FC236}">
                <a16:creationId xmlns:a16="http://schemas.microsoft.com/office/drawing/2014/main" id="{52DA9211-6B36-114D-8FB3-D80F81C96293}"/>
              </a:ext>
            </a:extLst>
          </p:cNvPr>
          <p:cNvSpPr txBox="1"/>
          <p:nvPr/>
        </p:nvSpPr>
        <p:spPr>
          <a:xfrm>
            <a:off x="1569719" y="1289050"/>
            <a:ext cx="10553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>
                <a:latin typeface="Cambria Math"/>
                <a:cs typeface="Cambria Math"/>
              </a:rPr>
              <a:t>𝑿[𝟏.</a:t>
            </a:r>
            <a:r>
              <a:rPr sz="2400" spc="-120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.</a:t>
            </a:r>
            <a:r>
              <a:rPr sz="2400" spc="-114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𝒏]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5" name="object 9">
            <a:extLst>
              <a:ext uri="{FF2B5EF4-FFF2-40B4-BE49-F238E27FC236}">
                <a16:creationId xmlns:a16="http://schemas.microsoft.com/office/drawing/2014/main" id="{4ED8FC41-750E-9C40-90E6-D3422400FB1E}"/>
              </a:ext>
            </a:extLst>
          </p:cNvPr>
          <p:cNvSpPr/>
          <p:nvPr/>
        </p:nvSpPr>
        <p:spPr>
          <a:xfrm flipH="1">
            <a:off x="5637276" y="1111758"/>
            <a:ext cx="0" cy="770890"/>
          </a:xfrm>
          <a:custGeom>
            <a:avLst/>
            <a:gdLst/>
            <a:ahLst/>
            <a:cxnLst/>
            <a:rect l="l" t="t" r="r" b="b"/>
            <a:pathLst>
              <a:path h="770889">
                <a:moveTo>
                  <a:pt x="0" y="0"/>
                </a:moveTo>
                <a:lnTo>
                  <a:pt x="0" y="770381"/>
                </a:lnTo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6" name="object 10">
            <a:extLst>
              <a:ext uri="{FF2B5EF4-FFF2-40B4-BE49-F238E27FC236}">
                <a16:creationId xmlns:a16="http://schemas.microsoft.com/office/drawing/2014/main" id="{1EB3F7BC-6CB4-B64C-8CF8-B6E5ACE5F4FC}"/>
              </a:ext>
            </a:extLst>
          </p:cNvPr>
          <p:cNvGraphicFramePr>
            <a:graphicFrameLocks noGrp="1"/>
          </p:cNvGraphicFramePr>
          <p:nvPr/>
        </p:nvGraphicFramePr>
        <p:xfrm>
          <a:off x="1654175" y="2197735"/>
          <a:ext cx="2743198" cy="5759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5945"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solidFill>
                            <a:srgbClr val="00AF5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solidFill>
                            <a:srgbClr val="00AF50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object 11">
            <a:extLst>
              <a:ext uri="{FF2B5EF4-FFF2-40B4-BE49-F238E27FC236}">
                <a16:creationId xmlns:a16="http://schemas.microsoft.com/office/drawing/2014/main" id="{3E237F1C-466F-FA41-B903-7823AC6B544C}"/>
              </a:ext>
            </a:extLst>
          </p:cNvPr>
          <p:cNvGraphicFramePr>
            <a:graphicFrameLocks noGrp="1"/>
          </p:cNvGraphicFramePr>
          <p:nvPr/>
        </p:nvGraphicFramePr>
        <p:xfrm>
          <a:off x="6872216" y="2197735"/>
          <a:ext cx="3079750" cy="5759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5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5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5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5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594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solidFill>
                            <a:srgbClr val="0431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57150">
                      <a:solidFill>
                        <a:srgbClr val="0000FF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solidFill>
                            <a:srgbClr val="0431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081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 spc="-20">
                          <a:solidFill>
                            <a:srgbClr val="0431FF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solidFill>
                            <a:srgbClr val="0431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solidFill>
                            <a:srgbClr val="0431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solidFill>
                            <a:srgbClr val="0431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FF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object 12">
            <a:extLst>
              <a:ext uri="{FF2B5EF4-FFF2-40B4-BE49-F238E27FC236}">
                <a16:creationId xmlns:a16="http://schemas.microsoft.com/office/drawing/2014/main" id="{476F569A-6C5D-2C44-8034-936F00588A92}"/>
              </a:ext>
            </a:extLst>
          </p:cNvPr>
          <p:cNvSpPr/>
          <p:nvPr/>
        </p:nvSpPr>
        <p:spPr>
          <a:xfrm>
            <a:off x="6893814" y="2756916"/>
            <a:ext cx="3079750" cy="252729"/>
          </a:xfrm>
          <a:custGeom>
            <a:avLst/>
            <a:gdLst/>
            <a:ahLst/>
            <a:cxnLst/>
            <a:rect l="l" t="t" r="r" b="b"/>
            <a:pathLst>
              <a:path w="3079750" h="252729">
                <a:moveTo>
                  <a:pt x="3079241" y="0"/>
                </a:moveTo>
                <a:lnTo>
                  <a:pt x="3073892" y="49065"/>
                </a:lnTo>
                <a:lnTo>
                  <a:pt x="3059303" y="89154"/>
                </a:lnTo>
                <a:lnTo>
                  <a:pt x="3037665" y="116193"/>
                </a:lnTo>
                <a:lnTo>
                  <a:pt x="3011169" y="126111"/>
                </a:lnTo>
                <a:lnTo>
                  <a:pt x="1607692" y="126111"/>
                </a:lnTo>
                <a:lnTo>
                  <a:pt x="1581197" y="136028"/>
                </a:lnTo>
                <a:lnTo>
                  <a:pt x="1559559" y="163067"/>
                </a:lnTo>
                <a:lnTo>
                  <a:pt x="1544970" y="203156"/>
                </a:lnTo>
                <a:lnTo>
                  <a:pt x="1539620" y="252222"/>
                </a:lnTo>
                <a:lnTo>
                  <a:pt x="1534271" y="203156"/>
                </a:lnTo>
                <a:lnTo>
                  <a:pt x="1519681" y="163067"/>
                </a:lnTo>
                <a:lnTo>
                  <a:pt x="1498044" y="136028"/>
                </a:lnTo>
                <a:lnTo>
                  <a:pt x="1471549" y="126111"/>
                </a:lnTo>
                <a:lnTo>
                  <a:pt x="68071" y="126111"/>
                </a:lnTo>
                <a:lnTo>
                  <a:pt x="41576" y="116193"/>
                </a:lnTo>
                <a:lnTo>
                  <a:pt x="19938" y="89154"/>
                </a:lnTo>
                <a:lnTo>
                  <a:pt x="5349" y="49065"/>
                </a:lnTo>
                <a:lnTo>
                  <a:pt x="0" y="0"/>
                </a:lnTo>
              </a:path>
            </a:pathLst>
          </a:custGeom>
          <a:ln w="381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3">
            <a:extLst>
              <a:ext uri="{FF2B5EF4-FFF2-40B4-BE49-F238E27FC236}">
                <a16:creationId xmlns:a16="http://schemas.microsoft.com/office/drawing/2014/main" id="{820972E8-5739-C74F-90B4-1DEE0779602F}"/>
              </a:ext>
            </a:extLst>
          </p:cNvPr>
          <p:cNvSpPr/>
          <p:nvPr/>
        </p:nvSpPr>
        <p:spPr>
          <a:xfrm>
            <a:off x="2756916" y="2803398"/>
            <a:ext cx="1100455" cy="186690"/>
          </a:xfrm>
          <a:custGeom>
            <a:avLst/>
            <a:gdLst/>
            <a:ahLst/>
            <a:cxnLst/>
            <a:rect l="l" t="t" r="r" b="b"/>
            <a:pathLst>
              <a:path w="1100454" h="186689">
                <a:moveTo>
                  <a:pt x="1100328" y="0"/>
                </a:moveTo>
                <a:lnTo>
                  <a:pt x="1096361" y="36337"/>
                </a:lnTo>
                <a:lnTo>
                  <a:pt x="1085548" y="66008"/>
                </a:lnTo>
                <a:lnTo>
                  <a:pt x="1069520" y="86010"/>
                </a:lnTo>
                <a:lnTo>
                  <a:pt x="1049908" y="93344"/>
                </a:lnTo>
                <a:lnTo>
                  <a:pt x="600582" y="93344"/>
                </a:lnTo>
                <a:lnTo>
                  <a:pt x="580971" y="100679"/>
                </a:lnTo>
                <a:lnTo>
                  <a:pt x="564943" y="120681"/>
                </a:lnTo>
                <a:lnTo>
                  <a:pt x="554130" y="150352"/>
                </a:lnTo>
                <a:lnTo>
                  <a:pt x="550163" y="186689"/>
                </a:lnTo>
                <a:lnTo>
                  <a:pt x="546197" y="150352"/>
                </a:lnTo>
                <a:lnTo>
                  <a:pt x="535384" y="120681"/>
                </a:lnTo>
                <a:lnTo>
                  <a:pt x="519356" y="100679"/>
                </a:lnTo>
                <a:lnTo>
                  <a:pt x="499744" y="93344"/>
                </a:lnTo>
                <a:lnTo>
                  <a:pt x="50418" y="93344"/>
                </a:lnTo>
                <a:lnTo>
                  <a:pt x="30807" y="86010"/>
                </a:lnTo>
                <a:lnTo>
                  <a:pt x="14779" y="66008"/>
                </a:lnTo>
                <a:lnTo>
                  <a:pt x="3966" y="36337"/>
                </a:lnTo>
                <a:lnTo>
                  <a:pt x="0" y="0"/>
                </a:lnTo>
              </a:path>
            </a:pathLst>
          </a:custGeom>
          <a:ln w="38100">
            <a:solidFill>
              <a:srgbClr val="1CB4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4">
            <a:extLst>
              <a:ext uri="{FF2B5EF4-FFF2-40B4-BE49-F238E27FC236}">
                <a16:creationId xmlns:a16="http://schemas.microsoft.com/office/drawing/2014/main" id="{D79598D5-549E-B24F-BD09-1AB731A158DF}"/>
              </a:ext>
            </a:extLst>
          </p:cNvPr>
          <p:cNvSpPr/>
          <p:nvPr/>
        </p:nvSpPr>
        <p:spPr>
          <a:xfrm>
            <a:off x="3044951" y="1790445"/>
            <a:ext cx="821055" cy="426084"/>
          </a:xfrm>
          <a:custGeom>
            <a:avLst/>
            <a:gdLst/>
            <a:ahLst/>
            <a:cxnLst/>
            <a:rect l="l" t="t" r="r" b="b"/>
            <a:pathLst>
              <a:path w="821053" h="426084">
                <a:moveTo>
                  <a:pt x="76327" y="323723"/>
                </a:moveTo>
                <a:lnTo>
                  <a:pt x="0" y="426084"/>
                </a:lnTo>
                <a:lnTo>
                  <a:pt x="127762" y="425703"/>
                </a:lnTo>
                <a:lnTo>
                  <a:pt x="114951" y="400303"/>
                </a:lnTo>
                <a:lnTo>
                  <a:pt x="93599" y="400303"/>
                </a:lnTo>
                <a:lnTo>
                  <a:pt x="76454" y="366267"/>
                </a:lnTo>
                <a:lnTo>
                  <a:pt x="93462" y="357698"/>
                </a:lnTo>
                <a:lnTo>
                  <a:pt x="76327" y="323723"/>
                </a:lnTo>
                <a:close/>
              </a:path>
              <a:path w="821053" h="426084">
                <a:moveTo>
                  <a:pt x="93462" y="357698"/>
                </a:moveTo>
                <a:lnTo>
                  <a:pt x="76454" y="366267"/>
                </a:lnTo>
                <a:lnTo>
                  <a:pt x="93599" y="400303"/>
                </a:lnTo>
                <a:lnTo>
                  <a:pt x="110624" y="391725"/>
                </a:lnTo>
                <a:lnTo>
                  <a:pt x="93462" y="357698"/>
                </a:lnTo>
                <a:close/>
              </a:path>
              <a:path w="821053" h="426084">
                <a:moveTo>
                  <a:pt x="110624" y="391725"/>
                </a:moveTo>
                <a:lnTo>
                  <a:pt x="93599" y="400303"/>
                </a:lnTo>
                <a:lnTo>
                  <a:pt x="114951" y="400303"/>
                </a:lnTo>
                <a:lnTo>
                  <a:pt x="110624" y="391725"/>
                </a:lnTo>
                <a:close/>
              </a:path>
              <a:path w="821053" h="426084">
                <a:moveTo>
                  <a:pt x="803401" y="0"/>
                </a:moveTo>
                <a:lnTo>
                  <a:pt x="93462" y="357698"/>
                </a:lnTo>
                <a:lnTo>
                  <a:pt x="110624" y="391725"/>
                </a:lnTo>
                <a:lnTo>
                  <a:pt x="820547" y="34036"/>
                </a:lnTo>
                <a:lnTo>
                  <a:pt x="8034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5">
            <a:extLst>
              <a:ext uri="{FF2B5EF4-FFF2-40B4-BE49-F238E27FC236}">
                <a16:creationId xmlns:a16="http://schemas.microsoft.com/office/drawing/2014/main" id="{8DE6CE0C-16C1-AB4D-A5B0-D11120579E26}"/>
              </a:ext>
            </a:extLst>
          </p:cNvPr>
          <p:cNvSpPr/>
          <p:nvPr/>
        </p:nvSpPr>
        <p:spPr>
          <a:xfrm>
            <a:off x="7338948" y="1789683"/>
            <a:ext cx="1094740" cy="440690"/>
          </a:xfrm>
          <a:custGeom>
            <a:avLst/>
            <a:gdLst/>
            <a:ahLst/>
            <a:cxnLst/>
            <a:rect l="l" t="t" r="r" b="b"/>
            <a:pathLst>
              <a:path w="1094740" h="440689">
                <a:moveTo>
                  <a:pt x="980896" y="404518"/>
                </a:moveTo>
                <a:lnTo>
                  <a:pt x="967485" y="440181"/>
                </a:lnTo>
                <a:lnTo>
                  <a:pt x="1094485" y="426846"/>
                </a:lnTo>
                <a:lnTo>
                  <a:pt x="1080029" y="411225"/>
                </a:lnTo>
                <a:lnTo>
                  <a:pt x="998727" y="411225"/>
                </a:lnTo>
                <a:lnTo>
                  <a:pt x="980896" y="404518"/>
                </a:lnTo>
                <a:close/>
              </a:path>
              <a:path w="1094740" h="440689">
                <a:moveTo>
                  <a:pt x="994305" y="368860"/>
                </a:moveTo>
                <a:lnTo>
                  <a:pt x="980896" y="404518"/>
                </a:lnTo>
                <a:lnTo>
                  <a:pt x="998727" y="411225"/>
                </a:lnTo>
                <a:lnTo>
                  <a:pt x="1012062" y="375538"/>
                </a:lnTo>
                <a:lnTo>
                  <a:pt x="994305" y="368860"/>
                </a:lnTo>
                <a:close/>
              </a:path>
              <a:path w="1094740" h="440689">
                <a:moveTo>
                  <a:pt x="1007745" y="333120"/>
                </a:moveTo>
                <a:lnTo>
                  <a:pt x="994305" y="368860"/>
                </a:lnTo>
                <a:lnTo>
                  <a:pt x="1012062" y="375538"/>
                </a:lnTo>
                <a:lnTo>
                  <a:pt x="998727" y="411225"/>
                </a:lnTo>
                <a:lnTo>
                  <a:pt x="1080029" y="411225"/>
                </a:lnTo>
                <a:lnTo>
                  <a:pt x="1007745" y="333120"/>
                </a:lnTo>
                <a:close/>
              </a:path>
              <a:path w="1094740" h="440689">
                <a:moveTo>
                  <a:pt x="13461" y="0"/>
                </a:moveTo>
                <a:lnTo>
                  <a:pt x="0" y="35560"/>
                </a:lnTo>
                <a:lnTo>
                  <a:pt x="980896" y="404518"/>
                </a:lnTo>
                <a:lnTo>
                  <a:pt x="994305" y="368860"/>
                </a:lnTo>
                <a:lnTo>
                  <a:pt x="134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16">
            <a:extLst>
              <a:ext uri="{FF2B5EF4-FFF2-40B4-BE49-F238E27FC236}">
                <a16:creationId xmlns:a16="http://schemas.microsoft.com/office/drawing/2014/main" id="{781D4359-7F52-A14E-A0DD-4BAC3B20A568}"/>
              </a:ext>
            </a:extLst>
          </p:cNvPr>
          <p:cNvSpPr/>
          <p:nvPr/>
        </p:nvSpPr>
        <p:spPr>
          <a:xfrm>
            <a:off x="3909059" y="939546"/>
            <a:ext cx="4600575" cy="237490"/>
          </a:xfrm>
          <a:custGeom>
            <a:avLst/>
            <a:gdLst/>
            <a:ahLst/>
            <a:cxnLst/>
            <a:rect l="l" t="t" r="r" b="b"/>
            <a:pathLst>
              <a:path w="4600575" h="237490">
                <a:moveTo>
                  <a:pt x="4600194" y="236981"/>
                </a:moveTo>
                <a:lnTo>
                  <a:pt x="4595157" y="190875"/>
                </a:lnTo>
                <a:lnTo>
                  <a:pt x="4581429" y="153209"/>
                </a:lnTo>
                <a:lnTo>
                  <a:pt x="4561081" y="127807"/>
                </a:lnTo>
                <a:lnTo>
                  <a:pt x="4536186" y="118490"/>
                </a:lnTo>
                <a:lnTo>
                  <a:pt x="2364104" y="118490"/>
                </a:lnTo>
                <a:lnTo>
                  <a:pt x="2339209" y="109174"/>
                </a:lnTo>
                <a:lnTo>
                  <a:pt x="2318861" y="83772"/>
                </a:lnTo>
                <a:lnTo>
                  <a:pt x="2305133" y="46106"/>
                </a:lnTo>
                <a:lnTo>
                  <a:pt x="2300097" y="0"/>
                </a:lnTo>
                <a:lnTo>
                  <a:pt x="2295060" y="46106"/>
                </a:lnTo>
                <a:lnTo>
                  <a:pt x="2281332" y="83772"/>
                </a:lnTo>
                <a:lnTo>
                  <a:pt x="2260984" y="109174"/>
                </a:lnTo>
                <a:lnTo>
                  <a:pt x="2236089" y="118490"/>
                </a:lnTo>
                <a:lnTo>
                  <a:pt x="64007" y="118490"/>
                </a:lnTo>
                <a:lnTo>
                  <a:pt x="39112" y="127807"/>
                </a:lnTo>
                <a:lnTo>
                  <a:pt x="18764" y="153209"/>
                </a:lnTo>
                <a:lnTo>
                  <a:pt x="5036" y="190875"/>
                </a:lnTo>
                <a:lnTo>
                  <a:pt x="0" y="236981"/>
                </a:lnTo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8">
            <a:extLst>
              <a:ext uri="{FF2B5EF4-FFF2-40B4-BE49-F238E27FC236}">
                <a16:creationId xmlns:a16="http://schemas.microsoft.com/office/drawing/2014/main" id="{86F46553-014A-DA40-AF22-C09582D80921}"/>
              </a:ext>
            </a:extLst>
          </p:cNvPr>
          <p:cNvSpPr txBox="1"/>
          <p:nvPr/>
        </p:nvSpPr>
        <p:spPr>
          <a:xfrm>
            <a:off x="10041128" y="2286000"/>
            <a:ext cx="19462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>
                <a:latin typeface="Cambria Math"/>
                <a:cs typeface="Cambria Math"/>
              </a:rPr>
              <a:t>𝑿[𝒏/𝟐</a:t>
            </a:r>
            <a:r>
              <a:rPr sz="2400" spc="-15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+ 𝟏.</a:t>
            </a:r>
            <a:r>
              <a:rPr sz="2400" spc="-140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.</a:t>
            </a:r>
            <a:r>
              <a:rPr sz="2400" spc="-135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𝒏]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4" name="object 19">
            <a:extLst>
              <a:ext uri="{FF2B5EF4-FFF2-40B4-BE49-F238E27FC236}">
                <a16:creationId xmlns:a16="http://schemas.microsoft.com/office/drawing/2014/main" id="{0F1C2113-3C8A-C042-B770-BA76C3DFBD3B}"/>
              </a:ext>
            </a:extLst>
          </p:cNvPr>
          <p:cNvSpPr txBox="1"/>
          <p:nvPr/>
        </p:nvSpPr>
        <p:spPr>
          <a:xfrm>
            <a:off x="169926" y="2298953"/>
            <a:ext cx="13874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>
                <a:latin typeface="Cambria Math"/>
                <a:cs typeface="Cambria Math"/>
              </a:rPr>
              <a:t>𝑿[𝟏.</a:t>
            </a:r>
            <a:r>
              <a:rPr sz="2400" spc="-120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.</a:t>
            </a:r>
            <a:r>
              <a:rPr sz="2400" spc="-114">
                <a:latin typeface="Cambria Math"/>
                <a:cs typeface="Cambria Math"/>
              </a:rPr>
              <a:t> </a:t>
            </a:r>
            <a:r>
              <a:rPr sz="2400" spc="-20">
                <a:latin typeface="Cambria Math"/>
                <a:cs typeface="Cambria Math"/>
              </a:rPr>
              <a:t>𝒏/𝟐]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5" name="object 20">
            <a:extLst>
              <a:ext uri="{FF2B5EF4-FFF2-40B4-BE49-F238E27FC236}">
                <a16:creationId xmlns:a16="http://schemas.microsoft.com/office/drawing/2014/main" id="{F6F8809F-0461-1143-B561-0E355CCC589E}"/>
              </a:ext>
            </a:extLst>
          </p:cNvPr>
          <p:cNvSpPr txBox="1"/>
          <p:nvPr/>
        </p:nvSpPr>
        <p:spPr>
          <a:xfrm>
            <a:off x="5072634" y="1876806"/>
            <a:ext cx="467359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>
                <a:latin typeface="Cambria Math"/>
                <a:cs typeface="Cambria Math"/>
              </a:rPr>
              <a:t>𝒏/𝟐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6" name="object 21">
            <a:extLst>
              <a:ext uri="{FF2B5EF4-FFF2-40B4-BE49-F238E27FC236}">
                <a16:creationId xmlns:a16="http://schemas.microsoft.com/office/drawing/2014/main" id="{E50D774C-3F18-1944-8A75-09B70DDB515B}"/>
              </a:ext>
            </a:extLst>
          </p:cNvPr>
          <p:cNvSpPr txBox="1"/>
          <p:nvPr/>
        </p:nvSpPr>
        <p:spPr>
          <a:xfrm>
            <a:off x="5684011" y="1876806"/>
            <a:ext cx="922019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>
                <a:latin typeface="Cambria Math"/>
                <a:cs typeface="Cambria Math"/>
              </a:rPr>
              <a:t>𝒏/𝟐</a:t>
            </a:r>
            <a:r>
              <a:rPr sz="2000" spc="-25">
                <a:latin typeface="Cambria Math"/>
                <a:cs typeface="Cambria Math"/>
              </a:rPr>
              <a:t> </a:t>
            </a:r>
            <a:r>
              <a:rPr sz="2000">
                <a:latin typeface="Cambria Math"/>
                <a:cs typeface="Cambria Math"/>
              </a:rPr>
              <a:t>+</a:t>
            </a:r>
            <a:r>
              <a:rPr sz="2000" spc="-10">
                <a:latin typeface="Cambria Math"/>
                <a:cs typeface="Cambria Math"/>
              </a:rPr>
              <a:t> </a:t>
            </a:r>
            <a:r>
              <a:rPr sz="2000" spc="-50">
                <a:latin typeface="Cambria Math"/>
                <a:cs typeface="Cambria Math"/>
              </a:rPr>
              <a:t>𝟏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3" name="object 29">
            <a:extLst>
              <a:ext uri="{FF2B5EF4-FFF2-40B4-BE49-F238E27FC236}">
                <a16:creationId xmlns:a16="http://schemas.microsoft.com/office/drawing/2014/main" id="{B8EE1206-C450-6443-A182-B2BD733CB0AB}"/>
              </a:ext>
            </a:extLst>
          </p:cNvPr>
          <p:cNvSpPr txBox="1"/>
          <p:nvPr/>
        </p:nvSpPr>
        <p:spPr>
          <a:xfrm>
            <a:off x="7885176" y="2959608"/>
            <a:ext cx="11563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>
                <a:solidFill>
                  <a:srgbClr val="0000FF"/>
                </a:solidFill>
                <a:latin typeface="Cambria Math"/>
                <a:cs typeface="Cambria Math"/>
              </a:rPr>
              <a:t>𝑺</a:t>
            </a:r>
            <a:r>
              <a:rPr sz="2625" baseline="-15873">
                <a:solidFill>
                  <a:srgbClr val="0000FF"/>
                </a:solidFill>
                <a:latin typeface="Cambria Math"/>
                <a:cs typeface="Cambria Math"/>
              </a:rPr>
              <a:t>𝟐</a:t>
            </a:r>
            <a:r>
              <a:rPr sz="2625" spc="569" baseline="-15873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0000FF"/>
                </a:solidFill>
                <a:latin typeface="Cambria Math"/>
                <a:cs typeface="Cambria Math"/>
              </a:rPr>
              <a:t>=</a:t>
            </a:r>
            <a:r>
              <a:rPr sz="2400" spc="130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sz="2400" spc="-25">
                <a:solidFill>
                  <a:srgbClr val="0000FF"/>
                </a:solidFill>
                <a:latin typeface="Cambria Math"/>
                <a:cs typeface="Cambria Math"/>
              </a:rPr>
              <a:t>𝟏𝟐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4" name="object 30">
            <a:extLst>
              <a:ext uri="{FF2B5EF4-FFF2-40B4-BE49-F238E27FC236}">
                <a16:creationId xmlns:a16="http://schemas.microsoft.com/office/drawing/2014/main" id="{B53CFAA2-00E4-D541-B824-89DC76988975}"/>
              </a:ext>
            </a:extLst>
          </p:cNvPr>
          <p:cNvSpPr txBox="1"/>
          <p:nvPr/>
        </p:nvSpPr>
        <p:spPr>
          <a:xfrm>
            <a:off x="2781807" y="2917697"/>
            <a:ext cx="974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>
                <a:solidFill>
                  <a:srgbClr val="00AF50"/>
                </a:solidFill>
                <a:latin typeface="Cambria Math"/>
                <a:cs typeface="Cambria Math"/>
              </a:rPr>
              <a:t>𝑺</a:t>
            </a:r>
            <a:r>
              <a:rPr sz="2625" baseline="-15873">
                <a:solidFill>
                  <a:srgbClr val="00AF50"/>
                </a:solidFill>
                <a:latin typeface="Cambria Math"/>
                <a:cs typeface="Cambria Math"/>
              </a:rPr>
              <a:t>𝟏</a:t>
            </a:r>
            <a:r>
              <a:rPr sz="2625" spc="569" baseline="-15873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00AF50"/>
                </a:solidFill>
                <a:latin typeface="Cambria Math"/>
                <a:cs typeface="Cambria Math"/>
              </a:rPr>
              <a:t>=</a:t>
            </a:r>
            <a:r>
              <a:rPr sz="2400" spc="13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2400" spc="-50">
                <a:solidFill>
                  <a:srgbClr val="00AF50"/>
                </a:solidFill>
                <a:latin typeface="Cambria Math"/>
                <a:cs typeface="Cambria Math"/>
              </a:rPr>
              <a:t>𝟖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5" name="object 28">
            <a:extLst>
              <a:ext uri="{FF2B5EF4-FFF2-40B4-BE49-F238E27FC236}">
                <a16:creationId xmlns:a16="http://schemas.microsoft.com/office/drawing/2014/main" id="{29A7DF10-47A2-884D-9E74-5735456CFE27}"/>
              </a:ext>
            </a:extLst>
          </p:cNvPr>
          <p:cNvSpPr txBox="1"/>
          <p:nvPr/>
        </p:nvSpPr>
        <p:spPr>
          <a:xfrm>
            <a:off x="6179820" y="611378"/>
            <a:ext cx="11563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2625" baseline="-15873" dirty="0">
                <a:solidFill>
                  <a:srgbClr val="FF0000"/>
                </a:solidFill>
                <a:latin typeface="Cambria Math"/>
                <a:cs typeface="Cambria Math"/>
              </a:rPr>
              <a:t>𝟑</a:t>
            </a:r>
            <a:r>
              <a:rPr sz="2625" spc="569" baseline="-15873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400" spc="13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25" dirty="0">
                <a:solidFill>
                  <a:srgbClr val="FF0000"/>
                </a:solidFill>
                <a:latin typeface="Cambria Math"/>
                <a:cs typeface="Cambria Math"/>
              </a:rPr>
              <a:t>𝟏𝟔</a:t>
            </a:r>
            <a:endParaRPr sz="2400" dirty="0">
              <a:latin typeface="Cambria Math"/>
              <a:cs typeface="Cambria Math"/>
            </a:endParaRPr>
          </a:p>
        </p:txBody>
      </p:sp>
      <p:sp>
        <p:nvSpPr>
          <p:cNvPr id="36" name="object 2">
            <a:extLst>
              <a:ext uri="{FF2B5EF4-FFF2-40B4-BE49-F238E27FC236}">
                <a16:creationId xmlns:a16="http://schemas.microsoft.com/office/drawing/2014/main" id="{52585A0C-5F2C-F144-B715-D30835D82F76}"/>
              </a:ext>
            </a:extLst>
          </p:cNvPr>
          <p:cNvSpPr/>
          <p:nvPr/>
        </p:nvSpPr>
        <p:spPr>
          <a:xfrm>
            <a:off x="6894194" y="4463415"/>
            <a:ext cx="1896110" cy="651510"/>
          </a:xfrm>
          <a:custGeom>
            <a:avLst/>
            <a:gdLst/>
            <a:ahLst/>
            <a:cxnLst/>
            <a:rect l="l" t="t" r="r" b="b"/>
            <a:pathLst>
              <a:path w="1896108" h="651510">
                <a:moveTo>
                  <a:pt x="1787271" y="0"/>
                </a:moveTo>
                <a:lnTo>
                  <a:pt x="108584" y="0"/>
                </a:lnTo>
                <a:lnTo>
                  <a:pt x="66329" y="8536"/>
                </a:lnTo>
                <a:lnTo>
                  <a:pt x="31813" y="31813"/>
                </a:lnTo>
                <a:lnTo>
                  <a:pt x="8536" y="66329"/>
                </a:lnTo>
                <a:lnTo>
                  <a:pt x="0" y="108585"/>
                </a:lnTo>
                <a:lnTo>
                  <a:pt x="0" y="542925"/>
                </a:lnTo>
                <a:lnTo>
                  <a:pt x="8536" y="585180"/>
                </a:lnTo>
                <a:lnTo>
                  <a:pt x="31813" y="619696"/>
                </a:lnTo>
                <a:lnTo>
                  <a:pt x="66329" y="642973"/>
                </a:lnTo>
                <a:lnTo>
                  <a:pt x="108584" y="651510"/>
                </a:lnTo>
                <a:lnTo>
                  <a:pt x="1787271" y="651510"/>
                </a:lnTo>
                <a:lnTo>
                  <a:pt x="1829526" y="642973"/>
                </a:lnTo>
                <a:lnTo>
                  <a:pt x="1864042" y="619696"/>
                </a:lnTo>
                <a:lnTo>
                  <a:pt x="1887319" y="585180"/>
                </a:lnTo>
                <a:lnTo>
                  <a:pt x="1895855" y="542925"/>
                </a:lnTo>
                <a:lnTo>
                  <a:pt x="1895855" y="108585"/>
                </a:lnTo>
                <a:lnTo>
                  <a:pt x="1887319" y="66329"/>
                </a:lnTo>
                <a:lnTo>
                  <a:pt x="1864042" y="31813"/>
                </a:lnTo>
                <a:lnTo>
                  <a:pt x="1829526" y="8536"/>
                </a:lnTo>
                <a:lnTo>
                  <a:pt x="1787271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">
            <a:extLst>
              <a:ext uri="{FF2B5EF4-FFF2-40B4-BE49-F238E27FC236}">
                <a16:creationId xmlns:a16="http://schemas.microsoft.com/office/drawing/2014/main" id="{DD84D1AD-9BA0-154F-8999-05CEDD1FB6B3}"/>
              </a:ext>
            </a:extLst>
          </p:cNvPr>
          <p:cNvSpPr txBox="1"/>
          <p:nvPr/>
        </p:nvSpPr>
        <p:spPr>
          <a:xfrm>
            <a:off x="7067295" y="4541773"/>
            <a:ext cx="1549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 err="1">
                <a:solidFill>
                  <a:srgbClr val="FFFFFF"/>
                </a:solidFill>
                <a:latin typeface="PMingLiU"/>
                <a:cs typeface="PMingLiU"/>
              </a:rPr>
              <a:t>可递归求解</a:t>
            </a:r>
            <a:endParaRPr sz="2400" dirty="0">
              <a:latin typeface="PMingLiU"/>
              <a:cs typeface="PMingLiU"/>
            </a:endParaRPr>
          </a:p>
        </p:txBody>
      </p:sp>
      <p:sp>
        <p:nvSpPr>
          <p:cNvPr id="38" name="object 34">
            <a:extLst>
              <a:ext uri="{FF2B5EF4-FFF2-40B4-BE49-F238E27FC236}">
                <a16:creationId xmlns:a16="http://schemas.microsoft.com/office/drawing/2014/main" id="{4C7C3F8C-5747-2241-B53F-A25A72329D0A}"/>
              </a:ext>
            </a:extLst>
          </p:cNvPr>
          <p:cNvSpPr/>
          <p:nvPr/>
        </p:nvSpPr>
        <p:spPr>
          <a:xfrm>
            <a:off x="6579107" y="4424171"/>
            <a:ext cx="258445" cy="810895"/>
          </a:xfrm>
          <a:custGeom>
            <a:avLst/>
            <a:gdLst/>
            <a:ahLst/>
            <a:cxnLst/>
            <a:rect l="l" t="t" r="r" b="b"/>
            <a:pathLst>
              <a:path w="258445" h="810895">
                <a:moveTo>
                  <a:pt x="0" y="0"/>
                </a:moveTo>
                <a:lnTo>
                  <a:pt x="50292" y="1692"/>
                </a:lnTo>
                <a:lnTo>
                  <a:pt x="91344" y="6302"/>
                </a:lnTo>
                <a:lnTo>
                  <a:pt x="119014" y="13126"/>
                </a:lnTo>
                <a:lnTo>
                  <a:pt x="129159" y="21462"/>
                </a:lnTo>
                <a:lnTo>
                  <a:pt x="129159" y="383920"/>
                </a:lnTo>
                <a:lnTo>
                  <a:pt x="139303" y="392257"/>
                </a:lnTo>
                <a:lnTo>
                  <a:pt x="166973" y="399081"/>
                </a:lnTo>
                <a:lnTo>
                  <a:pt x="208026" y="403691"/>
                </a:lnTo>
                <a:lnTo>
                  <a:pt x="258318" y="405383"/>
                </a:lnTo>
                <a:lnTo>
                  <a:pt x="208025" y="407076"/>
                </a:lnTo>
                <a:lnTo>
                  <a:pt x="166973" y="411686"/>
                </a:lnTo>
                <a:lnTo>
                  <a:pt x="139303" y="418510"/>
                </a:lnTo>
                <a:lnTo>
                  <a:pt x="129159" y="426846"/>
                </a:lnTo>
                <a:lnTo>
                  <a:pt x="129159" y="789304"/>
                </a:lnTo>
                <a:lnTo>
                  <a:pt x="119014" y="797641"/>
                </a:lnTo>
                <a:lnTo>
                  <a:pt x="91344" y="804465"/>
                </a:lnTo>
                <a:lnTo>
                  <a:pt x="50291" y="809075"/>
                </a:lnTo>
                <a:lnTo>
                  <a:pt x="0" y="810767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5">
            <a:extLst>
              <a:ext uri="{FF2B5EF4-FFF2-40B4-BE49-F238E27FC236}">
                <a16:creationId xmlns:a16="http://schemas.microsoft.com/office/drawing/2014/main" id="{13EAC4B0-6F9B-A643-AA2C-79AA64C2193C}"/>
              </a:ext>
            </a:extLst>
          </p:cNvPr>
          <p:cNvSpPr txBox="1"/>
          <p:nvPr/>
        </p:nvSpPr>
        <p:spPr>
          <a:xfrm>
            <a:off x="6505193" y="5520690"/>
            <a:ext cx="2981960" cy="661035"/>
          </a:xfrm>
          <a:prstGeom prst="rect">
            <a:avLst/>
          </a:prstGeom>
          <a:ln w="38100">
            <a:solidFill>
              <a:srgbClr val="FF0000"/>
            </a:solidFill>
          </a:ln>
        </p:spPr>
        <p:txBody>
          <a:bodyPr vert="horz" wrap="square" lIns="0" tIns="115570" rIns="0" bIns="0" rtlCol="0">
            <a:spAutoFit/>
          </a:bodyPr>
          <a:lstStyle/>
          <a:p>
            <a:pPr marL="112395">
              <a:lnSpc>
                <a:spcPct val="100000"/>
              </a:lnSpc>
              <a:spcBef>
                <a:spcPts val="910"/>
              </a:spcBef>
            </a:pPr>
            <a:r>
              <a:rPr sz="2400">
                <a:latin typeface="PMingLiU"/>
                <a:cs typeface="PMingLiU"/>
              </a:rPr>
              <a:t>问题：如何求解</a:t>
            </a:r>
            <a:r>
              <a:rPr sz="2400" spc="-25">
                <a:latin typeface="Cambria Math"/>
                <a:cs typeface="Cambria Math"/>
              </a:rPr>
              <a:t>𝑺</a:t>
            </a:r>
            <a:r>
              <a:rPr sz="2625" spc="-37" baseline="-15873">
                <a:latin typeface="Cambria Math"/>
                <a:cs typeface="Cambria Math"/>
              </a:rPr>
              <a:t>𝟑</a:t>
            </a:r>
            <a:r>
              <a:rPr sz="2400" spc="-25">
                <a:latin typeface="PMingLiU"/>
                <a:cs typeface="PMingLiU"/>
              </a:rPr>
              <a:t>？</a:t>
            </a:r>
            <a:endParaRPr sz="2400">
              <a:latin typeface="PMingLiU"/>
              <a:cs typeface="PMingLiU"/>
            </a:endParaRPr>
          </a:p>
        </p:txBody>
      </p:sp>
    </p:spTree>
    <p:extLst>
      <p:ext uri="{BB962C8B-B14F-4D97-AF65-F5344CB8AC3E}">
        <p14:creationId xmlns:p14="http://schemas.microsoft.com/office/powerpoint/2010/main" val="195918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36" grpId="0" animBg="1"/>
      <p:bldP spid="37" grpId="0"/>
      <p:bldP spid="38" grpId="0" animBg="1"/>
      <p:bldP spid="3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8864A6C-25DA-A346-8F6E-E5036B2B0A72}"/>
              </a:ext>
            </a:extLst>
          </p:cNvPr>
          <p:cNvSpPr txBox="1"/>
          <p:nvPr/>
        </p:nvSpPr>
        <p:spPr>
          <a:xfrm>
            <a:off x="1294227" y="211016"/>
            <a:ext cx="56261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000" dirty="0">
                <a:latin typeface="SimSun" panose="02010600030101010101" pitchFamily="2" charset="-122"/>
                <a:ea typeface="SimSun" panose="02010600030101010101" pitchFamily="2" charset="-122"/>
              </a:rPr>
              <a:t>算法比较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C45A69B0-3590-8C4A-B7AB-A4ADBF86FDA4}"/>
              </a:ext>
            </a:extLst>
          </p:cNvPr>
          <p:cNvGraphicFramePr>
            <a:graphicFrameLocks noGrp="1"/>
          </p:cNvGraphicFramePr>
          <p:nvPr/>
        </p:nvGraphicFramePr>
        <p:xfrm>
          <a:off x="1880489" y="1380848"/>
          <a:ext cx="8418830" cy="21958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09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9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4830">
                <a:tc>
                  <a:txBody>
                    <a:bodyPr/>
                    <a:lstStyle/>
                    <a:p>
                      <a:pPr marR="1536065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200" b="1" spc="-15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算法名称</a:t>
                      </a:r>
                      <a:endParaRPr sz="2200">
                        <a:latin typeface="Microsoft JhengHei"/>
                        <a:cs typeface="Microsoft JhengHei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200" b="1" spc="-10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时间复杂度</a:t>
                      </a:r>
                      <a:endParaRPr sz="2200">
                        <a:latin typeface="Microsoft JhengHei"/>
                        <a:cs typeface="Microsoft JhengHei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085">
                <a:tc>
                  <a:txBody>
                    <a:bodyPr/>
                    <a:lstStyle/>
                    <a:p>
                      <a:pPr marR="1538605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200" spc="-15" dirty="0" err="1">
                          <a:latin typeface="SimSun" panose="02010600030101010101" pitchFamily="2" charset="-122"/>
                          <a:ea typeface="SimSun" panose="02010600030101010101" pitchFamily="2" charset="-122"/>
                          <a:cs typeface="PMingLiU"/>
                        </a:rPr>
                        <a:t>蛮力枚举</a:t>
                      </a:r>
                      <a:endParaRPr sz="22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PMingLiU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8191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200" spc="-10">
                          <a:latin typeface="Cambria Math"/>
                          <a:cs typeface="Cambria Math"/>
                        </a:rPr>
                        <a:t>𝑶(𝒏</a:t>
                      </a:r>
                      <a:r>
                        <a:rPr sz="2400" spc="-15" baseline="27777">
                          <a:latin typeface="Cambria Math"/>
                          <a:cs typeface="Cambria Math"/>
                        </a:rPr>
                        <a:t>𝟑</a:t>
                      </a:r>
                      <a:r>
                        <a:rPr sz="2200" spc="-10">
                          <a:latin typeface="Cambria Math"/>
                          <a:cs typeface="Cambria Math"/>
                        </a:rPr>
                        <a:t>)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3085">
                <a:tc>
                  <a:txBody>
                    <a:bodyPr/>
                    <a:lstStyle/>
                    <a:p>
                      <a:pPr marR="1538605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200" spc="-15" dirty="0" err="1">
                          <a:latin typeface="SimSun" panose="02010600030101010101" pitchFamily="2" charset="-122"/>
                          <a:ea typeface="SimSun" panose="02010600030101010101" pitchFamily="2" charset="-122"/>
                          <a:cs typeface="PMingLiU"/>
                        </a:rPr>
                        <a:t>优化枚举</a:t>
                      </a:r>
                      <a:endParaRPr sz="22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PMingLiU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8191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200" spc="-10">
                          <a:latin typeface="Cambria Math"/>
                          <a:cs typeface="Cambria Math"/>
                        </a:rPr>
                        <a:t>𝑶(𝒏</a:t>
                      </a:r>
                      <a:r>
                        <a:rPr sz="2400" spc="-15" baseline="27777">
                          <a:latin typeface="Cambria Math"/>
                          <a:cs typeface="Cambria Math"/>
                        </a:rPr>
                        <a:t>𝟐</a:t>
                      </a:r>
                      <a:r>
                        <a:rPr sz="2200" spc="-10">
                          <a:latin typeface="Cambria Math"/>
                          <a:cs typeface="Cambria Math"/>
                        </a:rPr>
                        <a:t>)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4830">
                <a:tc>
                  <a:txBody>
                    <a:bodyPr/>
                    <a:lstStyle/>
                    <a:p>
                      <a:pPr marR="1538605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200" spc="-15" dirty="0" err="1">
                          <a:latin typeface="SimSun" panose="02010600030101010101" pitchFamily="2" charset="-122"/>
                          <a:ea typeface="SimSun" panose="02010600030101010101" pitchFamily="2" charset="-122"/>
                          <a:cs typeface="PMingLiU"/>
                        </a:rPr>
                        <a:t>分而治之</a:t>
                      </a:r>
                      <a:endParaRPr sz="22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PMingLiU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82550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200" spc="-10" dirty="0">
                          <a:latin typeface="Cambria Math"/>
                          <a:cs typeface="Cambria Math"/>
                        </a:rPr>
                        <a:t>𝑶(𝒏𝐥𝐨𝐠</a:t>
                      </a:r>
                      <a:r>
                        <a:rPr sz="2200" spc="-7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200" spc="-25" dirty="0">
                          <a:latin typeface="Cambria Math"/>
                          <a:cs typeface="Cambria Math"/>
                        </a:rPr>
                        <a:t>𝒏)</a:t>
                      </a:r>
                      <a:endParaRPr sz="2200" dirty="0">
                        <a:latin typeface="Cambria Math"/>
                        <a:cs typeface="Cambria Math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29A09F5A-B42B-2647-B9D3-8F59BC16CAA1}"/>
              </a:ext>
            </a:extLst>
          </p:cNvPr>
          <p:cNvSpPr txBox="1"/>
          <p:nvPr/>
        </p:nvSpPr>
        <p:spPr>
          <a:xfrm>
            <a:off x="1777429" y="4076602"/>
            <a:ext cx="71919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spc="-3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问题：是否可以设计一个时间复杂度</a:t>
            </a:r>
            <a:r>
              <a:rPr lang="zh-CN" altLang="en-US" sz="2400" spc="-3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为</a:t>
            </a:r>
            <a:r>
              <a:rPr lang="zh-CN" altLang="en-US" sz="2400" spc="-2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𝑶</a:t>
            </a:r>
            <a:r>
              <a:rPr lang="en-US" altLang="zh-CN" sz="2400" spc="-2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(𝒏)</a:t>
            </a:r>
            <a:r>
              <a:rPr lang="zh-CN" altLang="en-US" sz="2400" spc="-3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的算</a:t>
            </a:r>
            <a:r>
              <a:rPr lang="zh-CN" altLang="en-US" sz="2400" spc="-4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法？</a:t>
            </a:r>
            <a:endParaRPr lang="zh-CN" altLang="en-US" sz="24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0C80E99-E276-854B-8F32-00146082B181}"/>
              </a:ext>
            </a:extLst>
          </p:cNvPr>
          <p:cNvSpPr txBox="1"/>
          <p:nvPr/>
        </p:nvSpPr>
        <p:spPr>
          <a:xfrm>
            <a:off x="1777429" y="4853525"/>
            <a:ext cx="99453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spc="-3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答案：</a:t>
            </a:r>
            <a:r>
              <a:rPr lang="zh-CN" altLang="en-US" sz="2400" spc="-35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动态规划</a:t>
            </a:r>
            <a:r>
              <a:rPr lang="zh-CN" altLang="en-US" sz="2400" spc="-5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！</a:t>
            </a:r>
            <a:endParaRPr lang="zh-CN" altLang="en-US" sz="24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26965B-FAE3-0D4F-9F67-998393409061}"/>
              </a:ext>
            </a:extLst>
          </p:cNvPr>
          <p:cNvSpPr txBox="1"/>
          <p:nvPr/>
        </p:nvSpPr>
        <p:spPr>
          <a:xfrm>
            <a:off x="-246580" y="4899691"/>
            <a:ext cx="9945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82550" algn="ctr">
              <a:lnSpc>
                <a:spcPct val="100000"/>
              </a:lnSpc>
              <a:spcBef>
                <a:spcPts val="130"/>
              </a:spcBef>
            </a:pPr>
            <a:r>
              <a:rPr lang="zh-CN" altLang="en-US" sz="1800" spc="-20" dirty="0">
                <a:solidFill>
                  <a:srgbClr val="FF0000"/>
                </a:solidFill>
                <a:latin typeface="Cambria Math"/>
                <a:cs typeface="Cambria Math"/>
              </a:rPr>
              <a:t>𝑶</a:t>
            </a:r>
            <a:r>
              <a:rPr lang="en-US" altLang="zh-CN" sz="1800" spc="-20" dirty="0">
                <a:solidFill>
                  <a:srgbClr val="FF0000"/>
                </a:solidFill>
                <a:latin typeface="Cambria Math"/>
                <a:cs typeface="Cambria Math"/>
              </a:rPr>
              <a:t>(𝒏)</a:t>
            </a:r>
            <a:endParaRPr lang="zh-CN" altLang="en-US" sz="1800" dirty="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3804413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 flipH="1">
            <a:off x="9933178" y="781938"/>
            <a:ext cx="0" cy="2161540"/>
          </a:xfrm>
          <a:custGeom>
            <a:avLst/>
            <a:gdLst/>
            <a:ahLst/>
            <a:cxnLst/>
            <a:rect l="l" t="t" r="r" b="b"/>
            <a:pathLst>
              <a:path h="2161540">
                <a:moveTo>
                  <a:pt x="0" y="0"/>
                </a:moveTo>
                <a:lnTo>
                  <a:pt x="0" y="216154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252472" y="781938"/>
          <a:ext cx="7674608" cy="21469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373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7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200" b="1" spc="-15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算法名称</a:t>
                      </a:r>
                      <a:endParaRPr sz="2200">
                        <a:latin typeface="Microsoft JhengHei"/>
                        <a:cs typeface="Microsoft JhengHei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21793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200" b="1" spc="-10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时间复杂度</a:t>
                      </a:r>
                      <a:endParaRPr sz="2200">
                        <a:latin typeface="Microsoft JhengHei"/>
                        <a:cs typeface="Microsoft JhengHei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370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200" spc="-15">
                          <a:latin typeface="PMingLiU"/>
                          <a:cs typeface="PMingLiU"/>
                        </a:rPr>
                        <a:t>蛮力枚举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8255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200" spc="-10">
                          <a:latin typeface="Cambria Math"/>
                          <a:cs typeface="Cambria Math"/>
                        </a:rPr>
                        <a:t>𝑶(𝒏</a:t>
                      </a:r>
                      <a:r>
                        <a:rPr sz="2400" spc="-15" baseline="27777">
                          <a:latin typeface="Cambria Math"/>
                          <a:cs typeface="Cambria Math"/>
                        </a:rPr>
                        <a:t>𝟑</a:t>
                      </a:r>
                      <a:r>
                        <a:rPr sz="2200" spc="-10">
                          <a:latin typeface="Cambria Math"/>
                          <a:cs typeface="Cambria Math"/>
                        </a:rPr>
                        <a:t>)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70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200" spc="-15">
                          <a:latin typeface="PMingLiU"/>
                          <a:cs typeface="PMingLiU"/>
                        </a:rPr>
                        <a:t>优化枚举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8255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200" spc="-10">
                          <a:latin typeface="Cambria Math"/>
                          <a:cs typeface="Cambria Math"/>
                        </a:rPr>
                        <a:t>𝑶(𝒏</a:t>
                      </a:r>
                      <a:r>
                        <a:rPr sz="2400" spc="-15" baseline="27777">
                          <a:latin typeface="Cambria Math"/>
                          <a:cs typeface="Cambria Math"/>
                        </a:rPr>
                        <a:t>𝟐</a:t>
                      </a:r>
                      <a:r>
                        <a:rPr sz="2200" spc="-10">
                          <a:latin typeface="Cambria Math"/>
                          <a:cs typeface="Cambria Math"/>
                        </a:rPr>
                        <a:t>)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200" spc="-15">
                          <a:latin typeface="PMingLiU"/>
                          <a:cs typeface="PMingLiU"/>
                        </a:rPr>
                        <a:t>分而治之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24777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200" spc="-10">
                          <a:latin typeface="Cambria Math"/>
                          <a:cs typeface="Cambria Math"/>
                        </a:rPr>
                        <a:t>𝑶(𝒏𝐥𝐨𝐠</a:t>
                      </a:r>
                      <a:r>
                        <a:rPr sz="2200" spc="-7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200" spc="-25">
                          <a:latin typeface="Cambria Math"/>
                          <a:cs typeface="Cambria Math"/>
                        </a:rPr>
                        <a:t>𝒏)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084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200" spc="-20">
                          <a:latin typeface="PMingLiU"/>
                          <a:cs typeface="PMingLiU"/>
                        </a:rPr>
                        <a:t>动态规划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82550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200" spc="-20">
                          <a:latin typeface="Cambria Math"/>
                          <a:cs typeface="Cambria Math"/>
                        </a:rPr>
                        <a:t>𝑶(𝒏)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267128" y="3161728"/>
          <a:ext cx="2638423" cy="439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9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0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4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00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94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00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9420"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79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79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826692" y="4034218"/>
          <a:ext cx="1321434" cy="4400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06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0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06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0055">
                <a:tc>
                  <a:txBody>
                    <a:bodyPr/>
                    <a:lstStyle/>
                    <a:p>
                      <a:pPr marL="13779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107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1079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79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107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0028872" y="4034218"/>
          <a:ext cx="1319530" cy="4400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9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0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0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0055"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107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107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79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1079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7401306" y="4741926"/>
            <a:ext cx="440055" cy="440690"/>
          </a:xfrm>
          <a:prstGeom prst="rect">
            <a:avLst/>
          </a:prstGeom>
          <a:ln w="28575">
            <a:solidFill>
              <a:srgbClr val="000000"/>
            </a:solidFill>
          </a:ln>
        </p:spPr>
        <p:txBody>
          <a:bodyPr vert="horz" wrap="square" lIns="0" tIns="10795" rIns="0" bIns="0" rtlCol="0">
            <a:spAutoFit/>
          </a:bodyPr>
          <a:lstStyle/>
          <a:p>
            <a:pPr marL="137160">
              <a:lnSpc>
                <a:spcPct val="100000"/>
              </a:lnSpc>
              <a:spcBef>
                <a:spcPts val="85"/>
              </a:spcBef>
            </a:pPr>
            <a:r>
              <a:rPr sz="2600" b="1" spc="-5">
                <a:latin typeface="Times New Roman"/>
                <a:cs typeface="Times New Roman"/>
              </a:rPr>
              <a:t>1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40980" y="4741926"/>
            <a:ext cx="440690" cy="440690"/>
          </a:xfrm>
          <a:prstGeom prst="rect">
            <a:avLst/>
          </a:prstGeom>
          <a:ln w="28575">
            <a:solidFill>
              <a:srgbClr val="000000"/>
            </a:solidFill>
          </a:ln>
        </p:spPr>
        <p:txBody>
          <a:bodyPr vert="horz" wrap="square" lIns="0" tIns="10795" rIns="0" bIns="0" rtlCol="0">
            <a:spAutoFit/>
          </a:bodyPr>
          <a:lstStyle/>
          <a:p>
            <a:pPr marL="83185">
              <a:lnSpc>
                <a:spcPct val="100000"/>
              </a:lnSpc>
              <a:spcBef>
                <a:spcPts val="8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2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621011" y="4741926"/>
            <a:ext cx="440690" cy="440690"/>
          </a:xfrm>
          <a:prstGeom prst="rect">
            <a:avLst/>
          </a:prstGeom>
          <a:ln w="28575">
            <a:solidFill>
              <a:srgbClr val="000000"/>
            </a:solidFill>
          </a:ln>
        </p:spPr>
        <p:txBody>
          <a:bodyPr vert="horz" wrap="square" lIns="0" tIns="10795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85"/>
              </a:spcBef>
            </a:pPr>
            <a:r>
              <a:rPr sz="2600" b="1" spc="-5">
                <a:latin typeface="Times New Roman"/>
                <a:cs typeface="Times New Roman"/>
              </a:rPr>
              <a:t>5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061447" y="4741926"/>
            <a:ext cx="440055" cy="440690"/>
          </a:xfrm>
          <a:prstGeom prst="rect">
            <a:avLst/>
          </a:prstGeom>
          <a:ln w="28575">
            <a:solidFill>
              <a:srgbClr val="000000"/>
            </a:solidFill>
          </a:ln>
        </p:spPr>
        <p:txBody>
          <a:bodyPr vert="horz" wrap="square" lIns="0" tIns="10795" rIns="0" bIns="0" rtlCol="0">
            <a:spAutoFit/>
          </a:bodyPr>
          <a:lstStyle/>
          <a:p>
            <a:pPr marL="83185">
              <a:lnSpc>
                <a:spcPct val="100000"/>
              </a:lnSpc>
              <a:spcBef>
                <a:spcPts val="8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2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728709" y="3624579"/>
            <a:ext cx="431165" cy="424815"/>
          </a:xfrm>
          <a:custGeom>
            <a:avLst/>
            <a:gdLst/>
            <a:ahLst/>
            <a:cxnLst/>
            <a:rect l="l" t="t" r="r" b="b"/>
            <a:pathLst>
              <a:path w="431165" h="424814">
                <a:moveTo>
                  <a:pt x="30988" y="333756"/>
                </a:moveTo>
                <a:lnTo>
                  <a:pt x="0" y="424434"/>
                </a:lnTo>
                <a:lnTo>
                  <a:pt x="91186" y="394843"/>
                </a:lnTo>
                <a:lnTo>
                  <a:pt x="81048" y="384556"/>
                </a:lnTo>
                <a:lnTo>
                  <a:pt x="60960" y="384556"/>
                </a:lnTo>
                <a:lnTo>
                  <a:pt x="40894" y="364109"/>
                </a:lnTo>
                <a:lnTo>
                  <a:pt x="51051" y="354115"/>
                </a:lnTo>
                <a:lnTo>
                  <a:pt x="30988" y="333756"/>
                </a:lnTo>
                <a:close/>
              </a:path>
              <a:path w="431165" h="424814">
                <a:moveTo>
                  <a:pt x="51051" y="354115"/>
                </a:moveTo>
                <a:lnTo>
                  <a:pt x="40894" y="364109"/>
                </a:lnTo>
                <a:lnTo>
                  <a:pt x="60960" y="384556"/>
                </a:lnTo>
                <a:lnTo>
                  <a:pt x="71157" y="374519"/>
                </a:lnTo>
                <a:lnTo>
                  <a:pt x="51051" y="354115"/>
                </a:lnTo>
                <a:close/>
              </a:path>
              <a:path w="431165" h="424814">
                <a:moveTo>
                  <a:pt x="71157" y="374519"/>
                </a:moveTo>
                <a:lnTo>
                  <a:pt x="60960" y="384556"/>
                </a:lnTo>
                <a:lnTo>
                  <a:pt x="81048" y="384556"/>
                </a:lnTo>
                <a:lnTo>
                  <a:pt x="71157" y="374519"/>
                </a:lnTo>
                <a:close/>
              </a:path>
              <a:path w="431165" h="424814">
                <a:moveTo>
                  <a:pt x="410972" y="0"/>
                </a:moveTo>
                <a:lnTo>
                  <a:pt x="51051" y="354115"/>
                </a:lnTo>
                <a:lnTo>
                  <a:pt x="71157" y="374519"/>
                </a:lnTo>
                <a:lnTo>
                  <a:pt x="431038" y="20320"/>
                </a:lnTo>
                <a:lnTo>
                  <a:pt x="4109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0486390" y="3610990"/>
            <a:ext cx="433070" cy="438150"/>
          </a:xfrm>
          <a:custGeom>
            <a:avLst/>
            <a:gdLst/>
            <a:ahLst/>
            <a:cxnLst/>
            <a:rect l="l" t="t" r="r" b="b"/>
            <a:pathLst>
              <a:path w="433070" h="438150">
                <a:moveTo>
                  <a:pt x="362584" y="387223"/>
                </a:moveTo>
                <a:lnTo>
                  <a:pt x="342264" y="407288"/>
                </a:lnTo>
                <a:lnTo>
                  <a:pt x="432942" y="438149"/>
                </a:lnTo>
                <a:lnTo>
                  <a:pt x="419638" y="397382"/>
                </a:lnTo>
                <a:lnTo>
                  <a:pt x="372617" y="397382"/>
                </a:lnTo>
                <a:lnTo>
                  <a:pt x="362584" y="387223"/>
                </a:lnTo>
                <a:close/>
              </a:path>
              <a:path w="433070" h="438150">
                <a:moveTo>
                  <a:pt x="382904" y="367157"/>
                </a:moveTo>
                <a:lnTo>
                  <a:pt x="362584" y="387223"/>
                </a:lnTo>
                <a:lnTo>
                  <a:pt x="372617" y="397382"/>
                </a:lnTo>
                <a:lnTo>
                  <a:pt x="392937" y="377316"/>
                </a:lnTo>
                <a:lnTo>
                  <a:pt x="382904" y="367157"/>
                </a:lnTo>
                <a:close/>
              </a:path>
              <a:path w="433070" h="438150">
                <a:moveTo>
                  <a:pt x="403225" y="347090"/>
                </a:moveTo>
                <a:lnTo>
                  <a:pt x="382904" y="367157"/>
                </a:lnTo>
                <a:lnTo>
                  <a:pt x="392937" y="377316"/>
                </a:lnTo>
                <a:lnTo>
                  <a:pt x="372617" y="397382"/>
                </a:lnTo>
                <a:lnTo>
                  <a:pt x="419638" y="397382"/>
                </a:lnTo>
                <a:lnTo>
                  <a:pt x="403225" y="347090"/>
                </a:lnTo>
                <a:close/>
              </a:path>
              <a:path w="433070" h="438150">
                <a:moveTo>
                  <a:pt x="20319" y="0"/>
                </a:moveTo>
                <a:lnTo>
                  <a:pt x="0" y="20065"/>
                </a:lnTo>
                <a:lnTo>
                  <a:pt x="362584" y="387223"/>
                </a:lnTo>
                <a:lnTo>
                  <a:pt x="382904" y="367157"/>
                </a:lnTo>
                <a:lnTo>
                  <a:pt x="2031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2"/>
          <a:stretch>
            <a:fillRect/>
          </a:stretch>
        </p:blipFill>
        <p:spPr>
          <a:xfrm>
            <a:off x="7870697" y="4479925"/>
            <a:ext cx="201675" cy="243205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3"/>
          <a:stretch>
            <a:fillRect/>
          </a:stretch>
        </p:blipFill>
        <p:spPr>
          <a:xfrm>
            <a:off x="10079735" y="4480178"/>
            <a:ext cx="194437" cy="242950"/>
          </a:xfrm>
          <a:prstGeom prst="rect">
            <a:avLst/>
          </a:prstGeom>
        </p:spPr>
      </p:pic>
      <p:grpSp>
        <p:nvGrpSpPr>
          <p:cNvPr id="16" name="object 16"/>
          <p:cNvGrpSpPr/>
          <p:nvPr/>
        </p:nvGrpSpPr>
        <p:grpSpPr>
          <a:xfrm>
            <a:off x="7299388" y="5191252"/>
            <a:ext cx="1010919" cy="913765"/>
            <a:chOff x="7299388" y="5191252"/>
            <a:chExt cx="1010919" cy="913765"/>
          </a:xfrm>
        </p:grpSpPr>
        <p:sp>
          <p:nvSpPr>
            <p:cNvPr id="17" name="object 17"/>
            <p:cNvSpPr/>
            <p:nvPr/>
          </p:nvSpPr>
          <p:spPr>
            <a:xfrm>
              <a:off x="7503414" y="5191252"/>
              <a:ext cx="661035" cy="441325"/>
            </a:xfrm>
            <a:custGeom>
              <a:avLst/>
              <a:gdLst/>
              <a:ahLst/>
              <a:cxnLst/>
              <a:rect l="l" t="t" r="r" b="b"/>
              <a:pathLst>
                <a:path w="661034" h="441325">
                  <a:moveTo>
                    <a:pt x="336931" y="17272"/>
                  </a:moveTo>
                  <a:lnTo>
                    <a:pt x="314198" y="0"/>
                  </a:lnTo>
                  <a:lnTo>
                    <a:pt x="40195" y="363651"/>
                  </a:lnTo>
                  <a:lnTo>
                    <a:pt x="17399" y="346456"/>
                  </a:lnTo>
                  <a:lnTo>
                    <a:pt x="0" y="440702"/>
                  </a:lnTo>
                  <a:lnTo>
                    <a:pt x="85852" y="398030"/>
                  </a:lnTo>
                  <a:lnTo>
                    <a:pt x="78244" y="392303"/>
                  </a:lnTo>
                  <a:lnTo>
                    <a:pt x="63004" y="380822"/>
                  </a:lnTo>
                  <a:lnTo>
                    <a:pt x="336931" y="17272"/>
                  </a:lnTo>
                  <a:close/>
                </a:path>
                <a:path w="661034" h="441325">
                  <a:moveTo>
                    <a:pt x="660908" y="440550"/>
                  </a:moveTo>
                  <a:lnTo>
                    <a:pt x="653135" y="390652"/>
                  </a:lnTo>
                  <a:lnTo>
                    <a:pt x="646176" y="345821"/>
                  </a:lnTo>
                  <a:lnTo>
                    <a:pt x="622909" y="362407"/>
                  </a:lnTo>
                  <a:lnTo>
                    <a:pt x="365252" y="381"/>
                  </a:lnTo>
                  <a:lnTo>
                    <a:pt x="341884" y="16891"/>
                  </a:lnTo>
                  <a:lnTo>
                    <a:pt x="599554" y="379044"/>
                  </a:lnTo>
                  <a:lnTo>
                    <a:pt x="576326" y="395605"/>
                  </a:lnTo>
                  <a:lnTo>
                    <a:pt x="660908" y="4405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313676" y="5650230"/>
              <a:ext cx="982344" cy="440690"/>
            </a:xfrm>
            <a:custGeom>
              <a:avLst/>
              <a:gdLst/>
              <a:ahLst/>
              <a:cxnLst/>
              <a:rect l="l" t="t" r="r" b="b"/>
              <a:pathLst>
                <a:path w="982344" h="440689">
                  <a:moveTo>
                    <a:pt x="0" y="440436"/>
                  </a:moveTo>
                  <a:lnTo>
                    <a:pt x="440435" y="440436"/>
                  </a:lnTo>
                  <a:lnTo>
                    <a:pt x="440435" y="0"/>
                  </a:lnTo>
                  <a:lnTo>
                    <a:pt x="0" y="0"/>
                  </a:lnTo>
                  <a:lnTo>
                    <a:pt x="0" y="440436"/>
                  </a:lnTo>
                  <a:close/>
                </a:path>
                <a:path w="982344" h="440689">
                  <a:moveTo>
                    <a:pt x="542544" y="440436"/>
                  </a:moveTo>
                  <a:lnTo>
                    <a:pt x="982218" y="440436"/>
                  </a:lnTo>
                  <a:lnTo>
                    <a:pt x="982218" y="0"/>
                  </a:lnTo>
                  <a:lnTo>
                    <a:pt x="542544" y="0"/>
                  </a:lnTo>
                  <a:lnTo>
                    <a:pt x="542544" y="440436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/>
          <p:nvPr/>
        </p:nvSpPr>
        <p:spPr>
          <a:xfrm>
            <a:off x="11125072" y="4488560"/>
            <a:ext cx="85725" cy="1162050"/>
          </a:xfrm>
          <a:custGeom>
            <a:avLst/>
            <a:gdLst/>
            <a:ahLst/>
            <a:cxnLst/>
            <a:rect l="l" t="t" r="r" b="b"/>
            <a:pathLst>
              <a:path w="85725" h="1162050">
                <a:moveTo>
                  <a:pt x="28632" y="1076577"/>
                </a:moveTo>
                <a:lnTo>
                  <a:pt x="0" y="1077214"/>
                </a:lnTo>
                <a:lnTo>
                  <a:pt x="44830" y="1161935"/>
                </a:lnTo>
                <a:lnTo>
                  <a:pt x="78410" y="1090802"/>
                </a:lnTo>
                <a:lnTo>
                  <a:pt x="28955" y="1090802"/>
                </a:lnTo>
                <a:lnTo>
                  <a:pt x="28632" y="1076577"/>
                </a:lnTo>
                <a:close/>
              </a:path>
              <a:path w="85725" h="1162050">
                <a:moveTo>
                  <a:pt x="57206" y="1075942"/>
                </a:moveTo>
                <a:lnTo>
                  <a:pt x="28632" y="1076577"/>
                </a:lnTo>
                <a:lnTo>
                  <a:pt x="28955" y="1090802"/>
                </a:lnTo>
                <a:lnTo>
                  <a:pt x="57530" y="1090167"/>
                </a:lnTo>
                <a:lnTo>
                  <a:pt x="57206" y="1075942"/>
                </a:lnTo>
                <a:close/>
              </a:path>
              <a:path w="85725" h="1162050">
                <a:moveTo>
                  <a:pt x="85725" y="1075308"/>
                </a:moveTo>
                <a:lnTo>
                  <a:pt x="57206" y="1075942"/>
                </a:lnTo>
                <a:lnTo>
                  <a:pt x="57530" y="1090167"/>
                </a:lnTo>
                <a:lnTo>
                  <a:pt x="28955" y="1090802"/>
                </a:lnTo>
                <a:lnTo>
                  <a:pt x="78410" y="1090802"/>
                </a:lnTo>
                <a:lnTo>
                  <a:pt x="85725" y="1075308"/>
                </a:lnTo>
                <a:close/>
              </a:path>
              <a:path w="85725" h="1162050">
                <a:moveTo>
                  <a:pt x="32638" y="0"/>
                </a:moveTo>
                <a:lnTo>
                  <a:pt x="4191" y="762"/>
                </a:lnTo>
                <a:lnTo>
                  <a:pt x="28632" y="1076577"/>
                </a:lnTo>
                <a:lnTo>
                  <a:pt x="57206" y="1075942"/>
                </a:lnTo>
                <a:lnTo>
                  <a:pt x="326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0" name="object 20"/>
          <p:cNvGrpSpPr/>
          <p:nvPr/>
        </p:nvGrpSpPr>
        <p:grpSpPr>
          <a:xfrm>
            <a:off x="8731948" y="4488688"/>
            <a:ext cx="468630" cy="1616710"/>
            <a:chOff x="8731948" y="4488688"/>
            <a:chExt cx="468630" cy="1616710"/>
          </a:xfrm>
        </p:grpSpPr>
        <p:sp>
          <p:nvSpPr>
            <p:cNvPr id="21" name="object 21"/>
            <p:cNvSpPr/>
            <p:nvPr/>
          </p:nvSpPr>
          <p:spPr>
            <a:xfrm>
              <a:off x="8921368" y="4488688"/>
              <a:ext cx="85725" cy="1162050"/>
            </a:xfrm>
            <a:custGeom>
              <a:avLst/>
              <a:gdLst/>
              <a:ahLst/>
              <a:cxnLst/>
              <a:rect l="l" t="t" r="r" b="b"/>
              <a:pathLst>
                <a:path w="85725" h="1162050">
                  <a:moveTo>
                    <a:pt x="28525" y="1076367"/>
                  </a:moveTo>
                  <a:lnTo>
                    <a:pt x="0" y="1076960"/>
                  </a:lnTo>
                  <a:lnTo>
                    <a:pt x="44576" y="1161808"/>
                  </a:lnTo>
                  <a:lnTo>
                    <a:pt x="78261" y="1090676"/>
                  </a:lnTo>
                  <a:lnTo>
                    <a:pt x="28828" y="1090676"/>
                  </a:lnTo>
                  <a:lnTo>
                    <a:pt x="28525" y="1076367"/>
                  </a:lnTo>
                  <a:close/>
                </a:path>
                <a:path w="85725" h="1162050">
                  <a:moveTo>
                    <a:pt x="57099" y="1075773"/>
                  </a:moveTo>
                  <a:lnTo>
                    <a:pt x="28525" y="1076367"/>
                  </a:lnTo>
                  <a:lnTo>
                    <a:pt x="28828" y="1090676"/>
                  </a:lnTo>
                  <a:lnTo>
                    <a:pt x="57403" y="1090041"/>
                  </a:lnTo>
                  <a:lnTo>
                    <a:pt x="57099" y="1075773"/>
                  </a:lnTo>
                  <a:close/>
                </a:path>
                <a:path w="85725" h="1162050">
                  <a:moveTo>
                    <a:pt x="85598" y="1075182"/>
                  </a:moveTo>
                  <a:lnTo>
                    <a:pt x="57099" y="1075773"/>
                  </a:lnTo>
                  <a:lnTo>
                    <a:pt x="57403" y="1090041"/>
                  </a:lnTo>
                  <a:lnTo>
                    <a:pt x="28828" y="1090676"/>
                  </a:lnTo>
                  <a:lnTo>
                    <a:pt x="78261" y="1090676"/>
                  </a:lnTo>
                  <a:lnTo>
                    <a:pt x="85598" y="1075182"/>
                  </a:lnTo>
                  <a:close/>
                </a:path>
                <a:path w="85725" h="1162050">
                  <a:moveTo>
                    <a:pt x="34162" y="0"/>
                  </a:moveTo>
                  <a:lnTo>
                    <a:pt x="5714" y="507"/>
                  </a:lnTo>
                  <a:lnTo>
                    <a:pt x="28525" y="1076367"/>
                  </a:lnTo>
                  <a:lnTo>
                    <a:pt x="57099" y="1075773"/>
                  </a:lnTo>
                  <a:lnTo>
                    <a:pt x="341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746235" y="5650230"/>
              <a:ext cx="440055" cy="440690"/>
            </a:xfrm>
            <a:custGeom>
              <a:avLst/>
              <a:gdLst/>
              <a:ahLst/>
              <a:cxnLst/>
              <a:rect l="l" t="t" r="r" b="b"/>
              <a:pathLst>
                <a:path w="440054" h="440689">
                  <a:moveTo>
                    <a:pt x="0" y="440436"/>
                  </a:moveTo>
                  <a:lnTo>
                    <a:pt x="439674" y="440436"/>
                  </a:lnTo>
                  <a:lnTo>
                    <a:pt x="439674" y="0"/>
                  </a:lnTo>
                  <a:lnTo>
                    <a:pt x="0" y="0"/>
                  </a:lnTo>
                  <a:lnTo>
                    <a:pt x="0" y="440436"/>
                  </a:lnTo>
                  <a:close/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9486328" y="5173471"/>
            <a:ext cx="885190" cy="931544"/>
            <a:chOff x="9486328" y="5173471"/>
            <a:chExt cx="885190" cy="931544"/>
          </a:xfrm>
        </p:grpSpPr>
        <p:sp>
          <p:nvSpPr>
            <p:cNvPr id="24" name="object 24"/>
            <p:cNvSpPr/>
            <p:nvPr/>
          </p:nvSpPr>
          <p:spPr>
            <a:xfrm>
              <a:off x="9690354" y="5173471"/>
              <a:ext cx="681355" cy="459105"/>
            </a:xfrm>
            <a:custGeom>
              <a:avLst/>
              <a:gdLst/>
              <a:ahLst/>
              <a:cxnLst/>
              <a:rect l="l" t="t" r="r" b="b"/>
              <a:pathLst>
                <a:path w="681354" h="459104">
                  <a:moveTo>
                    <a:pt x="369189" y="17780"/>
                  </a:moveTo>
                  <a:lnTo>
                    <a:pt x="346837" y="0"/>
                  </a:lnTo>
                  <a:lnTo>
                    <a:pt x="42164" y="382536"/>
                  </a:lnTo>
                  <a:lnTo>
                    <a:pt x="19812" y="364744"/>
                  </a:lnTo>
                  <a:lnTo>
                    <a:pt x="0" y="458457"/>
                  </a:lnTo>
                  <a:lnTo>
                    <a:pt x="86868" y="418096"/>
                  </a:lnTo>
                  <a:lnTo>
                    <a:pt x="78549" y="411480"/>
                  </a:lnTo>
                  <a:lnTo>
                    <a:pt x="64516" y="400316"/>
                  </a:lnTo>
                  <a:lnTo>
                    <a:pt x="369189" y="17780"/>
                  </a:lnTo>
                  <a:close/>
                </a:path>
                <a:path w="681354" h="459104">
                  <a:moveTo>
                    <a:pt x="680974" y="458584"/>
                  </a:moveTo>
                  <a:lnTo>
                    <a:pt x="673481" y="408178"/>
                  </a:lnTo>
                  <a:lnTo>
                    <a:pt x="666877" y="363728"/>
                  </a:lnTo>
                  <a:lnTo>
                    <a:pt x="643547" y="380060"/>
                  </a:lnTo>
                  <a:lnTo>
                    <a:pt x="395732" y="25908"/>
                  </a:lnTo>
                  <a:lnTo>
                    <a:pt x="372364" y="42164"/>
                  </a:lnTo>
                  <a:lnTo>
                    <a:pt x="620077" y="396481"/>
                  </a:lnTo>
                  <a:lnTo>
                    <a:pt x="596646" y="412877"/>
                  </a:lnTo>
                  <a:lnTo>
                    <a:pt x="680974" y="4585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500616" y="5650229"/>
              <a:ext cx="440690" cy="440690"/>
            </a:xfrm>
            <a:custGeom>
              <a:avLst/>
              <a:gdLst/>
              <a:ahLst/>
              <a:cxnLst/>
              <a:rect l="l" t="t" r="r" b="b"/>
              <a:pathLst>
                <a:path w="440690" h="440689">
                  <a:moveTo>
                    <a:pt x="0" y="440436"/>
                  </a:moveTo>
                  <a:lnTo>
                    <a:pt x="440435" y="440436"/>
                  </a:lnTo>
                  <a:lnTo>
                    <a:pt x="440435" y="0"/>
                  </a:lnTo>
                  <a:lnTo>
                    <a:pt x="0" y="0"/>
                  </a:lnTo>
                  <a:lnTo>
                    <a:pt x="0" y="440436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0949940" y="5650229"/>
            <a:ext cx="440055" cy="440690"/>
          </a:xfrm>
          <a:prstGeom prst="rect">
            <a:avLst/>
          </a:prstGeom>
          <a:ln w="28575">
            <a:solidFill>
              <a:srgbClr val="000000"/>
            </a:solidFill>
          </a:ln>
        </p:spPr>
        <p:txBody>
          <a:bodyPr vert="horz" wrap="square" lIns="0" tIns="10795" rIns="0" bIns="0" rtlCol="0">
            <a:spAutoFit/>
          </a:bodyPr>
          <a:lstStyle/>
          <a:p>
            <a:pPr marL="137160">
              <a:lnSpc>
                <a:spcPct val="100000"/>
              </a:lnSpc>
              <a:spcBef>
                <a:spcPts val="85"/>
              </a:spcBef>
            </a:pPr>
            <a:r>
              <a:rPr sz="2600" b="1" spc="-5">
                <a:latin typeface="Times New Roman"/>
                <a:cs typeface="Times New Roman"/>
              </a:rPr>
              <a:t>8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870950" y="5648959"/>
            <a:ext cx="94551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67715" algn="l"/>
              </a:tabLst>
            </a:pPr>
            <a:r>
              <a:rPr sz="2600" b="1" spc="-50">
                <a:latin typeface="Times New Roman"/>
                <a:cs typeface="Times New Roman"/>
              </a:rPr>
              <a:t>4</a:t>
            </a:r>
            <a:r>
              <a:rPr sz="2600" b="1">
                <a:latin typeface="Times New Roman"/>
                <a:cs typeface="Times New Roman"/>
              </a:rPr>
              <a:t>	</a:t>
            </a:r>
            <a:r>
              <a:rPr sz="2600" b="1" spc="-50">
                <a:latin typeface="Times New Roman"/>
                <a:cs typeface="Times New Roman"/>
              </a:rPr>
              <a:t>5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438897" y="5648959"/>
            <a:ext cx="78803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00380" algn="l"/>
              </a:tabLst>
            </a:pPr>
            <a:r>
              <a:rPr sz="2600" b="1" spc="-50">
                <a:latin typeface="Times New Roman"/>
                <a:cs typeface="Times New Roman"/>
              </a:rPr>
              <a:t>1</a:t>
            </a:r>
            <a:r>
              <a:rPr sz="2600" b="1">
                <a:latin typeface="Times New Roman"/>
                <a:cs typeface="Times New Roman"/>
              </a:rPr>
              <a:t>	</a:t>
            </a: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2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0043159" y="5655564"/>
            <a:ext cx="440055" cy="440690"/>
          </a:xfrm>
          <a:prstGeom prst="rect">
            <a:avLst/>
          </a:prstGeom>
          <a:ln w="28575">
            <a:solidFill>
              <a:srgbClr val="000000"/>
            </a:solidFill>
          </a:ln>
        </p:spPr>
        <p:txBody>
          <a:bodyPr vert="horz" wrap="square" lIns="0" tIns="10795" rIns="0" bIns="0" rtlCol="0">
            <a:spAutoFit/>
          </a:bodyPr>
          <a:lstStyle/>
          <a:p>
            <a:pPr marL="83185">
              <a:lnSpc>
                <a:spcPct val="100000"/>
              </a:lnSpc>
              <a:spcBef>
                <a:spcPts val="8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2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8084819" y="6165341"/>
            <a:ext cx="2766060" cy="609600"/>
          </a:xfrm>
          <a:custGeom>
            <a:avLst/>
            <a:gdLst/>
            <a:ahLst/>
            <a:cxnLst/>
            <a:rect l="l" t="t" r="r" b="b"/>
            <a:pathLst>
              <a:path w="2766059" h="609600">
                <a:moveTo>
                  <a:pt x="2766060" y="0"/>
                </a:moveTo>
                <a:lnTo>
                  <a:pt x="0" y="0"/>
                </a:lnTo>
                <a:lnTo>
                  <a:pt x="0" y="609600"/>
                </a:lnTo>
                <a:lnTo>
                  <a:pt x="2766060" y="609600"/>
                </a:lnTo>
                <a:lnTo>
                  <a:pt x="2766060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8300719" y="6218428"/>
            <a:ext cx="233553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35">
                <a:solidFill>
                  <a:srgbClr val="FFFFFF"/>
                </a:solidFill>
                <a:latin typeface="PMingLiU"/>
                <a:cs typeface="PMingLiU"/>
              </a:rPr>
              <a:t>子问题相互独</a:t>
            </a:r>
            <a:r>
              <a:rPr sz="2600" spc="-50">
                <a:solidFill>
                  <a:srgbClr val="FFFFFF"/>
                </a:solidFill>
                <a:latin typeface="PMingLiU"/>
                <a:cs typeface="PMingLiU"/>
              </a:rPr>
              <a:t>立</a:t>
            </a:r>
            <a:endParaRPr sz="2600">
              <a:latin typeface="PMingLiU"/>
              <a:cs typeface="PMingLiU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9572243" y="2271522"/>
            <a:ext cx="845185" cy="668020"/>
          </a:xfrm>
          <a:custGeom>
            <a:avLst/>
            <a:gdLst/>
            <a:ahLst/>
            <a:cxnLst/>
            <a:rect l="l" t="t" r="r" b="b"/>
            <a:pathLst>
              <a:path w="845184" h="668019">
                <a:moveTo>
                  <a:pt x="434339" y="0"/>
                </a:moveTo>
                <a:lnTo>
                  <a:pt x="0" y="0"/>
                </a:lnTo>
                <a:lnTo>
                  <a:pt x="0" y="96519"/>
                </a:lnTo>
                <a:lnTo>
                  <a:pt x="434339" y="96519"/>
                </a:lnTo>
                <a:lnTo>
                  <a:pt x="479203" y="101682"/>
                </a:lnTo>
                <a:lnTo>
                  <a:pt x="520377" y="116388"/>
                </a:lnTo>
                <a:lnTo>
                  <a:pt x="556690" y="139467"/>
                </a:lnTo>
                <a:lnTo>
                  <a:pt x="586972" y="169749"/>
                </a:lnTo>
                <a:lnTo>
                  <a:pt x="610051" y="206062"/>
                </a:lnTo>
                <a:lnTo>
                  <a:pt x="624757" y="247236"/>
                </a:lnTo>
                <a:lnTo>
                  <a:pt x="629920" y="292100"/>
                </a:lnTo>
                <a:lnTo>
                  <a:pt x="629920" y="500633"/>
                </a:lnTo>
                <a:lnTo>
                  <a:pt x="511301" y="500633"/>
                </a:lnTo>
                <a:lnTo>
                  <a:pt x="678179" y="667512"/>
                </a:lnTo>
                <a:lnTo>
                  <a:pt x="845057" y="500633"/>
                </a:lnTo>
                <a:lnTo>
                  <a:pt x="726439" y="500633"/>
                </a:lnTo>
                <a:lnTo>
                  <a:pt x="726439" y="292100"/>
                </a:lnTo>
                <a:lnTo>
                  <a:pt x="722616" y="244727"/>
                </a:lnTo>
                <a:lnTo>
                  <a:pt x="711545" y="199786"/>
                </a:lnTo>
                <a:lnTo>
                  <a:pt x="693830" y="157877"/>
                </a:lnTo>
                <a:lnTo>
                  <a:pt x="670072" y="119603"/>
                </a:lnTo>
                <a:lnTo>
                  <a:pt x="640873" y="85566"/>
                </a:lnTo>
                <a:lnTo>
                  <a:pt x="606836" y="56367"/>
                </a:lnTo>
                <a:lnTo>
                  <a:pt x="568562" y="32609"/>
                </a:lnTo>
                <a:lnTo>
                  <a:pt x="526653" y="14894"/>
                </a:lnTo>
                <a:lnTo>
                  <a:pt x="481712" y="3823"/>
                </a:lnTo>
                <a:lnTo>
                  <a:pt x="434339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D67239E8-2C31-1D4D-9FF3-4D80BDA1459F}"/>
              </a:ext>
            </a:extLst>
          </p:cNvPr>
          <p:cNvSpPr txBox="1"/>
          <p:nvPr/>
        </p:nvSpPr>
        <p:spPr>
          <a:xfrm>
            <a:off x="1162147" y="0"/>
            <a:ext cx="56261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000" dirty="0">
                <a:latin typeface="SimSun" panose="02010600030101010101" pitchFamily="2" charset="-122"/>
                <a:ea typeface="SimSun" panose="02010600030101010101" pitchFamily="2" charset="-122"/>
              </a:rPr>
              <a:t>算法比较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 flipH="1">
            <a:off x="9933178" y="781938"/>
            <a:ext cx="0" cy="2161540"/>
          </a:xfrm>
          <a:custGeom>
            <a:avLst/>
            <a:gdLst/>
            <a:ahLst/>
            <a:cxnLst/>
            <a:rect l="l" t="t" r="r" b="b"/>
            <a:pathLst>
              <a:path h="2161540">
                <a:moveTo>
                  <a:pt x="0" y="0"/>
                </a:moveTo>
                <a:lnTo>
                  <a:pt x="0" y="216154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252472" y="781938"/>
          <a:ext cx="7674608" cy="21469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373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7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200" b="1" spc="-15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算法名称</a:t>
                      </a:r>
                      <a:endParaRPr sz="2200">
                        <a:latin typeface="Microsoft JhengHei"/>
                        <a:cs typeface="Microsoft JhengHei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21793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200" b="1" spc="-10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时间复杂度</a:t>
                      </a:r>
                      <a:endParaRPr sz="2200">
                        <a:latin typeface="Microsoft JhengHei"/>
                        <a:cs typeface="Microsoft JhengHei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370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200" spc="-15">
                          <a:latin typeface="PMingLiU"/>
                          <a:cs typeface="PMingLiU"/>
                        </a:rPr>
                        <a:t>蛮力枚举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8255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200" spc="-10">
                          <a:latin typeface="Cambria Math"/>
                          <a:cs typeface="Cambria Math"/>
                        </a:rPr>
                        <a:t>𝑶(𝒏</a:t>
                      </a:r>
                      <a:r>
                        <a:rPr sz="2400" spc="-15" baseline="27777">
                          <a:latin typeface="Cambria Math"/>
                          <a:cs typeface="Cambria Math"/>
                        </a:rPr>
                        <a:t>𝟑</a:t>
                      </a:r>
                      <a:r>
                        <a:rPr sz="2200" spc="-10">
                          <a:latin typeface="Cambria Math"/>
                          <a:cs typeface="Cambria Math"/>
                        </a:rPr>
                        <a:t>)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70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200" spc="-15">
                          <a:latin typeface="PMingLiU"/>
                          <a:cs typeface="PMingLiU"/>
                        </a:rPr>
                        <a:t>优化枚举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8255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200" spc="-10">
                          <a:latin typeface="Cambria Math"/>
                          <a:cs typeface="Cambria Math"/>
                        </a:rPr>
                        <a:t>𝑶(𝒏</a:t>
                      </a:r>
                      <a:r>
                        <a:rPr sz="2400" spc="-15" baseline="27777">
                          <a:latin typeface="Cambria Math"/>
                          <a:cs typeface="Cambria Math"/>
                        </a:rPr>
                        <a:t>𝟐</a:t>
                      </a:r>
                      <a:r>
                        <a:rPr sz="2200" spc="-10">
                          <a:latin typeface="Cambria Math"/>
                          <a:cs typeface="Cambria Math"/>
                        </a:rPr>
                        <a:t>)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200" spc="-15">
                          <a:latin typeface="PMingLiU"/>
                          <a:cs typeface="PMingLiU"/>
                        </a:rPr>
                        <a:t>分而治之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24777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200" spc="-10">
                          <a:latin typeface="Cambria Math"/>
                          <a:cs typeface="Cambria Math"/>
                        </a:rPr>
                        <a:t>𝑶(𝒏𝐥𝐨𝐠</a:t>
                      </a:r>
                      <a:r>
                        <a:rPr sz="2200" spc="-7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200" spc="-25">
                          <a:latin typeface="Cambria Math"/>
                          <a:cs typeface="Cambria Math"/>
                        </a:rPr>
                        <a:t>𝒏)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084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200" spc="-20">
                          <a:latin typeface="PMingLiU"/>
                          <a:cs typeface="PMingLiU"/>
                        </a:rPr>
                        <a:t>动态规划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82550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200" spc="-20">
                          <a:latin typeface="Cambria Math"/>
                          <a:cs typeface="Cambria Math"/>
                        </a:rPr>
                        <a:t>𝑶(𝒏)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9572243" y="2271522"/>
            <a:ext cx="845185" cy="668020"/>
          </a:xfrm>
          <a:custGeom>
            <a:avLst/>
            <a:gdLst/>
            <a:ahLst/>
            <a:cxnLst/>
            <a:rect l="l" t="t" r="r" b="b"/>
            <a:pathLst>
              <a:path w="845184" h="668019">
                <a:moveTo>
                  <a:pt x="434339" y="0"/>
                </a:moveTo>
                <a:lnTo>
                  <a:pt x="0" y="0"/>
                </a:lnTo>
                <a:lnTo>
                  <a:pt x="0" y="96519"/>
                </a:lnTo>
                <a:lnTo>
                  <a:pt x="434339" y="96519"/>
                </a:lnTo>
                <a:lnTo>
                  <a:pt x="479203" y="101682"/>
                </a:lnTo>
                <a:lnTo>
                  <a:pt x="520377" y="116388"/>
                </a:lnTo>
                <a:lnTo>
                  <a:pt x="556690" y="139467"/>
                </a:lnTo>
                <a:lnTo>
                  <a:pt x="586972" y="169749"/>
                </a:lnTo>
                <a:lnTo>
                  <a:pt x="610051" y="206062"/>
                </a:lnTo>
                <a:lnTo>
                  <a:pt x="624757" y="247236"/>
                </a:lnTo>
                <a:lnTo>
                  <a:pt x="629920" y="292100"/>
                </a:lnTo>
                <a:lnTo>
                  <a:pt x="629920" y="500633"/>
                </a:lnTo>
                <a:lnTo>
                  <a:pt x="511301" y="500633"/>
                </a:lnTo>
                <a:lnTo>
                  <a:pt x="678179" y="667512"/>
                </a:lnTo>
                <a:lnTo>
                  <a:pt x="845057" y="500633"/>
                </a:lnTo>
                <a:lnTo>
                  <a:pt x="726439" y="500633"/>
                </a:lnTo>
                <a:lnTo>
                  <a:pt x="726439" y="292100"/>
                </a:lnTo>
                <a:lnTo>
                  <a:pt x="722616" y="244727"/>
                </a:lnTo>
                <a:lnTo>
                  <a:pt x="711545" y="199786"/>
                </a:lnTo>
                <a:lnTo>
                  <a:pt x="693830" y="157877"/>
                </a:lnTo>
                <a:lnTo>
                  <a:pt x="670072" y="119603"/>
                </a:lnTo>
                <a:lnTo>
                  <a:pt x="640873" y="85566"/>
                </a:lnTo>
                <a:lnTo>
                  <a:pt x="606836" y="56367"/>
                </a:lnTo>
                <a:lnTo>
                  <a:pt x="568562" y="32609"/>
                </a:lnTo>
                <a:lnTo>
                  <a:pt x="526653" y="14894"/>
                </a:lnTo>
                <a:lnTo>
                  <a:pt x="481712" y="3823"/>
                </a:lnTo>
                <a:lnTo>
                  <a:pt x="434339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8267128" y="3161728"/>
          <a:ext cx="2638423" cy="439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9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0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4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00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94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00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9420"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79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79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7826692" y="4034218"/>
          <a:ext cx="1321434" cy="4400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06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0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06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0055">
                <a:tc>
                  <a:txBody>
                    <a:bodyPr/>
                    <a:lstStyle/>
                    <a:p>
                      <a:pPr marL="13779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107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1079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79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107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0028872" y="4034218"/>
          <a:ext cx="1319530" cy="4400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9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0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0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0055"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107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107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79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1079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7401306" y="4741926"/>
            <a:ext cx="440055" cy="440690"/>
          </a:xfrm>
          <a:prstGeom prst="rect">
            <a:avLst/>
          </a:prstGeom>
          <a:ln w="28575">
            <a:solidFill>
              <a:srgbClr val="000000"/>
            </a:solidFill>
          </a:ln>
        </p:spPr>
        <p:txBody>
          <a:bodyPr vert="horz" wrap="square" lIns="0" tIns="10795" rIns="0" bIns="0" rtlCol="0">
            <a:spAutoFit/>
          </a:bodyPr>
          <a:lstStyle/>
          <a:p>
            <a:pPr marL="137160">
              <a:lnSpc>
                <a:spcPct val="100000"/>
              </a:lnSpc>
              <a:spcBef>
                <a:spcPts val="85"/>
              </a:spcBef>
            </a:pPr>
            <a:r>
              <a:rPr sz="2600" b="1" spc="-5">
                <a:latin typeface="Times New Roman"/>
                <a:cs typeface="Times New Roman"/>
              </a:rPr>
              <a:t>1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840980" y="4741926"/>
            <a:ext cx="440690" cy="440690"/>
          </a:xfrm>
          <a:prstGeom prst="rect">
            <a:avLst/>
          </a:prstGeom>
          <a:ln w="28575">
            <a:solidFill>
              <a:srgbClr val="000000"/>
            </a:solidFill>
          </a:ln>
        </p:spPr>
        <p:txBody>
          <a:bodyPr vert="horz" wrap="square" lIns="0" tIns="10795" rIns="0" bIns="0" rtlCol="0">
            <a:spAutoFit/>
          </a:bodyPr>
          <a:lstStyle/>
          <a:p>
            <a:pPr marL="83185">
              <a:lnSpc>
                <a:spcPct val="100000"/>
              </a:lnSpc>
              <a:spcBef>
                <a:spcPts val="8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2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621011" y="4741926"/>
            <a:ext cx="440690" cy="440690"/>
          </a:xfrm>
          <a:prstGeom prst="rect">
            <a:avLst/>
          </a:prstGeom>
          <a:ln w="28575">
            <a:solidFill>
              <a:srgbClr val="000000"/>
            </a:solidFill>
          </a:ln>
        </p:spPr>
        <p:txBody>
          <a:bodyPr vert="horz" wrap="square" lIns="0" tIns="10795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85"/>
              </a:spcBef>
            </a:pPr>
            <a:r>
              <a:rPr sz="2600" b="1" spc="-5">
                <a:latin typeface="Times New Roman"/>
                <a:cs typeface="Times New Roman"/>
              </a:rPr>
              <a:t>5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061447" y="4741926"/>
            <a:ext cx="440055" cy="440690"/>
          </a:xfrm>
          <a:prstGeom prst="rect">
            <a:avLst/>
          </a:prstGeom>
          <a:ln w="28575">
            <a:solidFill>
              <a:srgbClr val="000000"/>
            </a:solidFill>
          </a:ln>
        </p:spPr>
        <p:txBody>
          <a:bodyPr vert="horz" wrap="square" lIns="0" tIns="10795" rIns="0" bIns="0" rtlCol="0">
            <a:spAutoFit/>
          </a:bodyPr>
          <a:lstStyle/>
          <a:p>
            <a:pPr marL="83185">
              <a:lnSpc>
                <a:spcPct val="100000"/>
              </a:lnSpc>
              <a:spcBef>
                <a:spcPts val="8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2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728709" y="3624579"/>
            <a:ext cx="431165" cy="424815"/>
          </a:xfrm>
          <a:custGeom>
            <a:avLst/>
            <a:gdLst/>
            <a:ahLst/>
            <a:cxnLst/>
            <a:rect l="l" t="t" r="r" b="b"/>
            <a:pathLst>
              <a:path w="431165" h="424814">
                <a:moveTo>
                  <a:pt x="30988" y="333756"/>
                </a:moveTo>
                <a:lnTo>
                  <a:pt x="0" y="424434"/>
                </a:lnTo>
                <a:lnTo>
                  <a:pt x="91186" y="394843"/>
                </a:lnTo>
                <a:lnTo>
                  <a:pt x="81048" y="384556"/>
                </a:lnTo>
                <a:lnTo>
                  <a:pt x="60960" y="384556"/>
                </a:lnTo>
                <a:lnTo>
                  <a:pt x="40894" y="364109"/>
                </a:lnTo>
                <a:lnTo>
                  <a:pt x="51051" y="354115"/>
                </a:lnTo>
                <a:lnTo>
                  <a:pt x="30988" y="333756"/>
                </a:lnTo>
                <a:close/>
              </a:path>
              <a:path w="431165" h="424814">
                <a:moveTo>
                  <a:pt x="51051" y="354115"/>
                </a:moveTo>
                <a:lnTo>
                  <a:pt x="40894" y="364109"/>
                </a:lnTo>
                <a:lnTo>
                  <a:pt x="60960" y="384556"/>
                </a:lnTo>
                <a:lnTo>
                  <a:pt x="71157" y="374519"/>
                </a:lnTo>
                <a:lnTo>
                  <a:pt x="51051" y="354115"/>
                </a:lnTo>
                <a:close/>
              </a:path>
              <a:path w="431165" h="424814">
                <a:moveTo>
                  <a:pt x="71157" y="374519"/>
                </a:moveTo>
                <a:lnTo>
                  <a:pt x="60960" y="384556"/>
                </a:lnTo>
                <a:lnTo>
                  <a:pt x="81048" y="384556"/>
                </a:lnTo>
                <a:lnTo>
                  <a:pt x="71157" y="374519"/>
                </a:lnTo>
                <a:close/>
              </a:path>
              <a:path w="431165" h="424814">
                <a:moveTo>
                  <a:pt x="410972" y="0"/>
                </a:moveTo>
                <a:lnTo>
                  <a:pt x="51051" y="354115"/>
                </a:lnTo>
                <a:lnTo>
                  <a:pt x="71157" y="374519"/>
                </a:lnTo>
                <a:lnTo>
                  <a:pt x="431038" y="20320"/>
                </a:lnTo>
                <a:lnTo>
                  <a:pt x="4109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0486390" y="3610990"/>
            <a:ext cx="433070" cy="438150"/>
          </a:xfrm>
          <a:custGeom>
            <a:avLst/>
            <a:gdLst/>
            <a:ahLst/>
            <a:cxnLst/>
            <a:rect l="l" t="t" r="r" b="b"/>
            <a:pathLst>
              <a:path w="433070" h="438150">
                <a:moveTo>
                  <a:pt x="362584" y="387223"/>
                </a:moveTo>
                <a:lnTo>
                  <a:pt x="342264" y="407288"/>
                </a:lnTo>
                <a:lnTo>
                  <a:pt x="432942" y="438149"/>
                </a:lnTo>
                <a:lnTo>
                  <a:pt x="419638" y="397382"/>
                </a:lnTo>
                <a:lnTo>
                  <a:pt x="372617" y="397382"/>
                </a:lnTo>
                <a:lnTo>
                  <a:pt x="362584" y="387223"/>
                </a:lnTo>
                <a:close/>
              </a:path>
              <a:path w="433070" h="438150">
                <a:moveTo>
                  <a:pt x="382904" y="367157"/>
                </a:moveTo>
                <a:lnTo>
                  <a:pt x="362584" y="387223"/>
                </a:lnTo>
                <a:lnTo>
                  <a:pt x="372617" y="397382"/>
                </a:lnTo>
                <a:lnTo>
                  <a:pt x="392937" y="377316"/>
                </a:lnTo>
                <a:lnTo>
                  <a:pt x="382904" y="367157"/>
                </a:lnTo>
                <a:close/>
              </a:path>
              <a:path w="433070" h="438150">
                <a:moveTo>
                  <a:pt x="403225" y="347090"/>
                </a:moveTo>
                <a:lnTo>
                  <a:pt x="382904" y="367157"/>
                </a:lnTo>
                <a:lnTo>
                  <a:pt x="392937" y="377316"/>
                </a:lnTo>
                <a:lnTo>
                  <a:pt x="372617" y="397382"/>
                </a:lnTo>
                <a:lnTo>
                  <a:pt x="419638" y="397382"/>
                </a:lnTo>
                <a:lnTo>
                  <a:pt x="403225" y="347090"/>
                </a:lnTo>
                <a:close/>
              </a:path>
              <a:path w="433070" h="438150">
                <a:moveTo>
                  <a:pt x="20319" y="0"/>
                </a:moveTo>
                <a:lnTo>
                  <a:pt x="0" y="20065"/>
                </a:lnTo>
                <a:lnTo>
                  <a:pt x="362584" y="387223"/>
                </a:lnTo>
                <a:lnTo>
                  <a:pt x="382904" y="367157"/>
                </a:lnTo>
                <a:lnTo>
                  <a:pt x="2031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object 15"/>
          <p:cNvPicPr/>
          <p:nvPr/>
        </p:nvPicPr>
        <p:blipFill>
          <a:blip r:embed="rId2"/>
          <a:stretch>
            <a:fillRect/>
          </a:stretch>
        </p:blipFill>
        <p:spPr>
          <a:xfrm>
            <a:off x="7870697" y="4479925"/>
            <a:ext cx="201675" cy="243205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3"/>
          <a:stretch>
            <a:fillRect/>
          </a:stretch>
        </p:blipFill>
        <p:spPr>
          <a:xfrm>
            <a:off x="10079735" y="4480178"/>
            <a:ext cx="194437" cy="242950"/>
          </a:xfrm>
          <a:prstGeom prst="rect">
            <a:avLst/>
          </a:prstGeom>
        </p:spPr>
      </p:pic>
      <p:grpSp>
        <p:nvGrpSpPr>
          <p:cNvPr id="17" name="object 17"/>
          <p:cNvGrpSpPr/>
          <p:nvPr/>
        </p:nvGrpSpPr>
        <p:grpSpPr>
          <a:xfrm>
            <a:off x="7299388" y="5191252"/>
            <a:ext cx="1010919" cy="913765"/>
            <a:chOff x="7299388" y="5191252"/>
            <a:chExt cx="1010919" cy="913765"/>
          </a:xfrm>
        </p:grpSpPr>
        <p:sp>
          <p:nvSpPr>
            <p:cNvPr id="18" name="object 18"/>
            <p:cNvSpPr/>
            <p:nvPr/>
          </p:nvSpPr>
          <p:spPr>
            <a:xfrm>
              <a:off x="7503414" y="5191252"/>
              <a:ext cx="661035" cy="441325"/>
            </a:xfrm>
            <a:custGeom>
              <a:avLst/>
              <a:gdLst/>
              <a:ahLst/>
              <a:cxnLst/>
              <a:rect l="l" t="t" r="r" b="b"/>
              <a:pathLst>
                <a:path w="661034" h="441325">
                  <a:moveTo>
                    <a:pt x="336931" y="17272"/>
                  </a:moveTo>
                  <a:lnTo>
                    <a:pt x="314198" y="0"/>
                  </a:lnTo>
                  <a:lnTo>
                    <a:pt x="40195" y="363651"/>
                  </a:lnTo>
                  <a:lnTo>
                    <a:pt x="17399" y="346456"/>
                  </a:lnTo>
                  <a:lnTo>
                    <a:pt x="0" y="440702"/>
                  </a:lnTo>
                  <a:lnTo>
                    <a:pt x="85852" y="398030"/>
                  </a:lnTo>
                  <a:lnTo>
                    <a:pt x="78244" y="392303"/>
                  </a:lnTo>
                  <a:lnTo>
                    <a:pt x="63004" y="380822"/>
                  </a:lnTo>
                  <a:lnTo>
                    <a:pt x="336931" y="17272"/>
                  </a:lnTo>
                  <a:close/>
                </a:path>
                <a:path w="661034" h="441325">
                  <a:moveTo>
                    <a:pt x="660908" y="440550"/>
                  </a:moveTo>
                  <a:lnTo>
                    <a:pt x="653135" y="390652"/>
                  </a:lnTo>
                  <a:lnTo>
                    <a:pt x="646176" y="345821"/>
                  </a:lnTo>
                  <a:lnTo>
                    <a:pt x="622909" y="362407"/>
                  </a:lnTo>
                  <a:lnTo>
                    <a:pt x="365252" y="381"/>
                  </a:lnTo>
                  <a:lnTo>
                    <a:pt x="341884" y="16891"/>
                  </a:lnTo>
                  <a:lnTo>
                    <a:pt x="599554" y="379044"/>
                  </a:lnTo>
                  <a:lnTo>
                    <a:pt x="576326" y="395605"/>
                  </a:lnTo>
                  <a:lnTo>
                    <a:pt x="660908" y="4405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313676" y="5650230"/>
              <a:ext cx="982344" cy="440690"/>
            </a:xfrm>
            <a:custGeom>
              <a:avLst/>
              <a:gdLst/>
              <a:ahLst/>
              <a:cxnLst/>
              <a:rect l="l" t="t" r="r" b="b"/>
              <a:pathLst>
                <a:path w="982344" h="440689">
                  <a:moveTo>
                    <a:pt x="0" y="440436"/>
                  </a:moveTo>
                  <a:lnTo>
                    <a:pt x="440435" y="440436"/>
                  </a:lnTo>
                  <a:lnTo>
                    <a:pt x="440435" y="0"/>
                  </a:lnTo>
                  <a:lnTo>
                    <a:pt x="0" y="0"/>
                  </a:lnTo>
                  <a:lnTo>
                    <a:pt x="0" y="440436"/>
                  </a:lnTo>
                  <a:close/>
                </a:path>
                <a:path w="982344" h="440689">
                  <a:moveTo>
                    <a:pt x="542544" y="440436"/>
                  </a:moveTo>
                  <a:lnTo>
                    <a:pt x="982218" y="440436"/>
                  </a:lnTo>
                  <a:lnTo>
                    <a:pt x="982218" y="0"/>
                  </a:lnTo>
                  <a:lnTo>
                    <a:pt x="542544" y="0"/>
                  </a:lnTo>
                  <a:lnTo>
                    <a:pt x="542544" y="440436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/>
          <p:nvPr/>
        </p:nvSpPr>
        <p:spPr>
          <a:xfrm>
            <a:off x="11125072" y="4488560"/>
            <a:ext cx="85725" cy="1162050"/>
          </a:xfrm>
          <a:custGeom>
            <a:avLst/>
            <a:gdLst/>
            <a:ahLst/>
            <a:cxnLst/>
            <a:rect l="l" t="t" r="r" b="b"/>
            <a:pathLst>
              <a:path w="85725" h="1162050">
                <a:moveTo>
                  <a:pt x="28632" y="1076577"/>
                </a:moveTo>
                <a:lnTo>
                  <a:pt x="0" y="1077214"/>
                </a:lnTo>
                <a:lnTo>
                  <a:pt x="44830" y="1161935"/>
                </a:lnTo>
                <a:lnTo>
                  <a:pt x="78410" y="1090802"/>
                </a:lnTo>
                <a:lnTo>
                  <a:pt x="28955" y="1090802"/>
                </a:lnTo>
                <a:lnTo>
                  <a:pt x="28632" y="1076577"/>
                </a:lnTo>
                <a:close/>
              </a:path>
              <a:path w="85725" h="1162050">
                <a:moveTo>
                  <a:pt x="57206" y="1075942"/>
                </a:moveTo>
                <a:lnTo>
                  <a:pt x="28632" y="1076577"/>
                </a:lnTo>
                <a:lnTo>
                  <a:pt x="28955" y="1090802"/>
                </a:lnTo>
                <a:lnTo>
                  <a:pt x="57530" y="1090167"/>
                </a:lnTo>
                <a:lnTo>
                  <a:pt x="57206" y="1075942"/>
                </a:lnTo>
                <a:close/>
              </a:path>
              <a:path w="85725" h="1162050">
                <a:moveTo>
                  <a:pt x="85725" y="1075308"/>
                </a:moveTo>
                <a:lnTo>
                  <a:pt x="57206" y="1075942"/>
                </a:lnTo>
                <a:lnTo>
                  <a:pt x="57530" y="1090167"/>
                </a:lnTo>
                <a:lnTo>
                  <a:pt x="28955" y="1090802"/>
                </a:lnTo>
                <a:lnTo>
                  <a:pt x="78410" y="1090802"/>
                </a:lnTo>
                <a:lnTo>
                  <a:pt x="85725" y="1075308"/>
                </a:lnTo>
                <a:close/>
              </a:path>
              <a:path w="85725" h="1162050">
                <a:moveTo>
                  <a:pt x="32638" y="0"/>
                </a:moveTo>
                <a:lnTo>
                  <a:pt x="4191" y="762"/>
                </a:lnTo>
                <a:lnTo>
                  <a:pt x="28632" y="1076577"/>
                </a:lnTo>
                <a:lnTo>
                  <a:pt x="57206" y="1075942"/>
                </a:lnTo>
                <a:lnTo>
                  <a:pt x="326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1" name="object 21"/>
          <p:cNvGrpSpPr/>
          <p:nvPr/>
        </p:nvGrpSpPr>
        <p:grpSpPr>
          <a:xfrm>
            <a:off x="8731948" y="4488688"/>
            <a:ext cx="468630" cy="1616710"/>
            <a:chOff x="8731948" y="4488688"/>
            <a:chExt cx="468630" cy="1616710"/>
          </a:xfrm>
        </p:grpSpPr>
        <p:sp>
          <p:nvSpPr>
            <p:cNvPr id="22" name="object 22"/>
            <p:cNvSpPr/>
            <p:nvPr/>
          </p:nvSpPr>
          <p:spPr>
            <a:xfrm>
              <a:off x="8921368" y="4488688"/>
              <a:ext cx="85725" cy="1162050"/>
            </a:xfrm>
            <a:custGeom>
              <a:avLst/>
              <a:gdLst/>
              <a:ahLst/>
              <a:cxnLst/>
              <a:rect l="l" t="t" r="r" b="b"/>
              <a:pathLst>
                <a:path w="85725" h="1162050">
                  <a:moveTo>
                    <a:pt x="28525" y="1076367"/>
                  </a:moveTo>
                  <a:lnTo>
                    <a:pt x="0" y="1076960"/>
                  </a:lnTo>
                  <a:lnTo>
                    <a:pt x="44576" y="1161808"/>
                  </a:lnTo>
                  <a:lnTo>
                    <a:pt x="78261" y="1090676"/>
                  </a:lnTo>
                  <a:lnTo>
                    <a:pt x="28828" y="1090676"/>
                  </a:lnTo>
                  <a:lnTo>
                    <a:pt x="28525" y="1076367"/>
                  </a:lnTo>
                  <a:close/>
                </a:path>
                <a:path w="85725" h="1162050">
                  <a:moveTo>
                    <a:pt x="57099" y="1075773"/>
                  </a:moveTo>
                  <a:lnTo>
                    <a:pt x="28525" y="1076367"/>
                  </a:lnTo>
                  <a:lnTo>
                    <a:pt x="28828" y="1090676"/>
                  </a:lnTo>
                  <a:lnTo>
                    <a:pt x="57403" y="1090041"/>
                  </a:lnTo>
                  <a:lnTo>
                    <a:pt x="57099" y="1075773"/>
                  </a:lnTo>
                  <a:close/>
                </a:path>
                <a:path w="85725" h="1162050">
                  <a:moveTo>
                    <a:pt x="85598" y="1075182"/>
                  </a:moveTo>
                  <a:lnTo>
                    <a:pt x="57099" y="1075773"/>
                  </a:lnTo>
                  <a:lnTo>
                    <a:pt x="57403" y="1090041"/>
                  </a:lnTo>
                  <a:lnTo>
                    <a:pt x="28828" y="1090676"/>
                  </a:lnTo>
                  <a:lnTo>
                    <a:pt x="78261" y="1090676"/>
                  </a:lnTo>
                  <a:lnTo>
                    <a:pt x="85598" y="1075182"/>
                  </a:lnTo>
                  <a:close/>
                </a:path>
                <a:path w="85725" h="1162050">
                  <a:moveTo>
                    <a:pt x="34162" y="0"/>
                  </a:moveTo>
                  <a:lnTo>
                    <a:pt x="5714" y="507"/>
                  </a:lnTo>
                  <a:lnTo>
                    <a:pt x="28525" y="1076367"/>
                  </a:lnTo>
                  <a:lnTo>
                    <a:pt x="57099" y="1075773"/>
                  </a:lnTo>
                  <a:lnTo>
                    <a:pt x="341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746235" y="5650230"/>
              <a:ext cx="440055" cy="440690"/>
            </a:xfrm>
            <a:custGeom>
              <a:avLst/>
              <a:gdLst/>
              <a:ahLst/>
              <a:cxnLst/>
              <a:rect l="l" t="t" r="r" b="b"/>
              <a:pathLst>
                <a:path w="440054" h="440689">
                  <a:moveTo>
                    <a:pt x="0" y="440436"/>
                  </a:moveTo>
                  <a:lnTo>
                    <a:pt x="439674" y="440436"/>
                  </a:lnTo>
                  <a:lnTo>
                    <a:pt x="439674" y="0"/>
                  </a:lnTo>
                  <a:lnTo>
                    <a:pt x="0" y="0"/>
                  </a:lnTo>
                  <a:lnTo>
                    <a:pt x="0" y="440436"/>
                  </a:lnTo>
                  <a:close/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9486328" y="5173471"/>
            <a:ext cx="885190" cy="931544"/>
            <a:chOff x="9486328" y="5173471"/>
            <a:chExt cx="885190" cy="931544"/>
          </a:xfrm>
        </p:grpSpPr>
        <p:sp>
          <p:nvSpPr>
            <p:cNvPr id="25" name="object 25"/>
            <p:cNvSpPr/>
            <p:nvPr/>
          </p:nvSpPr>
          <p:spPr>
            <a:xfrm>
              <a:off x="9690354" y="5173471"/>
              <a:ext cx="681355" cy="459105"/>
            </a:xfrm>
            <a:custGeom>
              <a:avLst/>
              <a:gdLst/>
              <a:ahLst/>
              <a:cxnLst/>
              <a:rect l="l" t="t" r="r" b="b"/>
              <a:pathLst>
                <a:path w="681354" h="459104">
                  <a:moveTo>
                    <a:pt x="369189" y="17780"/>
                  </a:moveTo>
                  <a:lnTo>
                    <a:pt x="346837" y="0"/>
                  </a:lnTo>
                  <a:lnTo>
                    <a:pt x="42164" y="382536"/>
                  </a:lnTo>
                  <a:lnTo>
                    <a:pt x="19812" y="364744"/>
                  </a:lnTo>
                  <a:lnTo>
                    <a:pt x="0" y="458457"/>
                  </a:lnTo>
                  <a:lnTo>
                    <a:pt x="86868" y="418096"/>
                  </a:lnTo>
                  <a:lnTo>
                    <a:pt x="78549" y="411480"/>
                  </a:lnTo>
                  <a:lnTo>
                    <a:pt x="64516" y="400316"/>
                  </a:lnTo>
                  <a:lnTo>
                    <a:pt x="369189" y="17780"/>
                  </a:lnTo>
                  <a:close/>
                </a:path>
                <a:path w="681354" h="459104">
                  <a:moveTo>
                    <a:pt x="680974" y="458584"/>
                  </a:moveTo>
                  <a:lnTo>
                    <a:pt x="673481" y="408178"/>
                  </a:lnTo>
                  <a:lnTo>
                    <a:pt x="666877" y="363728"/>
                  </a:lnTo>
                  <a:lnTo>
                    <a:pt x="643547" y="380060"/>
                  </a:lnTo>
                  <a:lnTo>
                    <a:pt x="395732" y="25908"/>
                  </a:lnTo>
                  <a:lnTo>
                    <a:pt x="372364" y="42164"/>
                  </a:lnTo>
                  <a:lnTo>
                    <a:pt x="620077" y="396481"/>
                  </a:lnTo>
                  <a:lnTo>
                    <a:pt x="596646" y="412877"/>
                  </a:lnTo>
                  <a:lnTo>
                    <a:pt x="680974" y="4585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500616" y="5650229"/>
              <a:ext cx="440690" cy="440690"/>
            </a:xfrm>
            <a:custGeom>
              <a:avLst/>
              <a:gdLst/>
              <a:ahLst/>
              <a:cxnLst/>
              <a:rect l="l" t="t" r="r" b="b"/>
              <a:pathLst>
                <a:path w="440690" h="440689">
                  <a:moveTo>
                    <a:pt x="0" y="440436"/>
                  </a:moveTo>
                  <a:lnTo>
                    <a:pt x="440435" y="440436"/>
                  </a:lnTo>
                  <a:lnTo>
                    <a:pt x="440435" y="0"/>
                  </a:lnTo>
                  <a:lnTo>
                    <a:pt x="0" y="0"/>
                  </a:lnTo>
                  <a:lnTo>
                    <a:pt x="0" y="440436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0949940" y="5650229"/>
            <a:ext cx="440055" cy="440690"/>
          </a:xfrm>
          <a:prstGeom prst="rect">
            <a:avLst/>
          </a:prstGeom>
          <a:ln w="28575">
            <a:solidFill>
              <a:srgbClr val="000000"/>
            </a:solidFill>
          </a:ln>
        </p:spPr>
        <p:txBody>
          <a:bodyPr vert="horz" wrap="square" lIns="0" tIns="10795" rIns="0" bIns="0" rtlCol="0">
            <a:spAutoFit/>
          </a:bodyPr>
          <a:lstStyle/>
          <a:p>
            <a:pPr marL="137160">
              <a:lnSpc>
                <a:spcPct val="100000"/>
              </a:lnSpc>
              <a:spcBef>
                <a:spcPts val="85"/>
              </a:spcBef>
            </a:pPr>
            <a:r>
              <a:rPr sz="2600" b="1" spc="-5">
                <a:latin typeface="Times New Roman"/>
                <a:cs typeface="Times New Roman"/>
              </a:rPr>
              <a:t>8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870950" y="5648959"/>
            <a:ext cx="94551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67715" algn="l"/>
              </a:tabLst>
            </a:pPr>
            <a:r>
              <a:rPr sz="2600" b="1" spc="-50">
                <a:latin typeface="Times New Roman"/>
                <a:cs typeface="Times New Roman"/>
              </a:rPr>
              <a:t>4</a:t>
            </a:r>
            <a:r>
              <a:rPr sz="2600" b="1">
                <a:latin typeface="Times New Roman"/>
                <a:cs typeface="Times New Roman"/>
              </a:rPr>
              <a:t>	</a:t>
            </a:r>
            <a:r>
              <a:rPr sz="2600" b="1" spc="-50">
                <a:latin typeface="Times New Roman"/>
                <a:cs typeface="Times New Roman"/>
              </a:rPr>
              <a:t>5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438897" y="5648959"/>
            <a:ext cx="78803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00380" algn="l"/>
              </a:tabLst>
            </a:pPr>
            <a:r>
              <a:rPr sz="2600" b="1" spc="-50">
                <a:latin typeface="Times New Roman"/>
                <a:cs typeface="Times New Roman"/>
              </a:rPr>
              <a:t>1</a:t>
            </a:r>
            <a:r>
              <a:rPr sz="2600" b="1">
                <a:latin typeface="Times New Roman"/>
                <a:cs typeface="Times New Roman"/>
              </a:rPr>
              <a:t>	</a:t>
            </a: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2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0043159" y="5655564"/>
            <a:ext cx="440055" cy="440690"/>
          </a:xfrm>
          <a:prstGeom prst="rect">
            <a:avLst/>
          </a:prstGeom>
          <a:ln w="28575">
            <a:solidFill>
              <a:srgbClr val="000000"/>
            </a:solidFill>
          </a:ln>
        </p:spPr>
        <p:txBody>
          <a:bodyPr vert="horz" wrap="square" lIns="0" tIns="10795" rIns="0" bIns="0" rtlCol="0">
            <a:spAutoFit/>
          </a:bodyPr>
          <a:lstStyle/>
          <a:p>
            <a:pPr marL="83185">
              <a:lnSpc>
                <a:spcPct val="100000"/>
              </a:lnSpc>
              <a:spcBef>
                <a:spcPts val="8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2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084819" y="6165341"/>
            <a:ext cx="2766060" cy="609600"/>
          </a:xfrm>
          <a:custGeom>
            <a:avLst/>
            <a:gdLst/>
            <a:ahLst/>
            <a:cxnLst/>
            <a:rect l="l" t="t" r="r" b="b"/>
            <a:pathLst>
              <a:path w="2766059" h="609600">
                <a:moveTo>
                  <a:pt x="2766060" y="0"/>
                </a:moveTo>
                <a:lnTo>
                  <a:pt x="0" y="0"/>
                </a:lnTo>
                <a:lnTo>
                  <a:pt x="0" y="609600"/>
                </a:lnTo>
                <a:lnTo>
                  <a:pt x="2766060" y="609600"/>
                </a:lnTo>
                <a:lnTo>
                  <a:pt x="2766060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8300719" y="6218428"/>
            <a:ext cx="233553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35">
                <a:solidFill>
                  <a:srgbClr val="FFFFFF"/>
                </a:solidFill>
                <a:latin typeface="PMingLiU"/>
                <a:cs typeface="PMingLiU"/>
              </a:rPr>
              <a:t>子问题相互独</a:t>
            </a:r>
            <a:r>
              <a:rPr sz="2600" spc="-50">
                <a:solidFill>
                  <a:srgbClr val="FFFFFF"/>
                </a:solidFill>
                <a:latin typeface="PMingLiU"/>
                <a:cs typeface="PMingLiU"/>
              </a:rPr>
              <a:t>立</a:t>
            </a:r>
            <a:endParaRPr sz="2600">
              <a:latin typeface="PMingLiU"/>
              <a:cs typeface="PMingLiU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997201" y="1329689"/>
            <a:ext cx="222250" cy="638175"/>
          </a:xfrm>
          <a:custGeom>
            <a:avLst/>
            <a:gdLst/>
            <a:ahLst/>
            <a:cxnLst/>
            <a:rect l="l" t="t" r="r" b="b"/>
            <a:pathLst>
              <a:path w="222250" h="638175">
                <a:moveTo>
                  <a:pt x="221742" y="637794"/>
                </a:moveTo>
                <a:lnTo>
                  <a:pt x="178593" y="636345"/>
                </a:lnTo>
                <a:lnTo>
                  <a:pt x="143351" y="632396"/>
                </a:lnTo>
                <a:lnTo>
                  <a:pt x="119586" y="626542"/>
                </a:lnTo>
                <a:lnTo>
                  <a:pt x="110871" y="619379"/>
                </a:lnTo>
                <a:lnTo>
                  <a:pt x="110871" y="337312"/>
                </a:lnTo>
                <a:lnTo>
                  <a:pt x="102155" y="330148"/>
                </a:lnTo>
                <a:lnTo>
                  <a:pt x="78390" y="324294"/>
                </a:lnTo>
                <a:lnTo>
                  <a:pt x="43148" y="320345"/>
                </a:lnTo>
                <a:lnTo>
                  <a:pt x="0" y="318897"/>
                </a:lnTo>
                <a:lnTo>
                  <a:pt x="43148" y="317448"/>
                </a:lnTo>
                <a:lnTo>
                  <a:pt x="78390" y="313499"/>
                </a:lnTo>
                <a:lnTo>
                  <a:pt x="102155" y="307645"/>
                </a:lnTo>
                <a:lnTo>
                  <a:pt x="110871" y="300482"/>
                </a:lnTo>
                <a:lnTo>
                  <a:pt x="110871" y="18414"/>
                </a:lnTo>
                <a:lnTo>
                  <a:pt x="119586" y="11251"/>
                </a:lnTo>
                <a:lnTo>
                  <a:pt x="143351" y="5397"/>
                </a:lnTo>
                <a:lnTo>
                  <a:pt x="178593" y="1448"/>
                </a:lnTo>
                <a:lnTo>
                  <a:pt x="221742" y="0"/>
                </a:lnTo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604266" y="1394459"/>
            <a:ext cx="134556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35">
                <a:latin typeface="PMingLiU"/>
                <a:cs typeface="PMingLiU"/>
              </a:rPr>
              <a:t>基于枚</a:t>
            </a:r>
            <a:r>
              <a:rPr sz="2600" spc="-50">
                <a:latin typeface="PMingLiU"/>
                <a:cs typeface="PMingLiU"/>
              </a:rPr>
              <a:t>举</a:t>
            </a:r>
            <a:endParaRPr sz="2600">
              <a:latin typeface="PMingLiU"/>
              <a:cs typeface="PMingLiU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1E3301E8-92F6-8640-BC41-8815C1531694}"/>
              </a:ext>
            </a:extLst>
          </p:cNvPr>
          <p:cNvSpPr txBox="1"/>
          <p:nvPr/>
        </p:nvSpPr>
        <p:spPr>
          <a:xfrm>
            <a:off x="1141827" y="13092"/>
            <a:ext cx="56261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000" dirty="0">
                <a:latin typeface="SimSun" panose="02010600030101010101" pitchFamily="2" charset="-122"/>
                <a:ea typeface="SimSun" panose="02010600030101010101" pitchFamily="2" charset="-122"/>
              </a:rPr>
              <a:t>算法比较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3337052"/>
            <a:ext cx="17919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5">
                <a:latin typeface="PMingLiU"/>
                <a:cs typeface="PMingLiU"/>
              </a:rPr>
              <a:t>枚举区间</a:t>
            </a:r>
            <a:endParaRPr sz="2800">
              <a:latin typeface="PMingLiU"/>
              <a:cs typeface="PMingLiU"/>
            </a:endParaRPr>
          </a:p>
        </p:txBody>
      </p:sp>
      <p:sp>
        <p:nvSpPr>
          <p:cNvPr id="3" name="object 3"/>
          <p:cNvSpPr/>
          <p:nvPr/>
        </p:nvSpPr>
        <p:spPr>
          <a:xfrm flipH="1">
            <a:off x="9933178" y="781938"/>
            <a:ext cx="0" cy="2161540"/>
          </a:xfrm>
          <a:custGeom>
            <a:avLst/>
            <a:gdLst/>
            <a:ahLst/>
            <a:cxnLst/>
            <a:rect l="l" t="t" r="r" b="b"/>
            <a:pathLst>
              <a:path h="2161540">
                <a:moveTo>
                  <a:pt x="0" y="0"/>
                </a:moveTo>
                <a:lnTo>
                  <a:pt x="0" y="216154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252472" y="781938"/>
          <a:ext cx="7674608" cy="21469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373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7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200" b="1" spc="-15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算法名称</a:t>
                      </a:r>
                      <a:endParaRPr sz="2200">
                        <a:latin typeface="Microsoft JhengHei"/>
                        <a:cs typeface="Microsoft JhengHei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21793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200" b="1" spc="-10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时间复杂度</a:t>
                      </a:r>
                      <a:endParaRPr sz="2200">
                        <a:latin typeface="Microsoft JhengHei"/>
                        <a:cs typeface="Microsoft JhengHei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370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200" spc="-15">
                          <a:latin typeface="PMingLiU"/>
                          <a:cs typeface="PMingLiU"/>
                        </a:rPr>
                        <a:t>蛮力枚举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8255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200" spc="-10">
                          <a:latin typeface="Cambria Math"/>
                          <a:cs typeface="Cambria Math"/>
                        </a:rPr>
                        <a:t>𝑶(𝒏</a:t>
                      </a:r>
                      <a:r>
                        <a:rPr sz="2400" spc="-15" baseline="27777">
                          <a:latin typeface="Cambria Math"/>
                          <a:cs typeface="Cambria Math"/>
                        </a:rPr>
                        <a:t>𝟑</a:t>
                      </a:r>
                      <a:r>
                        <a:rPr sz="2200" spc="-10">
                          <a:latin typeface="Cambria Math"/>
                          <a:cs typeface="Cambria Math"/>
                        </a:rPr>
                        <a:t>)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70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200" spc="-15">
                          <a:latin typeface="PMingLiU"/>
                          <a:cs typeface="PMingLiU"/>
                        </a:rPr>
                        <a:t>优化枚举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8255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200" spc="-10">
                          <a:latin typeface="Cambria Math"/>
                          <a:cs typeface="Cambria Math"/>
                        </a:rPr>
                        <a:t>𝑶(𝒏</a:t>
                      </a:r>
                      <a:r>
                        <a:rPr sz="2400" spc="-15" baseline="27777">
                          <a:latin typeface="Cambria Math"/>
                          <a:cs typeface="Cambria Math"/>
                        </a:rPr>
                        <a:t>𝟐</a:t>
                      </a:r>
                      <a:r>
                        <a:rPr sz="2200" spc="-10">
                          <a:latin typeface="Cambria Math"/>
                          <a:cs typeface="Cambria Math"/>
                        </a:rPr>
                        <a:t>)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200" spc="-15">
                          <a:latin typeface="PMingLiU"/>
                          <a:cs typeface="PMingLiU"/>
                        </a:rPr>
                        <a:t>分而治之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24777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200" spc="-10">
                          <a:latin typeface="Cambria Math"/>
                          <a:cs typeface="Cambria Math"/>
                        </a:rPr>
                        <a:t>𝑶(𝒏𝐥𝐨𝐠</a:t>
                      </a:r>
                      <a:r>
                        <a:rPr sz="2200" spc="-7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200" spc="-25">
                          <a:latin typeface="Cambria Math"/>
                          <a:cs typeface="Cambria Math"/>
                        </a:rPr>
                        <a:t>𝒏)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084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200" spc="-20">
                          <a:latin typeface="PMingLiU"/>
                          <a:cs typeface="PMingLiU"/>
                        </a:rPr>
                        <a:t>动态规划</a:t>
                      </a:r>
                      <a:endParaRPr sz="2200">
                        <a:latin typeface="PMingLiU"/>
                        <a:cs typeface="PMingLiU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82550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200" spc="-20">
                          <a:latin typeface="Cambria Math"/>
                          <a:cs typeface="Cambria Math"/>
                        </a:rPr>
                        <a:t>𝑶(𝒏)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8267128" y="3161728"/>
          <a:ext cx="2638423" cy="439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9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0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4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00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94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00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9420"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79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79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7826692" y="4034218"/>
          <a:ext cx="1321434" cy="4400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06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0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06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0055">
                <a:tc>
                  <a:txBody>
                    <a:bodyPr/>
                    <a:lstStyle/>
                    <a:p>
                      <a:pPr marL="13779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107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1079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79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107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0028872" y="4034218"/>
          <a:ext cx="1319530" cy="4400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9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0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0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0055"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107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107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79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1079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7401306" y="4741926"/>
            <a:ext cx="440055" cy="440690"/>
          </a:xfrm>
          <a:prstGeom prst="rect">
            <a:avLst/>
          </a:prstGeom>
          <a:ln w="28575">
            <a:solidFill>
              <a:srgbClr val="000000"/>
            </a:solidFill>
          </a:ln>
        </p:spPr>
        <p:txBody>
          <a:bodyPr vert="horz" wrap="square" lIns="0" tIns="10795" rIns="0" bIns="0" rtlCol="0">
            <a:spAutoFit/>
          </a:bodyPr>
          <a:lstStyle/>
          <a:p>
            <a:pPr marL="137160">
              <a:lnSpc>
                <a:spcPct val="100000"/>
              </a:lnSpc>
              <a:spcBef>
                <a:spcPts val="85"/>
              </a:spcBef>
            </a:pPr>
            <a:r>
              <a:rPr sz="2600" b="1" spc="-5">
                <a:latin typeface="Times New Roman"/>
                <a:cs typeface="Times New Roman"/>
              </a:rPr>
              <a:t>1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840980" y="4741926"/>
            <a:ext cx="440690" cy="440690"/>
          </a:xfrm>
          <a:prstGeom prst="rect">
            <a:avLst/>
          </a:prstGeom>
          <a:ln w="28575">
            <a:solidFill>
              <a:srgbClr val="000000"/>
            </a:solidFill>
          </a:ln>
        </p:spPr>
        <p:txBody>
          <a:bodyPr vert="horz" wrap="square" lIns="0" tIns="10795" rIns="0" bIns="0" rtlCol="0">
            <a:spAutoFit/>
          </a:bodyPr>
          <a:lstStyle/>
          <a:p>
            <a:pPr marL="83185">
              <a:lnSpc>
                <a:spcPct val="100000"/>
              </a:lnSpc>
              <a:spcBef>
                <a:spcPts val="8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2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621011" y="4741926"/>
            <a:ext cx="440690" cy="440690"/>
          </a:xfrm>
          <a:prstGeom prst="rect">
            <a:avLst/>
          </a:prstGeom>
          <a:ln w="28575">
            <a:solidFill>
              <a:srgbClr val="000000"/>
            </a:solidFill>
          </a:ln>
        </p:spPr>
        <p:txBody>
          <a:bodyPr vert="horz" wrap="square" lIns="0" tIns="10795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85"/>
              </a:spcBef>
            </a:pPr>
            <a:r>
              <a:rPr sz="2600" b="1" spc="-5">
                <a:latin typeface="Times New Roman"/>
                <a:cs typeface="Times New Roman"/>
              </a:rPr>
              <a:t>5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061447" y="4741926"/>
            <a:ext cx="440055" cy="440690"/>
          </a:xfrm>
          <a:prstGeom prst="rect">
            <a:avLst/>
          </a:prstGeom>
          <a:ln w="28575">
            <a:solidFill>
              <a:srgbClr val="000000"/>
            </a:solidFill>
          </a:ln>
        </p:spPr>
        <p:txBody>
          <a:bodyPr vert="horz" wrap="square" lIns="0" tIns="10795" rIns="0" bIns="0" rtlCol="0">
            <a:spAutoFit/>
          </a:bodyPr>
          <a:lstStyle/>
          <a:p>
            <a:pPr marL="83185">
              <a:lnSpc>
                <a:spcPct val="100000"/>
              </a:lnSpc>
              <a:spcBef>
                <a:spcPts val="8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2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728709" y="3624579"/>
            <a:ext cx="431165" cy="424815"/>
          </a:xfrm>
          <a:custGeom>
            <a:avLst/>
            <a:gdLst/>
            <a:ahLst/>
            <a:cxnLst/>
            <a:rect l="l" t="t" r="r" b="b"/>
            <a:pathLst>
              <a:path w="431165" h="424814">
                <a:moveTo>
                  <a:pt x="30988" y="333756"/>
                </a:moveTo>
                <a:lnTo>
                  <a:pt x="0" y="424434"/>
                </a:lnTo>
                <a:lnTo>
                  <a:pt x="91186" y="394843"/>
                </a:lnTo>
                <a:lnTo>
                  <a:pt x="81048" y="384556"/>
                </a:lnTo>
                <a:lnTo>
                  <a:pt x="60960" y="384556"/>
                </a:lnTo>
                <a:lnTo>
                  <a:pt x="40894" y="364109"/>
                </a:lnTo>
                <a:lnTo>
                  <a:pt x="51051" y="354115"/>
                </a:lnTo>
                <a:lnTo>
                  <a:pt x="30988" y="333756"/>
                </a:lnTo>
                <a:close/>
              </a:path>
              <a:path w="431165" h="424814">
                <a:moveTo>
                  <a:pt x="51051" y="354115"/>
                </a:moveTo>
                <a:lnTo>
                  <a:pt x="40894" y="364109"/>
                </a:lnTo>
                <a:lnTo>
                  <a:pt x="60960" y="384556"/>
                </a:lnTo>
                <a:lnTo>
                  <a:pt x="71157" y="374519"/>
                </a:lnTo>
                <a:lnTo>
                  <a:pt x="51051" y="354115"/>
                </a:lnTo>
                <a:close/>
              </a:path>
              <a:path w="431165" h="424814">
                <a:moveTo>
                  <a:pt x="71157" y="374519"/>
                </a:moveTo>
                <a:lnTo>
                  <a:pt x="60960" y="384556"/>
                </a:lnTo>
                <a:lnTo>
                  <a:pt x="81048" y="384556"/>
                </a:lnTo>
                <a:lnTo>
                  <a:pt x="71157" y="374519"/>
                </a:lnTo>
                <a:close/>
              </a:path>
              <a:path w="431165" h="424814">
                <a:moveTo>
                  <a:pt x="410972" y="0"/>
                </a:moveTo>
                <a:lnTo>
                  <a:pt x="51051" y="354115"/>
                </a:lnTo>
                <a:lnTo>
                  <a:pt x="71157" y="374519"/>
                </a:lnTo>
                <a:lnTo>
                  <a:pt x="431038" y="20320"/>
                </a:lnTo>
                <a:lnTo>
                  <a:pt x="4109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0486390" y="3610990"/>
            <a:ext cx="433070" cy="438150"/>
          </a:xfrm>
          <a:custGeom>
            <a:avLst/>
            <a:gdLst/>
            <a:ahLst/>
            <a:cxnLst/>
            <a:rect l="l" t="t" r="r" b="b"/>
            <a:pathLst>
              <a:path w="433070" h="438150">
                <a:moveTo>
                  <a:pt x="362584" y="387223"/>
                </a:moveTo>
                <a:lnTo>
                  <a:pt x="342264" y="407288"/>
                </a:lnTo>
                <a:lnTo>
                  <a:pt x="432942" y="438149"/>
                </a:lnTo>
                <a:lnTo>
                  <a:pt x="419638" y="397382"/>
                </a:lnTo>
                <a:lnTo>
                  <a:pt x="372617" y="397382"/>
                </a:lnTo>
                <a:lnTo>
                  <a:pt x="362584" y="387223"/>
                </a:lnTo>
                <a:close/>
              </a:path>
              <a:path w="433070" h="438150">
                <a:moveTo>
                  <a:pt x="382904" y="367157"/>
                </a:moveTo>
                <a:lnTo>
                  <a:pt x="362584" y="387223"/>
                </a:lnTo>
                <a:lnTo>
                  <a:pt x="372617" y="397382"/>
                </a:lnTo>
                <a:lnTo>
                  <a:pt x="392937" y="377316"/>
                </a:lnTo>
                <a:lnTo>
                  <a:pt x="382904" y="367157"/>
                </a:lnTo>
                <a:close/>
              </a:path>
              <a:path w="433070" h="438150">
                <a:moveTo>
                  <a:pt x="403225" y="347090"/>
                </a:moveTo>
                <a:lnTo>
                  <a:pt x="382904" y="367157"/>
                </a:lnTo>
                <a:lnTo>
                  <a:pt x="392937" y="377316"/>
                </a:lnTo>
                <a:lnTo>
                  <a:pt x="372617" y="397382"/>
                </a:lnTo>
                <a:lnTo>
                  <a:pt x="419638" y="397382"/>
                </a:lnTo>
                <a:lnTo>
                  <a:pt x="403225" y="347090"/>
                </a:lnTo>
                <a:close/>
              </a:path>
              <a:path w="433070" h="438150">
                <a:moveTo>
                  <a:pt x="20319" y="0"/>
                </a:moveTo>
                <a:lnTo>
                  <a:pt x="0" y="20065"/>
                </a:lnTo>
                <a:lnTo>
                  <a:pt x="362584" y="387223"/>
                </a:lnTo>
                <a:lnTo>
                  <a:pt x="382904" y="367157"/>
                </a:lnTo>
                <a:lnTo>
                  <a:pt x="2031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object 15"/>
          <p:cNvPicPr/>
          <p:nvPr/>
        </p:nvPicPr>
        <p:blipFill>
          <a:blip r:embed="rId2"/>
          <a:stretch>
            <a:fillRect/>
          </a:stretch>
        </p:blipFill>
        <p:spPr>
          <a:xfrm>
            <a:off x="7870697" y="4479925"/>
            <a:ext cx="201675" cy="243205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3"/>
          <a:stretch>
            <a:fillRect/>
          </a:stretch>
        </p:blipFill>
        <p:spPr>
          <a:xfrm>
            <a:off x="10079735" y="4480178"/>
            <a:ext cx="194437" cy="242950"/>
          </a:xfrm>
          <a:prstGeom prst="rect">
            <a:avLst/>
          </a:prstGeom>
        </p:spPr>
      </p:pic>
      <p:grpSp>
        <p:nvGrpSpPr>
          <p:cNvPr id="17" name="object 17"/>
          <p:cNvGrpSpPr/>
          <p:nvPr/>
        </p:nvGrpSpPr>
        <p:grpSpPr>
          <a:xfrm>
            <a:off x="7299388" y="5191252"/>
            <a:ext cx="1010919" cy="913765"/>
            <a:chOff x="7299388" y="5191252"/>
            <a:chExt cx="1010919" cy="913765"/>
          </a:xfrm>
        </p:grpSpPr>
        <p:sp>
          <p:nvSpPr>
            <p:cNvPr id="18" name="object 18"/>
            <p:cNvSpPr/>
            <p:nvPr/>
          </p:nvSpPr>
          <p:spPr>
            <a:xfrm>
              <a:off x="7503414" y="5191252"/>
              <a:ext cx="661035" cy="441325"/>
            </a:xfrm>
            <a:custGeom>
              <a:avLst/>
              <a:gdLst/>
              <a:ahLst/>
              <a:cxnLst/>
              <a:rect l="l" t="t" r="r" b="b"/>
              <a:pathLst>
                <a:path w="661034" h="441325">
                  <a:moveTo>
                    <a:pt x="336931" y="17272"/>
                  </a:moveTo>
                  <a:lnTo>
                    <a:pt x="314198" y="0"/>
                  </a:lnTo>
                  <a:lnTo>
                    <a:pt x="40195" y="363651"/>
                  </a:lnTo>
                  <a:lnTo>
                    <a:pt x="17399" y="346456"/>
                  </a:lnTo>
                  <a:lnTo>
                    <a:pt x="0" y="440702"/>
                  </a:lnTo>
                  <a:lnTo>
                    <a:pt x="85852" y="398030"/>
                  </a:lnTo>
                  <a:lnTo>
                    <a:pt x="78244" y="392303"/>
                  </a:lnTo>
                  <a:lnTo>
                    <a:pt x="63004" y="380822"/>
                  </a:lnTo>
                  <a:lnTo>
                    <a:pt x="336931" y="17272"/>
                  </a:lnTo>
                  <a:close/>
                </a:path>
                <a:path w="661034" h="441325">
                  <a:moveTo>
                    <a:pt x="660908" y="440550"/>
                  </a:moveTo>
                  <a:lnTo>
                    <a:pt x="653135" y="390652"/>
                  </a:lnTo>
                  <a:lnTo>
                    <a:pt x="646176" y="345821"/>
                  </a:lnTo>
                  <a:lnTo>
                    <a:pt x="622909" y="362407"/>
                  </a:lnTo>
                  <a:lnTo>
                    <a:pt x="365252" y="381"/>
                  </a:lnTo>
                  <a:lnTo>
                    <a:pt x="341884" y="16891"/>
                  </a:lnTo>
                  <a:lnTo>
                    <a:pt x="599554" y="379044"/>
                  </a:lnTo>
                  <a:lnTo>
                    <a:pt x="576326" y="395605"/>
                  </a:lnTo>
                  <a:lnTo>
                    <a:pt x="660908" y="4405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313676" y="5650230"/>
              <a:ext cx="982344" cy="440690"/>
            </a:xfrm>
            <a:custGeom>
              <a:avLst/>
              <a:gdLst/>
              <a:ahLst/>
              <a:cxnLst/>
              <a:rect l="l" t="t" r="r" b="b"/>
              <a:pathLst>
                <a:path w="982344" h="440689">
                  <a:moveTo>
                    <a:pt x="0" y="440436"/>
                  </a:moveTo>
                  <a:lnTo>
                    <a:pt x="440435" y="440436"/>
                  </a:lnTo>
                  <a:lnTo>
                    <a:pt x="440435" y="0"/>
                  </a:lnTo>
                  <a:lnTo>
                    <a:pt x="0" y="0"/>
                  </a:lnTo>
                  <a:lnTo>
                    <a:pt x="0" y="440436"/>
                  </a:lnTo>
                  <a:close/>
                </a:path>
                <a:path w="982344" h="440689">
                  <a:moveTo>
                    <a:pt x="542544" y="440436"/>
                  </a:moveTo>
                  <a:lnTo>
                    <a:pt x="982218" y="440436"/>
                  </a:lnTo>
                  <a:lnTo>
                    <a:pt x="982218" y="0"/>
                  </a:lnTo>
                  <a:lnTo>
                    <a:pt x="542544" y="0"/>
                  </a:lnTo>
                  <a:lnTo>
                    <a:pt x="542544" y="440436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/>
          <p:nvPr/>
        </p:nvSpPr>
        <p:spPr>
          <a:xfrm>
            <a:off x="11125072" y="4488560"/>
            <a:ext cx="85725" cy="1162050"/>
          </a:xfrm>
          <a:custGeom>
            <a:avLst/>
            <a:gdLst/>
            <a:ahLst/>
            <a:cxnLst/>
            <a:rect l="l" t="t" r="r" b="b"/>
            <a:pathLst>
              <a:path w="85725" h="1162050">
                <a:moveTo>
                  <a:pt x="28632" y="1076577"/>
                </a:moveTo>
                <a:lnTo>
                  <a:pt x="0" y="1077214"/>
                </a:lnTo>
                <a:lnTo>
                  <a:pt x="44830" y="1161935"/>
                </a:lnTo>
                <a:lnTo>
                  <a:pt x="78410" y="1090802"/>
                </a:lnTo>
                <a:lnTo>
                  <a:pt x="28955" y="1090802"/>
                </a:lnTo>
                <a:lnTo>
                  <a:pt x="28632" y="1076577"/>
                </a:lnTo>
                <a:close/>
              </a:path>
              <a:path w="85725" h="1162050">
                <a:moveTo>
                  <a:pt x="57206" y="1075942"/>
                </a:moveTo>
                <a:lnTo>
                  <a:pt x="28632" y="1076577"/>
                </a:lnTo>
                <a:lnTo>
                  <a:pt x="28955" y="1090802"/>
                </a:lnTo>
                <a:lnTo>
                  <a:pt x="57530" y="1090167"/>
                </a:lnTo>
                <a:lnTo>
                  <a:pt x="57206" y="1075942"/>
                </a:lnTo>
                <a:close/>
              </a:path>
              <a:path w="85725" h="1162050">
                <a:moveTo>
                  <a:pt x="85725" y="1075308"/>
                </a:moveTo>
                <a:lnTo>
                  <a:pt x="57206" y="1075942"/>
                </a:lnTo>
                <a:lnTo>
                  <a:pt x="57530" y="1090167"/>
                </a:lnTo>
                <a:lnTo>
                  <a:pt x="28955" y="1090802"/>
                </a:lnTo>
                <a:lnTo>
                  <a:pt x="78410" y="1090802"/>
                </a:lnTo>
                <a:lnTo>
                  <a:pt x="85725" y="1075308"/>
                </a:lnTo>
                <a:close/>
              </a:path>
              <a:path w="85725" h="1162050">
                <a:moveTo>
                  <a:pt x="32638" y="0"/>
                </a:moveTo>
                <a:lnTo>
                  <a:pt x="4191" y="762"/>
                </a:lnTo>
                <a:lnTo>
                  <a:pt x="28632" y="1076577"/>
                </a:lnTo>
                <a:lnTo>
                  <a:pt x="57206" y="1075942"/>
                </a:lnTo>
                <a:lnTo>
                  <a:pt x="326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1" name="object 21"/>
          <p:cNvGrpSpPr/>
          <p:nvPr/>
        </p:nvGrpSpPr>
        <p:grpSpPr>
          <a:xfrm>
            <a:off x="8731948" y="4488688"/>
            <a:ext cx="468630" cy="1616710"/>
            <a:chOff x="8731948" y="4488688"/>
            <a:chExt cx="468630" cy="1616710"/>
          </a:xfrm>
        </p:grpSpPr>
        <p:sp>
          <p:nvSpPr>
            <p:cNvPr id="22" name="object 22"/>
            <p:cNvSpPr/>
            <p:nvPr/>
          </p:nvSpPr>
          <p:spPr>
            <a:xfrm>
              <a:off x="8921368" y="4488688"/>
              <a:ext cx="85725" cy="1162050"/>
            </a:xfrm>
            <a:custGeom>
              <a:avLst/>
              <a:gdLst/>
              <a:ahLst/>
              <a:cxnLst/>
              <a:rect l="l" t="t" r="r" b="b"/>
              <a:pathLst>
                <a:path w="85725" h="1162050">
                  <a:moveTo>
                    <a:pt x="28525" y="1076367"/>
                  </a:moveTo>
                  <a:lnTo>
                    <a:pt x="0" y="1076960"/>
                  </a:lnTo>
                  <a:lnTo>
                    <a:pt x="44576" y="1161808"/>
                  </a:lnTo>
                  <a:lnTo>
                    <a:pt x="78261" y="1090676"/>
                  </a:lnTo>
                  <a:lnTo>
                    <a:pt x="28828" y="1090676"/>
                  </a:lnTo>
                  <a:lnTo>
                    <a:pt x="28525" y="1076367"/>
                  </a:lnTo>
                  <a:close/>
                </a:path>
                <a:path w="85725" h="1162050">
                  <a:moveTo>
                    <a:pt x="57099" y="1075773"/>
                  </a:moveTo>
                  <a:lnTo>
                    <a:pt x="28525" y="1076367"/>
                  </a:lnTo>
                  <a:lnTo>
                    <a:pt x="28828" y="1090676"/>
                  </a:lnTo>
                  <a:lnTo>
                    <a:pt x="57403" y="1090041"/>
                  </a:lnTo>
                  <a:lnTo>
                    <a:pt x="57099" y="1075773"/>
                  </a:lnTo>
                  <a:close/>
                </a:path>
                <a:path w="85725" h="1162050">
                  <a:moveTo>
                    <a:pt x="85598" y="1075182"/>
                  </a:moveTo>
                  <a:lnTo>
                    <a:pt x="57099" y="1075773"/>
                  </a:lnTo>
                  <a:lnTo>
                    <a:pt x="57403" y="1090041"/>
                  </a:lnTo>
                  <a:lnTo>
                    <a:pt x="28828" y="1090676"/>
                  </a:lnTo>
                  <a:lnTo>
                    <a:pt x="78261" y="1090676"/>
                  </a:lnTo>
                  <a:lnTo>
                    <a:pt x="85598" y="1075182"/>
                  </a:lnTo>
                  <a:close/>
                </a:path>
                <a:path w="85725" h="1162050">
                  <a:moveTo>
                    <a:pt x="34162" y="0"/>
                  </a:moveTo>
                  <a:lnTo>
                    <a:pt x="5714" y="507"/>
                  </a:lnTo>
                  <a:lnTo>
                    <a:pt x="28525" y="1076367"/>
                  </a:lnTo>
                  <a:lnTo>
                    <a:pt x="57099" y="1075773"/>
                  </a:lnTo>
                  <a:lnTo>
                    <a:pt x="341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746235" y="5650230"/>
              <a:ext cx="440055" cy="440690"/>
            </a:xfrm>
            <a:custGeom>
              <a:avLst/>
              <a:gdLst/>
              <a:ahLst/>
              <a:cxnLst/>
              <a:rect l="l" t="t" r="r" b="b"/>
              <a:pathLst>
                <a:path w="440054" h="440689">
                  <a:moveTo>
                    <a:pt x="0" y="440436"/>
                  </a:moveTo>
                  <a:lnTo>
                    <a:pt x="439674" y="440436"/>
                  </a:lnTo>
                  <a:lnTo>
                    <a:pt x="439674" y="0"/>
                  </a:lnTo>
                  <a:lnTo>
                    <a:pt x="0" y="0"/>
                  </a:lnTo>
                  <a:lnTo>
                    <a:pt x="0" y="440436"/>
                  </a:lnTo>
                  <a:close/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9486328" y="5173471"/>
            <a:ext cx="885190" cy="931544"/>
            <a:chOff x="9486328" y="5173471"/>
            <a:chExt cx="885190" cy="931544"/>
          </a:xfrm>
        </p:grpSpPr>
        <p:sp>
          <p:nvSpPr>
            <p:cNvPr id="25" name="object 25"/>
            <p:cNvSpPr/>
            <p:nvPr/>
          </p:nvSpPr>
          <p:spPr>
            <a:xfrm>
              <a:off x="9690354" y="5173471"/>
              <a:ext cx="681355" cy="459105"/>
            </a:xfrm>
            <a:custGeom>
              <a:avLst/>
              <a:gdLst/>
              <a:ahLst/>
              <a:cxnLst/>
              <a:rect l="l" t="t" r="r" b="b"/>
              <a:pathLst>
                <a:path w="681354" h="459104">
                  <a:moveTo>
                    <a:pt x="369189" y="17780"/>
                  </a:moveTo>
                  <a:lnTo>
                    <a:pt x="346837" y="0"/>
                  </a:lnTo>
                  <a:lnTo>
                    <a:pt x="42164" y="382536"/>
                  </a:lnTo>
                  <a:lnTo>
                    <a:pt x="19812" y="364744"/>
                  </a:lnTo>
                  <a:lnTo>
                    <a:pt x="0" y="458457"/>
                  </a:lnTo>
                  <a:lnTo>
                    <a:pt x="86868" y="418096"/>
                  </a:lnTo>
                  <a:lnTo>
                    <a:pt x="78549" y="411480"/>
                  </a:lnTo>
                  <a:lnTo>
                    <a:pt x="64516" y="400316"/>
                  </a:lnTo>
                  <a:lnTo>
                    <a:pt x="369189" y="17780"/>
                  </a:lnTo>
                  <a:close/>
                </a:path>
                <a:path w="681354" h="459104">
                  <a:moveTo>
                    <a:pt x="680974" y="458584"/>
                  </a:moveTo>
                  <a:lnTo>
                    <a:pt x="673481" y="408178"/>
                  </a:lnTo>
                  <a:lnTo>
                    <a:pt x="666877" y="363728"/>
                  </a:lnTo>
                  <a:lnTo>
                    <a:pt x="643547" y="380060"/>
                  </a:lnTo>
                  <a:lnTo>
                    <a:pt x="395732" y="25908"/>
                  </a:lnTo>
                  <a:lnTo>
                    <a:pt x="372364" y="42164"/>
                  </a:lnTo>
                  <a:lnTo>
                    <a:pt x="620077" y="396481"/>
                  </a:lnTo>
                  <a:lnTo>
                    <a:pt x="596646" y="412877"/>
                  </a:lnTo>
                  <a:lnTo>
                    <a:pt x="680974" y="4585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500616" y="5650229"/>
              <a:ext cx="440690" cy="440690"/>
            </a:xfrm>
            <a:custGeom>
              <a:avLst/>
              <a:gdLst/>
              <a:ahLst/>
              <a:cxnLst/>
              <a:rect l="l" t="t" r="r" b="b"/>
              <a:pathLst>
                <a:path w="440690" h="440689">
                  <a:moveTo>
                    <a:pt x="0" y="440436"/>
                  </a:moveTo>
                  <a:lnTo>
                    <a:pt x="440435" y="440436"/>
                  </a:lnTo>
                  <a:lnTo>
                    <a:pt x="440435" y="0"/>
                  </a:lnTo>
                  <a:lnTo>
                    <a:pt x="0" y="0"/>
                  </a:lnTo>
                  <a:lnTo>
                    <a:pt x="0" y="440436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0949940" y="5650229"/>
            <a:ext cx="440055" cy="440690"/>
          </a:xfrm>
          <a:prstGeom prst="rect">
            <a:avLst/>
          </a:prstGeom>
          <a:ln w="28575">
            <a:solidFill>
              <a:srgbClr val="000000"/>
            </a:solidFill>
          </a:ln>
        </p:spPr>
        <p:txBody>
          <a:bodyPr vert="horz" wrap="square" lIns="0" tIns="10795" rIns="0" bIns="0" rtlCol="0">
            <a:spAutoFit/>
          </a:bodyPr>
          <a:lstStyle/>
          <a:p>
            <a:pPr marL="137160">
              <a:lnSpc>
                <a:spcPct val="100000"/>
              </a:lnSpc>
              <a:spcBef>
                <a:spcPts val="85"/>
              </a:spcBef>
            </a:pPr>
            <a:r>
              <a:rPr sz="2600" b="1" spc="-5">
                <a:latin typeface="Times New Roman"/>
                <a:cs typeface="Times New Roman"/>
              </a:rPr>
              <a:t>8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870950" y="5648959"/>
            <a:ext cx="94551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67715" algn="l"/>
              </a:tabLst>
            </a:pPr>
            <a:r>
              <a:rPr sz="2600" b="1" spc="-50">
                <a:latin typeface="Times New Roman"/>
                <a:cs typeface="Times New Roman"/>
              </a:rPr>
              <a:t>4</a:t>
            </a:r>
            <a:r>
              <a:rPr sz="2600" b="1">
                <a:latin typeface="Times New Roman"/>
                <a:cs typeface="Times New Roman"/>
              </a:rPr>
              <a:t>	</a:t>
            </a:r>
            <a:r>
              <a:rPr sz="2600" b="1" spc="-50">
                <a:latin typeface="Times New Roman"/>
                <a:cs typeface="Times New Roman"/>
              </a:rPr>
              <a:t>5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438897" y="5648959"/>
            <a:ext cx="78803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00380" algn="l"/>
              </a:tabLst>
            </a:pPr>
            <a:r>
              <a:rPr sz="2600" b="1" spc="-50">
                <a:latin typeface="Times New Roman"/>
                <a:cs typeface="Times New Roman"/>
              </a:rPr>
              <a:t>1</a:t>
            </a:r>
            <a:r>
              <a:rPr sz="2600" b="1">
                <a:latin typeface="Times New Roman"/>
                <a:cs typeface="Times New Roman"/>
              </a:rPr>
              <a:t>	</a:t>
            </a: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2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0043159" y="5655564"/>
            <a:ext cx="440055" cy="440690"/>
          </a:xfrm>
          <a:prstGeom prst="rect">
            <a:avLst/>
          </a:prstGeom>
          <a:ln w="28575">
            <a:solidFill>
              <a:srgbClr val="000000"/>
            </a:solidFill>
          </a:ln>
        </p:spPr>
        <p:txBody>
          <a:bodyPr vert="horz" wrap="square" lIns="0" tIns="10795" rIns="0" bIns="0" rtlCol="0">
            <a:spAutoFit/>
          </a:bodyPr>
          <a:lstStyle/>
          <a:p>
            <a:pPr marL="83185">
              <a:lnSpc>
                <a:spcPct val="100000"/>
              </a:lnSpc>
              <a:spcBef>
                <a:spcPts val="85"/>
              </a:spcBef>
            </a:pPr>
            <a:r>
              <a:rPr sz="2600" b="1" spc="-20">
                <a:latin typeface="Times New Roman"/>
                <a:cs typeface="Times New Roman"/>
              </a:rPr>
              <a:t>-</a:t>
            </a:r>
            <a:r>
              <a:rPr sz="2600" b="1" spc="-50">
                <a:latin typeface="Times New Roman"/>
                <a:cs typeface="Times New Roman"/>
              </a:rPr>
              <a:t>2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084819" y="6165341"/>
            <a:ext cx="2766060" cy="609600"/>
          </a:xfrm>
          <a:custGeom>
            <a:avLst/>
            <a:gdLst/>
            <a:ahLst/>
            <a:cxnLst/>
            <a:rect l="l" t="t" r="r" b="b"/>
            <a:pathLst>
              <a:path w="2766059" h="609600">
                <a:moveTo>
                  <a:pt x="2766060" y="0"/>
                </a:moveTo>
                <a:lnTo>
                  <a:pt x="0" y="0"/>
                </a:lnTo>
                <a:lnTo>
                  <a:pt x="0" y="609600"/>
                </a:lnTo>
                <a:lnTo>
                  <a:pt x="2766060" y="609600"/>
                </a:lnTo>
                <a:lnTo>
                  <a:pt x="2766060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8300719" y="6218428"/>
            <a:ext cx="233553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35">
                <a:solidFill>
                  <a:srgbClr val="FFFFFF"/>
                </a:solidFill>
                <a:latin typeface="PMingLiU"/>
                <a:cs typeface="PMingLiU"/>
              </a:rPr>
              <a:t>子问题相互独</a:t>
            </a:r>
            <a:r>
              <a:rPr sz="2600" spc="-50">
                <a:solidFill>
                  <a:srgbClr val="FFFFFF"/>
                </a:solidFill>
                <a:latin typeface="PMingLiU"/>
                <a:cs typeface="PMingLiU"/>
              </a:rPr>
              <a:t>立</a:t>
            </a:r>
            <a:endParaRPr sz="2600">
              <a:latin typeface="PMingLiU"/>
              <a:cs typeface="PMingLiU"/>
            </a:endParaRPr>
          </a:p>
        </p:txBody>
      </p:sp>
      <p:graphicFrame>
        <p:nvGraphicFramePr>
          <p:cNvPr id="33" name="object 33"/>
          <p:cNvGraphicFramePr>
            <a:graphicFrameLocks noGrp="1"/>
          </p:cNvGraphicFramePr>
          <p:nvPr/>
        </p:nvGraphicFramePr>
        <p:xfrm>
          <a:off x="875664" y="5463285"/>
          <a:ext cx="5661025" cy="5753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0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75310"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spc="-50">
                          <a:latin typeface="Cambria Math"/>
                          <a:cs typeface="Cambria Math"/>
                        </a:rPr>
                        <a:t>𝑿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7874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" name="object 34"/>
          <p:cNvGraphicFramePr>
            <a:graphicFrameLocks noGrp="1"/>
          </p:cNvGraphicFramePr>
          <p:nvPr/>
        </p:nvGraphicFramePr>
        <p:xfrm>
          <a:off x="875664" y="4289805"/>
          <a:ext cx="5661025" cy="5759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0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75945"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spc="-50">
                          <a:latin typeface="Cambria Math"/>
                          <a:cs typeface="Cambria Math"/>
                        </a:rPr>
                        <a:t>𝑿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7874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6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5" name="object 35"/>
          <p:cNvSpPr/>
          <p:nvPr/>
        </p:nvSpPr>
        <p:spPr>
          <a:xfrm>
            <a:off x="1418844" y="1943100"/>
            <a:ext cx="292100" cy="1323975"/>
          </a:xfrm>
          <a:custGeom>
            <a:avLst/>
            <a:gdLst/>
            <a:ahLst/>
            <a:cxnLst/>
            <a:rect l="l" t="t" r="r" b="b"/>
            <a:pathLst>
              <a:path w="292100" h="1323975">
                <a:moveTo>
                  <a:pt x="218820" y="0"/>
                </a:moveTo>
                <a:lnTo>
                  <a:pt x="72897" y="0"/>
                </a:lnTo>
                <a:lnTo>
                  <a:pt x="72897" y="1177671"/>
                </a:lnTo>
                <a:lnTo>
                  <a:pt x="0" y="1177671"/>
                </a:lnTo>
                <a:lnTo>
                  <a:pt x="145922" y="1323594"/>
                </a:lnTo>
                <a:lnTo>
                  <a:pt x="291845" y="1177671"/>
                </a:lnTo>
                <a:lnTo>
                  <a:pt x="218820" y="1177671"/>
                </a:lnTo>
                <a:lnTo>
                  <a:pt x="218820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9572243" y="2271522"/>
            <a:ext cx="845185" cy="668020"/>
          </a:xfrm>
          <a:custGeom>
            <a:avLst/>
            <a:gdLst/>
            <a:ahLst/>
            <a:cxnLst/>
            <a:rect l="l" t="t" r="r" b="b"/>
            <a:pathLst>
              <a:path w="845184" h="668019">
                <a:moveTo>
                  <a:pt x="434339" y="0"/>
                </a:moveTo>
                <a:lnTo>
                  <a:pt x="0" y="0"/>
                </a:lnTo>
                <a:lnTo>
                  <a:pt x="0" y="96519"/>
                </a:lnTo>
                <a:lnTo>
                  <a:pt x="434339" y="96519"/>
                </a:lnTo>
                <a:lnTo>
                  <a:pt x="479203" y="101682"/>
                </a:lnTo>
                <a:lnTo>
                  <a:pt x="520377" y="116388"/>
                </a:lnTo>
                <a:lnTo>
                  <a:pt x="556690" y="139467"/>
                </a:lnTo>
                <a:lnTo>
                  <a:pt x="586972" y="169749"/>
                </a:lnTo>
                <a:lnTo>
                  <a:pt x="610051" y="206062"/>
                </a:lnTo>
                <a:lnTo>
                  <a:pt x="624757" y="247236"/>
                </a:lnTo>
                <a:lnTo>
                  <a:pt x="629920" y="292100"/>
                </a:lnTo>
                <a:lnTo>
                  <a:pt x="629920" y="500633"/>
                </a:lnTo>
                <a:lnTo>
                  <a:pt x="511301" y="500633"/>
                </a:lnTo>
                <a:lnTo>
                  <a:pt x="678179" y="667512"/>
                </a:lnTo>
                <a:lnTo>
                  <a:pt x="845057" y="500633"/>
                </a:lnTo>
                <a:lnTo>
                  <a:pt x="726439" y="500633"/>
                </a:lnTo>
                <a:lnTo>
                  <a:pt x="726439" y="292100"/>
                </a:lnTo>
                <a:lnTo>
                  <a:pt x="722616" y="244727"/>
                </a:lnTo>
                <a:lnTo>
                  <a:pt x="711545" y="199786"/>
                </a:lnTo>
                <a:lnTo>
                  <a:pt x="693830" y="157877"/>
                </a:lnTo>
                <a:lnTo>
                  <a:pt x="670072" y="119603"/>
                </a:lnTo>
                <a:lnTo>
                  <a:pt x="640873" y="85566"/>
                </a:lnTo>
                <a:lnTo>
                  <a:pt x="606836" y="56367"/>
                </a:lnTo>
                <a:lnTo>
                  <a:pt x="568562" y="32609"/>
                </a:lnTo>
                <a:lnTo>
                  <a:pt x="526653" y="14894"/>
                </a:lnTo>
                <a:lnTo>
                  <a:pt x="481712" y="3823"/>
                </a:lnTo>
                <a:lnTo>
                  <a:pt x="434339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997201" y="1329689"/>
            <a:ext cx="222250" cy="638175"/>
          </a:xfrm>
          <a:custGeom>
            <a:avLst/>
            <a:gdLst/>
            <a:ahLst/>
            <a:cxnLst/>
            <a:rect l="l" t="t" r="r" b="b"/>
            <a:pathLst>
              <a:path w="222250" h="638175">
                <a:moveTo>
                  <a:pt x="221742" y="637794"/>
                </a:moveTo>
                <a:lnTo>
                  <a:pt x="178593" y="636345"/>
                </a:lnTo>
                <a:lnTo>
                  <a:pt x="143351" y="632396"/>
                </a:lnTo>
                <a:lnTo>
                  <a:pt x="119586" y="626542"/>
                </a:lnTo>
                <a:lnTo>
                  <a:pt x="110871" y="619379"/>
                </a:lnTo>
                <a:lnTo>
                  <a:pt x="110871" y="337312"/>
                </a:lnTo>
                <a:lnTo>
                  <a:pt x="102155" y="330148"/>
                </a:lnTo>
                <a:lnTo>
                  <a:pt x="78390" y="324294"/>
                </a:lnTo>
                <a:lnTo>
                  <a:pt x="43148" y="320345"/>
                </a:lnTo>
                <a:lnTo>
                  <a:pt x="0" y="318897"/>
                </a:lnTo>
                <a:lnTo>
                  <a:pt x="43148" y="317448"/>
                </a:lnTo>
                <a:lnTo>
                  <a:pt x="78390" y="313499"/>
                </a:lnTo>
                <a:lnTo>
                  <a:pt x="102155" y="307645"/>
                </a:lnTo>
                <a:lnTo>
                  <a:pt x="110871" y="300482"/>
                </a:lnTo>
                <a:lnTo>
                  <a:pt x="110871" y="18414"/>
                </a:lnTo>
                <a:lnTo>
                  <a:pt x="119586" y="11251"/>
                </a:lnTo>
                <a:lnTo>
                  <a:pt x="143351" y="5397"/>
                </a:lnTo>
                <a:lnTo>
                  <a:pt x="178593" y="1448"/>
                </a:lnTo>
                <a:lnTo>
                  <a:pt x="221742" y="0"/>
                </a:lnTo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604266" y="1394459"/>
            <a:ext cx="134556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35">
                <a:latin typeface="PMingLiU"/>
                <a:cs typeface="PMingLiU"/>
              </a:rPr>
              <a:t>基于枚</a:t>
            </a:r>
            <a:r>
              <a:rPr sz="2600" spc="-50">
                <a:latin typeface="PMingLiU"/>
                <a:cs typeface="PMingLiU"/>
              </a:rPr>
              <a:t>举</a:t>
            </a:r>
            <a:endParaRPr sz="2600">
              <a:latin typeface="PMingLiU"/>
              <a:cs typeface="PMingLiU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2283714" y="6165341"/>
            <a:ext cx="2767330" cy="609600"/>
          </a:xfrm>
          <a:custGeom>
            <a:avLst/>
            <a:gdLst/>
            <a:ahLst/>
            <a:cxnLst/>
            <a:rect l="l" t="t" r="r" b="b"/>
            <a:pathLst>
              <a:path w="2767329" h="609600">
                <a:moveTo>
                  <a:pt x="2766822" y="0"/>
                </a:moveTo>
                <a:lnTo>
                  <a:pt x="0" y="0"/>
                </a:lnTo>
                <a:lnTo>
                  <a:pt x="0" y="609600"/>
                </a:lnTo>
                <a:lnTo>
                  <a:pt x="2766822" y="609600"/>
                </a:lnTo>
                <a:lnTo>
                  <a:pt x="2766822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2499360" y="6218428"/>
            <a:ext cx="233553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35">
                <a:solidFill>
                  <a:srgbClr val="FFFFFF"/>
                </a:solidFill>
                <a:latin typeface="PMingLiU"/>
                <a:cs typeface="PMingLiU"/>
              </a:rPr>
              <a:t>存在重叠子问</a:t>
            </a:r>
            <a:r>
              <a:rPr sz="2600" spc="-50">
                <a:solidFill>
                  <a:srgbClr val="FFFFFF"/>
                </a:solidFill>
                <a:latin typeface="PMingLiU"/>
                <a:cs typeface="PMingLiU"/>
              </a:rPr>
              <a:t>题</a:t>
            </a:r>
            <a:endParaRPr sz="2600">
              <a:latin typeface="PMingLiU"/>
              <a:cs typeface="PMingLiU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95068" y="197769"/>
            <a:ext cx="3874771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枚举过程分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析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4099169"/>
              </p:ext>
            </p:extLst>
          </p:nvPr>
        </p:nvGraphicFramePr>
        <p:xfrm>
          <a:off x="1751710" y="3841115"/>
          <a:ext cx="6176009" cy="396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9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9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93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93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93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93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1866391" y="3372104"/>
            <a:ext cx="231140" cy="396240"/>
          </a:xfrm>
          <a:custGeom>
            <a:avLst/>
            <a:gdLst/>
            <a:ahLst/>
            <a:cxnLst/>
            <a:rect l="l" t="t" r="r" b="b"/>
            <a:pathLst>
              <a:path w="231139" h="396239">
                <a:moveTo>
                  <a:pt x="173228" y="0"/>
                </a:moveTo>
                <a:lnTo>
                  <a:pt x="57658" y="0"/>
                </a:lnTo>
                <a:lnTo>
                  <a:pt x="57658" y="280797"/>
                </a:lnTo>
                <a:lnTo>
                  <a:pt x="0" y="280797"/>
                </a:lnTo>
                <a:lnTo>
                  <a:pt x="115443" y="396240"/>
                </a:lnTo>
                <a:lnTo>
                  <a:pt x="230886" y="280797"/>
                </a:lnTo>
                <a:lnTo>
                  <a:pt x="173228" y="280797"/>
                </a:lnTo>
                <a:lnTo>
                  <a:pt x="17322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572004" y="3372104"/>
            <a:ext cx="230504" cy="396240"/>
          </a:xfrm>
          <a:custGeom>
            <a:avLst/>
            <a:gdLst/>
            <a:ahLst/>
            <a:cxnLst/>
            <a:rect l="l" t="t" r="r" b="b"/>
            <a:pathLst>
              <a:path w="230504" h="396239">
                <a:moveTo>
                  <a:pt x="172593" y="0"/>
                </a:moveTo>
                <a:lnTo>
                  <a:pt x="57531" y="0"/>
                </a:lnTo>
                <a:lnTo>
                  <a:pt x="57531" y="281178"/>
                </a:lnTo>
                <a:lnTo>
                  <a:pt x="0" y="281178"/>
                </a:lnTo>
                <a:lnTo>
                  <a:pt x="115062" y="396240"/>
                </a:lnTo>
                <a:lnTo>
                  <a:pt x="230124" y="281178"/>
                </a:lnTo>
                <a:lnTo>
                  <a:pt x="172593" y="281178"/>
                </a:lnTo>
                <a:lnTo>
                  <a:pt x="172593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986784" y="4626864"/>
            <a:ext cx="499109" cy="259079"/>
          </a:xfrm>
          <a:custGeom>
            <a:avLst/>
            <a:gdLst/>
            <a:ahLst/>
            <a:cxnLst/>
            <a:rect l="l" t="t" r="r" b="b"/>
            <a:pathLst>
              <a:path w="499109" h="259078">
                <a:moveTo>
                  <a:pt x="416305" y="0"/>
                </a:moveTo>
                <a:lnTo>
                  <a:pt x="412622" y="10541"/>
                </a:lnTo>
                <a:lnTo>
                  <a:pt x="427650" y="17021"/>
                </a:lnTo>
                <a:lnTo>
                  <a:pt x="440547" y="26003"/>
                </a:lnTo>
                <a:lnTo>
                  <a:pt x="466734" y="67778"/>
                </a:lnTo>
                <a:lnTo>
                  <a:pt x="474406" y="106068"/>
                </a:lnTo>
                <a:lnTo>
                  <a:pt x="475360" y="128143"/>
                </a:lnTo>
                <a:lnTo>
                  <a:pt x="474388" y="151003"/>
                </a:lnTo>
                <a:lnTo>
                  <a:pt x="466681" y="190436"/>
                </a:lnTo>
                <a:lnTo>
                  <a:pt x="440547" y="232822"/>
                </a:lnTo>
                <a:lnTo>
                  <a:pt x="413003" y="248538"/>
                </a:lnTo>
                <a:lnTo>
                  <a:pt x="416305" y="258953"/>
                </a:lnTo>
                <a:lnTo>
                  <a:pt x="451643" y="242395"/>
                </a:lnTo>
                <a:lnTo>
                  <a:pt x="477646" y="213741"/>
                </a:lnTo>
                <a:lnTo>
                  <a:pt x="493648" y="175355"/>
                </a:lnTo>
                <a:lnTo>
                  <a:pt x="498982" y="129540"/>
                </a:lnTo>
                <a:lnTo>
                  <a:pt x="497647" y="105775"/>
                </a:lnTo>
                <a:lnTo>
                  <a:pt x="486927" y="63674"/>
                </a:lnTo>
                <a:lnTo>
                  <a:pt x="465705" y="29432"/>
                </a:lnTo>
                <a:lnTo>
                  <a:pt x="435121" y="6762"/>
                </a:lnTo>
                <a:lnTo>
                  <a:pt x="416305" y="0"/>
                </a:lnTo>
                <a:close/>
              </a:path>
              <a:path w="499109" h="259078">
                <a:moveTo>
                  <a:pt x="82550" y="0"/>
                </a:moveTo>
                <a:lnTo>
                  <a:pt x="47323" y="16573"/>
                </a:lnTo>
                <a:lnTo>
                  <a:pt x="21335" y="45338"/>
                </a:lnTo>
                <a:lnTo>
                  <a:pt x="5334" y="83820"/>
                </a:lnTo>
                <a:lnTo>
                  <a:pt x="0" y="129540"/>
                </a:lnTo>
                <a:lnTo>
                  <a:pt x="1333" y="153376"/>
                </a:lnTo>
                <a:lnTo>
                  <a:pt x="12001" y="195476"/>
                </a:lnTo>
                <a:lnTo>
                  <a:pt x="33097" y="229574"/>
                </a:lnTo>
                <a:lnTo>
                  <a:pt x="82550" y="258953"/>
                </a:lnTo>
                <a:lnTo>
                  <a:pt x="85851" y="248538"/>
                </a:lnTo>
                <a:lnTo>
                  <a:pt x="71118" y="241942"/>
                </a:lnTo>
                <a:lnTo>
                  <a:pt x="58372" y="232822"/>
                </a:lnTo>
                <a:lnTo>
                  <a:pt x="32248" y="190436"/>
                </a:lnTo>
                <a:lnTo>
                  <a:pt x="24576" y="151003"/>
                </a:lnTo>
                <a:lnTo>
                  <a:pt x="23621" y="128143"/>
                </a:lnTo>
                <a:lnTo>
                  <a:pt x="24576" y="106068"/>
                </a:lnTo>
                <a:lnTo>
                  <a:pt x="32248" y="67778"/>
                </a:lnTo>
                <a:lnTo>
                  <a:pt x="58467" y="26003"/>
                </a:lnTo>
                <a:lnTo>
                  <a:pt x="86232" y="10541"/>
                </a:lnTo>
                <a:lnTo>
                  <a:pt x="825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28980" y="1081815"/>
            <a:ext cx="4951730" cy="382397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4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两层枚举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8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第</a:t>
            </a:r>
            <a:r>
              <a:rPr sz="2400" b="1" dirty="0">
                <a:latin typeface="SimSun" panose="02010600030101010101" pitchFamily="2" charset="-122"/>
                <a:ea typeface="SimSun" panose="02010600030101010101" pitchFamily="2" charset="-122"/>
                <a:cs typeface="Times New Roman"/>
              </a:rPr>
              <a:t>1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层：枚举位置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𝒊</a:t>
            </a:r>
            <a:r>
              <a:rPr sz="24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作为区间开头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第</a:t>
            </a:r>
            <a:r>
              <a:rPr sz="2400" b="1" dirty="0">
                <a:latin typeface="SimSun" panose="02010600030101010101" pitchFamily="2" charset="-122"/>
                <a:ea typeface="SimSun" panose="02010600030101010101" pitchFamily="2" charset="-122"/>
                <a:cs typeface="Times New Roman"/>
              </a:rPr>
              <a:t>2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层：枚举位置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𝒋</a:t>
            </a:r>
            <a:r>
              <a:rPr sz="24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作为区间结尾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050" dirty="0">
              <a:latin typeface="PMingLiU"/>
              <a:cs typeface="PMingLiU"/>
            </a:endParaRPr>
          </a:p>
          <a:p>
            <a:pPr marL="995680">
              <a:lnSpc>
                <a:spcPct val="100000"/>
              </a:lnSpc>
            </a:pPr>
            <a:r>
              <a:rPr sz="3000" baseline="1388" dirty="0">
                <a:latin typeface="Cambria Math"/>
                <a:cs typeface="Cambria Math"/>
              </a:rPr>
              <a:t>𝒊</a:t>
            </a:r>
            <a:r>
              <a:rPr sz="3000" spc="157" baseline="1388" dirty="0">
                <a:latin typeface="Cambria Math"/>
                <a:cs typeface="Cambria Math"/>
              </a:rPr>
              <a:t> </a:t>
            </a:r>
            <a:r>
              <a:rPr sz="3000" baseline="1388" dirty="0">
                <a:latin typeface="Cambria Math"/>
                <a:cs typeface="Cambria Math"/>
              </a:rPr>
              <a:t>=</a:t>
            </a:r>
            <a:r>
              <a:rPr sz="3000" spc="157" baseline="1388" dirty="0">
                <a:latin typeface="Cambria Math"/>
                <a:cs typeface="Cambria Math"/>
              </a:rPr>
              <a:t> </a:t>
            </a:r>
            <a:r>
              <a:rPr sz="3000" baseline="1388" dirty="0">
                <a:latin typeface="Cambria Math"/>
                <a:cs typeface="Cambria Math"/>
              </a:rPr>
              <a:t>𝟏</a:t>
            </a:r>
            <a:r>
              <a:rPr sz="3000" spc="67" baseline="1388" dirty="0">
                <a:latin typeface="Cambria Math"/>
                <a:cs typeface="Cambria Math"/>
              </a:rPr>
              <a:t>  </a:t>
            </a:r>
            <a:r>
              <a:rPr sz="2000" dirty="0">
                <a:latin typeface="Cambria Math"/>
                <a:cs typeface="Cambria Math"/>
              </a:rPr>
              <a:t>𝒋</a:t>
            </a:r>
            <a:r>
              <a:rPr sz="2000" spc="10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=</a:t>
            </a:r>
            <a:r>
              <a:rPr sz="2000" spc="110" dirty="0">
                <a:latin typeface="Cambria Math"/>
                <a:cs typeface="Cambria Math"/>
              </a:rPr>
              <a:t> </a:t>
            </a:r>
            <a:r>
              <a:rPr sz="2000" spc="-50" dirty="0">
                <a:latin typeface="Cambria Math"/>
                <a:cs typeface="Cambria Math"/>
              </a:rPr>
              <a:t>𝟏</a:t>
            </a:r>
            <a:endParaRPr sz="2000" dirty="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endParaRPr sz="2000" dirty="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550" dirty="0">
              <a:latin typeface="Cambria Math"/>
              <a:cs typeface="Cambria Math"/>
            </a:endParaRPr>
          </a:p>
          <a:p>
            <a:pPr marL="583565">
              <a:lnSpc>
                <a:spcPct val="100000"/>
              </a:lnSpc>
              <a:spcBef>
                <a:spcPts val="5"/>
              </a:spcBef>
            </a:pPr>
            <a:r>
              <a:rPr sz="1800" spc="-50" dirty="0">
                <a:latin typeface="Cambria Math"/>
                <a:cs typeface="Cambria Math"/>
              </a:rPr>
              <a:t>𝑿</a:t>
            </a:r>
            <a:endParaRPr sz="1800" dirty="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550" dirty="0">
              <a:latin typeface="Cambria Math"/>
              <a:cs typeface="Cambria Math"/>
            </a:endParaRPr>
          </a:p>
          <a:p>
            <a:pPr marL="1069340">
              <a:lnSpc>
                <a:spcPct val="100000"/>
              </a:lnSpc>
              <a:spcBef>
                <a:spcPts val="5"/>
              </a:spcBef>
              <a:tabLst>
                <a:tab pos="3857625" algn="l"/>
              </a:tabLst>
            </a:pPr>
            <a:r>
              <a:rPr sz="22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当前最大值</a:t>
            </a:r>
            <a:r>
              <a:rPr sz="2200" dirty="0">
                <a:latin typeface="Cambria Math"/>
                <a:cs typeface="Cambria Math"/>
              </a:rPr>
              <a:t>=</a:t>
            </a:r>
            <a:r>
              <a:rPr sz="2200" spc="110" dirty="0">
                <a:latin typeface="Cambria Math"/>
                <a:cs typeface="Cambria Math"/>
              </a:rPr>
              <a:t> </a:t>
            </a:r>
            <a:r>
              <a:rPr sz="2200" dirty="0">
                <a:latin typeface="Cambria Math"/>
                <a:cs typeface="Cambria Math"/>
              </a:rPr>
              <a:t>𝟒</a:t>
            </a:r>
            <a:r>
              <a:rPr sz="2200" b="1" dirty="0">
                <a:latin typeface="Arial"/>
                <a:cs typeface="Arial"/>
              </a:rPr>
              <a:t>,</a:t>
            </a:r>
            <a:r>
              <a:rPr sz="2200" b="1" spc="-10" dirty="0">
                <a:latin typeface="Arial"/>
                <a:cs typeface="Arial"/>
              </a:rPr>
              <a:t> </a:t>
            </a:r>
            <a:r>
              <a:rPr sz="2200" dirty="0">
                <a:latin typeface="Cambria Math"/>
                <a:cs typeface="Cambria Math"/>
              </a:rPr>
              <a:t>𝑺</a:t>
            </a:r>
            <a:r>
              <a:rPr sz="2200" spc="425" dirty="0">
                <a:latin typeface="Cambria Math"/>
                <a:cs typeface="Cambria Math"/>
              </a:rPr>
              <a:t> </a:t>
            </a:r>
            <a:r>
              <a:rPr sz="2200" spc="-10" dirty="0">
                <a:latin typeface="Cambria Math"/>
                <a:cs typeface="Cambria Math"/>
              </a:rPr>
              <a:t>𝒊,</a:t>
            </a:r>
            <a:r>
              <a:rPr sz="2200" spc="-120" dirty="0">
                <a:latin typeface="Cambria Math"/>
                <a:cs typeface="Cambria Math"/>
              </a:rPr>
              <a:t> </a:t>
            </a:r>
            <a:r>
              <a:rPr sz="2200" spc="-50" dirty="0">
                <a:latin typeface="Cambria Math"/>
                <a:cs typeface="Cambria Math"/>
              </a:rPr>
              <a:t>𝒋</a:t>
            </a:r>
            <a:r>
              <a:rPr sz="2200" dirty="0">
                <a:latin typeface="Cambria Math"/>
                <a:cs typeface="Cambria Math"/>
              </a:rPr>
              <a:t>	=</a:t>
            </a:r>
            <a:r>
              <a:rPr sz="2200" spc="100" dirty="0">
                <a:latin typeface="Cambria Math"/>
                <a:cs typeface="Cambria Math"/>
              </a:rPr>
              <a:t> </a:t>
            </a:r>
            <a:r>
              <a:rPr sz="2200" spc="-50" dirty="0">
                <a:latin typeface="Cambria Math"/>
                <a:cs typeface="Cambria Math"/>
              </a:rPr>
              <a:t>𝟒</a:t>
            </a:r>
            <a:endParaRPr sz="2200" dirty="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9460" y="1041175"/>
            <a:ext cx="4951730" cy="144526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4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5">
                <a:latin typeface="PMingLiU"/>
                <a:cs typeface="PMingLiU"/>
              </a:rPr>
              <a:t>两层枚举</a:t>
            </a:r>
            <a:endParaRPr sz="2800">
              <a:latin typeface="PMingLiU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8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>
                <a:latin typeface="PMingLiU"/>
                <a:cs typeface="PMingLiU"/>
              </a:rPr>
              <a:t>第</a:t>
            </a:r>
            <a:r>
              <a:rPr sz="2400" b="1">
                <a:latin typeface="Times New Roman"/>
                <a:cs typeface="Times New Roman"/>
              </a:rPr>
              <a:t>1</a:t>
            </a:r>
            <a:r>
              <a:rPr sz="2400">
                <a:latin typeface="PMingLiU"/>
                <a:cs typeface="PMingLiU"/>
              </a:rPr>
              <a:t>层：枚举位置</a:t>
            </a:r>
            <a:r>
              <a:rPr sz="2400" spc="-10">
                <a:latin typeface="Cambria Math"/>
                <a:cs typeface="Cambria Math"/>
              </a:rPr>
              <a:t>𝒊</a:t>
            </a:r>
            <a:r>
              <a:rPr sz="2400" spc="-10">
                <a:latin typeface="PMingLiU"/>
                <a:cs typeface="PMingLiU"/>
              </a:rPr>
              <a:t>作为区间开头</a:t>
            </a:r>
            <a:endParaRPr sz="2400">
              <a:latin typeface="PMingLiU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>
                <a:latin typeface="PMingLiU"/>
                <a:cs typeface="PMingLiU"/>
              </a:rPr>
              <a:t>第</a:t>
            </a:r>
            <a:r>
              <a:rPr sz="2400" b="1">
                <a:latin typeface="Times New Roman"/>
                <a:cs typeface="Times New Roman"/>
              </a:rPr>
              <a:t>2</a:t>
            </a:r>
            <a:r>
              <a:rPr sz="2400">
                <a:latin typeface="PMingLiU"/>
                <a:cs typeface="PMingLiU"/>
              </a:rPr>
              <a:t>层：枚举位置</a:t>
            </a:r>
            <a:r>
              <a:rPr sz="2400">
                <a:latin typeface="Cambria Math"/>
                <a:cs typeface="Cambria Math"/>
              </a:rPr>
              <a:t>𝒋</a:t>
            </a:r>
            <a:r>
              <a:rPr sz="2400" spc="-10">
                <a:latin typeface="PMingLiU"/>
                <a:cs typeface="PMingLiU"/>
              </a:rPr>
              <a:t>作为区间结尾</a:t>
            </a:r>
            <a:endParaRPr sz="2400">
              <a:latin typeface="PMingLiU"/>
              <a:cs typeface="PMingLiU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0166717"/>
              </p:ext>
            </p:extLst>
          </p:nvPr>
        </p:nvGraphicFramePr>
        <p:xfrm>
          <a:off x="1782190" y="3800475"/>
          <a:ext cx="6176009" cy="396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9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9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93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93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93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93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1896871" y="3331464"/>
            <a:ext cx="231140" cy="396240"/>
          </a:xfrm>
          <a:custGeom>
            <a:avLst/>
            <a:gdLst/>
            <a:ahLst/>
            <a:cxnLst/>
            <a:rect l="l" t="t" r="r" b="b"/>
            <a:pathLst>
              <a:path w="231139" h="396239">
                <a:moveTo>
                  <a:pt x="173228" y="0"/>
                </a:moveTo>
                <a:lnTo>
                  <a:pt x="57658" y="0"/>
                </a:lnTo>
                <a:lnTo>
                  <a:pt x="57658" y="280797"/>
                </a:lnTo>
                <a:lnTo>
                  <a:pt x="0" y="280797"/>
                </a:lnTo>
                <a:lnTo>
                  <a:pt x="115443" y="396240"/>
                </a:lnTo>
                <a:lnTo>
                  <a:pt x="230886" y="280797"/>
                </a:lnTo>
                <a:lnTo>
                  <a:pt x="173228" y="280797"/>
                </a:lnTo>
                <a:lnTo>
                  <a:pt x="17322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742693" y="3002026"/>
            <a:ext cx="60325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>
                <a:latin typeface="Cambria Math"/>
                <a:cs typeface="Cambria Math"/>
              </a:rPr>
              <a:t>𝒊</a:t>
            </a:r>
            <a:r>
              <a:rPr sz="2000" spc="100">
                <a:latin typeface="Cambria Math"/>
                <a:cs typeface="Cambria Math"/>
              </a:rPr>
              <a:t> </a:t>
            </a:r>
            <a:r>
              <a:rPr sz="2000">
                <a:latin typeface="Cambria Math"/>
                <a:cs typeface="Cambria Math"/>
              </a:rPr>
              <a:t>=</a:t>
            </a:r>
            <a:r>
              <a:rPr sz="2000" spc="105">
                <a:latin typeface="Cambria Math"/>
                <a:cs typeface="Cambria Math"/>
              </a:rPr>
              <a:t> </a:t>
            </a:r>
            <a:r>
              <a:rPr sz="2000" spc="-50">
                <a:latin typeface="Cambria Math"/>
                <a:cs typeface="Cambria Math"/>
              </a:rPr>
              <a:t>𝟏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28923" y="3009137"/>
            <a:ext cx="60833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>
                <a:latin typeface="Cambria Math"/>
                <a:cs typeface="Cambria Math"/>
              </a:rPr>
              <a:t>𝒋</a:t>
            </a:r>
            <a:r>
              <a:rPr sz="2000" spc="95">
                <a:latin typeface="Cambria Math"/>
                <a:cs typeface="Cambria Math"/>
              </a:rPr>
              <a:t> </a:t>
            </a:r>
            <a:r>
              <a:rPr sz="2000">
                <a:latin typeface="Cambria Math"/>
                <a:cs typeface="Cambria Math"/>
              </a:rPr>
              <a:t>=</a:t>
            </a:r>
            <a:r>
              <a:rPr sz="2000" spc="110">
                <a:latin typeface="Cambria Math"/>
                <a:cs typeface="Cambria Math"/>
              </a:rPr>
              <a:t> </a:t>
            </a:r>
            <a:r>
              <a:rPr sz="2000" spc="-50">
                <a:latin typeface="Cambria Math"/>
                <a:cs typeface="Cambria Math"/>
              </a:rPr>
              <a:t>𝟐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484879" y="3331464"/>
            <a:ext cx="230504" cy="396240"/>
          </a:xfrm>
          <a:custGeom>
            <a:avLst/>
            <a:gdLst/>
            <a:ahLst/>
            <a:cxnLst/>
            <a:rect l="l" t="t" r="r" b="b"/>
            <a:pathLst>
              <a:path w="230503" h="396239">
                <a:moveTo>
                  <a:pt x="172592" y="0"/>
                </a:moveTo>
                <a:lnTo>
                  <a:pt x="57530" y="0"/>
                </a:lnTo>
                <a:lnTo>
                  <a:pt x="57530" y="281178"/>
                </a:lnTo>
                <a:lnTo>
                  <a:pt x="0" y="281178"/>
                </a:lnTo>
                <a:lnTo>
                  <a:pt x="115062" y="396240"/>
                </a:lnTo>
                <a:lnTo>
                  <a:pt x="230124" y="281178"/>
                </a:lnTo>
                <a:lnTo>
                  <a:pt x="172592" y="281178"/>
                </a:lnTo>
                <a:lnTo>
                  <a:pt x="172592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017264" y="4586224"/>
            <a:ext cx="499109" cy="259079"/>
          </a:xfrm>
          <a:custGeom>
            <a:avLst/>
            <a:gdLst/>
            <a:ahLst/>
            <a:cxnLst/>
            <a:rect l="l" t="t" r="r" b="b"/>
            <a:pathLst>
              <a:path w="499109" h="259078">
                <a:moveTo>
                  <a:pt x="416305" y="0"/>
                </a:moveTo>
                <a:lnTo>
                  <a:pt x="412622" y="10541"/>
                </a:lnTo>
                <a:lnTo>
                  <a:pt x="427650" y="17021"/>
                </a:lnTo>
                <a:lnTo>
                  <a:pt x="440547" y="26003"/>
                </a:lnTo>
                <a:lnTo>
                  <a:pt x="466734" y="67778"/>
                </a:lnTo>
                <a:lnTo>
                  <a:pt x="474406" y="106068"/>
                </a:lnTo>
                <a:lnTo>
                  <a:pt x="475360" y="128143"/>
                </a:lnTo>
                <a:lnTo>
                  <a:pt x="474388" y="151003"/>
                </a:lnTo>
                <a:lnTo>
                  <a:pt x="466681" y="190436"/>
                </a:lnTo>
                <a:lnTo>
                  <a:pt x="440547" y="232822"/>
                </a:lnTo>
                <a:lnTo>
                  <a:pt x="413003" y="248538"/>
                </a:lnTo>
                <a:lnTo>
                  <a:pt x="416305" y="258953"/>
                </a:lnTo>
                <a:lnTo>
                  <a:pt x="451643" y="242395"/>
                </a:lnTo>
                <a:lnTo>
                  <a:pt x="477646" y="213741"/>
                </a:lnTo>
                <a:lnTo>
                  <a:pt x="493648" y="175355"/>
                </a:lnTo>
                <a:lnTo>
                  <a:pt x="498982" y="129540"/>
                </a:lnTo>
                <a:lnTo>
                  <a:pt x="497647" y="105775"/>
                </a:lnTo>
                <a:lnTo>
                  <a:pt x="486927" y="63674"/>
                </a:lnTo>
                <a:lnTo>
                  <a:pt x="465705" y="29432"/>
                </a:lnTo>
                <a:lnTo>
                  <a:pt x="435121" y="6762"/>
                </a:lnTo>
                <a:lnTo>
                  <a:pt x="416305" y="0"/>
                </a:lnTo>
                <a:close/>
              </a:path>
              <a:path w="499109" h="259078">
                <a:moveTo>
                  <a:pt x="82550" y="0"/>
                </a:moveTo>
                <a:lnTo>
                  <a:pt x="47323" y="16573"/>
                </a:lnTo>
                <a:lnTo>
                  <a:pt x="21335" y="45338"/>
                </a:lnTo>
                <a:lnTo>
                  <a:pt x="5334" y="83820"/>
                </a:lnTo>
                <a:lnTo>
                  <a:pt x="0" y="129540"/>
                </a:lnTo>
                <a:lnTo>
                  <a:pt x="1333" y="153376"/>
                </a:lnTo>
                <a:lnTo>
                  <a:pt x="12001" y="195476"/>
                </a:lnTo>
                <a:lnTo>
                  <a:pt x="33097" y="229574"/>
                </a:lnTo>
                <a:lnTo>
                  <a:pt x="82550" y="258953"/>
                </a:lnTo>
                <a:lnTo>
                  <a:pt x="85851" y="248538"/>
                </a:lnTo>
                <a:lnTo>
                  <a:pt x="71118" y="241942"/>
                </a:lnTo>
                <a:lnTo>
                  <a:pt x="58372" y="232822"/>
                </a:lnTo>
                <a:lnTo>
                  <a:pt x="32248" y="190436"/>
                </a:lnTo>
                <a:lnTo>
                  <a:pt x="24576" y="151003"/>
                </a:lnTo>
                <a:lnTo>
                  <a:pt x="23621" y="128143"/>
                </a:lnTo>
                <a:lnTo>
                  <a:pt x="24576" y="106068"/>
                </a:lnTo>
                <a:lnTo>
                  <a:pt x="32248" y="67778"/>
                </a:lnTo>
                <a:lnTo>
                  <a:pt x="58467" y="26003"/>
                </a:lnTo>
                <a:lnTo>
                  <a:pt x="86232" y="10541"/>
                </a:lnTo>
                <a:lnTo>
                  <a:pt x="825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330706" y="3846830"/>
            <a:ext cx="3752215" cy="1017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>
                <a:latin typeface="Cambria Math"/>
                <a:cs typeface="Cambria Math"/>
              </a:rPr>
              <a:t>𝑿</a:t>
            </a:r>
            <a:endParaRPr sz="18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550">
              <a:latin typeface="Cambria Math"/>
              <a:cs typeface="Cambria Math"/>
            </a:endParaRPr>
          </a:p>
          <a:p>
            <a:pPr marL="485140" algn="ctr">
              <a:lnSpc>
                <a:spcPct val="100000"/>
              </a:lnSpc>
              <a:spcBef>
                <a:spcPts val="5"/>
              </a:spcBef>
              <a:tabLst>
                <a:tab pos="3274060" algn="l"/>
              </a:tabLst>
            </a:pPr>
            <a:r>
              <a:rPr sz="2200">
                <a:latin typeface="PMingLiU"/>
                <a:cs typeface="PMingLiU"/>
              </a:rPr>
              <a:t>当前最大值</a:t>
            </a:r>
            <a:r>
              <a:rPr sz="2200">
                <a:latin typeface="Cambria Math"/>
                <a:cs typeface="Cambria Math"/>
              </a:rPr>
              <a:t>=</a:t>
            </a:r>
            <a:r>
              <a:rPr sz="2200" spc="110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𝟔</a:t>
            </a:r>
            <a:r>
              <a:rPr sz="2200" b="1">
                <a:latin typeface="Arial"/>
                <a:cs typeface="Arial"/>
              </a:rPr>
              <a:t>,</a:t>
            </a:r>
            <a:r>
              <a:rPr sz="2200" b="1" spc="-10">
                <a:latin typeface="Arial"/>
                <a:cs typeface="Arial"/>
              </a:rPr>
              <a:t> </a:t>
            </a:r>
            <a:r>
              <a:rPr sz="2200">
                <a:latin typeface="Cambria Math"/>
                <a:cs typeface="Cambria Math"/>
              </a:rPr>
              <a:t>𝑺</a:t>
            </a:r>
            <a:r>
              <a:rPr sz="2200" spc="425">
                <a:latin typeface="Cambria Math"/>
                <a:cs typeface="Cambria Math"/>
              </a:rPr>
              <a:t> </a:t>
            </a:r>
            <a:r>
              <a:rPr sz="2200" spc="-10">
                <a:latin typeface="Cambria Math"/>
                <a:cs typeface="Cambria Math"/>
              </a:rPr>
              <a:t>𝒊,</a:t>
            </a:r>
            <a:r>
              <a:rPr sz="2200" spc="-120">
                <a:latin typeface="Cambria Math"/>
                <a:cs typeface="Cambria Math"/>
              </a:rPr>
              <a:t> </a:t>
            </a:r>
            <a:r>
              <a:rPr sz="2200" spc="-50">
                <a:latin typeface="Cambria Math"/>
                <a:cs typeface="Cambria Math"/>
              </a:rPr>
              <a:t>𝒋</a:t>
            </a:r>
            <a:r>
              <a:rPr sz="2200">
                <a:latin typeface="Cambria Math"/>
                <a:cs typeface="Cambria Math"/>
              </a:rPr>
              <a:t>	=</a:t>
            </a:r>
            <a:r>
              <a:rPr sz="2200" spc="100">
                <a:latin typeface="Cambria Math"/>
                <a:cs typeface="Cambria Math"/>
              </a:rPr>
              <a:t> </a:t>
            </a:r>
            <a:r>
              <a:rPr sz="2200" spc="-50">
                <a:latin typeface="Cambria Math"/>
                <a:cs typeface="Cambria Math"/>
              </a:rPr>
              <a:t>𝟔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DBA5A26A-1527-4744-8F06-03F6DF52BA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5068" y="197769"/>
            <a:ext cx="3874771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枚举过程分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析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9140" y="1122455"/>
            <a:ext cx="4951730" cy="144526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4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5">
                <a:latin typeface="PMingLiU"/>
                <a:cs typeface="PMingLiU"/>
              </a:rPr>
              <a:t>两层枚举</a:t>
            </a:r>
            <a:endParaRPr sz="2800">
              <a:latin typeface="PMingLiU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8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>
                <a:latin typeface="PMingLiU"/>
                <a:cs typeface="PMingLiU"/>
              </a:rPr>
              <a:t>第</a:t>
            </a:r>
            <a:r>
              <a:rPr sz="2400" b="1">
                <a:latin typeface="Times New Roman"/>
                <a:cs typeface="Times New Roman"/>
              </a:rPr>
              <a:t>1</a:t>
            </a:r>
            <a:r>
              <a:rPr sz="2400">
                <a:latin typeface="PMingLiU"/>
                <a:cs typeface="PMingLiU"/>
              </a:rPr>
              <a:t>层：枚举位置</a:t>
            </a:r>
            <a:r>
              <a:rPr sz="2400" spc="-10">
                <a:latin typeface="Cambria Math"/>
                <a:cs typeface="Cambria Math"/>
              </a:rPr>
              <a:t>𝒊</a:t>
            </a:r>
            <a:r>
              <a:rPr sz="2400" spc="-10">
                <a:latin typeface="PMingLiU"/>
                <a:cs typeface="PMingLiU"/>
              </a:rPr>
              <a:t>作为区间开头</a:t>
            </a:r>
            <a:endParaRPr sz="2400">
              <a:latin typeface="PMingLiU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>
                <a:latin typeface="PMingLiU"/>
                <a:cs typeface="PMingLiU"/>
              </a:rPr>
              <a:t>第</a:t>
            </a:r>
            <a:r>
              <a:rPr sz="2400" b="1">
                <a:latin typeface="Times New Roman"/>
                <a:cs typeface="Times New Roman"/>
              </a:rPr>
              <a:t>2</a:t>
            </a:r>
            <a:r>
              <a:rPr sz="2400">
                <a:latin typeface="PMingLiU"/>
                <a:cs typeface="PMingLiU"/>
              </a:rPr>
              <a:t>层：枚举位置</a:t>
            </a:r>
            <a:r>
              <a:rPr sz="2400">
                <a:latin typeface="Cambria Math"/>
                <a:cs typeface="Cambria Math"/>
              </a:rPr>
              <a:t>𝒋</a:t>
            </a:r>
            <a:r>
              <a:rPr sz="2400" spc="-10">
                <a:latin typeface="PMingLiU"/>
                <a:cs typeface="PMingLiU"/>
              </a:rPr>
              <a:t>作为区间结尾</a:t>
            </a:r>
            <a:endParaRPr sz="2400">
              <a:latin typeface="PMingLiU"/>
              <a:cs typeface="PMingLiU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5043704"/>
              </p:ext>
            </p:extLst>
          </p:nvPr>
        </p:nvGraphicFramePr>
        <p:xfrm>
          <a:off x="1761870" y="3881755"/>
          <a:ext cx="6176009" cy="396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9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9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93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93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93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93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1876551" y="3412744"/>
            <a:ext cx="231140" cy="396240"/>
          </a:xfrm>
          <a:custGeom>
            <a:avLst/>
            <a:gdLst/>
            <a:ahLst/>
            <a:cxnLst/>
            <a:rect l="l" t="t" r="r" b="b"/>
            <a:pathLst>
              <a:path w="231139" h="396239">
                <a:moveTo>
                  <a:pt x="173228" y="0"/>
                </a:moveTo>
                <a:lnTo>
                  <a:pt x="57658" y="0"/>
                </a:lnTo>
                <a:lnTo>
                  <a:pt x="57658" y="280797"/>
                </a:lnTo>
                <a:lnTo>
                  <a:pt x="0" y="280797"/>
                </a:lnTo>
                <a:lnTo>
                  <a:pt x="115443" y="396240"/>
                </a:lnTo>
                <a:lnTo>
                  <a:pt x="230886" y="280797"/>
                </a:lnTo>
                <a:lnTo>
                  <a:pt x="173228" y="280797"/>
                </a:lnTo>
                <a:lnTo>
                  <a:pt x="17322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722373" y="3083306"/>
            <a:ext cx="60325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>
                <a:latin typeface="Cambria Math"/>
                <a:cs typeface="Cambria Math"/>
              </a:rPr>
              <a:t>𝒊</a:t>
            </a:r>
            <a:r>
              <a:rPr sz="2000" spc="100">
                <a:latin typeface="Cambria Math"/>
                <a:cs typeface="Cambria Math"/>
              </a:rPr>
              <a:t> </a:t>
            </a:r>
            <a:r>
              <a:rPr sz="2000">
                <a:latin typeface="Cambria Math"/>
                <a:cs typeface="Cambria Math"/>
              </a:rPr>
              <a:t>=</a:t>
            </a:r>
            <a:r>
              <a:rPr sz="2000" spc="105">
                <a:latin typeface="Cambria Math"/>
                <a:cs typeface="Cambria Math"/>
              </a:rPr>
              <a:t> </a:t>
            </a:r>
            <a:r>
              <a:rPr sz="2000" spc="-50">
                <a:latin typeface="Cambria Math"/>
                <a:cs typeface="Cambria Math"/>
              </a:rPr>
              <a:t>𝟏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67529" y="3090417"/>
            <a:ext cx="60833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>
                <a:latin typeface="Cambria Math"/>
                <a:cs typeface="Cambria Math"/>
              </a:rPr>
              <a:t>𝒋</a:t>
            </a:r>
            <a:r>
              <a:rPr sz="2000" spc="95">
                <a:latin typeface="Cambria Math"/>
                <a:cs typeface="Cambria Math"/>
              </a:rPr>
              <a:t> </a:t>
            </a:r>
            <a:r>
              <a:rPr sz="2000">
                <a:latin typeface="Cambria Math"/>
                <a:cs typeface="Cambria Math"/>
              </a:rPr>
              <a:t>=</a:t>
            </a:r>
            <a:r>
              <a:rPr sz="2000" spc="110">
                <a:latin typeface="Cambria Math"/>
                <a:cs typeface="Cambria Math"/>
              </a:rPr>
              <a:t> </a:t>
            </a:r>
            <a:r>
              <a:rPr sz="2000" spc="-50">
                <a:latin typeface="Cambria Math"/>
                <a:cs typeface="Cambria Math"/>
              </a:rPr>
              <a:t>𝟑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522978" y="3412744"/>
            <a:ext cx="231140" cy="396240"/>
          </a:xfrm>
          <a:custGeom>
            <a:avLst/>
            <a:gdLst/>
            <a:ahLst/>
            <a:cxnLst/>
            <a:rect l="l" t="t" r="r" b="b"/>
            <a:pathLst>
              <a:path w="231139" h="396239">
                <a:moveTo>
                  <a:pt x="173100" y="0"/>
                </a:moveTo>
                <a:lnTo>
                  <a:pt x="57658" y="0"/>
                </a:lnTo>
                <a:lnTo>
                  <a:pt x="57658" y="280797"/>
                </a:lnTo>
                <a:lnTo>
                  <a:pt x="0" y="280797"/>
                </a:lnTo>
                <a:lnTo>
                  <a:pt x="115443" y="396240"/>
                </a:lnTo>
                <a:lnTo>
                  <a:pt x="230886" y="280797"/>
                </a:lnTo>
                <a:lnTo>
                  <a:pt x="173100" y="280797"/>
                </a:lnTo>
                <a:lnTo>
                  <a:pt x="173100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996944" y="4667504"/>
            <a:ext cx="499109" cy="259079"/>
          </a:xfrm>
          <a:custGeom>
            <a:avLst/>
            <a:gdLst/>
            <a:ahLst/>
            <a:cxnLst/>
            <a:rect l="l" t="t" r="r" b="b"/>
            <a:pathLst>
              <a:path w="499109" h="259078">
                <a:moveTo>
                  <a:pt x="416305" y="0"/>
                </a:moveTo>
                <a:lnTo>
                  <a:pt x="412622" y="10541"/>
                </a:lnTo>
                <a:lnTo>
                  <a:pt x="427650" y="17021"/>
                </a:lnTo>
                <a:lnTo>
                  <a:pt x="440547" y="26003"/>
                </a:lnTo>
                <a:lnTo>
                  <a:pt x="466734" y="67778"/>
                </a:lnTo>
                <a:lnTo>
                  <a:pt x="474406" y="106068"/>
                </a:lnTo>
                <a:lnTo>
                  <a:pt x="475360" y="128143"/>
                </a:lnTo>
                <a:lnTo>
                  <a:pt x="474388" y="151003"/>
                </a:lnTo>
                <a:lnTo>
                  <a:pt x="466681" y="190436"/>
                </a:lnTo>
                <a:lnTo>
                  <a:pt x="440547" y="232822"/>
                </a:lnTo>
                <a:lnTo>
                  <a:pt x="413003" y="248538"/>
                </a:lnTo>
                <a:lnTo>
                  <a:pt x="416305" y="258953"/>
                </a:lnTo>
                <a:lnTo>
                  <a:pt x="451643" y="242395"/>
                </a:lnTo>
                <a:lnTo>
                  <a:pt x="477646" y="213741"/>
                </a:lnTo>
                <a:lnTo>
                  <a:pt x="493648" y="175355"/>
                </a:lnTo>
                <a:lnTo>
                  <a:pt x="498982" y="129540"/>
                </a:lnTo>
                <a:lnTo>
                  <a:pt x="497647" y="105775"/>
                </a:lnTo>
                <a:lnTo>
                  <a:pt x="486927" y="63674"/>
                </a:lnTo>
                <a:lnTo>
                  <a:pt x="465705" y="29432"/>
                </a:lnTo>
                <a:lnTo>
                  <a:pt x="435121" y="6762"/>
                </a:lnTo>
                <a:lnTo>
                  <a:pt x="416305" y="0"/>
                </a:lnTo>
                <a:close/>
              </a:path>
              <a:path w="499109" h="259078">
                <a:moveTo>
                  <a:pt x="82550" y="0"/>
                </a:moveTo>
                <a:lnTo>
                  <a:pt x="47323" y="16573"/>
                </a:lnTo>
                <a:lnTo>
                  <a:pt x="21335" y="45338"/>
                </a:lnTo>
                <a:lnTo>
                  <a:pt x="5334" y="83820"/>
                </a:lnTo>
                <a:lnTo>
                  <a:pt x="0" y="129540"/>
                </a:lnTo>
                <a:lnTo>
                  <a:pt x="1333" y="153376"/>
                </a:lnTo>
                <a:lnTo>
                  <a:pt x="12001" y="195476"/>
                </a:lnTo>
                <a:lnTo>
                  <a:pt x="33097" y="229574"/>
                </a:lnTo>
                <a:lnTo>
                  <a:pt x="82550" y="258953"/>
                </a:lnTo>
                <a:lnTo>
                  <a:pt x="85851" y="248538"/>
                </a:lnTo>
                <a:lnTo>
                  <a:pt x="71118" y="241942"/>
                </a:lnTo>
                <a:lnTo>
                  <a:pt x="58372" y="232822"/>
                </a:lnTo>
                <a:lnTo>
                  <a:pt x="32248" y="190436"/>
                </a:lnTo>
                <a:lnTo>
                  <a:pt x="24576" y="151003"/>
                </a:lnTo>
                <a:lnTo>
                  <a:pt x="23621" y="128143"/>
                </a:lnTo>
                <a:lnTo>
                  <a:pt x="24576" y="106068"/>
                </a:lnTo>
                <a:lnTo>
                  <a:pt x="32248" y="67778"/>
                </a:lnTo>
                <a:lnTo>
                  <a:pt x="58467" y="26003"/>
                </a:lnTo>
                <a:lnTo>
                  <a:pt x="86232" y="10541"/>
                </a:lnTo>
                <a:lnTo>
                  <a:pt x="825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310386" y="3928110"/>
            <a:ext cx="3752215" cy="1017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>
                <a:latin typeface="Cambria Math"/>
                <a:cs typeface="Cambria Math"/>
              </a:rPr>
              <a:t>𝑿</a:t>
            </a:r>
            <a:endParaRPr sz="18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550">
              <a:latin typeface="Cambria Math"/>
              <a:cs typeface="Cambria Math"/>
            </a:endParaRPr>
          </a:p>
          <a:p>
            <a:pPr marL="485140" algn="ctr">
              <a:lnSpc>
                <a:spcPct val="100000"/>
              </a:lnSpc>
              <a:spcBef>
                <a:spcPts val="5"/>
              </a:spcBef>
              <a:tabLst>
                <a:tab pos="3274060" algn="l"/>
              </a:tabLst>
            </a:pPr>
            <a:r>
              <a:rPr sz="2200">
                <a:latin typeface="PMingLiU"/>
                <a:cs typeface="PMingLiU"/>
              </a:rPr>
              <a:t>当前最大值</a:t>
            </a:r>
            <a:r>
              <a:rPr sz="2200">
                <a:latin typeface="Cambria Math"/>
                <a:cs typeface="Cambria Math"/>
              </a:rPr>
              <a:t>=</a:t>
            </a:r>
            <a:r>
              <a:rPr sz="2200" spc="110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𝟗</a:t>
            </a:r>
            <a:r>
              <a:rPr sz="2200" b="1">
                <a:latin typeface="Arial"/>
                <a:cs typeface="Arial"/>
              </a:rPr>
              <a:t>,</a:t>
            </a:r>
            <a:r>
              <a:rPr sz="2200" b="1" spc="-10">
                <a:latin typeface="Arial"/>
                <a:cs typeface="Arial"/>
              </a:rPr>
              <a:t> </a:t>
            </a:r>
            <a:r>
              <a:rPr sz="2200">
                <a:latin typeface="Cambria Math"/>
                <a:cs typeface="Cambria Math"/>
              </a:rPr>
              <a:t>𝑺</a:t>
            </a:r>
            <a:r>
              <a:rPr sz="2200" spc="425">
                <a:latin typeface="Cambria Math"/>
                <a:cs typeface="Cambria Math"/>
              </a:rPr>
              <a:t> </a:t>
            </a:r>
            <a:r>
              <a:rPr sz="2200" spc="-10">
                <a:latin typeface="Cambria Math"/>
                <a:cs typeface="Cambria Math"/>
              </a:rPr>
              <a:t>𝒊,</a:t>
            </a:r>
            <a:r>
              <a:rPr sz="2200" spc="-120">
                <a:latin typeface="Cambria Math"/>
                <a:cs typeface="Cambria Math"/>
              </a:rPr>
              <a:t> </a:t>
            </a:r>
            <a:r>
              <a:rPr sz="2200" spc="-50">
                <a:latin typeface="Cambria Math"/>
                <a:cs typeface="Cambria Math"/>
              </a:rPr>
              <a:t>𝒋</a:t>
            </a:r>
            <a:r>
              <a:rPr sz="2200">
                <a:latin typeface="Cambria Math"/>
                <a:cs typeface="Cambria Math"/>
              </a:rPr>
              <a:t>	=</a:t>
            </a:r>
            <a:r>
              <a:rPr sz="2200" spc="100">
                <a:latin typeface="Cambria Math"/>
                <a:cs typeface="Cambria Math"/>
              </a:rPr>
              <a:t> </a:t>
            </a:r>
            <a:r>
              <a:rPr sz="2200" spc="-50">
                <a:latin typeface="Cambria Math"/>
                <a:cs typeface="Cambria Math"/>
              </a:rPr>
              <a:t>𝟗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79FCD83C-1843-1E41-A8A1-1A5DDFCACE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5068" y="197769"/>
            <a:ext cx="3874771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枚举过程分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析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9140" y="1061495"/>
            <a:ext cx="4951730" cy="144526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4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5">
                <a:latin typeface="PMingLiU"/>
                <a:cs typeface="PMingLiU"/>
              </a:rPr>
              <a:t>两层枚举</a:t>
            </a:r>
            <a:endParaRPr sz="2800">
              <a:latin typeface="PMingLiU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8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>
                <a:latin typeface="PMingLiU"/>
                <a:cs typeface="PMingLiU"/>
              </a:rPr>
              <a:t>第</a:t>
            </a:r>
            <a:r>
              <a:rPr sz="2400" b="1">
                <a:latin typeface="Times New Roman"/>
                <a:cs typeface="Times New Roman"/>
              </a:rPr>
              <a:t>1</a:t>
            </a:r>
            <a:r>
              <a:rPr sz="2400">
                <a:latin typeface="PMingLiU"/>
                <a:cs typeface="PMingLiU"/>
              </a:rPr>
              <a:t>层：枚举位置</a:t>
            </a:r>
            <a:r>
              <a:rPr sz="2400" spc="-10">
                <a:latin typeface="Cambria Math"/>
                <a:cs typeface="Cambria Math"/>
              </a:rPr>
              <a:t>𝒊</a:t>
            </a:r>
            <a:r>
              <a:rPr sz="2400" spc="-10">
                <a:latin typeface="PMingLiU"/>
                <a:cs typeface="PMingLiU"/>
              </a:rPr>
              <a:t>作为区间开头</a:t>
            </a:r>
            <a:endParaRPr sz="2400">
              <a:latin typeface="PMingLiU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>
                <a:latin typeface="PMingLiU"/>
                <a:cs typeface="PMingLiU"/>
              </a:rPr>
              <a:t>第</a:t>
            </a:r>
            <a:r>
              <a:rPr sz="2400" b="1">
                <a:latin typeface="Times New Roman"/>
                <a:cs typeface="Times New Roman"/>
              </a:rPr>
              <a:t>2</a:t>
            </a:r>
            <a:r>
              <a:rPr sz="2400">
                <a:latin typeface="PMingLiU"/>
                <a:cs typeface="PMingLiU"/>
              </a:rPr>
              <a:t>层：枚举位置</a:t>
            </a:r>
            <a:r>
              <a:rPr sz="2400">
                <a:latin typeface="Cambria Math"/>
                <a:cs typeface="Cambria Math"/>
              </a:rPr>
              <a:t>𝒋</a:t>
            </a:r>
            <a:r>
              <a:rPr sz="2400" spc="-10">
                <a:latin typeface="PMingLiU"/>
                <a:cs typeface="PMingLiU"/>
              </a:rPr>
              <a:t>作为区间结尾</a:t>
            </a:r>
            <a:endParaRPr sz="2400">
              <a:latin typeface="PMingLiU"/>
              <a:cs typeface="PMingLiU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5459539"/>
              </p:ext>
            </p:extLst>
          </p:nvPr>
        </p:nvGraphicFramePr>
        <p:xfrm>
          <a:off x="1761870" y="3820795"/>
          <a:ext cx="6176009" cy="396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9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9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93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93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93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93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1876551" y="3351784"/>
            <a:ext cx="231140" cy="396240"/>
          </a:xfrm>
          <a:custGeom>
            <a:avLst/>
            <a:gdLst/>
            <a:ahLst/>
            <a:cxnLst/>
            <a:rect l="l" t="t" r="r" b="b"/>
            <a:pathLst>
              <a:path w="231139" h="396239">
                <a:moveTo>
                  <a:pt x="173228" y="0"/>
                </a:moveTo>
                <a:lnTo>
                  <a:pt x="57658" y="0"/>
                </a:lnTo>
                <a:lnTo>
                  <a:pt x="57658" y="280797"/>
                </a:lnTo>
                <a:lnTo>
                  <a:pt x="0" y="280797"/>
                </a:lnTo>
                <a:lnTo>
                  <a:pt x="115443" y="396240"/>
                </a:lnTo>
                <a:lnTo>
                  <a:pt x="230886" y="280797"/>
                </a:lnTo>
                <a:lnTo>
                  <a:pt x="173228" y="280797"/>
                </a:lnTo>
                <a:lnTo>
                  <a:pt x="17322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722373" y="3022346"/>
            <a:ext cx="60325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>
                <a:latin typeface="Cambria Math"/>
                <a:cs typeface="Cambria Math"/>
              </a:rPr>
              <a:t>𝒊</a:t>
            </a:r>
            <a:r>
              <a:rPr sz="2000" spc="100">
                <a:latin typeface="Cambria Math"/>
                <a:cs typeface="Cambria Math"/>
              </a:rPr>
              <a:t> </a:t>
            </a:r>
            <a:r>
              <a:rPr sz="2000">
                <a:latin typeface="Cambria Math"/>
                <a:cs typeface="Cambria Math"/>
              </a:rPr>
              <a:t>=</a:t>
            </a:r>
            <a:r>
              <a:rPr sz="2000" spc="105">
                <a:latin typeface="Cambria Math"/>
                <a:cs typeface="Cambria Math"/>
              </a:rPr>
              <a:t> </a:t>
            </a:r>
            <a:r>
              <a:rPr sz="2000" spc="-50">
                <a:latin typeface="Cambria Math"/>
                <a:cs typeface="Cambria Math"/>
              </a:rPr>
              <a:t>𝟏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29935" y="3029457"/>
            <a:ext cx="60833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>
                <a:latin typeface="Cambria Math"/>
                <a:cs typeface="Cambria Math"/>
              </a:rPr>
              <a:t>𝒋</a:t>
            </a:r>
            <a:r>
              <a:rPr sz="2000" spc="100">
                <a:latin typeface="Cambria Math"/>
                <a:cs typeface="Cambria Math"/>
              </a:rPr>
              <a:t> </a:t>
            </a:r>
            <a:r>
              <a:rPr sz="2000">
                <a:latin typeface="Cambria Math"/>
                <a:cs typeface="Cambria Math"/>
              </a:rPr>
              <a:t>=</a:t>
            </a:r>
            <a:r>
              <a:rPr sz="2000" spc="110">
                <a:latin typeface="Cambria Math"/>
                <a:cs typeface="Cambria Math"/>
              </a:rPr>
              <a:t> </a:t>
            </a:r>
            <a:r>
              <a:rPr sz="2000" spc="-50">
                <a:latin typeface="Cambria Math"/>
                <a:cs typeface="Cambria Math"/>
              </a:rPr>
              <a:t>𝟒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486146" y="3351784"/>
            <a:ext cx="230504" cy="396240"/>
          </a:xfrm>
          <a:custGeom>
            <a:avLst/>
            <a:gdLst/>
            <a:ahLst/>
            <a:cxnLst/>
            <a:rect l="l" t="t" r="r" b="b"/>
            <a:pathLst>
              <a:path w="230503" h="396239">
                <a:moveTo>
                  <a:pt x="172592" y="0"/>
                </a:moveTo>
                <a:lnTo>
                  <a:pt x="57530" y="0"/>
                </a:lnTo>
                <a:lnTo>
                  <a:pt x="57530" y="281178"/>
                </a:lnTo>
                <a:lnTo>
                  <a:pt x="0" y="281178"/>
                </a:lnTo>
                <a:lnTo>
                  <a:pt x="115062" y="396240"/>
                </a:lnTo>
                <a:lnTo>
                  <a:pt x="230124" y="281178"/>
                </a:lnTo>
                <a:lnTo>
                  <a:pt x="172592" y="281178"/>
                </a:lnTo>
                <a:lnTo>
                  <a:pt x="172592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996944" y="4606544"/>
            <a:ext cx="499109" cy="259079"/>
          </a:xfrm>
          <a:custGeom>
            <a:avLst/>
            <a:gdLst/>
            <a:ahLst/>
            <a:cxnLst/>
            <a:rect l="l" t="t" r="r" b="b"/>
            <a:pathLst>
              <a:path w="499109" h="259078">
                <a:moveTo>
                  <a:pt x="416305" y="0"/>
                </a:moveTo>
                <a:lnTo>
                  <a:pt x="412622" y="10541"/>
                </a:lnTo>
                <a:lnTo>
                  <a:pt x="427650" y="17021"/>
                </a:lnTo>
                <a:lnTo>
                  <a:pt x="440547" y="26003"/>
                </a:lnTo>
                <a:lnTo>
                  <a:pt x="466734" y="67778"/>
                </a:lnTo>
                <a:lnTo>
                  <a:pt x="474406" y="106068"/>
                </a:lnTo>
                <a:lnTo>
                  <a:pt x="475360" y="128143"/>
                </a:lnTo>
                <a:lnTo>
                  <a:pt x="474388" y="151003"/>
                </a:lnTo>
                <a:lnTo>
                  <a:pt x="466681" y="190436"/>
                </a:lnTo>
                <a:lnTo>
                  <a:pt x="440547" y="232822"/>
                </a:lnTo>
                <a:lnTo>
                  <a:pt x="413003" y="248538"/>
                </a:lnTo>
                <a:lnTo>
                  <a:pt x="416305" y="258953"/>
                </a:lnTo>
                <a:lnTo>
                  <a:pt x="451643" y="242395"/>
                </a:lnTo>
                <a:lnTo>
                  <a:pt x="477646" y="213741"/>
                </a:lnTo>
                <a:lnTo>
                  <a:pt x="493648" y="175355"/>
                </a:lnTo>
                <a:lnTo>
                  <a:pt x="498982" y="129540"/>
                </a:lnTo>
                <a:lnTo>
                  <a:pt x="497647" y="105775"/>
                </a:lnTo>
                <a:lnTo>
                  <a:pt x="486927" y="63674"/>
                </a:lnTo>
                <a:lnTo>
                  <a:pt x="465705" y="29432"/>
                </a:lnTo>
                <a:lnTo>
                  <a:pt x="435121" y="6762"/>
                </a:lnTo>
                <a:lnTo>
                  <a:pt x="416305" y="0"/>
                </a:lnTo>
                <a:close/>
              </a:path>
              <a:path w="499109" h="259078">
                <a:moveTo>
                  <a:pt x="82550" y="0"/>
                </a:moveTo>
                <a:lnTo>
                  <a:pt x="47323" y="16573"/>
                </a:lnTo>
                <a:lnTo>
                  <a:pt x="21335" y="45338"/>
                </a:lnTo>
                <a:lnTo>
                  <a:pt x="5334" y="83820"/>
                </a:lnTo>
                <a:lnTo>
                  <a:pt x="0" y="129540"/>
                </a:lnTo>
                <a:lnTo>
                  <a:pt x="1333" y="153376"/>
                </a:lnTo>
                <a:lnTo>
                  <a:pt x="12001" y="195476"/>
                </a:lnTo>
                <a:lnTo>
                  <a:pt x="33097" y="229574"/>
                </a:lnTo>
                <a:lnTo>
                  <a:pt x="82550" y="258953"/>
                </a:lnTo>
                <a:lnTo>
                  <a:pt x="85851" y="248538"/>
                </a:lnTo>
                <a:lnTo>
                  <a:pt x="71118" y="241942"/>
                </a:lnTo>
                <a:lnTo>
                  <a:pt x="58372" y="232822"/>
                </a:lnTo>
                <a:lnTo>
                  <a:pt x="32248" y="190436"/>
                </a:lnTo>
                <a:lnTo>
                  <a:pt x="24576" y="151003"/>
                </a:lnTo>
                <a:lnTo>
                  <a:pt x="23621" y="128143"/>
                </a:lnTo>
                <a:lnTo>
                  <a:pt x="24576" y="106068"/>
                </a:lnTo>
                <a:lnTo>
                  <a:pt x="32248" y="67778"/>
                </a:lnTo>
                <a:lnTo>
                  <a:pt x="58467" y="26003"/>
                </a:lnTo>
                <a:lnTo>
                  <a:pt x="86232" y="10541"/>
                </a:lnTo>
                <a:lnTo>
                  <a:pt x="825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310386" y="3867150"/>
            <a:ext cx="3752215" cy="1017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>
                <a:latin typeface="Cambria Math"/>
                <a:cs typeface="Cambria Math"/>
              </a:rPr>
              <a:t>𝑿</a:t>
            </a:r>
            <a:endParaRPr sz="18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550">
              <a:latin typeface="Cambria Math"/>
              <a:cs typeface="Cambria Math"/>
            </a:endParaRPr>
          </a:p>
          <a:p>
            <a:pPr marL="485140" algn="ctr">
              <a:lnSpc>
                <a:spcPct val="100000"/>
              </a:lnSpc>
              <a:spcBef>
                <a:spcPts val="5"/>
              </a:spcBef>
              <a:tabLst>
                <a:tab pos="3274060" algn="l"/>
              </a:tabLst>
            </a:pPr>
            <a:r>
              <a:rPr sz="2200">
                <a:latin typeface="PMingLiU"/>
                <a:cs typeface="PMingLiU"/>
              </a:rPr>
              <a:t>当前最大值</a:t>
            </a:r>
            <a:r>
              <a:rPr sz="2200">
                <a:latin typeface="Cambria Math"/>
                <a:cs typeface="Cambria Math"/>
              </a:rPr>
              <a:t>=</a:t>
            </a:r>
            <a:r>
              <a:rPr sz="2200" spc="110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𝟗</a:t>
            </a:r>
            <a:r>
              <a:rPr sz="2200" b="1">
                <a:latin typeface="Arial"/>
                <a:cs typeface="Arial"/>
              </a:rPr>
              <a:t>,</a:t>
            </a:r>
            <a:r>
              <a:rPr sz="2200" b="1" spc="-10">
                <a:latin typeface="Arial"/>
                <a:cs typeface="Arial"/>
              </a:rPr>
              <a:t> </a:t>
            </a:r>
            <a:r>
              <a:rPr sz="2200">
                <a:latin typeface="Cambria Math"/>
                <a:cs typeface="Cambria Math"/>
              </a:rPr>
              <a:t>𝑺</a:t>
            </a:r>
            <a:r>
              <a:rPr sz="2200" spc="425">
                <a:latin typeface="Cambria Math"/>
                <a:cs typeface="Cambria Math"/>
              </a:rPr>
              <a:t> </a:t>
            </a:r>
            <a:r>
              <a:rPr sz="2200" spc="-10">
                <a:latin typeface="Cambria Math"/>
                <a:cs typeface="Cambria Math"/>
              </a:rPr>
              <a:t>𝒊,</a:t>
            </a:r>
            <a:r>
              <a:rPr sz="2200" spc="-120">
                <a:latin typeface="Cambria Math"/>
                <a:cs typeface="Cambria Math"/>
              </a:rPr>
              <a:t> </a:t>
            </a:r>
            <a:r>
              <a:rPr sz="2200" spc="-50">
                <a:latin typeface="Cambria Math"/>
                <a:cs typeface="Cambria Math"/>
              </a:rPr>
              <a:t>𝒋</a:t>
            </a:r>
            <a:r>
              <a:rPr sz="2200">
                <a:latin typeface="Cambria Math"/>
                <a:cs typeface="Cambria Math"/>
              </a:rPr>
              <a:t>	=</a:t>
            </a:r>
            <a:r>
              <a:rPr sz="2200" spc="100">
                <a:latin typeface="Cambria Math"/>
                <a:cs typeface="Cambria Math"/>
              </a:rPr>
              <a:t> </a:t>
            </a:r>
            <a:r>
              <a:rPr sz="2200" spc="-50">
                <a:latin typeface="Cambria Math"/>
                <a:cs typeface="Cambria Math"/>
              </a:rPr>
              <a:t>𝟒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1BE09F81-73D6-1C47-95F4-6205E239C4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5068" y="197769"/>
            <a:ext cx="3874771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枚举过程分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析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8980" y="1071655"/>
            <a:ext cx="4951730" cy="144526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4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5">
                <a:latin typeface="PMingLiU"/>
                <a:cs typeface="PMingLiU"/>
              </a:rPr>
              <a:t>两层枚举</a:t>
            </a:r>
            <a:endParaRPr sz="2800">
              <a:latin typeface="PMingLiU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8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>
                <a:latin typeface="PMingLiU"/>
                <a:cs typeface="PMingLiU"/>
              </a:rPr>
              <a:t>第</a:t>
            </a:r>
            <a:r>
              <a:rPr sz="2400" b="1">
                <a:latin typeface="Times New Roman"/>
                <a:cs typeface="Times New Roman"/>
              </a:rPr>
              <a:t>1</a:t>
            </a:r>
            <a:r>
              <a:rPr sz="2400">
                <a:latin typeface="PMingLiU"/>
                <a:cs typeface="PMingLiU"/>
              </a:rPr>
              <a:t>层：枚举位置</a:t>
            </a:r>
            <a:r>
              <a:rPr sz="2400" spc="-10">
                <a:latin typeface="Cambria Math"/>
                <a:cs typeface="Cambria Math"/>
              </a:rPr>
              <a:t>𝒊</a:t>
            </a:r>
            <a:r>
              <a:rPr sz="2400" spc="-10">
                <a:latin typeface="PMingLiU"/>
                <a:cs typeface="PMingLiU"/>
              </a:rPr>
              <a:t>作为区间开头</a:t>
            </a:r>
            <a:endParaRPr sz="2400">
              <a:latin typeface="PMingLiU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>
                <a:latin typeface="PMingLiU"/>
                <a:cs typeface="PMingLiU"/>
              </a:rPr>
              <a:t>第</a:t>
            </a:r>
            <a:r>
              <a:rPr sz="2400" b="1">
                <a:latin typeface="Times New Roman"/>
                <a:cs typeface="Times New Roman"/>
              </a:rPr>
              <a:t>2</a:t>
            </a:r>
            <a:r>
              <a:rPr sz="2400">
                <a:latin typeface="PMingLiU"/>
                <a:cs typeface="PMingLiU"/>
              </a:rPr>
              <a:t>层：枚举位置</a:t>
            </a:r>
            <a:r>
              <a:rPr sz="2400">
                <a:latin typeface="Cambria Math"/>
                <a:cs typeface="Cambria Math"/>
              </a:rPr>
              <a:t>𝒋</a:t>
            </a:r>
            <a:r>
              <a:rPr sz="2400" spc="-10">
                <a:latin typeface="PMingLiU"/>
                <a:cs typeface="PMingLiU"/>
              </a:rPr>
              <a:t>作为区间结尾</a:t>
            </a:r>
            <a:endParaRPr sz="2400">
              <a:latin typeface="PMingLiU"/>
              <a:cs typeface="PMingLiU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6079424"/>
              </p:ext>
            </p:extLst>
          </p:nvPr>
        </p:nvGraphicFramePr>
        <p:xfrm>
          <a:off x="1751710" y="3830955"/>
          <a:ext cx="6176009" cy="396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9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9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93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93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93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93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1866391" y="3361944"/>
            <a:ext cx="231140" cy="396240"/>
          </a:xfrm>
          <a:custGeom>
            <a:avLst/>
            <a:gdLst/>
            <a:ahLst/>
            <a:cxnLst/>
            <a:rect l="l" t="t" r="r" b="b"/>
            <a:pathLst>
              <a:path w="231139" h="396239">
                <a:moveTo>
                  <a:pt x="173228" y="0"/>
                </a:moveTo>
                <a:lnTo>
                  <a:pt x="57658" y="0"/>
                </a:lnTo>
                <a:lnTo>
                  <a:pt x="57658" y="280797"/>
                </a:lnTo>
                <a:lnTo>
                  <a:pt x="0" y="280797"/>
                </a:lnTo>
                <a:lnTo>
                  <a:pt x="115443" y="396240"/>
                </a:lnTo>
                <a:lnTo>
                  <a:pt x="230886" y="280797"/>
                </a:lnTo>
                <a:lnTo>
                  <a:pt x="173228" y="280797"/>
                </a:lnTo>
                <a:lnTo>
                  <a:pt x="17322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712213" y="3032506"/>
            <a:ext cx="60325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>
                <a:latin typeface="Cambria Math"/>
                <a:cs typeface="Cambria Math"/>
              </a:rPr>
              <a:t>𝒊</a:t>
            </a:r>
            <a:r>
              <a:rPr sz="2000" spc="100">
                <a:latin typeface="Cambria Math"/>
                <a:cs typeface="Cambria Math"/>
              </a:rPr>
              <a:t> </a:t>
            </a:r>
            <a:r>
              <a:rPr sz="2000">
                <a:latin typeface="Cambria Math"/>
                <a:cs typeface="Cambria Math"/>
              </a:rPr>
              <a:t>=</a:t>
            </a:r>
            <a:r>
              <a:rPr sz="2000" spc="105">
                <a:latin typeface="Cambria Math"/>
                <a:cs typeface="Cambria Math"/>
              </a:rPr>
              <a:t> </a:t>
            </a:r>
            <a:r>
              <a:rPr sz="2000" spc="-50">
                <a:latin typeface="Cambria Math"/>
                <a:cs typeface="Cambria Math"/>
              </a:rPr>
              <a:t>𝟏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75145" y="3039617"/>
            <a:ext cx="60833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>
                <a:latin typeface="Cambria Math"/>
                <a:cs typeface="Cambria Math"/>
              </a:rPr>
              <a:t>𝒋</a:t>
            </a:r>
            <a:r>
              <a:rPr sz="2000" spc="95">
                <a:latin typeface="Cambria Math"/>
                <a:cs typeface="Cambria Math"/>
              </a:rPr>
              <a:t> </a:t>
            </a:r>
            <a:r>
              <a:rPr sz="2000">
                <a:latin typeface="Cambria Math"/>
                <a:cs typeface="Cambria Math"/>
              </a:rPr>
              <a:t>=</a:t>
            </a:r>
            <a:r>
              <a:rPr sz="2000" spc="110">
                <a:latin typeface="Cambria Math"/>
                <a:cs typeface="Cambria Math"/>
              </a:rPr>
              <a:t> </a:t>
            </a:r>
            <a:r>
              <a:rPr sz="2000" spc="-50">
                <a:latin typeface="Cambria Math"/>
                <a:cs typeface="Cambria Math"/>
              </a:rPr>
              <a:t>𝟓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530593" y="3361944"/>
            <a:ext cx="231140" cy="396240"/>
          </a:xfrm>
          <a:custGeom>
            <a:avLst/>
            <a:gdLst/>
            <a:ahLst/>
            <a:cxnLst/>
            <a:rect l="l" t="t" r="r" b="b"/>
            <a:pathLst>
              <a:path w="231140" h="396239">
                <a:moveTo>
                  <a:pt x="173100" y="0"/>
                </a:moveTo>
                <a:lnTo>
                  <a:pt x="57657" y="0"/>
                </a:lnTo>
                <a:lnTo>
                  <a:pt x="57657" y="280797"/>
                </a:lnTo>
                <a:lnTo>
                  <a:pt x="0" y="280797"/>
                </a:lnTo>
                <a:lnTo>
                  <a:pt x="115443" y="396240"/>
                </a:lnTo>
                <a:lnTo>
                  <a:pt x="230886" y="280797"/>
                </a:lnTo>
                <a:lnTo>
                  <a:pt x="173100" y="280797"/>
                </a:lnTo>
                <a:lnTo>
                  <a:pt x="173100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986784" y="4616704"/>
            <a:ext cx="499109" cy="259079"/>
          </a:xfrm>
          <a:custGeom>
            <a:avLst/>
            <a:gdLst/>
            <a:ahLst/>
            <a:cxnLst/>
            <a:rect l="l" t="t" r="r" b="b"/>
            <a:pathLst>
              <a:path w="499109" h="259078">
                <a:moveTo>
                  <a:pt x="416305" y="0"/>
                </a:moveTo>
                <a:lnTo>
                  <a:pt x="412622" y="10541"/>
                </a:lnTo>
                <a:lnTo>
                  <a:pt x="427650" y="17021"/>
                </a:lnTo>
                <a:lnTo>
                  <a:pt x="440547" y="26003"/>
                </a:lnTo>
                <a:lnTo>
                  <a:pt x="466734" y="67778"/>
                </a:lnTo>
                <a:lnTo>
                  <a:pt x="474406" y="106068"/>
                </a:lnTo>
                <a:lnTo>
                  <a:pt x="475360" y="128143"/>
                </a:lnTo>
                <a:lnTo>
                  <a:pt x="474388" y="151003"/>
                </a:lnTo>
                <a:lnTo>
                  <a:pt x="466681" y="190436"/>
                </a:lnTo>
                <a:lnTo>
                  <a:pt x="440547" y="232822"/>
                </a:lnTo>
                <a:lnTo>
                  <a:pt x="413003" y="248538"/>
                </a:lnTo>
                <a:lnTo>
                  <a:pt x="416305" y="258953"/>
                </a:lnTo>
                <a:lnTo>
                  <a:pt x="451643" y="242395"/>
                </a:lnTo>
                <a:lnTo>
                  <a:pt x="477646" y="213741"/>
                </a:lnTo>
                <a:lnTo>
                  <a:pt x="493648" y="175355"/>
                </a:lnTo>
                <a:lnTo>
                  <a:pt x="498982" y="129540"/>
                </a:lnTo>
                <a:lnTo>
                  <a:pt x="497647" y="105775"/>
                </a:lnTo>
                <a:lnTo>
                  <a:pt x="486927" y="63674"/>
                </a:lnTo>
                <a:lnTo>
                  <a:pt x="465705" y="29432"/>
                </a:lnTo>
                <a:lnTo>
                  <a:pt x="435121" y="6762"/>
                </a:lnTo>
                <a:lnTo>
                  <a:pt x="416305" y="0"/>
                </a:lnTo>
                <a:close/>
              </a:path>
              <a:path w="499109" h="259078">
                <a:moveTo>
                  <a:pt x="82550" y="0"/>
                </a:moveTo>
                <a:lnTo>
                  <a:pt x="47323" y="16573"/>
                </a:lnTo>
                <a:lnTo>
                  <a:pt x="21335" y="45338"/>
                </a:lnTo>
                <a:lnTo>
                  <a:pt x="5334" y="83820"/>
                </a:lnTo>
                <a:lnTo>
                  <a:pt x="0" y="129540"/>
                </a:lnTo>
                <a:lnTo>
                  <a:pt x="1333" y="153376"/>
                </a:lnTo>
                <a:lnTo>
                  <a:pt x="12001" y="195476"/>
                </a:lnTo>
                <a:lnTo>
                  <a:pt x="33097" y="229574"/>
                </a:lnTo>
                <a:lnTo>
                  <a:pt x="82550" y="258953"/>
                </a:lnTo>
                <a:lnTo>
                  <a:pt x="85851" y="248538"/>
                </a:lnTo>
                <a:lnTo>
                  <a:pt x="71118" y="241942"/>
                </a:lnTo>
                <a:lnTo>
                  <a:pt x="58372" y="232822"/>
                </a:lnTo>
                <a:lnTo>
                  <a:pt x="32248" y="190436"/>
                </a:lnTo>
                <a:lnTo>
                  <a:pt x="24576" y="151003"/>
                </a:lnTo>
                <a:lnTo>
                  <a:pt x="23621" y="128143"/>
                </a:lnTo>
                <a:lnTo>
                  <a:pt x="24576" y="106068"/>
                </a:lnTo>
                <a:lnTo>
                  <a:pt x="32248" y="67778"/>
                </a:lnTo>
                <a:lnTo>
                  <a:pt x="58467" y="26003"/>
                </a:lnTo>
                <a:lnTo>
                  <a:pt x="86232" y="10541"/>
                </a:lnTo>
                <a:lnTo>
                  <a:pt x="825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300226" y="3877310"/>
            <a:ext cx="3752215" cy="1017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>
                <a:latin typeface="Cambria Math"/>
                <a:cs typeface="Cambria Math"/>
              </a:rPr>
              <a:t>𝑿</a:t>
            </a:r>
            <a:endParaRPr sz="18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550">
              <a:latin typeface="Cambria Math"/>
              <a:cs typeface="Cambria Math"/>
            </a:endParaRPr>
          </a:p>
          <a:p>
            <a:pPr marL="485140" algn="ctr">
              <a:lnSpc>
                <a:spcPct val="100000"/>
              </a:lnSpc>
              <a:spcBef>
                <a:spcPts val="5"/>
              </a:spcBef>
              <a:tabLst>
                <a:tab pos="3274060" algn="l"/>
              </a:tabLst>
            </a:pPr>
            <a:r>
              <a:rPr sz="2200">
                <a:latin typeface="PMingLiU"/>
                <a:cs typeface="PMingLiU"/>
              </a:rPr>
              <a:t>当前最大值</a:t>
            </a:r>
            <a:r>
              <a:rPr sz="2200">
                <a:latin typeface="Cambria Math"/>
                <a:cs typeface="Cambria Math"/>
              </a:rPr>
              <a:t>=</a:t>
            </a:r>
            <a:r>
              <a:rPr sz="2200" spc="110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𝟗</a:t>
            </a:r>
            <a:r>
              <a:rPr sz="2200" b="1">
                <a:latin typeface="Arial"/>
                <a:cs typeface="Arial"/>
              </a:rPr>
              <a:t>,</a:t>
            </a:r>
            <a:r>
              <a:rPr sz="2200" b="1" spc="-10">
                <a:latin typeface="Arial"/>
                <a:cs typeface="Arial"/>
              </a:rPr>
              <a:t> </a:t>
            </a:r>
            <a:r>
              <a:rPr sz="2200">
                <a:latin typeface="Cambria Math"/>
                <a:cs typeface="Cambria Math"/>
              </a:rPr>
              <a:t>𝑺</a:t>
            </a:r>
            <a:r>
              <a:rPr sz="2200" spc="425">
                <a:latin typeface="Cambria Math"/>
                <a:cs typeface="Cambria Math"/>
              </a:rPr>
              <a:t> </a:t>
            </a:r>
            <a:r>
              <a:rPr sz="2200" spc="-10">
                <a:latin typeface="Cambria Math"/>
                <a:cs typeface="Cambria Math"/>
              </a:rPr>
              <a:t>𝒊,</a:t>
            </a:r>
            <a:r>
              <a:rPr sz="2200" spc="-120">
                <a:latin typeface="Cambria Math"/>
                <a:cs typeface="Cambria Math"/>
              </a:rPr>
              <a:t> </a:t>
            </a:r>
            <a:r>
              <a:rPr sz="2200" spc="-50">
                <a:latin typeface="Cambria Math"/>
                <a:cs typeface="Cambria Math"/>
              </a:rPr>
              <a:t>𝒋</a:t>
            </a:r>
            <a:r>
              <a:rPr sz="2200">
                <a:latin typeface="Cambria Math"/>
                <a:cs typeface="Cambria Math"/>
              </a:rPr>
              <a:t>	=</a:t>
            </a:r>
            <a:r>
              <a:rPr sz="2200" spc="100">
                <a:latin typeface="Cambria Math"/>
                <a:cs typeface="Cambria Math"/>
              </a:rPr>
              <a:t> </a:t>
            </a:r>
            <a:r>
              <a:rPr sz="2200" spc="-50">
                <a:latin typeface="Cambria Math"/>
                <a:cs typeface="Cambria Math"/>
              </a:rPr>
              <a:t>𝟕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8046FAF1-3E46-9843-AC5C-0F56268C30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5068" y="197769"/>
            <a:ext cx="3874771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枚举过程分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析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9140" y="1142775"/>
            <a:ext cx="4951730" cy="144526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4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5">
                <a:latin typeface="PMingLiU"/>
                <a:cs typeface="PMingLiU"/>
              </a:rPr>
              <a:t>两层枚举</a:t>
            </a:r>
            <a:endParaRPr sz="2800">
              <a:latin typeface="PMingLiU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8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>
                <a:latin typeface="PMingLiU"/>
                <a:cs typeface="PMingLiU"/>
              </a:rPr>
              <a:t>第</a:t>
            </a:r>
            <a:r>
              <a:rPr sz="2400" b="1">
                <a:latin typeface="Times New Roman"/>
                <a:cs typeface="Times New Roman"/>
              </a:rPr>
              <a:t>1</a:t>
            </a:r>
            <a:r>
              <a:rPr sz="2400">
                <a:latin typeface="PMingLiU"/>
                <a:cs typeface="PMingLiU"/>
              </a:rPr>
              <a:t>层：枚举位置</a:t>
            </a:r>
            <a:r>
              <a:rPr sz="2400" spc="-10">
                <a:latin typeface="Cambria Math"/>
                <a:cs typeface="Cambria Math"/>
              </a:rPr>
              <a:t>𝒊</a:t>
            </a:r>
            <a:r>
              <a:rPr sz="2400" spc="-10">
                <a:latin typeface="PMingLiU"/>
                <a:cs typeface="PMingLiU"/>
              </a:rPr>
              <a:t>作为区间开头</a:t>
            </a:r>
            <a:endParaRPr sz="2400">
              <a:latin typeface="PMingLiU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>
                <a:latin typeface="PMingLiU"/>
                <a:cs typeface="PMingLiU"/>
              </a:rPr>
              <a:t>第</a:t>
            </a:r>
            <a:r>
              <a:rPr sz="2400" b="1">
                <a:latin typeface="Times New Roman"/>
                <a:cs typeface="Times New Roman"/>
              </a:rPr>
              <a:t>2</a:t>
            </a:r>
            <a:r>
              <a:rPr sz="2400">
                <a:latin typeface="PMingLiU"/>
                <a:cs typeface="PMingLiU"/>
              </a:rPr>
              <a:t>层：枚举位置</a:t>
            </a:r>
            <a:r>
              <a:rPr sz="2400">
                <a:latin typeface="Cambria Math"/>
                <a:cs typeface="Cambria Math"/>
              </a:rPr>
              <a:t>𝒋</a:t>
            </a:r>
            <a:r>
              <a:rPr sz="2400" spc="-10">
                <a:latin typeface="PMingLiU"/>
                <a:cs typeface="PMingLiU"/>
              </a:rPr>
              <a:t>作为区间结尾</a:t>
            </a:r>
            <a:endParaRPr sz="2400">
              <a:latin typeface="PMingLiU"/>
              <a:cs typeface="PMingLiU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0909652"/>
              </p:ext>
            </p:extLst>
          </p:nvPr>
        </p:nvGraphicFramePr>
        <p:xfrm>
          <a:off x="1761870" y="3932555"/>
          <a:ext cx="6176009" cy="396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9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9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93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93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93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93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1876551" y="3463544"/>
            <a:ext cx="231140" cy="396240"/>
          </a:xfrm>
          <a:custGeom>
            <a:avLst/>
            <a:gdLst/>
            <a:ahLst/>
            <a:cxnLst/>
            <a:rect l="l" t="t" r="r" b="b"/>
            <a:pathLst>
              <a:path w="231139" h="396239">
                <a:moveTo>
                  <a:pt x="173228" y="0"/>
                </a:moveTo>
                <a:lnTo>
                  <a:pt x="57658" y="0"/>
                </a:lnTo>
                <a:lnTo>
                  <a:pt x="57658" y="280797"/>
                </a:lnTo>
                <a:lnTo>
                  <a:pt x="0" y="280797"/>
                </a:lnTo>
                <a:lnTo>
                  <a:pt x="115443" y="396240"/>
                </a:lnTo>
                <a:lnTo>
                  <a:pt x="230886" y="280797"/>
                </a:lnTo>
                <a:lnTo>
                  <a:pt x="173228" y="280797"/>
                </a:lnTo>
                <a:lnTo>
                  <a:pt x="17322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722373" y="3134106"/>
            <a:ext cx="60325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>
                <a:latin typeface="Cambria Math"/>
                <a:cs typeface="Cambria Math"/>
              </a:rPr>
              <a:t>𝒊</a:t>
            </a:r>
            <a:r>
              <a:rPr sz="2000" spc="100">
                <a:latin typeface="Cambria Math"/>
                <a:cs typeface="Cambria Math"/>
              </a:rPr>
              <a:t> </a:t>
            </a:r>
            <a:r>
              <a:rPr sz="2000">
                <a:latin typeface="Cambria Math"/>
                <a:cs typeface="Cambria Math"/>
              </a:rPr>
              <a:t>=</a:t>
            </a:r>
            <a:r>
              <a:rPr sz="2000" spc="105">
                <a:latin typeface="Cambria Math"/>
                <a:cs typeface="Cambria Math"/>
              </a:rPr>
              <a:t> </a:t>
            </a:r>
            <a:r>
              <a:rPr sz="2000" spc="-50">
                <a:latin typeface="Cambria Math"/>
                <a:cs typeface="Cambria Math"/>
              </a:rPr>
              <a:t>𝟏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412228" y="3141217"/>
            <a:ext cx="60833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>
                <a:latin typeface="Cambria Math"/>
                <a:cs typeface="Cambria Math"/>
              </a:rPr>
              <a:t>𝒋</a:t>
            </a:r>
            <a:r>
              <a:rPr sz="2000" spc="95">
                <a:latin typeface="Cambria Math"/>
                <a:cs typeface="Cambria Math"/>
              </a:rPr>
              <a:t> </a:t>
            </a:r>
            <a:r>
              <a:rPr sz="2000">
                <a:latin typeface="Cambria Math"/>
                <a:cs typeface="Cambria Math"/>
              </a:rPr>
              <a:t>=</a:t>
            </a:r>
            <a:r>
              <a:rPr sz="2000" spc="110">
                <a:latin typeface="Cambria Math"/>
                <a:cs typeface="Cambria Math"/>
              </a:rPr>
              <a:t> </a:t>
            </a:r>
            <a:r>
              <a:rPr sz="2000" spc="-50">
                <a:latin typeface="Cambria Math"/>
                <a:cs typeface="Cambria Math"/>
              </a:rPr>
              <a:t>𝟔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567930" y="3463544"/>
            <a:ext cx="230504" cy="396240"/>
          </a:xfrm>
          <a:custGeom>
            <a:avLst/>
            <a:gdLst/>
            <a:ahLst/>
            <a:cxnLst/>
            <a:rect l="l" t="t" r="r" b="b"/>
            <a:pathLst>
              <a:path w="230503" h="396239">
                <a:moveTo>
                  <a:pt x="172593" y="0"/>
                </a:moveTo>
                <a:lnTo>
                  <a:pt x="57530" y="0"/>
                </a:lnTo>
                <a:lnTo>
                  <a:pt x="57530" y="281178"/>
                </a:lnTo>
                <a:lnTo>
                  <a:pt x="0" y="281178"/>
                </a:lnTo>
                <a:lnTo>
                  <a:pt x="115062" y="396240"/>
                </a:lnTo>
                <a:lnTo>
                  <a:pt x="230124" y="281178"/>
                </a:lnTo>
                <a:lnTo>
                  <a:pt x="172593" y="281178"/>
                </a:lnTo>
                <a:lnTo>
                  <a:pt x="172593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996944" y="4718304"/>
            <a:ext cx="499109" cy="259079"/>
          </a:xfrm>
          <a:custGeom>
            <a:avLst/>
            <a:gdLst/>
            <a:ahLst/>
            <a:cxnLst/>
            <a:rect l="l" t="t" r="r" b="b"/>
            <a:pathLst>
              <a:path w="499109" h="259078">
                <a:moveTo>
                  <a:pt x="416305" y="0"/>
                </a:moveTo>
                <a:lnTo>
                  <a:pt x="412622" y="10541"/>
                </a:lnTo>
                <a:lnTo>
                  <a:pt x="427650" y="17021"/>
                </a:lnTo>
                <a:lnTo>
                  <a:pt x="440547" y="26003"/>
                </a:lnTo>
                <a:lnTo>
                  <a:pt x="466734" y="67778"/>
                </a:lnTo>
                <a:lnTo>
                  <a:pt x="474406" y="106068"/>
                </a:lnTo>
                <a:lnTo>
                  <a:pt x="475360" y="128143"/>
                </a:lnTo>
                <a:lnTo>
                  <a:pt x="474388" y="151003"/>
                </a:lnTo>
                <a:lnTo>
                  <a:pt x="466681" y="190436"/>
                </a:lnTo>
                <a:lnTo>
                  <a:pt x="440547" y="232822"/>
                </a:lnTo>
                <a:lnTo>
                  <a:pt x="413003" y="248538"/>
                </a:lnTo>
                <a:lnTo>
                  <a:pt x="416305" y="258953"/>
                </a:lnTo>
                <a:lnTo>
                  <a:pt x="451643" y="242395"/>
                </a:lnTo>
                <a:lnTo>
                  <a:pt x="477646" y="213741"/>
                </a:lnTo>
                <a:lnTo>
                  <a:pt x="493648" y="175355"/>
                </a:lnTo>
                <a:lnTo>
                  <a:pt x="498982" y="129540"/>
                </a:lnTo>
                <a:lnTo>
                  <a:pt x="497647" y="105775"/>
                </a:lnTo>
                <a:lnTo>
                  <a:pt x="486927" y="63674"/>
                </a:lnTo>
                <a:lnTo>
                  <a:pt x="465705" y="29432"/>
                </a:lnTo>
                <a:lnTo>
                  <a:pt x="435121" y="6762"/>
                </a:lnTo>
                <a:lnTo>
                  <a:pt x="416305" y="0"/>
                </a:lnTo>
                <a:close/>
              </a:path>
              <a:path w="499109" h="259078">
                <a:moveTo>
                  <a:pt x="82550" y="0"/>
                </a:moveTo>
                <a:lnTo>
                  <a:pt x="47323" y="16573"/>
                </a:lnTo>
                <a:lnTo>
                  <a:pt x="21335" y="45338"/>
                </a:lnTo>
                <a:lnTo>
                  <a:pt x="5334" y="83820"/>
                </a:lnTo>
                <a:lnTo>
                  <a:pt x="0" y="129540"/>
                </a:lnTo>
                <a:lnTo>
                  <a:pt x="1333" y="153376"/>
                </a:lnTo>
                <a:lnTo>
                  <a:pt x="12001" y="195476"/>
                </a:lnTo>
                <a:lnTo>
                  <a:pt x="33097" y="229574"/>
                </a:lnTo>
                <a:lnTo>
                  <a:pt x="82550" y="258953"/>
                </a:lnTo>
                <a:lnTo>
                  <a:pt x="85851" y="248538"/>
                </a:lnTo>
                <a:lnTo>
                  <a:pt x="71118" y="241942"/>
                </a:lnTo>
                <a:lnTo>
                  <a:pt x="58372" y="232822"/>
                </a:lnTo>
                <a:lnTo>
                  <a:pt x="32248" y="190436"/>
                </a:lnTo>
                <a:lnTo>
                  <a:pt x="24576" y="151003"/>
                </a:lnTo>
                <a:lnTo>
                  <a:pt x="23621" y="128143"/>
                </a:lnTo>
                <a:lnTo>
                  <a:pt x="24576" y="106068"/>
                </a:lnTo>
                <a:lnTo>
                  <a:pt x="32248" y="67778"/>
                </a:lnTo>
                <a:lnTo>
                  <a:pt x="58467" y="26003"/>
                </a:lnTo>
                <a:lnTo>
                  <a:pt x="86232" y="10541"/>
                </a:lnTo>
                <a:lnTo>
                  <a:pt x="825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310386" y="3978910"/>
            <a:ext cx="3752215" cy="1017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>
                <a:latin typeface="Cambria Math"/>
                <a:cs typeface="Cambria Math"/>
              </a:rPr>
              <a:t>𝑿</a:t>
            </a:r>
            <a:endParaRPr sz="18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550">
              <a:latin typeface="Cambria Math"/>
              <a:cs typeface="Cambria Math"/>
            </a:endParaRPr>
          </a:p>
          <a:p>
            <a:pPr marL="485140" algn="ctr">
              <a:lnSpc>
                <a:spcPct val="100000"/>
              </a:lnSpc>
              <a:spcBef>
                <a:spcPts val="5"/>
              </a:spcBef>
              <a:tabLst>
                <a:tab pos="3274060" algn="l"/>
              </a:tabLst>
            </a:pPr>
            <a:r>
              <a:rPr sz="2200">
                <a:latin typeface="PMingLiU"/>
                <a:cs typeface="PMingLiU"/>
              </a:rPr>
              <a:t>当前最大值</a:t>
            </a:r>
            <a:r>
              <a:rPr sz="2200">
                <a:latin typeface="Cambria Math"/>
                <a:cs typeface="Cambria Math"/>
              </a:rPr>
              <a:t>=</a:t>
            </a:r>
            <a:r>
              <a:rPr sz="2200" spc="110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𝟗</a:t>
            </a:r>
            <a:r>
              <a:rPr sz="2200" b="1">
                <a:latin typeface="Arial"/>
                <a:cs typeface="Arial"/>
              </a:rPr>
              <a:t>,</a:t>
            </a:r>
            <a:r>
              <a:rPr sz="2200" b="1" spc="-10">
                <a:latin typeface="Arial"/>
                <a:cs typeface="Arial"/>
              </a:rPr>
              <a:t> </a:t>
            </a:r>
            <a:r>
              <a:rPr sz="2200">
                <a:latin typeface="Cambria Math"/>
                <a:cs typeface="Cambria Math"/>
              </a:rPr>
              <a:t>𝑺</a:t>
            </a:r>
            <a:r>
              <a:rPr sz="2200" spc="425">
                <a:latin typeface="Cambria Math"/>
                <a:cs typeface="Cambria Math"/>
              </a:rPr>
              <a:t> </a:t>
            </a:r>
            <a:r>
              <a:rPr sz="2200" spc="-10">
                <a:latin typeface="Cambria Math"/>
                <a:cs typeface="Cambria Math"/>
              </a:rPr>
              <a:t>𝒊,</a:t>
            </a:r>
            <a:r>
              <a:rPr sz="2200" spc="-120">
                <a:latin typeface="Cambria Math"/>
                <a:cs typeface="Cambria Math"/>
              </a:rPr>
              <a:t> </a:t>
            </a:r>
            <a:r>
              <a:rPr sz="2200" spc="-50">
                <a:latin typeface="Cambria Math"/>
                <a:cs typeface="Cambria Math"/>
              </a:rPr>
              <a:t>𝒋</a:t>
            </a:r>
            <a:r>
              <a:rPr sz="2200">
                <a:latin typeface="Cambria Math"/>
                <a:cs typeface="Cambria Math"/>
              </a:rPr>
              <a:t>	=</a:t>
            </a:r>
            <a:r>
              <a:rPr sz="2200" spc="100">
                <a:latin typeface="Cambria Math"/>
                <a:cs typeface="Cambria Math"/>
              </a:rPr>
              <a:t> </a:t>
            </a:r>
            <a:r>
              <a:rPr sz="2200" spc="-50">
                <a:latin typeface="Cambria Math"/>
                <a:cs typeface="Cambria Math"/>
              </a:rPr>
              <a:t>𝟖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44A25749-6E59-EE4D-A2B0-BDF0D7C26A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5068" y="197769"/>
            <a:ext cx="3874771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枚举过程分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析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9300" y="1041175"/>
            <a:ext cx="4951730" cy="144526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4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5">
                <a:latin typeface="PMingLiU"/>
                <a:cs typeface="PMingLiU"/>
              </a:rPr>
              <a:t>两层枚举</a:t>
            </a:r>
            <a:endParaRPr sz="2800">
              <a:latin typeface="PMingLiU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8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>
                <a:latin typeface="PMingLiU"/>
                <a:cs typeface="PMingLiU"/>
              </a:rPr>
              <a:t>第</a:t>
            </a:r>
            <a:r>
              <a:rPr sz="2400" b="1">
                <a:latin typeface="Times New Roman"/>
                <a:cs typeface="Times New Roman"/>
              </a:rPr>
              <a:t>1</a:t>
            </a:r>
            <a:r>
              <a:rPr sz="2400">
                <a:latin typeface="PMingLiU"/>
                <a:cs typeface="PMingLiU"/>
              </a:rPr>
              <a:t>层：枚举位置</a:t>
            </a:r>
            <a:r>
              <a:rPr sz="2400" spc="-10">
                <a:latin typeface="Cambria Math"/>
                <a:cs typeface="Cambria Math"/>
              </a:rPr>
              <a:t>𝒊</a:t>
            </a:r>
            <a:r>
              <a:rPr sz="2400" spc="-10">
                <a:latin typeface="PMingLiU"/>
                <a:cs typeface="PMingLiU"/>
              </a:rPr>
              <a:t>作为区间开头</a:t>
            </a:r>
            <a:endParaRPr sz="2400">
              <a:latin typeface="PMingLiU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>
                <a:latin typeface="PMingLiU"/>
                <a:cs typeface="PMingLiU"/>
              </a:rPr>
              <a:t>第</a:t>
            </a:r>
            <a:r>
              <a:rPr sz="2400" b="1">
                <a:latin typeface="Times New Roman"/>
                <a:cs typeface="Times New Roman"/>
              </a:rPr>
              <a:t>2</a:t>
            </a:r>
            <a:r>
              <a:rPr sz="2400">
                <a:latin typeface="PMingLiU"/>
                <a:cs typeface="PMingLiU"/>
              </a:rPr>
              <a:t>层：枚举位置</a:t>
            </a:r>
            <a:r>
              <a:rPr sz="2400">
                <a:latin typeface="Cambria Math"/>
                <a:cs typeface="Cambria Math"/>
              </a:rPr>
              <a:t>𝒋</a:t>
            </a:r>
            <a:r>
              <a:rPr sz="2400" spc="-10">
                <a:latin typeface="PMingLiU"/>
                <a:cs typeface="PMingLiU"/>
              </a:rPr>
              <a:t>作为区间结尾</a:t>
            </a:r>
            <a:endParaRPr sz="2400">
              <a:latin typeface="PMingLiU"/>
              <a:cs typeface="PMingLiU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6303682"/>
              </p:ext>
            </p:extLst>
          </p:nvPr>
        </p:nvGraphicFramePr>
        <p:xfrm>
          <a:off x="1761870" y="3780155"/>
          <a:ext cx="6176009" cy="396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9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9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93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93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93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93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1876551" y="3311144"/>
            <a:ext cx="231140" cy="396240"/>
          </a:xfrm>
          <a:custGeom>
            <a:avLst/>
            <a:gdLst/>
            <a:ahLst/>
            <a:cxnLst/>
            <a:rect l="l" t="t" r="r" b="b"/>
            <a:pathLst>
              <a:path w="231139" h="396239">
                <a:moveTo>
                  <a:pt x="173228" y="0"/>
                </a:moveTo>
                <a:lnTo>
                  <a:pt x="57658" y="0"/>
                </a:lnTo>
                <a:lnTo>
                  <a:pt x="57658" y="280797"/>
                </a:lnTo>
                <a:lnTo>
                  <a:pt x="0" y="280797"/>
                </a:lnTo>
                <a:lnTo>
                  <a:pt x="115443" y="396240"/>
                </a:lnTo>
                <a:lnTo>
                  <a:pt x="230886" y="280797"/>
                </a:lnTo>
                <a:lnTo>
                  <a:pt x="173228" y="280797"/>
                </a:lnTo>
                <a:lnTo>
                  <a:pt x="17322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722373" y="2981706"/>
            <a:ext cx="60325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>
                <a:latin typeface="Cambria Math"/>
                <a:cs typeface="Cambria Math"/>
              </a:rPr>
              <a:t>𝒊</a:t>
            </a:r>
            <a:r>
              <a:rPr sz="2000" spc="100">
                <a:latin typeface="Cambria Math"/>
                <a:cs typeface="Cambria Math"/>
              </a:rPr>
              <a:t> </a:t>
            </a:r>
            <a:r>
              <a:rPr sz="2000">
                <a:latin typeface="Cambria Math"/>
                <a:cs typeface="Cambria Math"/>
              </a:rPr>
              <a:t>=</a:t>
            </a:r>
            <a:r>
              <a:rPr sz="2000" spc="105">
                <a:latin typeface="Cambria Math"/>
                <a:cs typeface="Cambria Math"/>
              </a:rPr>
              <a:t> </a:t>
            </a:r>
            <a:r>
              <a:rPr sz="2000" spc="-50">
                <a:latin typeface="Cambria Math"/>
                <a:cs typeface="Cambria Math"/>
              </a:rPr>
              <a:t>𝟏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412228" y="2988817"/>
            <a:ext cx="60833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>
                <a:latin typeface="Cambria Math"/>
                <a:cs typeface="Cambria Math"/>
              </a:rPr>
              <a:t>𝒋</a:t>
            </a:r>
            <a:r>
              <a:rPr sz="2000" spc="95">
                <a:latin typeface="Cambria Math"/>
                <a:cs typeface="Cambria Math"/>
              </a:rPr>
              <a:t> </a:t>
            </a:r>
            <a:r>
              <a:rPr sz="2000">
                <a:latin typeface="Cambria Math"/>
                <a:cs typeface="Cambria Math"/>
              </a:rPr>
              <a:t>=</a:t>
            </a:r>
            <a:r>
              <a:rPr sz="2000" spc="110">
                <a:latin typeface="Cambria Math"/>
                <a:cs typeface="Cambria Math"/>
              </a:rPr>
              <a:t> </a:t>
            </a:r>
            <a:r>
              <a:rPr sz="2000" spc="-50">
                <a:latin typeface="Cambria Math"/>
                <a:cs typeface="Cambria Math"/>
              </a:rPr>
              <a:t>𝟔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567930" y="3311144"/>
            <a:ext cx="230504" cy="396240"/>
          </a:xfrm>
          <a:custGeom>
            <a:avLst/>
            <a:gdLst/>
            <a:ahLst/>
            <a:cxnLst/>
            <a:rect l="l" t="t" r="r" b="b"/>
            <a:pathLst>
              <a:path w="230503" h="396239">
                <a:moveTo>
                  <a:pt x="172593" y="0"/>
                </a:moveTo>
                <a:lnTo>
                  <a:pt x="57530" y="0"/>
                </a:lnTo>
                <a:lnTo>
                  <a:pt x="57530" y="281178"/>
                </a:lnTo>
                <a:lnTo>
                  <a:pt x="0" y="281178"/>
                </a:lnTo>
                <a:lnTo>
                  <a:pt x="115062" y="396240"/>
                </a:lnTo>
                <a:lnTo>
                  <a:pt x="230124" y="281178"/>
                </a:lnTo>
                <a:lnTo>
                  <a:pt x="172593" y="281178"/>
                </a:lnTo>
                <a:lnTo>
                  <a:pt x="172593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310386" y="3826510"/>
            <a:ext cx="2362200" cy="1017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>
                <a:latin typeface="Cambria Math"/>
                <a:cs typeface="Cambria Math"/>
              </a:rPr>
              <a:t>𝑿</a:t>
            </a:r>
            <a:endParaRPr sz="18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550">
              <a:latin typeface="Cambria Math"/>
              <a:cs typeface="Cambria Math"/>
            </a:endParaRPr>
          </a:p>
          <a:p>
            <a:pPr marL="497840">
              <a:lnSpc>
                <a:spcPct val="100000"/>
              </a:lnSpc>
              <a:spcBef>
                <a:spcPts val="5"/>
              </a:spcBef>
            </a:pPr>
            <a:r>
              <a:rPr sz="2200">
                <a:latin typeface="PMingLiU"/>
                <a:cs typeface="PMingLiU"/>
              </a:rPr>
              <a:t>当前最大值</a:t>
            </a:r>
            <a:r>
              <a:rPr sz="2200" spc="60">
                <a:latin typeface="Cambria Math"/>
                <a:cs typeface="Cambria Math"/>
              </a:rPr>
              <a:t>= </a:t>
            </a:r>
            <a:r>
              <a:rPr sz="2200" spc="-50">
                <a:latin typeface="Cambria Math"/>
                <a:cs typeface="Cambria Math"/>
              </a:rPr>
              <a:t>𝟗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57905" y="5682234"/>
            <a:ext cx="6076315" cy="581025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939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40"/>
              </a:spcBef>
            </a:pPr>
            <a:r>
              <a:rPr sz="2200">
                <a:solidFill>
                  <a:srgbClr val="FFFFFF"/>
                </a:solidFill>
                <a:latin typeface="Cambria Math"/>
                <a:cs typeface="Cambria Math"/>
              </a:rPr>
              <a:t>𝑫</a:t>
            </a:r>
            <a:r>
              <a:rPr sz="2400" baseline="-15625">
                <a:solidFill>
                  <a:srgbClr val="FFFFFF"/>
                </a:solidFill>
                <a:latin typeface="Cambria Math"/>
                <a:cs typeface="Cambria Math"/>
              </a:rPr>
              <a:t>𝒊</a:t>
            </a:r>
            <a:r>
              <a:rPr sz="2200" b="1">
                <a:solidFill>
                  <a:srgbClr val="FFFFFF"/>
                </a:solidFill>
                <a:latin typeface="Microsoft JhengHei"/>
                <a:cs typeface="Microsoft JhengHei"/>
              </a:rPr>
              <a:t>：</a:t>
            </a:r>
            <a:r>
              <a:rPr sz="2200">
                <a:solidFill>
                  <a:srgbClr val="FFFFFF"/>
                </a:solidFill>
                <a:latin typeface="PMingLiU"/>
                <a:cs typeface="PMingLiU"/>
              </a:rPr>
              <a:t>以</a:t>
            </a:r>
            <a:r>
              <a:rPr sz="2200" spc="-10">
                <a:solidFill>
                  <a:srgbClr val="FFFFFF"/>
                </a:solidFill>
                <a:latin typeface="Cambria Math"/>
                <a:cs typeface="Cambria Math"/>
              </a:rPr>
              <a:t>𝑿[𝒊]</a:t>
            </a:r>
            <a:r>
              <a:rPr sz="2200" spc="-10">
                <a:solidFill>
                  <a:srgbClr val="FFFFFF"/>
                </a:solidFill>
                <a:latin typeface="PMingLiU"/>
                <a:cs typeface="PMingLiU"/>
              </a:rPr>
              <a:t>开头的最大子数组</a:t>
            </a:r>
            <a:endParaRPr sz="2200">
              <a:latin typeface="PMingLiU"/>
              <a:cs typeface="PMingLiU"/>
            </a:endParaRPr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541508D9-D310-7B44-B487-D35C12843E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5068" y="197769"/>
            <a:ext cx="3874771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枚举过程分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析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3" name="云形 2">
            <a:extLst>
              <a:ext uri="{FF2B5EF4-FFF2-40B4-BE49-F238E27FC236}">
                <a16:creationId xmlns:a16="http://schemas.microsoft.com/office/drawing/2014/main" id="{D183F480-D6AB-D346-A949-1C5A755E351E}"/>
              </a:ext>
            </a:extLst>
          </p:cNvPr>
          <p:cNvSpPr/>
          <p:nvPr/>
        </p:nvSpPr>
        <p:spPr>
          <a:xfrm>
            <a:off x="2479763" y="5515546"/>
            <a:ext cx="1747519" cy="890954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给出定义：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9780" y="1102135"/>
            <a:ext cx="4951730" cy="144526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4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5" dirty="0" err="1">
                <a:latin typeface="PMingLiU"/>
                <a:cs typeface="PMingLiU"/>
              </a:rPr>
              <a:t>两层枚举</a:t>
            </a:r>
            <a:endParaRPr sz="2800" dirty="0">
              <a:latin typeface="PMingLiU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8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>
                <a:latin typeface="PMingLiU"/>
                <a:cs typeface="PMingLiU"/>
              </a:rPr>
              <a:t>第</a:t>
            </a:r>
            <a:r>
              <a:rPr sz="2400" b="1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PMingLiU"/>
                <a:cs typeface="PMingLiU"/>
              </a:rPr>
              <a:t>层：枚举位置</a:t>
            </a:r>
            <a:r>
              <a:rPr sz="2400" spc="-10" dirty="0">
                <a:latin typeface="Cambria Math"/>
                <a:cs typeface="Cambria Math"/>
              </a:rPr>
              <a:t>𝒊</a:t>
            </a:r>
            <a:r>
              <a:rPr sz="2400" spc="-10" dirty="0" err="1">
                <a:latin typeface="PMingLiU"/>
                <a:cs typeface="PMingLiU"/>
              </a:rPr>
              <a:t>作为区间开头</a:t>
            </a:r>
            <a:endParaRPr sz="2400" dirty="0">
              <a:latin typeface="PMingLiU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>
                <a:latin typeface="PMingLiU"/>
                <a:cs typeface="PMingLiU"/>
              </a:rPr>
              <a:t>第</a:t>
            </a:r>
            <a:r>
              <a:rPr sz="2400" b="1" dirty="0">
                <a:latin typeface="Times New Roman"/>
                <a:cs typeface="Times New Roman"/>
              </a:rPr>
              <a:t>2</a:t>
            </a:r>
            <a:r>
              <a:rPr sz="2400" dirty="0">
                <a:latin typeface="PMingLiU"/>
                <a:cs typeface="PMingLiU"/>
              </a:rPr>
              <a:t>层：枚举位置</a:t>
            </a:r>
            <a:r>
              <a:rPr sz="2400" dirty="0">
                <a:latin typeface="Cambria Math"/>
                <a:cs typeface="Cambria Math"/>
              </a:rPr>
              <a:t>𝒋</a:t>
            </a:r>
            <a:r>
              <a:rPr sz="2400" spc="-10" dirty="0" err="1">
                <a:latin typeface="PMingLiU"/>
                <a:cs typeface="PMingLiU"/>
              </a:rPr>
              <a:t>作为区间结尾</a:t>
            </a:r>
            <a:endParaRPr sz="2400" dirty="0">
              <a:latin typeface="PMingLiU"/>
              <a:cs typeface="PMingLiU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4657814"/>
              </p:ext>
            </p:extLst>
          </p:nvPr>
        </p:nvGraphicFramePr>
        <p:xfrm>
          <a:off x="1711070" y="3749675"/>
          <a:ext cx="6176009" cy="396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9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9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93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93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93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93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1825751" y="3280664"/>
            <a:ext cx="231140" cy="396240"/>
          </a:xfrm>
          <a:custGeom>
            <a:avLst/>
            <a:gdLst/>
            <a:ahLst/>
            <a:cxnLst/>
            <a:rect l="l" t="t" r="r" b="b"/>
            <a:pathLst>
              <a:path w="231139" h="396239">
                <a:moveTo>
                  <a:pt x="173228" y="0"/>
                </a:moveTo>
                <a:lnTo>
                  <a:pt x="57658" y="0"/>
                </a:lnTo>
                <a:lnTo>
                  <a:pt x="57658" y="280797"/>
                </a:lnTo>
                <a:lnTo>
                  <a:pt x="0" y="280797"/>
                </a:lnTo>
                <a:lnTo>
                  <a:pt x="115443" y="396240"/>
                </a:lnTo>
                <a:lnTo>
                  <a:pt x="230886" y="280797"/>
                </a:lnTo>
                <a:lnTo>
                  <a:pt x="173228" y="280797"/>
                </a:lnTo>
                <a:lnTo>
                  <a:pt x="17322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671573" y="2951226"/>
            <a:ext cx="60325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>
                <a:latin typeface="Cambria Math"/>
                <a:cs typeface="Cambria Math"/>
              </a:rPr>
              <a:t>𝒊</a:t>
            </a:r>
            <a:r>
              <a:rPr sz="2000" spc="100">
                <a:latin typeface="Cambria Math"/>
                <a:cs typeface="Cambria Math"/>
              </a:rPr>
              <a:t> </a:t>
            </a:r>
            <a:r>
              <a:rPr sz="2000">
                <a:latin typeface="Cambria Math"/>
                <a:cs typeface="Cambria Math"/>
              </a:rPr>
              <a:t>=</a:t>
            </a:r>
            <a:r>
              <a:rPr sz="2000" spc="105">
                <a:latin typeface="Cambria Math"/>
                <a:cs typeface="Cambria Math"/>
              </a:rPr>
              <a:t> </a:t>
            </a:r>
            <a:r>
              <a:rPr sz="2000" spc="-50">
                <a:latin typeface="Cambria Math"/>
                <a:cs typeface="Cambria Math"/>
              </a:rPr>
              <a:t>𝟏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59586" y="3796030"/>
            <a:ext cx="2362200" cy="1017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>
                <a:latin typeface="Cambria Math"/>
                <a:cs typeface="Cambria Math"/>
              </a:rPr>
              <a:t>𝑿</a:t>
            </a:r>
            <a:endParaRPr sz="18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550">
              <a:latin typeface="Cambria Math"/>
              <a:cs typeface="Cambria Math"/>
            </a:endParaRPr>
          </a:p>
          <a:p>
            <a:pPr marL="497840">
              <a:lnSpc>
                <a:spcPct val="100000"/>
              </a:lnSpc>
              <a:spcBef>
                <a:spcPts val="5"/>
              </a:spcBef>
            </a:pPr>
            <a:r>
              <a:rPr sz="2200">
                <a:latin typeface="PMingLiU"/>
                <a:cs typeface="PMingLiU"/>
              </a:rPr>
              <a:t>当前最大值</a:t>
            </a:r>
            <a:r>
              <a:rPr sz="2200" spc="60">
                <a:latin typeface="Cambria Math"/>
                <a:cs typeface="Cambria Math"/>
              </a:rPr>
              <a:t>= </a:t>
            </a:r>
            <a:r>
              <a:rPr sz="2200" spc="-50">
                <a:latin typeface="Cambria Math"/>
                <a:cs typeface="Cambria Math"/>
              </a:rPr>
              <a:t>𝟗</a:t>
            </a:r>
            <a:endParaRPr sz="2200">
              <a:latin typeface="Cambria Math"/>
              <a:cs typeface="Cambria Math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8308847" y="902335"/>
          <a:ext cx="3326128" cy="629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2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7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08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8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43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43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435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95605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08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6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4620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83057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3057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8761476" y="1444243"/>
            <a:ext cx="94996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200">
                <a:latin typeface="Cambria Math"/>
                <a:cs typeface="Cambria Math"/>
              </a:rPr>
              <a:t>𝑫</a:t>
            </a:r>
            <a:r>
              <a:rPr sz="2400" baseline="-15625">
                <a:latin typeface="Cambria Math"/>
                <a:cs typeface="Cambria Math"/>
              </a:rPr>
              <a:t>𝟏</a:t>
            </a:r>
            <a:r>
              <a:rPr sz="2400" spc="517" baseline="-15625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=</a:t>
            </a:r>
            <a:r>
              <a:rPr sz="2200" spc="110">
                <a:latin typeface="Cambria Math"/>
                <a:cs typeface="Cambria Math"/>
              </a:rPr>
              <a:t> </a:t>
            </a:r>
            <a:r>
              <a:rPr sz="2200" spc="-50">
                <a:latin typeface="Cambria Math"/>
                <a:cs typeface="Cambria Math"/>
              </a:rPr>
              <a:t>𝟗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857743" y="935735"/>
            <a:ext cx="184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>
                <a:latin typeface="Cambria Math"/>
                <a:cs typeface="Cambria Math"/>
              </a:rPr>
              <a:t>𝑿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361428" y="2958337"/>
            <a:ext cx="67373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>
                <a:latin typeface="Cambria Math"/>
                <a:cs typeface="Cambria Math"/>
              </a:rPr>
              <a:t>𝒋</a:t>
            </a:r>
            <a:r>
              <a:rPr sz="2000" spc="95">
                <a:latin typeface="Cambria Math"/>
                <a:cs typeface="Cambria Math"/>
              </a:rPr>
              <a:t> </a:t>
            </a:r>
            <a:r>
              <a:rPr sz="2000">
                <a:latin typeface="Cambria Math"/>
                <a:cs typeface="Cambria Math"/>
              </a:rPr>
              <a:t>=</a:t>
            </a:r>
            <a:r>
              <a:rPr sz="2000" spc="110">
                <a:latin typeface="Cambria Math"/>
                <a:cs typeface="Cambria Math"/>
              </a:rPr>
              <a:t> </a:t>
            </a:r>
            <a:r>
              <a:rPr sz="2000" spc="-50">
                <a:latin typeface="Cambria Math"/>
                <a:cs typeface="Cambria Math"/>
              </a:rPr>
              <a:t>⋯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517130" y="3280664"/>
            <a:ext cx="230504" cy="396240"/>
          </a:xfrm>
          <a:custGeom>
            <a:avLst/>
            <a:gdLst/>
            <a:ahLst/>
            <a:cxnLst/>
            <a:rect l="l" t="t" r="r" b="b"/>
            <a:pathLst>
              <a:path w="230503" h="396239">
                <a:moveTo>
                  <a:pt x="172593" y="0"/>
                </a:moveTo>
                <a:lnTo>
                  <a:pt x="57530" y="0"/>
                </a:lnTo>
                <a:lnTo>
                  <a:pt x="57530" y="281178"/>
                </a:lnTo>
                <a:lnTo>
                  <a:pt x="0" y="281178"/>
                </a:lnTo>
                <a:lnTo>
                  <a:pt x="115062" y="396240"/>
                </a:lnTo>
                <a:lnTo>
                  <a:pt x="230124" y="281178"/>
                </a:lnTo>
                <a:lnTo>
                  <a:pt x="172593" y="281178"/>
                </a:lnTo>
                <a:lnTo>
                  <a:pt x="172593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2">
            <a:extLst>
              <a:ext uri="{FF2B5EF4-FFF2-40B4-BE49-F238E27FC236}">
                <a16:creationId xmlns:a16="http://schemas.microsoft.com/office/drawing/2014/main" id="{020FBBB4-96B1-C64C-8061-019B1A6B6B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5068" y="197769"/>
            <a:ext cx="3874771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枚举过程分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析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cxnSp>
        <p:nvCxnSpPr>
          <p:cNvPr id="17" name="直线连接符 16">
            <a:extLst>
              <a:ext uri="{FF2B5EF4-FFF2-40B4-BE49-F238E27FC236}">
                <a16:creationId xmlns:a16="http://schemas.microsoft.com/office/drawing/2014/main" id="{363E1555-CCDD-6C43-AF62-8F7DD2D0F0EE}"/>
              </a:ext>
            </a:extLst>
          </p:cNvPr>
          <p:cNvCxnSpPr/>
          <p:nvPr/>
        </p:nvCxnSpPr>
        <p:spPr>
          <a:xfrm>
            <a:off x="9154160" y="1396746"/>
            <a:ext cx="2743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9459" y="1235455"/>
            <a:ext cx="4951730" cy="144526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4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5" dirty="0" err="1">
                <a:latin typeface="PMingLiU"/>
                <a:cs typeface="PMingLiU"/>
              </a:rPr>
              <a:t>两层枚举</a:t>
            </a:r>
            <a:endParaRPr sz="2800" dirty="0">
              <a:latin typeface="PMingLiU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8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>
                <a:latin typeface="PMingLiU"/>
                <a:cs typeface="PMingLiU"/>
              </a:rPr>
              <a:t>第</a:t>
            </a:r>
            <a:r>
              <a:rPr sz="2400" b="1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PMingLiU"/>
                <a:cs typeface="PMingLiU"/>
              </a:rPr>
              <a:t>层：枚举位置</a:t>
            </a:r>
            <a:r>
              <a:rPr sz="2400" spc="-10" dirty="0">
                <a:latin typeface="Cambria Math"/>
                <a:cs typeface="Cambria Math"/>
              </a:rPr>
              <a:t>𝒊</a:t>
            </a:r>
            <a:r>
              <a:rPr sz="2400" spc="-10" dirty="0" err="1">
                <a:latin typeface="PMingLiU"/>
                <a:cs typeface="PMingLiU"/>
              </a:rPr>
              <a:t>作为区间开头</a:t>
            </a:r>
            <a:endParaRPr sz="2400" dirty="0">
              <a:latin typeface="PMingLiU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>
                <a:latin typeface="PMingLiU"/>
                <a:cs typeface="PMingLiU"/>
              </a:rPr>
              <a:t>第</a:t>
            </a:r>
            <a:r>
              <a:rPr sz="2400" b="1" dirty="0">
                <a:latin typeface="Times New Roman"/>
                <a:cs typeface="Times New Roman"/>
              </a:rPr>
              <a:t>2</a:t>
            </a:r>
            <a:r>
              <a:rPr sz="2400" dirty="0">
                <a:latin typeface="PMingLiU"/>
                <a:cs typeface="PMingLiU"/>
              </a:rPr>
              <a:t>层：枚举位置</a:t>
            </a:r>
            <a:r>
              <a:rPr sz="2400" dirty="0">
                <a:latin typeface="Cambria Math"/>
                <a:cs typeface="Cambria Math"/>
              </a:rPr>
              <a:t>𝒋</a:t>
            </a:r>
            <a:r>
              <a:rPr sz="2400" spc="-10" dirty="0" err="1">
                <a:latin typeface="PMingLiU"/>
                <a:cs typeface="PMingLiU"/>
              </a:rPr>
              <a:t>作为区间结尾</a:t>
            </a:r>
            <a:endParaRPr sz="2400" dirty="0">
              <a:latin typeface="PMingLiU"/>
              <a:cs typeface="PMingLiU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1865190"/>
              </p:ext>
            </p:extLst>
          </p:nvPr>
        </p:nvGraphicFramePr>
        <p:xfrm>
          <a:off x="1711070" y="3800475"/>
          <a:ext cx="6176009" cy="396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9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9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93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93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93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93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2852927" y="3331464"/>
            <a:ext cx="230504" cy="396240"/>
          </a:xfrm>
          <a:custGeom>
            <a:avLst/>
            <a:gdLst/>
            <a:ahLst/>
            <a:cxnLst/>
            <a:rect l="l" t="t" r="r" b="b"/>
            <a:pathLst>
              <a:path w="230504" h="396239">
                <a:moveTo>
                  <a:pt x="172593" y="0"/>
                </a:moveTo>
                <a:lnTo>
                  <a:pt x="57531" y="0"/>
                </a:lnTo>
                <a:lnTo>
                  <a:pt x="57531" y="281178"/>
                </a:lnTo>
                <a:lnTo>
                  <a:pt x="0" y="281178"/>
                </a:lnTo>
                <a:lnTo>
                  <a:pt x="115062" y="396240"/>
                </a:lnTo>
                <a:lnTo>
                  <a:pt x="230124" y="281178"/>
                </a:lnTo>
                <a:lnTo>
                  <a:pt x="172593" y="281178"/>
                </a:lnTo>
                <a:lnTo>
                  <a:pt x="172593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698495" y="3002026"/>
            <a:ext cx="60261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>
                <a:latin typeface="Cambria Math"/>
                <a:cs typeface="Cambria Math"/>
              </a:rPr>
              <a:t>𝒊</a:t>
            </a:r>
            <a:r>
              <a:rPr sz="2000" spc="95">
                <a:latin typeface="Cambria Math"/>
                <a:cs typeface="Cambria Math"/>
              </a:rPr>
              <a:t> </a:t>
            </a:r>
            <a:r>
              <a:rPr sz="2000">
                <a:latin typeface="Cambria Math"/>
                <a:cs typeface="Cambria Math"/>
              </a:rPr>
              <a:t>=</a:t>
            </a:r>
            <a:r>
              <a:rPr sz="2000" spc="105">
                <a:latin typeface="Cambria Math"/>
                <a:cs typeface="Cambria Math"/>
              </a:rPr>
              <a:t> </a:t>
            </a:r>
            <a:r>
              <a:rPr sz="2000" spc="-50">
                <a:latin typeface="Cambria Math"/>
                <a:cs typeface="Cambria Math"/>
              </a:rPr>
              <a:t>𝟐</a:t>
            </a:r>
            <a:endParaRPr sz="2000">
              <a:latin typeface="Cambria Math"/>
              <a:cs typeface="Cambria Math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8308847" y="902335"/>
          <a:ext cx="3326128" cy="629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2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7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08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8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43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43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435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95605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08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6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4620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83057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3057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8761476" y="1444243"/>
            <a:ext cx="94996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200">
                <a:latin typeface="Cambria Math"/>
                <a:cs typeface="Cambria Math"/>
              </a:rPr>
              <a:t>𝑫</a:t>
            </a:r>
            <a:r>
              <a:rPr sz="2400" baseline="-15625">
                <a:latin typeface="Cambria Math"/>
                <a:cs typeface="Cambria Math"/>
              </a:rPr>
              <a:t>𝟏</a:t>
            </a:r>
            <a:r>
              <a:rPr sz="2400" spc="517" baseline="-15625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=</a:t>
            </a:r>
            <a:r>
              <a:rPr sz="2200" spc="110">
                <a:latin typeface="Cambria Math"/>
                <a:cs typeface="Cambria Math"/>
              </a:rPr>
              <a:t> </a:t>
            </a:r>
            <a:r>
              <a:rPr sz="2200" spc="-50">
                <a:latin typeface="Cambria Math"/>
                <a:cs typeface="Cambria Math"/>
              </a:rPr>
              <a:t>𝟗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013952" y="2428748"/>
            <a:ext cx="94996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200">
                <a:latin typeface="Cambria Math"/>
                <a:cs typeface="Cambria Math"/>
              </a:rPr>
              <a:t>𝑫</a:t>
            </a:r>
            <a:r>
              <a:rPr sz="2400" baseline="-15625">
                <a:latin typeface="Cambria Math"/>
                <a:cs typeface="Cambria Math"/>
              </a:rPr>
              <a:t>𝟐</a:t>
            </a:r>
            <a:r>
              <a:rPr sz="2400" spc="517" baseline="-15625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=</a:t>
            </a:r>
            <a:r>
              <a:rPr sz="2200" spc="110">
                <a:latin typeface="Cambria Math"/>
                <a:cs typeface="Cambria Math"/>
              </a:rPr>
              <a:t> </a:t>
            </a:r>
            <a:r>
              <a:rPr sz="2200" spc="-50">
                <a:latin typeface="Cambria Math"/>
                <a:cs typeface="Cambria Math"/>
              </a:rPr>
              <a:t>𝟓</a:t>
            </a:r>
            <a:endParaRPr sz="2200">
              <a:latin typeface="Cambria Math"/>
              <a:cs typeface="Cambria Math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8308847" y="1885695"/>
          <a:ext cx="3333750" cy="3956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720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7857743" y="1917191"/>
            <a:ext cx="184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>
                <a:latin typeface="Cambria Math"/>
                <a:cs typeface="Cambria Math"/>
              </a:rPr>
              <a:t>𝑿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906256" y="2266950"/>
            <a:ext cx="1057910" cy="222250"/>
          </a:xfrm>
          <a:custGeom>
            <a:avLst/>
            <a:gdLst/>
            <a:ahLst/>
            <a:cxnLst/>
            <a:rect l="l" t="t" r="r" b="b"/>
            <a:pathLst>
              <a:path w="1057909" h="222250">
                <a:moveTo>
                  <a:pt x="0" y="0"/>
                </a:moveTo>
                <a:lnTo>
                  <a:pt x="1448" y="43148"/>
                </a:lnTo>
                <a:lnTo>
                  <a:pt x="5397" y="78390"/>
                </a:lnTo>
                <a:lnTo>
                  <a:pt x="11251" y="102155"/>
                </a:lnTo>
                <a:lnTo>
                  <a:pt x="18415" y="110871"/>
                </a:lnTo>
                <a:lnTo>
                  <a:pt x="510286" y="110871"/>
                </a:lnTo>
                <a:lnTo>
                  <a:pt x="517523" y="119586"/>
                </a:lnTo>
                <a:lnTo>
                  <a:pt x="523414" y="143351"/>
                </a:lnTo>
                <a:lnTo>
                  <a:pt x="527377" y="178593"/>
                </a:lnTo>
                <a:lnTo>
                  <a:pt x="528827" y="221741"/>
                </a:lnTo>
                <a:lnTo>
                  <a:pt x="530276" y="178593"/>
                </a:lnTo>
                <a:lnTo>
                  <a:pt x="534225" y="143351"/>
                </a:lnTo>
                <a:lnTo>
                  <a:pt x="540079" y="119586"/>
                </a:lnTo>
                <a:lnTo>
                  <a:pt x="547243" y="110871"/>
                </a:lnTo>
                <a:lnTo>
                  <a:pt x="1039114" y="110871"/>
                </a:lnTo>
                <a:lnTo>
                  <a:pt x="1046351" y="102155"/>
                </a:lnTo>
                <a:lnTo>
                  <a:pt x="1052242" y="78390"/>
                </a:lnTo>
                <a:lnTo>
                  <a:pt x="1056205" y="43148"/>
                </a:lnTo>
                <a:lnTo>
                  <a:pt x="1057655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361428" y="3009137"/>
            <a:ext cx="67373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>
                <a:latin typeface="Cambria Math"/>
                <a:cs typeface="Cambria Math"/>
              </a:rPr>
              <a:t>𝒋</a:t>
            </a:r>
            <a:r>
              <a:rPr sz="2000" spc="95">
                <a:latin typeface="Cambria Math"/>
                <a:cs typeface="Cambria Math"/>
              </a:rPr>
              <a:t> </a:t>
            </a:r>
            <a:r>
              <a:rPr sz="2000">
                <a:latin typeface="Cambria Math"/>
                <a:cs typeface="Cambria Math"/>
              </a:rPr>
              <a:t>=</a:t>
            </a:r>
            <a:r>
              <a:rPr sz="2000" spc="110">
                <a:latin typeface="Cambria Math"/>
                <a:cs typeface="Cambria Math"/>
              </a:rPr>
              <a:t> </a:t>
            </a:r>
            <a:r>
              <a:rPr sz="2000" spc="-50">
                <a:latin typeface="Cambria Math"/>
                <a:cs typeface="Cambria Math"/>
              </a:rPr>
              <a:t>⋯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517130" y="3331464"/>
            <a:ext cx="230504" cy="396240"/>
          </a:xfrm>
          <a:custGeom>
            <a:avLst/>
            <a:gdLst/>
            <a:ahLst/>
            <a:cxnLst/>
            <a:rect l="l" t="t" r="r" b="b"/>
            <a:pathLst>
              <a:path w="230503" h="396239">
                <a:moveTo>
                  <a:pt x="172593" y="0"/>
                </a:moveTo>
                <a:lnTo>
                  <a:pt x="57530" y="0"/>
                </a:lnTo>
                <a:lnTo>
                  <a:pt x="57530" y="281178"/>
                </a:lnTo>
                <a:lnTo>
                  <a:pt x="0" y="281178"/>
                </a:lnTo>
                <a:lnTo>
                  <a:pt x="115062" y="396240"/>
                </a:lnTo>
                <a:lnTo>
                  <a:pt x="230124" y="281178"/>
                </a:lnTo>
                <a:lnTo>
                  <a:pt x="172593" y="281178"/>
                </a:lnTo>
                <a:lnTo>
                  <a:pt x="172593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7857743" y="935735"/>
            <a:ext cx="184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>
                <a:latin typeface="Cambria Math"/>
                <a:cs typeface="Cambria Math"/>
              </a:rPr>
              <a:t>𝑿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59586" y="3846830"/>
            <a:ext cx="184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>
                <a:latin typeface="Cambria Math"/>
                <a:cs typeface="Cambria Math"/>
              </a:rPr>
              <a:t>𝑿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9" name="object 2">
            <a:extLst>
              <a:ext uri="{FF2B5EF4-FFF2-40B4-BE49-F238E27FC236}">
                <a16:creationId xmlns:a16="http://schemas.microsoft.com/office/drawing/2014/main" id="{46B65C5C-C639-2844-A9F7-A14D7A7F3C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5068" y="197769"/>
            <a:ext cx="3874771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枚举过程分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析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cxnSp>
        <p:nvCxnSpPr>
          <p:cNvPr id="20" name="直线连接符 19">
            <a:extLst>
              <a:ext uri="{FF2B5EF4-FFF2-40B4-BE49-F238E27FC236}">
                <a16:creationId xmlns:a16="http://schemas.microsoft.com/office/drawing/2014/main" id="{3B95AE37-DBB1-074E-B213-F3E6C187A1A0}"/>
              </a:ext>
            </a:extLst>
          </p:cNvPr>
          <p:cNvCxnSpPr/>
          <p:nvPr/>
        </p:nvCxnSpPr>
        <p:spPr>
          <a:xfrm>
            <a:off x="9154160" y="1396746"/>
            <a:ext cx="2743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7775" y="1043940"/>
            <a:ext cx="4951730" cy="144526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4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5" dirty="0" err="1">
                <a:latin typeface="PMingLiU"/>
                <a:cs typeface="PMingLiU"/>
              </a:rPr>
              <a:t>两层枚举</a:t>
            </a:r>
            <a:endParaRPr sz="2800" dirty="0">
              <a:latin typeface="PMingLiU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8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>
                <a:latin typeface="PMingLiU"/>
                <a:cs typeface="PMingLiU"/>
              </a:rPr>
              <a:t>第</a:t>
            </a:r>
            <a:r>
              <a:rPr sz="2400" b="1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PMingLiU"/>
                <a:cs typeface="PMingLiU"/>
              </a:rPr>
              <a:t>层：枚举位置</a:t>
            </a:r>
            <a:r>
              <a:rPr sz="2400" spc="-10" dirty="0">
                <a:latin typeface="Cambria Math"/>
                <a:cs typeface="Cambria Math"/>
              </a:rPr>
              <a:t>𝒊</a:t>
            </a:r>
            <a:r>
              <a:rPr sz="2400" spc="-10" dirty="0" err="1">
                <a:latin typeface="PMingLiU"/>
                <a:cs typeface="PMingLiU"/>
              </a:rPr>
              <a:t>作为区间开头</a:t>
            </a:r>
            <a:endParaRPr sz="2400" dirty="0">
              <a:latin typeface="PMingLiU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>
                <a:latin typeface="PMingLiU"/>
                <a:cs typeface="PMingLiU"/>
              </a:rPr>
              <a:t>第</a:t>
            </a:r>
            <a:r>
              <a:rPr sz="2400" b="1" dirty="0">
                <a:latin typeface="Times New Roman"/>
                <a:cs typeface="Times New Roman"/>
              </a:rPr>
              <a:t>2</a:t>
            </a:r>
            <a:r>
              <a:rPr sz="2400" dirty="0">
                <a:latin typeface="PMingLiU"/>
                <a:cs typeface="PMingLiU"/>
              </a:rPr>
              <a:t>层：枚举位置</a:t>
            </a:r>
            <a:r>
              <a:rPr sz="2400" dirty="0">
                <a:latin typeface="Cambria Math"/>
                <a:cs typeface="Cambria Math"/>
              </a:rPr>
              <a:t>𝒋</a:t>
            </a:r>
            <a:r>
              <a:rPr sz="2400" spc="-10" dirty="0" err="1">
                <a:latin typeface="PMingLiU"/>
                <a:cs typeface="PMingLiU"/>
              </a:rPr>
              <a:t>作为区间结尾</a:t>
            </a:r>
            <a:endParaRPr sz="2400" dirty="0">
              <a:latin typeface="PMingLiU"/>
              <a:cs typeface="PMingLiU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711070" y="3434715"/>
          <a:ext cx="6176009" cy="396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9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9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93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93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93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93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3751326" y="2965704"/>
            <a:ext cx="230504" cy="396240"/>
          </a:xfrm>
          <a:custGeom>
            <a:avLst/>
            <a:gdLst/>
            <a:ahLst/>
            <a:cxnLst/>
            <a:rect l="l" t="t" r="r" b="b"/>
            <a:pathLst>
              <a:path w="230503" h="396239">
                <a:moveTo>
                  <a:pt x="172593" y="0"/>
                </a:moveTo>
                <a:lnTo>
                  <a:pt x="57531" y="0"/>
                </a:lnTo>
                <a:lnTo>
                  <a:pt x="57531" y="281178"/>
                </a:lnTo>
                <a:lnTo>
                  <a:pt x="0" y="281178"/>
                </a:lnTo>
                <a:lnTo>
                  <a:pt x="115062" y="396240"/>
                </a:lnTo>
                <a:lnTo>
                  <a:pt x="230124" y="281178"/>
                </a:lnTo>
                <a:lnTo>
                  <a:pt x="172593" y="281178"/>
                </a:lnTo>
                <a:lnTo>
                  <a:pt x="172593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596894" y="2636266"/>
            <a:ext cx="60261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>
                <a:latin typeface="Cambria Math"/>
                <a:cs typeface="Cambria Math"/>
              </a:rPr>
              <a:t>𝒊</a:t>
            </a:r>
            <a:r>
              <a:rPr sz="2000" spc="95">
                <a:latin typeface="Cambria Math"/>
                <a:cs typeface="Cambria Math"/>
              </a:rPr>
              <a:t> </a:t>
            </a:r>
            <a:r>
              <a:rPr sz="2000">
                <a:latin typeface="Cambria Math"/>
                <a:cs typeface="Cambria Math"/>
              </a:rPr>
              <a:t>=</a:t>
            </a:r>
            <a:r>
              <a:rPr sz="2000" spc="105">
                <a:latin typeface="Cambria Math"/>
                <a:cs typeface="Cambria Math"/>
              </a:rPr>
              <a:t> </a:t>
            </a:r>
            <a:r>
              <a:rPr sz="2000" spc="-50">
                <a:latin typeface="Cambria Math"/>
                <a:cs typeface="Cambria Math"/>
              </a:rPr>
              <a:t>𝟑</a:t>
            </a:r>
            <a:endParaRPr sz="2000">
              <a:latin typeface="Cambria Math"/>
              <a:cs typeface="Cambria Math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8308847" y="902335"/>
          <a:ext cx="3326128" cy="629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2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7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08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8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43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43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435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95605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08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6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4620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83057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3057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8761476" y="1444243"/>
            <a:ext cx="94996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200">
                <a:latin typeface="Cambria Math"/>
                <a:cs typeface="Cambria Math"/>
              </a:rPr>
              <a:t>𝑫</a:t>
            </a:r>
            <a:r>
              <a:rPr sz="2400" baseline="-15625">
                <a:latin typeface="Cambria Math"/>
                <a:cs typeface="Cambria Math"/>
              </a:rPr>
              <a:t>𝟏</a:t>
            </a:r>
            <a:r>
              <a:rPr sz="2400" spc="517" baseline="-15625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=</a:t>
            </a:r>
            <a:r>
              <a:rPr sz="2200" spc="110">
                <a:latin typeface="Cambria Math"/>
                <a:cs typeface="Cambria Math"/>
              </a:rPr>
              <a:t> </a:t>
            </a:r>
            <a:r>
              <a:rPr sz="2200" spc="-50">
                <a:latin typeface="Cambria Math"/>
                <a:cs typeface="Cambria Math"/>
              </a:rPr>
              <a:t>𝟗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013952" y="2428748"/>
            <a:ext cx="94996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200">
                <a:latin typeface="Cambria Math"/>
                <a:cs typeface="Cambria Math"/>
              </a:rPr>
              <a:t>𝑫</a:t>
            </a:r>
            <a:r>
              <a:rPr sz="2400" baseline="-15625">
                <a:latin typeface="Cambria Math"/>
                <a:cs typeface="Cambria Math"/>
              </a:rPr>
              <a:t>𝟐</a:t>
            </a:r>
            <a:r>
              <a:rPr sz="2400" spc="517" baseline="-15625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=</a:t>
            </a:r>
            <a:r>
              <a:rPr sz="2200" spc="110">
                <a:latin typeface="Cambria Math"/>
                <a:cs typeface="Cambria Math"/>
              </a:rPr>
              <a:t> </a:t>
            </a:r>
            <a:r>
              <a:rPr sz="2200" spc="-50">
                <a:latin typeface="Cambria Math"/>
                <a:cs typeface="Cambria Math"/>
              </a:rPr>
              <a:t>𝟓</a:t>
            </a:r>
            <a:endParaRPr sz="2200">
              <a:latin typeface="Cambria Math"/>
              <a:cs typeface="Cambria Math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8308847" y="1885695"/>
          <a:ext cx="3333750" cy="3956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720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object 11"/>
          <p:cNvSpPr/>
          <p:nvPr/>
        </p:nvSpPr>
        <p:spPr>
          <a:xfrm>
            <a:off x="8906256" y="2266950"/>
            <a:ext cx="1057910" cy="222250"/>
          </a:xfrm>
          <a:custGeom>
            <a:avLst/>
            <a:gdLst/>
            <a:ahLst/>
            <a:cxnLst/>
            <a:rect l="l" t="t" r="r" b="b"/>
            <a:pathLst>
              <a:path w="1057909" h="222250">
                <a:moveTo>
                  <a:pt x="0" y="0"/>
                </a:moveTo>
                <a:lnTo>
                  <a:pt x="1448" y="43148"/>
                </a:lnTo>
                <a:lnTo>
                  <a:pt x="5397" y="78390"/>
                </a:lnTo>
                <a:lnTo>
                  <a:pt x="11251" y="102155"/>
                </a:lnTo>
                <a:lnTo>
                  <a:pt x="18415" y="110871"/>
                </a:lnTo>
                <a:lnTo>
                  <a:pt x="510286" y="110871"/>
                </a:lnTo>
                <a:lnTo>
                  <a:pt x="517523" y="119586"/>
                </a:lnTo>
                <a:lnTo>
                  <a:pt x="523414" y="143351"/>
                </a:lnTo>
                <a:lnTo>
                  <a:pt x="527377" y="178593"/>
                </a:lnTo>
                <a:lnTo>
                  <a:pt x="528827" y="221741"/>
                </a:lnTo>
                <a:lnTo>
                  <a:pt x="530276" y="178593"/>
                </a:lnTo>
                <a:lnTo>
                  <a:pt x="534225" y="143351"/>
                </a:lnTo>
                <a:lnTo>
                  <a:pt x="540079" y="119586"/>
                </a:lnTo>
                <a:lnTo>
                  <a:pt x="547243" y="110871"/>
                </a:lnTo>
                <a:lnTo>
                  <a:pt x="1039114" y="110871"/>
                </a:lnTo>
                <a:lnTo>
                  <a:pt x="1046351" y="102155"/>
                </a:lnTo>
                <a:lnTo>
                  <a:pt x="1052242" y="78390"/>
                </a:lnTo>
                <a:lnTo>
                  <a:pt x="1056205" y="43148"/>
                </a:lnTo>
                <a:lnTo>
                  <a:pt x="1057655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252457" y="3386073"/>
            <a:ext cx="94996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200">
                <a:latin typeface="Cambria Math"/>
                <a:cs typeface="Cambria Math"/>
              </a:rPr>
              <a:t>𝑫</a:t>
            </a:r>
            <a:r>
              <a:rPr sz="2400" baseline="-15625">
                <a:latin typeface="Cambria Math"/>
                <a:cs typeface="Cambria Math"/>
              </a:rPr>
              <a:t>𝟑</a:t>
            </a:r>
            <a:r>
              <a:rPr sz="2400" spc="517" baseline="-15625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=</a:t>
            </a:r>
            <a:r>
              <a:rPr sz="2200" spc="110">
                <a:latin typeface="Cambria Math"/>
                <a:cs typeface="Cambria Math"/>
              </a:rPr>
              <a:t> </a:t>
            </a:r>
            <a:r>
              <a:rPr sz="2200" spc="-50">
                <a:latin typeface="Cambria Math"/>
                <a:cs typeface="Cambria Math"/>
              </a:rPr>
              <a:t>𝟑</a:t>
            </a:r>
            <a:endParaRPr sz="2200">
              <a:latin typeface="Cambria Math"/>
              <a:cs typeface="Cambria Math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8308847" y="2844545"/>
          <a:ext cx="3333750" cy="3956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720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object 14"/>
          <p:cNvSpPr/>
          <p:nvPr/>
        </p:nvSpPr>
        <p:spPr>
          <a:xfrm>
            <a:off x="9435083" y="3261359"/>
            <a:ext cx="505459" cy="173355"/>
          </a:xfrm>
          <a:custGeom>
            <a:avLst/>
            <a:gdLst/>
            <a:ahLst/>
            <a:cxnLst/>
            <a:rect l="l" t="t" r="r" b="b"/>
            <a:pathLst>
              <a:path w="505459" h="173354">
                <a:moveTo>
                  <a:pt x="0" y="0"/>
                </a:moveTo>
                <a:lnTo>
                  <a:pt x="1135" y="33658"/>
                </a:lnTo>
                <a:lnTo>
                  <a:pt x="4222" y="61150"/>
                </a:lnTo>
                <a:lnTo>
                  <a:pt x="8786" y="79688"/>
                </a:lnTo>
                <a:lnTo>
                  <a:pt x="14350" y="86487"/>
                </a:lnTo>
                <a:lnTo>
                  <a:pt x="238125" y="86487"/>
                </a:lnTo>
                <a:lnTo>
                  <a:pt x="243762" y="93285"/>
                </a:lnTo>
                <a:lnTo>
                  <a:pt x="248364" y="111823"/>
                </a:lnTo>
                <a:lnTo>
                  <a:pt x="251465" y="139315"/>
                </a:lnTo>
                <a:lnTo>
                  <a:pt x="252602" y="172974"/>
                </a:lnTo>
                <a:lnTo>
                  <a:pt x="253738" y="139315"/>
                </a:lnTo>
                <a:lnTo>
                  <a:pt x="256825" y="111823"/>
                </a:lnTo>
                <a:lnTo>
                  <a:pt x="261389" y="93285"/>
                </a:lnTo>
                <a:lnTo>
                  <a:pt x="266954" y="86487"/>
                </a:lnTo>
                <a:lnTo>
                  <a:pt x="490855" y="86487"/>
                </a:lnTo>
                <a:lnTo>
                  <a:pt x="496419" y="79688"/>
                </a:lnTo>
                <a:lnTo>
                  <a:pt x="500983" y="61150"/>
                </a:lnTo>
                <a:lnTo>
                  <a:pt x="504070" y="33658"/>
                </a:lnTo>
                <a:lnTo>
                  <a:pt x="505206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7361428" y="2643377"/>
            <a:ext cx="680085" cy="5562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11430" algn="r">
              <a:lnSpc>
                <a:spcPts val="2210"/>
              </a:lnSpc>
              <a:spcBef>
                <a:spcPts val="95"/>
              </a:spcBef>
            </a:pPr>
            <a:r>
              <a:rPr sz="2000">
                <a:latin typeface="Cambria Math"/>
                <a:cs typeface="Cambria Math"/>
              </a:rPr>
              <a:t>𝒋</a:t>
            </a:r>
            <a:r>
              <a:rPr sz="2000" spc="95">
                <a:latin typeface="Cambria Math"/>
                <a:cs typeface="Cambria Math"/>
              </a:rPr>
              <a:t> </a:t>
            </a:r>
            <a:r>
              <a:rPr sz="2000">
                <a:latin typeface="Cambria Math"/>
                <a:cs typeface="Cambria Math"/>
              </a:rPr>
              <a:t>=</a:t>
            </a:r>
            <a:r>
              <a:rPr sz="2000" spc="110">
                <a:latin typeface="Cambria Math"/>
                <a:cs typeface="Cambria Math"/>
              </a:rPr>
              <a:t> </a:t>
            </a:r>
            <a:r>
              <a:rPr sz="2000" spc="-50">
                <a:latin typeface="Cambria Math"/>
                <a:cs typeface="Cambria Math"/>
              </a:rPr>
              <a:t>⋯</a:t>
            </a:r>
            <a:endParaRPr sz="2000">
              <a:latin typeface="Cambria Math"/>
              <a:cs typeface="Cambria Math"/>
            </a:endParaRPr>
          </a:p>
          <a:p>
            <a:pPr marR="5080" algn="r">
              <a:lnSpc>
                <a:spcPts val="1970"/>
              </a:lnSpc>
            </a:pPr>
            <a:r>
              <a:rPr sz="1800" spc="-50">
                <a:latin typeface="Cambria Math"/>
                <a:cs typeface="Cambria Math"/>
              </a:rPr>
              <a:t>𝑿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517130" y="2965704"/>
            <a:ext cx="230504" cy="396240"/>
          </a:xfrm>
          <a:custGeom>
            <a:avLst/>
            <a:gdLst/>
            <a:ahLst/>
            <a:cxnLst/>
            <a:rect l="l" t="t" r="r" b="b"/>
            <a:pathLst>
              <a:path w="230503" h="396239">
                <a:moveTo>
                  <a:pt x="172593" y="0"/>
                </a:moveTo>
                <a:lnTo>
                  <a:pt x="57530" y="0"/>
                </a:lnTo>
                <a:lnTo>
                  <a:pt x="57530" y="281178"/>
                </a:lnTo>
                <a:lnTo>
                  <a:pt x="0" y="281178"/>
                </a:lnTo>
                <a:lnTo>
                  <a:pt x="115062" y="396240"/>
                </a:lnTo>
                <a:lnTo>
                  <a:pt x="230124" y="281178"/>
                </a:lnTo>
                <a:lnTo>
                  <a:pt x="172593" y="281178"/>
                </a:lnTo>
                <a:lnTo>
                  <a:pt x="172593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857743" y="1917191"/>
            <a:ext cx="184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>
                <a:latin typeface="Cambria Math"/>
                <a:cs typeface="Cambria Math"/>
              </a:rPr>
              <a:t>𝑿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857743" y="935735"/>
            <a:ext cx="184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>
                <a:latin typeface="Cambria Math"/>
                <a:cs typeface="Cambria Math"/>
              </a:rPr>
              <a:t>𝑿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59586" y="3481070"/>
            <a:ext cx="184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>
                <a:latin typeface="Cambria Math"/>
                <a:cs typeface="Cambria Math"/>
              </a:rPr>
              <a:t>𝑿</a:t>
            </a:r>
            <a:endParaRPr sz="1800">
              <a:latin typeface="Cambria Math"/>
              <a:cs typeface="Cambria Math"/>
            </a:endParaRPr>
          </a:p>
        </p:txBody>
      </p:sp>
      <p:cxnSp>
        <p:nvCxnSpPr>
          <p:cNvPr id="22" name="直线连接符 21">
            <a:extLst>
              <a:ext uri="{FF2B5EF4-FFF2-40B4-BE49-F238E27FC236}">
                <a16:creationId xmlns:a16="http://schemas.microsoft.com/office/drawing/2014/main" id="{F48EF5BF-0EFC-9549-9F5A-ABE3BAA2B913}"/>
              </a:ext>
            </a:extLst>
          </p:cNvPr>
          <p:cNvCxnSpPr/>
          <p:nvPr/>
        </p:nvCxnSpPr>
        <p:spPr>
          <a:xfrm>
            <a:off x="9154160" y="1396746"/>
            <a:ext cx="2743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bject 2">
            <a:extLst>
              <a:ext uri="{FF2B5EF4-FFF2-40B4-BE49-F238E27FC236}">
                <a16:creationId xmlns:a16="http://schemas.microsoft.com/office/drawing/2014/main" id="{3A2A8AA4-643A-C445-8A9D-45A7F376E7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5068" y="197769"/>
            <a:ext cx="3874771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枚举过程分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析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7775" y="1073467"/>
            <a:ext cx="4951730" cy="144526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4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5" dirty="0" err="1">
                <a:latin typeface="PMingLiU"/>
                <a:cs typeface="PMingLiU"/>
              </a:rPr>
              <a:t>两层枚举</a:t>
            </a:r>
            <a:endParaRPr sz="2800" dirty="0">
              <a:latin typeface="PMingLiU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8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>
                <a:latin typeface="PMingLiU"/>
                <a:cs typeface="PMingLiU"/>
              </a:rPr>
              <a:t>第</a:t>
            </a:r>
            <a:r>
              <a:rPr sz="2400" b="1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PMingLiU"/>
                <a:cs typeface="PMingLiU"/>
              </a:rPr>
              <a:t>层：枚举位置</a:t>
            </a:r>
            <a:r>
              <a:rPr sz="2400" spc="-10" dirty="0">
                <a:latin typeface="Cambria Math"/>
                <a:cs typeface="Cambria Math"/>
              </a:rPr>
              <a:t>𝒊</a:t>
            </a:r>
            <a:r>
              <a:rPr sz="2400" spc="-10" dirty="0" err="1">
                <a:latin typeface="PMingLiU"/>
                <a:cs typeface="PMingLiU"/>
              </a:rPr>
              <a:t>作为区间开头</a:t>
            </a:r>
            <a:endParaRPr sz="2400" dirty="0">
              <a:latin typeface="PMingLiU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>
                <a:latin typeface="PMingLiU"/>
                <a:cs typeface="PMingLiU"/>
              </a:rPr>
              <a:t>第</a:t>
            </a:r>
            <a:r>
              <a:rPr sz="2400" b="1" dirty="0">
                <a:latin typeface="Times New Roman"/>
                <a:cs typeface="Times New Roman"/>
              </a:rPr>
              <a:t>2</a:t>
            </a:r>
            <a:r>
              <a:rPr sz="2400" dirty="0">
                <a:latin typeface="PMingLiU"/>
                <a:cs typeface="PMingLiU"/>
              </a:rPr>
              <a:t>层：枚举位置</a:t>
            </a:r>
            <a:r>
              <a:rPr sz="2400" dirty="0">
                <a:latin typeface="Cambria Math"/>
                <a:cs typeface="Cambria Math"/>
              </a:rPr>
              <a:t>𝒋</a:t>
            </a:r>
            <a:r>
              <a:rPr sz="2400" spc="-10" dirty="0" err="1">
                <a:latin typeface="PMingLiU"/>
                <a:cs typeface="PMingLiU"/>
              </a:rPr>
              <a:t>作为区间结尾</a:t>
            </a:r>
            <a:endParaRPr sz="2400" dirty="0">
              <a:latin typeface="PMingLiU"/>
              <a:cs typeface="PMingLiU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711070" y="3434715"/>
          <a:ext cx="6176009" cy="396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9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9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93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93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93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93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4729734" y="2965704"/>
            <a:ext cx="230504" cy="396240"/>
          </a:xfrm>
          <a:custGeom>
            <a:avLst/>
            <a:gdLst/>
            <a:ahLst/>
            <a:cxnLst/>
            <a:rect l="l" t="t" r="r" b="b"/>
            <a:pathLst>
              <a:path w="230503" h="396239">
                <a:moveTo>
                  <a:pt x="172592" y="0"/>
                </a:moveTo>
                <a:lnTo>
                  <a:pt x="57530" y="0"/>
                </a:lnTo>
                <a:lnTo>
                  <a:pt x="57530" y="281178"/>
                </a:lnTo>
                <a:lnTo>
                  <a:pt x="0" y="281178"/>
                </a:lnTo>
                <a:lnTo>
                  <a:pt x="115062" y="396240"/>
                </a:lnTo>
                <a:lnTo>
                  <a:pt x="230124" y="281178"/>
                </a:lnTo>
                <a:lnTo>
                  <a:pt x="172592" y="281178"/>
                </a:lnTo>
                <a:lnTo>
                  <a:pt x="172592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575555" y="2636266"/>
            <a:ext cx="60261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>
                <a:latin typeface="Cambria Math"/>
                <a:cs typeface="Cambria Math"/>
              </a:rPr>
              <a:t>𝒊</a:t>
            </a:r>
            <a:r>
              <a:rPr sz="2000" spc="95">
                <a:latin typeface="Cambria Math"/>
                <a:cs typeface="Cambria Math"/>
              </a:rPr>
              <a:t> </a:t>
            </a:r>
            <a:r>
              <a:rPr sz="2000">
                <a:latin typeface="Cambria Math"/>
                <a:cs typeface="Cambria Math"/>
              </a:rPr>
              <a:t>=</a:t>
            </a:r>
            <a:r>
              <a:rPr sz="2000" spc="105">
                <a:latin typeface="Cambria Math"/>
                <a:cs typeface="Cambria Math"/>
              </a:rPr>
              <a:t> </a:t>
            </a:r>
            <a:r>
              <a:rPr sz="2000" spc="-50">
                <a:latin typeface="Cambria Math"/>
                <a:cs typeface="Cambria Math"/>
              </a:rPr>
              <a:t>𝟒</a:t>
            </a:r>
            <a:endParaRPr sz="2000">
              <a:latin typeface="Cambria Math"/>
              <a:cs typeface="Cambria Math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8308847" y="902335"/>
          <a:ext cx="3326128" cy="629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2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7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08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8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43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43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435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95605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08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6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4620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83057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3057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8761476" y="1444243"/>
            <a:ext cx="94996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200">
                <a:latin typeface="Cambria Math"/>
                <a:cs typeface="Cambria Math"/>
              </a:rPr>
              <a:t>𝑫</a:t>
            </a:r>
            <a:r>
              <a:rPr sz="2400" baseline="-15625">
                <a:latin typeface="Cambria Math"/>
                <a:cs typeface="Cambria Math"/>
              </a:rPr>
              <a:t>𝟏</a:t>
            </a:r>
            <a:r>
              <a:rPr sz="2400" spc="517" baseline="-15625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=</a:t>
            </a:r>
            <a:r>
              <a:rPr sz="2200" spc="110">
                <a:latin typeface="Cambria Math"/>
                <a:cs typeface="Cambria Math"/>
              </a:rPr>
              <a:t> </a:t>
            </a:r>
            <a:r>
              <a:rPr sz="2200" spc="-50">
                <a:latin typeface="Cambria Math"/>
                <a:cs typeface="Cambria Math"/>
              </a:rPr>
              <a:t>𝟗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013952" y="2428748"/>
            <a:ext cx="94996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200">
                <a:latin typeface="Cambria Math"/>
                <a:cs typeface="Cambria Math"/>
              </a:rPr>
              <a:t>𝑫</a:t>
            </a:r>
            <a:r>
              <a:rPr sz="2400" baseline="-15625">
                <a:latin typeface="Cambria Math"/>
                <a:cs typeface="Cambria Math"/>
              </a:rPr>
              <a:t>𝟐</a:t>
            </a:r>
            <a:r>
              <a:rPr sz="2400" spc="517" baseline="-15625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=</a:t>
            </a:r>
            <a:r>
              <a:rPr sz="2200" spc="110">
                <a:latin typeface="Cambria Math"/>
                <a:cs typeface="Cambria Math"/>
              </a:rPr>
              <a:t> </a:t>
            </a:r>
            <a:r>
              <a:rPr sz="2200" spc="-50">
                <a:latin typeface="Cambria Math"/>
                <a:cs typeface="Cambria Math"/>
              </a:rPr>
              <a:t>𝟓</a:t>
            </a:r>
            <a:endParaRPr sz="2200">
              <a:latin typeface="Cambria Math"/>
              <a:cs typeface="Cambria Math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8308847" y="1885695"/>
          <a:ext cx="3333750" cy="3956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720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object 11"/>
          <p:cNvSpPr/>
          <p:nvPr/>
        </p:nvSpPr>
        <p:spPr>
          <a:xfrm>
            <a:off x="8906256" y="2266950"/>
            <a:ext cx="1057910" cy="222250"/>
          </a:xfrm>
          <a:custGeom>
            <a:avLst/>
            <a:gdLst/>
            <a:ahLst/>
            <a:cxnLst/>
            <a:rect l="l" t="t" r="r" b="b"/>
            <a:pathLst>
              <a:path w="1057909" h="222250">
                <a:moveTo>
                  <a:pt x="0" y="0"/>
                </a:moveTo>
                <a:lnTo>
                  <a:pt x="1448" y="43148"/>
                </a:lnTo>
                <a:lnTo>
                  <a:pt x="5397" y="78390"/>
                </a:lnTo>
                <a:lnTo>
                  <a:pt x="11251" y="102155"/>
                </a:lnTo>
                <a:lnTo>
                  <a:pt x="18415" y="110871"/>
                </a:lnTo>
                <a:lnTo>
                  <a:pt x="510286" y="110871"/>
                </a:lnTo>
                <a:lnTo>
                  <a:pt x="517523" y="119586"/>
                </a:lnTo>
                <a:lnTo>
                  <a:pt x="523414" y="143351"/>
                </a:lnTo>
                <a:lnTo>
                  <a:pt x="527377" y="178593"/>
                </a:lnTo>
                <a:lnTo>
                  <a:pt x="528827" y="221741"/>
                </a:lnTo>
                <a:lnTo>
                  <a:pt x="530276" y="178593"/>
                </a:lnTo>
                <a:lnTo>
                  <a:pt x="534225" y="143351"/>
                </a:lnTo>
                <a:lnTo>
                  <a:pt x="540079" y="119586"/>
                </a:lnTo>
                <a:lnTo>
                  <a:pt x="547243" y="110871"/>
                </a:lnTo>
                <a:lnTo>
                  <a:pt x="1039114" y="110871"/>
                </a:lnTo>
                <a:lnTo>
                  <a:pt x="1046351" y="102155"/>
                </a:lnTo>
                <a:lnTo>
                  <a:pt x="1052242" y="78390"/>
                </a:lnTo>
                <a:lnTo>
                  <a:pt x="1056205" y="43148"/>
                </a:lnTo>
                <a:lnTo>
                  <a:pt x="1057655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252457" y="3386073"/>
            <a:ext cx="94996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200">
                <a:latin typeface="Cambria Math"/>
                <a:cs typeface="Cambria Math"/>
              </a:rPr>
              <a:t>𝑫</a:t>
            </a:r>
            <a:r>
              <a:rPr sz="2400" baseline="-15625">
                <a:latin typeface="Cambria Math"/>
                <a:cs typeface="Cambria Math"/>
              </a:rPr>
              <a:t>𝟑</a:t>
            </a:r>
            <a:r>
              <a:rPr sz="2400" spc="517" baseline="-15625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=</a:t>
            </a:r>
            <a:r>
              <a:rPr sz="2200" spc="110">
                <a:latin typeface="Cambria Math"/>
                <a:cs typeface="Cambria Math"/>
              </a:rPr>
              <a:t> </a:t>
            </a:r>
            <a:r>
              <a:rPr sz="2200" spc="-50">
                <a:latin typeface="Cambria Math"/>
                <a:cs typeface="Cambria Math"/>
              </a:rPr>
              <a:t>𝟑</a:t>
            </a:r>
            <a:endParaRPr sz="2200">
              <a:latin typeface="Cambria Math"/>
              <a:cs typeface="Cambria Math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8308847" y="2844545"/>
          <a:ext cx="3333750" cy="3956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720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object 14"/>
          <p:cNvSpPr/>
          <p:nvPr/>
        </p:nvSpPr>
        <p:spPr>
          <a:xfrm>
            <a:off x="9435083" y="3261359"/>
            <a:ext cx="505459" cy="173355"/>
          </a:xfrm>
          <a:custGeom>
            <a:avLst/>
            <a:gdLst/>
            <a:ahLst/>
            <a:cxnLst/>
            <a:rect l="l" t="t" r="r" b="b"/>
            <a:pathLst>
              <a:path w="505459" h="173354">
                <a:moveTo>
                  <a:pt x="0" y="0"/>
                </a:moveTo>
                <a:lnTo>
                  <a:pt x="1135" y="33658"/>
                </a:lnTo>
                <a:lnTo>
                  <a:pt x="4222" y="61150"/>
                </a:lnTo>
                <a:lnTo>
                  <a:pt x="8786" y="79688"/>
                </a:lnTo>
                <a:lnTo>
                  <a:pt x="14350" y="86487"/>
                </a:lnTo>
                <a:lnTo>
                  <a:pt x="238125" y="86487"/>
                </a:lnTo>
                <a:lnTo>
                  <a:pt x="243762" y="93285"/>
                </a:lnTo>
                <a:lnTo>
                  <a:pt x="248364" y="111823"/>
                </a:lnTo>
                <a:lnTo>
                  <a:pt x="251465" y="139315"/>
                </a:lnTo>
                <a:lnTo>
                  <a:pt x="252602" y="172974"/>
                </a:lnTo>
                <a:lnTo>
                  <a:pt x="253738" y="139315"/>
                </a:lnTo>
                <a:lnTo>
                  <a:pt x="256825" y="111823"/>
                </a:lnTo>
                <a:lnTo>
                  <a:pt x="261389" y="93285"/>
                </a:lnTo>
                <a:lnTo>
                  <a:pt x="266954" y="86487"/>
                </a:lnTo>
                <a:lnTo>
                  <a:pt x="490855" y="86487"/>
                </a:lnTo>
                <a:lnTo>
                  <a:pt x="496419" y="79688"/>
                </a:lnTo>
                <a:lnTo>
                  <a:pt x="500983" y="61150"/>
                </a:lnTo>
                <a:lnTo>
                  <a:pt x="504070" y="33658"/>
                </a:lnTo>
                <a:lnTo>
                  <a:pt x="505206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7361428" y="2643377"/>
            <a:ext cx="680085" cy="5562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11430" algn="r">
              <a:lnSpc>
                <a:spcPts val="2210"/>
              </a:lnSpc>
              <a:spcBef>
                <a:spcPts val="95"/>
              </a:spcBef>
            </a:pPr>
            <a:r>
              <a:rPr sz="2000">
                <a:latin typeface="Cambria Math"/>
                <a:cs typeface="Cambria Math"/>
              </a:rPr>
              <a:t>𝒋</a:t>
            </a:r>
            <a:r>
              <a:rPr sz="2000" spc="95">
                <a:latin typeface="Cambria Math"/>
                <a:cs typeface="Cambria Math"/>
              </a:rPr>
              <a:t> </a:t>
            </a:r>
            <a:r>
              <a:rPr sz="2000">
                <a:latin typeface="Cambria Math"/>
                <a:cs typeface="Cambria Math"/>
              </a:rPr>
              <a:t>=</a:t>
            </a:r>
            <a:r>
              <a:rPr sz="2000" spc="110">
                <a:latin typeface="Cambria Math"/>
                <a:cs typeface="Cambria Math"/>
              </a:rPr>
              <a:t> </a:t>
            </a:r>
            <a:r>
              <a:rPr sz="2000" spc="-50">
                <a:latin typeface="Cambria Math"/>
                <a:cs typeface="Cambria Math"/>
              </a:rPr>
              <a:t>⋯</a:t>
            </a:r>
            <a:endParaRPr sz="2000">
              <a:latin typeface="Cambria Math"/>
              <a:cs typeface="Cambria Math"/>
            </a:endParaRPr>
          </a:p>
          <a:p>
            <a:pPr marR="5080" algn="r">
              <a:lnSpc>
                <a:spcPts val="1970"/>
              </a:lnSpc>
            </a:pPr>
            <a:r>
              <a:rPr sz="1800" spc="-50">
                <a:latin typeface="Cambria Math"/>
                <a:cs typeface="Cambria Math"/>
              </a:rPr>
              <a:t>𝑿</a:t>
            </a:r>
            <a:endParaRPr sz="1800">
              <a:latin typeface="Cambria Math"/>
              <a:cs typeface="Cambria Math"/>
            </a:endParaRPr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8308847" y="3778630"/>
          <a:ext cx="3333748" cy="6375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46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09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86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699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720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31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4620"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83057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3057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/>
          <p:nvPr/>
        </p:nvSpPr>
        <p:spPr>
          <a:xfrm>
            <a:off x="10304271" y="4339335"/>
            <a:ext cx="115887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200">
                <a:latin typeface="Cambria Math"/>
                <a:cs typeface="Cambria Math"/>
              </a:rPr>
              <a:t>𝑫</a:t>
            </a:r>
            <a:r>
              <a:rPr sz="2400" baseline="-15625">
                <a:latin typeface="Cambria Math"/>
                <a:cs typeface="Cambria Math"/>
              </a:rPr>
              <a:t>𝟒</a:t>
            </a:r>
            <a:r>
              <a:rPr sz="2400" spc="517" baseline="-15625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=</a:t>
            </a:r>
            <a:r>
              <a:rPr sz="2200" spc="120">
                <a:latin typeface="Cambria Math"/>
                <a:cs typeface="Cambria Math"/>
              </a:rPr>
              <a:t> </a:t>
            </a:r>
            <a:r>
              <a:rPr sz="2200" spc="-25">
                <a:latin typeface="Cambria Math"/>
                <a:cs typeface="Cambria Math"/>
              </a:rPr>
              <a:t>−𝟏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845043" y="3838955"/>
            <a:ext cx="184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>
                <a:latin typeface="Cambria Math"/>
                <a:cs typeface="Cambria Math"/>
              </a:rPr>
              <a:t>𝑿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517130" y="2965704"/>
            <a:ext cx="230504" cy="396240"/>
          </a:xfrm>
          <a:custGeom>
            <a:avLst/>
            <a:gdLst/>
            <a:ahLst/>
            <a:cxnLst/>
            <a:rect l="l" t="t" r="r" b="b"/>
            <a:pathLst>
              <a:path w="230503" h="396239">
                <a:moveTo>
                  <a:pt x="172593" y="0"/>
                </a:moveTo>
                <a:lnTo>
                  <a:pt x="57530" y="0"/>
                </a:lnTo>
                <a:lnTo>
                  <a:pt x="57530" y="281178"/>
                </a:lnTo>
                <a:lnTo>
                  <a:pt x="0" y="281178"/>
                </a:lnTo>
                <a:lnTo>
                  <a:pt x="115062" y="396240"/>
                </a:lnTo>
                <a:lnTo>
                  <a:pt x="230124" y="281178"/>
                </a:lnTo>
                <a:lnTo>
                  <a:pt x="172593" y="281178"/>
                </a:lnTo>
                <a:lnTo>
                  <a:pt x="172593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857743" y="1917191"/>
            <a:ext cx="184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>
                <a:latin typeface="Cambria Math"/>
                <a:cs typeface="Cambria Math"/>
              </a:rPr>
              <a:t>𝑿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857743" y="935735"/>
            <a:ext cx="184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>
                <a:latin typeface="Cambria Math"/>
                <a:cs typeface="Cambria Math"/>
              </a:rPr>
              <a:t>𝑿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59586" y="3481070"/>
            <a:ext cx="184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>
                <a:latin typeface="Cambria Math"/>
                <a:cs typeface="Cambria Math"/>
              </a:rPr>
              <a:t>𝑿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5" name="object 2">
            <a:extLst>
              <a:ext uri="{FF2B5EF4-FFF2-40B4-BE49-F238E27FC236}">
                <a16:creationId xmlns:a16="http://schemas.microsoft.com/office/drawing/2014/main" id="{BDF33636-C53D-BF49-80C4-FE46FEADB709}"/>
              </a:ext>
            </a:extLst>
          </p:cNvPr>
          <p:cNvSpPr txBox="1">
            <a:spLocks/>
          </p:cNvSpPr>
          <p:nvPr/>
        </p:nvSpPr>
        <p:spPr>
          <a:xfrm>
            <a:off x="1195068" y="197769"/>
            <a:ext cx="3874771" cy="689291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pc="-40" dirty="0">
                <a:latin typeface="SimSun" panose="02010600030101010101" pitchFamily="2" charset="-122"/>
                <a:ea typeface="SimSun" panose="02010600030101010101" pitchFamily="2" charset="-122"/>
              </a:rPr>
              <a:t>枚举过程分</a:t>
            </a:r>
            <a:r>
              <a:rPr lang="zh-CN" altLang="en-US" spc="-50" dirty="0">
                <a:latin typeface="SimSun" panose="02010600030101010101" pitchFamily="2" charset="-122"/>
                <a:ea typeface="SimSun" panose="02010600030101010101" pitchFamily="2" charset="-122"/>
              </a:rPr>
              <a:t>析</a:t>
            </a:r>
          </a:p>
        </p:txBody>
      </p:sp>
      <p:cxnSp>
        <p:nvCxnSpPr>
          <p:cNvPr id="26" name="直线连接符 25">
            <a:extLst>
              <a:ext uri="{FF2B5EF4-FFF2-40B4-BE49-F238E27FC236}">
                <a16:creationId xmlns:a16="http://schemas.microsoft.com/office/drawing/2014/main" id="{D3C3541D-B704-9F41-A532-93F983390E5C}"/>
              </a:ext>
            </a:extLst>
          </p:cNvPr>
          <p:cNvCxnSpPr/>
          <p:nvPr/>
        </p:nvCxnSpPr>
        <p:spPr>
          <a:xfrm>
            <a:off x="9154160" y="1396746"/>
            <a:ext cx="2743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7935" y="1174241"/>
            <a:ext cx="4951730" cy="144526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4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5" dirty="0" err="1">
                <a:latin typeface="PMingLiU"/>
                <a:cs typeface="PMingLiU"/>
              </a:rPr>
              <a:t>两层枚举</a:t>
            </a:r>
            <a:endParaRPr sz="2800" dirty="0">
              <a:latin typeface="PMingLiU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8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>
                <a:latin typeface="PMingLiU"/>
                <a:cs typeface="PMingLiU"/>
              </a:rPr>
              <a:t>第</a:t>
            </a:r>
            <a:r>
              <a:rPr sz="2400" b="1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PMingLiU"/>
                <a:cs typeface="PMingLiU"/>
              </a:rPr>
              <a:t>层：枚举位置</a:t>
            </a:r>
            <a:r>
              <a:rPr sz="2400" spc="-10" dirty="0">
                <a:latin typeface="Cambria Math"/>
                <a:cs typeface="Cambria Math"/>
              </a:rPr>
              <a:t>𝒊</a:t>
            </a:r>
            <a:r>
              <a:rPr sz="2400" spc="-10" dirty="0" err="1">
                <a:latin typeface="PMingLiU"/>
                <a:cs typeface="PMingLiU"/>
              </a:rPr>
              <a:t>作为区间开头</a:t>
            </a:r>
            <a:endParaRPr sz="2400" dirty="0">
              <a:latin typeface="PMingLiU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>
                <a:latin typeface="PMingLiU"/>
                <a:cs typeface="PMingLiU"/>
              </a:rPr>
              <a:t>第</a:t>
            </a:r>
            <a:r>
              <a:rPr sz="2400" b="1" dirty="0">
                <a:latin typeface="Times New Roman"/>
                <a:cs typeface="Times New Roman"/>
              </a:rPr>
              <a:t>2</a:t>
            </a:r>
            <a:r>
              <a:rPr sz="2400" dirty="0">
                <a:latin typeface="PMingLiU"/>
                <a:cs typeface="PMingLiU"/>
              </a:rPr>
              <a:t>层：枚举位置</a:t>
            </a:r>
            <a:r>
              <a:rPr sz="2400" dirty="0">
                <a:latin typeface="Cambria Math"/>
                <a:cs typeface="Cambria Math"/>
              </a:rPr>
              <a:t>𝒋</a:t>
            </a:r>
            <a:r>
              <a:rPr sz="2400" spc="-10" dirty="0" err="1">
                <a:latin typeface="PMingLiU"/>
                <a:cs typeface="PMingLiU"/>
              </a:rPr>
              <a:t>作为区间结尾</a:t>
            </a:r>
            <a:endParaRPr sz="2400" dirty="0">
              <a:latin typeface="PMingLiU"/>
              <a:cs typeface="PMingLiU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08847" y="902335"/>
          <a:ext cx="3326128" cy="629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2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7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08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8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43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43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435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95605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08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6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4620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83057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3057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313039" y="4737353"/>
          <a:ext cx="3329937" cy="3956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4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49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49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49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49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720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8308847" y="3778630"/>
          <a:ext cx="3333748" cy="6375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46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09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86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699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720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31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4620"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83057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3057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8308847" y="5719673"/>
          <a:ext cx="3333750" cy="4210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10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720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8761476" y="1444243"/>
            <a:ext cx="94996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200">
                <a:latin typeface="Cambria Math"/>
                <a:cs typeface="Cambria Math"/>
              </a:rPr>
              <a:t>𝑫</a:t>
            </a:r>
            <a:r>
              <a:rPr sz="2400" baseline="-15625">
                <a:latin typeface="Cambria Math"/>
                <a:cs typeface="Cambria Math"/>
              </a:rPr>
              <a:t>𝟏</a:t>
            </a:r>
            <a:r>
              <a:rPr sz="2400" spc="517" baseline="-15625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=</a:t>
            </a:r>
            <a:r>
              <a:rPr sz="2200" spc="110">
                <a:latin typeface="Cambria Math"/>
                <a:cs typeface="Cambria Math"/>
              </a:rPr>
              <a:t> </a:t>
            </a:r>
            <a:r>
              <a:rPr sz="2200" spc="-50">
                <a:latin typeface="Cambria Math"/>
                <a:cs typeface="Cambria Math"/>
              </a:rPr>
              <a:t>𝟗</a:t>
            </a:r>
            <a:endParaRPr sz="2200">
              <a:latin typeface="Cambria Math"/>
              <a:cs typeface="Cambria Math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8308847" y="1885695"/>
          <a:ext cx="3333750" cy="3956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720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8308847" y="2844545"/>
          <a:ext cx="3333750" cy="3956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720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object 11"/>
          <p:cNvSpPr/>
          <p:nvPr/>
        </p:nvSpPr>
        <p:spPr>
          <a:xfrm>
            <a:off x="8906256" y="2266950"/>
            <a:ext cx="1057910" cy="222250"/>
          </a:xfrm>
          <a:custGeom>
            <a:avLst/>
            <a:gdLst/>
            <a:ahLst/>
            <a:cxnLst/>
            <a:rect l="l" t="t" r="r" b="b"/>
            <a:pathLst>
              <a:path w="1057909" h="222250">
                <a:moveTo>
                  <a:pt x="0" y="0"/>
                </a:moveTo>
                <a:lnTo>
                  <a:pt x="1448" y="43148"/>
                </a:lnTo>
                <a:lnTo>
                  <a:pt x="5397" y="78390"/>
                </a:lnTo>
                <a:lnTo>
                  <a:pt x="11251" y="102155"/>
                </a:lnTo>
                <a:lnTo>
                  <a:pt x="18415" y="110871"/>
                </a:lnTo>
                <a:lnTo>
                  <a:pt x="510286" y="110871"/>
                </a:lnTo>
                <a:lnTo>
                  <a:pt x="517523" y="119586"/>
                </a:lnTo>
                <a:lnTo>
                  <a:pt x="523414" y="143351"/>
                </a:lnTo>
                <a:lnTo>
                  <a:pt x="527377" y="178593"/>
                </a:lnTo>
                <a:lnTo>
                  <a:pt x="528827" y="221741"/>
                </a:lnTo>
                <a:lnTo>
                  <a:pt x="530276" y="178593"/>
                </a:lnTo>
                <a:lnTo>
                  <a:pt x="534225" y="143351"/>
                </a:lnTo>
                <a:lnTo>
                  <a:pt x="540079" y="119586"/>
                </a:lnTo>
                <a:lnTo>
                  <a:pt x="547243" y="110871"/>
                </a:lnTo>
                <a:lnTo>
                  <a:pt x="1039114" y="110871"/>
                </a:lnTo>
                <a:lnTo>
                  <a:pt x="1046351" y="102155"/>
                </a:lnTo>
                <a:lnTo>
                  <a:pt x="1052242" y="78390"/>
                </a:lnTo>
                <a:lnTo>
                  <a:pt x="1056205" y="43148"/>
                </a:lnTo>
                <a:lnTo>
                  <a:pt x="1057655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435083" y="3261359"/>
            <a:ext cx="505459" cy="173355"/>
          </a:xfrm>
          <a:custGeom>
            <a:avLst/>
            <a:gdLst/>
            <a:ahLst/>
            <a:cxnLst/>
            <a:rect l="l" t="t" r="r" b="b"/>
            <a:pathLst>
              <a:path w="505459" h="173354">
                <a:moveTo>
                  <a:pt x="0" y="0"/>
                </a:moveTo>
                <a:lnTo>
                  <a:pt x="1135" y="33658"/>
                </a:lnTo>
                <a:lnTo>
                  <a:pt x="4222" y="61150"/>
                </a:lnTo>
                <a:lnTo>
                  <a:pt x="8786" y="79688"/>
                </a:lnTo>
                <a:lnTo>
                  <a:pt x="14350" y="86487"/>
                </a:lnTo>
                <a:lnTo>
                  <a:pt x="238125" y="86487"/>
                </a:lnTo>
                <a:lnTo>
                  <a:pt x="243762" y="93285"/>
                </a:lnTo>
                <a:lnTo>
                  <a:pt x="248364" y="111823"/>
                </a:lnTo>
                <a:lnTo>
                  <a:pt x="251465" y="139315"/>
                </a:lnTo>
                <a:lnTo>
                  <a:pt x="252602" y="172974"/>
                </a:lnTo>
                <a:lnTo>
                  <a:pt x="253738" y="139315"/>
                </a:lnTo>
                <a:lnTo>
                  <a:pt x="256825" y="111823"/>
                </a:lnTo>
                <a:lnTo>
                  <a:pt x="261389" y="93285"/>
                </a:lnTo>
                <a:lnTo>
                  <a:pt x="266954" y="86487"/>
                </a:lnTo>
                <a:lnTo>
                  <a:pt x="490855" y="86487"/>
                </a:lnTo>
                <a:lnTo>
                  <a:pt x="496419" y="79688"/>
                </a:lnTo>
                <a:lnTo>
                  <a:pt x="500983" y="61150"/>
                </a:lnTo>
                <a:lnTo>
                  <a:pt x="504070" y="33658"/>
                </a:lnTo>
                <a:lnTo>
                  <a:pt x="505206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0548366" y="5124450"/>
            <a:ext cx="1057910" cy="222250"/>
          </a:xfrm>
          <a:custGeom>
            <a:avLst/>
            <a:gdLst/>
            <a:ahLst/>
            <a:cxnLst/>
            <a:rect l="l" t="t" r="r" b="b"/>
            <a:pathLst>
              <a:path w="1057909" h="222250">
                <a:moveTo>
                  <a:pt x="0" y="0"/>
                </a:moveTo>
                <a:lnTo>
                  <a:pt x="1448" y="43148"/>
                </a:lnTo>
                <a:lnTo>
                  <a:pt x="5397" y="78390"/>
                </a:lnTo>
                <a:lnTo>
                  <a:pt x="11251" y="102155"/>
                </a:lnTo>
                <a:lnTo>
                  <a:pt x="18414" y="110871"/>
                </a:lnTo>
                <a:lnTo>
                  <a:pt x="510285" y="110871"/>
                </a:lnTo>
                <a:lnTo>
                  <a:pt x="517523" y="119586"/>
                </a:lnTo>
                <a:lnTo>
                  <a:pt x="523414" y="143351"/>
                </a:lnTo>
                <a:lnTo>
                  <a:pt x="527377" y="178593"/>
                </a:lnTo>
                <a:lnTo>
                  <a:pt x="528827" y="221741"/>
                </a:lnTo>
                <a:lnTo>
                  <a:pt x="530276" y="178593"/>
                </a:lnTo>
                <a:lnTo>
                  <a:pt x="534225" y="143351"/>
                </a:lnTo>
                <a:lnTo>
                  <a:pt x="540079" y="119586"/>
                </a:lnTo>
                <a:lnTo>
                  <a:pt x="547242" y="110871"/>
                </a:lnTo>
                <a:lnTo>
                  <a:pt x="1039113" y="110871"/>
                </a:lnTo>
                <a:lnTo>
                  <a:pt x="1046351" y="102155"/>
                </a:lnTo>
                <a:lnTo>
                  <a:pt x="1052242" y="78390"/>
                </a:lnTo>
                <a:lnTo>
                  <a:pt x="1056205" y="43148"/>
                </a:lnTo>
                <a:lnTo>
                  <a:pt x="1057655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1089385" y="6156197"/>
            <a:ext cx="505459" cy="173355"/>
          </a:xfrm>
          <a:custGeom>
            <a:avLst/>
            <a:gdLst/>
            <a:ahLst/>
            <a:cxnLst/>
            <a:rect l="l" t="t" r="r" b="b"/>
            <a:pathLst>
              <a:path w="505459" h="173354">
                <a:moveTo>
                  <a:pt x="0" y="0"/>
                </a:moveTo>
                <a:lnTo>
                  <a:pt x="1135" y="33664"/>
                </a:lnTo>
                <a:lnTo>
                  <a:pt x="4222" y="61155"/>
                </a:lnTo>
                <a:lnTo>
                  <a:pt x="8786" y="79690"/>
                </a:lnTo>
                <a:lnTo>
                  <a:pt x="14350" y="86486"/>
                </a:lnTo>
                <a:lnTo>
                  <a:pt x="238252" y="86486"/>
                </a:lnTo>
                <a:lnTo>
                  <a:pt x="243816" y="93283"/>
                </a:lnTo>
                <a:lnTo>
                  <a:pt x="248380" y="111818"/>
                </a:lnTo>
                <a:lnTo>
                  <a:pt x="251467" y="139309"/>
                </a:lnTo>
                <a:lnTo>
                  <a:pt x="252603" y="172973"/>
                </a:lnTo>
                <a:lnTo>
                  <a:pt x="253738" y="139309"/>
                </a:lnTo>
                <a:lnTo>
                  <a:pt x="256825" y="111818"/>
                </a:lnTo>
                <a:lnTo>
                  <a:pt x="261389" y="93283"/>
                </a:lnTo>
                <a:lnTo>
                  <a:pt x="266954" y="86486"/>
                </a:lnTo>
                <a:lnTo>
                  <a:pt x="490855" y="86486"/>
                </a:lnTo>
                <a:lnTo>
                  <a:pt x="496419" y="79690"/>
                </a:lnTo>
                <a:lnTo>
                  <a:pt x="500983" y="61155"/>
                </a:lnTo>
                <a:lnTo>
                  <a:pt x="504070" y="33664"/>
                </a:lnTo>
                <a:lnTo>
                  <a:pt x="505206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7756143" y="2263193"/>
            <a:ext cx="3928110" cy="4376420"/>
          </a:xfrm>
          <a:prstGeom prst="rect">
            <a:avLst/>
          </a:prstGeom>
        </p:spPr>
        <p:txBody>
          <a:bodyPr vert="horz" wrap="square" lIns="0" tIns="178435" rIns="0" bIns="0" rtlCol="0">
            <a:spAutoFit/>
          </a:bodyPr>
          <a:lstStyle/>
          <a:p>
            <a:pPr marR="454659" algn="ctr">
              <a:lnSpc>
                <a:spcPct val="100000"/>
              </a:lnSpc>
              <a:spcBef>
                <a:spcPts val="1405"/>
              </a:spcBef>
            </a:pPr>
            <a:r>
              <a:rPr sz="2200">
                <a:latin typeface="Cambria Math"/>
                <a:cs typeface="Cambria Math"/>
              </a:rPr>
              <a:t>𝑫</a:t>
            </a:r>
            <a:r>
              <a:rPr sz="2400" baseline="-15625">
                <a:latin typeface="Cambria Math"/>
                <a:cs typeface="Cambria Math"/>
              </a:rPr>
              <a:t>𝟐</a:t>
            </a:r>
            <a:r>
              <a:rPr sz="2400" spc="517" baseline="-15625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=</a:t>
            </a:r>
            <a:r>
              <a:rPr sz="2200" spc="110">
                <a:latin typeface="Cambria Math"/>
                <a:cs typeface="Cambria Math"/>
              </a:rPr>
              <a:t> </a:t>
            </a:r>
            <a:r>
              <a:rPr sz="2200" spc="-50">
                <a:latin typeface="Cambria Math"/>
                <a:cs typeface="Cambria Math"/>
              </a:rPr>
              <a:t>𝟓</a:t>
            </a:r>
            <a:endParaRPr sz="2200">
              <a:latin typeface="Cambria Math"/>
              <a:cs typeface="Cambria Math"/>
            </a:endParaRPr>
          </a:p>
          <a:p>
            <a:pPr marL="114300">
              <a:lnSpc>
                <a:spcPct val="100000"/>
              </a:lnSpc>
              <a:spcBef>
                <a:spcPts val="1065"/>
              </a:spcBef>
            </a:pPr>
            <a:r>
              <a:rPr sz="1800" spc="-50">
                <a:latin typeface="Cambria Math"/>
                <a:cs typeface="Cambria Math"/>
              </a:rPr>
              <a:t>𝑿</a:t>
            </a:r>
            <a:endParaRPr sz="18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400">
              <a:latin typeface="Cambria Math"/>
              <a:cs typeface="Cambria Math"/>
            </a:endParaRPr>
          </a:p>
          <a:p>
            <a:pPr marL="13970" algn="ctr">
              <a:lnSpc>
                <a:spcPct val="100000"/>
              </a:lnSpc>
            </a:pPr>
            <a:r>
              <a:rPr sz="2200">
                <a:latin typeface="Cambria Math"/>
                <a:cs typeface="Cambria Math"/>
              </a:rPr>
              <a:t>𝑫</a:t>
            </a:r>
            <a:r>
              <a:rPr sz="2400" baseline="-15625">
                <a:latin typeface="Cambria Math"/>
                <a:cs typeface="Cambria Math"/>
              </a:rPr>
              <a:t>𝟑</a:t>
            </a:r>
            <a:r>
              <a:rPr sz="2400" spc="517" baseline="-15625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=</a:t>
            </a:r>
            <a:r>
              <a:rPr sz="2200" spc="110">
                <a:latin typeface="Cambria Math"/>
                <a:cs typeface="Cambria Math"/>
              </a:rPr>
              <a:t> </a:t>
            </a:r>
            <a:r>
              <a:rPr sz="2200" spc="-50">
                <a:latin typeface="Cambria Math"/>
                <a:cs typeface="Cambria Math"/>
              </a:rPr>
              <a:t>𝟑</a:t>
            </a:r>
            <a:endParaRPr sz="2200">
              <a:latin typeface="Cambria Math"/>
              <a:cs typeface="Cambria Math"/>
            </a:endParaRPr>
          </a:p>
          <a:p>
            <a:pPr marL="101600">
              <a:lnSpc>
                <a:spcPct val="100000"/>
              </a:lnSpc>
              <a:spcBef>
                <a:spcPts val="925"/>
              </a:spcBef>
            </a:pPr>
            <a:r>
              <a:rPr sz="1800" spc="-50">
                <a:latin typeface="Cambria Math"/>
                <a:cs typeface="Cambria Math"/>
              </a:rPr>
              <a:t>𝑿</a:t>
            </a:r>
            <a:endParaRPr sz="18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500">
              <a:latin typeface="Cambria Math"/>
              <a:cs typeface="Cambria Math"/>
            </a:endParaRPr>
          </a:p>
          <a:p>
            <a:pPr marL="2585720">
              <a:lnSpc>
                <a:spcPct val="100000"/>
              </a:lnSpc>
              <a:spcBef>
                <a:spcPts val="5"/>
              </a:spcBef>
            </a:pPr>
            <a:r>
              <a:rPr sz="2200">
                <a:latin typeface="Cambria Math"/>
                <a:cs typeface="Cambria Math"/>
              </a:rPr>
              <a:t>𝑫</a:t>
            </a:r>
            <a:r>
              <a:rPr sz="2400" baseline="-15625">
                <a:latin typeface="Cambria Math"/>
                <a:cs typeface="Cambria Math"/>
              </a:rPr>
              <a:t>𝟒</a:t>
            </a:r>
            <a:r>
              <a:rPr sz="2400" spc="517" baseline="-15625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=</a:t>
            </a:r>
            <a:r>
              <a:rPr sz="2200" spc="120">
                <a:latin typeface="Cambria Math"/>
                <a:cs typeface="Cambria Math"/>
              </a:rPr>
              <a:t> </a:t>
            </a:r>
            <a:r>
              <a:rPr sz="2200" spc="-25">
                <a:latin typeface="Cambria Math"/>
                <a:cs typeface="Cambria Math"/>
              </a:rPr>
              <a:t>−𝟏</a:t>
            </a:r>
            <a:endParaRPr sz="2200">
              <a:latin typeface="Cambria Math"/>
              <a:cs typeface="Cambria Math"/>
            </a:endParaRPr>
          </a:p>
          <a:p>
            <a:pPr marL="114300">
              <a:lnSpc>
                <a:spcPct val="100000"/>
              </a:lnSpc>
              <a:spcBef>
                <a:spcPts val="855"/>
              </a:spcBef>
            </a:pPr>
            <a:r>
              <a:rPr sz="1800" spc="-50">
                <a:latin typeface="Cambria Math"/>
                <a:cs typeface="Cambria Math"/>
              </a:rPr>
              <a:t>𝑿</a:t>
            </a:r>
            <a:endParaRPr sz="18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450">
              <a:latin typeface="Cambria Math"/>
              <a:cs typeface="Cambria Math"/>
            </a:endParaRPr>
          </a:p>
          <a:p>
            <a:pPr marL="2898775">
              <a:lnSpc>
                <a:spcPct val="100000"/>
              </a:lnSpc>
            </a:pPr>
            <a:r>
              <a:rPr sz="2200">
                <a:latin typeface="Cambria Math"/>
                <a:cs typeface="Cambria Math"/>
              </a:rPr>
              <a:t>𝑫</a:t>
            </a:r>
            <a:r>
              <a:rPr sz="2400" baseline="-15625">
                <a:latin typeface="Cambria Math"/>
                <a:cs typeface="Cambria Math"/>
              </a:rPr>
              <a:t>𝟓</a:t>
            </a:r>
            <a:r>
              <a:rPr sz="2400" spc="517" baseline="-15625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=</a:t>
            </a:r>
            <a:r>
              <a:rPr sz="2200" spc="110">
                <a:latin typeface="Cambria Math"/>
                <a:cs typeface="Cambria Math"/>
              </a:rPr>
              <a:t> </a:t>
            </a:r>
            <a:r>
              <a:rPr sz="2200" spc="-50">
                <a:latin typeface="Cambria Math"/>
                <a:cs typeface="Cambria Math"/>
              </a:rPr>
              <a:t>𝟒</a:t>
            </a:r>
            <a:endParaRPr sz="2200">
              <a:latin typeface="Cambria Math"/>
              <a:cs typeface="Cambria Math"/>
            </a:endParaRPr>
          </a:p>
          <a:p>
            <a:pPr marL="101600">
              <a:lnSpc>
                <a:spcPct val="100000"/>
              </a:lnSpc>
              <a:spcBef>
                <a:spcPts val="1190"/>
              </a:spcBef>
            </a:pPr>
            <a:r>
              <a:rPr sz="1800" spc="-50">
                <a:latin typeface="Cambria Math"/>
                <a:cs typeface="Cambria Math"/>
              </a:rPr>
              <a:t>𝑿</a:t>
            </a:r>
            <a:endParaRPr sz="18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600">
              <a:latin typeface="Cambria Math"/>
              <a:cs typeface="Cambria Math"/>
            </a:endParaRPr>
          </a:p>
          <a:p>
            <a:pPr marL="3003550">
              <a:lnSpc>
                <a:spcPct val="100000"/>
              </a:lnSpc>
              <a:spcBef>
                <a:spcPts val="5"/>
              </a:spcBef>
            </a:pPr>
            <a:r>
              <a:rPr sz="2200">
                <a:latin typeface="Cambria Math"/>
                <a:cs typeface="Cambria Math"/>
              </a:rPr>
              <a:t>𝑫</a:t>
            </a:r>
            <a:r>
              <a:rPr sz="2400" baseline="-15625">
                <a:latin typeface="Cambria Math"/>
                <a:cs typeface="Cambria Math"/>
              </a:rPr>
              <a:t>𝟔</a:t>
            </a:r>
            <a:r>
              <a:rPr sz="2400" spc="517" baseline="-15625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=</a:t>
            </a:r>
            <a:r>
              <a:rPr sz="2200" spc="110">
                <a:latin typeface="Cambria Math"/>
                <a:cs typeface="Cambria Math"/>
              </a:rPr>
              <a:t> </a:t>
            </a:r>
            <a:r>
              <a:rPr sz="2200" spc="-50">
                <a:latin typeface="Cambria Math"/>
                <a:cs typeface="Cambria Math"/>
              </a:rPr>
              <a:t>𝟏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857743" y="935735"/>
            <a:ext cx="184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>
                <a:latin typeface="Cambria Math"/>
                <a:cs typeface="Cambria Math"/>
              </a:rPr>
              <a:t>𝑿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857743" y="1917191"/>
            <a:ext cx="184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>
                <a:latin typeface="Cambria Math"/>
                <a:cs typeface="Cambria Math"/>
              </a:rPr>
              <a:t>𝑿</a:t>
            </a:r>
            <a:endParaRPr sz="1800">
              <a:latin typeface="Cambria Math"/>
              <a:cs typeface="Cambria Math"/>
            </a:endParaRPr>
          </a:p>
        </p:txBody>
      </p:sp>
      <p:cxnSp>
        <p:nvCxnSpPr>
          <p:cNvPr id="20" name="直线连接符 19">
            <a:extLst>
              <a:ext uri="{FF2B5EF4-FFF2-40B4-BE49-F238E27FC236}">
                <a16:creationId xmlns:a16="http://schemas.microsoft.com/office/drawing/2014/main" id="{B0252ADC-7341-744A-BF84-CC45A77C2E55}"/>
              </a:ext>
            </a:extLst>
          </p:cNvPr>
          <p:cNvCxnSpPr/>
          <p:nvPr/>
        </p:nvCxnSpPr>
        <p:spPr>
          <a:xfrm>
            <a:off x="9154160" y="1396746"/>
            <a:ext cx="2743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bject 2">
            <a:extLst>
              <a:ext uri="{FF2B5EF4-FFF2-40B4-BE49-F238E27FC236}">
                <a16:creationId xmlns:a16="http://schemas.microsoft.com/office/drawing/2014/main" id="{BDE7F07C-58C4-A245-B077-54BAD383B6E5}"/>
              </a:ext>
            </a:extLst>
          </p:cNvPr>
          <p:cNvSpPr txBox="1">
            <a:spLocks/>
          </p:cNvSpPr>
          <p:nvPr/>
        </p:nvSpPr>
        <p:spPr>
          <a:xfrm>
            <a:off x="1195068" y="197769"/>
            <a:ext cx="3874771" cy="689291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pc="-40" dirty="0">
                <a:latin typeface="SimSun" panose="02010600030101010101" pitchFamily="2" charset="-122"/>
                <a:ea typeface="SimSun" panose="02010600030101010101" pitchFamily="2" charset="-122"/>
              </a:rPr>
              <a:t>枚举过程分</a:t>
            </a:r>
            <a:r>
              <a:rPr lang="zh-CN" altLang="en-US" spc="-50" dirty="0">
                <a:latin typeface="SimSun" panose="02010600030101010101" pitchFamily="2" charset="-122"/>
                <a:ea typeface="SimSun" panose="02010600030101010101" pitchFamily="2" charset="-122"/>
              </a:rPr>
              <a:t>析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2701" y="1285875"/>
            <a:ext cx="4951730" cy="144526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4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5" dirty="0" err="1">
                <a:latin typeface="PMingLiU"/>
                <a:cs typeface="PMingLiU"/>
              </a:rPr>
              <a:t>两层枚举</a:t>
            </a:r>
            <a:endParaRPr sz="2800" dirty="0">
              <a:latin typeface="PMingLiU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8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>
                <a:latin typeface="PMingLiU"/>
                <a:cs typeface="PMingLiU"/>
              </a:rPr>
              <a:t>第</a:t>
            </a:r>
            <a:r>
              <a:rPr sz="2400" b="1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PMingLiU"/>
                <a:cs typeface="PMingLiU"/>
              </a:rPr>
              <a:t>层：枚举位置</a:t>
            </a:r>
            <a:r>
              <a:rPr sz="2400" spc="-10" dirty="0">
                <a:latin typeface="Cambria Math"/>
                <a:cs typeface="Cambria Math"/>
              </a:rPr>
              <a:t>𝒊</a:t>
            </a:r>
            <a:r>
              <a:rPr sz="2400" spc="-10" dirty="0" err="1">
                <a:latin typeface="PMingLiU"/>
                <a:cs typeface="PMingLiU"/>
              </a:rPr>
              <a:t>作为区间开头</a:t>
            </a:r>
            <a:endParaRPr sz="2400" dirty="0">
              <a:latin typeface="PMingLiU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>
                <a:latin typeface="PMingLiU"/>
                <a:cs typeface="PMingLiU"/>
              </a:rPr>
              <a:t>第</a:t>
            </a:r>
            <a:r>
              <a:rPr sz="2400" b="1" dirty="0">
                <a:latin typeface="Times New Roman"/>
                <a:cs typeface="Times New Roman"/>
              </a:rPr>
              <a:t>2</a:t>
            </a:r>
            <a:r>
              <a:rPr sz="2400" dirty="0">
                <a:latin typeface="PMingLiU"/>
                <a:cs typeface="PMingLiU"/>
              </a:rPr>
              <a:t>层：枚举位置</a:t>
            </a:r>
            <a:r>
              <a:rPr sz="2400" dirty="0">
                <a:latin typeface="Cambria Math"/>
                <a:cs typeface="Cambria Math"/>
              </a:rPr>
              <a:t>𝒋</a:t>
            </a:r>
            <a:r>
              <a:rPr sz="2400" spc="-10" dirty="0" err="1">
                <a:latin typeface="PMingLiU"/>
                <a:cs typeface="PMingLiU"/>
              </a:rPr>
              <a:t>作为区间结尾</a:t>
            </a:r>
            <a:endParaRPr sz="2400" dirty="0">
              <a:latin typeface="PMingLiU"/>
              <a:cs typeface="PMingLiU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2701" y="3132328"/>
            <a:ext cx="3629025" cy="1428750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82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80365" algn="l"/>
                <a:tab pos="381000" algn="l"/>
              </a:tabLst>
            </a:pPr>
            <a:r>
              <a:rPr sz="2800" dirty="0" err="1">
                <a:solidFill>
                  <a:srgbClr val="FF0000"/>
                </a:solidFill>
                <a:latin typeface="PMingLiU"/>
                <a:cs typeface="PMingLiU"/>
              </a:rPr>
              <a:t>观察</a:t>
            </a:r>
            <a:r>
              <a:rPr sz="2800" spc="-25" dirty="0">
                <a:solidFill>
                  <a:srgbClr val="FF0000"/>
                </a:solidFill>
                <a:latin typeface="Cambria Math"/>
                <a:cs typeface="Cambria Math"/>
              </a:rPr>
              <a:t>𝑫</a:t>
            </a:r>
            <a:r>
              <a:rPr sz="3075" spc="-37" baseline="-14905" dirty="0">
                <a:solidFill>
                  <a:srgbClr val="FF0000"/>
                </a:solidFill>
                <a:latin typeface="Cambria Math"/>
                <a:cs typeface="Cambria Math"/>
              </a:rPr>
              <a:t>𝒊</a:t>
            </a:r>
            <a:endParaRPr sz="3075" baseline="-14905" dirty="0">
              <a:solidFill>
                <a:srgbClr val="FF0000"/>
              </a:solidFill>
              <a:latin typeface="Cambria Math"/>
              <a:cs typeface="Cambria Math"/>
            </a:endParaRPr>
          </a:p>
          <a:p>
            <a:pPr marL="729615" lvl="1" indent="-347980">
              <a:lnSpc>
                <a:spcPct val="100000"/>
              </a:lnSpc>
              <a:spcBef>
                <a:spcPts val="6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29615" algn="l"/>
                <a:tab pos="730250" algn="l"/>
              </a:tabLst>
            </a:pPr>
            <a:r>
              <a:rPr sz="2400" dirty="0" err="1">
                <a:latin typeface="PMingLiU"/>
                <a:cs typeface="PMingLiU"/>
              </a:rPr>
              <a:t>结尾相同</a:t>
            </a:r>
            <a:r>
              <a:rPr sz="2400" dirty="0">
                <a:latin typeface="PMingLiU"/>
                <a:cs typeface="PMingLiU"/>
              </a:rPr>
              <a:t>：</a:t>
            </a:r>
            <a:r>
              <a:rPr sz="2400" dirty="0">
                <a:latin typeface="Cambria Math"/>
                <a:cs typeface="Cambria Math"/>
              </a:rPr>
              <a:t>𝑫</a:t>
            </a:r>
            <a:r>
              <a:rPr sz="2625" baseline="-15873" dirty="0">
                <a:latin typeface="Cambria Math"/>
                <a:cs typeface="Cambria Math"/>
              </a:rPr>
              <a:t>𝟏</a:t>
            </a:r>
            <a:r>
              <a:rPr sz="2400" spc="-25" dirty="0">
                <a:latin typeface="Cambria Math"/>
                <a:cs typeface="Cambria Math"/>
              </a:rPr>
              <a:t>, </a:t>
            </a:r>
            <a:r>
              <a:rPr sz="2400" dirty="0">
                <a:latin typeface="Cambria Math"/>
                <a:cs typeface="Cambria Math"/>
              </a:rPr>
              <a:t>𝑫</a:t>
            </a:r>
            <a:r>
              <a:rPr sz="2625" baseline="-15873" dirty="0">
                <a:latin typeface="Cambria Math"/>
                <a:cs typeface="Cambria Math"/>
              </a:rPr>
              <a:t>𝟐</a:t>
            </a:r>
            <a:r>
              <a:rPr sz="2400" spc="-25" dirty="0">
                <a:latin typeface="Cambria Math"/>
                <a:cs typeface="Cambria Math"/>
              </a:rPr>
              <a:t>, 𝑫</a:t>
            </a:r>
            <a:r>
              <a:rPr sz="2625" spc="-37" baseline="-15873" dirty="0">
                <a:latin typeface="Cambria Math"/>
                <a:cs typeface="Cambria Math"/>
              </a:rPr>
              <a:t>𝟑</a:t>
            </a:r>
            <a:endParaRPr sz="2625" baseline="-15873" dirty="0">
              <a:latin typeface="Cambria Math"/>
              <a:cs typeface="Cambria Math"/>
            </a:endParaRPr>
          </a:p>
          <a:p>
            <a:pPr marL="7296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29615" algn="l"/>
                <a:tab pos="730250" algn="l"/>
              </a:tabLst>
            </a:pPr>
            <a:r>
              <a:rPr sz="2400" dirty="0" err="1">
                <a:latin typeface="PMingLiU"/>
                <a:cs typeface="PMingLiU"/>
              </a:rPr>
              <a:t>结尾不同</a:t>
            </a:r>
            <a:r>
              <a:rPr sz="2400" dirty="0">
                <a:latin typeface="PMingLiU"/>
                <a:cs typeface="PMingLiU"/>
              </a:rPr>
              <a:t>：</a:t>
            </a:r>
            <a:r>
              <a:rPr sz="2400" dirty="0">
                <a:latin typeface="Cambria Math"/>
                <a:cs typeface="Cambria Math"/>
              </a:rPr>
              <a:t>𝑫</a:t>
            </a:r>
            <a:r>
              <a:rPr sz="2625" baseline="-15873" dirty="0">
                <a:latin typeface="Cambria Math"/>
                <a:cs typeface="Cambria Math"/>
              </a:rPr>
              <a:t>𝟑</a:t>
            </a:r>
            <a:r>
              <a:rPr sz="2400" spc="-20" dirty="0">
                <a:latin typeface="Cambria Math"/>
                <a:cs typeface="Cambria Math"/>
              </a:rPr>
              <a:t>, </a:t>
            </a:r>
            <a:r>
              <a:rPr sz="2400" spc="-25" dirty="0">
                <a:latin typeface="Cambria Math"/>
                <a:cs typeface="Cambria Math"/>
              </a:rPr>
              <a:t>𝑫</a:t>
            </a:r>
            <a:r>
              <a:rPr sz="2625" spc="-37" baseline="-15873" dirty="0">
                <a:latin typeface="Cambria Math"/>
                <a:cs typeface="Cambria Math"/>
              </a:rPr>
              <a:t>𝟒</a:t>
            </a:r>
            <a:endParaRPr sz="2625" baseline="-15873" dirty="0">
              <a:latin typeface="Cambria Math"/>
              <a:cs typeface="Cambria Math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289797" y="895985"/>
            <a:ext cx="3383279" cy="434340"/>
            <a:chOff x="8289797" y="895985"/>
            <a:chExt cx="3383279" cy="434340"/>
          </a:xfrm>
        </p:grpSpPr>
        <p:sp>
          <p:nvSpPr>
            <p:cNvPr id="6" name="object 6"/>
            <p:cNvSpPr/>
            <p:nvPr/>
          </p:nvSpPr>
          <p:spPr>
            <a:xfrm>
              <a:off x="8315198" y="908684"/>
              <a:ext cx="1666875" cy="396240"/>
            </a:xfrm>
            <a:custGeom>
              <a:avLst/>
              <a:gdLst/>
              <a:ahLst/>
              <a:cxnLst/>
              <a:rect l="l" t="t" r="r" b="b"/>
              <a:pathLst>
                <a:path w="1666875" h="396240">
                  <a:moveTo>
                    <a:pt x="1110805" y="0"/>
                  </a:moveTo>
                  <a:lnTo>
                    <a:pt x="555434" y="0"/>
                  </a:lnTo>
                  <a:lnTo>
                    <a:pt x="0" y="0"/>
                  </a:lnTo>
                  <a:lnTo>
                    <a:pt x="0" y="396240"/>
                  </a:lnTo>
                  <a:lnTo>
                    <a:pt x="555371" y="396240"/>
                  </a:lnTo>
                  <a:lnTo>
                    <a:pt x="1110805" y="396240"/>
                  </a:lnTo>
                  <a:lnTo>
                    <a:pt x="1110805" y="0"/>
                  </a:lnTo>
                  <a:close/>
                </a:path>
                <a:path w="1666875" h="396240">
                  <a:moveTo>
                    <a:pt x="1666303" y="0"/>
                  </a:moveTo>
                  <a:lnTo>
                    <a:pt x="1110869" y="0"/>
                  </a:lnTo>
                  <a:lnTo>
                    <a:pt x="1110869" y="396240"/>
                  </a:lnTo>
                  <a:lnTo>
                    <a:pt x="1666303" y="396240"/>
                  </a:lnTo>
                  <a:lnTo>
                    <a:pt x="1666303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308847" y="902335"/>
              <a:ext cx="3345179" cy="421640"/>
            </a:xfrm>
            <a:custGeom>
              <a:avLst/>
              <a:gdLst/>
              <a:ahLst/>
              <a:cxnLst/>
              <a:rect l="l" t="t" r="r" b="b"/>
              <a:pathLst>
                <a:path w="3345179" h="421640">
                  <a:moveTo>
                    <a:pt x="561721" y="0"/>
                  </a:moveTo>
                  <a:lnTo>
                    <a:pt x="561721" y="421639"/>
                  </a:lnTo>
                </a:path>
                <a:path w="3345179" h="421640">
                  <a:moveTo>
                    <a:pt x="1117219" y="0"/>
                  </a:moveTo>
                  <a:lnTo>
                    <a:pt x="1117219" y="421639"/>
                  </a:lnTo>
                </a:path>
                <a:path w="3345179" h="421640">
                  <a:moveTo>
                    <a:pt x="1672590" y="0"/>
                  </a:moveTo>
                  <a:lnTo>
                    <a:pt x="1672590" y="421639"/>
                  </a:lnTo>
                </a:path>
                <a:path w="3345179" h="421640">
                  <a:moveTo>
                    <a:pt x="6350" y="0"/>
                  </a:moveTo>
                  <a:lnTo>
                    <a:pt x="6350" y="421639"/>
                  </a:lnTo>
                </a:path>
                <a:path w="3345179" h="421640">
                  <a:moveTo>
                    <a:pt x="2227960" y="0"/>
                  </a:moveTo>
                  <a:lnTo>
                    <a:pt x="2227960" y="421639"/>
                  </a:lnTo>
                </a:path>
                <a:path w="3345179" h="421640">
                  <a:moveTo>
                    <a:pt x="2783458" y="0"/>
                  </a:moveTo>
                  <a:lnTo>
                    <a:pt x="2783458" y="421639"/>
                  </a:lnTo>
                </a:path>
                <a:path w="3345179" h="421640">
                  <a:moveTo>
                    <a:pt x="3338829" y="0"/>
                  </a:moveTo>
                  <a:lnTo>
                    <a:pt x="3338829" y="421639"/>
                  </a:lnTo>
                </a:path>
                <a:path w="3345179" h="421640">
                  <a:moveTo>
                    <a:pt x="0" y="6350"/>
                  </a:moveTo>
                  <a:lnTo>
                    <a:pt x="3345179" y="635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308847" y="1304925"/>
              <a:ext cx="3345179" cy="0"/>
            </a:xfrm>
            <a:custGeom>
              <a:avLst/>
              <a:gdLst/>
              <a:ahLst/>
              <a:cxnLst/>
              <a:rect l="l" t="t" r="r" b="b"/>
              <a:pathLst>
                <a:path w="3345179">
                  <a:moveTo>
                    <a:pt x="0" y="0"/>
                  </a:moveTo>
                  <a:lnTo>
                    <a:pt x="3345179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0000488" y="915035"/>
            <a:ext cx="530225" cy="37084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0480" rIns="0" bIns="0" rtlCol="0">
            <a:spAutoFit/>
          </a:bodyPr>
          <a:lstStyle/>
          <a:p>
            <a:pPr marL="153035">
              <a:lnSpc>
                <a:spcPct val="100000"/>
              </a:lnSpc>
              <a:spcBef>
                <a:spcPts val="240"/>
              </a:spcBef>
            </a:pPr>
            <a:r>
              <a:rPr sz="2000" b="1" spc="-1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sz="2000" b="1" spc="-5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543158" y="915035"/>
            <a:ext cx="542925" cy="37084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048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240"/>
              </a:spcBef>
            </a:pPr>
            <a:r>
              <a:rPr sz="2000" b="1" spc="-5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098656" y="915035"/>
            <a:ext cx="542925" cy="37084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048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240"/>
              </a:spcBef>
            </a:pPr>
            <a:r>
              <a:rPr sz="2000" b="1" spc="-5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293989" y="4743703"/>
            <a:ext cx="3379470" cy="434340"/>
            <a:chOff x="8293989" y="4743703"/>
            <a:chExt cx="3379470" cy="434340"/>
          </a:xfrm>
        </p:grpSpPr>
        <p:sp>
          <p:nvSpPr>
            <p:cNvPr id="13" name="object 13"/>
            <p:cNvSpPr/>
            <p:nvPr/>
          </p:nvSpPr>
          <p:spPr>
            <a:xfrm>
              <a:off x="10538206" y="4756403"/>
              <a:ext cx="1109980" cy="396240"/>
            </a:xfrm>
            <a:custGeom>
              <a:avLst/>
              <a:gdLst/>
              <a:ahLst/>
              <a:cxnLst/>
              <a:rect l="l" t="t" r="r" b="b"/>
              <a:pathLst>
                <a:path w="1109979" h="396239">
                  <a:moveTo>
                    <a:pt x="554723" y="0"/>
                  </a:moveTo>
                  <a:lnTo>
                    <a:pt x="0" y="0"/>
                  </a:lnTo>
                  <a:lnTo>
                    <a:pt x="0" y="396240"/>
                  </a:lnTo>
                  <a:lnTo>
                    <a:pt x="554723" y="396240"/>
                  </a:lnTo>
                  <a:lnTo>
                    <a:pt x="554723" y="0"/>
                  </a:lnTo>
                  <a:close/>
                </a:path>
                <a:path w="1109979" h="396239">
                  <a:moveTo>
                    <a:pt x="1109472" y="0"/>
                  </a:moveTo>
                  <a:lnTo>
                    <a:pt x="554736" y="0"/>
                  </a:lnTo>
                  <a:lnTo>
                    <a:pt x="554736" y="396240"/>
                  </a:lnTo>
                  <a:lnTo>
                    <a:pt x="1109472" y="396240"/>
                  </a:lnTo>
                  <a:lnTo>
                    <a:pt x="1109472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313039" y="4750053"/>
              <a:ext cx="3341370" cy="421640"/>
            </a:xfrm>
            <a:custGeom>
              <a:avLst/>
              <a:gdLst/>
              <a:ahLst/>
              <a:cxnLst/>
              <a:rect l="l" t="t" r="r" b="b"/>
              <a:pathLst>
                <a:path w="3341370" h="421639">
                  <a:moveTo>
                    <a:pt x="2225166" y="0"/>
                  </a:moveTo>
                  <a:lnTo>
                    <a:pt x="2225166" y="421640"/>
                  </a:lnTo>
                </a:path>
                <a:path w="3341370" h="421639">
                  <a:moveTo>
                    <a:pt x="2779903" y="0"/>
                  </a:moveTo>
                  <a:lnTo>
                    <a:pt x="2779903" y="421640"/>
                  </a:lnTo>
                </a:path>
                <a:path w="3341370" h="421639">
                  <a:moveTo>
                    <a:pt x="3334638" y="0"/>
                  </a:moveTo>
                  <a:lnTo>
                    <a:pt x="3334638" y="421640"/>
                  </a:lnTo>
                </a:path>
                <a:path w="3341370" h="421639">
                  <a:moveTo>
                    <a:pt x="561085" y="0"/>
                  </a:moveTo>
                  <a:lnTo>
                    <a:pt x="561085" y="421640"/>
                  </a:lnTo>
                </a:path>
                <a:path w="3341370" h="421639">
                  <a:moveTo>
                    <a:pt x="1115821" y="0"/>
                  </a:moveTo>
                  <a:lnTo>
                    <a:pt x="1115821" y="421640"/>
                  </a:lnTo>
                </a:path>
                <a:path w="3341370" h="421639">
                  <a:moveTo>
                    <a:pt x="1670430" y="0"/>
                  </a:moveTo>
                  <a:lnTo>
                    <a:pt x="1670430" y="421640"/>
                  </a:lnTo>
                </a:path>
                <a:path w="3341370" h="421639">
                  <a:moveTo>
                    <a:pt x="6350" y="0"/>
                  </a:moveTo>
                  <a:lnTo>
                    <a:pt x="6350" y="421640"/>
                  </a:lnTo>
                </a:path>
                <a:path w="3341370" h="421639">
                  <a:moveTo>
                    <a:pt x="0" y="6350"/>
                  </a:moveTo>
                  <a:lnTo>
                    <a:pt x="3340988" y="635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313039" y="5152643"/>
              <a:ext cx="3341370" cy="0"/>
            </a:xfrm>
            <a:custGeom>
              <a:avLst/>
              <a:gdLst/>
              <a:ahLst/>
              <a:cxnLst/>
              <a:rect l="l" t="t" r="r" b="b"/>
              <a:pathLst>
                <a:path w="3341370">
                  <a:moveTo>
                    <a:pt x="0" y="0"/>
                  </a:moveTo>
                  <a:lnTo>
                    <a:pt x="3340988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8322944" y="4762753"/>
            <a:ext cx="542925" cy="37084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1115" rIns="0" bIns="0" rtlCol="0">
            <a:spAutoFit/>
          </a:bodyPr>
          <a:lstStyle/>
          <a:p>
            <a:pPr marL="5080" algn="ctr">
              <a:lnSpc>
                <a:spcPct val="100000"/>
              </a:lnSpc>
              <a:spcBef>
                <a:spcPts val="245"/>
              </a:spcBef>
            </a:pPr>
            <a:r>
              <a:rPr sz="2000" b="1" spc="-5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878104" y="4762753"/>
            <a:ext cx="542925" cy="37084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1115" rIns="0" bIns="0" rtlCol="0">
            <a:spAutoFit/>
          </a:bodyPr>
          <a:lstStyle/>
          <a:p>
            <a:pPr marL="3810" algn="ctr">
              <a:lnSpc>
                <a:spcPct val="100000"/>
              </a:lnSpc>
              <a:spcBef>
                <a:spcPts val="245"/>
              </a:spcBef>
            </a:pPr>
            <a:r>
              <a:rPr sz="2000" b="1" spc="-5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433348" y="4762753"/>
            <a:ext cx="542925" cy="37084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1115" rIns="0" bIns="0" rtlCol="0">
            <a:spAutoFit/>
          </a:bodyPr>
          <a:lstStyle/>
          <a:p>
            <a:pPr marL="3810" algn="ctr">
              <a:lnSpc>
                <a:spcPct val="100000"/>
              </a:lnSpc>
              <a:spcBef>
                <a:spcPts val="245"/>
              </a:spcBef>
            </a:pPr>
            <a:r>
              <a:rPr sz="2000" b="1" spc="-5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988465" y="4762753"/>
            <a:ext cx="542925" cy="37084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111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245"/>
              </a:spcBef>
            </a:pPr>
            <a:r>
              <a:rPr sz="2000" b="1" spc="-1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sz="2000" b="1" spc="-5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8289797" y="3772280"/>
            <a:ext cx="3383279" cy="434340"/>
            <a:chOff x="8289797" y="3772280"/>
            <a:chExt cx="3383279" cy="434340"/>
          </a:xfrm>
        </p:grpSpPr>
        <p:sp>
          <p:nvSpPr>
            <p:cNvPr id="21" name="object 21"/>
            <p:cNvSpPr/>
            <p:nvPr/>
          </p:nvSpPr>
          <p:spPr>
            <a:xfrm>
              <a:off x="9981438" y="3784980"/>
              <a:ext cx="1666875" cy="396240"/>
            </a:xfrm>
            <a:custGeom>
              <a:avLst/>
              <a:gdLst/>
              <a:ahLst/>
              <a:cxnLst/>
              <a:rect l="l" t="t" r="r" b="b"/>
              <a:pathLst>
                <a:path w="1666875" h="396239">
                  <a:moveTo>
                    <a:pt x="1110805" y="0"/>
                  </a:moveTo>
                  <a:lnTo>
                    <a:pt x="555434" y="0"/>
                  </a:lnTo>
                  <a:lnTo>
                    <a:pt x="0" y="0"/>
                  </a:lnTo>
                  <a:lnTo>
                    <a:pt x="0" y="396240"/>
                  </a:lnTo>
                  <a:lnTo>
                    <a:pt x="555371" y="396240"/>
                  </a:lnTo>
                  <a:lnTo>
                    <a:pt x="1110805" y="396240"/>
                  </a:lnTo>
                  <a:lnTo>
                    <a:pt x="1110805" y="0"/>
                  </a:lnTo>
                  <a:close/>
                </a:path>
                <a:path w="1666875" h="396239">
                  <a:moveTo>
                    <a:pt x="1666303" y="0"/>
                  </a:moveTo>
                  <a:lnTo>
                    <a:pt x="1110869" y="0"/>
                  </a:lnTo>
                  <a:lnTo>
                    <a:pt x="1110869" y="396240"/>
                  </a:lnTo>
                  <a:lnTo>
                    <a:pt x="1666303" y="396240"/>
                  </a:lnTo>
                  <a:lnTo>
                    <a:pt x="1666303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308847" y="3778630"/>
              <a:ext cx="3345179" cy="421640"/>
            </a:xfrm>
            <a:custGeom>
              <a:avLst/>
              <a:gdLst/>
              <a:ahLst/>
              <a:cxnLst/>
              <a:rect l="l" t="t" r="r" b="b"/>
              <a:pathLst>
                <a:path w="3345179" h="421639">
                  <a:moveTo>
                    <a:pt x="1672590" y="0"/>
                  </a:moveTo>
                  <a:lnTo>
                    <a:pt x="1672590" y="421640"/>
                  </a:lnTo>
                </a:path>
                <a:path w="3345179" h="421639">
                  <a:moveTo>
                    <a:pt x="2227960" y="0"/>
                  </a:moveTo>
                  <a:lnTo>
                    <a:pt x="2227960" y="421640"/>
                  </a:lnTo>
                </a:path>
                <a:path w="3345179" h="421639">
                  <a:moveTo>
                    <a:pt x="2783458" y="0"/>
                  </a:moveTo>
                  <a:lnTo>
                    <a:pt x="2783458" y="421640"/>
                  </a:lnTo>
                </a:path>
                <a:path w="3345179" h="421639">
                  <a:moveTo>
                    <a:pt x="3338829" y="0"/>
                  </a:moveTo>
                  <a:lnTo>
                    <a:pt x="3338829" y="421640"/>
                  </a:lnTo>
                </a:path>
                <a:path w="3345179" h="421639">
                  <a:moveTo>
                    <a:pt x="561721" y="0"/>
                  </a:moveTo>
                  <a:lnTo>
                    <a:pt x="561721" y="421640"/>
                  </a:lnTo>
                </a:path>
                <a:path w="3345179" h="421639">
                  <a:moveTo>
                    <a:pt x="1117219" y="0"/>
                  </a:moveTo>
                  <a:lnTo>
                    <a:pt x="1117219" y="421640"/>
                  </a:lnTo>
                </a:path>
                <a:path w="3345179" h="421639">
                  <a:moveTo>
                    <a:pt x="6350" y="0"/>
                  </a:moveTo>
                  <a:lnTo>
                    <a:pt x="6350" y="421640"/>
                  </a:lnTo>
                </a:path>
                <a:path w="3345179" h="421639">
                  <a:moveTo>
                    <a:pt x="0" y="6350"/>
                  </a:moveTo>
                  <a:lnTo>
                    <a:pt x="3345179" y="635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308847" y="4181220"/>
              <a:ext cx="3345179" cy="0"/>
            </a:xfrm>
            <a:custGeom>
              <a:avLst/>
              <a:gdLst/>
              <a:ahLst/>
              <a:cxnLst/>
              <a:rect l="l" t="t" r="r" b="b"/>
              <a:pathLst>
                <a:path w="3345179">
                  <a:moveTo>
                    <a:pt x="0" y="0"/>
                  </a:moveTo>
                  <a:lnTo>
                    <a:pt x="3345179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8322944" y="3791330"/>
            <a:ext cx="542925" cy="37084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111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44"/>
              </a:spcBef>
            </a:pPr>
            <a:r>
              <a:rPr sz="2000" b="1" spc="-5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878104" y="3791330"/>
            <a:ext cx="542925" cy="37084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111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44"/>
              </a:spcBef>
            </a:pPr>
            <a:r>
              <a:rPr sz="2000" b="1" spc="-5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433348" y="3791330"/>
            <a:ext cx="523240" cy="37084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1114" rIns="0" bIns="0" rtlCol="0">
            <a:spAutoFit/>
          </a:bodyPr>
          <a:lstStyle/>
          <a:p>
            <a:pPr marL="18415" algn="ctr">
              <a:lnSpc>
                <a:spcPct val="100000"/>
              </a:lnSpc>
              <a:spcBef>
                <a:spcPts val="244"/>
              </a:spcBef>
            </a:pPr>
            <a:r>
              <a:rPr sz="2000" b="1" spc="-5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8289797" y="5726023"/>
            <a:ext cx="3383279" cy="459740"/>
            <a:chOff x="8289797" y="5726023"/>
            <a:chExt cx="3383279" cy="459740"/>
          </a:xfrm>
        </p:grpSpPr>
        <p:sp>
          <p:nvSpPr>
            <p:cNvPr id="28" name="object 28"/>
            <p:cNvSpPr/>
            <p:nvPr/>
          </p:nvSpPr>
          <p:spPr>
            <a:xfrm>
              <a:off x="8308847" y="5732373"/>
              <a:ext cx="3345179" cy="447040"/>
            </a:xfrm>
            <a:custGeom>
              <a:avLst/>
              <a:gdLst/>
              <a:ahLst/>
              <a:cxnLst/>
              <a:rect l="l" t="t" r="r" b="b"/>
              <a:pathLst>
                <a:path w="3345179" h="447039">
                  <a:moveTo>
                    <a:pt x="561721" y="0"/>
                  </a:moveTo>
                  <a:lnTo>
                    <a:pt x="561721" y="446570"/>
                  </a:lnTo>
                </a:path>
                <a:path w="3345179" h="447039">
                  <a:moveTo>
                    <a:pt x="1117219" y="0"/>
                  </a:moveTo>
                  <a:lnTo>
                    <a:pt x="1117219" y="446570"/>
                  </a:lnTo>
                </a:path>
                <a:path w="3345179" h="447039">
                  <a:moveTo>
                    <a:pt x="1672590" y="0"/>
                  </a:moveTo>
                  <a:lnTo>
                    <a:pt x="1672590" y="446570"/>
                  </a:lnTo>
                </a:path>
                <a:path w="3345179" h="447039">
                  <a:moveTo>
                    <a:pt x="2227960" y="0"/>
                  </a:moveTo>
                  <a:lnTo>
                    <a:pt x="2227960" y="446570"/>
                  </a:lnTo>
                </a:path>
                <a:path w="3345179" h="447039">
                  <a:moveTo>
                    <a:pt x="2783458" y="0"/>
                  </a:moveTo>
                  <a:lnTo>
                    <a:pt x="2783458" y="446570"/>
                  </a:lnTo>
                </a:path>
                <a:path w="3345179" h="447039">
                  <a:moveTo>
                    <a:pt x="6350" y="0"/>
                  </a:moveTo>
                  <a:lnTo>
                    <a:pt x="6350" y="446570"/>
                  </a:lnTo>
                </a:path>
                <a:path w="3345179" h="447039">
                  <a:moveTo>
                    <a:pt x="3338829" y="0"/>
                  </a:moveTo>
                  <a:lnTo>
                    <a:pt x="3338829" y="446570"/>
                  </a:lnTo>
                </a:path>
                <a:path w="3345179" h="447039">
                  <a:moveTo>
                    <a:pt x="0" y="6350"/>
                  </a:moveTo>
                  <a:lnTo>
                    <a:pt x="3345179" y="635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308847" y="6159893"/>
              <a:ext cx="3345179" cy="0"/>
            </a:xfrm>
            <a:custGeom>
              <a:avLst/>
              <a:gdLst/>
              <a:ahLst/>
              <a:cxnLst/>
              <a:rect l="l" t="t" r="r" b="b"/>
              <a:pathLst>
                <a:path w="3345179">
                  <a:moveTo>
                    <a:pt x="0" y="0"/>
                  </a:moveTo>
                  <a:lnTo>
                    <a:pt x="3345179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8322944" y="5745073"/>
            <a:ext cx="542925" cy="39624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11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45"/>
              </a:spcBef>
            </a:pPr>
            <a:r>
              <a:rPr sz="2000" b="1" spc="-5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878104" y="5745073"/>
            <a:ext cx="542925" cy="39624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11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45"/>
              </a:spcBef>
            </a:pPr>
            <a:r>
              <a:rPr sz="2000" b="1" spc="-5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433348" y="5745073"/>
            <a:ext cx="542925" cy="39624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11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45"/>
              </a:spcBef>
            </a:pPr>
            <a:r>
              <a:rPr sz="2000" b="1" spc="-5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988465" y="5745073"/>
            <a:ext cx="542925" cy="39624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1115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245"/>
              </a:spcBef>
            </a:pPr>
            <a:r>
              <a:rPr sz="2000" b="1" spc="-1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sz="2000" b="1" spc="-5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0543624" y="5745073"/>
            <a:ext cx="542925" cy="39624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11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45"/>
              </a:spcBef>
            </a:pPr>
            <a:r>
              <a:rPr sz="2000" b="1" spc="-5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1098869" y="5745073"/>
            <a:ext cx="499109" cy="39624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1115" rIns="0" bIns="0" rtlCol="0">
            <a:spAutoFit/>
          </a:bodyPr>
          <a:lstStyle/>
          <a:p>
            <a:pPr marL="207645">
              <a:lnSpc>
                <a:spcPct val="100000"/>
              </a:lnSpc>
              <a:spcBef>
                <a:spcPts val="245"/>
              </a:spcBef>
            </a:pPr>
            <a:r>
              <a:rPr sz="2000" b="1" spc="-5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8370569" y="1270253"/>
            <a:ext cx="1569720" cy="269875"/>
          </a:xfrm>
          <a:custGeom>
            <a:avLst/>
            <a:gdLst/>
            <a:ahLst/>
            <a:cxnLst/>
            <a:rect l="l" t="t" r="r" b="b"/>
            <a:pathLst>
              <a:path w="1569720" h="269875">
                <a:moveTo>
                  <a:pt x="0" y="0"/>
                </a:moveTo>
                <a:lnTo>
                  <a:pt x="1762" y="52524"/>
                </a:lnTo>
                <a:lnTo>
                  <a:pt x="6572" y="95392"/>
                </a:lnTo>
                <a:lnTo>
                  <a:pt x="13715" y="124283"/>
                </a:lnTo>
                <a:lnTo>
                  <a:pt x="22478" y="134874"/>
                </a:lnTo>
                <a:lnTo>
                  <a:pt x="775207" y="134874"/>
                </a:lnTo>
                <a:lnTo>
                  <a:pt x="783971" y="145464"/>
                </a:lnTo>
                <a:lnTo>
                  <a:pt x="791114" y="174355"/>
                </a:lnTo>
                <a:lnTo>
                  <a:pt x="795924" y="217223"/>
                </a:lnTo>
                <a:lnTo>
                  <a:pt x="797686" y="269748"/>
                </a:lnTo>
                <a:lnTo>
                  <a:pt x="799449" y="217223"/>
                </a:lnTo>
                <a:lnTo>
                  <a:pt x="804259" y="174355"/>
                </a:lnTo>
                <a:lnTo>
                  <a:pt x="811402" y="145464"/>
                </a:lnTo>
                <a:lnTo>
                  <a:pt x="820165" y="134874"/>
                </a:lnTo>
                <a:lnTo>
                  <a:pt x="1547240" y="134874"/>
                </a:lnTo>
                <a:lnTo>
                  <a:pt x="1556003" y="124283"/>
                </a:lnTo>
                <a:lnTo>
                  <a:pt x="1563147" y="95392"/>
                </a:lnTo>
                <a:lnTo>
                  <a:pt x="1567957" y="52524"/>
                </a:lnTo>
                <a:lnTo>
                  <a:pt x="156972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8296147" y="933450"/>
            <a:ext cx="1704339" cy="8718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3045">
              <a:lnSpc>
                <a:spcPct val="100000"/>
              </a:lnSpc>
              <a:spcBef>
                <a:spcPts val="95"/>
              </a:spcBef>
              <a:tabLst>
                <a:tab pos="788670" algn="l"/>
                <a:tab pos="1344295" algn="l"/>
              </a:tabLst>
            </a:pPr>
            <a:r>
              <a:rPr sz="2000" b="1" spc="-5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r>
              <a:rPr sz="20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b="1" spc="-5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sz="20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b="1" spc="-5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000">
              <a:latin typeface="Times New Roman"/>
              <a:cs typeface="Times New Roman"/>
            </a:endParaRPr>
          </a:p>
          <a:p>
            <a:pPr marL="502920">
              <a:lnSpc>
                <a:spcPct val="100000"/>
              </a:lnSpc>
              <a:spcBef>
                <a:spcPts val="1625"/>
              </a:spcBef>
            </a:pPr>
            <a:r>
              <a:rPr sz="2200">
                <a:latin typeface="Cambria Math"/>
                <a:cs typeface="Cambria Math"/>
              </a:rPr>
              <a:t>𝑫</a:t>
            </a:r>
            <a:r>
              <a:rPr sz="2400" baseline="-15625">
                <a:latin typeface="Cambria Math"/>
                <a:cs typeface="Cambria Math"/>
              </a:rPr>
              <a:t>𝟏</a:t>
            </a:r>
            <a:r>
              <a:rPr sz="2400" spc="517" baseline="-15625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=</a:t>
            </a:r>
            <a:r>
              <a:rPr sz="2200" spc="110">
                <a:latin typeface="Cambria Math"/>
                <a:cs typeface="Cambria Math"/>
              </a:rPr>
              <a:t> </a:t>
            </a:r>
            <a:r>
              <a:rPr sz="2200" spc="-50">
                <a:latin typeface="Cambria Math"/>
                <a:cs typeface="Cambria Math"/>
              </a:rPr>
              <a:t>𝟗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9982623" y="3810000"/>
            <a:ext cx="1640839" cy="8909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1450">
              <a:lnSpc>
                <a:spcPct val="100000"/>
              </a:lnSpc>
              <a:spcBef>
                <a:spcPts val="95"/>
              </a:spcBef>
              <a:tabLst>
                <a:tab pos="768350" algn="l"/>
                <a:tab pos="1323975" algn="l"/>
              </a:tabLst>
            </a:pPr>
            <a:r>
              <a:rPr sz="2000" b="1" spc="-1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sz="2000" b="1" spc="-5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r>
              <a:rPr sz="20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b="1" spc="-5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r>
              <a:rPr sz="20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b="1" spc="-5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  <a:p>
            <a:pPr marL="359410">
              <a:lnSpc>
                <a:spcPct val="100000"/>
              </a:lnSpc>
              <a:spcBef>
                <a:spcPts val="1775"/>
              </a:spcBef>
            </a:pPr>
            <a:r>
              <a:rPr sz="2200">
                <a:latin typeface="Cambria Math"/>
                <a:cs typeface="Cambria Math"/>
              </a:rPr>
              <a:t>𝑫</a:t>
            </a:r>
            <a:r>
              <a:rPr sz="2400" baseline="-15625">
                <a:latin typeface="Cambria Math"/>
                <a:cs typeface="Cambria Math"/>
              </a:rPr>
              <a:t>𝟒</a:t>
            </a:r>
            <a:r>
              <a:rPr sz="2400" spc="517" baseline="-15625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=</a:t>
            </a:r>
            <a:r>
              <a:rPr sz="2200" spc="120">
                <a:latin typeface="Cambria Math"/>
                <a:cs typeface="Cambria Math"/>
              </a:rPr>
              <a:t> </a:t>
            </a:r>
            <a:r>
              <a:rPr sz="2200" spc="-25">
                <a:latin typeface="Cambria Math"/>
                <a:cs typeface="Cambria Math"/>
              </a:rPr>
              <a:t>−𝟏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9252457" y="3386073"/>
            <a:ext cx="94996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200">
                <a:latin typeface="Cambria Math"/>
                <a:cs typeface="Cambria Math"/>
              </a:rPr>
              <a:t>𝑫</a:t>
            </a:r>
            <a:r>
              <a:rPr sz="2400" baseline="-15625">
                <a:latin typeface="Cambria Math"/>
                <a:cs typeface="Cambria Math"/>
              </a:rPr>
              <a:t>𝟑</a:t>
            </a:r>
            <a:r>
              <a:rPr sz="2400" spc="517" baseline="-15625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=</a:t>
            </a:r>
            <a:r>
              <a:rPr sz="2200" spc="110">
                <a:latin typeface="Cambria Math"/>
                <a:cs typeface="Cambria Math"/>
              </a:rPr>
              <a:t> </a:t>
            </a:r>
            <a:r>
              <a:rPr sz="2200" spc="-50">
                <a:latin typeface="Cambria Math"/>
                <a:cs typeface="Cambria Math"/>
              </a:rPr>
              <a:t>𝟑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0518224" y="4610726"/>
            <a:ext cx="1104900" cy="1024890"/>
          </a:xfrm>
          <a:prstGeom prst="rect">
            <a:avLst/>
          </a:prstGeom>
        </p:spPr>
        <p:txBody>
          <a:bodyPr vert="horz" wrap="square" lIns="0" tIns="182880" rIns="0" bIns="0" rtlCol="0">
            <a:spAutoFit/>
          </a:bodyPr>
          <a:lstStyle/>
          <a:p>
            <a:pPr marL="234315">
              <a:lnSpc>
                <a:spcPct val="100000"/>
              </a:lnSpc>
              <a:spcBef>
                <a:spcPts val="1440"/>
              </a:spcBef>
              <a:tabLst>
                <a:tab pos="788670" algn="l"/>
              </a:tabLst>
            </a:pPr>
            <a:r>
              <a:rPr sz="2000" b="1" spc="-5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r>
              <a:rPr sz="20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b="1" spc="-5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  <a:p>
            <a:pPr marL="136525">
              <a:lnSpc>
                <a:spcPct val="100000"/>
              </a:lnSpc>
              <a:spcBef>
                <a:spcPts val="1485"/>
              </a:spcBef>
            </a:pPr>
            <a:r>
              <a:rPr sz="2200">
                <a:latin typeface="Cambria Math"/>
                <a:cs typeface="Cambria Math"/>
              </a:rPr>
              <a:t>𝑫</a:t>
            </a:r>
            <a:r>
              <a:rPr sz="2400" baseline="-15625">
                <a:latin typeface="Cambria Math"/>
                <a:cs typeface="Cambria Math"/>
              </a:rPr>
              <a:t>𝟓</a:t>
            </a:r>
            <a:r>
              <a:rPr sz="2400" spc="517" baseline="-15625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=</a:t>
            </a:r>
            <a:r>
              <a:rPr sz="2200" spc="110">
                <a:latin typeface="Cambria Math"/>
                <a:cs typeface="Cambria Math"/>
              </a:rPr>
              <a:t> </a:t>
            </a:r>
            <a:r>
              <a:rPr sz="2200" spc="-50">
                <a:latin typeface="Cambria Math"/>
                <a:cs typeface="Cambria Math"/>
              </a:rPr>
              <a:t>𝟒</a:t>
            </a:r>
            <a:endParaRPr sz="2200">
              <a:latin typeface="Cambria Math"/>
              <a:cs typeface="Cambria Math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8289797" y="1892045"/>
            <a:ext cx="3383279" cy="434340"/>
            <a:chOff x="8289797" y="1892045"/>
            <a:chExt cx="3383279" cy="434340"/>
          </a:xfrm>
        </p:grpSpPr>
        <p:sp>
          <p:nvSpPr>
            <p:cNvPr id="42" name="object 42"/>
            <p:cNvSpPr/>
            <p:nvPr/>
          </p:nvSpPr>
          <p:spPr>
            <a:xfrm>
              <a:off x="8870569" y="1904745"/>
              <a:ext cx="1111250" cy="396240"/>
            </a:xfrm>
            <a:custGeom>
              <a:avLst/>
              <a:gdLst/>
              <a:ahLst/>
              <a:cxnLst/>
              <a:rect l="l" t="t" r="r" b="b"/>
              <a:pathLst>
                <a:path w="1111250" h="396239">
                  <a:moveTo>
                    <a:pt x="555434" y="0"/>
                  </a:moveTo>
                  <a:lnTo>
                    <a:pt x="0" y="0"/>
                  </a:lnTo>
                  <a:lnTo>
                    <a:pt x="0" y="396240"/>
                  </a:lnTo>
                  <a:lnTo>
                    <a:pt x="555434" y="396240"/>
                  </a:lnTo>
                  <a:lnTo>
                    <a:pt x="555434" y="0"/>
                  </a:lnTo>
                  <a:close/>
                </a:path>
                <a:path w="1111250" h="396239">
                  <a:moveTo>
                    <a:pt x="1110932" y="0"/>
                  </a:moveTo>
                  <a:lnTo>
                    <a:pt x="555498" y="0"/>
                  </a:lnTo>
                  <a:lnTo>
                    <a:pt x="555498" y="396240"/>
                  </a:lnTo>
                  <a:lnTo>
                    <a:pt x="1110932" y="396240"/>
                  </a:lnTo>
                  <a:lnTo>
                    <a:pt x="1110932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8308847" y="1898395"/>
              <a:ext cx="3345179" cy="421640"/>
            </a:xfrm>
            <a:custGeom>
              <a:avLst/>
              <a:gdLst/>
              <a:ahLst/>
              <a:cxnLst/>
              <a:rect l="l" t="t" r="r" b="b"/>
              <a:pathLst>
                <a:path w="3345179" h="421639">
                  <a:moveTo>
                    <a:pt x="561721" y="0"/>
                  </a:moveTo>
                  <a:lnTo>
                    <a:pt x="561721" y="421639"/>
                  </a:lnTo>
                </a:path>
                <a:path w="3345179" h="421639">
                  <a:moveTo>
                    <a:pt x="1117219" y="0"/>
                  </a:moveTo>
                  <a:lnTo>
                    <a:pt x="1117219" y="421639"/>
                  </a:lnTo>
                </a:path>
                <a:path w="3345179" h="421639">
                  <a:moveTo>
                    <a:pt x="1672590" y="0"/>
                  </a:moveTo>
                  <a:lnTo>
                    <a:pt x="1672590" y="421639"/>
                  </a:lnTo>
                </a:path>
                <a:path w="3345179" h="421639">
                  <a:moveTo>
                    <a:pt x="2227960" y="0"/>
                  </a:moveTo>
                  <a:lnTo>
                    <a:pt x="2227960" y="421639"/>
                  </a:lnTo>
                </a:path>
                <a:path w="3345179" h="421639">
                  <a:moveTo>
                    <a:pt x="2783458" y="0"/>
                  </a:moveTo>
                  <a:lnTo>
                    <a:pt x="2783458" y="421639"/>
                  </a:lnTo>
                </a:path>
                <a:path w="3345179" h="421639">
                  <a:moveTo>
                    <a:pt x="6350" y="0"/>
                  </a:moveTo>
                  <a:lnTo>
                    <a:pt x="6350" y="421639"/>
                  </a:lnTo>
                </a:path>
                <a:path w="3345179" h="421639">
                  <a:moveTo>
                    <a:pt x="3338829" y="0"/>
                  </a:moveTo>
                  <a:lnTo>
                    <a:pt x="3338829" y="421639"/>
                  </a:lnTo>
                </a:path>
                <a:path w="3345179" h="421639">
                  <a:moveTo>
                    <a:pt x="0" y="6350"/>
                  </a:moveTo>
                  <a:lnTo>
                    <a:pt x="3345179" y="635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8308847" y="2300985"/>
              <a:ext cx="3345179" cy="0"/>
            </a:xfrm>
            <a:custGeom>
              <a:avLst/>
              <a:gdLst/>
              <a:ahLst/>
              <a:cxnLst/>
              <a:rect l="l" t="t" r="r" b="b"/>
              <a:pathLst>
                <a:path w="3345179">
                  <a:moveTo>
                    <a:pt x="0" y="0"/>
                  </a:moveTo>
                  <a:lnTo>
                    <a:pt x="3345179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8321547" y="1911095"/>
            <a:ext cx="542925" cy="37084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111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44"/>
              </a:spcBef>
            </a:pPr>
            <a:r>
              <a:rPr sz="2000" b="1" spc="-5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851518" y="1753053"/>
            <a:ext cx="1136650" cy="1036955"/>
          </a:xfrm>
          <a:prstGeom prst="rect">
            <a:avLst/>
          </a:prstGeom>
        </p:spPr>
        <p:txBody>
          <a:bodyPr vert="horz" wrap="square" lIns="0" tIns="188595" rIns="0" bIns="0" rtlCol="0">
            <a:spAutoFit/>
          </a:bodyPr>
          <a:lstStyle/>
          <a:p>
            <a:pPr marL="233045">
              <a:lnSpc>
                <a:spcPct val="100000"/>
              </a:lnSpc>
              <a:spcBef>
                <a:spcPts val="1485"/>
              </a:spcBef>
              <a:tabLst>
                <a:tab pos="788670" algn="l"/>
              </a:tabLst>
            </a:pPr>
            <a:r>
              <a:rPr sz="2000" b="1" spc="-5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sz="20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b="1" spc="-5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000">
              <a:latin typeface="Times New Roman"/>
              <a:cs typeface="Times New Roman"/>
            </a:endParaRPr>
          </a:p>
          <a:p>
            <a:pPr marL="200025">
              <a:lnSpc>
                <a:spcPct val="100000"/>
              </a:lnSpc>
              <a:spcBef>
                <a:spcPts val="1535"/>
              </a:spcBef>
            </a:pPr>
            <a:r>
              <a:rPr sz="2200">
                <a:latin typeface="Cambria Math"/>
                <a:cs typeface="Cambria Math"/>
              </a:rPr>
              <a:t>𝑫</a:t>
            </a:r>
            <a:r>
              <a:rPr sz="2400" baseline="-15625">
                <a:latin typeface="Cambria Math"/>
                <a:cs typeface="Cambria Math"/>
              </a:rPr>
              <a:t>𝟐</a:t>
            </a:r>
            <a:r>
              <a:rPr sz="2400" spc="517" baseline="-15625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=</a:t>
            </a:r>
            <a:r>
              <a:rPr sz="2200" spc="110">
                <a:latin typeface="Cambria Math"/>
                <a:cs typeface="Cambria Math"/>
              </a:rPr>
              <a:t> </a:t>
            </a:r>
            <a:r>
              <a:rPr sz="2200" spc="-50">
                <a:latin typeface="Cambria Math"/>
                <a:cs typeface="Cambria Math"/>
              </a:rPr>
              <a:t>𝟓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0000488" y="1911095"/>
            <a:ext cx="530225" cy="37084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1114" rIns="0" bIns="0" rtlCol="0">
            <a:spAutoFit/>
          </a:bodyPr>
          <a:lstStyle/>
          <a:p>
            <a:pPr marL="153035">
              <a:lnSpc>
                <a:spcPct val="100000"/>
              </a:lnSpc>
              <a:spcBef>
                <a:spcPts val="244"/>
              </a:spcBef>
            </a:pPr>
            <a:r>
              <a:rPr sz="2000" b="1" spc="-1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sz="2000" b="1" spc="-5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0543158" y="1911095"/>
            <a:ext cx="542925" cy="37084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1114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244"/>
              </a:spcBef>
            </a:pPr>
            <a:r>
              <a:rPr sz="2000" b="1" spc="-5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1098656" y="1911095"/>
            <a:ext cx="542925" cy="37084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1114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244"/>
              </a:spcBef>
            </a:pPr>
            <a:r>
              <a:rPr sz="2000" b="1" spc="-5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8289797" y="2850895"/>
            <a:ext cx="3383279" cy="434340"/>
            <a:chOff x="8289797" y="2850895"/>
            <a:chExt cx="3383279" cy="434340"/>
          </a:xfrm>
        </p:grpSpPr>
        <p:sp>
          <p:nvSpPr>
            <p:cNvPr id="51" name="object 51"/>
            <p:cNvSpPr/>
            <p:nvPr/>
          </p:nvSpPr>
          <p:spPr>
            <a:xfrm>
              <a:off x="8308847" y="2857245"/>
              <a:ext cx="3345179" cy="421640"/>
            </a:xfrm>
            <a:custGeom>
              <a:avLst/>
              <a:gdLst/>
              <a:ahLst/>
              <a:cxnLst/>
              <a:rect l="l" t="t" r="r" b="b"/>
              <a:pathLst>
                <a:path w="3345179" h="421639">
                  <a:moveTo>
                    <a:pt x="561721" y="0"/>
                  </a:moveTo>
                  <a:lnTo>
                    <a:pt x="561721" y="421639"/>
                  </a:lnTo>
                </a:path>
                <a:path w="3345179" h="421639">
                  <a:moveTo>
                    <a:pt x="1117219" y="0"/>
                  </a:moveTo>
                  <a:lnTo>
                    <a:pt x="1117219" y="421639"/>
                  </a:lnTo>
                </a:path>
                <a:path w="3345179" h="421639">
                  <a:moveTo>
                    <a:pt x="1672590" y="0"/>
                  </a:moveTo>
                  <a:lnTo>
                    <a:pt x="1672590" y="421639"/>
                  </a:lnTo>
                </a:path>
                <a:path w="3345179" h="421639">
                  <a:moveTo>
                    <a:pt x="2227960" y="0"/>
                  </a:moveTo>
                  <a:lnTo>
                    <a:pt x="2227960" y="421639"/>
                  </a:lnTo>
                </a:path>
                <a:path w="3345179" h="421639">
                  <a:moveTo>
                    <a:pt x="2783458" y="0"/>
                  </a:moveTo>
                  <a:lnTo>
                    <a:pt x="2783458" y="421639"/>
                  </a:lnTo>
                </a:path>
                <a:path w="3345179" h="421639">
                  <a:moveTo>
                    <a:pt x="6350" y="0"/>
                  </a:moveTo>
                  <a:lnTo>
                    <a:pt x="6350" y="421639"/>
                  </a:lnTo>
                </a:path>
                <a:path w="3345179" h="421639">
                  <a:moveTo>
                    <a:pt x="3338829" y="0"/>
                  </a:moveTo>
                  <a:lnTo>
                    <a:pt x="3338829" y="421639"/>
                  </a:lnTo>
                </a:path>
                <a:path w="3345179" h="421639">
                  <a:moveTo>
                    <a:pt x="0" y="6350"/>
                  </a:moveTo>
                  <a:lnTo>
                    <a:pt x="3345179" y="635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308847" y="3259835"/>
              <a:ext cx="3345179" cy="0"/>
            </a:xfrm>
            <a:custGeom>
              <a:avLst/>
              <a:gdLst/>
              <a:ahLst/>
              <a:cxnLst/>
              <a:rect l="l" t="t" r="r" b="b"/>
              <a:pathLst>
                <a:path w="3345179">
                  <a:moveTo>
                    <a:pt x="0" y="0"/>
                  </a:moveTo>
                  <a:lnTo>
                    <a:pt x="3345179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8321547" y="2869945"/>
            <a:ext cx="542925" cy="37084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111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44"/>
              </a:spcBef>
            </a:pPr>
            <a:r>
              <a:rPr sz="2000" b="1" spc="-5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8876918" y="2869945"/>
            <a:ext cx="542925" cy="37084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111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44"/>
              </a:spcBef>
            </a:pPr>
            <a:r>
              <a:rPr sz="2000" b="1" spc="-5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9432417" y="2869945"/>
            <a:ext cx="530225" cy="37084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1114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244"/>
              </a:spcBef>
            </a:pPr>
            <a:r>
              <a:rPr sz="2000" b="1" spc="-5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0000488" y="2869945"/>
            <a:ext cx="530225" cy="37084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1114" rIns="0" bIns="0" rtlCol="0">
            <a:spAutoFit/>
          </a:bodyPr>
          <a:lstStyle/>
          <a:p>
            <a:pPr marL="153035">
              <a:lnSpc>
                <a:spcPct val="100000"/>
              </a:lnSpc>
              <a:spcBef>
                <a:spcPts val="244"/>
              </a:spcBef>
            </a:pPr>
            <a:r>
              <a:rPr sz="2000" b="1" spc="-1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sz="2000" b="1" spc="-5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0543158" y="2869945"/>
            <a:ext cx="542925" cy="37084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1114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244"/>
              </a:spcBef>
            </a:pPr>
            <a:r>
              <a:rPr sz="2000" b="1" spc="-5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1098656" y="2869945"/>
            <a:ext cx="542925" cy="37084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1114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244"/>
              </a:spcBef>
            </a:pPr>
            <a:r>
              <a:rPr sz="2000" b="1" spc="-5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8887206" y="778001"/>
            <a:ext cx="1113790" cy="2731770"/>
            <a:chOff x="8887206" y="778001"/>
            <a:chExt cx="1113790" cy="2731770"/>
          </a:xfrm>
        </p:grpSpPr>
        <p:sp>
          <p:nvSpPr>
            <p:cNvPr id="60" name="object 60"/>
            <p:cNvSpPr/>
            <p:nvPr/>
          </p:nvSpPr>
          <p:spPr>
            <a:xfrm>
              <a:off x="8906256" y="2266949"/>
              <a:ext cx="1057910" cy="1167765"/>
            </a:xfrm>
            <a:custGeom>
              <a:avLst/>
              <a:gdLst/>
              <a:ahLst/>
              <a:cxnLst/>
              <a:rect l="l" t="t" r="r" b="b"/>
              <a:pathLst>
                <a:path w="1057909" h="1167764">
                  <a:moveTo>
                    <a:pt x="0" y="0"/>
                  </a:moveTo>
                  <a:lnTo>
                    <a:pt x="1448" y="43148"/>
                  </a:lnTo>
                  <a:lnTo>
                    <a:pt x="5397" y="78390"/>
                  </a:lnTo>
                  <a:lnTo>
                    <a:pt x="11251" y="102155"/>
                  </a:lnTo>
                  <a:lnTo>
                    <a:pt x="18415" y="110871"/>
                  </a:lnTo>
                  <a:lnTo>
                    <a:pt x="510286" y="110871"/>
                  </a:lnTo>
                  <a:lnTo>
                    <a:pt x="517523" y="119586"/>
                  </a:lnTo>
                  <a:lnTo>
                    <a:pt x="523414" y="143351"/>
                  </a:lnTo>
                  <a:lnTo>
                    <a:pt x="527377" y="178593"/>
                  </a:lnTo>
                  <a:lnTo>
                    <a:pt x="528827" y="221741"/>
                  </a:lnTo>
                  <a:lnTo>
                    <a:pt x="530276" y="178593"/>
                  </a:lnTo>
                  <a:lnTo>
                    <a:pt x="534225" y="143351"/>
                  </a:lnTo>
                  <a:lnTo>
                    <a:pt x="540079" y="119586"/>
                  </a:lnTo>
                  <a:lnTo>
                    <a:pt x="547243" y="110871"/>
                  </a:lnTo>
                  <a:lnTo>
                    <a:pt x="1039114" y="110871"/>
                  </a:lnTo>
                  <a:lnTo>
                    <a:pt x="1046351" y="102155"/>
                  </a:lnTo>
                  <a:lnTo>
                    <a:pt x="1052242" y="78390"/>
                  </a:lnTo>
                  <a:lnTo>
                    <a:pt x="1056205" y="43148"/>
                  </a:lnTo>
                  <a:lnTo>
                    <a:pt x="1057655" y="0"/>
                  </a:lnTo>
                </a:path>
                <a:path w="1057909" h="1167764">
                  <a:moveTo>
                    <a:pt x="528827" y="994410"/>
                  </a:moveTo>
                  <a:lnTo>
                    <a:pt x="529963" y="1028068"/>
                  </a:lnTo>
                  <a:lnTo>
                    <a:pt x="533050" y="1055560"/>
                  </a:lnTo>
                  <a:lnTo>
                    <a:pt x="537614" y="1074098"/>
                  </a:lnTo>
                  <a:lnTo>
                    <a:pt x="543178" y="1080897"/>
                  </a:lnTo>
                  <a:lnTo>
                    <a:pt x="766952" y="1080897"/>
                  </a:lnTo>
                  <a:lnTo>
                    <a:pt x="772590" y="1087695"/>
                  </a:lnTo>
                  <a:lnTo>
                    <a:pt x="777192" y="1106233"/>
                  </a:lnTo>
                  <a:lnTo>
                    <a:pt x="780293" y="1133725"/>
                  </a:lnTo>
                  <a:lnTo>
                    <a:pt x="781430" y="1167384"/>
                  </a:lnTo>
                  <a:lnTo>
                    <a:pt x="782566" y="1133725"/>
                  </a:lnTo>
                  <a:lnTo>
                    <a:pt x="785653" y="1106233"/>
                  </a:lnTo>
                  <a:lnTo>
                    <a:pt x="790217" y="1087695"/>
                  </a:lnTo>
                  <a:lnTo>
                    <a:pt x="795782" y="1080897"/>
                  </a:lnTo>
                  <a:lnTo>
                    <a:pt x="1019683" y="1080897"/>
                  </a:lnTo>
                  <a:lnTo>
                    <a:pt x="1025247" y="1074098"/>
                  </a:lnTo>
                  <a:lnTo>
                    <a:pt x="1029811" y="1055560"/>
                  </a:lnTo>
                  <a:lnTo>
                    <a:pt x="1032898" y="1028068"/>
                  </a:lnTo>
                  <a:lnTo>
                    <a:pt x="1034034" y="99441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 flipH="1">
              <a:off x="9981438" y="778001"/>
              <a:ext cx="0" cy="2731770"/>
            </a:xfrm>
            <a:custGeom>
              <a:avLst/>
              <a:gdLst/>
              <a:ahLst/>
              <a:cxnLst/>
              <a:rect l="l" t="t" r="r" b="b"/>
              <a:pathLst>
                <a:path h="2731770">
                  <a:moveTo>
                    <a:pt x="0" y="0"/>
                  </a:moveTo>
                  <a:lnTo>
                    <a:pt x="0" y="2731262"/>
                  </a:lnTo>
                </a:path>
              </a:pathLst>
            </a:custGeom>
            <a:ln w="38100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10721593" y="6278626"/>
            <a:ext cx="94996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200">
                <a:latin typeface="Cambria Math"/>
                <a:cs typeface="Cambria Math"/>
              </a:rPr>
              <a:t>𝑫</a:t>
            </a:r>
            <a:r>
              <a:rPr sz="2400" baseline="-15625">
                <a:latin typeface="Cambria Math"/>
                <a:cs typeface="Cambria Math"/>
              </a:rPr>
              <a:t>𝟔</a:t>
            </a:r>
            <a:r>
              <a:rPr sz="2400" spc="517" baseline="-15625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=</a:t>
            </a:r>
            <a:r>
              <a:rPr sz="2200" spc="110">
                <a:latin typeface="Cambria Math"/>
                <a:cs typeface="Cambria Math"/>
              </a:rPr>
              <a:t> </a:t>
            </a:r>
            <a:r>
              <a:rPr sz="2200" spc="-50">
                <a:latin typeface="Cambria Math"/>
                <a:cs typeface="Cambria Math"/>
              </a:rPr>
              <a:t>𝟏</a:t>
            </a:r>
            <a:endParaRPr sz="2200">
              <a:latin typeface="Cambria Math"/>
              <a:cs typeface="Cambria Math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9974580" y="3613403"/>
            <a:ext cx="1667510" cy="2734945"/>
            <a:chOff x="9974580" y="3613403"/>
            <a:chExt cx="1667510" cy="2734945"/>
          </a:xfrm>
        </p:grpSpPr>
        <p:sp>
          <p:nvSpPr>
            <p:cNvPr id="64" name="object 64"/>
            <p:cNvSpPr/>
            <p:nvPr/>
          </p:nvSpPr>
          <p:spPr>
            <a:xfrm>
              <a:off x="10548366" y="5124449"/>
              <a:ext cx="1057910" cy="222250"/>
            </a:xfrm>
            <a:custGeom>
              <a:avLst/>
              <a:gdLst/>
              <a:ahLst/>
              <a:cxnLst/>
              <a:rect l="l" t="t" r="r" b="b"/>
              <a:pathLst>
                <a:path w="1057909" h="222250">
                  <a:moveTo>
                    <a:pt x="0" y="0"/>
                  </a:moveTo>
                  <a:lnTo>
                    <a:pt x="1448" y="43148"/>
                  </a:lnTo>
                  <a:lnTo>
                    <a:pt x="5397" y="78390"/>
                  </a:lnTo>
                  <a:lnTo>
                    <a:pt x="11251" y="102155"/>
                  </a:lnTo>
                  <a:lnTo>
                    <a:pt x="18414" y="110871"/>
                  </a:lnTo>
                  <a:lnTo>
                    <a:pt x="510285" y="110871"/>
                  </a:lnTo>
                  <a:lnTo>
                    <a:pt x="517523" y="119586"/>
                  </a:lnTo>
                  <a:lnTo>
                    <a:pt x="523414" y="143351"/>
                  </a:lnTo>
                  <a:lnTo>
                    <a:pt x="527377" y="178593"/>
                  </a:lnTo>
                  <a:lnTo>
                    <a:pt x="528827" y="221741"/>
                  </a:lnTo>
                  <a:lnTo>
                    <a:pt x="530276" y="178593"/>
                  </a:lnTo>
                  <a:lnTo>
                    <a:pt x="534225" y="143351"/>
                  </a:lnTo>
                  <a:lnTo>
                    <a:pt x="540079" y="119586"/>
                  </a:lnTo>
                  <a:lnTo>
                    <a:pt x="547242" y="110871"/>
                  </a:lnTo>
                  <a:lnTo>
                    <a:pt x="1039113" y="110871"/>
                  </a:lnTo>
                  <a:lnTo>
                    <a:pt x="1046351" y="102155"/>
                  </a:lnTo>
                  <a:lnTo>
                    <a:pt x="1052242" y="78390"/>
                  </a:lnTo>
                  <a:lnTo>
                    <a:pt x="1056205" y="43148"/>
                  </a:lnTo>
                  <a:lnTo>
                    <a:pt x="1057655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9993630" y="4153661"/>
              <a:ext cx="1601470" cy="2175510"/>
            </a:xfrm>
            <a:custGeom>
              <a:avLst/>
              <a:gdLst/>
              <a:ahLst/>
              <a:cxnLst/>
              <a:rect l="l" t="t" r="r" b="b"/>
              <a:pathLst>
                <a:path w="1601470" h="2175510">
                  <a:moveTo>
                    <a:pt x="0" y="0"/>
                  </a:moveTo>
                  <a:lnTo>
                    <a:pt x="1762" y="52524"/>
                  </a:lnTo>
                  <a:lnTo>
                    <a:pt x="6572" y="95392"/>
                  </a:lnTo>
                  <a:lnTo>
                    <a:pt x="13715" y="124283"/>
                  </a:lnTo>
                  <a:lnTo>
                    <a:pt x="22478" y="134874"/>
                  </a:lnTo>
                  <a:lnTo>
                    <a:pt x="775208" y="134874"/>
                  </a:lnTo>
                  <a:lnTo>
                    <a:pt x="783971" y="145464"/>
                  </a:lnTo>
                  <a:lnTo>
                    <a:pt x="791114" y="174355"/>
                  </a:lnTo>
                  <a:lnTo>
                    <a:pt x="795924" y="217223"/>
                  </a:lnTo>
                  <a:lnTo>
                    <a:pt x="797687" y="269748"/>
                  </a:lnTo>
                  <a:lnTo>
                    <a:pt x="799449" y="217223"/>
                  </a:lnTo>
                  <a:lnTo>
                    <a:pt x="804259" y="174355"/>
                  </a:lnTo>
                  <a:lnTo>
                    <a:pt x="811402" y="145464"/>
                  </a:lnTo>
                  <a:lnTo>
                    <a:pt x="820166" y="134874"/>
                  </a:lnTo>
                  <a:lnTo>
                    <a:pt x="1547241" y="134874"/>
                  </a:lnTo>
                  <a:lnTo>
                    <a:pt x="1556004" y="124283"/>
                  </a:lnTo>
                  <a:lnTo>
                    <a:pt x="1563147" y="95392"/>
                  </a:lnTo>
                  <a:lnTo>
                    <a:pt x="1567957" y="52524"/>
                  </a:lnTo>
                  <a:lnTo>
                    <a:pt x="1569720" y="0"/>
                  </a:lnTo>
                </a:path>
                <a:path w="1601470" h="2175510">
                  <a:moveTo>
                    <a:pt x="1095755" y="2002536"/>
                  </a:moveTo>
                  <a:lnTo>
                    <a:pt x="1096891" y="2036200"/>
                  </a:lnTo>
                  <a:lnTo>
                    <a:pt x="1099978" y="2063691"/>
                  </a:lnTo>
                  <a:lnTo>
                    <a:pt x="1104542" y="2082226"/>
                  </a:lnTo>
                  <a:lnTo>
                    <a:pt x="1110106" y="2089023"/>
                  </a:lnTo>
                  <a:lnTo>
                    <a:pt x="1334008" y="2089023"/>
                  </a:lnTo>
                  <a:lnTo>
                    <a:pt x="1339572" y="2095819"/>
                  </a:lnTo>
                  <a:lnTo>
                    <a:pt x="1344136" y="2114354"/>
                  </a:lnTo>
                  <a:lnTo>
                    <a:pt x="1347223" y="2141845"/>
                  </a:lnTo>
                  <a:lnTo>
                    <a:pt x="1348359" y="2175510"/>
                  </a:lnTo>
                  <a:lnTo>
                    <a:pt x="1349494" y="2141845"/>
                  </a:lnTo>
                  <a:lnTo>
                    <a:pt x="1352581" y="2114354"/>
                  </a:lnTo>
                  <a:lnTo>
                    <a:pt x="1357145" y="2095819"/>
                  </a:lnTo>
                  <a:lnTo>
                    <a:pt x="1362710" y="2089023"/>
                  </a:lnTo>
                  <a:lnTo>
                    <a:pt x="1586611" y="2089023"/>
                  </a:lnTo>
                  <a:lnTo>
                    <a:pt x="1592175" y="2082226"/>
                  </a:lnTo>
                  <a:lnTo>
                    <a:pt x="1596739" y="2063691"/>
                  </a:lnTo>
                  <a:lnTo>
                    <a:pt x="1599826" y="2036200"/>
                  </a:lnTo>
                  <a:lnTo>
                    <a:pt x="1600962" y="2002536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 flipH="1">
              <a:off x="11622786" y="3613403"/>
              <a:ext cx="0" cy="2731770"/>
            </a:xfrm>
            <a:custGeom>
              <a:avLst/>
              <a:gdLst/>
              <a:ahLst/>
              <a:cxnLst/>
              <a:rect l="l" t="t" r="r" b="b"/>
              <a:pathLst>
                <a:path h="2731770">
                  <a:moveTo>
                    <a:pt x="0" y="0"/>
                  </a:moveTo>
                  <a:lnTo>
                    <a:pt x="0" y="2731300"/>
                  </a:lnTo>
                </a:path>
              </a:pathLst>
            </a:custGeom>
            <a:ln w="38100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67"/>
          <p:cNvSpPr txBox="1"/>
          <p:nvPr/>
        </p:nvSpPr>
        <p:spPr>
          <a:xfrm>
            <a:off x="7857743" y="935735"/>
            <a:ext cx="184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>
                <a:latin typeface="Cambria Math"/>
                <a:cs typeface="Cambria Math"/>
              </a:rPr>
              <a:t>𝑿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7845043" y="3838955"/>
            <a:ext cx="184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>
                <a:latin typeface="Cambria Math"/>
                <a:cs typeface="Cambria Math"/>
              </a:rPr>
              <a:t>𝑿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7857743" y="1917191"/>
            <a:ext cx="184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>
                <a:latin typeface="Cambria Math"/>
                <a:cs typeface="Cambria Math"/>
              </a:rPr>
              <a:t>𝑿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7857743" y="2899664"/>
            <a:ext cx="184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>
                <a:latin typeface="Cambria Math"/>
                <a:cs typeface="Cambria Math"/>
              </a:rPr>
              <a:t>𝑿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7857743" y="4783835"/>
            <a:ext cx="184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>
                <a:latin typeface="Cambria Math"/>
                <a:cs typeface="Cambria Math"/>
              </a:rPr>
              <a:t>𝑿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7845043" y="5760720"/>
            <a:ext cx="184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>
                <a:latin typeface="Cambria Math"/>
                <a:cs typeface="Cambria Math"/>
              </a:rPr>
              <a:t>𝑿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75" name="object 2">
            <a:extLst>
              <a:ext uri="{FF2B5EF4-FFF2-40B4-BE49-F238E27FC236}">
                <a16:creationId xmlns:a16="http://schemas.microsoft.com/office/drawing/2014/main" id="{6798F13B-A11B-E047-8A02-1AC0F5D48A95}"/>
              </a:ext>
            </a:extLst>
          </p:cNvPr>
          <p:cNvSpPr txBox="1">
            <a:spLocks/>
          </p:cNvSpPr>
          <p:nvPr/>
        </p:nvSpPr>
        <p:spPr>
          <a:xfrm>
            <a:off x="1195068" y="197769"/>
            <a:ext cx="3874771" cy="689291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pc="-40" dirty="0">
                <a:latin typeface="SimSun" panose="02010600030101010101" pitchFamily="2" charset="-122"/>
                <a:ea typeface="SimSun" panose="02010600030101010101" pitchFamily="2" charset="-122"/>
              </a:rPr>
              <a:t>枚举过程分</a:t>
            </a:r>
            <a:r>
              <a:rPr lang="zh-CN" altLang="en-US" spc="-50" dirty="0">
                <a:latin typeface="SimSun" panose="02010600030101010101" pitchFamily="2" charset="-122"/>
                <a:ea typeface="SimSun" panose="02010600030101010101" pitchFamily="2" charset="-122"/>
              </a:rPr>
              <a:t>析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573" y="1113156"/>
            <a:ext cx="2554605" cy="1004569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89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80365" algn="l"/>
                <a:tab pos="381000" algn="l"/>
              </a:tabLst>
            </a:pPr>
            <a:r>
              <a:rPr sz="2800" spc="-10" dirty="0" err="1">
                <a:latin typeface="PMingLiU"/>
                <a:cs typeface="PMingLiU"/>
              </a:rPr>
              <a:t>结尾位置相同</a:t>
            </a:r>
            <a:endParaRPr sz="2800" dirty="0">
              <a:latin typeface="PMingLiU"/>
              <a:cs typeface="PMingLiU"/>
            </a:endParaRPr>
          </a:p>
          <a:p>
            <a:pPr marL="729615" lvl="1" indent="-347980">
              <a:lnSpc>
                <a:spcPct val="100000"/>
              </a:lnSpc>
              <a:spcBef>
                <a:spcPts val="6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29615" algn="l"/>
                <a:tab pos="730250" algn="l"/>
              </a:tabLst>
            </a:pPr>
            <a:r>
              <a:rPr sz="2400" dirty="0">
                <a:latin typeface="Cambria Math"/>
                <a:cs typeface="Cambria Math"/>
              </a:rPr>
              <a:t>𝑫</a:t>
            </a:r>
            <a:r>
              <a:rPr sz="2625" baseline="-15873" dirty="0">
                <a:latin typeface="Cambria Math"/>
                <a:cs typeface="Cambria Math"/>
              </a:rPr>
              <a:t>𝟏</a:t>
            </a:r>
            <a:r>
              <a:rPr sz="2400" dirty="0">
                <a:latin typeface="Cambria Math"/>
                <a:cs typeface="Cambria Math"/>
              </a:rPr>
              <a:t>,</a:t>
            </a:r>
            <a:r>
              <a:rPr sz="2400" spc="-4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𝑫</a:t>
            </a:r>
            <a:r>
              <a:rPr sz="2625" baseline="-15873" dirty="0">
                <a:latin typeface="Cambria Math"/>
                <a:cs typeface="Cambria Math"/>
              </a:rPr>
              <a:t>𝟐</a:t>
            </a:r>
            <a:r>
              <a:rPr sz="2400" dirty="0">
                <a:latin typeface="Cambria Math"/>
                <a:cs typeface="Cambria Math"/>
              </a:rPr>
              <a:t>,</a:t>
            </a:r>
            <a:r>
              <a:rPr sz="2400" spc="-45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𝑫</a:t>
            </a:r>
            <a:r>
              <a:rPr sz="2625" spc="-37" baseline="-15873" dirty="0">
                <a:latin typeface="Cambria Math"/>
                <a:cs typeface="Cambria Math"/>
              </a:rPr>
              <a:t>𝟑</a:t>
            </a:r>
            <a:endParaRPr sz="2625" baseline="-15873" dirty="0">
              <a:latin typeface="Cambria Math"/>
              <a:cs typeface="Cambria Math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62125" y="147380"/>
            <a:ext cx="255460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规律观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察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289797" y="895985"/>
            <a:ext cx="3383279" cy="434340"/>
            <a:chOff x="8289797" y="895985"/>
            <a:chExt cx="3383279" cy="434340"/>
          </a:xfrm>
        </p:grpSpPr>
        <p:sp>
          <p:nvSpPr>
            <p:cNvPr id="5" name="object 5"/>
            <p:cNvSpPr/>
            <p:nvPr/>
          </p:nvSpPr>
          <p:spPr>
            <a:xfrm>
              <a:off x="8315198" y="908684"/>
              <a:ext cx="1666875" cy="396240"/>
            </a:xfrm>
            <a:custGeom>
              <a:avLst/>
              <a:gdLst/>
              <a:ahLst/>
              <a:cxnLst/>
              <a:rect l="l" t="t" r="r" b="b"/>
              <a:pathLst>
                <a:path w="1666875" h="396240">
                  <a:moveTo>
                    <a:pt x="1110805" y="0"/>
                  </a:moveTo>
                  <a:lnTo>
                    <a:pt x="555434" y="0"/>
                  </a:lnTo>
                  <a:lnTo>
                    <a:pt x="0" y="0"/>
                  </a:lnTo>
                  <a:lnTo>
                    <a:pt x="0" y="396240"/>
                  </a:lnTo>
                  <a:lnTo>
                    <a:pt x="555371" y="396240"/>
                  </a:lnTo>
                  <a:lnTo>
                    <a:pt x="1110805" y="396240"/>
                  </a:lnTo>
                  <a:lnTo>
                    <a:pt x="1110805" y="0"/>
                  </a:lnTo>
                  <a:close/>
                </a:path>
                <a:path w="1666875" h="396240">
                  <a:moveTo>
                    <a:pt x="1666303" y="0"/>
                  </a:moveTo>
                  <a:lnTo>
                    <a:pt x="1110869" y="0"/>
                  </a:lnTo>
                  <a:lnTo>
                    <a:pt x="1110869" y="396240"/>
                  </a:lnTo>
                  <a:lnTo>
                    <a:pt x="1666303" y="396240"/>
                  </a:lnTo>
                  <a:lnTo>
                    <a:pt x="1666303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308847" y="902335"/>
              <a:ext cx="3345179" cy="421640"/>
            </a:xfrm>
            <a:custGeom>
              <a:avLst/>
              <a:gdLst/>
              <a:ahLst/>
              <a:cxnLst/>
              <a:rect l="l" t="t" r="r" b="b"/>
              <a:pathLst>
                <a:path w="3345179" h="421640">
                  <a:moveTo>
                    <a:pt x="561721" y="0"/>
                  </a:moveTo>
                  <a:lnTo>
                    <a:pt x="561721" y="421639"/>
                  </a:lnTo>
                </a:path>
                <a:path w="3345179" h="421640">
                  <a:moveTo>
                    <a:pt x="1117219" y="0"/>
                  </a:moveTo>
                  <a:lnTo>
                    <a:pt x="1117219" y="421639"/>
                  </a:lnTo>
                </a:path>
                <a:path w="3345179" h="421640">
                  <a:moveTo>
                    <a:pt x="1672590" y="0"/>
                  </a:moveTo>
                  <a:lnTo>
                    <a:pt x="1672590" y="421639"/>
                  </a:lnTo>
                </a:path>
                <a:path w="3345179" h="421640">
                  <a:moveTo>
                    <a:pt x="6350" y="0"/>
                  </a:moveTo>
                  <a:lnTo>
                    <a:pt x="6350" y="421639"/>
                  </a:lnTo>
                </a:path>
                <a:path w="3345179" h="421640">
                  <a:moveTo>
                    <a:pt x="2227960" y="0"/>
                  </a:moveTo>
                  <a:lnTo>
                    <a:pt x="2227960" y="421639"/>
                  </a:lnTo>
                </a:path>
                <a:path w="3345179" h="421640">
                  <a:moveTo>
                    <a:pt x="2783458" y="0"/>
                  </a:moveTo>
                  <a:lnTo>
                    <a:pt x="2783458" y="421639"/>
                  </a:lnTo>
                </a:path>
                <a:path w="3345179" h="421640">
                  <a:moveTo>
                    <a:pt x="3338829" y="0"/>
                  </a:moveTo>
                  <a:lnTo>
                    <a:pt x="3338829" y="421639"/>
                  </a:lnTo>
                </a:path>
                <a:path w="3345179" h="421640">
                  <a:moveTo>
                    <a:pt x="0" y="6350"/>
                  </a:moveTo>
                  <a:lnTo>
                    <a:pt x="3345179" y="635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308847" y="1304925"/>
              <a:ext cx="3345179" cy="0"/>
            </a:xfrm>
            <a:custGeom>
              <a:avLst/>
              <a:gdLst/>
              <a:ahLst/>
              <a:cxnLst/>
              <a:rect l="l" t="t" r="r" b="b"/>
              <a:pathLst>
                <a:path w="3345179">
                  <a:moveTo>
                    <a:pt x="0" y="0"/>
                  </a:moveTo>
                  <a:lnTo>
                    <a:pt x="3345179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000488" y="915035"/>
            <a:ext cx="530225" cy="37084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0480" rIns="0" bIns="0" rtlCol="0">
            <a:spAutoFit/>
          </a:bodyPr>
          <a:lstStyle/>
          <a:p>
            <a:pPr marL="153035">
              <a:lnSpc>
                <a:spcPct val="100000"/>
              </a:lnSpc>
              <a:spcBef>
                <a:spcPts val="240"/>
              </a:spcBef>
            </a:pPr>
            <a:r>
              <a:rPr sz="2000" b="1" spc="-1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sz="2000" b="1" spc="-5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543158" y="915035"/>
            <a:ext cx="542925" cy="37084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048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240"/>
              </a:spcBef>
            </a:pPr>
            <a:r>
              <a:rPr sz="2000" b="1" spc="-5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098656" y="915035"/>
            <a:ext cx="542925" cy="37084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048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240"/>
              </a:spcBef>
            </a:pPr>
            <a:r>
              <a:rPr sz="2000" b="1" spc="-5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8313039" y="4737353"/>
          <a:ext cx="3329937" cy="3956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4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49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49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49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49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720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8308847" y="3778630"/>
          <a:ext cx="3333748" cy="6375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46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09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86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699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720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31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4620"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83057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3057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8308847" y="5719673"/>
          <a:ext cx="3333750" cy="4210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10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720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object 14"/>
          <p:cNvSpPr/>
          <p:nvPr/>
        </p:nvSpPr>
        <p:spPr>
          <a:xfrm>
            <a:off x="8370569" y="1270253"/>
            <a:ext cx="1569720" cy="269875"/>
          </a:xfrm>
          <a:custGeom>
            <a:avLst/>
            <a:gdLst/>
            <a:ahLst/>
            <a:cxnLst/>
            <a:rect l="l" t="t" r="r" b="b"/>
            <a:pathLst>
              <a:path w="1569720" h="269875">
                <a:moveTo>
                  <a:pt x="0" y="0"/>
                </a:moveTo>
                <a:lnTo>
                  <a:pt x="1762" y="52524"/>
                </a:lnTo>
                <a:lnTo>
                  <a:pt x="6572" y="95392"/>
                </a:lnTo>
                <a:lnTo>
                  <a:pt x="13715" y="124283"/>
                </a:lnTo>
                <a:lnTo>
                  <a:pt x="22478" y="134874"/>
                </a:lnTo>
                <a:lnTo>
                  <a:pt x="775207" y="134874"/>
                </a:lnTo>
                <a:lnTo>
                  <a:pt x="783971" y="145464"/>
                </a:lnTo>
                <a:lnTo>
                  <a:pt x="791114" y="174355"/>
                </a:lnTo>
                <a:lnTo>
                  <a:pt x="795924" y="217223"/>
                </a:lnTo>
                <a:lnTo>
                  <a:pt x="797686" y="269748"/>
                </a:lnTo>
                <a:lnTo>
                  <a:pt x="799449" y="217223"/>
                </a:lnTo>
                <a:lnTo>
                  <a:pt x="804259" y="174355"/>
                </a:lnTo>
                <a:lnTo>
                  <a:pt x="811402" y="145464"/>
                </a:lnTo>
                <a:lnTo>
                  <a:pt x="820165" y="134874"/>
                </a:lnTo>
                <a:lnTo>
                  <a:pt x="1547240" y="134874"/>
                </a:lnTo>
                <a:lnTo>
                  <a:pt x="1556003" y="124283"/>
                </a:lnTo>
                <a:lnTo>
                  <a:pt x="1563147" y="95392"/>
                </a:lnTo>
                <a:lnTo>
                  <a:pt x="1567957" y="52524"/>
                </a:lnTo>
                <a:lnTo>
                  <a:pt x="156972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8296147" y="933450"/>
            <a:ext cx="1704339" cy="8718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3045">
              <a:lnSpc>
                <a:spcPct val="100000"/>
              </a:lnSpc>
              <a:spcBef>
                <a:spcPts val="95"/>
              </a:spcBef>
              <a:tabLst>
                <a:tab pos="788670" algn="l"/>
                <a:tab pos="1344295" algn="l"/>
              </a:tabLst>
            </a:pPr>
            <a:r>
              <a:rPr sz="2000" b="1" spc="-5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r>
              <a:rPr sz="20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b="1" spc="-5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sz="20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b="1" spc="-5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000">
              <a:latin typeface="Times New Roman"/>
              <a:cs typeface="Times New Roman"/>
            </a:endParaRPr>
          </a:p>
          <a:p>
            <a:pPr marL="502920">
              <a:lnSpc>
                <a:spcPct val="100000"/>
              </a:lnSpc>
              <a:spcBef>
                <a:spcPts val="1625"/>
              </a:spcBef>
            </a:pPr>
            <a:r>
              <a:rPr sz="2200">
                <a:latin typeface="Cambria Math"/>
                <a:cs typeface="Cambria Math"/>
              </a:rPr>
              <a:t>𝑫</a:t>
            </a:r>
            <a:r>
              <a:rPr sz="2400" baseline="-15625">
                <a:latin typeface="Cambria Math"/>
                <a:cs typeface="Cambria Math"/>
              </a:rPr>
              <a:t>𝟏</a:t>
            </a:r>
            <a:r>
              <a:rPr sz="2400" spc="517" baseline="-15625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=</a:t>
            </a:r>
            <a:r>
              <a:rPr sz="2200" spc="110">
                <a:latin typeface="Cambria Math"/>
                <a:cs typeface="Cambria Math"/>
              </a:rPr>
              <a:t> </a:t>
            </a:r>
            <a:r>
              <a:rPr sz="2200" spc="-50">
                <a:latin typeface="Cambria Math"/>
                <a:cs typeface="Cambria Math"/>
              </a:rPr>
              <a:t>𝟗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304271" y="4339335"/>
            <a:ext cx="115887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200">
                <a:latin typeface="Cambria Math"/>
                <a:cs typeface="Cambria Math"/>
              </a:rPr>
              <a:t>𝑫</a:t>
            </a:r>
            <a:r>
              <a:rPr sz="2400" baseline="-15625">
                <a:latin typeface="Cambria Math"/>
                <a:cs typeface="Cambria Math"/>
              </a:rPr>
              <a:t>𝟒</a:t>
            </a:r>
            <a:r>
              <a:rPr sz="2400" spc="517" baseline="-15625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=</a:t>
            </a:r>
            <a:r>
              <a:rPr sz="2200" spc="120">
                <a:latin typeface="Cambria Math"/>
                <a:cs typeface="Cambria Math"/>
              </a:rPr>
              <a:t> </a:t>
            </a:r>
            <a:r>
              <a:rPr sz="2200" spc="-25">
                <a:latin typeface="Cambria Math"/>
                <a:cs typeface="Cambria Math"/>
              </a:rPr>
              <a:t>−𝟏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252457" y="3386073"/>
            <a:ext cx="94996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200">
                <a:latin typeface="Cambria Math"/>
                <a:cs typeface="Cambria Math"/>
              </a:rPr>
              <a:t>𝑫</a:t>
            </a:r>
            <a:r>
              <a:rPr sz="2400" baseline="-15625">
                <a:latin typeface="Cambria Math"/>
                <a:cs typeface="Cambria Math"/>
              </a:rPr>
              <a:t>𝟑</a:t>
            </a:r>
            <a:r>
              <a:rPr sz="2400" spc="517" baseline="-15625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=</a:t>
            </a:r>
            <a:r>
              <a:rPr sz="2200" spc="110">
                <a:latin typeface="Cambria Math"/>
                <a:cs typeface="Cambria Math"/>
              </a:rPr>
              <a:t> </a:t>
            </a:r>
            <a:r>
              <a:rPr sz="2200" spc="-50">
                <a:latin typeface="Cambria Math"/>
                <a:cs typeface="Cambria Math"/>
              </a:rPr>
              <a:t>𝟑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616945" y="5274309"/>
            <a:ext cx="94996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200">
                <a:latin typeface="Cambria Math"/>
                <a:cs typeface="Cambria Math"/>
              </a:rPr>
              <a:t>𝑫</a:t>
            </a:r>
            <a:r>
              <a:rPr sz="2400" baseline="-15625">
                <a:latin typeface="Cambria Math"/>
                <a:cs typeface="Cambria Math"/>
              </a:rPr>
              <a:t>𝟓</a:t>
            </a:r>
            <a:r>
              <a:rPr sz="2400" spc="517" baseline="-15625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=</a:t>
            </a:r>
            <a:r>
              <a:rPr sz="2200" spc="110">
                <a:latin typeface="Cambria Math"/>
                <a:cs typeface="Cambria Math"/>
              </a:rPr>
              <a:t> </a:t>
            </a:r>
            <a:r>
              <a:rPr sz="2200" spc="-50">
                <a:latin typeface="Cambria Math"/>
                <a:cs typeface="Cambria Math"/>
              </a:rPr>
              <a:t>𝟒</a:t>
            </a:r>
            <a:endParaRPr sz="2200">
              <a:latin typeface="Cambria Math"/>
              <a:cs typeface="Cambria Math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289797" y="1892045"/>
            <a:ext cx="3383279" cy="434340"/>
            <a:chOff x="8289797" y="1892045"/>
            <a:chExt cx="3383279" cy="434340"/>
          </a:xfrm>
        </p:grpSpPr>
        <p:sp>
          <p:nvSpPr>
            <p:cNvPr id="20" name="object 20"/>
            <p:cNvSpPr/>
            <p:nvPr/>
          </p:nvSpPr>
          <p:spPr>
            <a:xfrm>
              <a:off x="8870569" y="1904745"/>
              <a:ext cx="1111250" cy="396240"/>
            </a:xfrm>
            <a:custGeom>
              <a:avLst/>
              <a:gdLst/>
              <a:ahLst/>
              <a:cxnLst/>
              <a:rect l="l" t="t" r="r" b="b"/>
              <a:pathLst>
                <a:path w="1111250" h="396239">
                  <a:moveTo>
                    <a:pt x="555434" y="0"/>
                  </a:moveTo>
                  <a:lnTo>
                    <a:pt x="0" y="0"/>
                  </a:lnTo>
                  <a:lnTo>
                    <a:pt x="0" y="396240"/>
                  </a:lnTo>
                  <a:lnTo>
                    <a:pt x="555434" y="396240"/>
                  </a:lnTo>
                  <a:lnTo>
                    <a:pt x="555434" y="0"/>
                  </a:lnTo>
                  <a:close/>
                </a:path>
                <a:path w="1111250" h="396239">
                  <a:moveTo>
                    <a:pt x="1110932" y="0"/>
                  </a:moveTo>
                  <a:lnTo>
                    <a:pt x="555498" y="0"/>
                  </a:lnTo>
                  <a:lnTo>
                    <a:pt x="555498" y="396240"/>
                  </a:lnTo>
                  <a:lnTo>
                    <a:pt x="1110932" y="396240"/>
                  </a:lnTo>
                  <a:lnTo>
                    <a:pt x="1110932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308847" y="1898395"/>
              <a:ext cx="3345179" cy="421640"/>
            </a:xfrm>
            <a:custGeom>
              <a:avLst/>
              <a:gdLst/>
              <a:ahLst/>
              <a:cxnLst/>
              <a:rect l="l" t="t" r="r" b="b"/>
              <a:pathLst>
                <a:path w="3345179" h="421639">
                  <a:moveTo>
                    <a:pt x="561721" y="0"/>
                  </a:moveTo>
                  <a:lnTo>
                    <a:pt x="561721" y="421639"/>
                  </a:lnTo>
                </a:path>
                <a:path w="3345179" h="421639">
                  <a:moveTo>
                    <a:pt x="1117219" y="0"/>
                  </a:moveTo>
                  <a:lnTo>
                    <a:pt x="1117219" y="421639"/>
                  </a:lnTo>
                </a:path>
                <a:path w="3345179" h="421639">
                  <a:moveTo>
                    <a:pt x="1672590" y="0"/>
                  </a:moveTo>
                  <a:lnTo>
                    <a:pt x="1672590" y="421639"/>
                  </a:lnTo>
                </a:path>
                <a:path w="3345179" h="421639">
                  <a:moveTo>
                    <a:pt x="2227960" y="0"/>
                  </a:moveTo>
                  <a:lnTo>
                    <a:pt x="2227960" y="421639"/>
                  </a:lnTo>
                </a:path>
                <a:path w="3345179" h="421639">
                  <a:moveTo>
                    <a:pt x="2783458" y="0"/>
                  </a:moveTo>
                  <a:lnTo>
                    <a:pt x="2783458" y="421639"/>
                  </a:lnTo>
                </a:path>
                <a:path w="3345179" h="421639">
                  <a:moveTo>
                    <a:pt x="6350" y="0"/>
                  </a:moveTo>
                  <a:lnTo>
                    <a:pt x="6350" y="421639"/>
                  </a:lnTo>
                </a:path>
                <a:path w="3345179" h="421639">
                  <a:moveTo>
                    <a:pt x="3338829" y="0"/>
                  </a:moveTo>
                  <a:lnTo>
                    <a:pt x="3338829" y="421639"/>
                  </a:lnTo>
                </a:path>
                <a:path w="3345179" h="421639">
                  <a:moveTo>
                    <a:pt x="0" y="6350"/>
                  </a:moveTo>
                  <a:lnTo>
                    <a:pt x="3345179" y="635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308847" y="2300985"/>
              <a:ext cx="3345179" cy="0"/>
            </a:xfrm>
            <a:custGeom>
              <a:avLst/>
              <a:gdLst/>
              <a:ahLst/>
              <a:cxnLst/>
              <a:rect l="l" t="t" r="r" b="b"/>
              <a:pathLst>
                <a:path w="3345179">
                  <a:moveTo>
                    <a:pt x="0" y="0"/>
                  </a:moveTo>
                  <a:lnTo>
                    <a:pt x="3345179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8321547" y="1911095"/>
            <a:ext cx="542925" cy="37084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111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44"/>
              </a:spcBef>
            </a:pPr>
            <a:r>
              <a:rPr sz="2000" b="1" spc="-5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851518" y="1753053"/>
            <a:ext cx="1136650" cy="1036955"/>
          </a:xfrm>
          <a:prstGeom prst="rect">
            <a:avLst/>
          </a:prstGeom>
        </p:spPr>
        <p:txBody>
          <a:bodyPr vert="horz" wrap="square" lIns="0" tIns="188595" rIns="0" bIns="0" rtlCol="0">
            <a:spAutoFit/>
          </a:bodyPr>
          <a:lstStyle/>
          <a:p>
            <a:pPr marL="233045">
              <a:lnSpc>
                <a:spcPct val="100000"/>
              </a:lnSpc>
              <a:spcBef>
                <a:spcPts val="1485"/>
              </a:spcBef>
              <a:tabLst>
                <a:tab pos="788670" algn="l"/>
              </a:tabLst>
            </a:pPr>
            <a:r>
              <a:rPr sz="2000" b="1" spc="-5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sz="20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b="1" spc="-5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000">
              <a:latin typeface="Times New Roman"/>
              <a:cs typeface="Times New Roman"/>
            </a:endParaRPr>
          </a:p>
          <a:p>
            <a:pPr marL="200025">
              <a:lnSpc>
                <a:spcPct val="100000"/>
              </a:lnSpc>
              <a:spcBef>
                <a:spcPts val="1535"/>
              </a:spcBef>
            </a:pPr>
            <a:r>
              <a:rPr sz="2200">
                <a:latin typeface="Cambria Math"/>
                <a:cs typeface="Cambria Math"/>
              </a:rPr>
              <a:t>𝑫</a:t>
            </a:r>
            <a:r>
              <a:rPr sz="2400" baseline="-15625">
                <a:latin typeface="Cambria Math"/>
                <a:cs typeface="Cambria Math"/>
              </a:rPr>
              <a:t>𝟐</a:t>
            </a:r>
            <a:r>
              <a:rPr sz="2400" spc="517" baseline="-15625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=</a:t>
            </a:r>
            <a:r>
              <a:rPr sz="2200" spc="110">
                <a:latin typeface="Cambria Math"/>
                <a:cs typeface="Cambria Math"/>
              </a:rPr>
              <a:t> </a:t>
            </a:r>
            <a:r>
              <a:rPr sz="2200" spc="-50">
                <a:latin typeface="Cambria Math"/>
                <a:cs typeface="Cambria Math"/>
              </a:rPr>
              <a:t>𝟓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000488" y="1911095"/>
            <a:ext cx="530225" cy="37084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1114" rIns="0" bIns="0" rtlCol="0">
            <a:spAutoFit/>
          </a:bodyPr>
          <a:lstStyle/>
          <a:p>
            <a:pPr marL="153035">
              <a:lnSpc>
                <a:spcPct val="100000"/>
              </a:lnSpc>
              <a:spcBef>
                <a:spcPts val="244"/>
              </a:spcBef>
            </a:pPr>
            <a:r>
              <a:rPr sz="2000" b="1" spc="-1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sz="2000" b="1" spc="-5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543158" y="1911095"/>
            <a:ext cx="542925" cy="37084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1114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244"/>
              </a:spcBef>
            </a:pPr>
            <a:r>
              <a:rPr sz="2000" b="1" spc="-5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098656" y="1911095"/>
            <a:ext cx="542925" cy="37084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1114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244"/>
              </a:spcBef>
            </a:pPr>
            <a:r>
              <a:rPr sz="2000" b="1" spc="-5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8289797" y="2850895"/>
            <a:ext cx="3383279" cy="434340"/>
            <a:chOff x="8289797" y="2850895"/>
            <a:chExt cx="3383279" cy="434340"/>
          </a:xfrm>
        </p:grpSpPr>
        <p:sp>
          <p:nvSpPr>
            <p:cNvPr id="29" name="object 29"/>
            <p:cNvSpPr/>
            <p:nvPr/>
          </p:nvSpPr>
          <p:spPr>
            <a:xfrm>
              <a:off x="8308847" y="2857245"/>
              <a:ext cx="3345179" cy="421640"/>
            </a:xfrm>
            <a:custGeom>
              <a:avLst/>
              <a:gdLst/>
              <a:ahLst/>
              <a:cxnLst/>
              <a:rect l="l" t="t" r="r" b="b"/>
              <a:pathLst>
                <a:path w="3345179" h="421639">
                  <a:moveTo>
                    <a:pt x="561721" y="0"/>
                  </a:moveTo>
                  <a:lnTo>
                    <a:pt x="561721" y="421639"/>
                  </a:lnTo>
                </a:path>
                <a:path w="3345179" h="421639">
                  <a:moveTo>
                    <a:pt x="1117219" y="0"/>
                  </a:moveTo>
                  <a:lnTo>
                    <a:pt x="1117219" y="421639"/>
                  </a:lnTo>
                </a:path>
                <a:path w="3345179" h="421639">
                  <a:moveTo>
                    <a:pt x="1672590" y="0"/>
                  </a:moveTo>
                  <a:lnTo>
                    <a:pt x="1672590" y="421639"/>
                  </a:lnTo>
                </a:path>
                <a:path w="3345179" h="421639">
                  <a:moveTo>
                    <a:pt x="2227960" y="0"/>
                  </a:moveTo>
                  <a:lnTo>
                    <a:pt x="2227960" y="421639"/>
                  </a:lnTo>
                </a:path>
                <a:path w="3345179" h="421639">
                  <a:moveTo>
                    <a:pt x="2783458" y="0"/>
                  </a:moveTo>
                  <a:lnTo>
                    <a:pt x="2783458" y="421639"/>
                  </a:lnTo>
                </a:path>
                <a:path w="3345179" h="421639">
                  <a:moveTo>
                    <a:pt x="6350" y="0"/>
                  </a:moveTo>
                  <a:lnTo>
                    <a:pt x="6350" y="421639"/>
                  </a:lnTo>
                </a:path>
                <a:path w="3345179" h="421639">
                  <a:moveTo>
                    <a:pt x="3338829" y="0"/>
                  </a:moveTo>
                  <a:lnTo>
                    <a:pt x="3338829" y="421639"/>
                  </a:lnTo>
                </a:path>
                <a:path w="3345179" h="421639">
                  <a:moveTo>
                    <a:pt x="0" y="6350"/>
                  </a:moveTo>
                  <a:lnTo>
                    <a:pt x="3345179" y="635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308847" y="3259835"/>
              <a:ext cx="3345179" cy="0"/>
            </a:xfrm>
            <a:custGeom>
              <a:avLst/>
              <a:gdLst/>
              <a:ahLst/>
              <a:cxnLst/>
              <a:rect l="l" t="t" r="r" b="b"/>
              <a:pathLst>
                <a:path w="3345179">
                  <a:moveTo>
                    <a:pt x="0" y="0"/>
                  </a:moveTo>
                  <a:lnTo>
                    <a:pt x="3345179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8321547" y="2869945"/>
            <a:ext cx="542925" cy="37084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111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44"/>
              </a:spcBef>
            </a:pPr>
            <a:r>
              <a:rPr sz="2000" b="1" spc="-5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876918" y="2869945"/>
            <a:ext cx="542925" cy="37084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111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44"/>
              </a:spcBef>
            </a:pPr>
            <a:r>
              <a:rPr sz="2000" b="1" spc="-5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432417" y="2869945"/>
            <a:ext cx="530225" cy="37084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1114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244"/>
              </a:spcBef>
            </a:pPr>
            <a:r>
              <a:rPr sz="2000" b="1" spc="-5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0000488" y="2869945"/>
            <a:ext cx="530225" cy="37084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1114" rIns="0" bIns="0" rtlCol="0">
            <a:spAutoFit/>
          </a:bodyPr>
          <a:lstStyle/>
          <a:p>
            <a:pPr marL="153035">
              <a:lnSpc>
                <a:spcPct val="100000"/>
              </a:lnSpc>
              <a:spcBef>
                <a:spcPts val="244"/>
              </a:spcBef>
            </a:pPr>
            <a:r>
              <a:rPr sz="2000" b="1" spc="-1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sz="2000" b="1" spc="-5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0543158" y="2869945"/>
            <a:ext cx="542925" cy="37084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1114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244"/>
              </a:spcBef>
            </a:pPr>
            <a:r>
              <a:rPr sz="2000" b="1" spc="-5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1098656" y="2869945"/>
            <a:ext cx="542925" cy="37084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1114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244"/>
              </a:spcBef>
            </a:pPr>
            <a:r>
              <a:rPr sz="2000" b="1" spc="-5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8116823" y="678941"/>
            <a:ext cx="3647440" cy="3066415"/>
            <a:chOff x="8116823" y="678941"/>
            <a:chExt cx="3647440" cy="3066415"/>
          </a:xfrm>
        </p:grpSpPr>
        <p:sp>
          <p:nvSpPr>
            <p:cNvPr id="38" name="object 38"/>
            <p:cNvSpPr/>
            <p:nvPr/>
          </p:nvSpPr>
          <p:spPr>
            <a:xfrm>
              <a:off x="8906255" y="2266950"/>
              <a:ext cx="1057910" cy="1167765"/>
            </a:xfrm>
            <a:custGeom>
              <a:avLst/>
              <a:gdLst/>
              <a:ahLst/>
              <a:cxnLst/>
              <a:rect l="l" t="t" r="r" b="b"/>
              <a:pathLst>
                <a:path w="1057909" h="1167764">
                  <a:moveTo>
                    <a:pt x="0" y="0"/>
                  </a:moveTo>
                  <a:lnTo>
                    <a:pt x="1448" y="43148"/>
                  </a:lnTo>
                  <a:lnTo>
                    <a:pt x="5397" y="78390"/>
                  </a:lnTo>
                  <a:lnTo>
                    <a:pt x="11251" y="102155"/>
                  </a:lnTo>
                  <a:lnTo>
                    <a:pt x="18415" y="110871"/>
                  </a:lnTo>
                  <a:lnTo>
                    <a:pt x="510286" y="110871"/>
                  </a:lnTo>
                  <a:lnTo>
                    <a:pt x="517523" y="119586"/>
                  </a:lnTo>
                  <a:lnTo>
                    <a:pt x="523414" y="143351"/>
                  </a:lnTo>
                  <a:lnTo>
                    <a:pt x="527377" y="178593"/>
                  </a:lnTo>
                  <a:lnTo>
                    <a:pt x="528827" y="221741"/>
                  </a:lnTo>
                  <a:lnTo>
                    <a:pt x="530276" y="178593"/>
                  </a:lnTo>
                  <a:lnTo>
                    <a:pt x="534225" y="143351"/>
                  </a:lnTo>
                  <a:lnTo>
                    <a:pt x="540079" y="119586"/>
                  </a:lnTo>
                  <a:lnTo>
                    <a:pt x="547243" y="110871"/>
                  </a:lnTo>
                  <a:lnTo>
                    <a:pt x="1039114" y="110871"/>
                  </a:lnTo>
                  <a:lnTo>
                    <a:pt x="1046351" y="102155"/>
                  </a:lnTo>
                  <a:lnTo>
                    <a:pt x="1052242" y="78390"/>
                  </a:lnTo>
                  <a:lnTo>
                    <a:pt x="1056205" y="43148"/>
                  </a:lnTo>
                  <a:lnTo>
                    <a:pt x="1057655" y="0"/>
                  </a:lnTo>
                </a:path>
                <a:path w="1057909" h="1167764">
                  <a:moveTo>
                    <a:pt x="528827" y="994410"/>
                  </a:moveTo>
                  <a:lnTo>
                    <a:pt x="529963" y="1028068"/>
                  </a:lnTo>
                  <a:lnTo>
                    <a:pt x="533050" y="1055560"/>
                  </a:lnTo>
                  <a:lnTo>
                    <a:pt x="537614" y="1074098"/>
                  </a:lnTo>
                  <a:lnTo>
                    <a:pt x="543178" y="1080897"/>
                  </a:lnTo>
                  <a:lnTo>
                    <a:pt x="766952" y="1080897"/>
                  </a:lnTo>
                  <a:lnTo>
                    <a:pt x="772590" y="1087695"/>
                  </a:lnTo>
                  <a:lnTo>
                    <a:pt x="777192" y="1106233"/>
                  </a:lnTo>
                  <a:lnTo>
                    <a:pt x="780293" y="1133725"/>
                  </a:lnTo>
                  <a:lnTo>
                    <a:pt x="781430" y="1167384"/>
                  </a:lnTo>
                  <a:lnTo>
                    <a:pt x="782566" y="1133725"/>
                  </a:lnTo>
                  <a:lnTo>
                    <a:pt x="785653" y="1106233"/>
                  </a:lnTo>
                  <a:lnTo>
                    <a:pt x="790217" y="1087695"/>
                  </a:lnTo>
                  <a:lnTo>
                    <a:pt x="795782" y="1080897"/>
                  </a:lnTo>
                  <a:lnTo>
                    <a:pt x="1019683" y="1080897"/>
                  </a:lnTo>
                  <a:lnTo>
                    <a:pt x="1025247" y="1074098"/>
                  </a:lnTo>
                  <a:lnTo>
                    <a:pt x="1029811" y="1055560"/>
                  </a:lnTo>
                  <a:lnTo>
                    <a:pt x="1032898" y="1028068"/>
                  </a:lnTo>
                  <a:lnTo>
                    <a:pt x="1034034" y="99441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8135873" y="697991"/>
              <a:ext cx="3609340" cy="3028315"/>
            </a:xfrm>
            <a:custGeom>
              <a:avLst/>
              <a:gdLst/>
              <a:ahLst/>
              <a:cxnLst/>
              <a:rect l="l" t="t" r="r" b="b"/>
              <a:pathLst>
                <a:path w="3609340" h="3028315">
                  <a:moveTo>
                    <a:pt x="0" y="504698"/>
                  </a:moveTo>
                  <a:lnTo>
                    <a:pt x="2310" y="456087"/>
                  </a:lnTo>
                  <a:lnTo>
                    <a:pt x="9099" y="408785"/>
                  </a:lnTo>
                  <a:lnTo>
                    <a:pt x="20156" y="363003"/>
                  </a:lnTo>
                  <a:lnTo>
                    <a:pt x="35270" y="318952"/>
                  </a:lnTo>
                  <a:lnTo>
                    <a:pt x="54228" y="276843"/>
                  </a:lnTo>
                  <a:lnTo>
                    <a:pt x="76821" y="236888"/>
                  </a:lnTo>
                  <a:lnTo>
                    <a:pt x="102835" y="199299"/>
                  </a:lnTo>
                  <a:lnTo>
                    <a:pt x="132061" y="164286"/>
                  </a:lnTo>
                  <a:lnTo>
                    <a:pt x="164286" y="132061"/>
                  </a:lnTo>
                  <a:lnTo>
                    <a:pt x="199299" y="102835"/>
                  </a:lnTo>
                  <a:lnTo>
                    <a:pt x="236888" y="76821"/>
                  </a:lnTo>
                  <a:lnTo>
                    <a:pt x="276843" y="54228"/>
                  </a:lnTo>
                  <a:lnTo>
                    <a:pt x="318952" y="35270"/>
                  </a:lnTo>
                  <a:lnTo>
                    <a:pt x="363003" y="20156"/>
                  </a:lnTo>
                  <a:lnTo>
                    <a:pt x="408785" y="9099"/>
                  </a:lnTo>
                  <a:lnTo>
                    <a:pt x="456087" y="2310"/>
                  </a:lnTo>
                  <a:lnTo>
                    <a:pt x="504698" y="0"/>
                  </a:lnTo>
                  <a:lnTo>
                    <a:pt x="3104133" y="0"/>
                  </a:lnTo>
                  <a:lnTo>
                    <a:pt x="3152744" y="2310"/>
                  </a:lnTo>
                  <a:lnTo>
                    <a:pt x="3200046" y="9099"/>
                  </a:lnTo>
                  <a:lnTo>
                    <a:pt x="3245828" y="20156"/>
                  </a:lnTo>
                  <a:lnTo>
                    <a:pt x="3289879" y="35270"/>
                  </a:lnTo>
                  <a:lnTo>
                    <a:pt x="3331988" y="54228"/>
                  </a:lnTo>
                  <a:lnTo>
                    <a:pt x="3371943" y="76821"/>
                  </a:lnTo>
                  <a:lnTo>
                    <a:pt x="3409532" y="102835"/>
                  </a:lnTo>
                  <a:lnTo>
                    <a:pt x="3444545" y="132061"/>
                  </a:lnTo>
                  <a:lnTo>
                    <a:pt x="3476770" y="164286"/>
                  </a:lnTo>
                  <a:lnTo>
                    <a:pt x="3505996" y="199299"/>
                  </a:lnTo>
                  <a:lnTo>
                    <a:pt x="3532010" y="236888"/>
                  </a:lnTo>
                  <a:lnTo>
                    <a:pt x="3554603" y="276843"/>
                  </a:lnTo>
                  <a:lnTo>
                    <a:pt x="3573561" y="318952"/>
                  </a:lnTo>
                  <a:lnTo>
                    <a:pt x="3588675" y="363003"/>
                  </a:lnTo>
                  <a:lnTo>
                    <a:pt x="3599732" y="408785"/>
                  </a:lnTo>
                  <a:lnTo>
                    <a:pt x="3606521" y="456087"/>
                  </a:lnTo>
                  <a:lnTo>
                    <a:pt x="3608831" y="504698"/>
                  </a:lnTo>
                  <a:lnTo>
                    <a:pt x="3608831" y="2523490"/>
                  </a:lnTo>
                  <a:lnTo>
                    <a:pt x="3606521" y="2572100"/>
                  </a:lnTo>
                  <a:lnTo>
                    <a:pt x="3599732" y="2619402"/>
                  </a:lnTo>
                  <a:lnTo>
                    <a:pt x="3588675" y="2665184"/>
                  </a:lnTo>
                  <a:lnTo>
                    <a:pt x="3573561" y="2709235"/>
                  </a:lnTo>
                  <a:lnTo>
                    <a:pt x="3554603" y="2751344"/>
                  </a:lnTo>
                  <a:lnTo>
                    <a:pt x="3532010" y="2791299"/>
                  </a:lnTo>
                  <a:lnTo>
                    <a:pt x="3505996" y="2828888"/>
                  </a:lnTo>
                  <a:lnTo>
                    <a:pt x="3476770" y="2863901"/>
                  </a:lnTo>
                  <a:lnTo>
                    <a:pt x="3444545" y="2896126"/>
                  </a:lnTo>
                  <a:lnTo>
                    <a:pt x="3409532" y="2925352"/>
                  </a:lnTo>
                  <a:lnTo>
                    <a:pt x="3371943" y="2951366"/>
                  </a:lnTo>
                  <a:lnTo>
                    <a:pt x="3331988" y="2973959"/>
                  </a:lnTo>
                  <a:lnTo>
                    <a:pt x="3289879" y="2992917"/>
                  </a:lnTo>
                  <a:lnTo>
                    <a:pt x="3245828" y="3008031"/>
                  </a:lnTo>
                  <a:lnTo>
                    <a:pt x="3200046" y="3019088"/>
                  </a:lnTo>
                  <a:lnTo>
                    <a:pt x="3152744" y="3025877"/>
                  </a:lnTo>
                  <a:lnTo>
                    <a:pt x="3104133" y="3028188"/>
                  </a:lnTo>
                  <a:lnTo>
                    <a:pt x="504698" y="3028188"/>
                  </a:lnTo>
                  <a:lnTo>
                    <a:pt x="456087" y="3025877"/>
                  </a:lnTo>
                  <a:lnTo>
                    <a:pt x="408785" y="3019088"/>
                  </a:lnTo>
                  <a:lnTo>
                    <a:pt x="363003" y="3008031"/>
                  </a:lnTo>
                  <a:lnTo>
                    <a:pt x="318952" y="2992917"/>
                  </a:lnTo>
                  <a:lnTo>
                    <a:pt x="276843" y="2973959"/>
                  </a:lnTo>
                  <a:lnTo>
                    <a:pt x="236888" y="2951366"/>
                  </a:lnTo>
                  <a:lnTo>
                    <a:pt x="199299" y="2925352"/>
                  </a:lnTo>
                  <a:lnTo>
                    <a:pt x="164286" y="2896126"/>
                  </a:lnTo>
                  <a:lnTo>
                    <a:pt x="132061" y="2863901"/>
                  </a:lnTo>
                  <a:lnTo>
                    <a:pt x="102835" y="2828888"/>
                  </a:lnTo>
                  <a:lnTo>
                    <a:pt x="76821" y="2791299"/>
                  </a:lnTo>
                  <a:lnTo>
                    <a:pt x="54228" y="2751344"/>
                  </a:lnTo>
                  <a:lnTo>
                    <a:pt x="35270" y="2709235"/>
                  </a:lnTo>
                  <a:lnTo>
                    <a:pt x="20156" y="2665184"/>
                  </a:lnTo>
                  <a:lnTo>
                    <a:pt x="9099" y="2619402"/>
                  </a:lnTo>
                  <a:lnTo>
                    <a:pt x="2310" y="2572100"/>
                  </a:lnTo>
                  <a:lnTo>
                    <a:pt x="0" y="2523490"/>
                  </a:lnTo>
                  <a:lnTo>
                    <a:pt x="0" y="504698"/>
                  </a:lnTo>
                  <a:close/>
                </a:path>
                <a:path w="3609340" h="3028315">
                  <a:moveTo>
                    <a:pt x="1845564" y="80010"/>
                  </a:moveTo>
                  <a:lnTo>
                    <a:pt x="1845564" y="2811272"/>
                  </a:lnTo>
                </a:path>
              </a:pathLst>
            </a:custGeom>
            <a:ln w="38100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10721593" y="6278626"/>
            <a:ext cx="94996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200">
                <a:latin typeface="Cambria Math"/>
                <a:cs typeface="Cambria Math"/>
              </a:rPr>
              <a:t>𝑫</a:t>
            </a:r>
            <a:r>
              <a:rPr sz="2400" baseline="-15625">
                <a:latin typeface="Cambria Math"/>
                <a:cs typeface="Cambria Math"/>
              </a:rPr>
              <a:t>𝟔</a:t>
            </a:r>
            <a:r>
              <a:rPr sz="2400" spc="517" baseline="-15625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=</a:t>
            </a:r>
            <a:r>
              <a:rPr sz="2200" spc="110">
                <a:latin typeface="Cambria Math"/>
                <a:cs typeface="Cambria Math"/>
              </a:rPr>
              <a:t> </a:t>
            </a:r>
            <a:r>
              <a:rPr sz="2200" spc="-50">
                <a:latin typeface="Cambria Math"/>
                <a:cs typeface="Cambria Math"/>
              </a:rPr>
              <a:t>𝟏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10548366" y="5124450"/>
            <a:ext cx="1057910" cy="222250"/>
          </a:xfrm>
          <a:custGeom>
            <a:avLst/>
            <a:gdLst/>
            <a:ahLst/>
            <a:cxnLst/>
            <a:rect l="l" t="t" r="r" b="b"/>
            <a:pathLst>
              <a:path w="1057909" h="222250">
                <a:moveTo>
                  <a:pt x="0" y="0"/>
                </a:moveTo>
                <a:lnTo>
                  <a:pt x="1448" y="43148"/>
                </a:lnTo>
                <a:lnTo>
                  <a:pt x="5397" y="78390"/>
                </a:lnTo>
                <a:lnTo>
                  <a:pt x="11251" y="102155"/>
                </a:lnTo>
                <a:lnTo>
                  <a:pt x="18414" y="110871"/>
                </a:lnTo>
                <a:lnTo>
                  <a:pt x="510285" y="110871"/>
                </a:lnTo>
                <a:lnTo>
                  <a:pt x="517523" y="119586"/>
                </a:lnTo>
                <a:lnTo>
                  <a:pt x="523414" y="143351"/>
                </a:lnTo>
                <a:lnTo>
                  <a:pt x="527377" y="178593"/>
                </a:lnTo>
                <a:lnTo>
                  <a:pt x="528827" y="221741"/>
                </a:lnTo>
                <a:lnTo>
                  <a:pt x="530276" y="178593"/>
                </a:lnTo>
                <a:lnTo>
                  <a:pt x="534225" y="143351"/>
                </a:lnTo>
                <a:lnTo>
                  <a:pt x="540079" y="119586"/>
                </a:lnTo>
                <a:lnTo>
                  <a:pt x="547242" y="110871"/>
                </a:lnTo>
                <a:lnTo>
                  <a:pt x="1039113" y="110871"/>
                </a:lnTo>
                <a:lnTo>
                  <a:pt x="1046351" y="102155"/>
                </a:lnTo>
                <a:lnTo>
                  <a:pt x="1052242" y="78390"/>
                </a:lnTo>
                <a:lnTo>
                  <a:pt x="1056205" y="43148"/>
                </a:lnTo>
                <a:lnTo>
                  <a:pt x="1057655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1089385" y="6156197"/>
            <a:ext cx="505459" cy="173355"/>
          </a:xfrm>
          <a:custGeom>
            <a:avLst/>
            <a:gdLst/>
            <a:ahLst/>
            <a:cxnLst/>
            <a:rect l="l" t="t" r="r" b="b"/>
            <a:pathLst>
              <a:path w="505459" h="173354">
                <a:moveTo>
                  <a:pt x="0" y="0"/>
                </a:moveTo>
                <a:lnTo>
                  <a:pt x="1135" y="33664"/>
                </a:lnTo>
                <a:lnTo>
                  <a:pt x="4222" y="61155"/>
                </a:lnTo>
                <a:lnTo>
                  <a:pt x="8786" y="79690"/>
                </a:lnTo>
                <a:lnTo>
                  <a:pt x="14350" y="86486"/>
                </a:lnTo>
                <a:lnTo>
                  <a:pt x="238252" y="86486"/>
                </a:lnTo>
                <a:lnTo>
                  <a:pt x="243816" y="93283"/>
                </a:lnTo>
                <a:lnTo>
                  <a:pt x="248380" y="111818"/>
                </a:lnTo>
                <a:lnTo>
                  <a:pt x="251467" y="139309"/>
                </a:lnTo>
                <a:lnTo>
                  <a:pt x="252603" y="172973"/>
                </a:lnTo>
                <a:lnTo>
                  <a:pt x="253738" y="139309"/>
                </a:lnTo>
                <a:lnTo>
                  <a:pt x="256825" y="111818"/>
                </a:lnTo>
                <a:lnTo>
                  <a:pt x="261389" y="93283"/>
                </a:lnTo>
                <a:lnTo>
                  <a:pt x="266954" y="86486"/>
                </a:lnTo>
                <a:lnTo>
                  <a:pt x="490855" y="86486"/>
                </a:lnTo>
                <a:lnTo>
                  <a:pt x="496419" y="79690"/>
                </a:lnTo>
                <a:lnTo>
                  <a:pt x="500983" y="61155"/>
                </a:lnTo>
                <a:lnTo>
                  <a:pt x="504070" y="33664"/>
                </a:lnTo>
                <a:lnTo>
                  <a:pt x="505206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3" name="object 43"/>
          <p:cNvGraphicFramePr>
            <a:graphicFrameLocks noGrp="1"/>
          </p:cNvGraphicFramePr>
          <p:nvPr/>
        </p:nvGraphicFramePr>
        <p:xfrm>
          <a:off x="1598802" y="2655951"/>
          <a:ext cx="5882636" cy="678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5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9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54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28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6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804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804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8043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95605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1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00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889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8900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4" name="object 44"/>
          <p:cNvSpPr txBox="1"/>
          <p:nvPr/>
        </p:nvSpPr>
        <p:spPr>
          <a:xfrm>
            <a:off x="1147317" y="2689352"/>
            <a:ext cx="184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>
                <a:latin typeface="Cambria Math"/>
                <a:cs typeface="Cambria Math"/>
              </a:rPr>
              <a:t>𝑿</a:t>
            </a:r>
            <a:endParaRPr sz="1800">
              <a:latin typeface="Cambria Math"/>
              <a:cs typeface="Cambria Math"/>
            </a:endParaRPr>
          </a:p>
        </p:txBody>
      </p:sp>
      <p:graphicFrame>
        <p:nvGraphicFramePr>
          <p:cNvPr id="45" name="object 45"/>
          <p:cNvGraphicFramePr>
            <a:graphicFrameLocks noGrp="1"/>
          </p:cNvGraphicFramePr>
          <p:nvPr/>
        </p:nvGraphicFramePr>
        <p:xfrm>
          <a:off x="1598802" y="3846195"/>
          <a:ext cx="5878826" cy="6832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9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2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1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9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98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798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732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700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84582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4582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6" name="object 46"/>
          <p:cNvSpPr txBox="1"/>
          <p:nvPr/>
        </p:nvSpPr>
        <p:spPr>
          <a:xfrm>
            <a:off x="1147317" y="3879850"/>
            <a:ext cx="184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>
                <a:latin typeface="Cambria Math"/>
                <a:cs typeface="Cambria Math"/>
              </a:rPr>
              <a:t>𝑿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597911" y="3335528"/>
            <a:ext cx="94996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200">
                <a:latin typeface="Cambria Math"/>
                <a:cs typeface="Cambria Math"/>
              </a:rPr>
              <a:t>𝑫</a:t>
            </a:r>
            <a:r>
              <a:rPr sz="2400" baseline="-15625">
                <a:latin typeface="Cambria Math"/>
                <a:cs typeface="Cambria Math"/>
              </a:rPr>
              <a:t>𝟏</a:t>
            </a:r>
            <a:r>
              <a:rPr sz="2400" spc="517" baseline="-15625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=</a:t>
            </a:r>
            <a:r>
              <a:rPr sz="2200" spc="110">
                <a:latin typeface="Cambria Math"/>
                <a:cs typeface="Cambria Math"/>
              </a:rPr>
              <a:t> </a:t>
            </a:r>
            <a:r>
              <a:rPr sz="2200" spc="-50">
                <a:latin typeface="Cambria Math"/>
                <a:cs typeface="Cambria Math"/>
              </a:rPr>
              <a:t>𝟗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329178" y="4664964"/>
            <a:ext cx="14795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spc="-50">
                <a:latin typeface="Cambria Math"/>
                <a:cs typeface="Cambria Math"/>
              </a:rPr>
              <a:t>𝟐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119627" y="4532376"/>
            <a:ext cx="89916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3705" algn="l"/>
              </a:tabLst>
            </a:pPr>
            <a:r>
              <a:rPr sz="2200" spc="-50">
                <a:latin typeface="Cambria Math"/>
                <a:cs typeface="Cambria Math"/>
              </a:rPr>
              <a:t>𝑫</a:t>
            </a:r>
            <a:r>
              <a:rPr sz="2200">
                <a:latin typeface="Cambria Math"/>
                <a:cs typeface="Cambria Math"/>
              </a:rPr>
              <a:t>	=</a:t>
            </a:r>
            <a:r>
              <a:rPr sz="2200" spc="110">
                <a:latin typeface="Cambria Math"/>
                <a:cs typeface="Cambria Math"/>
              </a:rPr>
              <a:t> </a:t>
            </a:r>
            <a:r>
              <a:rPr sz="2200" spc="-50">
                <a:latin typeface="Cambria Math"/>
                <a:cs typeface="Cambria Math"/>
              </a:rPr>
              <a:t>𝟓</a:t>
            </a:r>
            <a:endParaRPr sz="2200">
              <a:latin typeface="Cambria Math"/>
              <a:cs typeface="Cambria Math"/>
            </a:endParaRPr>
          </a:p>
        </p:txBody>
      </p:sp>
      <p:graphicFrame>
        <p:nvGraphicFramePr>
          <p:cNvPr id="50" name="object 50"/>
          <p:cNvGraphicFramePr>
            <a:graphicFrameLocks noGrp="1"/>
          </p:cNvGraphicFramePr>
          <p:nvPr/>
        </p:nvGraphicFramePr>
        <p:xfrm>
          <a:off x="1598802" y="5040248"/>
          <a:ext cx="5878828" cy="3956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9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98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98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1" name="object 51"/>
          <p:cNvSpPr txBox="1"/>
          <p:nvPr/>
        </p:nvSpPr>
        <p:spPr>
          <a:xfrm>
            <a:off x="1147317" y="5086350"/>
            <a:ext cx="1841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>
                <a:latin typeface="Cambria Math"/>
                <a:cs typeface="Cambria Math"/>
              </a:rPr>
              <a:t>𝑿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3504184" y="5679694"/>
            <a:ext cx="950594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200">
                <a:latin typeface="Cambria Math"/>
                <a:cs typeface="Cambria Math"/>
              </a:rPr>
              <a:t>𝑫</a:t>
            </a:r>
            <a:r>
              <a:rPr sz="2400" baseline="-15625">
                <a:latin typeface="Cambria Math"/>
                <a:cs typeface="Cambria Math"/>
              </a:rPr>
              <a:t>𝟑</a:t>
            </a:r>
            <a:r>
              <a:rPr sz="2400" spc="517" baseline="-15625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=</a:t>
            </a:r>
            <a:r>
              <a:rPr sz="2200" spc="114">
                <a:latin typeface="Cambria Math"/>
                <a:cs typeface="Cambria Math"/>
              </a:rPr>
              <a:t> </a:t>
            </a:r>
            <a:r>
              <a:rPr sz="2200" spc="-50">
                <a:latin typeface="Cambria Math"/>
                <a:cs typeface="Cambria Math"/>
              </a:rPr>
              <a:t>𝟑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3553205" y="5463540"/>
            <a:ext cx="906780" cy="295910"/>
          </a:xfrm>
          <a:custGeom>
            <a:avLst/>
            <a:gdLst/>
            <a:ahLst/>
            <a:cxnLst/>
            <a:rect l="l" t="t" r="r" b="b"/>
            <a:pathLst>
              <a:path w="906778" h="295910">
                <a:moveTo>
                  <a:pt x="0" y="0"/>
                </a:moveTo>
                <a:lnTo>
                  <a:pt x="1938" y="57548"/>
                </a:lnTo>
                <a:lnTo>
                  <a:pt x="7223" y="104536"/>
                </a:lnTo>
                <a:lnTo>
                  <a:pt x="15055" y="136213"/>
                </a:lnTo>
                <a:lnTo>
                  <a:pt x="24638" y="147828"/>
                </a:lnTo>
                <a:lnTo>
                  <a:pt x="428752" y="147828"/>
                </a:lnTo>
                <a:lnTo>
                  <a:pt x="438334" y="159444"/>
                </a:lnTo>
                <a:lnTo>
                  <a:pt x="446166" y="191123"/>
                </a:lnTo>
                <a:lnTo>
                  <a:pt x="451451" y="238112"/>
                </a:lnTo>
                <a:lnTo>
                  <a:pt x="453390" y="295656"/>
                </a:lnTo>
                <a:lnTo>
                  <a:pt x="455328" y="238112"/>
                </a:lnTo>
                <a:lnTo>
                  <a:pt x="460613" y="191123"/>
                </a:lnTo>
                <a:lnTo>
                  <a:pt x="468445" y="159444"/>
                </a:lnTo>
                <a:lnTo>
                  <a:pt x="478028" y="147828"/>
                </a:lnTo>
                <a:lnTo>
                  <a:pt x="882142" y="147828"/>
                </a:lnTo>
                <a:lnTo>
                  <a:pt x="891724" y="136213"/>
                </a:lnTo>
                <a:lnTo>
                  <a:pt x="899556" y="104536"/>
                </a:lnTo>
                <a:lnTo>
                  <a:pt x="904841" y="57548"/>
                </a:lnTo>
                <a:lnTo>
                  <a:pt x="90678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7857743" y="935735"/>
            <a:ext cx="184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>
                <a:latin typeface="Cambria Math"/>
                <a:cs typeface="Cambria Math"/>
              </a:rPr>
              <a:t>𝑿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845043" y="3838955"/>
            <a:ext cx="184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>
                <a:latin typeface="Cambria Math"/>
                <a:cs typeface="Cambria Math"/>
              </a:rPr>
              <a:t>𝑿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857743" y="1917191"/>
            <a:ext cx="184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>
                <a:latin typeface="Cambria Math"/>
                <a:cs typeface="Cambria Math"/>
              </a:rPr>
              <a:t>𝑿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7857743" y="2899664"/>
            <a:ext cx="184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>
                <a:latin typeface="Cambria Math"/>
                <a:cs typeface="Cambria Math"/>
              </a:rPr>
              <a:t>𝑿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7857743" y="4783835"/>
            <a:ext cx="184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>
                <a:latin typeface="Cambria Math"/>
                <a:cs typeface="Cambria Math"/>
              </a:rPr>
              <a:t>𝑿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7845043" y="5760720"/>
            <a:ext cx="184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>
                <a:latin typeface="Cambria Math"/>
                <a:cs typeface="Cambria Math"/>
              </a:rPr>
              <a:t>𝑿</a:t>
            </a:r>
            <a:endParaRPr sz="1800">
              <a:latin typeface="Cambria Math"/>
              <a:cs typeface="Cambria Math"/>
            </a:endParaRPr>
          </a:p>
        </p:txBody>
      </p:sp>
      <p:cxnSp>
        <p:nvCxnSpPr>
          <p:cNvPr id="61" name="直线连接符 60">
            <a:extLst>
              <a:ext uri="{FF2B5EF4-FFF2-40B4-BE49-F238E27FC236}">
                <a16:creationId xmlns:a16="http://schemas.microsoft.com/office/drawing/2014/main" id="{5418B26A-BEC7-854B-A8A8-9E42E8CE4E21}"/>
              </a:ext>
            </a:extLst>
          </p:cNvPr>
          <p:cNvCxnSpPr>
            <a:cxnSpLocks/>
          </p:cNvCxnSpPr>
          <p:nvPr/>
        </p:nvCxnSpPr>
        <p:spPr>
          <a:xfrm>
            <a:off x="3139947" y="3180079"/>
            <a:ext cx="133515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线连接符 62">
            <a:extLst>
              <a:ext uri="{FF2B5EF4-FFF2-40B4-BE49-F238E27FC236}">
                <a16:creationId xmlns:a16="http://schemas.microsoft.com/office/drawing/2014/main" id="{9C6F8958-3314-C14B-8655-F5338CB98EDA}"/>
              </a:ext>
            </a:extLst>
          </p:cNvPr>
          <p:cNvCxnSpPr>
            <a:cxnSpLocks/>
          </p:cNvCxnSpPr>
          <p:nvPr/>
        </p:nvCxnSpPr>
        <p:spPr>
          <a:xfrm>
            <a:off x="3498087" y="4385688"/>
            <a:ext cx="96900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4060" y="950625"/>
            <a:ext cx="2554605" cy="1004569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89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80365" algn="l"/>
                <a:tab pos="381000" algn="l"/>
              </a:tabLst>
            </a:pPr>
            <a:r>
              <a:rPr sz="2800" spc="-10" dirty="0" err="1">
                <a:latin typeface="PMingLiU"/>
                <a:cs typeface="PMingLiU"/>
              </a:rPr>
              <a:t>结尾位置相同</a:t>
            </a:r>
            <a:endParaRPr sz="2800" dirty="0">
              <a:latin typeface="PMingLiU"/>
              <a:cs typeface="PMingLiU"/>
            </a:endParaRPr>
          </a:p>
          <a:p>
            <a:pPr marL="729615" lvl="1" indent="-347980">
              <a:lnSpc>
                <a:spcPct val="100000"/>
              </a:lnSpc>
              <a:spcBef>
                <a:spcPts val="6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29615" algn="l"/>
                <a:tab pos="730250" algn="l"/>
              </a:tabLst>
            </a:pPr>
            <a:r>
              <a:rPr sz="2400" dirty="0">
                <a:latin typeface="Cambria Math"/>
                <a:cs typeface="Cambria Math"/>
              </a:rPr>
              <a:t>𝑫</a:t>
            </a:r>
            <a:r>
              <a:rPr sz="2625" baseline="-15873" dirty="0">
                <a:latin typeface="Cambria Math"/>
                <a:cs typeface="Cambria Math"/>
              </a:rPr>
              <a:t>𝟏</a:t>
            </a:r>
            <a:r>
              <a:rPr sz="2400" dirty="0">
                <a:latin typeface="Cambria Math"/>
                <a:cs typeface="Cambria Math"/>
              </a:rPr>
              <a:t>,</a:t>
            </a:r>
            <a:r>
              <a:rPr sz="2400" spc="-4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𝑫</a:t>
            </a:r>
            <a:r>
              <a:rPr sz="2625" baseline="-15873" dirty="0">
                <a:latin typeface="Cambria Math"/>
                <a:cs typeface="Cambria Math"/>
              </a:rPr>
              <a:t>𝟐</a:t>
            </a:r>
            <a:r>
              <a:rPr sz="2400" dirty="0">
                <a:latin typeface="Cambria Math"/>
                <a:cs typeface="Cambria Math"/>
              </a:rPr>
              <a:t>,</a:t>
            </a:r>
            <a:r>
              <a:rPr sz="2400" spc="-45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𝑫</a:t>
            </a:r>
            <a:r>
              <a:rPr sz="2625" spc="-37" baseline="-15873" dirty="0">
                <a:latin typeface="Cambria Math"/>
                <a:cs typeface="Cambria Math"/>
              </a:rPr>
              <a:t>𝟑</a:t>
            </a:r>
            <a:endParaRPr sz="2625" baseline="-15873" dirty="0">
              <a:latin typeface="Cambria Math"/>
              <a:cs typeface="Cambria Math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22854" y="2081529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38227" y="10160"/>
                </a:lnTo>
                <a:lnTo>
                  <a:pt x="38227" y="248920"/>
                </a:lnTo>
                <a:lnTo>
                  <a:pt x="0" y="24892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4892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782951" y="2081529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0" y="24892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48920"/>
                </a:lnTo>
                <a:lnTo>
                  <a:pt x="22733" y="248920"/>
                </a:lnTo>
                <a:lnTo>
                  <a:pt x="22733" y="1016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427480" y="1998725"/>
            <a:ext cx="240157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424180" algn="l"/>
                <a:tab pos="1748789" algn="l"/>
              </a:tabLst>
            </a:pPr>
            <a:r>
              <a:rPr sz="1550" spc="305">
                <a:solidFill>
                  <a:srgbClr val="EB91D7"/>
                </a:solidFill>
                <a:latin typeface="PMingLiU"/>
                <a:cs typeface="PMingLiU"/>
              </a:rPr>
              <a:t>o</a:t>
            </a:r>
            <a:r>
              <a:rPr sz="1550">
                <a:solidFill>
                  <a:srgbClr val="EB91D7"/>
                </a:solidFill>
                <a:latin typeface="PMingLiU"/>
                <a:cs typeface="PMingLiU"/>
              </a:rPr>
              <a:t>	</a:t>
            </a:r>
            <a:r>
              <a:rPr sz="2200">
                <a:latin typeface="Cambria Math"/>
                <a:cs typeface="Cambria Math"/>
              </a:rPr>
              <a:t>𝑫</a:t>
            </a:r>
            <a:r>
              <a:rPr sz="2400" baseline="-15625">
                <a:latin typeface="Cambria Math"/>
                <a:cs typeface="Cambria Math"/>
              </a:rPr>
              <a:t>𝟐</a:t>
            </a:r>
            <a:r>
              <a:rPr sz="2400" spc="509" baseline="-15625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=</a:t>
            </a:r>
            <a:r>
              <a:rPr sz="2200" spc="120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𝑿</a:t>
            </a:r>
            <a:r>
              <a:rPr sz="2200" spc="275">
                <a:latin typeface="Cambria Math"/>
                <a:cs typeface="Cambria Math"/>
              </a:rPr>
              <a:t> </a:t>
            </a:r>
            <a:r>
              <a:rPr sz="2200" spc="-50">
                <a:latin typeface="Cambria Math"/>
                <a:cs typeface="Cambria Math"/>
              </a:rPr>
              <a:t>𝟐</a:t>
            </a:r>
            <a:r>
              <a:rPr sz="2200">
                <a:latin typeface="Cambria Math"/>
                <a:cs typeface="Cambria Math"/>
              </a:rPr>
              <a:t>	+</a:t>
            </a:r>
            <a:r>
              <a:rPr sz="2200" spc="-10">
                <a:latin typeface="Cambria Math"/>
                <a:cs typeface="Cambria Math"/>
              </a:rPr>
              <a:t> </a:t>
            </a:r>
            <a:r>
              <a:rPr sz="2200" spc="-25">
                <a:latin typeface="Cambria Math"/>
                <a:cs typeface="Cambria Math"/>
              </a:rPr>
              <a:t>𝑫</a:t>
            </a:r>
            <a:r>
              <a:rPr sz="2400" spc="-37" baseline="-15625">
                <a:latin typeface="Cambria Math"/>
                <a:cs typeface="Cambria Math"/>
              </a:rPr>
              <a:t>𝟑</a:t>
            </a:r>
            <a:endParaRPr sz="2400" baseline="-15625">
              <a:latin typeface="Cambria Math"/>
              <a:cs typeface="Cambria Math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8289797" y="895985"/>
            <a:ext cx="3383279" cy="434340"/>
            <a:chOff x="8289797" y="895985"/>
            <a:chExt cx="3383279" cy="434340"/>
          </a:xfrm>
        </p:grpSpPr>
        <p:sp>
          <p:nvSpPr>
            <p:cNvPr id="8" name="object 8"/>
            <p:cNvSpPr/>
            <p:nvPr/>
          </p:nvSpPr>
          <p:spPr>
            <a:xfrm>
              <a:off x="8315198" y="908684"/>
              <a:ext cx="1666875" cy="396240"/>
            </a:xfrm>
            <a:custGeom>
              <a:avLst/>
              <a:gdLst/>
              <a:ahLst/>
              <a:cxnLst/>
              <a:rect l="l" t="t" r="r" b="b"/>
              <a:pathLst>
                <a:path w="1666875" h="396240">
                  <a:moveTo>
                    <a:pt x="1110805" y="0"/>
                  </a:moveTo>
                  <a:lnTo>
                    <a:pt x="555434" y="0"/>
                  </a:lnTo>
                  <a:lnTo>
                    <a:pt x="0" y="0"/>
                  </a:lnTo>
                  <a:lnTo>
                    <a:pt x="0" y="396240"/>
                  </a:lnTo>
                  <a:lnTo>
                    <a:pt x="555371" y="396240"/>
                  </a:lnTo>
                  <a:lnTo>
                    <a:pt x="1110805" y="396240"/>
                  </a:lnTo>
                  <a:lnTo>
                    <a:pt x="1110805" y="0"/>
                  </a:lnTo>
                  <a:close/>
                </a:path>
                <a:path w="1666875" h="396240">
                  <a:moveTo>
                    <a:pt x="1666303" y="0"/>
                  </a:moveTo>
                  <a:lnTo>
                    <a:pt x="1110869" y="0"/>
                  </a:lnTo>
                  <a:lnTo>
                    <a:pt x="1110869" y="396240"/>
                  </a:lnTo>
                  <a:lnTo>
                    <a:pt x="1666303" y="396240"/>
                  </a:lnTo>
                  <a:lnTo>
                    <a:pt x="1666303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308847" y="902335"/>
              <a:ext cx="3345179" cy="421640"/>
            </a:xfrm>
            <a:custGeom>
              <a:avLst/>
              <a:gdLst/>
              <a:ahLst/>
              <a:cxnLst/>
              <a:rect l="l" t="t" r="r" b="b"/>
              <a:pathLst>
                <a:path w="3345179" h="421640">
                  <a:moveTo>
                    <a:pt x="561721" y="0"/>
                  </a:moveTo>
                  <a:lnTo>
                    <a:pt x="561721" y="421639"/>
                  </a:lnTo>
                </a:path>
                <a:path w="3345179" h="421640">
                  <a:moveTo>
                    <a:pt x="1117219" y="0"/>
                  </a:moveTo>
                  <a:lnTo>
                    <a:pt x="1117219" y="421639"/>
                  </a:lnTo>
                </a:path>
                <a:path w="3345179" h="421640">
                  <a:moveTo>
                    <a:pt x="1672590" y="0"/>
                  </a:moveTo>
                  <a:lnTo>
                    <a:pt x="1672590" y="421639"/>
                  </a:lnTo>
                </a:path>
                <a:path w="3345179" h="421640">
                  <a:moveTo>
                    <a:pt x="6350" y="0"/>
                  </a:moveTo>
                  <a:lnTo>
                    <a:pt x="6350" y="421639"/>
                  </a:lnTo>
                </a:path>
                <a:path w="3345179" h="421640">
                  <a:moveTo>
                    <a:pt x="2227960" y="0"/>
                  </a:moveTo>
                  <a:lnTo>
                    <a:pt x="2227960" y="421639"/>
                  </a:lnTo>
                </a:path>
                <a:path w="3345179" h="421640">
                  <a:moveTo>
                    <a:pt x="2783458" y="0"/>
                  </a:moveTo>
                  <a:lnTo>
                    <a:pt x="2783458" y="421639"/>
                  </a:lnTo>
                </a:path>
                <a:path w="3345179" h="421640">
                  <a:moveTo>
                    <a:pt x="3338829" y="0"/>
                  </a:moveTo>
                  <a:lnTo>
                    <a:pt x="3338829" y="421639"/>
                  </a:lnTo>
                </a:path>
                <a:path w="3345179" h="421640">
                  <a:moveTo>
                    <a:pt x="0" y="6350"/>
                  </a:moveTo>
                  <a:lnTo>
                    <a:pt x="3345179" y="635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308847" y="1304925"/>
              <a:ext cx="3345179" cy="0"/>
            </a:xfrm>
            <a:custGeom>
              <a:avLst/>
              <a:gdLst/>
              <a:ahLst/>
              <a:cxnLst/>
              <a:rect l="l" t="t" r="r" b="b"/>
              <a:pathLst>
                <a:path w="3345179">
                  <a:moveTo>
                    <a:pt x="0" y="0"/>
                  </a:moveTo>
                  <a:lnTo>
                    <a:pt x="3345179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0000488" y="915035"/>
            <a:ext cx="530225" cy="37084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0480" rIns="0" bIns="0" rtlCol="0">
            <a:spAutoFit/>
          </a:bodyPr>
          <a:lstStyle/>
          <a:p>
            <a:pPr marL="153035">
              <a:lnSpc>
                <a:spcPct val="100000"/>
              </a:lnSpc>
              <a:spcBef>
                <a:spcPts val="240"/>
              </a:spcBef>
            </a:pPr>
            <a:r>
              <a:rPr sz="2000" b="1" spc="-1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sz="2000" b="1" spc="-5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543158" y="915035"/>
            <a:ext cx="542925" cy="37084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048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240"/>
              </a:spcBef>
            </a:pPr>
            <a:r>
              <a:rPr sz="2000" b="1" spc="-5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098656" y="915035"/>
            <a:ext cx="542925" cy="37084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048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240"/>
              </a:spcBef>
            </a:pPr>
            <a:r>
              <a:rPr sz="2000" b="1" spc="-5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8313039" y="4737353"/>
          <a:ext cx="3329937" cy="3956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4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49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49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49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49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720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8308847" y="3778630"/>
          <a:ext cx="3333748" cy="6375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46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09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86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699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720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31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4620"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83057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3057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8308847" y="5719673"/>
          <a:ext cx="3333750" cy="4210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10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720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object 17"/>
          <p:cNvSpPr/>
          <p:nvPr/>
        </p:nvSpPr>
        <p:spPr>
          <a:xfrm>
            <a:off x="8370569" y="1270253"/>
            <a:ext cx="1569720" cy="269875"/>
          </a:xfrm>
          <a:custGeom>
            <a:avLst/>
            <a:gdLst/>
            <a:ahLst/>
            <a:cxnLst/>
            <a:rect l="l" t="t" r="r" b="b"/>
            <a:pathLst>
              <a:path w="1569720" h="269875">
                <a:moveTo>
                  <a:pt x="0" y="0"/>
                </a:moveTo>
                <a:lnTo>
                  <a:pt x="1762" y="52524"/>
                </a:lnTo>
                <a:lnTo>
                  <a:pt x="6572" y="95392"/>
                </a:lnTo>
                <a:lnTo>
                  <a:pt x="13715" y="124283"/>
                </a:lnTo>
                <a:lnTo>
                  <a:pt x="22478" y="134874"/>
                </a:lnTo>
                <a:lnTo>
                  <a:pt x="775207" y="134874"/>
                </a:lnTo>
                <a:lnTo>
                  <a:pt x="783971" y="145464"/>
                </a:lnTo>
                <a:lnTo>
                  <a:pt x="791114" y="174355"/>
                </a:lnTo>
                <a:lnTo>
                  <a:pt x="795924" y="217223"/>
                </a:lnTo>
                <a:lnTo>
                  <a:pt x="797686" y="269748"/>
                </a:lnTo>
                <a:lnTo>
                  <a:pt x="799449" y="217223"/>
                </a:lnTo>
                <a:lnTo>
                  <a:pt x="804259" y="174355"/>
                </a:lnTo>
                <a:lnTo>
                  <a:pt x="811402" y="145464"/>
                </a:lnTo>
                <a:lnTo>
                  <a:pt x="820165" y="134874"/>
                </a:lnTo>
                <a:lnTo>
                  <a:pt x="1547240" y="134874"/>
                </a:lnTo>
                <a:lnTo>
                  <a:pt x="1556003" y="124283"/>
                </a:lnTo>
                <a:lnTo>
                  <a:pt x="1563147" y="95392"/>
                </a:lnTo>
                <a:lnTo>
                  <a:pt x="1567957" y="52524"/>
                </a:lnTo>
                <a:lnTo>
                  <a:pt x="156972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8296147" y="933450"/>
            <a:ext cx="1704339" cy="8718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3045">
              <a:lnSpc>
                <a:spcPct val="100000"/>
              </a:lnSpc>
              <a:spcBef>
                <a:spcPts val="95"/>
              </a:spcBef>
              <a:tabLst>
                <a:tab pos="788670" algn="l"/>
                <a:tab pos="1344295" algn="l"/>
              </a:tabLst>
            </a:pPr>
            <a:r>
              <a:rPr sz="2000" b="1" spc="-5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r>
              <a:rPr sz="20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b="1" spc="-5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sz="20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b="1" spc="-5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000">
              <a:latin typeface="Times New Roman"/>
              <a:cs typeface="Times New Roman"/>
            </a:endParaRPr>
          </a:p>
          <a:p>
            <a:pPr marL="502920">
              <a:lnSpc>
                <a:spcPct val="100000"/>
              </a:lnSpc>
              <a:spcBef>
                <a:spcPts val="1625"/>
              </a:spcBef>
            </a:pPr>
            <a:r>
              <a:rPr sz="2200">
                <a:latin typeface="Cambria Math"/>
                <a:cs typeface="Cambria Math"/>
              </a:rPr>
              <a:t>𝑫</a:t>
            </a:r>
            <a:r>
              <a:rPr sz="2400" baseline="-15625">
                <a:latin typeface="Cambria Math"/>
                <a:cs typeface="Cambria Math"/>
              </a:rPr>
              <a:t>𝟏</a:t>
            </a:r>
            <a:r>
              <a:rPr sz="2400" spc="517" baseline="-15625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=</a:t>
            </a:r>
            <a:r>
              <a:rPr sz="2200" spc="110">
                <a:latin typeface="Cambria Math"/>
                <a:cs typeface="Cambria Math"/>
              </a:rPr>
              <a:t> </a:t>
            </a:r>
            <a:r>
              <a:rPr sz="2200" spc="-50">
                <a:latin typeface="Cambria Math"/>
                <a:cs typeface="Cambria Math"/>
              </a:rPr>
              <a:t>𝟗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304271" y="4339335"/>
            <a:ext cx="115887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200">
                <a:latin typeface="Cambria Math"/>
                <a:cs typeface="Cambria Math"/>
              </a:rPr>
              <a:t>𝑫</a:t>
            </a:r>
            <a:r>
              <a:rPr sz="2400" baseline="-15625">
                <a:latin typeface="Cambria Math"/>
                <a:cs typeface="Cambria Math"/>
              </a:rPr>
              <a:t>𝟒</a:t>
            </a:r>
            <a:r>
              <a:rPr sz="2400" spc="517" baseline="-15625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=</a:t>
            </a:r>
            <a:r>
              <a:rPr sz="2200" spc="120">
                <a:latin typeface="Cambria Math"/>
                <a:cs typeface="Cambria Math"/>
              </a:rPr>
              <a:t> </a:t>
            </a:r>
            <a:r>
              <a:rPr sz="2200" spc="-25">
                <a:latin typeface="Cambria Math"/>
                <a:cs typeface="Cambria Math"/>
              </a:rPr>
              <a:t>−𝟏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252457" y="3386073"/>
            <a:ext cx="94996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200">
                <a:latin typeface="Cambria Math"/>
                <a:cs typeface="Cambria Math"/>
              </a:rPr>
              <a:t>𝑫</a:t>
            </a:r>
            <a:r>
              <a:rPr sz="2400" baseline="-15625">
                <a:latin typeface="Cambria Math"/>
                <a:cs typeface="Cambria Math"/>
              </a:rPr>
              <a:t>𝟑</a:t>
            </a:r>
            <a:r>
              <a:rPr sz="2400" spc="517" baseline="-15625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=</a:t>
            </a:r>
            <a:r>
              <a:rPr sz="2200" spc="110">
                <a:latin typeface="Cambria Math"/>
                <a:cs typeface="Cambria Math"/>
              </a:rPr>
              <a:t> </a:t>
            </a:r>
            <a:r>
              <a:rPr sz="2200" spc="-50">
                <a:latin typeface="Cambria Math"/>
                <a:cs typeface="Cambria Math"/>
              </a:rPr>
              <a:t>𝟑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616945" y="5274309"/>
            <a:ext cx="94996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200">
                <a:latin typeface="Cambria Math"/>
                <a:cs typeface="Cambria Math"/>
              </a:rPr>
              <a:t>𝑫</a:t>
            </a:r>
            <a:r>
              <a:rPr sz="2400" baseline="-15625">
                <a:latin typeface="Cambria Math"/>
                <a:cs typeface="Cambria Math"/>
              </a:rPr>
              <a:t>𝟓</a:t>
            </a:r>
            <a:r>
              <a:rPr sz="2400" spc="517" baseline="-15625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=</a:t>
            </a:r>
            <a:r>
              <a:rPr sz="2200" spc="110">
                <a:latin typeface="Cambria Math"/>
                <a:cs typeface="Cambria Math"/>
              </a:rPr>
              <a:t> </a:t>
            </a:r>
            <a:r>
              <a:rPr sz="2200" spc="-50">
                <a:latin typeface="Cambria Math"/>
                <a:cs typeface="Cambria Math"/>
              </a:rPr>
              <a:t>𝟒</a:t>
            </a:r>
            <a:endParaRPr sz="2200">
              <a:latin typeface="Cambria Math"/>
              <a:cs typeface="Cambria Math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8289797" y="1892045"/>
            <a:ext cx="3383279" cy="434340"/>
            <a:chOff x="8289797" y="1892045"/>
            <a:chExt cx="3383279" cy="434340"/>
          </a:xfrm>
        </p:grpSpPr>
        <p:sp>
          <p:nvSpPr>
            <p:cNvPr id="23" name="object 23"/>
            <p:cNvSpPr/>
            <p:nvPr/>
          </p:nvSpPr>
          <p:spPr>
            <a:xfrm>
              <a:off x="8870569" y="1904745"/>
              <a:ext cx="1111250" cy="396240"/>
            </a:xfrm>
            <a:custGeom>
              <a:avLst/>
              <a:gdLst/>
              <a:ahLst/>
              <a:cxnLst/>
              <a:rect l="l" t="t" r="r" b="b"/>
              <a:pathLst>
                <a:path w="1111250" h="396239">
                  <a:moveTo>
                    <a:pt x="555434" y="0"/>
                  </a:moveTo>
                  <a:lnTo>
                    <a:pt x="0" y="0"/>
                  </a:lnTo>
                  <a:lnTo>
                    <a:pt x="0" y="396240"/>
                  </a:lnTo>
                  <a:lnTo>
                    <a:pt x="555434" y="396240"/>
                  </a:lnTo>
                  <a:lnTo>
                    <a:pt x="555434" y="0"/>
                  </a:lnTo>
                  <a:close/>
                </a:path>
                <a:path w="1111250" h="396239">
                  <a:moveTo>
                    <a:pt x="1110932" y="0"/>
                  </a:moveTo>
                  <a:lnTo>
                    <a:pt x="555498" y="0"/>
                  </a:lnTo>
                  <a:lnTo>
                    <a:pt x="555498" y="396240"/>
                  </a:lnTo>
                  <a:lnTo>
                    <a:pt x="1110932" y="396240"/>
                  </a:lnTo>
                  <a:lnTo>
                    <a:pt x="1110932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308847" y="1898395"/>
              <a:ext cx="3345179" cy="421640"/>
            </a:xfrm>
            <a:custGeom>
              <a:avLst/>
              <a:gdLst/>
              <a:ahLst/>
              <a:cxnLst/>
              <a:rect l="l" t="t" r="r" b="b"/>
              <a:pathLst>
                <a:path w="3345179" h="421639">
                  <a:moveTo>
                    <a:pt x="561721" y="0"/>
                  </a:moveTo>
                  <a:lnTo>
                    <a:pt x="561721" y="421639"/>
                  </a:lnTo>
                </a:path>
                <a:path w="3345179" h="421639">
                  <a:moveTo>
                    <a:pt x="1117219" y="0"/>
                  </a:moveTo>
                  <a:lnTo>
                    <a:pt x="1117219" y="421639"/>
                  </a:lnTo>
                </a:path>
                <a:path w="3345179" h="421639">
                  <a:moveTo>
                    <a:pt x="1672590" y="0"/>
                  </a:moveTo>
                  <a:lnTo>
                    <a:pt x="1672590" y="421639"/>
                  </a:lnTo>
                </a:path>
                <a:path w="3345179" h="421639">
                  <a:moveTo>
                    <a:pt x="2227960" y="0"/>
                  </a:moveTo>
                  <a:lnTo>
                    <a:pt x="2227960" y="421639"/>
                  </a:lnTo>
                </a:path>
                <a:path w="3345179" h="421639">
                  <a:moveTo>
                    <a:pt x="2783458" y="0"/>
                  </a:moveTo>
                  <a:lnTo>
                    <a:pt x="2783458" y="421639"/>
                  </a:lnTo>
                </a:path>
                <a:path w="3345179" h="421639">
                  <a:moveTo>
                    <a:pt x="6350" y="0"/>
                  </a:moveTo>
                  <a:lnTo>
                    <a:pt x="6350" y="421639"/>
                  </a:lnTo>
                </a:path>
                <a:path w="3345179" h="421639">
                  <a:moveTo>
                    <a:pt x="3338829" y="0"/>
                  </a:moveTo>
                  <a:lnTo>
                    <a:pt x="3338829" y="421639"/>
                  </a:lnTo>
                </a:path>
                <a:path w="3345179" h="421639">
                  <a:moveTo>
                    <a:pt x="0" y="6350"/>
                  </a:moveTo>
                  <a:lnTo>
                    <a:pt x="3345179" y="635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308847" y="2300985"/>
              <a:ext cx="3345179" cy="0"/>
            </a:xfrm>
            <a:custGeom>
              <a:avLst/>
              <a:gdLst/>
              <a:ahLst/>
              <a:cxnLst/>
              <a:rect l="l" t="t" r="r" b="b"/>
              <a:pathLst>
                <a:path w="3345179">
                  <a:moveTo>
                    <a:pt x="0" y="0"/>
                  </a:moveTo>
                  <a:lnTo>
                    <a:pt x="3345179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8321547" y="1911095"/>
            <a:ext cx="542925" cy="37084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111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44"/>
              </a:spcBef>
            </a:pPr>
            <a:r>
              <a:rPr sz="2000" b="1" spc="-5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851518" y="1753053"/>
            <a:ext cx="1136650" cy="1036955"/>
          </a:xfrm>
          <a:prstGeom prst="rect">
            <a:avLst/>
          </a:prstGeom>
        </p:spPr>
        <p:txBody>
          <a:bodyPr vert="horz" wrap="square" lIns="0" tIns="188595" rIns="0" bIns="0" rtlCol="0">
            <a:spAutoFit/>
          </a:bodyPr>
          <a:lstStyle/>
          <a:p>
            <a:pPr marL="233045">
              <a:lnSpc>
                <a:spcPct val="100000"/>
              </a:lnSpc>
              <a:spcBef>
                <a:spcPts val="1485"/>
              </a:spcBef>
              <a:tabLst>
                <a:tab pos="788670" algn="l"/>
              </a:tabLst>
            </a:pPr>
            <a:r>
              <a:rPr sz="2000" b="1" spc="-5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sz="20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b="1" spc="-5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000">
              <a:latin typeface="Times New Roman"/>
              <a:cs typeface="Times New Roman"/>
            </a:endParaRPr>
          </a:p>
          <a:p>
            <a:pPr marL="200025">
              <a:lnSpc>
                <a:spcPct val="100000"/>
              </a:lnSpc>
              <a:spcBef>
                <a:spcPts val="1535"/>
              </a:spcBef>
            </a:pPr>
            <a:r>
              <a:rPr sz="2200">
                <a:latin typeface="Cambria Math"/>
                <a:cs typeface="Cambria Math"/>
              </a:rPr>
              <a:t>𝑫</a:t>
            </a:r>
            <a:r>
              <a:rPr sz="2400" baseline="-15625">
                <a:latin typeface="Cambria Math"/>
                <a:cs typeface="Cambria Math"/>
              </a:rPr>
              <a:t>𝟐</a:t>
            </a:r>
            <a:r>
              <a:rPr sz="2400" spc="517" baseline="-15625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=</a:t>
            </a:r>
            <a:r>
              <a:rPr sz="2200" spc="110">
                <a:latin typeface="Cambria Math"/>
                <a:cs typeface="Cambria Math"/>
              </a:rPr>
              <a:t> </a:t>
            </a:r>
            <a:r>
              <a:rPr sz="2200" spc="-50">
                <a:latin typeface="Cambria Math"/>
                <a:cs typeface="Cambria Math"/>
              </a:rPr>
              <a:t>𝟓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0000488" y="1911095"/>
            <a:ext cx="530225" cy="37084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1114" rIns="0" bIns="0" rtlCol="0">
            <a:spAutoFit/>
          </a:bodyPr>
          <a:lstStyle/>
          <a:p>
            <a:pPr marL="153035">
              <a:lnSpc>
                <a:spcPct val="100000"/>
              </a:lnSpc>
              <a:spcBef>
                <a:spcPts val="244"/>
              </a:spcBef>
            </a:pPr>
            <a:r>
              <a:rPr sz="2000" b="1" spc="-1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sz="2000" b="1" spc="-5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0543158" y="1911095"/>
            <a:ext cx="542925" cy="37084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1114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244"/>
              </a:spcBef>
            </a:pPr>
            <a:r>
              <a:rPr sz="2000" b="1" spc="-5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1098656" y="1911095"/>
            <a:ext cx="542925" cy="37084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1114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244"/>
              </a:spcBef>
            </a:pPr>
            <a:r>
              <a:rPr sz="2000" b="1" spc="-5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8289797" y="2850895"/>
            <a:ext cx="3383279" cy="434340"/>
            <a:chOff x="8289797" y="2850895"/>
            <a:chExt cx="3383279" cy="434340"/>
          </a:xfrm>
        </p:grpSpPr>
        <p:sp>
          <p:nvSpPr>
            <p:cNvPr id="32" name="object 32"/>
            <p:cNvSpPr/>
            <p:nvPr/>
          </p:nvSpPr>
          <p:spPr>
            <a:xfrm>
              <a:off x="8308847" y="2857245"/>
              <a:ext cx="3345179" cy="421640"/>
            </a:xfrm>
            <a:custGeom>
              <a:avLst/>
              <a:gdLst/>
              <a:ahLst/>
              <a:cxnLst/>
              <a:rect l="l" t="t" r="r" b="b"/>
              <a:pathLst>
                <a:path w="3345179" h="421639">
                  <a:moveTo>
                    <a:pt x="561721" y="0"/>
                  </a:moveTo>
                  <a:lnTo>
                    <a:pt x="561721" y="421639"/>
                  </a:lnTo>
                </a:path>
                <a:path w="3345179" h="421639">
                  <a:moveTo>
                    <a:pt x="1117219" y="0"/>
                  </a:moveTo>
                  <a:lnTo>
                    <a:pt x="1117219" y="421639"/>
                  </a:lnTo>
                </a:path>
                <a:path w="3345179" h="421639">
                  <a:moveTo>
                    <a:pt x="1672590" y="0"/>
                  </a:moveTo>
                  <a:lnTo>
                    <a:pt x="1672590" y="421639"/>
                  </a:lnTo>
                </a:path>
                <a:path w="3345179" h="421639">
                  <a:moveTo>
                    <a:pt x="2227960" y="0"/>
                  </a:moveTo>
                  <a:lnTo>
                    <a:pt x="2227960" y="421639"/>
                  </a:lnTo>
                </a:path>
                <a:path w="3345179" h="421639">
                  <a:moveTo>
                    <a:pt x="2783458" y="0"/>
                  </a:moveTo>
                  <a:lnTo>
                    <a:pt x="2783458" y="421639"/>
                  </a:lnTo>
                </a:path>
                <a:path w="3345179" h="421639">
                  <a:moveTo>
                    <a:pt x="6350" y="0"/>
                  </a:moveTo>
                  <a:lnTo>
                    <a:pt x="6350" y="421639"/>
                  </a:lnTo>
                </a:path>
                <a:path w="3345179" h="421639">
                  <a:moveTo>
                    <a:pt x="3338829" y="0"/>
                  </a:moveTo>
                  <a:lnTo>
                    <a:pt x="3338829" y="421639"/>
                  </a:lnTo>
                </a:path>
                <a:path w="3345179" h="421639">
                  <a:moveTo>
                    <a:pt x="0" y="6350"/>
                  </a:moveTo>
                  <a:lnTo>
                    <a:pt x="3345179" y="635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308847" y="3259835"/>
              <a:ext cx="3345179" cy="0"/>
            </a:xfrm>
            <a:custGeom>
              <a:avLst/>
              <a:gdLst/>
              <a:ahLst/>
              <a:cxnLst/>
              <a:rect l="l" t="t" r="r" b="b"/>
              <a:pathLst>
                <a:path w="3345179">
                  <a:moveTo>
                    <a:pt x="0" y="0"/>
                  </a:moveTo>
                  <a:lnTo>
                    <a:pt x="3345179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8321547" y="2869945"/>
            <a:ext cx="542925" cy="37084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111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44"/>
              </a:spcBef>
            </a:pPr>
            <a:r>
              <a:rPr sz="2000" b="1" spc="-5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876918" y="2869945"/>
            <a:ext cx="542925" cy="37084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111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44"/>
              </a:spcBef>
            </a:pPr>
            <a:r>
              <a:rPr sz="2000" b="1" spc="-5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432417" y="2869945"/>
            <a:ext cx="530225" cy="37084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1114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244"/>
              </a:spcBef>
            </a:pPr>
            <a:r>
              <a:rPr sz="2000" b="1" spc="-5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0000488" y="2869945"/>
            <a:ext cx="530225" cy="37084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1114" rIns="0" bIns="0" rtlCol="0">
            <a:spAutoFit/>
          </a:bodyPr>
          <a:lstStyle/>
          <a:p>
            <a:pPr marL="153035">
              <a:lnSpc>
                <a:spcPct val="100000"/>
              </a:lnSpc>
              <a:spcBef>
                <a:spcPts val="244"/>
              </a:spcBef>
            </a:pPr>
            <a:r>
              <a:rPr sz="2000" b="1" spc="-1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sz="2000" b="1" spc="-5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0543158" y="2869945"/>
            <a:ext cx="542925" cy="37084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1114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244"/>
              </a:spcBef>
            </a:pPr>
            <a:r>
              <a:rPr sz="2000" b="1" spc="-5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1098656" y="2869945"/>
            <a:ext cx="542925" cy="37084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1114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244"/>
              </a:spcBef>
            </a:pPr>
            <a:r>
              <a:rPr sz="2000" b="1" spc="-5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8116823" y="678941"/>
            <a:ext cx="3647440" cy="3066415"/>
            <a:chOff x="8116823" y="678941"/>
            <a:chExt cx="3647440" cy="3066415"/>
          </a:xfrm>
        </p:grpSpPr>
        <p:sp>
          <p:nvSpPr>
            <p:cNvPr id="41" name="object 41"/>
            <p:cNvSpPr/>
            <p:nvPr/>
          </p:nvSpPr>
          <p:spPr>
            <a:xfrm>
              <a:off x="8906255" y="2266950"/>
              <a:ext cx="1057910" cy="1167765"/>
            </a:xfrm>
            <a:custGeom>
              <a:avLst/>
              <a:gdLst/>
              <a:ahLst/>
              <a:cxnLst/>
              <a:rect l="l" t="t" r="r" b="b"/>
              <a:pathLst>
                <a:path w="1057909" h="1167764">
                  <a:moveTo>
                    <a:pt x="0" y="0"/>
                  </a:moveTo>
                  <a:lnTo>
                    <a:pt x="1448" y="43148"/>
                  </a:lnTo>
                  <a:lnTo>
                    <a:pt x="5397" y="78390"/>
                  </a:lnTo>
                  <a:lnTo>
                    <a:pt x="11251" y="102155"/>
                  </a:lnTo>
                  <a:lnTo>
                    <a:pt x="18415" y="110871"/>
                  </a:lnTo>
                  <a:lnTo>
                    <a:pt x="510286" y="110871"/>
                  </a:lnTo>
                  <a:lnTo>
                    <a:pt x="517523" y="119586"/>
                  </a:lnTo>
                  <a:lnTo>
                    <a:pt x="523414" y="143351"/>
                  </a:lnTo>
                  <a:lnTo>
                    <a:pt x="527377" y="178593"/>
                  </a:lnTo>
                  <a:lnTo>
                    <a:pt x="528827" y="221741"/>
                  </a:lnTo>
                  <a:lnTo>
                    <a:pt x="530276" y="178593"/>
                  </a:lnTo>
                  <a:lnTo>
                    <a:pt x="534225" y="143351"/>
                  </a:lnTo>
                  <a:lnTo>
                    <a:pt x="540079" y="119586"/>
                  </a:lnTo>
                  <a:lnTo>
                    <a:pt x="547243" y="110871"/>
                  </a:lnTo>
                  <a:lnTo>
                    <a:pt x="1039114" y="110871"/>
                  </a:lnTo>
                  <a:lnTo>
                    <a:pt x="1046351" y="102155"/>
                  </a:lnTo>
                  <a:lnTo>
                    <a:pt x="1052242" y="78390"/>
                  </a:lnTo>
                  <a:lnTo>
                    <a:pt x="1056205" y="43148"/>
                  </a:lnTo>
                  <a:lnTo>
                    <a:pt x="1057655" y="0"/>
                  </a:lnTo>
                </a:path>
                <a:path w="1057909" h="1167764">
                  <a:moveTo>
                    <a:pt x="528827" y="994410"/>
                  </a:moveTo>
                  <a:lnTo>
                    <a:pt x="529963" y="1028068"/>
                  </a:lnTo>
                  <a:lnTo>
                    <a:pt x="533050" y="1055560"/>
                  </a:lnTo>
                  <a:lnTo>
                    <a:pt x="537614" y="1074098"/>
                  </a:lnTo>
                  <a:lnTo>
                    <a:pt x="543178" y="1080897"/>
                  </a:lnTo>
                  <a:lnTo>
                    <a:pt x="766952" y="1080897"/>
                  </a:lnTo>
                  <a:lnTo>
                    <a:pt x="772590" y="1087695"/>
                  </a:lnTo>
                  <a:lnTo>
                    <a:pt x="777192" y="1106233"/>
                  </a:lnTo>
                  <a:lnTo>
                    <a:pt x="780293" y="1133725"/>
                  </a:lnTo>
                  <a:lnTo>
                    <a:pt x="781430" y="1167384"/>
                  </a:lnTo>
                  <a:lnTo>
                    <a:pt x="782566" y="1133725"/>
                  </a:lnTo>
                  <a:lnTo>
                    <a:pt x="785653" y="1106233"/>
                  </a:lnTo>
                  <a:lnTo>
                    <a:pt x="790217" y="1087695"/>
                  </a:lnTo>
                  <a:lnTo>
                    <a:pt x="795782" y="1080897"/>
                  </a:lnTo>
                  <a:lnTo>
                    <a:pt x="1019683" y="1080897"/>
                  </a:lnTo>
                  <a:lnTo>
                    <a:pt x="1025247" y="1074098"/>
                  </a:lnTo>
                  <a:lnTo>
                    <a:pt x="1029811" y="1055560"/>
                  </a:lnTo>
                  <a:lnTo>
                    <a:pt x="1032898" y="1028068"/>
                  </a:lnTo>
                  <a:lnTo>
                    <a:pt x="1034034" y="99441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135873" y="697991"/>
              <a:ext cx="3609340" cy="3028315"/>
            </a:xfrm>
            <a:custGeom>
              <a:avLst/>
              <a:gdLst/>
              <a:ahLst/>
              <a:cxnLst/>
              <a:rect l="l" t="t" r="r" b="b"/>
              <a:pathLst>
                <a:path w="3609340" h="3028315">
                  <a:moveTo>
                    <a:pt x="0" y="504698"/>
                  </a:moveTo>
                  <a:lnTo>
                    <a:pt x="2310" y="456087"/>
                  </a:lnTo>
                  <a:lnTo>
                    <a:pt x="9099" y="408785"/>
                  </a:lnTo>
                  <a:lnTo>
                    <a:pt x="20156" y="363003"/>
                  </a:lnTo>
                  <a:lnTo>
                    <a:pt x="35270" y="318952"/>
                  </a:lnTo>
                  <a:lnTo>
                    <a:pt x="54228" y="276843"/>
                  </a:lnTo>
                  <a:lnTo>
                    <a:pt x="76821" y="236888"/>
                  </a:lnTo>
                  <a:lnTo>
                    <a:pt x="102835" y="199299"/>
                  </a:lnTo>
                  <a:lnTo>
                    <a:pt x="132061" y="164286"/>
                  </a:lnTo>
                  <a:lnTo>
                    <a:pt x="164286" y="132061"/>
                  </a:lnTo>
                  <a:lnTo>
                    <a:pt x="199299" y="102835"/>
                  </a:lnTo>
                  <a:lnTo>
                    <a:pt x="236888" y="76821"/>
                  </a:lnTo>
                  <a:lnTo>
                    <a:pt x="276843" y="54228"/>
                  </a:lnTo>
                  <a:lnTo>
                    <a:pt x="318952" y="35270"/>
                  </a:lnTo>
                  <a:lnTo>
                    <a:pt x="363003" y="20156"/>
                  </a:lnTo>
                  <a:lnTo>
                    <a:pt x="408785" y="9099"/>
                  </a:lnTo>
                  <a:lnTo>
                    <a:pt x="456087" y="2310"/>
                  </a:lnTo>
                  <a:lnTo>
                    <a:pt x="504698" y="0"/>
                  </a:lnTo>
                  <a:lnTo>
                    <a:pt x="3104133" y="0"/>
                  </a:lnTo>
                  <a:lnTo>
                    <a:pt x="3152744" y="2310"/>
                  </a:lnTo>
                  <a:lnTo>
                    <a:pt x="3200046" y="9099"/>
                  </a:lnTo>
                  <a:lnTo>
                    <a:pt x="3245828" y="20156"/>
                  </a:lnTo>
                  <a:lnTo>
                    <a:pt x="3289879" y="35270"/>
                  </a:lnTo>
                  <a:lnTo>
                    <a:pt x="3331988" y="54228"/>
                  </a:lnTo>
                  <a:lnTo>
                    <a:pt x="3371943" y="76821"/>
                  </a:lnTo>
                  <a:lnTo>
                    <a:pt x="3409532" y="102835"/>
                  </a:lnTo>
                  <a:lnTo>
                    <a:pt x="3444545" y="132061"/>
                  </a:lnTo>
                  <a:lnTo>
                    <a:pt x="3476770" y="164286"/>
                  </a:lnTo>
                  <a:lnTo>
                    <a:pt x="3505996" y="199299"/>
                  </a:lnTo>
                  <a:lnTo>
                    <a:pt x="3532010" y="236888"/>
                  </a:lnTo>
                  <a:lnTo>
                    <a:pt x="3554603" y="276843"/>
                  </a:lnTo>
                  <a:lnTo>
                    <a:pt x="3573561" y="318952"/>
                  </a:lnTo>
                  <a:lnTo>
                    <a:pt x="3588675" y="363003"/>
                  </a:lnTo>
                  <a:lnTo>
                    <a:pt x="3599732" y="408785"/>
                  </a:lnTo>
                  <a:lnTo>
                    <a:pt x="3606521" y="456087"/>
                  </a:lnTo>
                  <a:lnTo>
                    <a:pt x="3608831" y="504698"/>
                  </a:lnTo>
                  <a:lnTo>
                    <a:pt x="3608831" y="2523490"/>
                  </a:lnTo>
                  <a:lnTo>
                    <a:pt x="3606521" y="2572100"/>
                  </a:lnTo>
                  <a:lnTo>
                    <a:pt x="3599732" y="2619402"/>
                  </a:lnTo>
                  <a:lnTo>
                    <a:pt x="3588675" y="2665184"/>
                  </a:lnTo>
                  <a:lnTo>
                    <a:pt x="3573561" y="2709235"/>
                  </a:lnTo>
                  <a:lnTo>
                    <a:pt x="3554603" y="2751344"/>
                  </a:lnTo>
                  <a:lnTo>
                    <a:pt x="3532010" y="2791299"/>
                  </a:lnTo>
                  <a:lnTo>
                    <a:pt x="3505996" y="2828888"/>
                  </a:lnTo>
                  <a:lnTo>
                    <a:pt x="3476770" y="2863901"/>
                  </a:lnTo>
                  <a:lnTo>
                    <a:pt x="3444545" y="2896126"/>
                  </a:lnTo>
                  <a:lnTo>
                    <a:pt x="3409532" y="2925352"/>
                  </a:lnTo>
                  <a:lnTo>
                    <a:pt x="3371943" y="2951366"/>
                  </a:lnTo>
                  <a:lnTo>
                    <a:pt x="3331988" y="2973959"/>
                  </a:lnTo>
                  <a:lnTo>
                    <a:pt x="3289879" y="2992917"/>
                  </a:lnTo>
                  <a:lnTo>
                    <a:pt x="3245828" y="3008031"/>
                  </a:lnTo>
                  <a:lnTo>
                    <a:pt x="3200046" y="3019088"/>
                  </a:lnTo>
                  <a:lnTo>
                    <a:pt x="3152744" y="3025877"/>
                  </a:lnTo>
                  <a:lnTo>
                    <a:pt x="3104133" y="3028188"/>
                  </a:lnTo>
                  <a:lnTo>
                    <a:pt x="504698" y="3028188"/>
                  </a:lnTo>
                  <a:lnTo>
                    <a:pt x="456087" y="3025877"/>
                  </a:lnTo>
                  <a:lnTo>
                    <a:pt x="408785" y="3019088"/>
                  </a:lnTo>
                  <a:lnTo>
                    <a:pt x="363003" y="3008031"/>
                  </a:lnTo>
                  <a:lnTo>
                    <a:pt x="318952" y="2992917"/>
                  </a:lnTo>
                  <a:lnTo>
                    <a:pt x="276843" y="2973959"/>
                  </a:lnTo>
                  <a:lnTo>
                    <a:pt x="236888" y="2951366"/>
                  </a:lnTo>
                  <a:lnTo>
                    <a:pt x="199299" y="2925352"/>
                  </a:lnTo>
                  <a:lnTo>
                    <a:pt x="164286" y="2896126"/>
                  </a:lnTo>
                  <a:lnTo>
                    <a:pt x="132061" y="2863901"/>
                  </a:lnTo>
                  <a:lnTo>
                    <a:pt x="102835" y="2828888"/>
                  </a:lnTo>
                  <a:lnTo>
                    <a:pt x="76821" y="2791299"/>
                  </a:lnTo>
                  <a:lnTo>
                    <a:pt x="54228" y="2751344"/>
                  </a:lnTo>
                  <a:lnTo>
                    <a:pt x="35270" y="2709235"/>
                  </a:lnTo>
                  <a:lnTo>
                    <a:pt x="20156" y="2665184"/>
                  </a:lnTo>
                  <a:lnTo>
                    <a:pt x="9099" y="2619402"/>
                  </a:lnTo>
                  <a:lnTo>
                    <a:pt x="2310" y="2572100"/>
                  </a:lnTo>
                  <a:lnTo>
                    <a:pt x="0" y="2523490"/>
                  </a:lnTo>
                  <a:lnTo>
                    <a:pt x="0" y="504698"/>
                  </a:lnTo>
                  <a:close/>
                </a:path>
                <a:path w="3609340" h="3028315">
                  <a:moveTo>
                    <a:pt x="1845564" y="80010"/>
                  </a:moveTo>
                  <a:lnTo>
                    <a:pt x="1845564" y="2811272"/>
                  </a:lnTo>
                </a:path>
              </a:pathLst>
            </a:custGeom>
            <a:ln w="38100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10721593" y="6278626"/>
            <a:ext cx="94996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200">
                <a:latin typeface="Cambria Math"/>
                <a:cs typeface="Cambria Math"/>
              </a:rPr>
              <a:t>𝑫</a:t>
            </a:r>
            <a:r>
              <a:rPr sz="2400" baseline="-15625">
                <a:latin typeface="Cambria Math"/>
                <a:cs typeface="Cambria Math"/>
              </a:rPr>
              <a:t>𝟔</a:t>
            </a:r>
            <a:r>
              <a:rPr sz="2400" spc="517" baseline="-15625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=</a:t>
            </a:r>
            <a:r>
              <a:rPr sz="2200" spc="110">
                <a:latin typeface="Cambria Math"/>
                <a:cs typeface="Cambria Math"/>
              </a:rPr>
              <a:t> </a:t>
            </a:r>
            <a:r>
              <a:rPr sz="2200" spc="-50">
                <a:latin typeface="Cambria Math"/>
                <a:cs typeface="Cambria Math"/>
              </a:rPr>
              <a:t>𝟏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10548366" y="5124450"/>
            <a:ext cx="1057910" cy="222250"/>
          </a:xfrm>
          <a:custGeom>
            <a:avLst/>
            <a:gdLst/>
            <a:ahLst/>
            <a:cxnLst/>
            <a:rect l="l" t="t" r="r" b="b"/>
            <a:pathLst>
              <a:path w="1057909" h="222250">
                <a:moveTo>
                  <a:pt x="0" y="0"/>
                </a:moveTo>
                <a:lnTo>
                  <a:pt x="1448" y="43148"/>
                </a:lnTo>
                <a:lnTo>
                  <a:pt x="5397" y="78390"/>
                </a:lnTo>
                <a:lnTo>
                  <a:pt x="11251" y="102155"/>
                </a:lnTo>
                <a:lnTo>
                  <a:pt x="18414" y="110871"/>
                </a:lnTo>
                <a:lnTo>
                  <a:pt x="510285" y="110871"/>
                </a:lnTo>
                <a:lnTo>
                  <a:pt x="517523" y="119586"/>
                </a:lnTo>
                <a:lnTo>
                  <a:pt x="523414" y="143351"/>
                </a:lnTo>
                <a:lnTo>
                  <a:pt x="527377" y="178593"/>
                </a:lnTo>
                <a:lnTo>
                  <a:pt x="528827" y="221741"/>
                </a:lnTo>
                <a:lnTo>
                  <a:pt x="530276" y="178593"/>
                </a:lnTo>
                <a:lnTo>
                  <a:pt x="534225" y="143351"/>
                </a:lnTo>
                <a:lnTo>
                  <a:pt x="540079" y="119586"/>
                </a:lnTo>
                <a:lnTo>
                  <a:pt x="547242" y="110871"/>
                </a:lnTo>
                <a:lnTo>
                  <a:pt x="1039113" y="110871"/>
                </a:lnTo>
                <a:lnTo>
                  <a:pt x="1046351" y="102155"/>
                </a:lnTo>
                <a:lnTo>
                  <a:pt x="1052242" y="78390"/>
                </a:lnTo>
                <a:lnTo>
                  <a:pt x="1056205" y="43148"/>
                </a:lnTo>
                <a:lnTo>
                  <a:pt x="1057655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1089385" y="6156197"/>
            <a:ext cx="505459" cy="173355"/>
          </a:xfrm>
          <a:custGeom>
            <a:avLst/>
            <a:gdLst/>
            <a:ahLst/>
            <a:cxnLst/>
            <a:rect l="l" t="t" r="r" b="b"/>
            <a:pathLst>
              <a:path w="505459" h="173354">
                <a:moveTo>
                  <a:pt x="0" y="0"/>
                </a:moveTo>
                <a:lnTo>
                  <a:pt x="1135" y="33664"/>
                </a:lnTo>
                <a:lnTo>
                  <a:pt x="4222" y="61155"/>
                </a:lnTo>
                <a:lnTo>
                  <a:pt x="8786" y="79690"/>
                </a:lnTo>
                <a:lnTo>
                  <a:pt x="14350" y="86486"/>
                </a:lnTo>
                <a:lnTo>
                  <a:pt x="238252" y="86486"/>
                </a:lnTo>
                <a:lnTo>
                  <a:pt x="243816" y="93283"/>
                </a:lnTo>
                <a:lnTo>
                  <a:pt x="248380" y="111818"/>
                </a:lnTo>
                <a:lnTo>
                  <a:pt x="251467" y="139309"/>
                </a:lnTo>
                <a:lnTo>
                  <a:pt x="252603" y="172973"/>
                </a:lnTo>
                <a:lnTo>
                  <a:pt x="253738" y="139309"/>
                </a:lnTo>
                <a:lnTo>
                  <a:pt x="256825" y="111818"/>
                </a:lnTo>
                <a:lnTo>
                  <a:pt x="261389" y="93283"/>
                </a:lnTo>
                <a:lnTo>
                  <a:pt x="266954" y="86486"/>
                </a:lnTo>
                <a:lnTo>
                  <a:pt x="490855" y="86486"/>
                </a:lnTo>
                <a:lnTo>
                  <a:pt x="496419" y="79690"/>
                </a:lnTo>
                <a:lnTo>
                  <a:pt x="500983" y="61155"/>
                </a:lnTo>
                <a:lnTo>
                  <a:pt x="504070" y="33664"/>
                </a:lnTo>
                <a:lnTo>
                  <a:pt x="505206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6" name="object 46"/>
          <p:cNvGraphicFramePr>
            <a:graphicFrameLocks noGrp="1"/>
          </p:cNvGraphicFramePr>
          <p:nvPr/>
        </p:nvGraphicFramePr>
        <p:xfrm>
          <a:off x="1598802" y="2655823"/>
          <a:ext cx="5882636" cy="678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5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9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54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28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6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804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804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8043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95605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1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00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889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8900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7" name="object 47"/>
          <p:cNvGraphicFramePr>
            <a:graphicFrameLocks noGrp="1"/>
          </p:cNvGraphicFramePr>
          <p:nvPr/>
        </p:nvGraphicFramePr>
        <p:xfrm>
          <a:off x="1598802" y="3846195"/>
          <a:ext cx="5878826" cy="6832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9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2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1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9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98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798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AF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92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732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700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84582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4582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8" name="object 48"/>
          <p:cNvSpPr txBox="1"/>
          <p:nvPr/>
        </p:nvSpPr>
        <p:spPr>
          <a:xfrm>
            <a:off x="2597911" y="3335020"/>
            <a:ext cx="950594" cy="361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200">
                <a:latin typeface="Cambria Math"/>
                <a:cs typeface="Cambria Math"/>
              </a:rPr>
              <a:t>𝑫</a:t>
            </a:r>
            <a:r>
              <a:rPr sz="2400" baseline="-15625">
                <a:latin typeface="Cambria Math"/>
                <a:cs typeface="Cambria Math"/>
              </a:rPr>
              <a:t>𝟏</a:t>
            </a:r>
            <a:r>
              <a:rPr sz="2400" spc="517" baseline="-15625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=</a:t>
            </a:r>
            <a:r>
              <a:rPr sz="2200" spc="110">
                <a:latin typeface="Cambria Math"/>
                <a:cs typeface="Cambria Math"/>
              </a:rPr>
              <a:t> </a:t>
            </a:r>
            <a:r>
              <a:rPr sz="2200" spc="-50">
                <a:latin typeface="Cambria Math"/>
                <a:cs typeface="Cambria Math"/>
              </a:rPr>
              <a:t>𝟗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329178" y="4664964"/>
            <a:ext cx="14795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spc="-50">
                <a:latin typeface="Cambria Math"/>
                <a:cs typeface="Cambria Math"/>
              </a:rPr>
              <a:t>𝟐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119627" y="4532376"/>
            <a:ext cx="89916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3705" algn="l"/>
              </a:tabLst>
            </a:pPr>
            <a:r>
              <a:rPr sz="2200" spc="-50">
                <a:latin typeface="Cambria Math"/>
                <a:cs typeface="Cambria Math"/>
              </a:rPr>
              <a:t>𝑫</a:t>
            </a:r>
            <a:r>
              <a:rPr sz="2200">
                <a:latin typeface="Cambria Math"/>
                <a:cs typeface="Cambria Math"/>
              </a:rPr>
              <a:t>	=</a:t>
            </a:r>
            <a:r>
              <a:rPr sz="2200" spc="110">
                <a:latin typeface="Cambria Math"/>
                <a:cs typeface="Cambria Math"/>
              </a:rPr>
              <a:t> </a:t>
            </a:r>
            <a:r>
              <a:rPr sz="2200" spc="-50">
                <a:latin typeface="Cambria Math"/>
                <a:cs typeface="Cambria Math"/>
              </a:rPr>
              <a:t>𝟓</a:t>
            </a:r>
            <a:endParaRPr sz="2200">
              <a:latin typeface="Cambria Math"/>
              <a:cs typeface="Cambria Math"/>
            </a:endParaRPr>
          </a:p>
        </p:txBody>
      </p:sp>
      <p:graphicFrame>
        <p:nvGraphicFramePr>
          <p:cNvPr id="51" name="object 51"/>
          <p:cNvGraphicFramePr>
            <a:graphicFrameLocks noGrp="1"/>
          </p:cNvGraphicFramePr>
          <p:nvPr/>
        </p:nvGraphicFramePr>
        <p:xfrm>
          <a:off x="1598802" y="5040248"/>
          <a:ext cx="5878828" cy="3956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9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98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98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92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2" name="object 52"/>
          <p:cNvSpPr txBox="1"/>
          <p:nvPr/>
        </p:nvSpPr>
        <p:spPr>
          <a:xfrm>
            <a:off x="3504184" y="5679694"/>
            <a:ext cx="950594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200">
                <a:latin typeface="Cambria Math"/>
                <a:cs typeface="Cambria Math"/>
              </a:rPr>
              <a:t>𝑫</a:t>
            </a:r>
            <a:r>
              <a:rPr sz="2400" baseline="-15625">
                <a:latin typeface="Cambria Math"/>
                <a:cs typeface="Cambria Math"/>
              </a:rPr>
              <a:t>𝟑</a:t>
            </a:r>
            <a:r>
              <a:rPr sz="2400" spc="517" baseline="-15625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=</a:t>
            </a:r>
            <a:r>
              <a:rPr sz="2200" spc="114">
                <a:latin typeface="Cambria Math"/>
                <a:cs typeface="Cambria Math"/>
              </a:rPr>
              <a:t> </a:t>
            </a:r>
            <a:r>
              <a:rPr sz="2200" spc="-50">
                <a:latin typeface="Cambria Math"/>
                <a:cs typeface="Cambria Math"/>
              </a:rPr>
              <a:t>𝟑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3553205" y="5463540"/>
            <a:ext cx="906780" cy="295910"/>
          </a:xfrm>
          <a:custGeom>
            <a:avLst/>
            <a:gdLst/>
            <a:ahLst/>
            <a:cxnLst/>
            <a:rect l="l" t="t" r="r" b="b"/>
            <a:pathLst>
              <a:path w="906778" h="295910">
                <a:moveTo>
                  <a:pt x="0" y="0"/>
                </a:moveTo>
                <a:lnTo>
                  <a:pt x="1938" y="57548"/>
                </a:lnTo>
                <a:lnTo>
                  <a:pt x="7223" y="104536"/>
                </a:lnTo>
                <a:lnTo>
                  <a:pt x="15055" y="136213"/>
                </a:lnTo>
                <a:lnTo>
                  <a:pt x="24638" y="147828"/>
                </a:lnTo>
                <a:lnTo>
                  <a:pt x="428752" y="147828"/>
                </a:lnTo>
                <a:lnTo>
                  <a:pt x="438334" y="159444"/>
                </a:lnTo>
                <a:lnTo>
                  <a:pt x="446166" y="191123"/>
                </a:lnTo>
                <a:lnTo>
                  <a:pt x="451451" y="238112"/>
                </a:lnTo>
                <a:lnTo>
                  <a:pt x="453390" y="295656"/>
                </a:lnTo>
                <a:lnTo>
                  <a:pt x="455328" y="238112"/>
                </a:lnTo>
                <a:lnTo>
                  <a:pt x="460613" y="191123"/>
                </a:lnTo>
                <a:lnTo>
                  <a:pt x="468445" y="159444"/>
                </a:lnTo>
                <a:lnTo>
                  <a:pt x="478028" y="147828"/>
                </a:lnTo>
                <a:lnTo>
                  <a:pt x="882142" y="147828"/>
                </a:lnTo>
                <a:lnTo>
                  <a:pt x="891724" y="136213"/>
                </a:lnTo>
                <a:lnTo>
                  <a:pt x="899556" y="104536"/>
                </a:lnTo>
                <a:lnTo>
                  <a:pt x="904841" y="57548"/>
                </a:lnTo>
                <a:lnTo>
                  <a:pt x="90678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7857743" y="935735"/>
            <a:ext cx="184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>
                <a:latin typeface="Cambria Math"/>
                <a:cs typeface="Cambria Math"/>
              </a:rPr>
              <a:t>𝑿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845043" y="3838955"/>
            <a:ext cx="184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>
                <a:latin typeface="Cambria Math"/>
                <a:cs typeface="Cambria Math"/>
              </a:rPr>
              <a:t>𝑿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857743" y="1917191"/>
            <a:ext cx="184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>
                <a:latin typeface="Cambria Math"/>
                <a:cs typeface="Cambria Math"/>
              </a:rPr>
              <a:t>𝑿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7857743" y="2899664"/>
            <a:ext cx="184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>
                <a:latin typeface="Cambria Math"/>
                <a:cs typeface="Cambria Math"/>
              </a:rPr>
              <a:t>𝑿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7857743" y="4783835"/>
            <a:ext cx="184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>
                <a:latin typeface="Cambria Math"/>
                <a:cs typeface="Cambria Math"/>
              </a:rPr>
              <a:t>𝑿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7845043" y="5760720"/>
            <a:ext cx="184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>
                <a:latin typeface="Cambria Math"/>
                <a:cs typeface="Cambria Math"/>
              </a:rPr>
              <a:t>𝑿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147317" y="2689352"/>
            <a:ext cx="184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>
                <a:latin typeface="Cambria Math"/>
                <a:cs typeface="Cambria Math"/>
              </a:rPr>
              <a:t>𝑿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147317" y="3879850"/>
            <a:ext cx="184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>
                <a:latin typeface="Cambria Math"/>
                <a:cs typeface="Cambria Math"/>
              </a:rPr>
              <a:t>𝑿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147317" y="5086350"/>
            <a:ext cx="1841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>
                <a:latin typeface="Cambria Math"/>
                <a:cs typeface="Cambria Math"/>
              </a:rPr>
              <a:t>𝑿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65" name="object 3">
            <a:extLst>
              <a:ext uri="{FF2B5EF4-FFF2-40B4-BE49-F238E27FC236}">
                <a16:creationId xmlns:a16="http://schemas.microsoft.com/office/drawing/2014/main" id="{A42F4D8F-7694-B545-82D9-15FCCB5E28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62125" y="147380"/>
            <a:ext cx="255460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规律观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察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cxnSp>
        <p:nvCxnSpPr>
          <p:cNvPr id="66" name="直线连接符 65">
            <a:extLst>
              <a:ext uri="{FF2B5EF4-FFF2-40B4-BE49-F238E27FC236}">
                <a16:creationId xmlns:a16="http://schemas.microsoft.com/office/drawing/2014/main" id="{8EDAE73C-895A-204A-BB7E-10F3A9DDC8DC}"/>
              </a:ext>
            </a:extLst>
          </p:cNvPr>
          <p:cNvCxnSpPr>
            <a:cxnSpLocks/>
          </p:cNvCxnSpPr>
          <p:nvPr/>
        </p:nvCxnSpPr>
        <p:spPr>
          <a:xfrm>
            <a:off x="3139947" y="3180079"/>
            <a:ext cx="133515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线连接符 66">
            <a:extLst>
              <a:ext uri="{FF2B5EF4-FFF2-40B4-BE49-F238E27FC236}">
                <a16:creationId xmlns:a16="http://schemas.microsoft.com/office/drawing/2014/main" id="{1D517169-CF7A-914B-9383-FFDFF9CD0A2E}"/>
              </a:ext>
            </a:extLst>
          </p:cNvPr>
          <p:cNvCxnSpPr>
            <a:cxnSpLocks/>
          </p:cNvCxnSpPr>
          <p:nvPr/>
        </p:nvCxnSpPr>
        <p:spPr>
          <a:xfrm>
            <a:off x="3601845" y="4385689"/>
            <a:ext cx="86309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3740" y="798225"/>
            <a:ext cx="2554605" cy="1004569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89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80365" algn="l"/>
                <a:tab pos="381000" algn="l"/>
              </a:tabLst>
            </a:pPr>
            <a:r>
              <a:rPr sz="2800" spc="-10" dirty="0" err="1">
                <a:latin typeface="PMingLiU"/>
                <a:cs typeface="PMingLiU"/>
              </a:rPr>
              <a:t>结尾位置相同</a:t>
            </a:r>
            <a:endParaRPr sz="2800" dirty="0">
              <a:latin typeface="PMingLiU"/>
              <a:cs typeface="PMingLiU"/>
            </a:endParaRPr>
          </a:p>
          <a:p>
            <a:pPr marL="729615" lvl="1" indent="-347980">
              <a:lnSpc>
                <a:spcPct val="100000"/>
              </a:lnSpc>
              <a:spcBef>
                <a:spcPts val="6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29615" algn="l"/>
                <a:tab pos="730250" algn="l"/>
              </a:tabLst>
            </a:pPr>
            <a:r>
              <a:rPr sz="2400" dirty="0">
                <a:latin typeface="Cambria Math"/>
                <a:cs typeface="Cambria Math"/>
              </a:rPr>
              <a:t>𝑫</a:t>
            </a:r>
            <a:r>
              <a:rPr sz="2625" baseline="-15873" dirty="0">
                <a:latin typeface="Cambria Math"/>
                <a:cs typeface="Cambria Math"/>
              </a:rPr>
              <a:t>𝟏</a:t>
            </a:r>
            <a:r>
              <a:rPr sz="2400" dirty="0">
                <a:latin typeface="Cambria Math"/>
                <a:cs typeface="Cambria Math"/>
              </a:rPr>
              <a:t>,</a:t>
            </a:r>
            <a:r>
              <a:rPr sz="2400" spc="-4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𝑫</a:t>
            </a:r>
            <a:r>
              <a:rPr sz="2625" baseline="-15873" dirty="0">
                <a:latin typeface="Cambria Math"/>
                <a:cs typeface="Cambria Math"/>
              </a:rPr>
              <a:t>𝟐</a:t>
            </a:r>
            <a:r>
              <a:rPr sz="2400" dirty="0">
                <a:latin typeface="Cambria Math"/>
                <a:cs typeface="Cambria Math"/>
              </a:rPr>
              <a:t>,</a:t>
            </a:r>
            <a:r>
              <a:rPr sz="2400" spc="-45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𝑫</a:t>
            </a:r>
            <a:r>
              <a:rPr sz="2625" spc="-37" baseline="-15873" dirty="0">
                <a:latin typeface="Cambria Math"/>
                <a:cs typeface="Cambria Math"/>
              </a:rPr>
              <a:t>𝟑</a:t>
            </a:r>
            <a:endParaRPr sz="2625" baseline="-15873" dirty="0">
              <a:latin typeface="Cambria Math"/>
              <a:cs typeface="Cambria Math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02534" y="1929129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38227" y="10160"/>
                </a:lnTo>
                <a:lnTo>
                  <a:pt x="38227" y="248920"/>
                </a:lnTo>
                <a:lnTo>
                  <a:pt x="0" y="24892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4892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762631" y="1929129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0" y="24892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48920"/>
                </a:lnTo>
                <a:lnTo>
                  <a:pt x="22733" y="248920"/>
                </a:lnTo>
                <a:lnTo>
                  <a:pt x="22733" y="1016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002534" y="2330449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1430"/>
                </a:lnTo>
                <a:lnTo>
                  <a:pt x="38227" y="11430"/>
                </a:lnTo>
                <a:lnTo>
                  <a:pt x="38227" y="250190"/>
                </a:lnTo>
                <a:lnTo>
                  <a:pt x="0" y="25019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50190"/>
                </a:lnTo>
                <a:lnTo>
                  <a:pt x="60960" y="1143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762631" y="2330449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1430"/>
                </a:lnTo>
                <a:lnTo>
                  <a:pt x="0" y="25019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50190"/>
                </a:lnTo>
                <a:lnTo>
                  <a:pt x="22733" y="250190"/>
                </a:lnTo>
                <a:lnTo>
                  <a:pt x="22733" y="11430"/>
                </a:lnTo>
                <a:lnTo>
                  <a:pt x="60960" y="1143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407160" y="1779574"/>
            <a:ext cx="2401570" cy="83058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25"/>
              </a:spcBef>
              <a:tabLst>
                <a:tab pos="424180" algn="l"/>
                <a:tab pos="1748789" algn="l"/>
              </a:tabLst>
            </a:pPr>
            <a:r>
              <a:rPr sz="1550" spc="305">
                <a:solidFill>
                  <a:srgbClr val="EB91D7"/>
                </a:solidFill>
                <a:latin typeface="PMingLiU"/>
                <a:cs typeface="PMingLiU"/>
              </a:rPr>
              <a:t>o</a:t>
            </a:r>
            <a:r>
              <a:rPr sz="1550">
                <a:solidFill>
                  <a:srgbClr val="EB91D7"/>
                </a:solidFill>
                <a:latin typeface="PMingLiU"/>
                <a:cs typeface="PMingLiU"/>
              </a:rPr>
              <a:t>	</a:t>
            </a:r>
            <a:r>
              <a:rPr sz="2200">
                <a:latin typeface="Cambria Math"/>
                <a:cs typeface="Cambria Math"/>
              </a:rPr>
              <a:t>𝑫</a:t>
            </a:r>
            <a:r>
              <a:rPr sz="2400" baseline="-15625">
                <a:latin typeface="Cambria Math"/>
                <a:cs typeface="Cambria Math"/>
              </a:rPr>
              <a:t>𝟐</a:t>
            </a:r>
            <a:r>
              <a:rPr sz="2400" spc="509" baseline="-15625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=</a:t>
            </a:r>
            <a:r>
              <a:rPr sz="2200" spc="120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𝑿</a:t>
            </a:r>
            <a:r>
              <a:rPr sz="2200" spc="275">
                <a:latin typeface="Cambria Math"/>
                <a:cs typeface="Cambria Math"/>
              </a:rPr>
              <a:t> </a:t>
            </a:r>
            <a:r>
              <a:rPr sz="2200" spc="-50">
                <a:latin typeface="Cambria Math"/>
                <a:cs typeface="Cambria Math"/>
              </a:rPr>
              <a:t>𝟐</a:t>
            </a:r>
            <a:r>
              <a:rPr sz="2200">
                <a:latin typeface="Cambria Math"/>
                <a:cs typeface="Cambria Math"/>
              </a:rPr>
              <a:t>	+</a:t>
            </a:r>
            <a:r>
              <a:rPr sz="2200" spc="-10">
                <a:latin typeface="Cambria Math"/>
                <a:cs typeface="Cambria Math"/>
              </a:rPr>
              <a:t> </a:t>
            </a:r>
            <a:r>
              <a:rPr sz="2200" spc="-25">
                <a:latin typeface="Cambria Math"/>
                <a:cs typeface="Cambria Math"/>
              </a:rPr>
              <a:t>𝑫</a:t>
            </a:r>
            <a:r>
              <a:rPr sz="2400" spc="-37" baseline="-15625">
                <a:latin typeface="Cambria Math"/>
                <a:cs typeface="Cambria Math"/>
              </a:rPr>
              <a:t>𝟑</a:t>
            </a:r>
            <a:endParaRPr sz="2400" baseline="-15625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530"/>
              </a:spcBef>
              <a:tabLst>
                <a:tab pos="424180" algn="l"/>
                <a:tab pos="1748789" algn="l"/>
              </a:tabLst>
            </a:pPr>
            <a:r>
              <a:rPr sz="1550" spc="305">
                <a:solidFill>
                  <a:srgbClr val="EB91D7"/>
                </a:solidFill>
                <a:latin typeface="PMingLiU"/>
                <a:cs typeface="PMingLiU"/>
              </a:rPr>
              <a:t>o</a:t>
            </a:r>
            <a:r>
              <a:rPr sz="1550">
                <a:solidFill>
                  <a:srgbClr val="EB91D7"/>
                </a:solidFill>
                <a:latin typeface="PMingLiU"/>
                <a:cs typeface="PMingLiU"/>
              </a:rPr>
              <a:t>	</a:t>
            </a:r>
            <a:r>
              <a:rPr sz="2200">
                <a:latin typeface="Cambria Math"/>
                <a:cs typeface="Cambria Math"/>
              </a:rPr>
              <a:t>𝑫</a:t>
            </a:r>
            <a:r>
              <a:rPr sz="2400" baseline="-15625">
                <a:latin typeface="Cambria Math"/>
                <a:cs typeface="Cambria Math"/>
              </a:rPr>
              <a:t>𝟏</a:t>
            </a:r>
            <a:r>
              <a:rPr sz="2400" spc="509" baseline="-15625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=</a:t>
            </a:r>
            <a:r>
              <a:rPr sz="2200" spc="120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𝑿</a:t>
            </a:r>
            <a:r>
              <a:rPr sz="2200" spc="275">
                <a:latin typeface="Cambria Math"/>
                <a:cs typeface="Cambria Math"/>
              </a:rPr>
              <a:t> </a:t>
            </a:r>
            <a:r>
              <a:rPr sz="2200" spc="-50">
                <a:latin typeface="Cambria Math"/>
                <a:cs typeface="Cambria Math"/>
              </a:rPr>
              <a:t>𝟏</a:t>
            </a:r>
            <a:r>
              <a:rPr sz="2200">
                <a:latin typeface="Cambria Math"/>
                <a:cs typeface="Cambria Math"/>
              </a:rPr>
              <a:t>	+</a:t>
            </a:r>
            <a:r>
              <a:rPr sz="2200" spc="-10">
                <a:latin typeface="Cambria Math"/>
                <a:cs typeface="Cambria Math"/>
              </a:rPr>
              <a:t> </a:t>
            </a:r>
            <a:r>
              <a:rPr sz="2200" spc="-25">
                <a:latin typeface="Cambria Math"/>
                <a:cs typeface="Cambria Math"/>
              </a:rPr>
              <a:t>𝑫</a:t>
            </a:r>
            <a:r>
              <a:rPr sz="2400" spc="-37" baseline="-15625">
                <a:latin typeface="Cambria Math"/>
                <a:cs typeface="Cambria Math"/>
              </a:rPr>
              <a:t>𝟐</a:t>
            </a:r>
            <a:endParaRPr sz="2400" baseline="-15625">
              <a:latin typeface="Cambria Math"/>
              <a:cs typeface="Cambria Math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289797" y="895985"/>
            <a:ext cx="3383279" cy="434340"/>
            <a:chOff x="8289797" y="895985"/>
            <a:chExt cx="3383279" cy="434340"/>
          </a:xfrm>
        </p:grpSpPr>
        <p:sp>
          <p:nvSpPr>
            <p:cNvPr id="10" name="object 10"/>
            <p:cNvSpPr/>
            <p:nvPr/>
          </p:nvSpPr>
          <p:spPr>
            <a:xfrm>
              <a:off x="8315198" y="908684"/>
              <a:ext cx="1666875" cy="396240"/>
            </a:xfrm>
            <a:custGeom>
              <a:avLst/>
              <a:gdLst/>
              <a:ahLst/>
              <a:cxnLst/>
              <a:rect l="l" t="t" r="r" b="b"/>
              <a:pathLst>
                <a:path w="1666875" h="396240">
                  <a:moveTo>
                    <a:pt x="1110805" y="0"/>
                  </a:moveTo>
                  <a:lnTo>
                    <a:pt x="555434" y="0"/>
                  </a:lnTo>
                  <a:lnTo>
                    <a:pt x="0" y="0"/>
                  </a:lnTo>
                  <a:lnTo>
                    <a:pt x="0" y="396240"/>
                  </a:lnTo>
                  <a:lnTo>
                    <a:pt x="555371" y="396240"/>
                  </a:lnTo>
                  <a:lnTo>
                    <a:pt x="1110805" y="396240"/>
                  </a:lnTo>
                  <a:lnTo>
                    <a:pt x="1110805" y="0"/>
                  </a:lnTo>
                  <a:close/>
                </a:path>
                <a:path w="1666875" h="396240">
                  <a:moveTo>
                    <a:pt x="1666303" y="0"/>
                  </a:moveTo>
                  <a:lnTo>
                    <a:pt x="1110869" y="0"/>
                  </a:lnTo>
                  <a:lnTo>
                    <a:pt x="1110869" y="396240"/>
                  </a:lnTo>
                  <a:lnTo>
                    <a:pt x="1666303" y="396240"/>
                  </a:lnTo>
                  <a:lnTo>
                    <a:pt x="1666303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308847" y="902335"/>
              <a:ext cx="3345179" cy="421640"/>
            </a:xfrm>
            <a:custGeom>
              <a:avLst/>
              <a:gdLst/>
              <a:ahLst/>
              <a:cxnLst/>
              <a:rect l="l" t="t" r="r" b="b"/>
              <a:pathLst>
                <a:path w="3345179" h="421640">
                  <a:moveTo>
                    <a:pt x="561721" y="0"/>
                  </a:moveTo>
                  <a:lnTo>
                    <a:pt x="561721" y="421639"/>
                  </a:lnTo>
                </a:path>
                <a:path w="3345179" h="421640">
                  <a:moveTo>
                    <a:pt x="1117219" y="0"/>
                  </a:moveTo>
                  <a:lnTo>
                    <a:pt x="1117219" y="421639"/>
                  </a:lnTo>
                </a:path>
                <a:path w="3345179" h="421640">
                  <a:moveTo>
                    <a:pt x="1672590" y="0"/>
                  </a:moveTo>
                  <a:lnTo>
                    <a:pt x="1672590" y="421639"/>
                  </a:lnTo>
                </a:path>
                <a:path w="3345179" h="421640">
                  <a:moveTo>
                    <a:pt x="6350" y="0"/>
                  </a:moveTo>
                  <a:lnTo>
                    <a:pt x="6350" y="421639"/>
                  </a:lnTo>
                </a:path>
                <a:path w="3345179" h="421640">
                  <a:moveTo>
                    <a:pt x="2227960" y="0"/>
                  </a:moveTo>
                  <a:lnTo>
                    <a:pt x="2227960" y="421639"/>
                  </a:lnTo>
                </a:path>
                <a:path w="3345179" h="421640">
                  <a:moveTo>
                    <a:pt x="2783458" y="0"/>
                  </a:moveTo>
                  <a:lnTo>
                    <a:pt x="2783458" y="421639"/>
                  </a:lnTo>
                </a:path>
                <a:path w="3345179" h="421640">
                  <a:moveTo>
                    <a:pt x="3338829" y="0"/>
                  </a:moveTo>
                  <a:lnTo>
                    <a:pt x="3338829" y="421639"/>
                  </a:lnTo>
                </a:path>
                <a:path w="3345179" h="421640">
                  <a:moveTo>
                    <a:pt x="0" y="6350"/>
                  </a:moveTo>
                  <a:lnTo>
                    <a:pt x="3345179" y="635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308847" y="1304925"/>
              <a:ext cx="3345179" cy="0"/>
            </a:xfrm>
            <a:custGeom>
              <a:avLst/>
              <a:gdLst/>
              <a:ahLst/>
              <a:cxnLst/>
              <a:rect l="l" t="t" r="r" b="b"/>
              <a:pathLst>
                <a:path w="3345179">
                  <a:moveTo>
                    <a:pt x="0" y="0"/>
                  </a:moveTo>
                  <a:lnTo>
                    <a:pt x="3345179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0000488" y="915035"/>
            <a:ext cx="530225" cy="37084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0480" rIns="0" bIns="0" rtlCol="0">
            <a:spAutoFit/>
          </a:bodyPr>
          <a:lstStyle/>
          <a:p>
            <a:pPr marL="153035">
              <a:lnSpc>
                <a:spcPct val="100000"/>
              </a:lnSpc>
              <a:spcBef>
                <a:spcPts val="240"/>
              </a:spcBef>
            </a:pPr>
            <a:r>
              <a:rPr sz="2000" b="1" spc="-1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sz="2000" b="1" spc="-5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543158" y="915035"/>
            <a:ext cx="542925" cy="37084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048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240"/>
              </a:spcBef>
            </a:pPr>
            <a:r>
              <a:rPr sz="2000" b="1" spc="-5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098656" y="915035"/>
            <a:ext cx="542925" cy="37084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048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240"/>
              </a:spcBef>
            </a:pPr>
            <a:r>
              <a:rPr sz="2000" b="1" spc="-5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8313039" y="4737353"/>
          <a:ext cx="3329937" cy="3956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4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49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49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49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49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720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8308847" y="3778630"/>
          <a:ext cx="3333748" cy="6375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46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09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86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699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720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31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4620"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83057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3057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8308847" y="5719673"/>
          <a:ext cx="3333750" cy="4210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10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720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" name="object 19"/>
          <p:cNvSpPr/>
          <p:nvPr/>
        </p:nvSpPr>
        <p:spPr>
          <a:xfrm>
            <a:off x="8370569" y="1270253"/>
            <a:ext cx="1569720" cy="269875"/>
          </a:xfrm>
          <a:custGeom>
            <a:avLst/>
            <a:gdLst/>
            <a:ahLst/>
            <a:cxnLst/>
            <a:rect l="l" t="t" r="r" b="b"/>
            <a:pathLst>
              <a:path w="1569720" h="269875">
                <a:moveTo>
                  <a:pt x="0" y="0"/>
                </a:moveTo>
                <a:lnTo>
                  <a:pt x="1762" y="52524"/>
                </a:lnTo>
                <a:lnTo>
                  <a:pt x="6572" y="95392"/>
                </a:lnTo>
                <a:lnTo>
                  <a:pt x="13715" y="124283"/>
                </a:lnTo>
                <a:lnTo>
                  <a:pt x="22478" y="134874"/>
                </a:lnTo>
                <a:lnTo>
                  <a:pt x="775207" y="134874"/>
                </a:lnTo>
                <a:lnTo>
                  <a:pt x="783971" y="145464"/>
                </a:lnTo>
                <a:lnTo>
                  <a:pt x="791114" y="174355"/>
                </a:lnTo>
                <a:lnTo>
                  <a:pt x="795924" y="217223"/>
                </a:lnTo>
                <a:lnTo>
                  <a:pt x="797686" y="269748"/>
                </a:lnTo>
                <a:lnTo>
                  <a:pt x="799449" y="217223"/>
                </a:lnTo>
                <a:lnTo>
                  <a:pt x="804259" y="174355"/>
                </a:lnTo>
                <a:lnTo>
                  <a:pt x="811402" y="145464"/>
                </a:lnTo>
                <a:lnTo>
                  <a:pt x="820165" y="134874"/>
                </a:lnTo>
                <a:lnTo>
                  <a:pt x="1547240" y="134874"/>
                </a:lnTo>
                <a:lnTo>
                  <a:pt x="1556003" y="124283"/>
                </a:lnTo>
                <a:lnTo>
                  <a:pt x="1563147" y="95392"/>
                </a:lnTo>
                <a:lnTo>
                  <a:pt x="1567957" y="52524"/>
                </a:lnTo>
                <a:lnTo>
                  <a:pt x="156972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8296147" y="933450"/>
            <a:ext cx="1704339" cy="8718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3045">
              <a:lnSpc>
                <a:spcPct val="100000"/>
              </a:lnSpc>
              <a:spcBef>
                <a:spcPts val="95"/>
              </a:spcBef>
              <a:tabLst>
                <a:tab pos="788670" algn="l"/>
                <a:tab pos="1344295" algn="l"/>
              </a:tabLst>
            </a:pPr>
            <a:r>
              <a:rPr sz="2000" b="1" spc="-5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r>
              <a:rPr sz="20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b="1" spc="-5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sz="20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b="1" spc="-5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000">
              <a:latin typeface="Times New Roman"/>
              <a:cs typeface="Times New Roman"/>
            </a:endParaRPr>
          </a:p>
          <a:p>
            <a:pPr marL="502920">
              <a:lnSpc>
                <a:spcPct val="100000"/>
              </a:lnSpc>
              <a:spcBef>
                <a:spcPts val="1625"/>
              </a:spcBef>
            </a:pPr>
            <a:r>
              <a:rPr sz="2200">
                <a:latin typeface="Cambria Math"/>
                <a:cs typeface="Cambria Math"/>
              </a:rPr>
              <a:t>𝑫</a:t>
            </a:r>
            <a:r>
              <a:rPr sz="2400" baseline="-15625">
                <a:latin typeface="Cambria Math"/>
                <a:cs typeface="Cambria Math"/>
              </a:rPr>
              <a:t>𝟏</a:t>
            </a:r>
            <a:r>
              <a:rPr sz="2400" spc="517" baseline="-15625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=</a:t>
            </a:r>
            <a:r>
              <a:rPr sz="2200" spc="110">
                <a:latin typeface="Cambria Math"/>
                <a:cs typeface="Cambria Math"/>
              </a:rPr>
              <a:t> </a:t>
            </a:r>
            <a:r>
              <a:rPr sz="2200" spc="-50">
                <a:latin typeface="Cambria Math"/>
                <a:cs typeface="Cambria Math"/>
              </a:rPr>
              <a:t>𝟗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304271" y="4339335"/>
            <a:ext cx="115887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200">
                <a:latin typeface="Cambria Math"/>
                <a:cs typeface="Cambria Math"/>
              </a:rPr>
              <a:t>𝑫</a:t>
            </a:r>
            <a:r>
              <a:rPr sz="2400" baseline="-15625">
                <a:latin typeface="Cambria Math"/>
                <a:cs typeface="Cambria Math"/>
              </a:rPr>
              <a:t>𝟒</a:t>
            </a:r>
            <a:r>
              <a:rPr sz="2400" spc="517" baseline="-15625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=</a:t>
            </a:r>
            <a:r>
              <a:rPr sz="2200" spc="120">
                <a:latin typeface="Cambria Math"/>
                <a:cs typeface="Cambria Math"/>
              </a:rPr>
              <a:t> </a:t>
            </a:r>
            <a:r>
              <a:rPr sz="2200" spc="-25">
                <a:latin typeface="Cambria Math"/>
                <a:cs typeface="Cambria Math"/>
              </a:rPr>
              <a:t>−𝟏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252457" y="3386073"/>
            <a:ext cx="94996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200">
                <a:latin typeface="Cambria Math"/>
                <a:cs typeface="Cambria Math"/>
              </a:rPr>
              <a:t>𝑫</a:t>
            </a:r>
            <a:r>
              <a:rPr sz="2400" baseline="-15625">
                <a:latin typeface="Cambria Math"/>
                <a:cs typeface="Cambria Math"/>
              </a:rPr>
              <a:t>𝟑</a:t>
            </a:r>
            <a:r>
              <a:rPr sz="2400" spc="517" baseline="-15625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=</a:t>
            </a:r>
            <a:r>
              <a:rPr sz="2200" spc="110">
                <a:latin typeface="Cambria Math"/>
                <a:cs typeface="Cambria Math"/>
              </a:rPr>
              <a:t> </a:t>
            </a:r>
            <a:r>
              <a:rPr sz="2200" spc="-50">
                <a:latin typeface="Cambria Math"/>
                <a:cs typeface="Cambria Math"/>
              </a:rPr>
              <a:t>𝟑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616945" y="5274309"/>
            <a:ext cx="94996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200">
                <a:latin typeface="Cambria Math"/>
                <a:cs typeface="Cambria Math"/>
              </a:rPr>
              <a:t>𝑫</a:t>
            </a:r>
            <a:r>
              <a:rPr sz="2400" baseline="-15625">
                <a:latin typeface="Cambria Math"/>
                <a:cs typeface="Cambria Math"/>
              </a:rPr>
              <a:t>𝟓</a:t>
            </a:r>
            <a:r>
              <a:rPr sz="2400" spc="517" baseline="-15625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=</a:t>
            </a:r>
            <a:r>
              <a:rPr sz="2200" spc="110">
                <a:latin typeface="Cambria Math"/>
                <a:cs typeface="Cambria Math"/>
              </a:rPr>
              <a:t> </a:t>
            </a:r>
            <a:r>
              <a:rPr sz="2200" spc="-50">
                <a:latin typeface="Cambria Math"/>
                <a:cs typeface="Cambria Math"/>
              </a:rPr>
              <a:t>𝟒</a:t>
            </a:r>
            <a:endParaRPr sz="2200">
              <a:latin typeface="Cambria Math"/>
              <a:cs typeface="Cambria Math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8289797" y="1892045"/>
            <a:ext cx="3383279" cy="434340"/>
            <a:chOff x="8289797" y="1892045"/>
            <a:chExt cx="3383279" cy="434340"/>
          </a:xfrm>
        </p:grpSpPr>
        <p:sp>
          <p:nvSpPr>
            <p:cNvPr id="25" name="object 25"/>
            <p:cNvSpPr/>
            <p:nvPr/>
          </p:nvSpPr>
          <p:spPr>
            <a:xfrm>
              <a:off x="8870569" y="1904745"/>
              <a:ext cx="1111250" cy="396240"/>
            </a:xfrm>
            <a:custGeom>
              <a:avLst/>
              <a:gdLst/>
              <a:ahLst/>
              <a:cxnLst/>
              <a:rect l="l" t="t" r="r" b="b"/>
              <a:pathLst>
                <a:path w="1111250" h="396239">
                  <a:moveTo>
                    <a:pt x="555434" y="0"/>
                  </a:moveTo>
                  <a:lnTo>
                    <a:pt x="0" y="0"/>
                  </a:lnTo>
                  <a:lnTo>
                    <a:pt x="0" y="396240"/>
                  </a:lnTo>
                  <a:lnTo>
                    <a:pt x="555434" y="396240"/>
                  </a:lnTo>
                  <a:lnTo>
                    <a:pt x="555434" y="0"/>
                  </a:lnTo>
                  <a:close/>
                </a:path>
                <a:path w="1111250" h="396239">
                  <a:moveTo>
                    <a:pt x="1110932" y="0"/>
                  </a:moveTo>
                  <a:lnTo>
                    <a:pt x="555498" y="0"/>
                  </a:lnTo>
                  <a:lnTo>
                    <a:pt x="555498" y="396240"/>
                  </a:lnTo>
                  <a:lnTo>
                    <a:pt x="1110932" y="396240"/>
                  </a:lnTo>
                  <a:lnTo>
                    <a:pt x="1110932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308847" y="1898395"/>
              <a:ext cx="3345179" cy="421640"/>
            </a:xfrm>
            <a:custGeom>
              <a:avLst/>
              <a:gdLst/>
              <a:ahLst/>
              <a:cxnLst/>
              <a:rect l="l" t="t" r="r" b="b"/>
              <a:pathLst>
                <a:path w="3345179" h="421639">
                  <a:moveTo>
                    <a:pt x="561721" y="0"/>
                  </a:moveTo>
                  <a:lnTo>
                    <a:pt x="561721" y="421639"/>
                  </a:lnTo>
                </a:path>
                <a:path w="3345179" h="421639">
                  <a:moveTo>
                    <a:pt x="1117219" y="0"/>
                  </a:moveTo>
                  <a:lnTo>
                    <a:pt x="1117219" y="421639"/>
                  </a:lnTo>
                </a:path>
                <a:path w="3345179" h="421639">
                  <a:moveTo>
                    <a:pt x="1672590" y="0"/>
                  </a:moveTo>
                  <a:lnTo>
                    <a:pt x="1672590" y="421639"/>
                  </a:lnTo>
                </a:path>
                <a:path w="3345179" h="421639">
                  <a:moveTo>
                    <a:pt x="2227960" y="0"/>
                  </a:moveTo>
                  <a:lnTo>
                    <a:pt x="2227960" y="421639"/>
                  </a:lnTo>
                </a:path>
                <a:path w="3345179" h="421639">
                  <a:moveTo>
                    <a:pt x="2783458" y="0"/>
                  </a:moveTo>
                  <a:lnTo>
                    <a:pt x="2783458" y="421639"/>
                  </a:lnTo>
                </a:path>
                <a:path w="3345179" h="421639">
                  <a:moveTo>
                    <a:pt x="6350" y="0"/>
                  </a:moveTo>
                  <a:lnTo>
                    <a:pt x="6350" y="421639"/>
                  </a:lnTo>
                </a:path>
                <a:path w="3345179" h="421639">
                  <a:moveTo>
                    <a:pt x="3338829" y="0"/>
                  </a:moveTo>
                  <a:lnTo>
                    <a:pt x="3338829" y="421639"/>
                  </a:lnTo>
                </a:path>
                <a:path w="3345179" h="421639">
                  <a:moveTo>
                    <a:pt x="0" y="6350"/>
                  </a:moveTo>
                  <a:lnTo>
                    <a:pt x="3345179" y="635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308847" y="2300985"/>
              <a:ext cx="3345179" cy="0"/>
            </a:xfrm>
            <a:custGeom>
              <a:avLst/>
              <a:gdLst/>
              <a:ahLst/>
              <a:cxnLst/>
              <a:rect l="l" t="t" r="r" b="b"/>
              <a:pathLst>
                <a:path w="3345179">
                  <a:moveTo>
                    <a:pt x="0" y="0"/>
                  </a:moveTo>
                  <a:lnTo>
                    <a:pt x="3345179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8321547" y="1911095"/>
            <a:ext cx="542925" cy="37084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111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44"/>
              </a:spcBef>
            </a:pPr>
            <a:r>
              <a:rPr sz="2000" b="1" spc="-5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851518" y="1753053"/>
            <a:ext cx="1136650" cy="1036955"/>
          </a:xfrm>
          <a:prstGeom prst="rect">
            <a:avLst/>
          </a:prstGeom>
        </p:spPr>
        <p:txBody>
          <a:bodyPr vert="horz" wrap="square" lIns="0" tIns="188595" rIns="0" bIns="0" rtlCol="0">
            <a:spAutoFit/>
          </a:bodyPr>
          <a:lstStyle/>
          <a:p>
            <a:pPr marL="233045">
              <a:lnSpc>
                <a:spcPct val="100000"/>
              </a:lnSpc>
              <a:spcBef>
                <a:spcPts val="1485"/>
              </a:spcBef>
              <a:tabLst>
                <a:tab pos="788670" algn="l"/>
              </a:tabLst>
            </a:pPr>
            <a:r>
              <a:rPr sz="2000" b="1" spc="-5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sz="20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b="1" spc="-5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000">
              <a:latin typeface="Times New Roman"/>
              <a:cs typeface="Times New Roman"/>
            </a:endParaRPr>
          </a:p>
          <a:p>
            <a:pPr marL="200025">
              <a:lnSpc>
                <a:spcPct val="100000"/>
              </a:lnSpc>
              <a:spcBef>
                <a:spcPts val="1535"/>
              </a:spcBef>
            </a:pPr>
            <a:r>
              <a:rPr sz="2200">
                <a:latin typeface="Cambria Math"/>
                <a:cs typeface="Cambria Math"/>
              </a:rPr>
              <a:t>𝑫</a:t>
            </a:r>
            <a:r>
              <a:rPr sz="2400" baseline="-15625">
                <a:latin typeface="Cambria Math"/>
                <a:cs typeface="Cambria Math"/>
              </a:rPr>
              <a:t>𝟐</a:t>
            </a:r>
            <a:r>
              <a:rPr sz="2400" spc="517" baseline="-15625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=</a:t>
            </a:r>
            <a:r>
              <a:rPr sz="2200" spc="110">
                <a:latin typeface="Cambria Math"/>
                <a:cs typeface="Cambria Math"/>
              </a:rPr>
              <a:t> </a:t>
            </a:r>
            <a:r>
              <a:rPr sz="2200" spc="-50">
                <a:latin typeface="Cambria Math"/>
                <a:cs typeface="Cambria Math"/>
              </a:rPr>
              <a:t>𝟓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0000488" y="1911095"/>
            <a:ext cx="530225" cy="37084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1114" rIns="0" bIns="0" rtlCol="0">
            <a:spAutoFit/>
          </a:bodyPr>
          <a:lstStyle/>
          <a:p>
            <a:pPr marL="153035">
              <a:lnSpc>
                <a:spcPct val="100000"/>
              </a:lnSpc>
              <a:spcBef>
                <a:spcPts val="244"/>
              </a:spcBef>
            </a:pPr>
            <a:r>
              <a:rPr sz="2000" b="1" spc="-1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sz="2000" b="1" spc="-5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0543158" y="1911095"/>
            <a:ext cx="542925" cy="37084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1114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244"/>
              </a:spcBef>
            </a:pPr>
            <a:r>
              <a:rPr sz="2000" b="1" spc="-5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1098656" y="1911095"/>
            <a:ext cx="542925" cy="37084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1114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244"/>
              </a:spcBef>
            </a:pPr>
            <a:r>
              <a:rPr sz="2000" b="1" spc="-5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8289797" y="2850895"/>
            <a:ext cx="3383279" cy="434340"/>
            <a:chOff x="8289797" y="2850895"/>
            <a:chExt cx="3383279" cy="434340"/>
          </a:xfrm>
        </p:grpSpPr>
        <p:sp>
          <p:nvSpPr>
            <p:cNvPr id="34" name="object 34"/>
            <p:cNvSpPr/>
            <p:nvPr/>
          </p:nvSpPr>
          <p:spPr>
            <a:xfrm>
              <a:off x="8308847" y="2857245"/>
              <a:ext cx="3345179" cy="421640"/>
            </a:xfrm>
            <a:custGeom>
              <a:avLst/>
              <a:gdLst/>
              <a:ahLst/>
              <a:cxnLst/>
              <a:rect l="l" t="t" r="r" b="b"/>
              <a:pathLst>
                <a:path w="3345179" h="421639">
                  <a:moveTo>
                    <a:pt x="561721" y="0"/>
                  </a:moveTo>
                  <a:lnTo>
                    <a:pt x="561721" y="421639"/>
                  </a:lnTo>
                </a:path>
                <a:path w="3345179" h="421639">
                  <a:moveTo>
                    <a:pt x="1117219" y="0"/>
                  </a:moveTo>
                  <a:lnTo>
                    <a:pt x="1117219" y="421639"/>
                  </a:lnTo>
                </a:path>
                <a:path w="3345179" h="421639">
                  <a:moveTo>
                    <a:pt x="1672590" y="0"/>
                  </a:moveTo>
                  <a:lnTo>
                    <a:pt x="1672590" y="421639"/>
                  </a:lnTo>
                </a:path>
                <a:path w="3345179" h="421639">
                  <a:moveTo>
                    <a:pt x="2227960" y="0"/>
                  </a:moveTo>
                  <a:lnTo>
                    <a:pt x="2227960" y="421639"/>
                  </a:lnTo>
                </a:path>
                <a:path w="3345179" h="421639">
                  <a:moveTo>
                    <a:pt x="2783458" y="0"/>
                  </a:moveTo>
                  <a:lnTo>
                    <a:pt x="2783458" y="421639"/>
                  </a:lnTo>
                </a:path>
                <a:path w="3345179" h="421639">
                  <a:moveTo>
                    <a:pt x="6350" y="0"/>
                  </a:moveTo>
                  <a:lnTo>
                    <a:pt x="6350" y="421639"/>
                  </a:lnTo>
                </a:path>
                <a:path w="3345179" h="421639">
                  <a:moveTo>
                    <a:pt x="3338829" y="0"/>
                  </a:moveTo>
                  <a:lnTo>
                    <a:pt x="3338829" y="421639"/>
                  </a:lnTo>
                </a:path>
                <a:path w="3345179" h="421639">
                  <a:moveTo>
                    <a:pt x="0" y="6350"/>
                  </a:moveTo>
                  <a:lnTo>
                    <a:pt x="3345179" y="635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308847" y="3259835"/>
              <a:ext cx="3345179" cy="0"/>
            </a:xfrm>
            <a:custGeom>
              <a:avLst/>
              <a:gdLst/>
              <a:ahLst/>
              <a:cxnLst/>
              <a:rect l="l" t="t" r="r" b="b"/>
              <a:pathLst>
                <a:path w="3345179">
                  <a:moveTo>
                    <a:pt x="0" y="0"/>
                  </a:moveTo>
                  <a:lnTo>
                    <a:pt x="3345179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8321547" y="2869945"/>
            <a:ext cx="542925" cy="37084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111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44"/>
              </a:spcBef>
            </a:pPr>
            <a:r>
              <a:rPr sz="2000" b="1" spc="-5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876918" y="2869945"/>
            <a:ext cx="542925" cy="37084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111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44"/>
              </a:spcBef>
            </a:pPr>
            <a:r>
              <a:rPr sz="2000" b="1" spc="-5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9432417" y="2869945"/>
            <a:ext cx="530225" cy="37084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1114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244"/>
              </a:spcBef>
            </a:pPr>
            <a:r>
              <a:rPr sz="2000" b="1" spc="-5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0000488" y="2869945"/>
            <a:ext cx="530225" cy="37084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1114" rIns="0" bIns="0" rtlCol="0">
            <a:spAutoFit/>
          </a:bodyPr>
          <a:lstStyle/>
          <a:p>
            <a:pPr marL="153035">
              <a:lnSpc>
                <a:spcPct val="100000"/>
              </a:lnSpc>
              <a:spcBef>
                <a:spcPts val="244"/>
              </a:spcBef>
            </a:pPr>
            <a:r>
              <a:rPr sz="2000" b="1" spc="-1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sz="2000" b="1" spc="-5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0543158" y="2869945"/>
            <a:ext cx="542925" cy="37084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1114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244"/>
              </a:spcBef>
            </a:pPr>
            <a:r>
              <a:rPr sz="2000" b="1" spc="-5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1098656" y="2869945"/>
            <a:ext cx="542925" cy="37084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1114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244"/>
              </a:spcBef>
            </a:pPr>
            <a:r>
              <a:rPr sz="2000" b="1" spc="-5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8116823" y="678941"/>
            <a:ext cx="3647440" cy="3066415"/>
            <a:chOff x="8116823" y="678941"/>
            <a:chExt cx="3647440" cy="3066415"/>
          </a:xfrm>
        </p:grpSpPr>
        <p:sp>
          <p:nvSpPr>
            <p:cNvPr id="43" name="object 43"/>
            <p:cNvSpPr/>
            <p:nvPr/>
          </p:nvSpPr>
          <p:spPr>
            <a:xfrm>
              <a:off x="8906255" y="2266950"/>
              <a:ext cx="1057910" cy="1167765"/>
            </a:xfrm>
            <a:custGeom>
              <a:avLst/>
              <a:gdLst/>
              <a:ahLst/>
              <a:cxnLst/>
              <a:rect l="l" t="t" r="r" b="b"/>
              <a:pathLst>
                <a:path w="1057909" h="1167764">
                  <a:moveTo>
                    <a:pt x="0" y="0"/>
                  </a:moveTo>
                  <a:lnTo>
                    <a:pt x="1448" y="43148"/>
                  </a:lnTo>
                  <a:lnTo>
                    <a:pt x="5397" y="78390"/>
                  </a:lnTo>
                  <a:lnTo>
                    <a:pt x="11251" y="102155"/>
                  </a:lnTo>
                  <a:lnTo>
                    <a:pt x="18415" y="110871"/>
                  </a:lnTo>
                  <a:lnTo>
                    <a:pt x="510286" y="110871"/>
                  </a:lnTo>
                  <a:lnTo>
                    <a:pt x="517523" y="119586"/>
                  </a:lnTo>
                  <a:lnTo>
                    <a:pt x="523414" y="143351"/>
                  </a:lnTo>
                  <a:lnTo>
                    <a:pt x="527377" y="178593"/>
                  </a:lnTo>
                  <a:lnTo>
                    <a:pt x="528827" y="221741"/>
                  </a:lnTo>
                  <a:lnTo>
                    <a:pt x="530276" y="178593"/>
                  </a:lnTo>
                  <a:lnTo>
                    <a:pt x="534225" y="143351"/>
                  </a:lnTo>
                  <a:lnTo>
                    <a:pt x="540079" y="119586"/>
                  </a:lnTo>
                  <a:lnTo>
                    <a:pt x="547243" y="110871"/>
                  </a:lnTo>
                  <a:lnTo>
                    <a:pt x="1039114" y="110871"/>
                  </a:lnTo>
                  <a:lnTo>
                    <a:pt x="1046351" y="102155"/>
                  </a:lnTo>
                  <a:lnTo>
                    <a:pt x="1052242" y="78390"/>
                  </a:lnTo>
                  <a:lnTo>
                    <a:pt x="1056205" y="43148"/>
                  </a:lnTo>
                  <a:lnTo>
                    <a:pt x="1057655" y="0"/>
                  </a:lnTo>
                </a:path>
                <a:path w="1057909" h="1167764">
                  <a:moveTo>
                    <a:pt x="528827" y="994410"/>
                  </a:moveTo>
                  <a:lnTo>
                    <a:pt x="529963" y="1028068"/>
                  </a:lnTo>
                  <a:lnTo>
                    <a:pt x="533050" y="1055560"/>
                  </a:lnTo>
                  <a:lnTo>
                    <a:pt x="537614" y="1074098"/>
                  </a:lnTo>
                  <a:lnTo>
                    <a:pt x="543178" y="1080897"/>
                  </a:lnTo>
                  <a:lnTo>
                    <a:pt x="766952" y="1080897"/>
                  </a:lnTo>
                  <a:lnTo>
                    <a:pt x="772590" y="1087695"/>
                  </a:lnTo>
                  <a:lnTo>
                    <a:pt x="777192" y="1106233"/>
                  </a:lnTo>
                  <a:lnTo>
                    <a:pt x="780293" y="1133725"/>
                  </a:lnTo>
                  <a:lnTo>
                    <a:pt x="781430" y="1167384"/>
                  </a:lnTo>
                  <a:lnTo>
                    <a:pt x="782566" y="1133725"/>
                  </a:lnTo>
                  <a:lnTo>
                    <a:pt x="785653" y="1106233"/>
                  </a:lnTo>
                  <a:lnTo>
                    <a:pt x="790217" y="1087695"/>
                  </a:lnTo>
                  <a:lnTo>
                    <a:pt x="795782" y="1080897"/>
                  </a:lnTo>
                  <a:lnTo>
                    <a:pt x="1019683" y="1080897"/>
                  </a:lnTo>
                  <a:lnTo>
                    <a:pt x="1025247" y="1074098"/>
                  </a:lnTo>
                  <a:lnTo>
                    <a:pt x="1029811" y="1055560"/>
                  </a:lnTo>
                  <a:lnTo>
                    <a:pt x="1032898" y="1028068"/>
                  </a:lnTo>
                  <a:lnTo>
                    <a:pt x="1034034" y="99441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8135873" y="697991"/>
              <a:ext cx="3609340" cy="3028315"/>
            </a:xfrm>
            <a:custGeom>
              <a:avLst/>
              <a:gdLst/>
              <a:ahLst/>
              <a:cxnLst/>
              <a:rect l="l" t="t" r="r" b="b"/>
              <a:pathLst>
                <a:path w="3609340" h="3028315">
                  <a:moveTo>
                    <a:pt x="0" y="504698"/>
                  </a:moveTo>
                  <a:lnTo>
                    <a:pt x="2310" y="456087"/>
                  </a:lnTo>
                  <a:lnTo>
                    <a:pt x="9099" y="408785"/>
                  </a:lnTo>
                  <a:lnTo>
                    <a:pt x="20156" y="363003"/>
                  </a:lnTo>
                  <a:lnTo>
                    <a:pt x="35270" y="318952"/>
                  </a:lnTo>
                  <a:lnTo>
                    <a:pt x="54228" y="276843"/>
                  </a:lnTo>
                  <a:lnTo>
                    <a:pt x="76821" y="236888"/>
                  </a:lnTo>
                  <a:lnTo>
                    <a:pt x="102835" y="199299"/>
                  </a:lnTo>
                  <a:lnTo>
                    <a:pt x="132061" y="164286"/>
                  </a:lnTo>
                  <a:lnTo>
                    <a:pt x="164286" y="132061"/>
                  </a:lnTo>
                  <a:lnTo>
                    <a:pt x="199299" y="102835"/>
                  </a:lnTo>
                  <a:lnTo>
                    <a:pt x="236888" y="76821"/>
                  </a:lnTo>
                  <a:lnTo>
                    <a:pt x="276843" y="54228"/>
                  </a:lnTo>
                  <a:lnTo>
                    <a:pt x="318952" y="35270"/>
                  </a:lnTo>
                  <a:lnTo>
                    <a:pt x="363003" y="20156"/>
                  </a:lnTo>
                  <a:lnTo>
                    <a:pt x="408785" y="9099"/>
                  </a:lnTo>
                  <a:lnTo>
                    <a:pt x="456087" y="2310"/>
                  </a:lnTo>
                  <a:lnTo>
                    <a:pt x="504698" y="0"/>
                  </a:lnTo>
                  <a:lnTo>
                    <a:pt x="3104133" y="0"/>
                  </a:lnTo>
                  <a:lnTo>
                    <a:pt x="3152744" y="2310"/>
                  </a:lnTo>
                  <a:lnTo>
                    <a:pt x="3200046" y="9099"/>
                  </a:lnTo>
                  <a:lnTo>
                    <a:pt x="3245828" y="20156"/>
                  </a:lnTo>
                  <a:lnTo>
                    <a:pt x="3289879" y="35270"/>
                  </a:lnTo>
                  <a:lnTo>
                    <a:pt x="3331988" y="54228"/>
                  </a:lnTo>
                  <a:lnTo>
                    <a:pt x="3371943" y="76821"/>
                  </a:lnTo>
                  <a:lnTo>
                    <a:pt x="3409532" y="102835"/>
                  </a:lnTo>
                  <a:lnTo>
                    <a:pt x="3444545" y="132061"/>
                  </a:lnTo>
                  <a:lnTo>
                    <a:pt x="3476770" y="164286"/>
                  </a:lnTo>
                  <a:lnTo>
                    <a:pt x="3505996" y="199299"/>
                  </a:lnTo>
                  <a:lnTo>
                    <a:pt x="3532010" y="236888"/>
                  </a:lnTo>
                  <a:lnTo>
                    <a:pt x="3554603" y="276843"/>
                  </a:lnTo>
                  <a:lnTo>
                    <a:pt x="3573561" y="318952"/>
                  </a:lnTo>
                  <a:lnTo>
                    <a:pt x="3588675" y="363003"/>
                  </a:lnTo>
                  <a:lnTo>
                    <a:pt x="3599732" y="408785"/>
                  </a:lnTo>
                  <a:lnTo>
                    <a:pt x="3606521" y="456087"/>
                  </a:lnTo>
                  <a:lnTo>
                    <a:pt x="3608831" y="504698"/>
                  </a:lnTo>
                  <a:lnTo>
                    <a:pt x="3608831" y="2523490"/>
                  </a:lnTo>
                  <a:lnTo>
                    <a:pt x="3606521" y="2572100"/>
                  </a:lnTo>
                  <a:lnTo>
                    <a:pt x="3599732" y="2619402"/>
                  </a:lnTo>
                  <a:lnTo>
                    <a:pt x="3588675" y="2665184"/>
                  </a:lnTo>
                  <a:lnTo>
                    <a:pt x="3573561" y="2709235"/>
                  </a:lnTo>
                  <a:lnTo>
                    <a:pt x="3554603" y="2751344"/>
                  </a:lnTo>
                  <a:lnTo>
                    <a:pt x="3532010" y="2791299"/>
                  </a:lnTo>
                  <a:lnTo>
                    <a:pt x="3505996" y="2828888"/>
                  </a:lnTo>
                  <a:lnTo>
                    <a:pt x="3476770" y="2863901"/>
                  </a:lnTo>
                  <a:lnTo>
                    <a:pt x="3444545" y="2896126"/>
                  </a:lnTo>
                  <a:lnTo>
                    <a:pt x="3409532" y="2925352"/>
                  </a:lnTo>
                  <a:lnTo>
                    <a:pt x="3371943" y="2951366"/>
                  </a:lnTo>
                  <a:lnTo>
                    <a:pt x="3331988" y="2973959"/>
                  </a:lnTo>
                  <a:lnTo>
                    <a:pt x="3289879" y="2992917"/>
                  </a:lnTo>
                  <a:lnTo>
                    <a:pt x="3245828" y="3008031"/>
                  </a:lnTo>
                  <a:lnTo>
                    <a:pt x="3200046" y="3019088"/>
                  </a:lnTo>
                  <a:lnTo>
                    <a:pt x="3152744" y="3025877"/>
                  </a:lnTo>
                  <a:lnTo>
                    <a:pt x="3104133" y="3028188"/>
                  </a:lnTo>
                  <a:lnTo>
                    <a:pt x="504698" y="3028188"/>
                  </a:lnTo>
                  <a:lnTo>
                    <a:pt x="456087" y="3025877"/>
                  </a:lnTo>
                  <a:lnTo>
                    <a:pt x="408785" y="3019088"/>
                  </a:lnTo>
                  <a:lnTo>
                    <a:pt x="363003" y="3008031"/>
                  </a:lnTo>
                  <a:lnTo>
                    <a:pt x="318952" y="2992917"/>
                  </a:lnTo>
                  <a:lnTo>
                    <a:pt x="276843" y="2973959"/>
                  </a:lnTo>
                  <a:lnTo>
                    <a:pt x="236888" y="2951366"/>
                  </a:lnTo>
                  <a:lnTo>
                    <a:pt x="199299" y="2925352"/>
                  </a:lnTo>
                  <a:lnTo>
                    <a:pt x="164286" y="2896126"/>
                  </a:lnTo>
                  <a:lnTo>
                    <a:pt x="132061" y="2863901"/>
                  </a:lnTo>
                  <a:lnTo>
                    <a:pt x="102835" y="2828888"/>
                  </a:lnTo>
                  <a:lnTo>
                    <a:pt x="76821" y="2791299"/>
                  </a:lnTo>
                  <a:lnTo>
                    <a:pt x="54228" y="2751344"/>
                  </a:lnTo>
                  <a:lnTo>
                    <a:pt x="35270" y="2709235"/>
                  </a:lnTo>
                  <a:lnTo>
                    <a:pt x="20156" y="2665184"/>
                  </a:lnTo>
                  <a:lnTo>
                    <a:pt x="9099" y="2619402"/>
                  </a:lnTo>
                  <a:lnTo>
                    <a:pt x="2310" y="2572100"/>
                  </a:lnTo>
                  <a:lnTo>
                    <a:pt x="0" y="2523490"/>
                  </a:lnTo>
                  <a:lnTo>
                    <a:pt x="0" y="504698"/>
                  </a:lnTo>
                  <a:close/>
                </a:path>
                <a:path w="3609340" h="3028315">
                  <a:moveTo>
                    <a:pt x="1845564" y="80010"/>
                  </a:moveTo>
                  <a:lnTo>
                    <a:pt x="1845564" y="2811272"/>
                  </a:lnTo>
                </a:path>
              </a:pathLst>
            </a:custGeom>
            <a:ln w="38100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10721593" y="6278626"/>
            <a:ext cx="94996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200">
                <a:latin typeface="Cambria Math"/>
                <a:cs typeface="Cambria Math"/>
              </a:rPr>
              <a:t>𝑫</a:t>
            </a:r>
            <a:r>
              <a:rPr sz="2400" baseline="-15625">
                <a:latin typeface="Cambria Math"/>
                <a:cs typeface="Cambria Math"/>
              </a:rPr>
              <a:t>𝟔</a:t>
            </a:r>
            <a:r>
              <a:rPr sz="2400" spc="517" baseline="-15625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=</a:t>
            </a:r>
            <a:r>
              <a:rPr sz="2200" spc="110">
                <a:latin typeface="Cambria Math"/>
                <a:cs typeface="Cambria Math"/>
              </a:rPr>
              <a:t> </a:t>
            </a:r>
            <a:r>
              <a:rPr sz="2200" spc="-50">
                <a:latin typeface="Cambria Math"/>
                <a:cs typeface="Cambria Math"/>
              </a:rPr>
              <a:t>𝟏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10548366" y="5124450"/>
            <a:ext cx="1057910" cy="222250"/>
          </a:xfrm>
          <a:custGeom>
            <a:avLst/>
            <a:gdLst/>
            <a:ahLst/>
            <a:cxnLst/>
            <a:rect l="l" t="t" r="r" b="b"/>
            <a:pathLst>
              <a:path w="1057909" h="222250">
                <a:moveTo>
                  <a:pt x="0" y="0"/>
                </a:moveTo>
                <a:lnTo>
                  <a:pt x="1448" y="43148"/>
                </a:lnTo>
                <a:lnTo>
                  <a:pt x="5397" y="78390"/>
                </a:lnTo>
                <a:lnTo>
                  <a:pt x="11251" y="102155"/>
                </a:lnTo>
                <a:lnTo>
                  <a:pt x="18414" y="110871"/>
                </a:lnTo>
                <a:lnTo>
                  <a:pt x="510285" y="110871"/>
                </a:lnTo>
                <a:lnTo>
                  <a:pt x="517523" y="119586"/>
                </a:lnTo>
                <a:lnTo>
                  <a:pt x="523414" y="143351"/>
                </a:lnTo>
                <a:lnTo>
                  <a:pt x="527377" y="178593"/>
                </a:lnTo>
                <a:lnTo>
                  <a:pt x="528827" y="221741"/>
                </a:lnTo>
                <a:lnTo>
                  <a:pt x="530276" y="178593"/>
                </a:lnTo>
                <a:lnTo>
                  <a:pt x="534225" y="143351"/>
                </a:lnTo>
                <a:lnTo>
                  <a:pt x="540079" y="119586"/>
                </a:lnTo>
                <a:lnTo>
                  <a:pt x="547242" y="110871"/>
                </a:lnTo>
                <a:lnTo>
                  <a:pt x="1039113" y="110871"/>
                </a:lnTo>
                <a:lnTo>
                  <a:pt x="1046351" y="102155"/>
                </a:lnTo>
                <a:lnTo>
                  <a:pt x="1052242" y="78390"/>
                </a:lnTo>
                <a:lnTo>
                  <a:pt x="1056205" y="43148"/>
                </a:lnTo>
                <a:lnTo>
                  <a:pt x="1057655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1089385" y="6156197"/>
            <a:ext cx="505459" cy="173355"/>
          </a:xfrm>
          <a:custGeom>
            <a:avLst/>
            <a:gdLst/>
            <a:ahLst/>
            <a:cxnLst/>
            <a:rect l="l" t="t" r="r" b="b"/>
            <a:pathLst>
              <a:path w="505459" h="173354">
                <a:moveTo>
                  <a:pt x="0" y="0"/>
                </a:moveTo>
                <a:lnTo>
                  <a:pt x="1135" y="33664"/>
                </a:lnTo>
                <a:lnTo>
                  <a:pt x="4222" y="61155"/>
                </a:lnTo>
                <a:lnTo>
                  <a:pt x="8786" y="79690"/>
                </a:lnTo>
                <a:lnTo>
                  <a:pt x="14350" y="86486"/>
                </a:lnTo>
                <a:lnTo>
                  <a:pt x="238252" y="86486"/>
                </a:lnTo>
                <a:lnTo>
                  <a:pt x="243816" y="93283"/>
                </a:lnTo>
                <a:lnTo>
                  <a:pt x="248380" y="111818"/>
                </a:lnTo>
                <a:lnTo>
                  <a:pt x="251467" y="139309"/>
                </a:lnTo>
                <a:lnTo>
                  <a:pt x="252603" y="172973"/>
                </a:lnTo>
                <a:lnTo>
                  <a:pt x="253738" y="139309"/>
                </a:lnTo>
                <a:lnTo>
                  <a:pt x="256825" y="111818"/>
                </a:lnTo>
                <a:lnTo>
                  <a:pt x="261389" y="93283"/>
                </a:lnTo>
                <a:lnTo>
                  <a:pt x="266954" y="86486"/>
                </a:lnTo>
                <a:lnTo>
                  <a:pt x="490855" y="86486"/>
                </a:lnTo>
                <a:lnTo>
                  <a:pt x="496419" y="79690"/>
                </a:lnTo>
                <a:lnTo>
                  <a:pt x="500983" y="61155"/>
                </a:lnTo>
                <a:lnTo>
                  <a:pt x="504070" y="33664"/>
                </a:lnTo>
                <a:lnTo>
                  <a:pt x="505206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8" name="object 48"/>
          <p:cNvGraphicFramePr>
            <a:graphicFrameLocks noGrp="1"/>
          </p:cNvGraphicFramePr>
          <p:nvPr/>
        </p:nvGraphicFramePr>
        <p:xfrm>
          <a:off x="1598802" y="2655823"/>
          <a:ext cx="5886446" cy="678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5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18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92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34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2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810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810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81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95605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AF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92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92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1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00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889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8900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9" name="object 49"/>
          <p:cNvGraphicFramePr>
            <a:graphicFrameLocks noGrp="1"/>
          </p:cNvGraphicFramePr>
          <p:nvPr/>
        </p:nvGraphicFramePr>
        <p:xfrm>
          <a:off x="1598802" y="3846195"/>
          <a:ext cx="5878826" cy="6832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9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2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1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9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98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798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92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92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732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700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84582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4582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0" name="object 50"/>
          <p:cNvSpPr txBox="1"/>
          <p:nvPr/>
        </p:nvSpPr>
        <p:spPr>
          <a:xfrm>
            <a:off x="2597911" y="3335020"/>
            <a:ext cx="950594" cy="361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200">
                <a:latin typeface="Cambria Math"/>
                <a:cs typeface="Cambria Math"/>
              </a:rPr>
              <a:t>𝑫</a:t>
            </a:r>
            <a:r>
              <a:rPr sz="2400" baseline="-15625">
                <a:latin typeface="Cambria Math"/>
                <a:cs typeface="Cambria Math"/>
              </a:rPr>
              <a:t>𝟏</a:t>
            </a:r>
            <a:r>
              <a:rPr sz="2400" spc="517" baseline="-15625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=</a:t>
            </a:r>
            <a:r>
              <a:rPr sz="2200" spc="110">
                <a:latin typeface="Cambria Math"/>
                <a:cs typeface="Cambria Math"/>
              </a:rPr>
              <a:t> </a:t>
            </a:r>
            <a:r>
              <a:rPr sz="2200" spc="-50">
                <a:latin typeface="Cambria Math"/>
                <a:cs typeface="Cambria Math"/>
              </a:rPr>
              <a:t>𝟗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3329178" y="4664964"/>
            <a:ext cx="14795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spc="-50">
                <a:latin typeface="Cambria Math"/>
                <a:cs typeface="Cambria Math"/>
              </a:rPr>
              <a:t>𝟐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3119627" y="4532376"/>
            <a:ext cx="89916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3705" algn="l"/>
              </a:tabLst>
            </a:pPr>
            <a:r>
              <a:rPr sz="2200" spc="-50">
                <a:latin typeface="Cambria Math"/>
                <a:cs typeface="Cambria Math"/>
              </a:rPr>
              <a:t>𝑫</a:t>
            </a:r>
            <a:r>
              <a:rPr sz="2200">
                <a:latin typeface="Cambria Math"/>
                <a:cs typeface="Cambria Math"/>
              </a:rPr>
              <a:t>	=</a:t>
            </a:r>
            <a:r>
              <a:rPr sz="2200" spc="110">
                <a:latin typeface="Cambria Math"/>
                <a:cs typeface="Cambria Math"/>
              </a:rPr>
              <a:t> </a:t>
            </a:r>
            <a:r>
              <a:rPr sz="2200" spc="-50">
                <a:latin typeface="Cambria Math"/>
                <a:cs typeface="Cambria Math"/>
              </a:rPr>
              <a:t>𝟓</a:t>
            </a:r>
            <a:endParaRPr sz="2200">
              <a:latin typeface="Cambria Math"/>
              <a:cs typeface="Cambria Math"/>
            </a:endParaRPr>
          </a:p>
        </p:txBody>
      </p:sp>
      <p:graphicFrame>
        <p:nvGraphicFramePr>
          <p:cNvPr id="53" name="object 53"/>
          <p:cNvGraphicFramePr>
            <a:graphicFrameLocks noGrp="1"/>
          </p:cNvGraphicFramePr>
          <p:nvPr/>
        </p:nvGraphicFramePr>
        <p:xfrm>
          <a:off x="1598802" y="5040248"/>
          <a:ext cx="5878828" cy="3956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9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98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98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4" name="object 54"/>
          <p:cNvSpPr txBox="1"/>
          <p:nvPr/>
        </p:nvSpPr>
        <p:spPr>
          <a:xfrm>
            <a:off x="3504184" y="5679694"/>
            <a:ext cx="950594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200">
                <a:latin typeface="Cambria Math"/>
                <a:cs typeface="Cambria Math"/>
              </a:rPr>
              <a:t>𝑫</a:t>
            </a:r>
            <a:r>
              <a:rPr sz="2400" baseline="-15625">
                <a:latin typeface="Cambria Math"/>
                <a:cs typeface="Cambria Math"/>
              </a:rPr>
              <a:t>𝟑</a:t>
            </a:r>
            <a:r>
              <a:rPr sz="2400" spc="517" baseline="-15625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=</a:t>
            </a:r>
            <a:r>
              <a:rPr sz="2200" spc="114">
                <a:latin typeface="Cambria Math"/>
                <a:cs typeface="Cambria Math"/>
              </a:rPr>
              <a:t> </a:t>
            </a:r>
            <a:r>
              <a:rPr sz="2200" spc="-50">
                <a:latin typeface="Cambria Math"/>
                <a:cs typeface="Cambria Math"/>
              </a:rPr>
              <a:t>𝟑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3553205" y="5463540"/>
            <a:ext cx="906780" cy="295910"/>
          </a:xfrm>
          <a:custGeom>
            <a:avLst/>
            <a:gdLst/>
            <a:ahLst/>
            <a:cxnLst/>
            <a:rect l="l" t="t" r="r" b="b"/>
            <a:pathLst>
              <a:path w="906778" h="295910">
                <a:moveTo>
                  <a:pt x="0" y="0"/>
                </a:moveTo>
                <a:lnTo>
                  <a:pt x="1938" y="57548"/>
                </a:lnTo>
                <a:lnTo>
                  <a:pt x="7223" y="104536"/>
                </a:lnTo>
                <a:lnTo>
                  <a:pt x="15055" y="136213"/>
                </a:lnTo>
                <a:lnTo>
                  <a:pt x="24638" y="147828"/>
                </a:lnTo>
                <a:lnTo>
                  <a:pt x="428752" y="147828"/>
                </a:lnTo>
                <a:lnTo>
                  <a:pt x="438334" y="159444"/>
                </a:lnTo>
                <a:lnTo>
                  <a:pt x="446166" y="191123"/>
                </a:lnTo>
                <a:lnTo>
                  <a:pt x="451451" y="238112"/>
                </a:lnTo>
                <a:lnTo>
                  <a:pt x="453390" y="295656"/>
                </a:lnTo>
                <a:lnTo>
                  <a:pt x="455328" y="238112"/>
                </a:lnTo>
                <a:lnTo>
                  <a:pt x="460613" y="191123"/>
                </a:lnTo>
                <a:lnTo>
                  <a:pt x="468445" y="159444"/>
                </a:lnTo>
                <a:lnTo>
                  <a:pt x="478028" y="147828"/>
                </a:lnTo>
                <a:lnTo>
                  <a:pt x="882142" y="147828"/>
                </a:lnTo>
                <a:lnTo>
                  <a:pt x="891724" y="136213"/>
                </a:lnTo>
                <a:lnTo>
                  <a:pt x="899556" y="104536"/>
                </a:lnTo>
                <a:lnTo>
                  <a:pt x="904841" y="57548"/>
                </a:lnTo>
                <a:lnTo>
                  <a:pt x="90678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7857743" y="935735"/>
            <a:ext cx="184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>
                <a:latin typeface="Cambria Math"/>
                <a:cs typeface="Cambria Math"/>
              </a:rPr>
              <a:t>𝑿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7845043" y="3838955"/>
            <a:ext cx="184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>
                <a:latin typeface="Cambria Math"/>
                <a:cs typeface="Cambria Math"/>
              </a:rPr>
              <a:t>𝑿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7857743" y="1917191"/>
            <a:ext cx="184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>
                <a:latin typeface="Cambria Math"/>
                <a:cs typeface="Cambria Math"/>
              </a:rPr>
              <a:t>𝑿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7857743" y="2899664"/>
            <a:ext cx="184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>
                <a:latin typeface="Cambria Math"/>
                <a:cs typeface="Cambria Math"/>
              </a:rPr>
              <a:t>𝑿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7857743" y="4783835"/>
            <a:ext cx="184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>
                <a:latin typeface="Cambria Math"/>
                <a:cs typeface="Cambria Math"/>
              </a:rPr>
              <a:t>𝑿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7845043" y="5760720"/>
            <a:ext cx="184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>
                <a:latin typeface="Cambria Math"/>
                <a:cs typeface="Cambria Math"/>
              </a:rPr>
              <a:t>𝑿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147317" y="2689352"/>
            <a:ext cx="184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>
                <a:latin typeface="Cambria Math"/>
                <a:cs typeface="Cambria Math"/>
              </a:rPr>
              <a:t>𝑿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1147317" y="3879850"/>
            <a:ext cx="184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>
                <a:latin typeface="Cambria Math"/>
                <a:cs typeface="Cambria Math"/>
              </a:rPr>
              <a:t>𝑿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147317" y="5086350"/>
            <a:ext cx="1841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>
                <a:latin typeface="Cambria Math"/>
                <a:cs typeface="Cambria Math"/>
              </a:rPr>
              <a:t>𝑿</a:t>
            </a:r>
            <a:endParaRPr sz="1800">
              <a:latin typeface="Cambria Math"/>
              <a:cs typeface="Cambria Math"/>
            </a:endParaRPr>
          </a:p>
        </p:txBody>
      </p:sp>
      <p:cxnSp>
        <p:nvCxnSpPr>
          <p:cNvPr id="67" name="直线连接符 66">
            <a:extLst>
              <a:ext uri="{FF2B5EF4-FFF2-40B4-BE49-F238E27FC236}">
                <a16:creationId xmlns:a16="http://schemas.microsoft.com/office/drawing/2014/main" id="{F33E31D5-9299-2F42-9835-F113C3B9120B}"/>
              </a:ext>
            </a:extLst>
          </p:cNvPr>
          <p:cNvCxnSpPr>
            <a:cxnSpLocks/>
          </p:cNvCxnSpPr>
          <p:nvPr/>
        </p:nvCxnSpPr>
        <p:spPr>
          <a:xfrm>
            <a:off x="3139947" y="3180079"/>
            <a:ext cx="133515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线连接符 67">
            <a:extLst>
              <a:ext uri="{FF2B5EF4-FFF2-40B4-BE49-F238E27FC236}">
                <a16:creationId xmlns:a16="http://schemas.microsoft.com/office/drawing/2014/main" id="{0258EF64-BE6A-4042-876D-F84DE3C6FDF1}"/>
              </a:ext>
            </a:extLst>
          </p:cNvPr>
          <p:cNvCxnSpPr>
            <a:cxnSpLocks/>
          </p:cNvCxnSpPr>
          <p:nvPr/>
        </p:nvCxnSpPr>
        <p:spPr>
          <a:xfrm>
            <a:off x="3504184" y="4390134"/>
            <a:ext cx="97091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object 3">
            <a:extLst>
              <a:ext uri="{FF2B5EF4-FFF2-40B4-BE49-F238E27FC236}">
                <a16:creationId xmlns:a16="http://schemas.microsoft.com/office/drawing/2014/main" id="{40706BFE-23D1-994F-9B27-EDAB617ACE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62125" y="147380"/>
            <a:ext cx="255460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规律观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察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3580" y="991265"/>
            <a:ext cx="2554605" cy="1004569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89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80365" algn="l"/>
                <a:tab pos="381000" algn="l"/>
              </a:tabLst>
            </a:pPr>
            <a:r>
              <a:rPr sz="2800" spc="-10">
                <a:latin typeface="PMingLiU"/>
                <a:cs typeface="PMingLiU"/>
              </a:rPr>
              <a:t>结尾位置不同</a:t>
            </a:r>
            <a:endParaRPr sz="2800">
              <a:latin typeface="PMingLiU"/>
              <a:cs typeface="PMingLiU"/>
            </a:endParaRPr>
          </a:p>
          <a:p>
            <a:pPr marL="729615" lvl="1" indent="-347980">
              <a:lnSpc>
                <a:spcPct val="100000"/>
              </a:lnSpc>
              <a:spcBef>
                <a:spcPts val="6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29615" algn="l"/>
                <a:tab pos="730250" algn="l"/>
              </a:tabLst>
            </a:pPr>
            <a:r>
              <a:rPr sz="2400">
                <a:latin typeface="Cambria Math"/>
                <a:cs typeface="Cambria Math"/>
              </a:rPr>
              <a:t>𝑫</a:t>
            </a:r>
            <a:r>
              <a:rPr sz="2625" baseline="-15873">
                <a:latin typeface="Cambria Math"/>
                <a:cs typeface="Cambria Math"/>
              </a:rPr>
              <a:t>𝟑</a:t>
            </a:r>
            <a:r>
              <a:rPr sz="2400">
                <a:latin typeface="Cambria Math"/>
                <a:cs typeface="Cambria Math"/>
              </a:rPr>
              <a:t>,</a:t>
            </a:r>
            <a:r>
              <a:rPr sz="2400" spc="-40">
                <a:latin typeface="Cambria Math"/>
                <a:cs typeface="Cambria Math"/>
              </a:rPr>
              <a:t> </a:t>
            </a:r>
            <a:r>
              <a:rPr sz="2400" spc="-35">
                <a:latin typeface="Cambria Math"/>
                <a:cs typeface="Cambria Math"/>
              </a:rPr>
              <a:t>𝑫</a:t>
            </a:r>
            <a:r>
              <a:rPr sz="2625" spc="-52" baseline="-15873">
                <a:latin typeface="Cambria Math"/>
                <a:cs typeface="Cambria Math"/>
              </a:rPr>
              <a:t>𝟒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97000" y="2039365"/>
            <a:ext cx="1739264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424180" algn="l"/>
              </a:tabLst>
            </a:pPr>
            <a:r>
              <a:rPr sz="1550" spc="305">
                <a:solidFill>
                  <a:srgbClr val="EB91D7"/>
                </a:solidFill>
                <a:latin typeface="PMingLiU"/>
                <a:cs typeface="PMingLiU"/>
              </a:rPr>
              <a:t>o</a:t>
            </a:r>
            <a:r>
              <a:rPr sz="1550">
                <a:solidFill>
                  <a:srgbClr val="EB91D7"/>
                </a:solidFill>
                <a:latin typeface="PMingLiU"/>
                <a:cs typeface="PMingLiU"/>
              </a:rPr>
              <a:t>	</a:t>
            </a:r>
            <a:r>
              <a:rPr sz="2200">
                <a:latin typeface="Cambria Math"/>
                <a:cs typeface="Cambria Math"/>
              </a:rPr>
              <a:t>𝑫</a:t>
            </a:r>
            <a:r>
              <a:rPr sz="2400" baseline="-15625">
                <a:latin typeface="Cambria Math"/>
                <a:cs typeface="Cambria Math"/>
              </a:rPr>
              <a:t>𝟑</a:t>
            </a:r>
            <a:r>
              <a:rPr sz="2400" spc="494" baseline="-15625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=</a:t>
            </a:r>
            <a:r>
              <a:rPr sz="2200" spc="120">
                <a:latin typeface="Cambria Math"/>
                <a:cs typeface="Cambria Math"/>
              </a:rPr>
              <a:t> </a:t>
            </a:r>
            <a:r>
              <a:rPr sz="2200" spc="-20">
                <a:latin typeface="Cambria Math"/>
                <a:cs typeface="Cambria Math"/>
              </a:rPr>
              <a:t>𝑿[𝟑]</a:t>
            </a:r>
            <a:endParaRPr sz="2200">
              <a:latin typeface="Cambria Math"/>
              <a:cs typeface="Cambria Math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308847" y="902335"/>
          <a:ext cx="3326128" cy="629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2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7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08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8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43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43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435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95605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08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6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4620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83057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3057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8313039" y="4737353"/>
          <a:ext cx="3329937" cy="3956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4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49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49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49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49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720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" name="object 7"/>
          <p:cNvGrpSpPr/>
          <p:nvPr/>
        </p:nvGrpSpPr>
        <p:grpSpPr>
          <a:xfrm>
            <a:off x="8289797" y="3772280"/>
            <a:ext cx="3383279" cy="434340"/>
            <a:chOff x="8289797" y="3772280"/>
            <a:chExt cx="3383279" cy="434340"/>
          </a:xfrm>
        </p:grpSpPr>
        <p:sp>
          <p:nvSpPr>
            <p:cNvPr id="8" name="object 8"/>
            <p:cNvSpPr/>
            <p:nvPr/>
          </p:nvSpPr>
          <p:spPr>
            <a:xfrm>
              <a:off x="9981438" y="3784980"/>
              <a:ext cx="1666875" cy="396240"/>
            </a:xfrm>
            <a:custGeom>
              <a:avLst/>
              <a:gdLst/>
              <a:ahLst/>
              <a:cxnLst/>
              <a:rect l="l" t="t" r="r" b="b"/>
              <a:pathLst>
                <a:path w="1666875" h="396239">
                  <a:moveTo>
                    <a:pt x="1110805" y="0"/>
                  </a:moveTo>
                  <a:lnTo>
                    <a:pt x="555434" y="0"/>
                  </a:lnTo>
                  <a:lnTo>
                    <a:pt x="0" y="0"/>
                  </a:lnTo>
                  <a:lnTo>
                    <a:pt x="0" y="396240"/>
                  </a:lnTo>
                  <a:lnTo>
                    <a:pt x="555371" y="396240"/>
                  </a:lnTo>
                  <a:lnTo>
                    <a:pt x="1110805" y="396240"/>
                  </a:lnTo>
                  <a:lnTo>
                    <a:pt x="1110805" y="0"/>
                  </a:lnTo>
                  <a:close/>
                </a:path>
                <a:path w="1666875" h="396239">
                  <a:moveTo>
                    <a:pt x="1666303" y="0"/>
                  </a:moveTo>
                  <a:lnTo>
                    <a:pt x="1110869" y="0"/>
                  </a:lnTo>
                  <a:lnTo>
                    <a:pt x="1110869" y="396240"/>
                  </a:lnTo>
                  <a:lnTo>
                    <a:pt x="1666303" y="396240"/>
                  </a:lnTo>
                  <a:lnTo>
                    <a:pt x="1666303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308847" y="3778630"/>
              <a:ext cx="3345179" cy="421640"/>
            </a:xfrm>
            <a:custGeom>
              <a:avLst/>
              <a:gdLst/>
              <a:ahLst/>
              <a:cxnLst/>
              <a:rect l="l" t="t" r="r" b="b"/>
              <a:pathLst>
                <a:path w="3345179" h="421639">
                  <a:moveTo>
                    <a:pt x="1672590" y="0"/>
                  </a:moveTo>
                  <a:lnTo>
                    <a:pt x="1672590" y="421640"/>
                  </a:lnTo>
                </a:path>
                <a:path w="3345179" h="421639">
                  <a:moveTo>
                    <a:pt x="2227960" y="0"/>
                  </a:moveTo>
                  <a:lnTo>
                    <a:pt x="2227960" y="421640"/>
                  </a:lnTo>
                </a:path>
                <a:path w="3345179" h="421639">
                  <a:moveTo>
                    <a:pt x="2783458" y="0"/>
                  </a:moveTo>
                  <a:lnTo>
                    <a:pt x="2783458" y="421640"/>
                  </a:lnTo>
                </a:path>
                <a:path w="3345179" h="421639">
                  <a:moveTo>
                    <a:pt x="3338829" y="0"/>
                  </a:moveTo>
                  <a:lnTo>
                    <a:pt x="3338829" y="421640"/>
                  </a:lnTo>
                </a:path>
                <a:path w="3345179" h="421639">
                  <a:moveTo>
                    <a:pt x="561721" y="0"/>
                  </a:moveTo>
                  <a:lnTo>
                    <a:pt x="561721" y="421640"/>
                  </a:lnTo>
                </a:path>
                <a:path w="3345179" h="421639">
                  <a:moveTo>
                    <a:pt x="1117219" y="0"/>
                  </a:moveTo>
                  <a:lnTo>
                    <a:pt x="1117219" y="421640"/>
                  </a:lnTo>
                </a:path>
                <a:path w="3345179" h="421639">
                  <a:moveTo>
                    <a:pt x="6350" y="0"/>
                  </a:moveTo>
                  <a:lnTo>
                    <a:pt x="6350" y="421640"/>
                  </a:lnTo>
                </a:path>
                <a:path w="3345179" h="421639">
                  <a:moveTo>
                    <a:pt x="0" y="6350"/>
                  </a:moveTo>
                  <a:lnTo>
                    <a:pt x="3345179" y="635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308847" y="4181220"/>
              <a:ext cx="3345179" cy="0"/>
            </a:xfrm>
            <a:custGeom>
              <a:avLst/>
              <a:gdLst/>
              <a:ahLst/>
              <a:cxnLst/>
              <a:rect l="l" t="t" r="r" b="b"/>
              <a:pathLst>
                <a:path w="3345179">
                  <a:moveTo>
                    <a:pt x="0" y="0"/>
                  </a:moveTo>
                  <a:lnTo>
                    <a:pt x="3345179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8321547" y="3791330"/>
            <a:ext cx="542925" cy="37084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111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44"/>
              </a:spcBef>
            </a:pPr>
            <a:r>
              <a:rPr sz="2000" b="1" spc="-5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876918" y="3791330"/>
            <a:ext cx="542925" cy="37084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111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44"/>
              </a:spcBef>
            </a:pPr>
            <a:r>
              <a:rPr sz="2000" b="1" spc="-5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432417" y="3791330"/>
            <a:ext cx="523240" cy="37084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1114" rIns="0" bIns="0" rtlCol="0">
            <a:spAutoFit/>
          </a:bodyPr>
          <a:lstStyle/>
          <a:p>
            <a:pPr marL="19685" algn="ctr">
              <a:lnSpc>
                <a:spcPct val="100000"/>
              </a:lnSpc>
              <a:spcBef>
                <a:spcPts val="244"/>
              </a:spcBef>
            </a:pPr>
            <a:r>
              <a:rPr sz="2000" b="1" spc="-5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000">
              <a:latin typeface="Times New Roman"/>
              <a:cs typeface="Times New Roman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8308847" y="5719673"/>
          <a:ext cx="3333750" cy="4210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10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720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8761476" y="1444243"/>
            <a:ext cx="94996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200">
                <a:latin typeface="Cambria Math"/>
                <a:cs typeface="Cambria Math"/>
              </a:rPr>
              <a:t>𝑫</a:t>
            </a:r>
            <a:r>
              <a:rPr sz="2400" baseline="-15625">
                <a:latin typeface="Cambria Math"/>
                <a:cs typeface="Cambria Math"/>
              </a:rPr>
              <a:t>𝟏</a:t>
            </a:r>
            <a:r>
              <a:rPr sz="2400" spc="517" baseline="-15625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=</a:t>
            </a:r>
            <a:r>
              <a:rPr sz="2200" spc="110">
                <a:latin typeface="Cambria Math"/>
                <a:cs typeface="Cambria Math"/>
              </a:rPr>
              <a:t> </a:t>
            </a:r>
            <a:r>
              <a:rPr sz="2200" spc="-50">
                <a:latin typeface="Cambria Math"/>
                <a:cs typeface="Cambria Math"/>
              </a:rPr>
              <a:t>𝟗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304271" y="4339335"/>
            <a:ext cx="115887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200">
                <a:latin typeface="Cambria Math"/>
                <a:cs typeface="Cambria Math"/>
              </a:rPr>
              <a:t>𝑫</a:t>
            </a:r>
            <a:r>
              <a:rPr sz="2400" baseline="-15625">
                <a:latin typeface="Cambria Math"/>
                <a:cs typeface="Cambria Math"/>
              </a:rPr>
              <a:t>𝟒</a:t>
            </a:r>
            <a:r>
              <a:rPr sz="2400" spc="517" baseline="-15625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=</a:t>
            </a:r>
            <a:r>
              <a:rPr sz="2200" spc="120">
                <a:latin typeface="Cambria Math"/>
                <a:cs typeface="Cambria Math"/>
              </a:rPr>
              <a:t> </a:t>
            </a:r>
            <a:r>
              <a:rPr sz="2200" spc="-25">
                <a:latin typeface="Cambria Math"/>
                <a:cs typeface="Cambria Math"/>
              </a:rPr>
              <a:t>−𝟏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013952" y="2428748"/>
            <a:ext cx="94996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200">
                <a:latin typeface="Cambria Math"/>
                <a:cs typeface="Cambria Math"/>
              </a:rPr>
              <a:t>𝑫</a:t>
            </a:r>
            <a:r>
              <a:rPr sz="2400" baseline="-15625">
                <a:latin typeface="Cambria Math"/>
                <a:cs typeface="Cambria Math"/>
              </a:rPr>
              <a:t>𝟐</a:t>
            </a:r>
            <a:r>
              <a:rPr sz="2400" spc="517" baseline="-15625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=</a:t>
            </a:r>
            <a:r>
              <a:rPr sz="2200" spc="110">
                <a:latin typeface="Cambria Math"/>
                <a:cs typeface="Cambria Math"/>
              </a:rPr>
              <a:t> </a:t>
            </a:r>
            <a:r>
              <a:rPr sz="2200" spc="-50">
                <a:latin typeface="Cambria Math"/>
                <a:cs typeface="Cambria Math"/>
              </a:rPr>
              <a:t>𝟓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252457" y="3386073"/>
            <a:ext cx="94996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200">
                <a:latin typeface="Cambria Math"/>
                <a:cs typeface="Cambria Math"/>
              </a:rPr>
              <a:t>𝑫</a:t>
            </a:r>
            <a:r>
              <a:rPr sz="2400" baseline="-15625">
                <a:latin typeface="Cambria Math"/>
                <a:cs typeface="Cambria Math"/>
              </a:rPr>
              <a:t>𝟑</a:t>
            </a:r>
            <a:r>
              <a:rPr sz="2400" spc="517" baseline="-15625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=</a:t>
            </a:r>
            <a:r>
              <a:rPr sz="2200" spc="110">
                <a:latin typeface="Cambria Math"/>
                <a:cs typeface="Cambria Math"/>
              </a:rPr>
              <a:t> </a:t>
            </a:r>
            <a:r>
              <a:rPr sz="2200" spc="-50">
                <a:latin typeface="Cambria Math"/>
                <a:cs typeface="Cambria Math"/>
              </a:rPr>
              <a:t>𝟑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616945" y="5274309"/>
            <a:ext cx="94996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200">
                <a:latin typeface="Cambria Math"/>
                <a:cs typeface="Cambria Math"/>
              </a:rPr>
              <a:t>𝑫</a:t>
            </a:r>
            <a:r>
              <a:rPr sz="2400" baseline="-15625">
                <a:latin typeface="Cambria Math"/>
                <a:cs typeface="Cambria Math"/>
              </a:rPr>
              <a:t>𝟓</a:t>
            </a:r>
            <a:r>
              <a:rPr sz="2400" spc="517" baseline="-15625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=</a:t>
            </a:r>
            <a:r>
              <a:rPr sz="2200" spc="110">
                <a:latin typeface="Cambria Math"/>
                <a:cs typeface="Cambria Math"/>
              </a:rPr>
              <a:t> </a:t>
            </a:r>
            <a:r>
              <a:rPr sz="2200" spc="-50">
                <a:latin typeface="Cambria Math"/>
                <a:cs typeface="Cambria Math"/>
              </a:rPr>
              <a:t>𝟒</a:t>
            </a:r>
            <a:endParaRPr sz="2200">
              <a:latin typeface="Cambria Math"/>
              <a:cs typeface="Cambria Math"/>
            </a:endParaRPr>
          </a:p>
        </p:txBody>
      </p: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8308847" y="1885695"/>
          <a:ext cx="3333750" cy="3956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720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8308847" y="2844545"/>
          <a:ext cx="3333750" cy="3956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720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" name="object 22"/>
          <p:cNvSpPr/>
          <p:nvPr/>
        </p:nvSpPr>
        <p:spPr>
          <a:xfrm>
            <a:off x="8906256" y="2266950"/>
            <a:ext cx="1057910" cy="222250"/>
          </a:xfrm>
          <a:custGeom>
            <a:avLst/>
            <a:gdLst/>
            <a:ahLst/>
            <a:cxnLst/>
            <a:rect l="l" t="t" r="r" b="b"/>
            <a:pathLst>
              <a:path w="1057909" h="222250">
                <a:moveTo>
                  <a:pt x="0" y="0"/>
                </a:moveTo>
                <a:lnTo>
                  <a:pt x="1448" y="43148"/>
                </a:lnTo>
                <a:lnTo>
                  <a:pt x="5397" y="78390"/>
                </a:lnTo>
                <a:lnTo>
                  <a:pt x="11251" y="102155"/>
                </a:lnTo>
                <a:lnTo>
                  <a:pt x="18415" y="110871"/>
                </a:lnTo>
                <a:lnTo>
                  <a:pt x="510286" y="110871"/>
                </a:lnTo>
                <a:lnTo>
                  <a:pt x="517523" y="119586"/>
                </a:lnTo>
                <a:lnTo>
                  <a:pt x="523414" y="143351"/>
                </a:lnTo>
                <a:lnTo>
                  <a:pt x="527377" y="178593"/>
                </a:lnTo>
                <a:lnTo>
                  <a:pt x="528827" y="221741"/>
                </a:lnTo>
                <a:lnTo>
                  <a:pt x="530276" y="178593"/>
                </a:lnTo>
                <a:lnTo>
                  <a:pt x="534225" y="143351"/>
                </a:lnTo>
                <a:lnTo>
                  <a:pt x="540079" y="119586"/>
                </a:lnTo>
                <a:lnTo>
                  <a:pt x="547243" y="110871"/>
                </a:lnTo>
                <a:lnTo>
                  <a:pt x="1039114" y="110871"/>
                </a:lnTo>
                <a:lnTo>
                  <a:pt x="1046351" y="102155"/>
                </a:lnTo>
                <a:lnTo>
                  <a:pt x="1052242" y="78390"/>
                </a:lnTo>
                <a:lnTo>
                  <a:pt x="1056205" y="43148"/>
                </a:lnTo>
                <a:lnTo>
                  <a:pt x="1057655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0721593" y="6278626"/>
            <a:ext cx="94996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200">
                <a:latin typeface="Cambria Math"/>
                <a:cs typeface="Cambria Math"/>
              </a:rPr>
              <a:t>𝑫</a:t>
            </a:r>
            <a:r>
              <a:rPr sz="2400" baseline="-15625">
                <a:latin typeface="Cambria Math"/>
                <a:cs typeface="Cambria Math"/>
              </a:rPr>
              <a:t>𝟔</a:t>
            </a:r>
            <a:r>
              <a:rPr sz="2400" spc="517" baseline="-15625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=</a:t>
            </a:r>
            <a:r>
              <a:rPr sz="2200" spc="110">
                <a:latin typeface="Cambria Math"/>
                <a:cs typeface="Cambria Math"/>
              </a:rPr>
              <a:t> </a:t>
            </a:r>
            <a:r>
              <a:rPr sz="2200" spc="-50">
                <a:latin typeface="Cambria Math"/>
                <a:cs typeface="Cambria Math"/>
              </a:rPr>
              <a:t>𝟏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0548366" y="5124450"/>
            <a:ext cx="1057910" cy="222250"/>
          </a:xfrm>
          <a:custGeom>
            <a:avLst/>
            <a:gdLst/>
            <a:ahLst/>
            <a:cxnLst/>
            <a:rect l="l" t="t" r="r" b="b"/>
            <a:pathLst>
              <a:path w="1057909" h="222250">
                <a:moveTo>
                  <a:pt x="0" y="0"/>
                </a:moveTo>
                <a:lnTo>
                  <a:pt x="1448" y="43148"/>
                </a:lnTo>
                <a:lnTo>
                  <a:pt x="5397" y="78390"/>
                </a:lnTo>
                <a:lnTo>
                  <a:pt x="11251" y="102155"/>
                </a:lnTo>
                <a:lnTo>
                  <a:pt x="18414" y="110871"/>
                </a:lnTo>
                <a:lnTo>
                  <a:pt x="510285" y="110871"/>
                </a:lnTo>
                <a:lnTo>
                  <a:pt x="517523" y="119586"/>
                </a:lnTo>
                <a:lnTo>
                  <a:pt x="523414" y="143351"/>
                </a:lnTo>
                <a:lnTo>
                  <a:pt x="527377" y="178593"/>
                </a:lnTo>
                <a:lnTo>
                  <a:pt x="528827" y="221741"/>
                </a:lnTo>
                <a:lnTo>
                  <a:pt x="530276" y="178593"/>
                </a:lnTo>
                <a:lnTo>
                  <a:pt x="534225" y="143351"/>
                </a:lnTo>
                <a:lnTo>
                  <a:pt x="540079" y="119586"/>
                </a:lnTo>
                <a:lnTo>
                  <a:pt x="547242" y="110871"/>
                </a:lnTo>
                <a:lnTo>
                  <a:pt x="1039113" y="110871"/>
                </a:lnTo>
                <a:lnTo>
                  <a:pt x="1046351" y="102155"/>
                </a:lnTo>
                <a:lnTo>
                  <a:pt x="1052242" y="78390"/>
                </a:lnTo>
                <a:lnTo>
                  <a:pt x="1056205" y="43148"/>
                </a:lnTo>
                <a:lnTo>
                  <a:pt x="1057655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5" name="object 25"/>
          <p:cNvGrpSpPr/>
          <p:nvPr/>
        </p:nvGrpSpPr>
        <p:grpSpPr>
          <a:xfrm>
            <a:off x="8091678" y="2761488"/>
            <a:ext cx="3648075" cy="1990725"/>
            <a:chOff x="8091678" y="2761488"/>
            <a:chExt cx="3648075" cy="1990725"/>
          </a:xfrm>
        </p:grpSpPr>
        <p:sp>
          <p:nvSpPr>
            <p:cNvPr id="26" name="object 26"/>
            <p:cNvSpPr/>
            <p:nvPr/>
          </p:nvSpPr>
          <p:spPr>
            <a:xfrm>
              <a:off x="9435084" y="3261360"/>
              <a:ext cx="2128520" cy="1162050"/>
            </a:xfrm>
            <a:custGeom>
              <a:avLst/>
              <a:gdLst/>
              <a:ahLst/>
              <a:cxnLst/>
              <a:rect l="l" t="t" r="r" b="b"/>
              <a:pathLst>
                <a:path w="2128520" h="1162050">
                  <a:moveTo>
                    <a:pt x="558546" y="892301"/>
                  </a:moveTo>
                  <a:lnTo>
                    <a:pt x="560308" y="944826"/>
                  </a:lnTo>
                  <a:lnTo>
                    <a:pt x="565118" y="987694"/>
                  </a:lnTo>
                  <a:lnTo>
                    <a:pt x="572261" y="1016585"/>
                  </a:lnTo>
                  <a:lnTo>
                    <a:pt x="581025" y="1027176"/>
                  </a:lnTo>
                  <a:lnTo>
                    <a:pt x="1333754" y="1027176"/>
                  </a:lnTo>
                  <a:lnTo>
                    <a:pt x="1342517" y="1037766"/>
                  </a:lnTo>
                  <a:lnTo>
                    <a:pt x="1349660" y="1066657"/>
                  </a:lnTo>
                  <a:lnTo>
                    <a:pt x="1354470" y="1109525"/>
                  </a:lnTo>
                  <a:lnTo>
                    <a:pt x="1356233" y="1162050"/>
                  </a:lnTo>
                  <a:lnTo>
                    <a:pt x="1357995" y="1109525"/>
                  </a:lnTo>
                  <a:lnTo>
                    <a:pt x="1362805" y="1066657"/>
                  </a:lnTo>
                  <a:lnTo>
                    <a:pt x="1369949" y="1037766"/>
                  </a:lnTo>
                  <a:lnTo>
                    <a:pt x="1378712" y="1027176"/>
                  </a:lnTo>
                  <a:lnTo>
                    <a:pt x="2105787" y="1027176"/>
                  </a:lnTo>
                  <a:lnTo>
                    <a:pt x="2114550" y="1016585"/>
                  </a:lnTo>
                  <a:lnTo>
                    <a:pt x="2121693" y="987694"/>
                  </a:lnTo>
                  <a:lnTo>
                    <a:pt x="2126503" y="944826"/>
                  </a:lnTo>
                  <a:lnTo>
                    <a:pt x="2128266" y="892301"/>
                  </a:lnTo>
                </a:path>
                <a:path w="2128520" h="1162050">
                  <a:moveTo>
                    <a:pt x="0" y="0"/>
                  </a:moveTo>
                  <a:lnTo>
                    <a:pt x="1135" y="33658"/>
                  </a:lnTo>
                  <a:lnTo>
                    <a:pt x="4222" y="61150"/>
                  </a:lnTo>
                  <a:lnTo>
                    <a:pt x="8786" y="79688"/>
                  </a:lnTo>
                  <a:lnTo>
                    <a:pt x="14350" y="86487"/>
                  </a:lnTo>
                  <a:lnTo>
                    <a:pt x="238125" y="86487"/>
                  </a:lnTo>
                  <a:lnTo>
                    <a:pt x="243762" y="93285"/>
                  </a:lnTo>
                  <a:lnTo>
                    <a:pt x="248364" y="111823"/>
                  </a:lnTo>
                  <a:lnTo>
                    <a:pt x="251465" y="139315"/>
                  </a:lnTo>
                  <a:lnTo>
                    <a:pt x="252602" y="172974"/>
                  </a:lnTo>
                  <a:lnTo>
                    <a:pt x="253738" y="139315"/>
                  </a:lnTo>
                  <a:lnTo>
                    <a:pt x="256825" y="111823"/>
                  </a:lnTo>
                  <a:lnTo>
                    <a:pt x="261389" y="93285"/>
                  </a:lnTo>
                  <a:lnTo>
                    <a:pt x="266954" y="86487"/>
                  </a:lnTo>
                  <a:lnTo>
                    <a:pt x="490855" y="86487"/>
                  </a:lnTo>
                  <a:lnTo>
                    <a:pt x="496419" y="79688"/>
                  </a:lnTo>
                  <a:lnTo>
                    <a:pt x="500983" y="61150"/>
                  </a:lnTo>
                  <a:lnTo>
                    <a:pt x="504070" y="33658"/>
                  </a:lnTo>
                  <a:lnTo>
                    <a:pt x="505206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110728" y="2780538"/>
              <a:ext cx="3609975" cy="1952625"/>
            </a:xfrm>
            <a:custGeom>
              <a:avLst/>
              <a:gdLst/>
              <a:ahLst/>
              <a:cxnLst/>
              <a:rect l="l" t="t" r="r" b="b"/>
              <a:pathLst>
                <a:path w="3609975" h="1952625">
                  <a:moveTo>
                    <a:pt x="0" y="325374"/>
                  </a:moveTo>
                  <a:lnTo>
                    <a:pt x="3527" y="277291"/>
                  </a:lnTo>
                  <a:lnTo>
                    <a:pt x="13775" y="231399"/>
                  </a:lnTo>
                  <a:lnTo>
                    <a:pt x="30240" y="188201"/>
                  </a:lnTo>
                  <a:lnTo>
                    <a:pt x="52418" y="148201"/>
                  </a:lnTo>
                  <a:lnTo>
                    <a:pt x="79806" y="111902"/>
                  </a:lnTo>
                  <a:lnTo>
                    <a:pt x="111902" y="79806"/>
                  </a:lnTo>
                  <a:lnTo>
                    <a:pt x="148201" y="52418"/>
                  </a:lnTo>
                  <a:lnTo>
                    <a:pt x="188201" y="30240"/>
                  </a:lnTo>
                  <a:lnTo>
                    <a:pt x="231399" y="13775"/>
                  </a:lnTo>
                  <a:lnTo>
                    <a:pt x="277291" y="3527"/>
                  </a:lnTo>
                  <a:lnTo>
                    <a:pt x="325374" y="0"/>
                  </a:lnTo>
                  <a:lnTo>
                    <a:pt x="3284220" y="0"/>
                  </a:lnTo>
                  <a:lnTo>
                    <a:pt x="3332302" y="3527"/>
                  </a:lnTo>
                  <a:lnTo>
                    <a:pt x="3378194" y="13775"/>
                  </a:lnTo>
                  <a:lnTo>
                    <a:pt x="3421392" y="30240"/>
                  </a:lnTo>
                  <a:lnTo>
                    <a:pt x="3461392" y="52418"/>
                  </a:lnTo>
                  <a:lnTo>
                    <a:pt x="3497691" y="79806"/>
                  </a:lnTo>
                  <a:lnTo>
                    <a:pt x="3529787" y="111902"/>
                  </a:lnTo>
                  <a:lnTo>
                    <a:pt x="3557175" y="148201"/>
                  </a:lnTo>
                  <a:lnTo>
                    <a:pt x="3579353" y="188201"/>
                  </a:lnTo>
                  <a:lnTo>
                    <a:pt x="3595818" y="231399"/>
                  </a:lnTo>
                  <a:lnTo>
                    <a:pt x="3606066" y="277291"/>
                  </a:lnTo>
                  <a:lnTo>
                    <a:pt x="3609594" y="325374"/>
                  </a:lnTo>
                  <a:lnTo>
                    <a:pt x="3609594" y="1626870"/>
                  </a:lnTo>
                  <a:lnTo>
                    <a:pt x="3606066" y="1674952"/>
                  </a:lnTo>
                  <a:lnTo>
                    <a:pt x="3595818" y="1720844"/>
                  </a:lnTo>
                  <a:lnTo>
                    <a:pt x="3579353" y="1764042"/>
                  </a:lnTo>
                  <a:lnTo>
                    <a:pt x="3557175" y="1804042"/>
                  </a:lnTo>
                  <a:lnTo>
                    <a:pt x="3529787" y="1840341"/>
                  </a:lnTo>
                  <a:lnTo>
                    <a:pt x="3497691" y="1872437"/>
                  </a:lnTo>
                  <a:lnTo>
                    <a:pt x="3461392" y="1899825"/>
                  </a:lnTo>
                  <a:lnTo>
                    <a:pt x="3421392" y="1922003"/>
                  </a:lnTo>
                  <a:lnTo>
                    <a:pt x="3378194" y="1938468"/>
                  </a:lnTo>
                  <a:lnTo>
                    <a:pt x="3332302" y="1948716"/>
                  </a:lnTo>
                  <a:lnTo>
                    <a:pt x="3284220" y="1952244"/>
                  </a:lnTo>
                  <a:lnTo>
                    <a:pt x="325374" y="1952244"/>
                  </a:lnTo>
                  <a:lnTo>
                    <a:pt x="277291" y="1948716"/>
                  </a:lnTo>
                  <a:lnTo>
                    <a:pt x="231399" y="1938468"/>
                  </a:lnTo>
                  <a:lnTo>
                    <a:pt x="188201" y="1922003"/>
                  </a:lnTo>
                  <a:lnTo>
                    <a:pt x="148201" y="1899825"/>
                  </a:lnTo>
                  <a:lnTo>
                    <a:pt x="111902" y="1872437"/>
                  </a:lnTo>
                  <a:lnTo>
                    <a:pt x="79806" y="1840341"/>
                  </a:lnTo>
                  <a:lnTo>
                    <a:pt x="52418" y="1804042"/>
                  </a:lnTo>
                  <a:lnTo>
                    <a:pt x="30240" y="1764042"/>
                  </a:lnTo>
                  <a:lnTo>
                    <a:pt x="13775" y="1720844"/>
                  </a:lnTo>
                  <a:lnTo>
                    <a:pt x="3527" y="1674952"/>
                  </a:lnTo>
                  <a:lnTo>
                    <a:pt x="0" y="1626870"/>
                  </a:lnTo>
                  <a:lnTo>
                    <a:pt x="0" y="325374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0007345" y="3170427"/>
            <a:ext cx="1634489" cy="9696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91820">
              <a:lnSpc>
                <a:spcPts val="5160"/>
              </a:lnSpc>
              <a:spcBef>
                <a:spcPts val="95"/>
              </a:spcBef>
            </a:pPr>
            <a:r>
              <a:rPr sz="4400" b="1" spc="-5">
                <a:solidFill>
                  <a:srgbClr val="FF0000"/>
                </a:solidFill>
                <a:latin typeface="Microsoft JhengHei"/>
                <a:cs typeface="Microsoft JhengHei"/>
              </a:rPr>
              <a:t>？</a:t>
            </a:r>
            <a:endParaRPr sz="4400">
              <a:latin typeface="Microsoft JhengHei"/>
              <a:cs typeface="Microsoft JhengHei"/>
            </a:endParaRPr>
          </a:p>
          <a:p>
            <a:pPr marL="146685">
              <a:lnSpc>
                <a:spcPts val="2280"/>
              </a:lnSpc>
              <a:tabLst>
                <a:tab pos="743585" algn="l"/>
                <a:tab pos="1299210" algn="l"/>
              </a:tabLst>
            </a:pPr>
            <a:r>
              <a:rPr sz="2000" b="1" spc="-1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sz="2000" b="1" spc="-5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r>
              <a:rPr sz="20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b="1" spc="-5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r>
              <a:rPr sz="20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b="1" spc="-5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1089385" y="6156197"/>
            <a:ext cx="505459" cy="173355"/>
          </a:xfrm>
          <a:custGeom>
            <a:avLst/>
            <a:gdLst/>
            <a:ahLst/>
            <a:cxnLst/>
            <a:rect l="l" t="t" r="r" b="b"/>
            <a:pathLst>
              <a:path w="505459" h="173354">
                <a:moveTo>
                  <a:pt x="0" y="0"/>
                </a:moveTo>
                <a:lnTo>
                  <a:pt x="1135" y="33664"/>
                </a:lnTo>
                <a:lnTo>
                  <a:pt x="4222" y="61155"/>
                </a:lnTo>
                <a:lnTo>
                  <a:pt x="8786" y="79690"/>
                </a:lnTo>
                <a:lnTo>
                  <a:pt x="14350" y="86486"/>
                </a:lnTo>
                <a:lnTo>
                  <a:pt x="238252" y="86486"/>
                </a:lnTo>
                <a:lnTo>
                  <a:pt x="243816" y="93283"/>
                </a:lnTo>
                <a:lnTo>
                  <a:pt x="248380" y="111818"/>
                </a:lnTo>
                <a:lnTo>
                  <a:pt x="251467" y="139309"/>
                </a:lnTo>
                <a:lnTo>
                  <a:pt x="252603" y="172973"/>
                </a:lnTo>
                <a:lnTo>
                  <a:pt x="253738" y="139309"/>
                </a:lnTo>
                <a:lnTo>
                  <a:pt x="256825" y="111818"/>
                </a:lnTo>
                <a:lnTo>
                  <a:pt x="261389" y="93283"/>
                </a:lnTo>
                <a:lnTo>
                  <a:pt x="266954" y="86486"/>
                </a:lnTo>
                <a:lnTo>
                  <a:pt x="490855" y="86486"/>
                </a:lnTo>
                <a:lnTo>
                  <a:pt x="496419" y="79690"/>
                </a:lnTo>
                <a:lnTo>
                  <a:pt x="500983" y="61155"/>
                </a:lnTo>
                <a:lnTo>
                  <a:pt x="504070" y="33664"/>
                </a:lnTo>
                <a:lnTo>
                  <a:pt x="505206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0" name="object 30"/>
          <p:cNvGraphicFramePr>
            <a:graphicFrameLocks noGrp="1"/>
          </p:cNvGraphicFramePr>
          <p:nvPr/>
        </p:nvGraphicFramePr>
        <p:xfrm>
          <a:off x="1598802" y="2643123"/>
          <a:ext cx="5878828" cy="3956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9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98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98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92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" name="object 31"/>
          <p:cNvSpPr txBox="1"/>
          <p:nvPr/>
        </p:nvSpPr>
        <p:spPr>
          <a:xfrm>
            <a:off x="1147317" y="2689352"/>
            <a:ext cx="184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>
                <a:latin typeface="Cambria Math"/>
                <a:cs typeface="Cambria Math"/>
              </a:rPr>
              <a:t>𝑿</a:t>
            </a:r>
            <a:endParaRPr sz="1800">
              <a:latin typeface="Cambria Math"/>
              <a:cs typeface="Cambria Math"/>
            </a:endParaRPr>
          </a:p>
        </p:txBody>
      </p:sp>
      <p:graphicFrame>
        <p:nvGraphicFramePr>
          <p:cNvPr id="32" name="object 32"/>
          <p:cNvGraphicFramePr>
            <a:graphicFrameLocks noGrp="1"/>
          </p:cNvGraphicFramePr>
          <p:nvPr/>
        </p:nvGraphicFramePr>
        <p:xfrm>
          <a:off x="1598802" y="3833495"/>
          <a:ext cx="5878828" cy="396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9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98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98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" name="object 33"/>
          <p:cNvSpPr txBox="1"/>
          <p:nvPr/>
        </p:nvSpPr>
        <p:spPr>
          <a:xfrm>
            <a:off x="1147317" y="3879850"/>
            <a:ext cx="184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>
                <a:latin typeface="Cambria Math"/>
                <a:cs typeface="Cambria Math"/>
              </a:rPr>
              <a:t>𝑿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553205" y="3036570"/>
            <a:ext cx="906780" cy="223520"/>
          </a:xfrm>
          <a:custGeom>
            <a:avLst/>
            <a:gdLst/>
            <a:ahLst/>
            <a:cxnLst/>
            <a:rect l="l" t="t" r="r" b="b"/>
            <a:pathLst>
              <a:path w="906778" h="223520">
                <a:moveTo>
                  <a:pt x="0" y="0"/>
                </a:moveTo>
                <a:lnTo>
                  <a:pt x="1468" y="43428"/>
                </a:lnTo>
                <a:lnTo>
                  <a:pt x="5461" y="78914"/>
                </a:lnTo>
                <a:lnTo>
                  <a:pt x="11358" y="102852"/>
                </a:lnTo>
                <a:lnTo>
                  <a:pt x="18542" y="111632"/>
                </a:lnTo>
                <a:lnTo>
                  <a:pt x="442214" y="111632"/>
                </a:lnTo>
                <a:lnTo>
                  <a:pt x="449451" y="120413"/>
                </a:lnTo>
                <a:lnTo>
                  <a:pt x="455342" y="144351"/>
                </a:lnTo>
                <a:lnTo>
                  <a:pt x="459305" y="179837"/>
                </a:lnTo>
                <a:lnTo>
                  <a:pt x="460756" y="223265"/>
                </a:lnTo>
                <a:lnTo>
                  <a:pt x="462226" y="179837"/>
                </a:lnTo>
                <a:lnTo>
                  <a:pt x="466232" y="144351"/>
                </a:lnTo>
                <a:lnTo>
                  <a:pt x="472168" y="120413"/>
                </a:lnTo>
                <a:lnTo>
                  <a:pt x="479425" y="111632"/>
                </a:lnTo>
                <a:lnTo>
                  <a:pt x="888238" y="111632"/>
                </a:lnTo>
                <a:lnTo>
                  <a:pt x="895421" y="102852"/>
                </a:lnTo>
                <a:lnTo>
                  <a:pt x="901319" y="78914"/>
                </a:lnTo>
                <a:lnTo>
                  <a:pt x="905311" y="43428"/>
                </a:lnTo>
                <a:lnTo>
                  <a:pt x="90678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3558285" y="3277616"/>
            <a:ext cx="94996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200">
                <a:latin typeface="Cambria Math"/>
                <a:cs typeface="Cambria Math"/>
              </a:rPr>
              <a:t>𝑫</a:t>
            </a:r>
            <a:r>
              <a:rPr sz="2400" baseline="-15625">
                <a:latin typeface="Cambria Math"/>
                <a:cs typeface="Cambria Math"/>
              </a:rPr>
              <a:t>𝟑</a:t>
            </a:r>
            <a:r>
              <a:rPr sz="2400" spc="517" baseline="-15625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=</a:t>
            </a:r>
            <a:r>
              <a:rPr sz="2200" spc="110">
                <a:latin typeface="Cambria Math"/>
                <a:cs typeface="Cambria Math"/>
              </a:rPr>
              <a:t> </a:t>
            </a:r>
            <a:r>
              <a:rPr sz="2200" spc="-50">
                <a:latin typeface="Cambria Math"/>
                <a:cs typeface="Cambria Math"/>
              </a:rPr>
              <a:t>𝟑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472938" y="4480814"/>
            <a:ext cx="115887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200">
                <a:latin typeface="Cambria Math"/>
                <a:cs typeface="Cambria Math"/>
              </a:rPr>
              <a:t>𝑫</a:t>
            </a:r>
            <a:r>
              <a:rPr sz="2400" baseline="-15625">
                <a:latin typeface="Cambria Math"/>
                <a:cs typeface="Cambria Math"/>
              </a:rPr>
              <a:t>𝟒</a:t>
            </a:r>
            <a:r>
              <a:rPr sz="2400" spc="517" baseline="-15625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=</a:t>
            </a:r>
            <a:r>
              <a:rPr sz="2200" spc="120">
                <a:latin typeface="Cambria Math"/>
                <a:cs typeface="Cambria Math"/>
              </a:rPr>
              <a:t> </a:t>
            </a:r>
            <a:r>
              <a:rPr sz="2200" spc="-25">
                <a:latin typeface="Cambria Math"/>
                <a:cs typeface="Cambria Math"/>
              </a:rPr>
              <a:t>−𝟏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4544567" y="4234434"/>
            <a:ext cx="2939415" cy="231140"/>
          </a:xfrm>
          <a:custGeom>
            <a:avLst/>
            <a:gdLst/>
            <a:ahLst/>
            <a:cxnLst/>
            <a:rect l="l" t="t" r="r" b="b"/>
            <a:pathLst>
              <a:path w="2939415" h="231139">
                <a:moveTo>
                  <a:pt x="0" y="0"/>
                </a:moveTo>
                <a:lnTo>
                  <a:pt x="1514" y="44934"/>
                </a:lnTo>
                <a:lnTo>
                  <a:pt x="5635" y="81629"/>
                </a:lnTo>
                <a:lnTo>
                  <a:pt x="11733" y="106370"/>
                </a:lnTo>
                <a:lnTo>
                  <a:pt x="19177" y="115443"/>
                </a:lnTo>
                <a:lnTo>
                  <a:pt x="1450213" y="115443"/>
                </a:lnTo>
                <a:lnTo>
                  <a:pt x="1457729" y="124515"/>
                </a:lnTo>
                <a:lnTo>
                  <a:pt x="1463865" y="149256"/>
                </a:lnTo>
                <a:lnTo>
                  <a:pt x="1468000" y="185951"/>
                </a:lnTo>
                <a:lnTo>
                  <a:pt x="1469517" y="230886"/>
                </a:lnTo>
                <a:lnTo>
                  <a:pt x="1471031" y="185951"/>
                </a:lnTo>
                <a:lnTo>
                  <a:pt x="1475152" y="149256"/>
                </a:lnTo>
                <a:lnTo>
                  <a:pt x="1481250" y="124515"/>
                </a:lnTo>
                <a:lnTo>
                  <a:pt x="1488694" y="115443"/>
                </a:lnTo>
                <a:lnTo>
                  <a:pt x="2919857" y="115443"/>
                </a:lnTo>
                <a:lnTo>
                  <a:pt x="2927300" y="106370"/>
                </a:lnTo>
                <a:lnTo>
                  <a:pt x="2933398" y="81629"/>
                </a:lnTo>
                <a:lnTo>
                  <a:pt x="2937519" y="44934"/>
                </a:lnTo>
                <a:lnTo>
                  <a:pt x="2939034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7857743" y="935735"/>
            <a:ext cx="184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>
                <a:latin typeface="Cambria Math"/>
                <a:cs typeface="Cambria Math"/>
              </a:rPr>
              <a:t>𝑿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845043" y="3838955"/>
            <a:ext cx="184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>
                <a:latin typeface="Cambria Math"/>
                <a:cs typeface="Cambria Math"/>
              </a:rPr>
              <a:t>𝑿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857743" y="1917191"/>
            <a:ext cx="184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>
                <a:latin typeface="Cambria Math"/>
                <a:cs typeface="Cambria Math"/>
              </a:rPr>
              <a:t>𝑿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857743" y="2899664"/>
            <a:ext cx="184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>
                <a:latin typeface="Cambria Math"/>
                <a:cs typeface="Cambria Math"/>
              </a:rPr>
              <a:t>𝑿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857743" y="4783835"/>
            <a:ext cx="184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>
                <a:latin typeface="Cambria Math"/>
                <a:cs typeface="Cambria Math"/>
              </a:rPr>
              <a:t>𝑿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845043" y="5760720"/>
            <a:ext cx="184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>
                <a:latin typeface="Cambria Math"/>
                <a:cs typeface="Cambria Math"/>
              </a:rPr>
              <a:t>𝑿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6" name="object 3">
            <a:extLst>
              <a:ext uri="{FF2B5EF4-FFF2-40B4-BE49-F238E27FC236}">
                <a16:creationId xmlns:a16="http://schemas.microsoft.com/office/drawing/2014/main" id="{68BBBD1F-1F63-9047-A233-A7D506C7BE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62125" y="147380"/>
            <a:ext cx="255460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规律观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察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3580" y="950625"/>
            <a:ext cx="2554605" cy="1004569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89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80365" algn="l"/>
                <a:tab pos="381000" algn="l"/>
              </a:tabLst>
            </a:pPr>
            <a:r>
              <a:rPr sz="2800" spc="-10">
                <a:latin typeface="PMingLiU"/>
                <a:cs typeface="PMingLiU"/>
              </a:rPr>
              <a:t>结尾位置不同</a:t>
            </a:r>
            <a:endParaRPr sz="2800">
              <a:latin typeface="PMingLiU"/>
              <a:cs typeface="PMingLiU"/>
            </a:endParaRPr>
          </a:p>
          <a:p>
            <a:pPr marL="729615" lvl="1" indent="-347980">
              <a:lnSpc>
                <a:spcPct val="100000"/>
              </a:lnSpc>
              <a:spcBef>
                <a:spcPts val="6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29615" algn="l"/>
                <a:tab pos="730250" algn="l"/>
              </a:tabLst>
            </a:pPr>
            <a:r>
              <a:rPr sz="2400">
                <a:latin typeface="Cambria Math"/>
                <a:cs typeface="Cambria Math"/>
              </a:rPr>
              <a:t>𝑫</a:t>
            </a:r>
            <a:r>
              <a:rPr sz="2625" baseline="-15873">
                <a:latin typeface="Cambria Math"/>
                <a:cs typeface="Cambria Math"/>
              </a:rPr>
              <a:t>𝟑</a:t>
            </a:r>
            <a:r>
              <a:rPr sz="2400">
                <a:latin typeface="Cambria Math"/>
                <a:cs typeface="Cambria Math"/>
              </a:rPr>
              <a:t>,</a:t>
            </a:r>
            <a:r>
              <a:rPr sz="2400" spc="-40">
                <a:latin typeface="Cambria Math"/>
                <a:cs typeface="Cambria Math"/>
              </a:rPr>
              <a:t> </a:t>
            </a:r>
            <a:r>
              <a:rPr sz="2400" spc="-35">
                <a:latin typeface="Cambria Math"/>
                <a:cs typeface="Cambria Math"/>
              </a:rPr>
              <a:t>𝑫</a:t>
            </a:r>
            <a:r>
              <a:rPr sz="2625" spc="-52" baseline="-15873">
                <a:latin typeface="Cambria Math"/>
                <a:cs typeface="Cambria Math"/>
              </a:rPr>
              <a:t>𝟒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97000" y="1931974"/>
            <a:ext cx="1739264" cy="83058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25"/>
              </a:spcBef>
              <a:tabLst>
                <a:tab pos="424180" algn="l"/>
              </a:tabLst>
            </a:pPr>
            <a:r>
              <a:rPr sz="1550" spc="305">
                <a:solidFill>
                  <a:srgbClr val="EB91D7"/>
                </a:solidFill>
                <a:latin typeface="PMingLiU"/>
                <a:cs typeface="PMingLiU"/>
              </a:rPr>
              <a:t>o</a:t>
            </a:r>
            <a:r>
              <a:rPr sz="1550">
                <a:solidFill>
                  <a:srgbClr val="EB91D7"/>
                </a:solidFill>
                <a:latin typeface="PMingLiU"/>
                <a:cs typeface="PMingLiU"/>
              </a:rPr>
              <a:t>	</a:t>
            </a:r>
            <a:r>
              <a:rPr sz="2200">
                <a:latin typeface="Cambria Math"/>
                <a:cs typeface="Cambria Math"/>
              </a:rPr>
              <a:t>𝑫</a:t>
            </a:r>
            <a:r>
              <a:rPr sz="2400" baseline="-15625">
                <a:latin typeface="Cambria Math"/>
                <a:cs typeface="Cambria Math"/>
              </a:rPr>
              <a:t>𝟑</a:t>
            </a:r>
            <a:r>
              <a:rPr sz="2400" spc="494" baseline="-15625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=</a:t>
            </a:r>
            <a:r>
              <a:rPr sz="2200" spc="120">
                <a:latin typeface="Cambria Math"/>
                <a:cs typeface="Cambria Math"/>
              </a:rPr>
              <a:t> </a:t>
            </a:r>
            <a:r>
              <a:rPr sz="2200" spc="-20">
                <a:latin typeface="Cambria Math"/>
                <a:cs typeface="Cambria Math"/>
              </a:rPr>
              <a:t>𝑿[𝟑]</a:t>
            </a:r>
            <a:endParaRPr sz="220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530"/>
              </a:spcBef>
              <a:tabLst>
                <a:tab pos="424180" algn="l"/>
              </a:tabLst>
            </a:pPr>
            <a:r>
              <a:rPr sz="1550" spc="305">
                <a:solidFill>
                  <a:srgbClr val="EB91D7"/>
                </a:solidFill>
                <a:latin typeface="PMingLiU"/>
                <a:cs typeface="PMingLiU"/>
              </a:rPr>
              <a:t>o</a:t>
            </a:r>
            <a:r>
              <a:rPr sz="1550">
                <a:solidFill>
                  <a:srgbClr val="EB91D7"/>
                </a:solidFill>
                <a:latin typeface="PMingLiU"/>
                <a:cs typeface="PMingLiU"/>
              </a:rPr>
              <a:t>	</a:t>
            </a:r>
            <a:r>
              <a:rPr sz="2200">
                <a:latin typeface="Cambria Math"/>
                <a:cs typeface="Cambria Math"/>
              </a:rPr>
              <a:t>𝑫</a:t>
            </a:r>
            <a:r>
              <a:rPr sz="2400" baseline="-15625">
                <a:latin typeface="Cambria Math"/>
                <a:cs typeface="Cambria Math"/>
              </a:rPr>
              <a:t>𝟒</a:t>
            </a:r>
            <a:r>
              <a:rPr sz="2400" spc="509" baseline="-15625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&lt;</a:t>
            </a:r>
            <a:r>
              <a:rPr sz="2200" spc="125">
                <a:latin typeface="Cambria Math"/>
                <a:cs typeface="Cambria Math"/>
              </a:rPr>
              <a:t> </a:t>
            </a:r>
            <a:r>
              <a:rPr sz="2200" spc="-50">
                <a:latin typeface="Cambria Math"/>
                <a:cs typeface="Cambria Math"/>
              </a:rPr>
              <a:t>𝟎</a:t>
            </a:r>
            <a:endParaRPr sz="2200">
              <a:latin typeface="Cambria Math"/>
              <a:cs typeface="Cambria Math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308847" y="902335"/>
          <a:ext cx="3326128" cy="629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2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7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08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8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43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43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435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95605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08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6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4620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83057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3057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8313039" y="4737353"/>
          <a:ext cx="3329937" cy="3956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4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49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49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49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49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720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" name="object 7"/>
          <p:cNvGrpSpPr/>
          <p:nvPr/>
        </p:nvGrpSpPr>
        <p:grpSpPr>
          <a:xfrm>
            <a:off x="8289797" y="3772280"/>
            <a:ext cx="3383279" cy="434340"/>
            <a:chOff x="8289797" y="3772280"/>
            <a:chExt cx="3383279" cy="434340"/>
          </a:xfrm>
        </p:grpSpPr>
        <p:sp>
          <p:nvSpPr>
            <p:cNvPr id="8" name="object 8"/>
            <p:cNvSpPr/>
            <p:nvPr/>
          </p:nvSpPr>
          <p:spPr>
            <a:xfrm>
              <a:off x="9981438" y="3784980"/>
              <a:ext cx="1666875" cy="396240"/>
            </a:xfrm>
            <a:custGeom>
              <a:avLst/>
              <a:gdLst/>
              <a:ahLst/>
              <a:cxnLst/>
              <a:rect l="l" t="t" r="r" b="b"/>
              <a:pathLst>
                <a:path w="1666875" h="396239">
                  <a:moveTo>
                    <a:pt x="1110805" y="0"/>
                  </a:moveTo>
                  <a:lnTo>
                    <a:pt x="555434" y="0"/>
                  </a:lnTo>
                  <a:lnTo>
                    <a:pt x="0" y="0"/>
                  </a:lnTo>
                  <a:lnTo>
                    <a:pt x="0" y="396240"/>
                  </a:lnTo>
                  <a:lnTo>
                    <a:pt x="555371" y="396240"/>
                  </a:lnTo>
                  <a:lnTo>
                    <a:pt x="1110805" y="396240"/>
                  </a:lnTo>
                  <a:lnTo>
                    <a:pt x="1110805" y="0"/>
                  </a:lnTo>
                  <a:close/>
                </a:path>
                <a:path w="1666875" h="396239">
                  <a:moveTo>
                    <a:pt x="1666303" y="0"/>
                  </a:moveTo>
                  <a:lnTo>
                    <a:pt x="1110869" y="0"/>
                  </a:lnTo>
                  <a:lnTo>
                    <a:pt x="1110869" y="396240"/>
                  </a:lnTo>
                  <a:lnTo>
                    <a:pt x="1666303" y="396240"/>
                  </a:lnTo>
                  <a:lnTo>
                    <a:pt x="1666303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308847" y="3778630"/>
              <a:ext cx="3345179" cy="421640"/>
            </a:xfrm>
            <a:custGeom>
              <a:avLst/>
              <a:gdLst/>
              <a:ahLst/>
              <a:cxnLst/>
              <a:rect l="l" t="t" r="r" b="b"/>
              <a:pathLst>
                <a:path w="3345179" h="421639">
                  <a:moveTo>
                    <a:pt x="1672590" y="0"/>
                  </a:moveTo>
                  <a:lnTo>
                    <a:pt x="1672590" y="421640"/>
                  </a:lnTo>
                </a:path>
                <a:path w="3345179" h="421639">
                  <a:moveTo>
                    <a:pt x="2227960" y="0"/>
                  </a:moveTo>
                  <a:lnTo>
                    <a:pt x="2227960" y="421640"/>
                  </a:lnTo>
                </a:path>
                <a:path w="3345179" h="421639">
                  <a:moveTo>
                    <a:pt x="2783458" y="0"/>
                  </a:moveTo>
                  <a:lnTo>
                    <a:pt x="2783458" y="421640"/>
                  </a:lnTo>
                </a:path>
                <a:path w="3345179" h="421639">
                  <a:moveTo>
                    <a:pt x="3338829" y="0"/>
                  </a:moveTo>
                  <a:lnTo>
                    <a:pt x="3338829" y="421640"/>
                  </a:lnTo>
                </a:path>
                <a:path w="3345179" h="421639">
                  <a:moveTo>
                    <a:pt x="561721" y="0"/>
                  </a:moveTo>
                  <a:lnTo>
                    <a:pt x="561721" y="421640"/>
                  </a:lnTo>
                </a:path>
                <a:path w="3345179" h="421639">
                  <a:moveTo>
                    <a:pt x="1117219" y="0"/>
                  </a:moveTo>
                  <a:lnTo>
                    <a:pt x="1117219" y="421640"/>
                  </a:lnTo>
                </a:path>
                <a:path w="3345179" h="421639">
                  <a:moveTo>
                    <a:pt x="6350" y="0"/>
                  </a:moveTo>
                  <a:lnTo>
                    <a:pt x="6350" y="421640"/>
                  </a:lnTo>
                </a:path>
                <a:path w="3345179" h="421639">
                  <a:moveTo>
                    <a:pt x="0" y="6350"/>
                  </a:moveTo>
                  <a:lnTo>
                    <a:pt x="3345179" y="635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308847" y="4181220"/>
              <a:ext cx="3345179" cy="0"/>
            </a:xfrm>
            <a:custGeom>
              <a:avLst/>
              <a:gdLst/>
              <a:ahLst/>
              <a:cxnLst/>
              <a:rect l="l" t="t" r="r" b="b"/>
              <a:pathLst>
                <a:path w="3345179">
                  <a:moveTo>
                    <a:pt x="0" y="0"/>
                  </a:moveTo>
                  <a:lnTo>
                    <a:pt x="3345179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8321547" y="3791330"/>
            <a:ext cx="542925" cy="37084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111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44"/>
              </a:spcBef>
            </a:pPr>
            <a:r>
              <a:rPr sz="2000" b="1" spc="-5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876918" y="3791330"/>
            <a:ext cx="542925" cy="37084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111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44"/>
              </a:spcBef>
            </a:pPr>
            <a:r>
              <a:rPr sz="2000" b="1" spc="-5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432417" y="3791330"/>
            <a:ext cx="523240" cy="37084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1114" rIns="0" bIns="0" rtlCol="0">
            <a:spAutoFit/>
          </a:bodyPr>
          <a:lstStyle/>
          <a:p>
            <a:pPr marL="19685" algn="ctr">
              <a:lnSpc>
                <a:spcPct val="100000"/>
              </a:lnSpc>
              <a:spcBef>
                <a:spcPts val="244"/>
              </a:spcBef>
            </a:pPr>
            <a:r>
              <a:rPr sz="2000" b="1" spc="-5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000">
              <a:latin typeface="Times New Roman"/>
              <a:cs typeface="Times New Roman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8308847" y="5719673"/>
          <a:ext cx="3333750" cy="4210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10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720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8761476" y="1444243"/>
            <a:ext cx="94996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200">
                <a:latin typeface="Cambria Math"/>
                <a:cs typeface="Cambria Math"/>
              </a:rPr>
              <a:t>𝑫</a:t>
            </a:r>
            <a:r>
              <a:rPr sz="2400" baseline="-15625">
                <a:latin typeface="Cambria Math"/>
                <a:cs typeface="Cambria Math"/>
              </a:rPr>
              <a:t>𝟏</a:t>
            </a:r>
            <a:r>
              <a:rPr sz="2400" spc="517" baseline="-15625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=</a:t>
            </a:r>
            <a:r>
              <a:rPr sz="2200" spc="110">
                <a:latin typeface="Cambria Math"/>
                <a:cs typeface="Cambria Math"/>
              </a:rPr>
              <a:t> </a:t>
            </a:r>
            <a:r>
              <a:rPr sz="2200" spc="-50">
                <a:latin typeface="Cambria Math"/>
                <a:cs typeface="Cambria Math"/>
              </a:rPr>
              <a:t>𝟗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304271" y="4339335"/>
            <a:ext cx="115887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200">
                <a:latin typeface="Cambria Math"/>
                <a:cs typeface="Cambria Math"/>
              </a:rPr>
              <a:t>𝑫</a:t>
            </a:r>
            <a:r>
              <a:rPr sz="2400" baseline="-15625">
                <a:latin typeface="Cambria Math"/>
                <a:cs typeface="Cambria Math"/>
              </a:rPr>
              <a:t>𝟒</a:t>
            </a:r>
            <a:r>
              <a:rPr sz="2400" spc="517" baseline="-15625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=</a:t>
            </a:r>
            <a:r>
              <a:rPr sz="2200" spc="120">
                <a:latin typeface="Cambria Math"/>
                <a:cs typeface="Cambria Math"/>
              </a:rPr>
              <a:t> </a:t>
            </a:r>
            <a:r>
              <a:rPr sz="2200" spc="-25">
                <a:latin typeface="Cambria Math"/>
                <a:cs typeface="Cambria Math"/>
              </a:rPr>
              <a:t>−𝟏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013952" y="2428748"/>
            <a:ext cx="94996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200">
                <a:latin typeface="Cambria Math"/>
                <a:cs typeface="Cambria Math"/>
              </a:rPr>
              <a:t>𝑫</a:t>
            </a:r>
            <a:r>
              <a:rPr sz="2400" baseline="-15625">
                <a:latin typeface="Cambria Math"/>
                <a:cs typeface="Cambria Math"/>
              </a:rPr>
              <a:t>𝟐</a:t>
            </a:r>
            <a:r>
              <a:rPr sz="2400" spc="517" baseline="-15625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=</a:t>
            </a:r>
            <a:r>
              <a:rPr sz="2200" spc="110">
                <a:latin typeface="Cambria Math"/>
                <a:cs typeface="Cambria Math"/>
              </a:rPr>
              <a:t> </a:t>
            </a:r>
            <a:r>
              <a:rPr sz="2200" spc="-50">
                <a:latin typeface="Cambria Math"/>
                <a:cs typeface="Cambria Math"/>
              </a:rPr>
              <a:t>𝟓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252457" y="3386073"/>
            <a:ext cx="94996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200">
                <a:latin typeface="Cambria Math"/>
                <a:cs typeface="Cambria Math"/>
              </a:rPr>
              <a:t>𝑫</a:t>
            </a:r>
            <a:r>
              <a:rPr sz="2400" baseline="-15625">
                <a:latin typeface="Cambria Math"/>
                <a:cs typeface="Cambria Math"/>
              </a:rPr>
              <a:t>𝟑</a:t>
            </a:r>
            <a:r>
              <a:rPr sz="2400" spc="517" baseline="-15625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=</a:t>
            </a:r>
            <a:r>
              <a:rPr sz="2200" spc="110">
                <a:latin typeface="Cambria Math"/>
                <a:cs typeface="Cambria Math"/>
              </a:rPr>
              <a:t> </a:t>
            </a:r>
            <a:r>
              <a:rPr sz="2200" spc="-50">
                <a:latin typeface="Cambria Math"/>
                <a:cs typeface="Cambria Math"/>
              </a:rPr>
              <a:t>𝟑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616945" y="5274309"/>
            <a:ext cx="94996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200">
                <a:latin typeface="Cambria Math"/>
                <a:cs typeface="Cambria Math"/>
              </a:rPr>
              <a:t>𝑫</a:t>
            </a:r>
            <a:r>
              <a:rPr sz="2400" baseline="-15625">
                <a:latin typeface="Cambria Math"/>
                <a:cs typeface="Cambria Math"/>
              </a:rPr>
              <a:t>𝟓</a:t>
            </a:r>
            <a:r>
              <a:rPr sz="2400" spc="517" baseline="-15625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=</a:t>
            </a:r>
            <a:r>
              <a:rPr sz="2200" spc="110">
                <a:latin typeface="Cambria Math"/>
                <a:cs typeface="Cambria Math"/>
              </a:rPr>
              <a:t> </a:t>
            </a:r>
            <a:r>
              <a:rPr sz="2200" spc="-50">
                <a:latin typeface="Cambria Math"/>
                <a:cs typeface="Cambria Math"/>
              </a:rPr>
              <a:t>𝟒</a:t>
            </a:r>
            <a:endParaRPr sz="2200">
              <a:latin typeface="Cambria Math"/>
              <a:cs typeface="Cambria Math"/>
            </a:endParaRPr>
          </a:p>
        </p:txBody>
      </p: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8308847" y="1885695"/>
          <a:ext cx="3333750" cy="3956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720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8308847" y="2844545"/>
          <a:ext cx="3333750" cy="3956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720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" name="object 22"/>
          <p:cNvSpPr/>
          <p:nvPr/>
        </p:nvSpPr>
        <p:spPr>
          <a:xfrm>
            <a:off x="8906256" y="2266950"/>
            <a:ext cx="1057910" cy="222250"/>
          </a:xfrm>
          <a:custGeom>
            <a:avLst/>
            <a:gdLst/>
            <a:ahLst/>
            <a:cxnLst/>
            <a:rect l="l" t="t" r="r" b="b"/>
            <a:pathLst>
              <a:path w="1057909" h="222250">
                <a:moveTo>
                  <a:pt x="0" y="0"/>
                </a:moveTo>
                <a:lnTo>
                  <a:pt x="1448" y="43148"/>
                </a:lnTo>
                <a:lnTo>
                  <a:pt x="5397" y="78390"/>
                </a:lnTo>
                <a:lnTo>
                  <a:pt x="11251" y="102155"/>
                </a:lnTo>
                <a:lnTo>
                  <a:pt x="18415" y="110871"/>
                </a:lnTo>
                <a:lnTo>
                  <a:pt x="510286" y="110871"/>
                </a:lnTo>
                <a:lnTo>
                  <a:pt x="517523" y="119586"/>
                </a:lnTo>
                <a:lnTo>
                  <a:pt x="523414" y="143351"/>
                </a:lnTo>
                <a:lnTo>
                  <a:pt x="527377" y="178593"/>
                </a:lnTo>
                <a:lnTo>
                  <a:pt x="528827" y="221741"/>
                </a:lnTo>
                <a:lnTo>
                  <a:pt x="530276" y="178593"/>
                </a:lnTo>
                <a:lnTo>
                  <a:pt x="534225" y="143351"/>
                </a:lnTo>
                <a:lnTo>
                  <a:pt x="540079" y="119586"/>
                </a:lnTo>
                <a:lnTo>
                  <a:pt x="547243" y="110871"/>
                </a:lnTo>
                <a:lnTo>
                  <a:pt x="1039114" y="110871"/>
                </a:lnTo>
                <a:lnTo>
                  <a:pt x="1046351" y="102155"/>
                </a:lnTo>
                <a:lnTo>
                  <a:pt x="1052242" y="78390"/>
                </a:lnTo>
                <a:lnTo>
                  <a:pt x="1056205" y="43148"/>
                </a:lnTo>
                <a:lnTo>
                  <a:pt x="1057655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0721593" y="6278626"/>
            <a:ext cx="94996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200">
                <a:latin typeface="Cambria Math"/>
                <a:cs typeface="Cambria Math"/>
              </a:rPr>
              <a:t>𝑫</a:t>
            </a:r>
            <a:r>
              <a:rPr sz="2400" baseline="-15625">
                <a:latin typeface="Cambria Math"/>
                <a:cs typeface="Cambria Math"/>
              </a:rPr>
              <a:t>𝟔</a:t>
            </a:r>
            <a:r>
              <a:rPr sz="2400" spc="517" baseline="-15625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=</a:t>
            </a:r>
            <a:r>
              <a:rPr sz="2200" spc="110">
                <a:latin typeface="Cambria Math"/>
                <a:cs typeface="Cambria Math"/>
              </a:rPr>
              <a:t> </a:t>
            </a:r>
            <a:r>
              <a:rPr sz="2200" spc="-50">
                <a:latin typeface="Cambria Math"/>
                <a:cs typeface="Cambria Math"/>
              </a:rPr>
              <a:t>𝟏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0548366" y="5124450"/>
            <a:ext cx="1057910" cy="222250"/>
          </a:xfrm>
          <a:custGeom>
            <a:avLst/>
            <a:gdLst/>
            <a:ahLst/>
            <a:cxnLst/>
            <a:rect l="l" t="t" r="r" b="b"/>
            <a:pathLst>
              <a:path w="1057909" h="222250">
                <a:moveTo>
                  <a:pt x="0" y="0"/>
                </a:moveTo>
                <a:lnTo>
                  <a:pt x="1448" y="43148"/>
                </a:lnTo>
                <a:lnTo>
                  <a:pt x="5397" y="78390"/>
                </a:lnTo>
                <a:lnTo>
                  <a:pt x="11251" y="102155"/>
                </a:lnTo>
                <a:lnTo>
                  <a:pt x="18414" y="110871"/>
                </a:lnTo>
                <a:lnTo>
                  <a:pt x="510285" y="110871"/>
                </a:lnTo>
                <a:lnTo>
                  <a:pt x="517523" y="119586"/>
                </a:lnTo>
                <a:lnTo>
                  <a:pt x="523414" y="143351"/>
                </a:lnTo>
                <a:lnTo>
                  <a:pt x="527377" y="178593"/>
                </a:lnTo>
                <a:lnTo>
                  <a:pt x="528827" y="221741"/>
                </a:lnTo>
                <a:lnTo>
                  <a:pt x="530276" y="178593"/>
                </a:lnTo>
                <a:lnTo>
                  <a:pt x="534225" y="143351"/>
                </a:lnTo>
                <a:lnTo>
                  <a:pt x="540079" y="119586"/>
                </a:lnTo>
                <a:lnTo>
                  <a:pt x="547242" y="110871"/>
                </a:lnTo>
                <a:lnTo>
                  <a:pt x="1039113" y="110871"/>
                </a:lnTo>
                <a:lnTo>
                  <a:pt x="1046351" y="102155"/>
                </a:lnTo>
                <a:lnTo>
                  <a:pt x="1052242" y="78390"/>
                </a:lnTo>
                <a:lnTo>
                  <a:pt x="1056205" y="43148"/>
                </a:lnTo>
                <a:lnTo>
                  <a:pt x="1057655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5" name="object 25"/>
          <p:cNvGrpSpPr/>
          <p:nvPr/>
        </p:nvGrpSpPr>
        <p:grpSpPr>
          <a:xfrm>
            <a:off x="8091678" y="2761488"/>
            <a:ext cx="3648075" cy="1990725"/>
            <a:chOff x="8091678" y="2761488"/>
            <a:chExt cx="3648075" cy="1990725"/>
          </a:xfrm>
        </p:grpSpPr>
        <p:sp>
          <p:nvSpPr>
            <p:cNvPr id="26" name="object 26"/>
            <p:cNvSpPr/>
            <p:nvPr/>
          </p:nvSpPr>
          <p:spPr>
            <a:xfrm>
              <a:off x="9435084" y="3261360"/>
              <a:ext cx="2128520" cy="1162050"/>
            </a:xfrm>
            <a:custGeom>
              <a:avLst/>
              <a:gdLst/>
              <a:ahLst/>
              <a:cxnLst/>
              <a:rect l="l" t="t" r="r" b="b"/>
              <a:pathLst>
                <a:path w="2128520" h="1162050">
                  <a:moveTo>
                    <a:pt x="558546" y="892301"/>
                  </a:moveTo>
                  <a:lnTo>
                    <a:pt x="560308" y="944826"/>
                  </a:lnTo>
                  <a:lnTo>
                    <a:pt x="565118" y="987694"/>
                  </a:lnTo>
                  <a:lnTo>
                    <a:pt x="572261" y="1016585"/>
                  </a:lnTo>
                  <a:lnTo>
                    <a:pt x="581025" y="1027176"/>
                  </a:lnTo>
                  <a:lnTo>
                    <a:pt x="1333754" y="1027176"/>
                  </a:lnTo>
                  <a:lnTo>
                    <a:pt x="1342517" y="1037766"/>
                  </a:lnTo>
                  <a:lnTo>
                    <a:pt x="1349660" y="1066657"/>
                  </a:lnTo>
                  <a:lnTo>
                    <a:pt x="1354470" y="1109525"/>
                  </a:lnTo>
                  <a:lnTo>
                    <a:pt x="1356233" y="1162050"/>
                  </a:lnTo>
                  <a:lnTo>
                    <a:pt x="1357995" y="1109525"/>
                  </a:lnTo>
                  <a:lnTo>
                    <a:pt x="1362805" y="1066657"/>
                  </a:lnTo>
                  <a:lnTo>
                    <a:pt x="1369949" y="1037766"/>
                  </a:lnTo>
                  <a:lnTo>
                    <a:pt x="1378712" y="1027176"/>
                  </a:lnTo>
                  <a:lnTo>
                    <a:pt x="2105787" y="1027176"/>
                  </a:lnTo>
                  <a:lnTo>
                    <a:pt x="2114550" y="1016585"/>
                  </a:lnTo>
                  <a:lnTo>
                    <a:pt x="2121693" y="987694"/>
                  </a:lnTo>
                  <a:lnTo>
                    <a:pt x="2126503" y="944826"/>
                  </a:lnTo>
                  <a:lnTo>
                    <a:pt x="2128266" y="892301"/>
                  </a:lnTo>
                </a:path>
                <a:path w="2128520" h="1162050">
                  <a:moveTo>
                    <a:pt x="0" y="0"/>
                  </a:moveTo>
                  <a:lnTo>
                    <a:pt x="1135" y="33658"/>
                  </a:lnTo>
                  <a:lnTo>
                    <a:pt x="4222" y="61150"/>
                  </a:lnTo>
                  <a:lnTo>
                    <a:pt x="8786" y="79688"/>
                  </a:lnTo>
                  <a:lnTo>
                    <a:pt x="14350" y="86487"/>
                  </a:lnTo>
                  <a:lnTo>
                    <a:pt x="238125" y="86487"/>
                  </a:lnTo>
                  <a:lnTo>
                    <a:pt x="243762" y="93285"/>
                  </a:lnTo>
                  <a:lnTo>
                    <a:pt x="248364" y="111823"/>
                  </a:lnTo>
                  <a:lnTo>
                    <a:pt x="251465" y="139315"/>
                  </a:lnTo>
                  <a:lnTo>
                    <a:pt x="252602" y="172974"/>
                  </a:lnTo>
                  <a:lnTo>
                    <a:pt x="253738" y="139315"/>
                  </a:lnTo>
                  <a:lnTo>
                    <a:pt x="256825" y="111823"/>
                  </a:lnTo>
                  <a:lnTo>
                    <a:pt x="261389" y="93285"/>
                  </a:lnTo>
                  <a:lnTo>
                    <a:pt x="266954" y="86487"/>
                  </a:lnTo>
                  <a:lnTo>
                    <a:pt x="490855" y="86487"/>
                  </a:lnTo>
                  <a:lnTo>
                    <a:pt x="496419" y="79688"/>
                  </a:lnTo>
                  <a:lnTo>
                    <a:pt x="500983" y="61150"/>
                  </a:lnTo>
                  <a:lnTo>
                    <a:pt x="504070" y="33658"/>
                  </a:lnTo>
                  <a:lnTo>
                    <a:pt x="505206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110728" y="2780538"/>
              <a:ext cx="3609975" cy="1952625"/>
            </a:xfrm>
            <a:custGeom>
              <a:avLst/>
              <a:gdLst/>
              <a:ahLst/>
              <a:cxnLst/>
              <a:rect l="l" t="t" r="r" b="b"/>
              <a:pathLst>
                <a:path w="3609975" h="1952625">
                  <a:moveTo>
                    <a:pt x="0" y="325374"/>
                  </a:moveTo>
                  <a:lnTo>
                    <a:pt x="3527" y="277291"/>
                  </a:lnTo>
                  <a:lnTo>
                    <a:pt x="13775" y="231399"/>
                  </a:lnTo>
                  <a:lnTo>
                    <a:pt x="30240" y="188201"/>
                  </a:lnTo>
                  <a:lnTo>
                    <a:pt x="52418" y="148201"/>
                  </a:lnTo>
                  <a:lnTo>
                    <a:pt x="79806" y="111902"/>
                  </a:lnTo>
                  <a:lnTo>
                    <a:pt x="111902" y="79806"/>
                  </a:lnTo>
                  <a:lnTo>
                    <a:pt x="148201" y="52418"/>
                  </a:lnTo>
                  <a:lnTo>
                    <a:pt x="188201" y="30240"/>
                  </a:lnTo>
                  <a:lnTo>
                    <a:pt x="231399" y="13775"/>
                  </a:lnTo>
                  <a:lnTo>
                    <a:pt x="277291" y="3527"/>
                  </a:lnTo>
                  <a:lnTo>
                    <a:pt x="325374" y="0"/>
                  </a:lnTo>
                  <a:lnTo>
                    <a:pt x="3284220" y="0"/>
                  </a:lnTo>
                  <a:lnTo>
                    <a:pt x="3332302" y="3527"/>
                  </a:lnTo>
                  <a:lnTo>
                    <a:pt x="3378194" y="13775"/>
                  </a:lnTo>
                  <a:lnTo>
                    <a:pt x="3421392" y="30240"/>
                  </a:lnTo>
                  <a:lnTo>
                    <a:pt x="3461392" y="52418"/>
                  </a:lnTo>
                  <a:lnTo>
                    <a:pt x="3497691" y="79806"/>
                  </a:lnTo>
                  <a:lnTo>
                    <a:pt x="3529787" y="111902"/>
                  </a:lnTo>
                  <a:lnTo>
                    <a:pt x="3557175" y="148201"/>
                  </a:lnTo>
                  <a:lnTo>
                    <a:pt x="3579353" y="188201"/>
                  </a:lnTo>
                  <a:lnTo>
                    <a:pt x="3595818" y="231399"/>
                  </a:lnTo>
                  <a:lnTo>
                    <a:pt x="3606066" y="277291"/>
                  </a:lnTo>
                  <a:lnTo>
                    <a:pt x="3609594" y="325374"/>
                  </a:lnTo>
                  <a:lnTo>
                    <a:pt x="3609594" y="1626870"/>
                  </a:lnTo>
                  <a:lnTo>
                    <a:pt x="3606066" y="1674952"/>
                  </a:lnTo>
                  <a:lnTo>
                    <a:pt x="3595818" y="1720844"/>
                  </a:lnTo>
                  <a:lnTo>
                    <a:pt x="3579353" y="1764042"/>
                  </a:lnTo>
                  <a:lnTo>
                    <a:pt x="3557175" y="1804042"/>
                  </a:lnTo>
                  <a:lnTo>
                    <a:pt x="3529787" y="1840341"/>
                  </a:lnTo>
                  <a:lnTo>
                    <a:pt x="3497691" y="1872437"/>
                  </a:lnTo>
                  <a:lnTo>
                    <a:pt x="3461392" y="1899825"/>
                  </a:lnTo>
                  <a:lnTo>
                    <a:pt x="3421392" y="1922003"/>
                  </a:lnTo>
                  <a:lnTo>
                    <a:pt x="3378194" y="1938468"/>
                  </a:lnTo>
                  <a:lnTo>
                    <a:pt x="3332302" y="1948716"/>
                  </a:lnTo>
                  <a:lnTo>
                    <a:pt x="3284220" y="1952244"/>
                  </a:lnTo>
                  <a:lnTo>
                    <a:pt x="325374" y="1952244"/>
                  </a:lnTo>
                  <a:lnTo>
                    <a:pt x="277291" y="1948716"/>
                  </a:lnTo>
                  <a:lnTo>
                    <a:pt x="231399" y="1938468"/>
                  </a:lnTo>
                  <a:lnTo>
                    <a:pt x="188201" y="1922003"/>
                  </a:lnTo>
                  <a:lnTo>
                    <a:pt x="148201" y="1899825"/>
                  </a:lnTo>
                  <a:lnTo>
                    <a:pt x="111902" y="1872437"/>
                  </a:lnTo>
                  <a:lnTo>
                    <a:pt x="79806" y="1840341"/>
                  </a:lnTo>
                  <a:lnTo>
                    <a:pt x="52418" y="1804042"/>
                  </a:lnTo>
                  <a:lnTo>
                    <a:pt x="30240" y="1764042"/>
                  </a:lnTo>
                  <a:lnTo>
                    <a:pt x="13775" y="1720844"/>
                  </a:lnTo>
                  <a:lnTo>
                    <a:pt x="3527" y="1674952"/>
                  </a:lnTo>
                  <a:lnTo>
                    <a:pt x="0" y="1626870"/>
                  </a:lnTo>
                  <a:lnTo>
                    <a:pt x="0" y="325374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0007345" y="3170427"/>
            <a:ext cx="1634489" cy="9696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91820">
              <a:lnSpc>
                <a:spcPts val="5160"/>
              </a:lnSpc>
              <a:spcBef>
                <a:spcPts val="95"/>
              </a:spcBef>
            </a:pPr>
            <a:r>
              <a:rPr sz="4400" b="1" spc="-5">
                <a:solidFill>
                  <a:srgbClr val="FF0000"/>
                </a:solidFill>
                <a:latin typeface="Microsoft JhengHei"/>
                <a:cs typeface="Microsoft JhengHei"/>
              </a:rPr>
              <a:t>？</a:t>
            </a:r>
            <a:endParaRPr sz="4400">
              <a:latin typeface="Microsoft JhengHei"/>
              <a:cs typeface="Microsoft JhengHei"/>
            </a:endParaRPr>
          </a:p>
          <a:p>
            <a:pPr marL="146685">
              <a:lnSpc>
                <a:spcPts val="2280"/>
              </a:lnSpc>
              <a:tabLst>
                <a:tab pos="743585" algn="l"/>
                <a:tab pos="1299210" algn="l"/>
              </a:tabLst>
            </a:pPr>
            <a:r>
              <a:rPr sz="2000" b="1" spc="-1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sz="2000" b="1" spc="-5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r>
              <a:rPr sz="20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b="1" spc="-5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r>
              <a:rPr sz="20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b="1" spc="-5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1089385" y="6156197"/>
            <a:ext cx="505459" cy="173355"/>
          </a:xfrm>
          <a:custGeom>
            <a:avLst/>
            <a:gdLst/>
            <a:ahLst/>
            <a:cxnLst/>
            <a:rect l="l" t="t" r="r" b="b"/>
            <a:pathLst>
              <a:path w="505459" h="173354">
                <a:moveTo>
                  <a:pt x="0" y="0"/>
                </a:moveTo>
                <a:lnTo>
                  <a:pt x="1135" y="33664"/>
                </a:lnTo>
                <a:lnTo>
                  <a:pt x="4222" y="61155"/>
                </a:lnTo>
                <a:lnTo>
                  <a:pt x="8786" y="79690"/>
                </a:lnTo>
                <a:lnTo>
                  <a:pt x="14350" y="86486"/>
                </a:lnTo>
                <a:lnTo>
                  <a:pt x="238252" y="86486"/>
                </a:lnTo>
                <a:lnTo>
                  <a:pt x="243816" y="93283"/>
                </a:lnTo>
                <a:lnTo>
                  <a:pt x="248380" y="111818"/>
                </a:lnTo>
                <a:lnTo>
                  <a:pt x="251467" y="139309"/>
                </a:lnTo>
                <a:lnTo>
                  <a:pt x="252603" y="172973"/>
                </a:lnTo>
                <a:lnTo>
                  <a:pt x="253738" y="139309"/>
                </a:lnTo>
                <a:lnTo>
                  <a:pt x="256825" y="111818"/>
                </a:lnTo>
                <a:lnTo>
                  <a:pt x="261389" y="93283"/>
                </a:lnTo>
                <a:lnTo>
                  <a:pt x="266954" y="86486"/>
                </a:lnTo>
                <a:lnTo>
                  <a:pt x="490855" y="86486"/>
                </a:lnTo>
                <a:lnTo>
                  <a:pt x="496419" y="79690"/>
                </a:lnTo>
                <a:lnTo>
                  <a:pt x="500983" y="61155"/>
                </a:lnTo>
                <a:lnTo>
                  <a:pt x="504070" y="33664"/>
                </a:lnTo>
                <a:lnTo>
                  <a:pt x="505206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0" name="object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0993897"/>
              </p:ext>
            </p:extLst>
          </p:nvPr>
        </p:nvGraphicFramePr>
        <p:xfrm>
          <a:off x="1598802" y="3008883"/>
          <a:ext cx="5878828" cy="3956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9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98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98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92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" name="object 31"/>
          <p:cNvSpPr txBox="1"/>
          <p:nvPr/>
        </p:nvSpPr>
        <p:spPr>
          <a:xfrm>
            <a:off x="1147317" y="3055112"/>
            <a:ext cx="184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>
                <a:latin typeface="Cambria Math"/>
                <a:cs typeface="Cambria Math"/>
              </a:rPr>
              <a:t>𝑿</a:t>
            </a:r>
            <a:endParaRPr sz="1800">
              <a:latin typeface="Cambria Math"/>
              <a:cs typeface="Cambria Math"/>
            </a:endParaRPr>
          </a:p>
        </p:txBody>
      </p:sp>
      <p:graphicFrame>
        <p:nvGraphicFramePr>
          <p:cNvPr id="32" name="object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6800626"/>
              </p:ext>
            </p:extLst>
          </p:nvPr>
        </p:nvGraphicFramePr>
        <p:xfrm>
          <a:off x="1598802" y="4199255"/>
          <a:ext cx="5878828" cy="396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9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98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98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" name="object 33"/>
          <p:cNvSpPr txBox="1"/>
          <p:nvPr/>
        </p:nvSpPr>
        <p:spPr>
          <a:xfrm>
            <a:off x="1147317" y="4245610"/>
            <a:ext cx="184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>
                <a:latin typeface="Cambria Math"/>
                <a:cs typeface="Cambria Math"/>
              </a:rPr>
              <a:t>𝑿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553205" y="3402330"/>
            <a:ext cx="906780" cy="223520"/>
          </a:xfrm>
          <a:custGeom>
            <a:avLst/>
            <a:gdLst/>
            <a:ahLst/>
            <a:cxnLst/>
            <a:rect l="l" t="t" r="r" b="b"/>
            <a:pathLst>
              <a:path w="906778" h="223520">
                <a:moveTo>
                  <a:pt x="0" y="0"/>
                </a:moveTo>
                <a:lnTo>
                  <a:pt x="1468" y="43428"/>
                </a:lnTo>
                <a:lnTo>
                  <a:pt x="5461" y="78914"/>
                </a:lnTo>
                <a:lnTo>
                  <a:pt x="11358" y="102852"/>
                </a:lnTo>
                <a:lnTo>
                  <a:pt x="18542" y="111632"/>
                </a:lnTo>
                <a:lnTo>
                  <a:pt x="442214" y="111632"/>
                </a:lnTo>
                <a:lnTo>
                  <a:pt x="449451" y="120413"/>
                </a:lnTo>
                <a:lnTo>
                  <a:pt x="455342" y="144351"/>
                </a:lnTo>
                <a:lnTo>
                  <a:pt x="459305" y="179837"/>
                </a:lnTo>
                <a:lnTo>
                  <a:pt x="460756" y="223265"/>
                </a:lnTo>
                <a:lnTo>
                  <a:pt x="462226" y="179837"/>
                </a:lnTo>
                <a:lnTo>
                  <a:pt x="466232" y="144351"/>
                </a:lnTo>
                <a:lnTo>
                  <a:pt x="472168" y="120413"/>
                </a:lnTo>
                <a:lnTo>
                  <a:pt x="479425" y="111632"/>
                </a:lnTo>
                <a:lnTo>
                  <a:pt x="888238" y="111632"/>
                </a:lnTo>
                <a:lnTo>
                  <a:pt x="895421" y="102852"/>
                </a:lnTo>
                <a:lnTo>
                  <a:pt x="901319" y="78914"/>
                </a:lnTo>
                <a:lnTo>
                  <a:pt x="905311" y="43428"/>
                </a:lnTo>
                <a:lnTo>
                  <a:pt x="90678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3558285" y="3643376"/>
            <a:ext cx="94996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200">
                <a:latin typeface="Cambria Math"/>
                <a:cs typeface="Cambria Math"/>
              </a:rPr>
              <a:t>𝑫</a:t>
            </a:r>
            <a:r>
              <a:rPr sz="2400" baseline="-15625">
                <a:latin typeface="Cambria Math"/>
                <a:cs typeface="Cambria Math"/>
              </a:rPr>
              <a:t>𝟑</a:t>
            </a:r>
            <a:r>
              <a:rPr sz="2400" spc="517" baseline="-15625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=</a:t>
            </a:r>
            <a:r>
              <a:rPr sz="2200" spc="110">
                <a:latin typeface="Cambria Math"/>
                <a:cs typeface="Cambria Math"/>
              </a:rPr>
              <a:t> </a:t>
            </a:r>
            <a:r>
              <a:rPr sz="2200" spc="-50">
                <a:latin typeface="Cambria Math"/>
                <a:cs typeface="Cambria Math"/>
              </a:rPr>
              <a:t>𝟑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472938" y="4846574"/>
            <a:ext cx="115887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200">
                <a:latin typeface="Cambria Math"/>
                <a:cs typeface="Cambria Math"/>
              </a:rPr>
              <a:t>𝑫</a:t>
            </a:r>
            <a:r>
              <a:rPr sz="2400" baseline="-15625">
                <a:latin typeface="Cambria Math"/>
                <a:cs typeface="Cambria Math"/>
              </a:rPr>
              <a:t>𝟒</a:t>
            </a:r>
            <a:r>
              <a:rPr sz="2400" spc="517" baseline="-15625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=</a:t>
            </a:r>
            <a:r>
              <a:rPr sz="2200" spc="120">
                <a:latin typeface="Cambria Math"/>
                <a:cs typeface="Cambria Math"/>
              </a:rPr>
              <a:t> </a:t>
            </a:r>
            <a:r>
              <a:rPr sz="2200" spc="-25">
                <a:latin typeface="Cambria Math"/>
                <a:cs typeface="Cambria Math"/>
              </a:rPr>
              <a:t>−𝟏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4544567" y="4600194"/>
            <a:ext cx="2939415" cy="231140"/>
          </a:xfrm>
          <a:custGeom>
            <a:avLst/>
            <a:gdLst/>
            <a:ahLst/>
            <a:cxnLst/>
            <a:rect l="l" t="t" r="r" b="b"/>
            <a:pathLst>
              <a:path w="2939415" h="231139">
                <a:moveTo>
                  <a:pt x="0" y="0"/>
                </a:moveTo>
                <a:lnTo>
                  <a:pt x="1514" y="44934"/>
                </a:lnTo>
                <a:lnTo>
                  <a:pt x="5635" y="81629"/>
                </a:lnTo>
                <a:lnTo>
                  <a:pt x="11733" y="106370"/>
                </a:lnTo>
                <a:lnTo>
                  <a:pt x="19177" y="115443"/>
                </a:lnTo>
                <a:lnTo>
                  <a:pt x="1450213" y="115443"/>
                </a:lnTo>
                <a:lnTo>
                  <a:pt x="1457729" y="124515"/>
                </a:lnTo>
                <a:lnTo>
                  <a:pt x="1463865" y="149256"/>
                </a:lnTo>
                <a:lnTo>
                  <a:pt x="1468000" y="185951"/>
                </a:lnTo>
                <a:lnTo>
                  <a:pt x="1469517" y="230886"/>
                </a:lnTo>
                <a:lnTo>
                  <a:pt x="1471031" y="185951"/>
                </a:lnTo>
                <a:lnTo>
                  <a:pt x="1475152" y="149256"/>
                </a:lnTo>
                <a:lnTo>
                  <a:pt x="1481250" y="124515"/>
                </a:lnTo>
                <a:lnTo>
                  <a:pt x="1488694" y="115443"/>
                </a:lnTo>
                <a:lnTo>
                  <a:pt x="2919857" y="115443"/>
                </a:lnTo>
                <a:lnTo>
                  <a:pt x="2927300" y="106370"/>
                </a:lnTo>
                <a:lnTo>
                  <a:pt x="2933398" y="81629"/>
                </a:lnTo>
                <a:lnTo>
                  <a:pt x="2937519" y="44934"/>
                </a:lnTo>
                <a:lnTo>
                  <a:pt x="2939034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7857743" y="935735"/>
            <a:ext cx="184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>
                <a:latin typeface="Cambria Math"/>
                <a:cs typeface="Cambria Math"/>
              </a:rPr>
              <a:t>𝑿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845043" y="3838955"/>
            <a:ext cx="184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>
                <a:latin typeface="Cambria Math"/>
                <a:cs typeface="Cambria Math"/>
              </a:rPr>
              <a:t>𝑿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857743" y="1917191"/>
            <a:ext cx="184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>
                <a:latin typeface="Cambria Math"/>
                <a:cs typeface="Cambria Math"/>
              </a:rPr>
              <a:t>𝑿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857743" y="2899664"/>
            <a:ext cx="184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>
                <a:latin typeface="Cambria Math"/>
                <a:cs typeface="Cambria Math"/>
              </a:rPr>
              <a:t>𝑿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857743" y="4783835"/>
            <a:ext cx="184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>
                <a:latin typeface="Cambria Math"/>
                <a:cs typeface="Cambria Math"/>
              </a:rPr>
              <a:t>𝑿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845043" y="5760720"/>
            <a:ext cx="184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>
                <a:latin typeface="Cambria Math"/>
                <a:cs typeface="Cambria Math"/>
              </a:rPr>
              <a:t>𝑿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6" name="object 3">
            <a:extLst>
              <a:ext uri="{FF2B5EF4-FFF2-40B4-BE49-F238E27FC236}">
                <a16:creationId xmlns:a16="http://schemas.microsoft.com/office/drawing/2014/main" id="{022B4919-6CBF-5F43-B77F-AE2C192576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62125" y="147380"/>
            <a:ext cx="255460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规律观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察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2940" y="1331405"/>
            <a:ext cx="533781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80365" algn="l"/>
                <a:tab pos="381000" algn="l"/>
              </a:tabLst>
            </a:pPr>
            <a:r>
              <a:rPr sz="2800" dirty="0">
                <a:latin typeface="Cambria Math"/>
                <a:cs typeface="Cambria Math"/>
              </a:rPr>
              <a:t>𝑫</a:t>
            </a:r>
            <a:r>
              <a:rPr sz="3075" baseline="-14905" dirty="0">
                <a:latin typeface="Cambria Math"/>
                <a:cs typeface="Cambria Math"/>
              </a:rPr>
              <a:t>𝒊</a:t>
            </a:r>
            <a:r>
              <a:rPr sz="2800" dirty="0">
                <a:latin typeface="PMingLiU"/>
                <a:cs typeface="PMingLiU"/>
              </a:rPr>
              <a:t>：</a:t>
            </a:r>
            <a:r>
              <a:rPr sz="2800" dirty="0" err="1">
                <a:latin typeface="PMingLiU"/>
                <a:cs typeface="PMingLiU"/>
              </a:rPr>
              <a:t>以</a:t>
            </a:r>
            <a:r>
              <a:rPr sz="2800" spc="-10" dirty="0">
                <a:latin typeface="Cambria Math"/>
                <a:cs typeface="Cambria Math"/>
              </a:rPr>
              <a:t>𝑿[𝒊]</a:t>
            </a:r>
            <a:r>
              <a:rPr sz="2800" spc="-10" dirty="0" err="1">
                <a:latin typeface="PMingLiU"/>
                <a:cs typeface="PMingLiU"/>
              </a:rPr>
              <a:t>开头的最大子数组和</a:t>
            </a:r>
            <a:endParaRPr sz="2800" dirty="0">
              <a:latin typeface="PMingLiU"/>
              <a:cs typeface="PMingLiU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940" y="2395474"/>
            <a:ext cx="232283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10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80365" algn="l"/>
                <a:tab pos="381000" algn="l"/>
              </a:tabLst>
            </a:pPr>
            <a:r>
              <a:rPr sz="2800" spc="-10">
                <a:latin typeface="PMingLiU"/>
                <a:cs typeface="PMingLiU"/>
              </a:rPr>
              <a:t>情况</a:t>
            </a:r>
            <a:r>
              <a:rPr sz="2800" b="1">
                <a:latin typeface="Times New Roman"/>
                <a:cs typeface="Times New Roman"/>
              </a:rPr>
              <a:t>1</a:t>
            </a:r>
            <a:r>
              <a:rPr sz="2800" spc="35">
                <a:latin typeface="PMingLiU"/>
                <a:cs typeface="PMingLiU"/>
              </a:rPr>
              <a:t>： </a:t>
            </a:r>
            <a:r>
              <a:rPr sz="3300" spc="-30" baseline="13888">
                <a:latin typeface="Cambria Math"/>
                <a:cs typeface="Cambria Math"/>
              </a:rPr>
              <a:t>𝑫</a:t>
            </a:r>
            <a:r>
              <a:rPr sz="2400" spc="-30" baseline="3472">
                <a:latin typeface="Cambria Math"/>
                <a:cs typeface="Cambria Math"/>
              </a:rPr>
              <a:t>𝒊+𝟏</a:t>
            </a:r>
            <a:endParaRPr sz="2400" baseline="3472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2940" y="4572253"/>
            <a:ext cx="302768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80365" algn="l"/>
                <a:tab pos="381000" algn="l"/>
              </a:tabLst>
            </a:pPr>
            <a:r>
              <a:rPr sz="2800">
                <a:latin typeface="PMingLiU"/>
                <a:cs typeface="PMingLiU"/>
              </a:rPr>
              <a:t>情况</a:t>
            </a:r>
            <a:r>
              <a:rPr sz="2800" b="1">
                <a:latin typeface="Times New Roman"/>
                <a:cs typeface="Times New Roman"/>
              </a:rPr>
              <a:t>2</a:t>
            </a:r>
            <a:r>
              <a:rPr sz="2800" b="1">
                <a:latin typeface="Microsoft JhengHei"/>
                <a:cs typeface="Microsoft JhengHei"/>
              </a:rPr>
              <a:t>：</a:t>
            </a:r>
            <a:r>
              <a:rPr sz="3300" baseline="17676">
                <a:latin typeface="Cambria Math"/>
                <a:cs typeface="Cambria Math"/>
              </a:rPr>
              <a:t>𝑫</a:t>
            </a:r>
            <a:r>
              <a:rPr sz="2400" baseline="8680">
                <a:latin typeface="Cambria Math"/>
                <a:cs typeface="Cambria Math"/>
              </a:rPr>
              <a:t>𝒊+𝟏</a:t>
            </a:r>
            <a:r>
              <a:rPr sz="2400" spc="367" baseline="8680">
                <a:latin typeface="Cambria Math"/>
                <a:cs typeface="Cambria Math"/>
              </a:rPr>
              <a:t> </a:t>
            </a:r>
            <a:r>
              <a:rPr sz="3300" spc="37" baseline="17676">
                <a:latin typeface="Cambria Math"/>
                <a:cs typeface="Cambria Math"/>
              </a:rPr>
              <a:t>≤ </a:t>
            </a:r>
            <a:r>
              <a:rPr sz="3300" spc="-15" baseline="17676">
                <a:latin typeface="Cambria Math"/>
                <a:cs typeface="Cambria Math"/>
              </a:rPr>
              <a:t>𝟎</a:t>
            </a:r>
            <a:r>
              <a:rPr sz="3300" spc="-75" baseline="17676">
                <a:latin typeface="PMingLiU"/>
                <a:cs typeface="PMingLiU"/>
              </a:rPr>
              <a:t>时</a:t>
            </a:r>
            <a:endParaRPr sz="3300" baseline="17676">
              <a:latin typeface="PMingLiU"/>
              <a:cs typeface="PMingLiU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80159" y="127762"/>
            <a:ext cx="257810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规律描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述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22600" y="2405125"/>
            <a:ext cx="75946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65">
                <a:latin typeface="Cambria Math"/>
                <a:cs typeface="Cambria Math"/>
              </a:rPr>
              <a:t>&gt; </a:t>
            </a:r>
            <a:r>
              <a:rPr sz="2200" spc="-10">
                <a:latin typeface="Cambria Math"/>
                <a:cs typeface="Cambria Math"/>
              </a:rPr>
              <a:t>𝟎</a:t>
            </a:r>
            <a:r>
              <a:rPr sz="2200" spc="-50">
                <a:latin typeface="PMingLiU"/>
                <a:cs typeface="PMingLiU"/>
              </a:rPr>
              <a:t>时</a:t>
            </a:r>
            <a:endParaRPr sz="2200">
              <a:latin typeface="PMingLiU"/>
              <a:cs typeface="PMingLiU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858259" y="2399919"/>
          <a:ext cx="8129903" cy="3956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1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14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14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marL="2959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2512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𝑿[𝒊]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AF50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𝑿[𝒊</a:t>
                      </a:r>
                      <a:r>
                        <a:rPr sz="20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+</a:t>
                      </a:r>
                      <a:r>
                        <a:rPr sz="2000" spc="-1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9200"/>
                    </a:solidFill>
                  </a:tcPr>
                </a:tc>
                <a:tc>
                  <a:txBody>
                    <a:bodyPr/>
                    <a:lstStyle/>
                    <a:p>
                      <a:pPr marR="5334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9200"/>
                    </a:solidFill>
                  </a:tcPr>
                </a:tc>
                <a:tc>
                  <a:txBody>
                    <a:bodyPr/>
                    <a:lstStyle/>
                    <a:p>
                      <a:pPr marR="5334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6239255" y="3075432"/>
            <a:ext cx="3431540" cy="331470"/>
          </a:xfrm>
          <a:custGeom>
            <a:avLst/>
            <a:gdLst/>
            <a:ahLst/>
            <a:cxnLst/>
            <a:rect l="l" t="t" r="r" b="b"/>
            <a:pathLst>
              <a:path w="3431540" h="331470">
                <a:moveTo>
                  <a:pt x="3431286" y="0"/>
                </a:moveTo>
                <a:lnTo>
                  <a:pt x="3429121" y="64525"/>
                </a:lnTo>
                <a:lnTo>
                  <a:pt x="3423205" y="117205"/>
                </a:lnTo>
                <a:lnTo>
                  <a:pt x="3414408" y="152715"/>
                </a:lnTo>
                <a:lnTo>
                  <a:pt x="3403600" y="165734"/>
                </a:lnTo>
                <a:lnTo>
                  <a:pt x="1743202" y="165734"/>
                </a:lnTo>
                <a:lnTo>
                  <a:pt x="1732466" y="178754"/>
                </a:lnTo>
                <a:lnTo>
                  <a:pt x="1723707" y="214264"/>
                </a:lnTo>
                <a:lnTo>
                  <a:pt x="1717805" y="266944"/>
                </a:lnTo>
                <a:lnTo>
                  <a:pt x="1715643" y="331469"/>
                </a:lnTo>
                <a:lnTo>
                  <a:pt x="1713480" y="266944"/>
                </a:lnTo>
                <a:lnTo>
                  <a:pt x="1707578" y="214264"/>
                </a:lnTo>
                <a:lnTo>
                  <a:pt x="1698819" y="178754"/>
                </a:lnTo>
                <a:lnTo>
                  <a:pt x="1688084" y="165734"/>
                </a:lnTo>
                <a:lnTo>
                  <a:pt x="27559" y="165734"/>
                </a:lnTo>
                <a:lnTo>
                  <a:pt x="16823" y="152715"/>
                </a:lnTo>
                <a:lnTo>
                  <a:pt x="8064" y="117205"/>
                </a:lnTo>
                <a:lnTo>
                  <a:pt x="2162" y="64525"/>
                </a:lnTo>
                <a:lnTo>
                  <a:pt x="0" y="0"/>
                </a:lnTo>
              </a:path>
            </a:pathLst>
          </a:custGeom>
          <a:ln w="31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325612" y="3492500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58" h="260350">
                <a:moveTo>
                  <a:pt x="60833" y="0"/>
                </a:moveTo>
                <a:lnTo>
                  <a:pt x="0" y="0"/>
                </a:lnTo>
                <a:lnTo>
                  <a:pt x="0" y="11430"/>
                </a:lnTo>
                <a:lnTo>
                  <a:pt x="38227" y="11430"/>
                </a:lnTo>
                <a:lnTo>
                  <a:pt x="38227" y="250190"/>
                </a:lnTo>
                <a:lnTo>
                  <a:pt x="0" y="250190"/>
                </a:lnTo>
                <a:lnTo>
                  <a:pt x="0" y="260350"/>
                </a:lnTo>
                <a:lnTo>
                  <a:pt x="60833" y="260350"/>
                </a:lnTo>
                <a:lnTo>
                  <a:pt x="60833" y="250190"/>
                </a:lnTo>
                <a:lnTo>
                  <a:pt x="60833" y="11430"/>
                </a:lnTo>
                <a:lnTo>
                  <a:pt x="608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49717" y="3492500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58" h="260350">
                <a:moveTo>
                  <a:pt x="60833" y="0"/>
                </a:moveTo>
                <a:lnTo>
                  <a:pt x="0" y="0"/>
                </a:lnTo>
                <a:lnTo>
                  <a:pt x="0" y="11430"/>
                </a:lnTo>
                <a:lnTo>
                  <a:pt x="0" y="250190"/>
                </a:lnTo>
                <a:lnTo>
                  <a:pt x="0" y="260350"/>
                </a:lnTo>
                <a:lnTo>
                  <a:pt x="60833" y="260350"/>
                </a:lnTo>
                <a:lnTo>
                  <a:pt x="60833" y="250190"/>
                </a:lnTo>
                <a:lnTo>
                  <a:pt x="22606" y="250190"/>
                </a:lnTo>
                <a:lnTo>
                  <a:pt x="22606" y="11430"/>
                </a:lnTo>
                <a:lnTo>
                  <a:pt x="60833" y="11430"/>
                </a:lnTo>
                <a:lnTo>
                  <a:pt x="608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214107" y="2855467"/>
            <a:ext cx="2143760" cy="916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27430">
              <a:lnSpc>
                <a:spcPct val="100000"/>
              </a:lnSpc>
              <a:spcBef>
                <a:spcPts val="100"/>
              </a:spcBef>
            </a:pPr>
            <a:r>
              <a:rPr sz="3300" spc="-30" baseline="11363">
                <a:latin typeface="Cambria Math"/>
                <a:cs typeface="Cambria Math"/>
              </a:rPr>
              <a:t>𝑫</a:t>
            </a:r>
            <a:r>
              <a:rPr sz="1600" spc="-20">
                <a:latin typeface="Cambria Math"/>
                <a:cs typeface="Cambria Math"/>
              </a:rPr>
              <a:t>𝒊+𝟏</a:t>
            </a:r>
            <a:endParaRPr sz="1600">
              <a:latin typeface="Cambria Math"/>
              <a:cs typeface="Cambria Math"/>
            </a:endParaRPr>
          </a:p>
          <a:p>
            <a:pPr marL="50800">
              <a:lnSpc>
                <a:spcPct val="100000"/>
              </a:lnSpc>
              <a:spcBef>
                <a:spcPts val="1735"/>
              </a:spcBef>
              <a:tabLst>
                <a:tab pos="1265555" algn="l"/>
              </a:tabLst>
            </a:pPr>
            <a:r>
              <a:rPr sz="2200">
                <a:latin typeface="Cambria Math"/>
                <a:cs typeface="Cambria Math"/>
              </a:rPr>
              <a:t>𝑫</a:t>
            </a:r>
            <a:r>
              <a:rPr sz="2400" baseline="-15625">
                <a:latin typeface="Cambria Math"/>
                <a:cs typeface="Cambria Math"/>
              </a:rPr>
              <a:t>𝒊</a:t>
            </a:r>
            <a:r>
              <a:rPr sz="2400" spc="525" baseline="-15625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=</a:t>
            </a:r>
            <a:r>
              <a:rPr sz="2200" spc="114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𝑿</a:t>
            </a:r>
            <a:r>
              <a:rPr sz="2200" spc="275">
                <a:latin typeface="Cambria Math"/>
                <a:cs typeface="Cambria Math"/>
              </a:rPr>
              <a:t> </a:t>
            </a:r>
            <a:r>
              <a:rPr sz="2200" spc="-50">
                <a:latin typeface="Cambria Math"/>
                <a:cs typeface="Cambria Math"/>
              </a:rPr>
              <a:t>𝒊</a:t>
            </a:r>
            <a:r>
              <a:rPr sz="2200">
                <a:latin typeface="Cambria Math"/>
                <a:cs typeface="Cambria Math"/>
              </a:rPr>
              <a:t>	+</a:t>
            </a:r>
            <a:r>
              <a:rPr sz="2200" spc="-10">
                <a:latin typeface="Cambria Math"/>
                <a:cs typeface="Cambria Math"/>
              </a:rPr>
              <a:t> </a:t>
            </a:r>
            <a:r>
              <a:rPr sz="2200" spc="-20">
                <a:latin typeface="Cambria Math"/>
                <a:cs typeface="Cambria Math"/>
              </a:rPr>
              <a:t>𝑫</a:t>
            </a:r>
            <a:r>
              <a:rPr sz="2400" spc="-30" baseline="-15625">
                <a:latin typeface="Cambria Math"/>
                <a:cs typeface="Cambria Math"/>
              </a:rPr>
              <a:t>𝒊+𝟏</a:t>
            </a:r>
            <a:endParaRPr sz="2400" baseline="-15625">
              <a:latin typeface="Cambria Math"/>
              <a:cs typeface="Cambria Math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3858259" y="4470908"/>
          <a:ext cx="8129903" cy="396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1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14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14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29591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2512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𝑿[𝒊]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𝑿[𝒊</a:t>
                      </a:r>
                      <a:r>
                        <a:rPr sz="20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+</a:t>
                      </a:r>
                      <a:r>
                        <a:rPr sz="2000" spc="-1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R="5334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R="5334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object 13"/>
          <p:cNvSpPr/>
          <p:nvPr/>
        </p:nvSpPr>
        <p:spPr>
          <a:xfrm>
            <a:off x="6239255" y="4899659"/>
            <a:ext cx="1022985" cy="396240"/>
          </a:xfrm>
          <a:custGeom>
            <a:avLst/>
            <a:gdLst/>
            <a:ahLst/>
            <a:cxnLst/>
            <a:rect l="l" t="t" r="r" b="b"/>
            <a:pathLst>
              <a:path w="1022984" h="396239">
                <a:moveTo>
                  <a:pt x="1022603" y="0"/>
                </a:moveTo>
                <a:lnTo>
                  <a:pt x="1020016" y="77140"/>
                </a:lnTo>
                <a:lnTo>
                  <a:pt x="1012951" y="140112"/>
                </a:lnTo>
                <a:lnTo>
                  <a:pt x="1002458" y="182558"/>
                </a:lnTo>
                <a:lnTo>
                  <a:pt x="989584" y="198119"/>
                </a:lnTo>
                <a:lnTo>
                  <a:pt x="544322" y="198119"/>
                </a:lnTo>
                <a:lnTo>
                  <a:pt x="531447" y="213681"/>
                </a:lnTo>
                <a:lnTo>
                  <a:pt x="520954" y="256127"/>
                </a:lnTo>
                <a:lnTo>
                  <a:pt x="513889" y="319099"/>
                </a:lnTo>
                <a:lnTo>
                  <a:pt x="511301" y="396239"/>
                </a:lnTo>
                <a:lnTo>
                  <a:pt x="508714" y="319099"/>
                </a:lnTo>
                <a:lnTo>
                  <a:pt x="501650" y="256127"/>
                </a:lnTo>
                <a:lnTo>
                  <a:pt x="491156" y="213681"/>
                </a:lnTo>
                <a:lnTo>
                  <a:pt x="478282" y="198119"/>
                </a:lnTo>
                <a:lnTo>
                  <a:pt x="33020" y="198119"/>
                </a:lnTo>
                <a:lnTo>
                  <a:pt x="20145" y="182558"/>
                </a:lnTo>
                <a:lnTo>
                  <a:pt x="9651" y="140112"/>
                </a:lnTo>
                <a:lnTo>
                  <a:pt x="2587" y="77140"/>
                </a:lnTo>
                <a:lnTo>
                  <a:pt x="0" y="0"/>
                </a:lnTo>
              </a:path>
            </a:pathLst>
          </a:custGeom>
          <a:ln w="31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135370" y="5173726"/>
            <a:ext cx="123063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200">
                <a:latin typeface="Cambria Math"/>
                <a:cs typeface="Cambria Math"/>
              </a:rPr>
              <a:t>𝑫</a:t>
            </a:r>
            <a:r>
              <a:rPr sz="2400" baseline="-15625">
                <a:latin typeface="Cambria Math"/>
                <a:cs typeface="Cambria Math"/>
              </a:rPr>
              <a:t>𝒊</a:t>
            </a:r>
            <a:r>
              <a:rPr sz="2400" spc="517" baseline="-15625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=</a:t>
            </a:r>
            <a:r>
              <a:rPr sz="2200" spc="120">
                <a:latin typeface="Cambria Math"/>
                <a:cs typeface="Cambria Math"/>
              </a:rPr>
              <a:t> </a:t>
            </a:r>
            <a:r>
              <a:rPr sz="2200" spc="-20">
                <a:latin typeface="Cambria Math"/>
                <a:cs typeface="Cambria Math"/>
              </a:rPr>
              <a:t>𝑿[𝒊]</a:t>
            </a:r>
            <a:endParaRPr sz="2200">
              <a:latin typeface="Cambria Math"/>
              <a:cs typeface="Cambria Math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3" grpId="0" animBg="1"/>
      <p:bldP spid="14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0240" y="1219962"/>
            <a:ext cx="81165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93065" algn="l"/>
                <a:tab pos="393700" algn="l"/>
              </a:tabLst>
            </a:pPr>
            <a:r>
              <a:rPr sz="2800">
                <a:latin typeface="Cambria Math"/>
                <a:cs typeface="Cambria Math"/>
              </a:rPr>
              <a:t>𝑫</a:t>
            </a:r>
            <a:r>
              <a:rPr sz="3075" baseline="-14905">
                <a:latin typeface="Cambria Math"/>
                <a:cs typeface="Cambria Math"/>
              </a:rPr>
              <a:t>𝒊+𝟏</a:t>
            </a:r>
            <a:r>
              <a:rPr sz="2800">
                <a:latin typeface="PMingLiU"/>
                <a:cs typeface="PMingLiU"/>
              </a:rPr>
              <a:t>：以</a:t>
            </a:r>
            <a:r>
              <a:rPr sz="2800">
                <a:latin typeface="Cambria Math"/>
                <a:cs typeface="Cambria Math"/>
              </a:rPr>
              <a:t>𝑿[𝒊</a:t>
            </a:r>
            <a:r>
              <a:rPr sz="2800" spc="10">
                <a:latin typeface="Cambria Math"/>
                <a:cs typeface="Cambria Math"/>
              </a:rPr>
              <a:t> + </a:t>
            </a:r>
            <a:r>
              <a:rPr sz="2800" spc="-10">
                <a:latin typeface="Cambria Math"/>
                <a:cs typeface="Cambria Math"/>
              </a:rPr>
              <a:t>𝟏]</a:t>
            </a:r>
            <a:r>
              <a:rPr sz="2800" spc="15">
                <a:latin typeface="PMingLiU"/>
                <a:cs typeface="PMingLiU"/>
              </a:rPr>
              <a:t>开头的最大子数组和 (</a:t>
            </a:r>
            <a:r>
              <a:rPr sz="2800">
                <a:latin typeface="Cambria Math"/>
                <a:cs typeface="Cambria Math"/>
              </a:rPr>
              <a:t>𝑫</a:t>
            </a:r>
            <a:r>
              <a:rPr sz="3075" baseline="-14905">
                <a:latin typeface="Cambria Math"/>
                <a:cs typeface="Cambria Math"/>
              </a:rPr>
              <a:t>𝒊+𝟏</a:t>
            </a:r>
            <a:r>
              <a:rPr sz="3075" spc="719" baseline="-14905">
                <a:latin typeface="Cambria Math"/>
                <a:cs typeface="Cambria Math"/>
              </a:rPr>
              <a:t> </a:t>
            </a:r>
            <a:r>
              <a:rPr sz="2800" spc="95">
                <a:latin typeface="Cambria Math"/>
                <a:cs typeface="Cambria Math"/>
              </a:rPr>
              <a:t>&gt; </a:t>
            </a:r>
            <a:r>
              <a:rPr sz="2800" spc="50">
                <a:latin typeface="Cambria Math"/>
                <a:cs typeface="Cambria Math"/>
              </a:rPr>
              <a:t>𝟎</a:t>
            </a:r>
            <a:r>
              <a:rPr sz="2800" spc="50">
                <a:latin typeface="PMingLiU"/>
                <a:cs typeface="PMingLiU"/>
              </a:rPr>
              <a:t>)</a:t>
            </a:r>
            <a:endParaRPr sz="2800">
              <a:latin typeface="PMingLiU"/>
              <a:cs typeface="PMingLiU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940" y="3102863"/>
            <a:ext cx="6775450" cy="744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0480" algn="r">
              <a:lnSpc>
                <a:spcPts val="2465"/>
              </a:lnSpc>
              <a:spcBef>
                <a:spcPts val="100"/>
              </a:spcBef>
            </a:pPr>
            <a:r>
              <a:rPr sz="3300" spc="-30" baseline="11363">
                <a:latin typeface="Cambria Math"/>
                <a:cs typeface="Cambria Math"/>
              </a:rPr>
              <a:t>𝑫</a:t>
            </a:r>
            <a:r>
              <a:rPr sz="1600" spc="-20">
                <a:latin typeface="Cambria Math"/>
                <a:cs typeface="Cambria Math"/>
              </a:rPr>
              <a:t>𝒊+𝟏</a:t>
            </a:r>
            <a:endParaRPr sz="1600">
              <a:latin typeface="Cambria Math"/>
              <a:cs typeface="Cambria Math"/>
            </a:endParaRPr>
          </a:p>
          <a:p>
            <a:pPr marL="381000" indent="-342900">
              <a:lnSpc>
                <a:spcPts val="3185"/>
              </a:lnSpc>
              <a:buClr>
                <a:srgbClr val="8092F0"/>
              </a:buClr>
              <a:buSzPct val="69642"/>
              <a:buFont typeface="Wingdings"/>
              <a:buChar char=""/>
              <a:tabLst>
                <a:tab pos="380365" algn="l"/>
                <a:tab pos="381000" algn="l"/>
              </a:tabLst>
            </a:pPr>
            <a:r>
              <a:rPr sz="2800">
                <a:latin typeface="Cambria Math"/>
                <a:cs typeface="Cambria Math"/>
              </a:rPr>
              <a:t>𝑺</a:t>
            </a:r>
            <a:r>
              <a:rPr sz="3075" baseline="-14905">
                <a:latin typeface="Cambria Math"/>
                <a:cs typeface="Cambria Math"/>
              </a:rPr>
              <a:t>𝒊+𝟏</a:t>
            </a:r>
            <a:r>
              <a:rPr sz="2800">
                <a:latin typeface="PMingLiU"/>
                <a:cs typeface="PMingLiU"/>
              </a:rPr>
              <a:t>：以</a:t>
            </a:r>
            <a:r>
              <a:rPr sz="2800">
                <a:latin typeface="Cambria Math"/>
                <a:cs typeface="Cambria Math"/>
              </a:rPr>
              <a:t>𝑿[𝒊</a:t>
            </a:r>
            <a:r>
              <a:rPr sz="2800" spc="5">
                <a:latin typeface="Cambria Math"/>
                <a:cs typeface="Cambria Math"/>
              </a:rPr>
              <a:t> + </a:t>
            </a:r>
            <a:r>
              <a:rPr sz="2800" spc="-10">
                <a:latin typeface="Cambria Math"/>
                <a:cs typeface="Cambria Math"/>
              </a:rPr>
              <a:t>𝟏]</a:t>
            </a:r>
            <a:r>
              <a:rPr sz="2800" spc="-10">
                <a:latin typeface="PMingLiU"/>
                <a:cs typeface="PMingLiU"/>
              </a:rPr>
              <a:t>开头的任一子数组和</a:t>
            </a:r>
            <a:endParaRPr sz="2800">
              <a:latin typeface="PMingLiU"/>
              <a:cs typeface="PMingLiU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38756" y="89948"/>
            <a:ext cx="4677411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>
                <a:latin typeface="SimSun" panose="02010600030101010101" pitchFamily="2" charset="-122"/>
                <a:ea typeface="SimSun" panose="02010600030101010101" pitchFamily="2" charset="-122"/>
              </a:rPr>
              <a:t>规律证明：情况</a:t>
            </a:r>
            <a:r>
              <a:rPr b="1" spc="-50" dirty="0">
                <a:latin typeface="SimSun" panose="02010600030101010101" pitchFamily="2" charset="-122"/>
                <a:ea typeface="SimSun" panose="02010600030101010101" pitchFamily="2" charset="-122"/>
                <a:cs typeface="Times New Roman"/>
              </a:rPr>
              <a:t>1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7774094"/>
              </p:ext>
            </p:extLst>
          </p:nvPr>
        </p:nvGraphicFramePr>
        <p:xfrm>
          <a:off x="2393188" y="2256155"/>
          <a:ext cx="8128634" cy="7778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1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58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61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760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6077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marL="2952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2512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𝑿[𝒊]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9200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𝑿[𝒊</a:t>
                      </a:r>
                      <a:r>
                        <a:rPr sz="20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+</a:t>
                      </a:r>
                      <a:r>
                        <a:rPr sz="2000" spc="-1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9200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9200"/>
                    </a:solidFill>
                  </a:tcPr>
                </a:tc>
                <a:tc>
                  <a:txBody>
                    <a:bodyPr/>
                    <a:lstStyle/>
                    <a:p>
                      <a:pPr marR="5334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185"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2085">
                <a:tc grid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0569188"/>
              </p:ext>
            </p:extLst>
          </p:nvPr>
        </p:nvGraphicFramePr>
        <p:xfrm>
          <a:off x="2393188" y="4358131"/>
          <a:ext cx="8129903" cy="7658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1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4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3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14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marL="2952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2512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𝑿[𝒊]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5969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𝑿[𝒊</a:t>
                      </a:r>
                      <a:r>
                        <a:rPr sz="20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+</a:t>
                      </a:r>
                      <a:r>
                        <a:rPr sz="2000" spc="-1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R="5334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 grid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5871272" y="2708403"/>
            <a:ext cx="2327848" cy="332740"/>
          </a:xfrm>
          <a:custGeom>
            <a:avLst/>
            <a:gdLst/>
            <a:ahLst/>
            <a:cxnLst/>
            <a:rect l="l" t="t" r="r" b="b"/>
            <a:pathLst>
              <a:path w="3352800" h="332739">
                <a:moveTo>
                  <a:pt x="3352800" y="0"/>
                </a:moveTo>
                <a:lnTo>
                  <a:pt x="3350617" y="64639"/>
                </a:lnTo>
                <a:lnTo>
                  <a:pt x="3344672" y="117443"/>
                </a:lnTo>
                <a:lnTo>
                  <a:pt x="3335869" y="153054"/>
                </a:lnTo>
                <a:lnTo>
                  <a:pt x="3325114" y="166116"/>
                </a:lnTo>
                <a:lnTo>
                  <a:pt x="1704086" y="166116"/>
                </a:lnTo>
                <a:lnTo>
                  <a:pt x="1693330" y="179177"/>
                </a:lnTo>
                <a:lnTo>
                  <a:pt x="1684528" y="214788"/>
                </a:lnTo>
                <a:lnTo>
                  <a:pt x="1678582" y="267592"/>
                </a:lnTo>
                <a:lnTo>
                  <a:pt x="1676400" y="332232"/>
                </a:lnTo>
                <a:lnTo>
                  <a:pt x="1674217" y="267592"/>
                </a:lnTo>
                <a:lnTo>
                  <a:pt x="1668272" y="214788"/>
                </a:lnTo>
                <a:lnTo>
                  <a:pt x="1659469" y="179177"/>
                </a:lnTo>
                <a:lnTo>
                  <a:pt x="1648714" y="166116"/>
                </a:lnTo>
                <a:lnTo>
                  <a:pt x="27686" y="166116"/>
                </a:lnTo>
                <a:lnTo>
                  <a:pt x="16930" y="153054"/>
                </a:lnTo>
                <a:lnTo>
                  <a:pt x="8127" y="117443"/>
                </a:lnTo>
                <a:lnTo>
                  <a:pt x="2182" y="64639"/>
                </a:lnTo>
                <a:lnTo>
                  <a:pt x="0" y="0"/>
                </a:lnTo>
              </a:path>
            </a:pathLst>
          </a:custGeom>
          <a:ln w="31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296150" y="5192014"/>
            <a:ext cx="58166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300" spc="-30" baseline="11363">
                <a:latin typeface="Cambria Math"/>
                <a:cs typeface="Cambria Math"/>
              </a:rPr>
              <a:t>𝑺</a:t>
            </a:r>
            <a:r>
              <a:rPr sz="1600" spc="-20">
                <a:latin typeface="Cambria Math"/>
                <a:cs typeface="Cambria Math"/>
              </a:rPr>
              <a:t>𝒊+𝟏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9BAF101F-A29C-7649-BC34-E3BCA7A00B8A}"/>
              </a:ext>
            </a:extLst>
          </p:cNvPr>
          <p:cNvSpPr/>
          <p:nvPr/>
        </p:nvSpPr>
        <p:spPr>
          <a:xfrm>
            <a:off x="5916167" y="4788915"/>
            <a:ext cx="3352800" cy="332740"/>
          </a:xfrm>
          <a:custGeom>
            <a:avLst/>
            <a:gdLst/>
            <a:ahLst/>
            <a:cxnLst/>
            <a:rect l="l" t="t" r="r" b="b"/>
            <a:pathLst>
              <a:path w="3352800" h="332739">
                <a:moveTo>
                  <a:pt x="3352800" y="0"/>
                </a:moveTo>
                <a:lnTo>
                  <a:pt x="3350617" y="64639"/>
                </a:lnTo>
                <a:lnTo>
                  <a:pt x="3344672" y="117443"/>
                </a:lnTo>
                <a:lnTo>
                  <a:pt x="3335869" y="153054"/>
                </a:lnTo>
                <a:lnTo>
                  <a:pt x="3325114" y="166116"/>
                </a:lnTo>
                <a:lnTo>
                  <a:pt x="1704086" y="166116"/>
                </a:lnTo>
                <a:lnTo>
                  <a:pt x="1693330" y="179177"/>
                </a:lnTo>
                <a:lnTo>
                  <a:pt x="1684528" y="214788"/>
                </a:lnTo>
                <a:lnTo>
                  <a:pt x="1678582" y="267592"/>
                </a:lnTo>
                <a:lnTo>
                  <a:pt x="1676400" y="332232"/>
                </a:lnTo>
                <a:lnTo>
                  <a:pt x="1674217" y="267592"/>
                </a:lnTo>
                <a:lnTo>
                  <a:pt x="1668272" y="214788"/>
                </a:lnTo>
                <a:lnTo>
                  <a:pt x="1659469" y="179177"/>
                </a:lnTo>
                <a:lnTo>
                  <a:pt x="1648714" y="166116"/>
                </a:lnTo>
                <a:lnTo>
                  <a:pt x="27686" y="166116"/>
                </a:lnTo>
                <a:lnTo>
                  <a:pt x="16930" y="153054"/>
                </a:lnTo>
                <a:lnTo>
                  <a:pt x="8127" y="117443"/>
                </a:lnTo>
                <a:lnTo>
                  <a:pt x="2182" y="64639"/>
                </a:lnTo>
                <a:lnTo>
                  <a:pt x="0" y="0"/>
                </a:lnTo>
              </a:path>
            </a:pathLst>
          </a:custGeom>
          <a:ln w="31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10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1200" y="1260602"/>
            <a:ext cx="81165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93065" algn="l"/>
                <a:tab pos="393700" algn="l"/>
              </a:tabLst>
            </a:pPr>
            <a:r>
              <a:rPr sz="2800">
                <a:latin typeface="Cambria Math"/>
                <a:cs typeface="Cambria Math"/>
              </a:rPr>
              <a:t>𝑫</a:t>
            </a:r>
            <a:r>
              <a:rPr sz="3075" baseline="-14905">
                <a:latin typeface="Cambria Math"/>
                <a:cs typeface="Cambria Math"/>
              </a:rPr>
              <a:t>𝒊+𝟏</a:t>
            </a:r>
            <a:r>
              <a:rPr sz="2800">
                <a:latin typeface="PMingLiU"/>
                <a:cs typeface="PMingLiU"/>
              </a:rPr>
              <a:t>：以</a:t>
            </a:r>
            <a:r>
              <a:rPr sz="2800">
                <a:latin typeface="Cambria Math"/>
                <a:cs typeface="Cambria Math"/>
              </a:rPr>
              <a:t>𝑿[𝒊</a:t>
            </a:r>
            <a:r>
              <a:rPr sz="2800" spc="10">
                <a:latin typeface="Cambria Math"/>
                <a:cs typeface="Cambria Math"/>
              </a:rPr>
              <a:t> + </a:t>
            </a:r>
            <a:r>
              <a:rPr sz="2800" spc="-10">
                <a:latin typeface="Cambria Math"/>
                <a:cs typeface="Cambria Math"/>
              </a:rPr>
              <a:t>𝟏]</a:t>
            </a:r>
            <a:r>
              <a:rPr sz="2800">
                <a:latin typeface="PMingLiU"/>
                <a:cs typeface="PMingLiU"/>
              </a:rPr>
              <a:t>开头的</a:t>
            </a:r>
            <a:r>
              <a:rPr sz="2800">
                <a:solidFill>
                  <a:srgbClr val="FF0000"/>
                </a:solidFill>
                <a:latin typeface="PMingLiU"/>
                <a:cs typeface="PMingLiU"/>
              </a:rPr>
              <a:t>最大</a:t>
            </a:r>
            <a:r>
              <a:rPr sz="2800" spc="35">
                <a:latin typeface="PMingLiU"/>
                <a:cs typeface="PMingLiU"/>
              </a:rPr>
              <a:t>子数组和 (</a:t>
            </a:r>
            <a:r>
              <a:rPr sz="2800">
                <a:latin typeface="Cambria Math"/>
                <a:cs typeface="Cambria Math"/>
              </a:rPr>
              <a:t>𝑫</a:t>
            </a:r>
            <a:r>
              <a:rPr sz="3075" baseline="-14905">
                <a:latin typeface="Cambria Math"/>
                <a:cs typeface="Cambria Math"/>
              </a:rPr>
              <a:t>𝒊+𝟏</a:t>
            </a:r>
            <a:r>
              <a:rPr sz="3075" spc="719" baseline="-14905">
                <a:latin typeface="Cambria Math"/>
                <a:cs typeface="Cambria Math"/>
              </a:rPr>
              <a:t> </a:t>
            </a:r>
            <a:r>
              <a:rPr sz="2800" spc="95">
                <a:latin typeface="Cambria Math"/>
                <a:cs typeface="Cambria Math"/>
              </a:rPr>
              <a:t>&gt; </a:t>
            </a:r>
            <a:r>
              <a:rPr sz="2800" spc="50">
                <a:latin typeface="Cambria Math"/>
                <a:cs typeface="Cambria Math"/>
              </a:rPr>
              <a:t>𝟎</a:t>
            </a:r>
            <a:r>
              <a:rPr sz="2800" spc="50">
                <a:latin typeface="PMingLiU"/>
                <a:cs typeface="PMingLiU"/>
              </a:rPr>
              <a:t>)</a:t>
            </a:r>
            <a:endParaRPr sz="2800">
              <a:latin typeface="PMingLiU"/>
              <a:cs typeface="PMingLiU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23900" y="3143503"/>
            <a:ext cx="6775450" cy="744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0480" algn="r">
              <a:lnSpc>
                <a:spcPts val="2465"/>
              </a:lnSpc>
              <a:spcBef>
                <a:spcPts val="100"/>
              </a:spcBef>
            </a:pPr>
            <a:r>
              <a:rPr sz="3300" spc="-30" baseline="11363">
                <a:latin typeface="Cambria Math"/>
                <a:cs typeface="Cambria Math"/>
              </a:rPr>
              <a:t>𝑫</a:t>
            </a:r>
            <a:r>
              <a:rPr sz="1600" spc="-20">
                <a:latin typeface="Cambria Math"/>
                <a:cs typeface="Cambria Math"/>
              </a:rPr>
              <a:t>𝒊+𝟏</a:t>
            </a:r>
            <a:endParaRPr sz="1600">
              <a:latin typeface="Cambria Math"/>
              <a:cs typeface="Cambria Math"/>
            </a:endParaRPr>
          </a:p>
          <a:p>
            <a:pPr marL="381000" indent="-342900">
              <a:lnSpc>
                <a:spcPts val="3185"/>
              </a:lnSpc>
              <a:buClr>
                <a:srgbClr val="8092F0"/>
              </a:buClr>
              <a:buSzPct val="69642"/>
              <a:buFont typeface="Wingdings"/>
              <a:buChar char=""/>
              <a:tabLst>
                <a:tab pos="380365" algn="l"/>
                <a:tab pos="381000" algn="l"/>
              </a:tabLst>
            </a:pPr>
            <a:r>
              <a:rPr sz="2800">
                <a:latin typeface="Cambria Math"/>
                <a:cs typeface="Cambria Math"/>
              </a:rPr>
              <a:t>𝑺</a:t>
            </a:r>
            <a:r>
              <a:rPr sz="3075" baseline="-14905">
                <a:latin typeface="Cambria Math"/>
                <a:cs typeface="Cambria Math"/>
              </a:rPr>
              <a:t>𝒊+𝟏</a:t>
            </a:r>
            <a:r>
              <a:rPr sz="2800">
                <a:latin typeface="PMingLiU"/>
                <a:cs typeface="PMingLiU"/>
              </a:rPr>
              <a:t>：以</a:t>
            </a:r>
            <a:r>
              <a:rPr sz="2800">
                <a:latin typeface="Cambria Math"/>
                <a:cs typeface="Cambria Math"/>
              </a:rPr>
              <a:t>𝑿[𝒊</a:t>
            </a:r>
            <a:r>
              <a:rPr sz="2800" spc="5">
                <a:latin typeface="Cambria Math"/>
                <a:cs typeface="Cambria Math"/>
              </a:rPr>
              <a:t> + </a:t>
            </a:r>
            <a:r>
              <a:rPr sz="2800" spc="-10">
                <a:latin typeface="Cambria Math"/>
                <a:cs typeface="Cambria Math"/>
              </a:rPr>
              <a:t>𝟏]</a:t>
            </a:r>
            <a:r>
              <a:rPr sz="2800">
                <a:latin typeface="PMingLiU"/>
                <a:cs typeface="PMingLiU"/>
              </a:rPr>
              <a:t>开头的</a:t>
            </a:r>
            <a:r>
              <a:rPr sz="2800">
                <a:solidFill>
                  <a:srgbClr val="FF0000"/>
                </a:solidFill>
                <a:latin typeface="PMingLiU"/>
                <a:cs typeface="PMingLiU"/>
              </a:rPr>
              <a:t>任一</a:t>
            </a:r>
            <a:r>
              <a:rPr sz="2800" spc="-15">
                <a:latin typeface="PMingLiU"/>
                <a:cs typeface="PMingLiU"/>
              </a:rPr>
              <a:t>子数组和</a:t>
            </a:r>
            <a:endParaRPr sz="2800">
              <a:latin typeface="PMingLiU"/>
              <a:cs typeface="PMingLiU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8098652"/>
              </p:ext>
            </p:extLst>
          </p:nvPr>
        </p:nvGraphicFramePr>
        <p:xfrm>
          <a:off x="2454148" y="2296795"/>
          <a:ext cx="8128634" cy="7778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1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58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61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760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6077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marL="2952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2512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𝑿[𝒊]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9200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𝑿[𝒊</a:t>
                      </a:r>
                      <a:r>
                        <a:rPr sz="20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+</a:t>
                      </a:r>
                      <a:r>
                        <a:rPr sz="2000" spc="-1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9200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9200"/>
                    </a:solidFill>
                  </a:tcPr>
                </a:tc>
                <a:tc>
                  <a:txBody>
                    <a:bodyPr/>
                    <a:lstStyle/>
                    <a:p>
                      <a:pPr marR="5334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185"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2085">
                <a:tc grid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5639844"/>
              </p:ext>
            </p:extLst>
          </p:nvPr>
        </p:nvGraphicFramePr>
        <p:xfrm>
          <a:off x="2454148" y="4398771"/>
          <a:ext cx="8129903" cy="7658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1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4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3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14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marL="2952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2512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𝑿[𝒊]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5969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𝑿[𝒊</a:t>
                      </a:r>
                      <a:r>
                        <a:rPr sz="20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+</a:t>
                      </a:r>
                      <a:r>
                        <a:rPr sz="2000" spc="-1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R="5334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 grid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5977127" y="4839715"/>
            <a:ext cx="3352800" cy="332740"/>
          </a:xfrm>
          <a:custGeom>
            <a:avLst/>
            <a:gdLst/>
            <a:ahLst/>
            <a:cxnLst/>
            <a:rect l="l" t="t" r="r" b="b"/>
            <a:pathLst>
              <a:path w="3352800" h="332739">
                <a:moveTo>
                  <a:pt x="3352800" y="0"/>
                </a:moveTo>
                <a:lnTo>
                  <a:pt x="3350617" y="64639"/>
                </a:lnTo>
                <a:lnTo>
                  <a:pt x="3344672" y="117443"/>
                </a:lnTo>
                <a:lnTo>
                  <a:pt x="3335869" y="153054"/>
                </a:lnTo>
                <a:lnTo>
                  <a:pt x="3325114" y="166116"/>
                </a:lnTo>
                <a:lnTo>
                  <a:pt x="1704086" y="166116"/>
                </a:lnTo>
                <a:lnTo>
                  <a:pt x="1693330" y="179177"/>
                </a:lnTo>
                <a:lnTo>
                  <a:pt x="1684528" y="214788"/>
                </a:lnTo>
                <a:lnTo>
                  <a:pt x="1678582" y="267592"/>
                </a:lnTo>
                <a:lnTo>
                  <a:pt x="1676400" y="332232"/>
                </a:lnTo>
                <a:lnTo>
                  <a:pt x="1674217" y="267592"/>
                </a:lnTo>
                <a:lnTo>
                  <a:pt x="1668272" y="214788"/>
                </a:lnTo>
                <a:lnTo>
                  <a:pt x="1659469" y="179177"/>
                </a:lnTo>
                <a:lnTo>
                  <a:pt x="1648714" y="166116"/>
                </a:lnTo>
                <a:lnTo>
                  <a:pt x="27686" y="166116"/>
                </a:lnTo>
                <a:lnTo>
                  <a:pt x="16930" y="153054"/>
                </a:lnTo>
                <a:lnTo>
                  <a:pt x="8127" y="117443"/>
                </a:lnTo>
                <a:lnTo>
                  <a:pt x="2182" y="64639"/>
                </a:lnTo>
                <a:lnTo>
                  <a:pt x="0" y="0"/>
                </a:lnTo>
              </a:path>
            </a:pathLst>
          </a:custGeom>
          <a:ln w="31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357110" y="5232654"/>
            <a:ext cx="58166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300" spc="-30" baseline="11363">
                <a:latin typeface="Cambria Math"/>
                <a:cs typeface="Cambria Math"/>
              </a:rPr>
              <a:t>𝑺</a:t>
            </a:r>
            <a:r>
              <a:rPr sz="1600" spc="-20">
                <a:latin typeface="Cambria Math"/>
                <a:cs typeface="Cambria Math"/>
              </a:rPr>
              <a:t>𝒊+𝟏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1" name="object 7">
            <a:extLst>
              <a:ext uri="{FF2B5EF4-FFF2-40B4-BE49-F238E27FC236}">
                <a16:creationId xmlns:a16="http://schemas.microsoft.com/office/drawing/2014/main" id="{E39B142E-A47A-7149-B895-642D3B8A2BEC}"/>
              </a:ext>
            </a:extLst>
          </p:cNvPr>
          <p:cNvSpPr/>
          <p:nvPr/>
        </p:nvSpPr>
        <p:spPr>
          <a:xfrm>
            <a:off x="5922072" y="2718563"/>
            <a:ext cx="2327848" cy="332740"/>
          </a:xfrm>
          <a:custGeom>
            <a:avLst/>
            <a:gdLst/>
            <a:ahLst/>
            <a:cxnLst/>
            <a:rect l="l" t="t" r="r" b="b"/>
            <a:pathLst>
              <a:path w="3352800" h="332739">
                <a:moveTo>
                  <a:pt x="3352800" y="0"/>
                </a:moveTo>
                <a:lnTo>
                  <a:pt x="3350617" y="64639"/>
                </a:lnTo>
                <a:lnTo>
                  <a:pt x="3344672" y="117443"/>
                </a:lnTo>
                <a:lnTo>
                  <a:pt x="3335869" y="153054"/>
                </a:lnTo>
                <a:lnTo>
                  <a:pt x="3325114" y="166116"/>
                </a:lnTo>
                <a:lnTo>
                  <a:pt x="1704086" y="166116"/>
                </a:lnTo>
                <a:lnTo>
                  <a:pt x="1693330" y="179177"/>
                </a:lnTo>
                <a:lnTo>
                  <a:pt x="1684528" y="214788"/>
                </a:lnTo>
                <a:lnTo>
                  <a:pt x="1678582" y="267592"/>
                </a:lnTo>
                <a:lnTo>
                  <a:pt x="1676400" y="332232"/>
                </a:lnTo>
                <a:lnTo>
                  <a:pt x="1674217" y="267592"/>
                </a:lnTo>
                <a:lnTo>
                  <a:pt x="1668272" y="214788"/>
                </a:lnTo>
                <a:lnTo>
                  <a:pt x="1659469" y="179177"/>
                </a:lnTo>
                <a:lnTo>
                  <a:pt x="1648714" y="166116"/>
                </a:lnTo>
                <a:lnTo>
                  <a:pt x="27686" y="166116"/>
                </a:lnTo>
                <a:lnTo>
                  <a:pt x="16930" y="153054"/>
                </a:lnTo>
                <a:lnTo>
                  <a:pt x="8127" y="117443"/>
                </a:lnTo>
                <a:lnTo>
                  <a:pt x="2182" y="64639"/>
                </a:lnTo>
                <a:lnTo>
                  <a:pt x="0" y="0"/>
                </a:lnTo>
              </a:path>
            </a:pathLst>
          </a:custGeom>
          <a:ln w="31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4">
            <a:extLst>
              <a:ext uri="{FF2B5EF4-FFF2-40B4-BE49-F238E27FC236}">
                <a16:creationId xmlns:a16="http://schemas.microsoft.com/office/drawing/2014/main" id="{0134ABF2-18B1-2945-AD4B-84968D7AC7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8756" y="89948"/>
            <a:ext cx="4677411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>
                <a:latin typeface="SimSun" panose="02010600030101010101" pitchFamily="2" charset="-122"/>
                <a:ea typeface="SimSun" panose="02010600030101010101" pitchFamily="2" charset="-122"/>
              </a:rPr>
              <a:t>规律证明：情况</a:t>
            </a:r>
            <a:r>
              <a:rPr b="1" spc="-50" dirty="0">
                <a:latin typeface="SimSun" panose="02010600030101010101" pitchFamily="2" charset="-122"/>
                <a:ea typeface="SimSun" panose="02010600030101010101" pitchFamily="2" charset="-122"/>
                <a:cs typeface="Times New Roman"/>
              </a:rPr>
              <a:t>1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1360" y="1250442"/>
            <a:ext cx="81165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93065" algn="l"/>
                <a:tab pos="393700" algn="l"/>
              </a:tabLst>
            </a:pPr>
            <a:r>
              <a:rPr sz="2800">
                <a:latin typeface="Cambria Math"/>
                <a:cs typeface="Cambria Math"/>
              </a:rPr>
              <a:t>𝑫</a:t>
            </a:r>
            <a:r>
              <a:rPr sz="3075" baseline="-14905">
                <a:latin typeface="Cambria Math"/>
                <a:cs typeface="Cambria Math"/>
              </a:rPr>
              <a:t>𝒊+𝟏</a:t>
            </a:r>
            <a:r>
              <a:rPr sz="2800">
                <a:latin typeface="PMingLiU"/>
                <a:cs typeface="PMingLiU"/>
              </a:rPr>
              <a:t>：以</a:t>
            </a:r>
            <a:r>
              <a:rPr sz="2800">
                <a:latin typeface="Cambria Math"/>
                <a:cs typeface="Cambria Math"/>
              </a:rPr>
              <a:t>𝑿[𝒊</a:t>
            </a:r>
            <a:r>
              <a:rPr sz="2800" spc="10">
                <a:latin typeface="Cambria Math"/>
                <a:cs typeface="Cambria Math"/>
              </a:rPr>
              <a:t> + </a:t>
            </a:r>
            <a:r>
              <a:rPr sz="2800" spc="-10">
                <a:latin typeface="Cambria Math"/>
                <a:cs typeface="Cambria Math"/>
              </a:rPr>
              <a:t>𝟏]</a:t>
            </a:r>
            <a:r>
              <a:rPr sz="2800">
                <a:latin typeface="PMingLiU"/>
                <a:cs typeface="PMingLiU"/>
              </a:rPr>
              <a:t>开头的</a:t>
            </a:r>
            <a:r>
              <a:rPr sz="2800">
                <a:solidFill>
                  <a:srgbClr val="FF0000"/>
                </a:solidFill>
                <a:latin typeface="PMingLiU"/>
                <a:cs typeface="PMingLiU"/>
              </a:rPr>
              <a:t>最大</a:t>
            </a:r>
            <a:r>
              <a:rPr sz="2800" spc="35">
                <a:latin typeface="PMingLiU"/>
                <a:cs typeface="PMingLiU"/>
              </a:rPr>
              <a:t>子数组和 (</a:t>
            </a:r>
            <a:r>
              <a:rPr sz="2800">
                <a:latin typeface="Cambria Math"/>
                <a:cs typeface="Cambria Math"/>
              </a:rPr>
              <a:t>𝑫</a:t>
            </a:r>
            <a:r>
              <a:rPr sz="3075" baseline="-14905">
                <a:latin typeface="Cambria Math"/>
                <a:cs typeface="Cambria Math"/>
              </a:rPr>
              <a:t>𝒊+𝟏</a:t>
            </a:r>
            <a:r>
              <a:rPr sz="3075" spc="719" baseline="-14905">
                <a:latin typeface="Cambria Math"/>
                <a:cs typeface="Cambria Math"/>
              </a:rPr>
              <a:t> </a:t>
            </a:r>
            <a:r>
              <a:rPr sz="2800" spc="95">
                <a:latin typeface="Cambria Math"/>
                <a:cs typeface="Cambria Math"/>
              </a:rPr>
              <a:t>&gt; </a:t>
            </a:r>
            <a:r>
              <a:rPr sz="2800" spc="50">
                <a:latin typeface="Cambria Math"/>
                <a:cs typeface="Cambria Math"/>
              </a:rPr>
              <a:t>𝟎</a:t>
            </a:r>
            <a:r>
              <a:rPr sz="2800" spc="50">
                <a:latin typeface="PMingLiU"/>
                <a:cs typeface="PMingLiU"/>
              </a:rPr>
              <a:t>)</a:t>
            </a:r>
            <a:endParaRPr sz="2800">
              <a:latin typeface="PMingLiU"/>
              <a:cs typeface="PMingLiU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34060" y="3133343"/>
            <a:ext cx="7150100" cy="744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404495" algn="r">
              <a:lnSpc>
                <a:spcPts val="2465"/>
              </a:lnSpc>
              <a:spcBef>
                <a:spcPts val="100"/>
              </a:spcBef>
            </a:pPr>
            <a:r>
              <a:rPr sz="3300" spc="-30" baseline="11363" dirty="0">
                <a:latin typeface="Cambria Math"/>
                <a:cs typeface="Cambria Math"/>
              </a:rPr>
              <a:t>𝑫</a:t>
            </a:r>
            <a:r>
              <a:rPr sz="1600" spc="-20" dirty="0">
                <a:latin typeface="Cambria Math"/>
                <a:cs typeface="Cambria Math"/>
              </a:rPr>
              <a:t>𝒊+𝟏</a:t>
            </a:r>
            <a:endParaRPr sz="1600" dirty="0">
              <a:latin typeface="Cambria Math"/>
              <a:cs typeface="Cambria Math"/>
            </a:endParaRPr>
          </a:p>
          <a:p>
            <a:pPr marL="381000" indent="-342900">
              <a:lnSpc>
                <a:spcPts val="3185"/>
              </a:lnSpc>
              <a:buClr>
                <a:srgbClr val="8092F0"/>
              </a:buClr>
              <a:buSzPct val="69642"/>
              <a:buFont typeface="Wingdings"/>
              <a:buChar char=""/>
              <a:tabLst>
                <a:tab pos="380365" algn="l"/>
                <a:tab pos="381000" algn="l"/>
              </a:tabLst>
            </a:pPr>
            <a:r>
              <a:rPr sz="2800" dirty="0">
                <a:latin typeface="Cambria Math"/>
                <a:cs typeface="Cambria Math"/>
              </a:rPr>
              <a:t>𝑺</a:t>
            </a:r>
            <a:r>
              <a:rPr sz="3075" baseline="-14905" dirty="0">
                <a:latin typeface="Cambria Math"/>
                <a:cs typeface="Cambria Math"/>
              </a:rPr>
              <a:t>𝒊+𝟏</a:t>
            </a:r>
            <a:r>
              <a:rPr sz="2800" dirty="0">
                <a:latin typeface="PMingLiU"/>
                <a:cs typeface="PMingLiU"/>
              </a:rPr>
              <a:t>：</a:t>
            </a:r>
            <a:r>
              <a:rPr sz="2800" dirty="0" err="1">
                <a:latin typeface="PMingLiU"/>
                <a:cs typeface="PMingLiU"/>
              </a:rPr>
              <a:t>以</a:t>
            </a:r>
            <a:r>
              <a:rPr sz="2800" dirty="0">
                <a:latin typeface="Cambria Math"/>
                <a:cs typeface="Cambria Math"/>
              </a:rPr>
              <a:t>𝑿[𝒊 + </a:t>
            </a:r>
            <a:r>
              <a:rPr sz="2800" spc="-10" dirty="0">
                <a:latin typeface="Cambria Math"/>
                <a:cs typeface="Cambria Math"/>
              </a:rPr>
              <a:t>𝟏]</a:t>
            </a:r>
            <a:r>
              <a:rPr sz="2800" dirty="0" err="1">
                <a:latin typeface="PMingLiU"/>
                <a:cs typeface="PMingLiU"/>
              </a:rPr>
              <a:t>开头的</a:t>
            </a:r>
            <a:r>
              <a:rPr sz="2800" dirty="0" err="1">
                <a:solidFill>
                  <a:srgbClr val="FF0000"/>
                </a:solidFill>
                <a:latin typeface="PMingLiU"/>
                <a:cs typeface="PMingLiU"/>
              </a:rPr>
              <a:t>任一</a:t>
            </a:r>
            <a:r>
              <a:rPr sz="2800" spc="30" dirty="0" err="1">
                <a:latin typeface="PMingLiU"/>
                <a:cs typeface="PMingLiU"/>
              </a:rPr>
              <a:t>子数组和</a:t>
            </a:r>
            <a:r>
              <a:rPr sz="2800" spc="30" dirty="0">
                <a:latin typeface="PMingLiU"/>
                <a:cs typeface="PMingLiU"/>
              </a:rPr>
              <a:t> (</a:t>
            </a:r>
            <a:r>
              <a:rPr sz="2800" spc="-10" dirty="0">
                <a:latin typeface="Cambria Math"/>
                <a:cs typeface="Cambria Math"/>
              </a:rPr>
              <a:t>𝑺</a:t>
            </a:r>
            <a:r>
              <a:rPr sz="3075" spc="-15" baseline="-14905" dirty="0">
                <a:latin typeface="Cambria Math"/>
                <a:cs typeface="Cambria Math"/>
              </a:rPr>
              <a:t>𝒊+𝟏</a:t>
            </a:r>
            <a:endParaRPr sz="3075" baseline="-14905" dirty="0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998713" y="3424681"/>
            <a:ext cx="12966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800">
                <a:latin typeface="Cambria Math"/>
                <a:cs typeface="Cambria Math"/>
              </a:rPr>
              <a:t>≤</a:t>
            </a:r>
            <a:r>
              <a:rPr sz="2800" spc="160">
                <a:latin typeface="Cambria Math"/>
                <a:cs typeface="Cambria Math"/>
              </a:rPr>
              <a:t> </a:t>
            </a:r>
            <a:r>
              <a:rPr sz="2800" spc="-20">
                <a:latin typeface="Cambria Math"/>
                <a:cs typeface="Cambria Math"/>
              </a:rPr>
              <a:t>𝑫</a:t>
            </a:r>
            <a:r>
              <a:rPr sz="3075" spc="-30" baseline="-14905">
                <a:latin typeface="Cambria Math"/>
                <a:cs typeface="Cambria Math"/>
              </a:rPr>
              <a:t>𝒊+𝟏</a:t>
            </a:r>
            <a:r>
              <a:rPr sz="2800" spc="-20">
                <a:latin typeface="PMingLiU"/>
                <a:cs typeface="PMingLiU"/>
              </a:rPr>
              <a:t>)</a:t>
            </a:r>
            <a:endParaRPr sz="2800">
              <a:latin typeface="PMingLiU"/>
              <a:cs typeface="PMingLiU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5074163"/>
              </p:ext>
            </p:extLst>
          </p:nvPr>
        </p:nvGraphicFramePr>
        <p:xfrm>
          <a:off x="2464308" y="2286635"/>
          <a:ext cx="8128634" cy="7778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1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58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61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760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6077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marL="2952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2512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𝑿[𝒊]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9200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𝑿[𝒊</a:t>
                      </a:r>
                      <a:r>
                        <a:rPr sz="20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+</a:t>
                      </a:r>
                      <a:r>
                        <a:rPr sz="2000" spc="-1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9200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9200"/>
                    </a:solidFill>
                  </a:tcPr>
                </a:tc>
                <a:tc>
                  <a:txBody>
                    <a:bodyPr/>
                    <a:lstStyle/>
                    <a:p>
                      <a:pPr marR="5334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185"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2085">
                <a:tc grid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053445"/>
              </p:ext>
            </p:extLst>
          </p:nvPr>
        </p:nvGraphicFramePr>
        <p:xfrm>
          <a:off x="2464308" y="4388611"/>
          <a:ext cx="8129903" cy="7658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1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4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3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14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marL="2952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2512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𝑿[𝒊]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5969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𝑿[𝒊</a:t>
                      </a:r>
                      <a:r>
                        <a:rPr sz="20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+</a:t>
                      </a:r>
                      <a:r>
                        <a:rPr sz="2000" spc="-1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R="5334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 grid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5987287" y="4829555"/>
            <a:ext cx="3352800" cy="332740"/>
          </a:xfrm>
          <a:custGeom>
            <a:avLst/>
            <a:gdLst/>
            <a:ahLst/>
            <a:cxnLst/>
            <a:rect l="l" t="t" r="r" b="b"/>
            <a:pathLst>
              <a:path w="3352800" h="332739">
                <a:moveTo>
                  <a:pt x="3352800" y="0"/>
                </a:moveTo>
                <a:lnTo>
                  <a:pt x="3350617" y="64639"/>
                </a:lnTo>
                <a:lnTo>
                  <a:pt x="3344672" y="117443"/>
                </a:lnTo>
                <a:lnTo>
                  <a:pt x="3335869" y="153054"/>
                </a:lnTo>
                <a:lnTo>
                  <a:pt x="3325114" y="166116"/>
                </a:lnTo>
                <a:lnTo>
                  <a:pt x="1704086" y="166116"/>
                </a:lnTo>
                <a:lnTo>
                  <a:pt x="1693330" y="179177"/>
                </a:lnTo>
                <a:lnTo>
                  <a:pt x="1684528" y="214788"/>
                </a:lnTo>
                <a:lnTo>
                  <a:pt x="1678582" y="267592"/>
                </a:lnTo>
                <a:lnTo>
                  <a:pt x="1676400" y="332232"/>
                </a:lnTo>
                <a:lnTo>
                  <a:pt x="1674217" y="267592"/>
                </a:lnTo>
                <a:lnTo>
                  <a:pt x="1668272" y="214788"/>
                </a:lnTo>
                <a:lnTo>
                  <a:pt x="1659469" y="179177"/>
                </a:lnTo>
                <a:lnTo>
                  <a:pt x="1648714" y="166116"/>
                </a:lnTo>
                <a:lnTo>
                  <a:pt x="27686" y="166116"/>
                </a:lnTo>
                <a:lnTo>
                  <a:pt x="16930" y="153054"/>
                </a:lnTo>
                <a:lnTo>
                  <a:pt x="8127" y="117443"/>
                </a:lnTo>
                <a:lnTo>
                  <a:pt x="2182" y="64639"/>
                </a:lnTo>
                <a:lnTo>
                  <a:pt x="0" y="0"/>
                </a:lnTo>
              </a:path>
            </a:pathLst>
          </a:custGeom>
          <a:ln w="31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367270" y="5222494"/>
            <a:ext cx="58166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300" spc="-30" baseline="11363">
                <a:latin typeface="Cambria Math"/>
                <a:cs typeface="Cambria Math"/>
              </a:rPr>
              <a:t>𝑺</a:t>
            </a:r>
            <a:r>
              <a:rPr sz="1600" spc="-20">
                <a:latin typeface="Cambria Math"/>
                <a:cs typeface="Cambria Math"/>
              </a:rPr>
              <a:t>𝒊+𝟏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2" name="object 7">
            <a:extLst>
              <a:ext uri="{FF2B5EF4-FFF2-40B4-BE49-F238E27FC236}">
                <a16:creationId xmlns:a16="http://schemas.microsoft.com/office/drawing/2014/main" id="{85CD7035-C4DE-3040-A1C7-7A0A84030323}"/>
              </a:ext>
            </a:extLst>
          </p:cNvPr>
          <p:cNvSpPr/>
          <p:nvPr/>
        </p:nvSpPr>
        <p:spPr>
          <a:xfrm>
            <a:off x="5942392" y="2718563"/>
            <a:ext cx="2327848" cy="332740"/>
          </a:xfrm>
          <a:custGeom>
            <a:avLst/>
            <a:gdLst/>
            <a:ahLst/>
            <a:cxnLst/>
            <a:rect l="l" t="t" r="r" b="b"/>
            <a:pathLst>
              <a:path w="3352800" h="332739">
                <a:moveTo>
                  <a:pt x="3352800" y="0"/>
                </a:moveTo>
                <a:lnTo>
                  <a:pt x="3350617" y="64639"/>
                </a:lnTo>
                <a:lnTo>
                  <a:pt x="3344672" y="117443"/>
                </a:lnTo>
                <a:lnTo>
                  <a:pt x="3335869" y="153054"/>
                </a:lnTo>
                <a:lnTo>
                  <a:pt x="3325114" y="166116"/>
                </a:lnTo>
                <a:lnTo>
                  <a:pt x="1704086" y="166116"/>
                </a:lnTo>
                <a:lnTo>
                  <a:pt x="1693330" y="179177"/>
                </a:lnTo>
                <a:lnTo>
                  <a:pt x="1684528" y="214788"/>
                </a:lnTo>
                <a:lnTo>
                  <a:pt x="1678582" y="267592"/>
                </a:lnTo>
                <a:lnTo>
                  <a:pt x="1676400" y="332232"/>
                </a:lnTo>
                <a:lnTo>
                  <a:pt x="1674217" y="267592"/>
                </a:lnTo>
                <a:lnTo>
                  <a:pt x="1668272" y="214788"/>
                </a:lnTo>
                <a:lnTo>
                  <a:pt x="1659469" y="179177"/>
                </a:lnTo>
                <a:lnTo>
                  <a:pt x="1648714" y="166116"/>
                </a:lnTo>
                <a:lnTo>
                  <a:pt x="27686" y="166116"/>
                </a:lnTo>
                <a:lnTo>
                  <a:pt x="16930" y="153054"/>
                </a:lnTo>
                <a:lnTo>
                  <a:pt x="8127" y="117443"/>
                </a:lnTo>
                <a:lnTo>
                  <a:pt x="2182" y="64639"/>
                </a:lnTo>
                <a:lnTo>
                  <a:pt x="0" y="0"/>
                </a:lnTo>
              </a:path>
            </a:pathLst>
          </a:custGeom>
          <a:ln w="31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4">
            <a:extLst>
              <a:ext uri="{FF2B5EF4-FFF2-40B4-BE49-F238E27FC236}">
                <a16:creationId xmlns:a16="http://schemas.microsoft.com/office/drawing/2014/main" id="{F69DFBF5-1425-2149-A0F5-AB712045B2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8756" y="89948"/>
            <a:ext cx="4677411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>
                <a:latin typeface="SimSun" panose="02010600030101010101" pitchFamily="2" charset="-122"/>
                <a:ea typeface="SimSun" panose="02010600030101010101" pitchFamily="2" charset="-122"/>
              </a:rPr>
              <a:t>规律证明：情况</a:t>
            </a:r>
            <a:r>
              <a:rPr b="1" spc="-50" dirty="0">
                <a:latin typeface="SimSun" panose="02010600030101010101" pitchFamily="2" charset="-122"/>
                <a:ea typeface="SimSun" panose="02010600030101010101" pitchFamily="2" charset="-122"/>
                <a:cs typeface="Times New Roman"/>
              </a:rPr>
              <a:t>1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1200" y="1179322"/>
            <a:ext cx="81165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93065" algn="l"/>
                <a:tab pos="393700" algn="l"/>
              </a:tabLst>
            </a:pPr>
            <a:r>
              <a:rPr sz="2800">
                <a:latin typeface="Cambria Math"/>
                <a:cs typeface="Cambria Math"/>
              </a:rPr>
              <a:t>𝑫</a:t>
            </a:r>
            <a:r>
              <a:rPr sz="3075" baseline="-14905">
                <a:latin typeface="Cambria Math"/>
                <a:cs typeface="Cambria Math"/>
              </a:rPr>
              <a:t>𝒊+𝟏</a:t>
            </a:r>
            <a:r>
              <a:rPr sz="2800">
                <a:latin typeface="PMingLiU"/>
                <a:cs typeface="PMingLiU"/>
              </a:rPr>
              <a:t>：以</a:t>
            </a:r>
            <a:r>
              <a:rPr sz="2800">
                <a:latin typeface="Cambria Math"/>
                <a:cs typeface="Cambria Math"/>
              </a:rPr>
              <a:t>𝑿[𝒊</a:t>
            </a:r>
            <a:r>
              <a:rPr sz="2800" spc="10">
                <a:latin typeface="Cambria Math"/>
                <a:cs typeface="Cambria Math"/>
              </a:rPr>
              <a:t> + </a:t>
            </a:r>
            <a:r>
              <a:rPr sz="2800" spc="-10">
                <a:latin typeface="Cambria Math"/>
                <a:cs typeface="Cambria Math"/>
              </a:rPr>
              <a:t>𝟏]</a:t>
            </a:r>
            <a:r>
              <a:rPr sz="2800" spc="15">
                <a:latin typeface="PMingLiU"/>
                <a:cs typeface="PMingLiU"/>
              </a:rPr>
              <a:t>开头的最大子数组和 (</a:t>
            </a:r>
            <a:r>
              <a:rPr sz="2800">
                <a:latin typeface="Cambria Math"/>
                <a:cs typeface="Cambria Math"/>
              </a:rPr>
              <a:t>𝑫</a:t>
            </a:r>
            <a:r>
              <a:rPr sz="3075" baseline="-14905">
                <a:latin typeface="Cambria Math"/>
                <a:cs typeface="Cambria Math"/>
              </a:rPr>
              <a:t>𝒊+𝟏</a:t>
            </a:r>
            <a:r>
              <a:rPr sz="3075" spc="719" baseline="-14905">
                <a:latin typeface="Cambria Math"/>
                <a:cs typeface="Cambria Math"/>
              </a:rPr>
              <a:t> </a:t>
            </a:r>
            <a:r>
              <a:rPr sz="2800" spc="95">
                <a:latin typeface="Cambria Math"/>
                <a:cs typeface="Cambria Math"/>
              </a:rPr>
              <a:t>&gt; </a:t>
            </a:r>
            <a:r>
              <a:rPr sz="2800" spc="50">
                <a:latin typeface="Cambria Math"/>
                <a:cs typeface="Cambria Math"/>
              </a:rPr>
              <a:t>𝟎</a:t>
            </a:r>
            <a:r>
              <a:rPr sz="2800" spc="50">
                <a:latin typeface="PMingLiU"/>
                <a:cs typeface="PMingLiU"/>
              </a:rPr>
              <a:t>)</a:t>
            </a:r>
            <a:endParaRPr sz="2800">
              <a:latin typeface="PMingLiU"/>
              <a:cs typeface="PMingLiU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988553" y="3353561"/>
            <a:ext cx="12966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800">
                <a:latin typeface="Cambria Math"/>
                <a:cs typeface="Cambria Math"/>
              </a:rPr>
              <a:t>≤</a:t>
            </a:r>
            <a:r>
              <a:rPr sz="2800" spc="160">
                <a:latin typeface="Cambria Math"/>
                <a:cs typeface="Cambria Math"/>
              </a:rPr>
              <a:t> </a:t>
            </a:r>
            <a:r>
              <a:rPr sz="2800" spc="-20">
                <a:latin typeface="Cambria Math"/>
                <a:cs typeface="Cambria Math"/>
              </a:rPr>
              <a:t>𝑫</a:t>
            </a:r>
            <a:r>
              <a:rPr sz="3075" spc="-30" baseline="-14905">
                <a:latin typeface="Cambria Math"/>
                <a:cs typeface="Cambria Math"/>
              </a:rPr>
              <a:t>𝒊+𝟏</a:t>
            </a:r>
            <a:r>
              <a:rPr sz="2800" spc="-20">
                <a:latin typeface="PMingLiU"/>
                <a:cs typeface="PMingLiU"/>
              </a:rPr>
              <a:t>)</a:t>
            </a:r>
            <a:endParaRPr sz="2800">
              <a:latin typeface="PMingLiU"/>
              <a:cs typeface="PMingLiU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3900" y="3062223"/>
            <a:ext cx="7150100" cy="744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404495" algn="r">
              <a:lnSpc>
                <a:spcPts val="2465"/>
              </a:lnSpc>
              <a:spcBef>
                <a:spcPts val="100"/>
              </a:spcBef>
            </a:pPr>
            <a:r>
              <a:rPr sz="3300" spc="-30" baseline="11363">
                <a:latin typeface="Cambria Math"/>
                <a:cs typeface="Cambria Math"/>
              </a:rPr>
              <a:t>𝑫</a:t>
            </a:r>
            <a:r>
              <a:rPr sz="1600" spc="-20">
                <a:latin typeface="Cambria Math"/>
                <a:cs typeface="Cambria Math"/>
              </a:rPr>
              <a:t>𝒊+𝟏</a:t>
            </a:r>
            <a:endParaRPr sz="1600">
              <a:latin typeface="Cambria Math"/>
              <a:cs typeface="Cambria Math"/>
            </a:endParaRPr>
          </a:p>
          <a:p>
            <a:pPr marL="381000" indent="-342900">
              <a:lnSpc>
                <a:spcPts val="3185"/>
              </a:lnSpc>
              <a:buClr>
                <a:srgbClr val="8092F0"/>
              </a:buClr>
              <a:buSzPct val="69642"/>
              <a:buFont typeface="Wingdings"/>
              <a:buChar char=""/>
              <a:tabLst>
                <a:tab pos="380365" algn="l"/>
                <a:tab pos="381000" algn="l"/>
              </a:tabLst>
            </a:pPr>
            <a:r>
              <a:rPr sz="2800">
                <a:latin typeface="Cambria Math"/>
                <a:cs typeface="Cambria Math"/>
              </a:rPr>
              <a:t>𝑺</a:t>
            </a:r>
            <a:r>
              <a:rPr sz="3075" baseline="-14905">
                <a:latin typeface="Cambria Math"/>
                <a:cs typeface="Cambria Math"/>
              </a:rPr>
              <a:t>𝒊+𝟏</a:t>
            </a:r>
            <a:r>
              <a:rPr sz="2800">
                <a:latin typeface="PMingLiU"/>
                <a:cs typeface="PMingLiU"/>
              </a:rPr>
              <a:t>：以</a:t>
            </a:r>
            <a:r>
              <a:rPr sz="2800">
                <a:latin typeface="Cambria Math"/>
                <a:cs typeface="Cambria Math"/>
              </a:rPr>
              <a:t>𝑿[𝒊 + </a:t>
            </a:r>
            <a:r>
              <a:rPr sz="2800" spc="-10">
                <a:latin typeface="Cambria Math"/>
                <a:cs typeface="Cambria Math"/>
              </a:rPr>
              <a:t>𝟏]</a:t>
            </a:r>
            <a:r>
              <a:rPr sz="2800" spc="15">
                <a:latin typeface="PMingLiU"/>
                <a:cs typeface="PMingLiU"/>
              </a:rPr>
              <a:t>开头的任一子数组和 (</a:t>
            </a:r>
            <a:r>
              <a:rPr sz="2800" spc="-10">
                <a:latin typeface="Cambria Math"/>
                <a:cs typeface="Cambria Math"/>
              </a:rPr>
              <a:t>𝑺</a:t>
            </a:r>
            <a:r>
              <a:rPr sz="3075" spc="-15" baseline="-14905">
                <a:latin typeface="Cambria Math"/>
                <a:cs typeface="Cambria Math"/>
              </a:rPr>
              <a:t>𝒊+𝟏</a:t>
            </a:r>
            <a:endParaRPr sz="3075" baseline="-14905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07998" y="5474969"/>
            <a:ext cx="302260" cy="331470"/>
          </a:xfrm>
          <a:custGeom>
            <a:avLst/>
            <a:gdLst/>
            <a:ahLst/>
            <a:cxnLst/>
            <a:rect l="l" t="t" r="r" b="b"/>
            <a:pathLst>
              <a:path w="302260" h="331470">
                <a:moveTo>
                  <a:pt x="77470" y="0"/>
                </a:moveTo>
                <a:lnTo>
                  <a:pt x="0" y="0"/>
                </a:lnTo>
                <a:lnTo>
                  <a:pt x="0" y="13970"/>
                </a:lnTo>
                <a:lnTo>
                  <a:pt x="0" y="318770"/>
                </a:lnTo>
                <a:lnTo>
                  <a:pt x="0" y="331470"/>
                </a:lnTo>
                <a:lnTo>
                  <a:pt x="77470" y="331470"/>
                </a:lnTo>
                <a:lnTo>
                  <a:pt x="77470" y="318770"/>
                </a:lnTo>
                <a:lnTo>
                  <a:pt x="28829" y="318770"/>
                </a:lnTo>
                <a:lnTo>
                  <a:pt x="28829" y="13970"/>
                </a:lnTo>
                <a:lnTo>
                  <a:pt x="77470" y="13970"/>
                </a:lnTo>
                <a:lnTo>
                  <a:pt x="77470" y="0"/>
                </a:lnTo>
                <a:close/>
              </a:path>
              <a:path w="302260" h="331470">
                <a:moveTo>
                  <a:pt x="302133" y="0"/>
                </a:moveTo>
                <a:lnTo>
                  <a:pt x="224663" y="0"/>
                </a:lnTo>
                <a:lnTo>
                  <a:pt x="224663" y="13970"/>
                </a:lnTo>
                <a:lnTo>
                  <a:pt x="273304" y="13970"/>
                </a:lnTo>
                <a:lnTo>
                  <a:pt x="273304" y="318770"/>
                </a:lnTo>
                <a:lnTo>
                  <a:pt x="224663" y="318770"/>
                </a:lnTo>
                <a:lnTo>
                  <a:pt x="224663" y="331470"/>
                </a:lnTo>
                <a:lnTo>
                  <a:pt x="302133" y="331470"/>
                </a:lnTo>
                <a:lnTo>
                  <a:pt x="302133" y="318770"/>
                </a:lnTo>
                <a:lnTo>
                  <a:pt x="302133" y="13970"/>
                </a:lnTo>
                <a:lnTo>
                  <a:pt x="3021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23900" y="5374385"/>
            <a:ext cx="229489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7840" indent="-460375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497840" algn="l"/>
                <a:tab pos="498475" algn="l"/>
                <a:tab pos="1204595" algn="l"/>
              </a:tabLst>
            </a:pPr>
            <a:r>
              <a:rPr sz="2800">
                <a:latin typeface="Cambria Math"/>
                <a:cs typeface="Cambria Math"/>
              </a:rPr>
              <a:t>𝑿</a:t>
            </a:r>
            <a:r>
              <a:rPr sz="2800" spc="360">
                <a:latin typeface="Cambria Math"/>
                <a:cs typeface="Cambria Math"/>
              </a:rPr>
              <a:t> </a:t>
            </a:r>
            <a:r>
              <a:rPr sz="2800" spc="-50">
                <a:latin typeface="Cambria Math"/>
                <a:cs typeface="Cambria Math"/>
              </a:rPr>
              <a:t>𝒊</a:t>
            </a:r>
            <a:r>
              <a:rPr sz="2800">
                <a:latin typeface="Cambria Math"/>
                <a:cs typeface="Cambria Math"/>
              </a:rPr>
              <a:t>	+</a:t>
            </a:r>
            <a:r>
              <a:rPr sz="2800" spc="-5">
                <a:latin typeface="Cambria Math"/>
                <a:cs typeface="Cambria Math"/>
              </a:rPr>
              <a:t> </a:t>
            </a:r>
            <a:r>
              <a:rPr sz="2800" spc="-20">
                <a:latin typeface="Cambria Math"/>
                <a:cs typeface="Cambria Math"/>
              </a:rPr>
              <a:t>𝑫</a:t>
            </a:r>
            <a:r>
              <a:rPr sz="3075" spc="-30" baseline="-14905">
                <a:latin typeface="Cambria Math"/>
                <a:cs typeface="Cambria Math"/>
              </a:rPr>
              <a:t>𝒊+𝟏</a:t>
            </a:r>
            <a:endParaRPr sz="3075" baseline="-14905">
              <a:latin typeface="Cambria Math"/>
              <a:cs typeface="Cambria Math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2629719"/>
              </p:ext>
            </p:extLst>
          </p:nvPr>
        </p:nvGraphicFramePr>
        <p:xfrm>
          <a:off x="2454148" y="2215515"/>
          <a:ext cx="8128634" cy="7778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1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58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61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760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6077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marL="2952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2512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𝑿[𝒊]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AF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9200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𝑿[𝒊</a:t>
                      </a:r>
                      <a:r>
                        <a:rPr sz="20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+</a:t>
                      </a:r>
                      <a:r>
                        <a:rPr sz="2000" spc="-1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9200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9200"/>
                    </a:solidFill>
                  </a:tcPr>
                </a:tc>
                <a:tc>
                  <a:txBody>
                    <a:bodyPr/>
                    <a:lstStyle/>
                    <a:p>
                      <a:pPr marR="5334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185"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2085">
                <a:tc grid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objec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7059165"/>
              </p:ext>
            </p:extLst>
          </p:nvPr>
        </p:nvGraphicFramePr>
        <p:xfrm>
          <a:off x="2454148" y="4317491"/>
          <a:ext cx="8129903" cy="7658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1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4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3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14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marL="2952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2512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𝑿[𝒊]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5969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𝑿[𝒊</a:t>
                      </a:r>
                      <a:r>
                        <a:rPr sz="20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+</a:t>
                      </a:r>
                      <a:r>
                        <a:rPr sz="2000" spc="-1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R="5334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 grid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5977127" y="4758435"/>
            <a:ext cx="3352800" cy="332740"/>
          </a:xfrm>
          <a:custGeom>
            <a:avLst/>
            <a:gdLst/>
            <a:ahLst/>
            <a:cxnLst/>
            <a:rect l="l" t="t" r="r" b="b"/>
            <a:pathLst>
              <a:path w="3352800" h="332739">
                <a:moveTo>
                  <a:pt x="3352800" y="0"/>
                </a:moveTo>
                <a:lnTo>
                  <a:pt x="3350617" y="64639"/>
                </a:lnTo>
                <a:lnTo>
                  <a:pt x="3344672" y="117443"/>
                </a:lnTo>
                <a:lnTo>
                  <a:pt x="3335869" y="153054"/>
                </a:lnTo>
                <a:lnTo>
                  <a:pt x="3325114" y="166116"/>
                </a:lnTo>
                <a:lnTo>
                  <a:pt x="1704086" y="166116"/>
                </a:lnTo>
                <a:lnTo>
                  <a:pt x="1693330" y="179177"/>
                </a:lnTo>
                <a:lnTo>
                  <a:pt x="1684528" y="214788"/>
                </a:lnTo>
                <a:lnTo>
                  <a:pt x="1678582" y="267592"/>
                </a:lnTo>
                <a:lnTo>
                  <a:pt x="1676400" y="332232"/>
                </a:lnTo>
                <a:lnTo>
                  <a:pt x="1674217" y="267592"/>
                </a:lnTo>
                <a:lnTo>
                  <a:pt x="1668272" y="214788"/>
                </a:lnTo>
                <a:lnTo>
                  <a:pt x="1659469" y="179177"/>
                </a:lnTo>
                <a:lnTo>
                  <a:pt x="1648714" y="166116"/>
                </a:lnTo>
                <a:lnTo>
                  <a:pt x="27686" y="166116"/>
                </a:lnTo>
                <a:lnTo>
                  <a:pt x="16930" y="153054"/>
                </a:lnTo>
                <a:lnTo>
                  <a:pt x="8127" y="117443"/>
                </a:lnTo>
                <a:lnTo>
                  <a:pt x="2182" y="64639"/>
                </a:lnTo>
                <a:lnTo>
                  <a:pt x="0" y="0"/>
                </a:lnTo>
              </a:path>
            </a:pathLst>
          </a:custGeom>
          <a:ln w="31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357110" y="5151374"/>
            <a:ext cx="58166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300" spc="-30" baseline="11363">
                <a:latin typeface="Cambria Math"/>
                <a:cs typeface="Cambria Math"/>
              </a:rPr>
              <a:t>𝑺</a:t>
            </a:r>
            <a:r>
              <a:rPr sz="1600" spc="-20">
                <a:latin typeface="Cambria Math"/>
                <a:cs typeface="Cambria Math"/>
              </a:rPr>
              <a:t>𝒊+𝟏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651501" y="2037587"/>
            <a:ext cx="3768090" cy="1348740"/>
          </a:xfrm>
          <a:custGeom>
            <a:avLst/>
            <a:gdLst/>
            <a:ahLst/>
            <a:cxnLst/>
            <a:rect l="l" t="t" r="r" b="b"/>
            <a:pathLst>
              <a:path w="3768090" h="1348739">
                <a:moveTo>
                  <a:pt x="0" y="224789"/>
                </a:moveTo>
                <a:lnTo>
                  <a:pt x="4564" y="179470"/>
                </a:lnTo>
                <a:lnTo>
                  <a:pt x="17656" y="137267"/>
                </a:lnTo>
                <a:lnTo>
                  <a:pt x="38375" y="99082"/>
                </a:lnTo>
                <a:lnTo>
                  <a:pt x="65817" y="65817"/>
                </a:lnTo>
                <a:lnTo>
                  <a:pt x="99082" y="38375"/>
                </a:lnTo>
                <a:lnTo>
                  <a:pt x="137267" y="17656"/>
                </a:lnTo>
                <a:lnTo>
                  <a:pt x="179470" y="4564"/>
                </a:lnTo>
                <a:lnTo>
                  <a:pt x="224790" y="0"/>
                </a:lnTo>
                <a:lnTo>
                  <a:pt x="3543300" y="0"/>
                </a:lnTo>
                <a:lnTo>
                  <a:pt x="3588619" y="4564"/>
                </a:lnTo>
                <a:lnTo>
                  <a:pt x="3630822" y="17656"/>
                </a:lnTo>
                <a:lnTo>
                  <a:pt x="3669007" y="38375"/>
                </a:lnTo>
                <a:lnTo>
                  <a:pt x="3702272" y="65817"/>
                </a:lnTo>
                <a:lnTo>
                  <a:pt x="3729714" y="99082"/>
                </a:lnTo>
                <a:lnTo>
                  <a:pt x="3750433" y="137267"/>
                </a:lnTo>
                <a:lnTo>
                  <a:pt x="3763525" y="179470"/>
                </a:lnTo>
                <a:lnTo>
                  <a:pt x="3768090" y="224789"/>
                </a:lnTo>
                <a:lnTo>
                  <a:pt x="3768090" y="1123950"/>
                </a:lnTo>
                <a:lnTo>
                  <a:pt x="3763525" y="1169269"/>
                </a:lnTo>
                <a:lnTo>
                  <a:pt x="3750433" y="1211472"/>
                </a:lnTo>
                <a:lnTo>
                  <a:pt x="3729714" y="1249657"/>
                </a:lnTo>
                <a:lnTo>
                  <a:pt x="3702272" y="1282922"/>
                </a:lnTo>
                <a:lnTo>
                  <a:pt x="3669007" y="1310364"/>
                </a:lnTo>
                <a:lnTo>
                  <a:pt x="3630822" y="1331083"/>
                </a:lnTo>
                <a:lnTo>
                  <a:pt x="3588619" y="1344175"/>
                </a:lnTo>
                <a:lnTo>
                  <a:pt x="3543300" y="1348739"/>
                </a:lnTo>
                <a:lnTo>
                  <a:pt x="224790" y="1348739"/>
                </a:lnTo>
                <a:lnTo>
                  <a:pt x="179470" y="1344175"/>
                </a:lnTo>
                <a:lnTo>
                  <a:pt x="137267" y="1331083"/>
                </a:lnTo>
                <a:lnTo>
                  <a:pt x="99082" y="1310364"/>
                </a:lnTo>
                <a:lnTo>
                  <a:pt x="65817" y="1282922"/>
                </a:lnTo>
                <a:lnTo>
                  <a:pt x="38375" y="1249657"/>
                </a:lnTo>
                <a:lnTo>
                  <a:pt x="17656" y="1211472"/>
                </a:lnTo>
                <a:lnTo>
                  <a:pt x="4564" y="1169269"/>
                </a:lnTo>
                <a:lnTo>
                  <a:pt x="0" y="1123950"/>
                </a:lnTo>
                <a:lnTo>
                  <a:pt x="0" y="224789"/>
                </a:lnTo>
                <a:close/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117092" y="5330697"/>
            <a:ext cx="1991360" cy="572263"/>
          </a:xfrm>
          <a:custGeom>
            <a:avLst/>
            <a:gdLst/>
            <a:ahLst/>
            <a:cxnLst/>
            <a:rect l="l" t="t" r="r" b="b"/>
            <a:pathLst>
              <a:path w="1991360" h="765175">
                <a:moveTo>
                  <a:pt x="0" y="127507"/>
                </a:moveTo>
                <a:lnTo>
                  <a:pt x="10020" y="77902"/>
                </a:lnTo>
                <a:lnTo>
                  <a:pt x="37345" y="37369"/>
                </a:lnTo>
                <a:lnTo>
                  <a:pt x="77875" y="10029"/>
                </a:lnTo>
                <a:lnTo>
                  <a:pt x="127508" y="0"/>
                </a:lnTo>
                <a:lnTo>
                  <a:pt x="1863598" y="0"/>
                </a:lnTo>
                <a:lnTo>
                  <a:pt x="1913203" y="10029"/>
                </a:lnTo>
                <a:lnTo>
                  <a:pt x="1953736" y="37369"/>
                </a:lnTo>
                <a:lnTo>
                  <a:pt x="1981076" y="77902"/>
                </a:lnTo>
                <a:lnTo>
                  <a:pt x="1991106" y="127507"/>
                </a:lnTo>
                <a:lnTo>
                  <a:pt x="1991106" y="637539"/>
                </a:lnTo>
                <a:lnTo>
                  <a:pt x="1981076" y="687172"/>
                </a:lnTo>
                <a:lnTo>
                  <a:pt x="1953736" y="727702"/>
                </a:lnTo>
                <a:lnTo>
                  <a:pt x="1913203" y="755027"/>
                </a:lnTo>
                <a:lnTo>
                  <a:pt x="1863598" y="765047"/>
                </a:lnTo>
                <a:lnTo>
                  <a:pt x="127508" y="765047"/>
                </a:lnTo>
                <a:lnTo>
                  <a:pt x="77875" y="755027"/>
                </a:lnTo>
                <a:lnTo>
                  <a:pt x="37345" y="727702"/>
                </a:lnTo>
                <a:lnTo>
                  <a:pt x="10020" y="687172"/>
                </a:lnTo>
                <a:lnTo>
                  <a:pt x="0" y="637539"/>
                </a:lnTo>
                <a:lnTo>
                  <a:pt x="0" y="127507"/>
                </a:lnTo>
                <a:close/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4">
            <a:extLst>
              <a:ext uri="{FF2B5EF4-FFF2-40B4-BE49-F238E27FC236}">
                <a16:creationId xmlns:a16="http://schemas.microsoft.com/office/drawing/2014/main" id="{66605120-B22F-8F44-8002-5EFF011C91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8756" y="89948"/>
            <a:ext cx="4677411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>
                <a:latin typeface="SimSun" panose="02010600030101010101" pitchFamily="2" charset="-122"/>
                <a:ea typeface="SimSun" panose="02010600030101010101" pitchFamily="2" charset="-122"/>
              </a:rPr>
              <a:t>规律证明：情况</a:t>
            </a:r>
            <a:r>
              <a:rPr b="1" spc="-50" dirty="0">
                <a:latin typeface="SimSun" panose="02010600030101010101" pitchFamily="2" charset="-122"/>
                <a:ea typeface="SimSun" panose="02010600030101010101" pitchFamily="2" charset="-122"/>
                <a:cs typeface="Times New Roman"/>
              </a:rPr>
              <a:t>1</a:t>
            </a:r>
          </a:p>
        </p:txBody>
      </p:sp>
      <p:sp>
        <p:nvSpPr>
          <p:cNvPr id="17" name="object 7">
            <a:extLst>
              <a:ext uri="{FF2B5EF4-FFF2-40B4-BE49-F238E27FC236}">
                <a16:creationId xmlns:a16="http://schemas.microsoft.com/office/drawing/2014/main" id="{C7C80989-D80D-8441-A0B9-A4DC56BE7FB1}"/>
              </a:ext>
            </a:extLst>
          </p:cNvPr>
          <p:cNvSpPr/>
          <p:nvPr/>
        </p:nvSpPr>
        <p:spPr>
          <a:xfrm>
            <a:off x="5932232" y="2677923"/>
            <a:ext cx="2327848" cy="332740"/>
          </a:xfrm>
          <a:custGeom>
            <a:avLst/>
            <a:gdLst/>
            <a:ahLst/>
            <a:cxnLst/>
            <a:rect l="l" t="t" r="r" b="b"/>
            <a:pathLst>
              <a:path w="3352800" h="332739">
                <a:moveTo>
                  <a:pt x="3352800" y="0"/>
                </a:moveTo>
                <a:lnTo>
                  <a:pt x="3350617" y="64639"/>
                </a:lnTo>
                <a:lnTo>
                  <a:pt x="3344672" y="117443"/>
                </a:lnTo>
                <a:lnTo>
                  <a:pt x="3335869" y="153054"/>
                </a:lnTo>
                <a:lnTo>
                  <a:pt x="3325114" y="166116"/>
                </a:lnTo>
                <a:lnTo>
                  <a:pt x="1704086" y="166116"/>
                </a:lnTo>
                <a:lnTo>
                  <a:pt x="1693330" y="179177"/>
                </a:lnTo>
                <a:lnTo>
                  <a:pt x="1684528" y="214788"/>
                </a:lnTo>
                <a:lnTo>
                  <a:pt x="1678582" y="267592"/>
                </a:lnTo>
                <a:lnTo>
                  <a:pt x="1676400" y="332232"/>
                </a:lnTo>
                <a:lnTo>
                  <a:pt x="1674217" y="267592"/>
                </a:lnTo>
                <a:lnTo>
                  <a:pt x="1668272" y="214788"/>
                </a:lnTo>
                <a:lnTo>
                  <a:pt x="1659469" y="179177"/>
                </a:lnTo>
                <a:lnTo>
                  <a:pt x="1648714" y="166116"/>
                </a:lnTo>
                <a:lnTo>
                  <a:pt x="27686" y="166116"/>
                </a:lnTo>
                <a:lnTo>
                  <a:pt x="16930" y="153054"/>
                </a:lnTo>
                <a:lnTo>
                  <a:pt x="8127" y="117443"/>
                </a:lnTo>
                <a:lnTo>
                  <a:pt x="2182" y="64639"/>
                </a:lnTo>
                <a:lnTo>
                  <a:pt x="0" y="0"/>
                </a:lnTo>
              </a:path>
            </a:pathLst>
          </a:custGeom>
          <a:ln w="31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1680" y="1209802"/>
            <a:ext cx="81165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93065" algn="l"/>
                <a:tab pos="393700" algn="l"/>
              </a:tabLst>
            </a:pPr>
            <a:r>
              <a:rPr sz="2800">
                <a:latin typeface="Cambria Math"/>
                <a:cs typeface="Cambria Math"/>
              </a:rPr>
              <a:t>𝑫</a:t>
            </a:r>
            <a:r>
              <a:rPr sz="3075" baseline="-14905">
                <a:latin typeface="Cambria Math"/>
                <a:cs typeface="Cambria Math"/>
              </a:rPr>
              <a:t>𝒊+𝟏</a:t>
            </a:r>
            <a:r>
              <a:rPr sz="2800">
                <a:latin typeface="PMingLiU"/>
                <a:cs typeface="PMingLiU"/>
              </a:rPr>
              <a:t>：以</a:t>
            </a:r>
            <a:r>
              <a:rPr sz="2800">
                <a:latin typeface="Cambria Math"/>
                <a:cs typeface="Cambria Math"/>
              </a:rPr>
              <a:t>𝑿[𝒊</a:t>
            </a:r>
            <a:r>
              <a:rPr sz="2800" spc="10">
                <a:latin typeface="Cambria Math"/>
                <a:cs typeface="Cambria Math"/>
              </a:rPr>
              <a:t> + </a:t>
            </a:r>
            <a:r>
              <a:rPr sz="2800" spc="-10">
                <a:latin typeface="Cambria Math"/>
                <a:cs typeface="Cambria Math"/>
              </a:rPr>
              <a:t>𝟏]</a:t>
            </a:r>
            <a:r>
              <a:rPr sz="2800" spc="15">
                <a:latin typeface="PMingLiU"/>
                <a:cs typeface="PMingLiU"/>
              </a:rPr>
              <a:t>开头的最大子数组和 (</a:t>
            </a:r>
            <a:r>
              <a:rPr sz="2800">
                <a:latin typeface="Cambria Math"/>
                <a:cs typeface="Cambria Math"/>
              </a:rPr>
              <a:t>𝑫</a:t>
            </a:r>
            <a:r>
              <a:rPr sz="3075" baseline="-14905">
                <a:latin typeface="Cambria Math"/>
                <a:cs typeface="Cambria Math"/>
              </a:rPr>
              <a:t>𝒊+𝟏</a:t>
            </a:r>
            <a:r>
              <a:rPr sz="3075" spc="719" baseline="-14905">
                <a:latin typeface="Cambria Math"/>
                <a:cs typeface="Cambria Math"/>
              </a:rPr>
              <a:t> </a:t>
            </a:r>
            <a:r>
              <a:rPr sz="2800" spc="95">
                <a:latin typeface="Cambria Math"/>
                <a:cs typeface="Cambria Math"/>
              </a:rPr>
              <a:t>&gt; </a:t>
            </a:r>
            <a:r>
              <a:rPr sz="2800" spc="50">
                <a:latin typeface="Cambria Math"/>
                <a:cs typeface="Cambria Math"/>
              </a:rPr>
              <a:t>𝟎</a:t>
            </a:r>
            <a:r>
              <a:rPr sz="2800" spc="50">
                <a:latin typeface="PMingLiU"/>
                <a:cs typeface="PMingLiU"/>
              </a:rPr>
              <a:t>)</a:t>
            </a:r>
            <a:endParaRPr sz="2800">
              <a:latin typeface="PMingLiU"/>
              <a:cs typeface="PMingLiU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4380" y="3092703"/>
            <a:ext cx="7150100" cy="744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404495" algn="r">
              <a:lnSpc>
                <a:spcPts val="2465"/>
              </a:lnSpc>
              <a:spcBef>
                <a:spcPts val="100"/>
              </a:spcBef>
            </a:pPr>
            <a:r>
              <a:rPr sz="3300" spc="-30" baseline="11363">
                <a:latin typeface="Cambria Math"/>
                <a:cs typeface="Cambria Math"/>
              </a:rPr>
              <a:t>𝑫</a:t>
            </a:r>
            <a:r>
              <a:rPr sz="1600" spc="-20">
                <a:latin typeface="Cambria Math"/>
                <a:cs typeface="Cambria Math"/>
              </a:rPr>
              <a:t>𝒊+𝟏</a:t>
            </a:r>
            <a:endParaRPr sz="1600">
              <a:latin typeface="Cambria Math"/>
              <a:cs typeface="Cambria Math"/>
            </a:endParaRPr>
          </a:p>
          <a:p>
            <a:pPr marL="381000" indent="-342900">
              <a:lnSpc>
                <a:spcPts val="3185"/>
              </a:lnSpc>
              <a:buClr>
                <a:srgbClr val="8092F0"/>
              </a:buClr>
              <a:buSzPct val="69642"/>
              <a:buFont typeface="Wingdings"/>
              <a:buChar char=""/>
              <a:tabLst>
                <a:tab pos="380365" algn="l"/>
                <a:tab pos="381000" algn="l"/>
              </a:tabLst>
            </a:pPr>
            <a:r>
              <a:rPr sz="2800">
                <a:latin typeface="Cambria Math"/>
                <a:cs typeface="Cambria Math"/>
              </a:rPr>
              <a:t>𝑺</a:t>
            </a:r>
            <a:r>
              <a:rPr sz="3075" baseline="-14905">
                <a:latin typeface="Cambria Math"/>
                <a:cs typeface="Cambria Math"/>
              </a:rPr>
              <a:t>𝒊+𝟏</a:t>
            </a:r>
            <a:r>
              <a:rPr sz="2800">
                <a:latin typeface="PMingLiU"/>
                <a:cs typeface="PMingLiU"/>
              </a:rPr>
              <a:t>：以</a:t>
            </a:r>
            <a:r>
              <a:rPr sz="2800">
                <a:latin typeface="Cambria Math"/>
                <a:cs typeface="Cambria Math"/>
              </a:rPr>
              <a:t>𝑿[𝒊 + </a:t>
            </a:r>
            <a:r>
              <a:rPr sz="2800" spc="-10">
                <a:latin typeface="Cambria Math"/>
                <a:cs typeface="Cambria Math"/>
              </a:rPr>
              <a:t>𝟏]</a:t>
            </a:r>
            <a:r>
              <a:rPr sz="2800" spc="15">
                <a:latin typeface="PMingLiU"/>
                <a:cs typeface="PMingLiU"/>
              </a:rPr>
              <a:t>开头的任一子数组和 (</a:t>
            </a:r>
            <a:r>
              <a:rPr sz="2800" spc="-10">
                <a:latin typeface="Cambria Math"/>
                <a:cs typeface="Cambria Math"/>
              </a:rPr>
              <a:t>𝑺</a:t>
            </a:r>
            <a:r>
              <a:rPr sz="3075" spc="-15" baseline="-14905">
                <a:latin typeface="Cambria Math"/>
                <a:cs typeface="Cambria Math"/>
              </a:rPr>
              <a:t>𝒊+𝟏</a:t>
            </a:r>
            <a:endParaRPr sz="3075" baseline="-14905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19033" y="3384041"/>
            <a:ext cx="12966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800">
                <a:latin typeface="Cambria Math"/>
                <a:cs typeface="Cambria Math"/>
              </a:rPr>
              <a:t>≤</a:t>
            </a:r>
            <a:r>
              <a:rPr sz="2800" spc="160">
                <a:latin typeface="Cambria Math"/>
                <a:cs typeface="Cambria Math"/>
              </a:rPr>
              <a:t> </a:t>
            </a:r>
            <a:r>
              <a:rPr sz="2800" spc="-20">
                <a:latin typeface="Cambria Math"/>
                <a:cs typeface="Cambria Math"/>
              </a:rPr>
              <a:t>𝑫</a:t>
            </a:r>
            <a:r>
              <a:rPr sz="3075" spc="-30" baseline="-14905">
                <a:latin typeface="Cambria Math"/>
                <a:cs typeface="Cambria Math"/>
              </a:rPr>
              <a:t>𝒊+𝟏</a:t>
            </a:r>
            <a:r>
              <a:rPr sz="2800" spc="-20">
                <a:latin typeface="PMingLiU"/>
                <a:cs typeface="PMingLiU"/>
              </a:rPr>
              <a:t>)</a:t>
            </a:r>
            <a:endParaRPr sz="2800">
              <a:latin typeface="PMingLiU"/>
              <a:cs typeface="PMingLiU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63141" y="5505449"/>
            <a:ext cx="77470" cy="331470"/>
          </a:xfrm>
          <a:custGeom>
            <a:avLst/>
            <a:gdLst/>
            <a:ahLst/>
            <a:cxnLst/>
            <a:rect l="l" t="t" r="r" b="b"/>
            <a:pathLst>
              <a:path w="77469" h="331470">
                <a:moveTo>
                  <a:pt x="77470" y="0"/>
                </a:moveTo>
                <a:lnTo>
                  <a:pt x="0" y="0"/>
                </a:lnTo>
                <a:lnTo>
                  <a:pt x="0" y="13970"/>
                </a:lnTo>
                <a:lnTo>
                  <a:pt x="48641" y="13970"/>
                </a:lnTo>
                <a:lnTo>
                  <a:pt x="48641" y="318770"/>
                </a:lnTo>
                <a:lnTo>
                  <a:pt x="0" y="318770"/>
                </a:lnTo>
                <a:lnTo>
                  <a:pt x="0" y="331470"/>
                </a:lnTo>
                <a:lnTo>
                  <a:pt x="77470" y="331470"/>
                </a:lnTo>
                <a:lnTo>
                  <a:pt x="77470" y="318770"/>
                </a:lnTo>
                <a:lnTo>
                  <a:pt x="77470" y="13970"/>
                </a:lnTo>
                <a:lnTo>
                  <a:pt x="774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38478" y="5505449"/>
            <a:ext cx="77470" cy="331470"/>
          </a:xfrm>
          <a:custGeom>
            <a:avLst/>
            <a:gdLst/>
            <a:ahLst/>
            <a:cxnLst/>
            <a:rect l="l" t="t" r="r" b="b"/>
            <a:pathLst>
              <a:path w="77469" h="331470">
                <a:moveTo>
                  <a:pt x="77470" y="0"/>
                </a:moveTo>
                <a:lnTo>
                  <a:pt x="0" y="0"/>
                </a:lnTo>
                <a:lnTo>
                  <a:pt x="0" y="13970"/>
                </a:lnTo>
                <a:lnTo>
                  <a:pt x="0" y="318770"/>
                </a:lnTo>
                <a:lnTo>
                  <a:pt x="0" y="331470"/>
                </a:lnTo>
                <a:lnTo>
                  <a:pt x="77470" y="331470"/>
                </a:lnTo>
                <a:lnTo>
                  <a:pt x="77470" y="318770"/>
                </a:lnTo>
                <a:lnTo>
                  <a:pt x="28829" y="318770"/>
                </a:lnTo>
                <a:lnTo>
                  <a:pt x="28829" y="13970"/>
                </a:lnTo>
                <a:lnTo>
                  <a:pt x="77470" y="13970"/>
                </a:lnTo>
                <a:lnTo>
                  <a:pt x="774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54380" y="5404865"/>
            <a:ext cx="229489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7840" indent="-460375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497840" algn="l"/>
                <a:tab pos="498475" algn="l"/>
                <a:tab pos="1204595" algn="l"/>
              </a:tabLst>
            </a:pPr>
            <a:r>
              <a:rPr sz="2800">
                <a:latin typeface="Cambria Math"/>
                <a:cs typeface="Cambria Math"/>
              </a:rPr>
              <a:t>𝑿</a:t>
            </a:r>
            <a:r>
              <a:rPr sz="2800" spc="360">
                <a:latin typeface="Cambria Math"/>
                <a:cs typeface="Cambria Math"/>
              </a:rPr>
              <a:t> </a:t>
            </a:r>
            <a:r>
              <a:rPr sz="2800" spc="-50">
                <a:latin typeface="Cambria Math"/>
                <a:cs typeface="Cambria Math"/>
              </a:rPr>
              <a:t>𝒊</a:t>
            </a:r>
            <a:r>
              <a:rPr sz="2800">
                <a:latin typeface="Cambria Math"/>
                <a:cs typeface="Cambria Math"/>
              </a:rPr>
              <a:t>	+</a:t>
            </a:r>
            <a:r>
              <a:rPr sz="2800" spc="-5">
                <a:latin typeface="Cambria Math"/>
                <a:cs typeface="Cambria Math"/>
              </a:rPr>
              <a:t> </a:t>
            </a:r>
            <a:r>
              <a:rPr sz="2800" spc="-20">
                <a:latin typeface="Cambria Math"/>
                <a:cs typeface="Cambria Math"/>
              </a:rPr>
              <a:t>𝑫</a:t>
            </a:r>
            <a:r>
              <a:rPr sz="3075" spc="-30" baseline="-14905">
                <a:latin typeface="Cambria Math"/>
                <a:cs typeface="Cambria Math"/>
              </a:rPr>
              <a:t>𝒊+𝟏</a:t>
            </a:r>
            <a:endParaRPr sz="3075" baseline="-14905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775710" y="5505449"/>
            <a:ext cx="302260" cy="331470"/>
          </a:xfrm>
          <a:custGeom>
            <a:avLst/>
            <a:gdLst/>
            <a:ahLst/>
            <a:cxnLst/>
            <a:rect l="l" t="t" r="r" b="b"/>
            <a:pathLst>
              <a:path w="302260" h="331470">
                <a:moveTo>
                  <a:pt x="77470" y="0"/>
                </a:moveTo>
                <a:lnTo>
                  <a:pt x="0" y="0"/>
                </a:lnTo>
                <a:lnTo>
                  <a:pt x="0" y="13970"/>
                </a:lnTo>
                <a:lnTo>
                  <a:pt x="0" y="318770"/>
                </a:lnTo>
                <a:lnTo>
                  <a:pt x="0" y="331470"/>
                </a:lnTo>
                <a:lnTo>
                  <a:pt x="77470" y="331470"/>
                </a:lnTo>
                <a:lnTo>
                  <a:pt x="77470" y="318770"/>
                </a:lnTo>
                <a:lnTo>
                  <a:pt x="28829" y="318770"/>
                </a:lnTo>
                <a:lnTo>
                  <a:pt x="28829" y="13970"/>
                </a:lnTo>
                <a:lnTo>
                  <a:pt x="77470" y="13970"/>
                </a:lnTo>
                <a:lnTo>
                  <a:pt x="77470" y="0"/>
                </a:lnTo>
                <a:close/>
              </a:path>
              <a:path w="302260" h="331470">
                <a:moveTo>
                  <a:pt x="302133" y="0"/>
                </a:moveTo>
                <a:lnTo>
                  <a:pt x="224663" y="0"/>
                </a:lnTo>
                <a:lnTo>
                  <a:pt x="224663" y="13970"/>
                </a:lnTo>
                <a:lnTo>
                  <a:pt x="273304" y="13970"/>
                </a:lnTo>
                <a:lnTo>
                  <a:pt x="273304" y="318770"/>
                </a:lnTo>
                <a:lnTo>
                  <a:pt x="224663" y="318770"/>
                </a:lnTo>
                <a:lnTo>
                  <a:pt x="224663" y="331470"/>
                </a:lnTo>
                <a:lnTo>
                  <a:pt x="302133" y="331470"/>
                </a:lnTo>
                <a:lnTo>
                  <a:pt x="302133" y="318770"/>
                </a:lnTo>
                <a:lnTo>
                  <a:pt x="302133" y="13970"/>
                </a:lnTo>
                <a:lnTo>
                  <a:pt x="3021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452113" y="5404865"/>
            <a:ext cx="176974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743585" algn="l"/>
              </a:tabLst>
            </a:pPr>
            <a:r>
              <a:rPr sz="2800">
                <a:latin typeface="Cambria Math"/>
                <a:cs typeface="Cambria Math"/>
              </a:rPr>
              <a:t>𝑿</a:t>
            </a:r>
            <a:r>
              <a:rPr sz="2800" spc="360">
                <a:latin typeface="Cambria Math"/>
                <a:cs typeface="Cambria Math"/>
              </a:rPr>
              <a:t> </a:t>
            </a:r>
            <a:r>
              <a:rPr sz="2800" spc="-50">
                <a:latin typeface="Cambria Math"/>
                <a:cs typeface="Cambria Math"/>
              </a:rPr>
              <a:t>𝒊</a:t>
            </a:r>
            <a:r>
              <a:rPr sz="2800">
                <a:latin typeface="Cambria Math"/>
                <a:cs typeface="Cambria Math"/>
              </a:rPr>
              <a:t>	+ </a:t>
            </a:r>
            <a:r>
              <a:rPr sz="2800" spc="-20">
                <a:latin typeface="Cambria Math"/>
                <a:cs typeface="Cambria Math"/>
              </a:rPr>
              <a:t>𝑺</a:t>
            </a:r>
            <a:r>
              <a:rPr sz="3075" spc="-30" baseline="-14905">
                <a:latin typeface="Cambria Math"/>
                <a:cs typeface="Cambria Math"/>
              </a:rPr>
              <a:t>𝒊+𝟏</a:t>
            </a:r>
            <a:endParaRPr sz="3075" baseline="-14905">
              <a:latin typeface="Cambria Math"/>
              <a:cs typeface="Cambria Math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1386306"/>
              </p:ext>
            </p:extLst>
          </p:nvPr>
        </p:nvGraphicFramePr>
        <p:xfrm>
          <a:off x="2484628" y="2245995"/>
          <a:ext cx="8128634" cy="7778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1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58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61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760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6077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marL="2952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2512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𝑿[𝒊]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AF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9200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𝑿[𝒊</a:t>
                      </a:r>
                      <a:r>
                        <a:rPr sz="20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+</a:t>
                      </a:r>
                      <a:r>
                        <a:rPr sz="2000" spc="-1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9200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9200"/>
                    </a:solidFill>
                  </a:tcPr>
                </a:tc>
                <a:tc>
                  <a:txBody>
                    <a:bodyPr/>
                    <a:lstStyle/>
                    <a:p>
                      <a:pPr marR="5334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185"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2085">
                <a:tc grid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" name="object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4872034"/>
              </p:ext>
            </p:extLst>
          </p:nvPr>
        </p:nvGraphicFramePr>
        <p:xfrm>
          <a:off x="2484628" y="4347971"/>
          <a:ext cx="8129903" cy="7658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1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4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3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14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marL="2952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2512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𝑿[𝒊]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5969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𝑿[𝒊</a:t>
                      </a:r>
                      <a:r>
                        <a:rPr sz="20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+</a:t>
                      </a:r>
                      <a:r>
                        <a:rPr sz="2000" spc="-1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R="5334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 grid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object 13"/>
          <p:cNvSpPr/>
          <p:nvPr/>
        </p:nvSpPr>
        <p:spPr>
          <a:xfrm>
            <a:off x="6007607" y="4788915"/>
            <a:ext cx="3352800" cy="332740"/>
          </a:xfrm>
          <a:custGeom>
            <a:avLst/>
            <a:gdLst/>
            <a:ahLst/>
            <a:cxnLst/>
            <a:rect l="l" t="t" r="r" b="b"/>
            <a:pathLst>
              <a:path w="3352800" h="332739">
                <a:moveTo>
                  <a:pt x="3352800" y="0"/>
                </a:moveTo>
                <a:lnTo>
                  <a:pt x="3350617" y="64639"/>
                </a:lnTo>
                <a:lnTo>
                  <a:pt x="3344672" y="117443"/>
                </a:lnTo>
                <a:lnTo>
                  <a:pt x="3335869" y="153054"/>
                </a:lnTo>
                <a:lnTo>
                  <a:pt x="3325114" y="166116"/>
                </a:lnTo>
                <a:lnTo>
                  <a:pt x="1704086" y="166116"/>
                </a:lnTo>
                <a:lnTo>
                  <a:pt x="1693330" y="179177"/>
                </a:lnTo>
                <a:lnTo>
                  <a:pt x="1684528" y="214788"/>
                </a:lnTo>
                <a:lnTo>
                  <a:pt x="1678582" y="267592"/>
                </a:lnTo>
                <a:lnTo>
                  <a:pt x="1676400" y="332232"/>
                </a:lnTo>
                <a:lnTo>
                  <a:pt x="1674217" y="267592"/>
                </a:lnTo>
                <a:lnTo>
                  <a:pt x="1668272" y="214788"/>
                </a:lnTo>
                <a:lnTo>
                  <a:pt x="1659469" y="179177"/>
                </a:lnTo>
                <a:lnTo>
                  <a:pt x="1648714" y="166116"/>
                </a:lnTo>
                <a:lnTo>
                  <a:pt x="27686" y="166116"/>
                </a:lnTo>
                <a:lnTo>
                  <a:pt x="16930" y="153054"/>
                </a:lnTo>
                <a:lnTo>
                  <a:pt x="8127" y="117443"/>
                </a:lnTo>
                <a:lnTo>
                  <a:pt x="2182" y="64639"/>
                </a:lnTo>
                <a:lnTo>
                  <a:pt x="0" y="0"/>
                </a:lnTo>
              </a:path>
            </a:pathLst>
          </a:custGeom>
          <a:ln w="31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387590" y="5181854"/>
            <a:ext cx="58166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300" spc="-30" baseline="11363">
                <a:latin typeface="Cambria Math"/>
                <a:cs typeface="Cambria Math"/>
              </a:rPr>
              <a:t>𝑺</a:t>
            </a:r>
            <a:r>
              <a:rPr sz="1600" spc="-20">
                <a:latin typeface="Cambria Math"/>
                <a:cs typeface="Cambria Math"/>
              </a:rPr>
              <a:t>𝒊+𝟏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834381" y="4253610"/>
            <a:ext cx="4669155" cy="1253236"/>
          </a:xfrm>
          <a:custGeom>
            <a:avLst/>
            <a:gdLst/>
            <a:ahLst/>
            <a:cxnLst/>
            <a:rect l="l" t="t" r="r" b="b"/>
            <a:pathLst>
              <a:path w="4669155" h="1348104">
                <a:moveTo>
                  <a:pt x="0" y="224662"/>
                </a:moveTo>
                <a:lnTo>
                  <a:pt x="4564" y="179385"/>
                </a:lnTo>
                <a:lnTo>
                  <a:pt x="17654" y="137213"/>
                </a:lnTo>
                <a:lnTo>
                  <a:pt x="38368" y="99051"/>
                </a:lnTo>
                <a:lnTo>
                  <a:pt x="65801" y="65801"/>
                </a:lnTo>
                <a:lnTo>
                  <a:pt x="99051" y="38368"/>
                </a:lnTo>
                <a:lnTo>
                  <a:pt x="137213" y="17654"/>
                </a:lnTo>
                <a:lnTo>
                  <a:pt x="179385" y="4564"/>
                </a:lnTo>
                <a:lnTo>
                  <a:pt x="224662" y="0"/>
                </a:lnTo>
                <a:lnTo>
                  <a:pt x="4444111" y="0"/>
                </a:lnTo>
                <a:lnTo>
                  <a:pt x="4489388" y="4564"/>
                </a:lnTo>
                <a:lnTo>
                  <a:pt x="4531560" y="17654"/>
                </a:lnTo>
                <a:lnTo>
                  <a:pt x="4569722" y="38368"/>
                </a:lnTo>
                <a:lnTo>
                  <a:pt x="4602972" y="65801"/>
                </a:lnTo>
                <a:lnTo>
                  <a:pt x="4630405" y="99051"/>
                </a:lnTo>
                <a:lnTo>
                  <a:pt x="4651119" y="137213"/>
                </a:lnTo>
                <a:lnTo>
                  <a:pt x="4664209" y="179385"/>
                </a:lnTo>
                <a:lnTo>
                  <a:pt x="4668774" y="224662"/>
                </a:lnTo>
                <a:lnTo>
                  <a:pt x="4668774" y="1123314"/>
                </a:lnTo>
                <a:lnTo>
                  <a:pt x="4664209" y="1168592"/>
                </a:lnTo>
                <a:lnTo>
                  <a:pt x="4651119" y="1210764"/>
                </a:lnTo>
                <a:lnTo>
                  <a:pt x="4630405" y="1248926"/>
                </a:lnTo>
                <a:lnTo>
                  <a:pt x="4602972" y="1282176"/>
                </a:lnTo>
                <a:lnTo>
                  <a:pt x="4569722" y="1309609"/>
                </a:lnTo>
                <a:lnTo>
                  <a:pt x="4531560" y="1330323"/>
                </a:lnTo>
                <a:lnTo>
                  <a:pt x="4489388" y="1343413"/>
                </a:lnTo>
                <a:lnTo>
                  <a:pt x="4444111" y="1347977"/>
                </a:lnTo>
                <a:lnTo>
                  <a:pt x="224662" y="1347977"/>
                </a:lnTo>
                <a:lnTo>
                  <a:pt x="179385" y="1343413"/>
                </a:lnTo>
                <a:lnTo>
                  <a:pt x="137213" y="1330323"/>
                </a:lnTo>
                <a:lnTo>
                  <a:pt x="99051" y="1309609"/>
                </a:lnTo>
                <a:lnTo>
                  <a:pt x="65801" y="1282176"/>
                </a:lnTo>
                <a:lnTo>
                  <a:pt x="38368" y="1248926"/>
                </a:lnTo>
                <a:lnTo>
                  <a:pt x="17654" y="1210764"/>
                </a:lnTo>
                <a:lnTo>
                  <a:pt x="4564" y="1168592"/>
                </a:lnTo>
                <a:lnTo>
                  <a:pt x="0" y="1123314"/>
                </a:lnTo>
                <a:lnTo>
                  <a:pt x="0" y="224662"/>
                </a:lnTo>
                <a:close/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354070" y="5408675"/>
            <a:ext cx="1991360" cy="507619"/>
          </a:xfrm>
          <a:custGeom>
            <a:avLst/>
            <a:gdLst/>
            <a:ahLst/>
            <a:cxnLst/>
            <a:rect l="l" t="t" r="r" b="b"/>
            <a:pathLst>
              <a:path w="1991360" h="621029">
                <a:moveTo>
                  <a:pt x="0" y="103504"/>
                </a:moveTo>
                <a:lnTo>
                  <a:pt x="8135" y="63222"/>
                </a:lnTo>
                <a:lnTo>
                  <a:pt x="30321" y="30321"/>
                </a:lnTo>
                <a:lnTo>
                  <a:pt x="63222" y="8135"/>
                </a:lnTo>
                <a:lnTo>
                  <a:pt x="103504" y="0"/>
                </a:lnTo>
                <a:lnTo>
                  <a:pt x="1887601" y="0"/>
                </a:lnTo>
                <a:lnTo>
                  <a:pt x="1927883" y="8135"/>
                </a:lnTo>
                <a:lnTo>
                  <a:pt x="1960784" y="30321"/>
                </a:lnTo>
                <a:lnTo>
                  <a:pt x="1982970" y="63222"/>
                </a:lnTo>
                <a:lnTo>
                  <a:pt x="1991105" y="103504"/>
                </a:lnTo>
                <a:lnTo>
                  <a:pt x="1991105" y="517524"/>
                </a:lnTo>
                <a:lnTo>
                  <a:pt x="1982970" y="557813"/>
                </a:lnTo>
                <a:lnTo>
                  <a:pt x="1960784" y="590713"/>
                </a:lnTo>
                <a:lnTo>
                  <a:pt x="1927883" y="612895"/>
                </a:lnTo>
                <a:lnTo>
                  <a:pt x="1887601" y="621029"/>
                </a:lnTo>
                <a:lnTo>
                  <a:pt x="103504" y="621029"/>
                </a:lnTo>
                <a:lnTo>
                  <a:pt x="63222" y="612895"/>
                </a:lnTo>
                <a:lnTo>
                  <a:pt x="30321" y="590713"/>
                </a:lnTo>
                <a:lnTo>
                  <a:pt x="8135" y="557813"/>
                </a:lnTo>
                <a:lnTo>
                  <a:pt x="0" y="517524"/>
                </a:lnTo>
                <a:lnTo>
                  <a:pt x="0" y="103504"/>
                </a:lnTo>
                <a:close/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7">
            <a:extLst>
              <a:ext uri="{FF2B5EF4-FFF2-40B4-BE49-F238E27FC236}">
                <a16:creationId xmlns:a16="http://schemas.microsoft.com/office/drawing/2014/main" id="{6FAC3713-CCD9-4648-9681-0824C1B275F8}"/>
              </a:ext>
            </a:extLst>
          </p:cNvPr>
          <p:cNvSpPr/>
          <p:nvPr/>
        </p:nvSpPr>
        <p:spPr>
          <a:xfrm>
            <a:off x="5952552" y="2708403"/>
            <a:ext cx="2327848" cy="332740"/>
          </a:xfrm>
          <a:custGeom>
            <a:avLst/>
            <a:gdLst/>
            <a:ahLst/>
            <a:cxnLst/>
            <a:rect l="l" t="t" r="r" b="b"/>
            <a:pathLst>
              <a:path w="3352800" h="332739">
                <a:moveTo>
                  <a:pt x="3352800" y="0"/>
                </a:moveTo>
                <a:lnTo>
                  <a:pt x="3350617" y="64639"/>
                </a:lnTo>
                <a:lnTo>
                  <a:pt x="3344672" y="117443"/>
                </a:lnTo>
                <a:lnTo>
                  <a:pt x="3335869" y="153054"/>
                </a:lnTo>
                <a:lnTo>
                  <a:pt x="3325114" y="166116"/>
                </a:lnTo>
                <a:lnTo>
                  <a:pt x="1704086" y="166116"/>
                </a:lnTo>
                <a:lnTo>
                  <a:pt x="1693330" y="179177"/>
                </a:lnTo>
                <a:lnTo>
                  <a:pt x="1684528" y="214788"/>
                </a:lnTo>
                <a:lnTo>
                  <a:pt x="1678582" y="267592"/>
                </a:lnTo>
                <a:lnTo>
                  <a:pt x="1676400" y="332232"/>
                </a:lnTo>
                <a:lnTo>
                  <a:pt x="1674217" y="267592"/>
                </a:lnTo>
                <a:lnTo>
                  <a:pt x="1668272" y="214788"/>
                </a:lnTo>
                <a:lnTo>
                  <a:pt x="1659469" y="179177"/>
                </a:lnTo>
                <a:lnTo>
                  <a:pt x="1648714" y="166116"/>
                </a:lnTo>
                <a:lnTo>
                  <a:pt x="27686" y="166116"/>
                </a:lnTo>
                <a:lnTo>
                  <a:pt x="16930" y="153054"/>
                </a:lnTo>
                <a:lnTo>
                  <a:pt x="8127" y="117443"/>
                </a:lnTo>
                <a:lnTo>
                  <a:pt x="2182" y="64639"/>
                </a:lnTo>
                <a:lnTo>
                  <a:pt x="0" y="0"/>
                </a:lnTo>
              </a:path>
            </a:pathLst>
          </a:custGeom>
          <a:ln w="31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4">
            <a:extLst>
              <a:ext uri="{FF2B5EF4-FFF2-40B4-BE49-F238E27FC236}">
                <a16:creationId xmlns:a16="http://schemas.microsoft.com/office/drawing/2014/main" id="{7683BB28-AEF6-7B4F-BB41-876CAD80B2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8756" y="89948"/>
            <a:ext cx="4677411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>
                <a:latin typeface="SimSun" panose="02010600030101010101" pitchFamily="2" charset="-122"/>
                <a:ea typeface="SimSun" panose="02010600030101010101" pitchFamily="2" charset="-122"/>
              </a:rPr>
              <a:t>规律证明：情况</a:t>
            </a:r>
            <a:r>
              <a:rPr b="1" spc="-50" dirty="0">
                <a:latin typeface="SimSun" panose="02010600030101010101" pitchFamily="2" charset="-122"/>
                <a:ea typeface="SimSun" panose="02010600030101010101" pitchFamily="2" charset="-122"/>
                <a:cs typeface="Times New Roman"/>
              </a:rPr>
              <a:t>1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1360" y="1169162"/>
            <a:ext cx="81165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93065" algn="l"/>
                <a:tab pos="393700" algn="l"/>
              </a:tabLst>
            </a:pPr>
            <a:r>
              <a:rPr sz="2800">
                <a:latin typeface="Cambria Math"/>
                <a:cs typeface="Cambria Math"/>
              </a:rPr>
              <a:t>𝑫</a:t>
            </a:r>
            <a:r>
              <a:rPr sz="3075" baseline="-14905">
                <a:latin typeface="Cambria Math"/>
                <a:cs typeface="Cambria Math"/>
              </a:rPr>
              <a:t>𝒊+𝟏</a:t>
            </a:r>
            <a:r>
              <a:rPr sz="2800">
                <a:latin typeface="PMingLiU"/>
                <a:cs typeface="PMingLiU"/>
              </a:rPr>
              <a:t>：以</a:t>
            </a:r>
            <a:r>
              <a:rPr sz="2800">
                <a:latin typeface="Cambria Math"/>
                <a:cs typeface="Cambria Math"/>
              </a:rPr>
              <a:t>𝑿[𝒊</a:t>
            </a:r>
            <a:r>
              <a:rPr sz="2800" spc="10">
                <a:latin typeface="Cambria Math"/>
                <a:cs typeface="Cambria Math"/>
              </a:rPr>
              <a:t> + </a:t>
            </a:r>
            <a:r>
              <a:rPr sz="2800" spc="-10">
                <a:latin typeface="Cambria Math"/>
                <a:cs typeface="Cambria Math"/>
              </a:rPr>
              <a:t>𝟏]</a:t>
            </a:r>
            <a:r>
              <a:rPr sz="2800" spc="15">
                <a:latin typeface="PMingLiU"/>
                <a:cs typeface="PMingLiU"/>
              </a:rPr>
              <a:t>开头的最大子数组和 (</a:t>
            </a:r>
            <a:r>
              <a:rPr sz="2800">
                <a:latin typeface="Cambria Math"/>
                <a:cs typeface="Cambria Math"/>
              </a:rPr>
              <a:t>𝑫</a:t>
            </a:r>
            <a:r>
              <a:rPr sz="3075" baseline="-14905">
                <a:latin typeface="Cambria Math"/>
                <a:cs typeface="Cambria Math"/>
              </a:rPr>
              <a:t>𝒊+𝟏</a:t>
            </a:r>
            <a:r>
              <a:rPr sz="3075" spc="719" baseline="-14905">
                <a:latin typeface="Cambria Math"/>
                <a:cs typeface="Cambria Math"/>
              </a:rPr>
              <a:t> </a:t>
            </a:r>
            <a:r>
              <a:rPr sz="2800" spc="95">
                <a:latin typeface="Cambria Math"/>
                <a:cs typeface="Cambria Math"/>
              </a:rPr>
              <a:t>&gt; </a:t>
            </a:r>
            <a:r>
              <a:rPr sz="2800" spc="50">
                <a:latin typeface="Cambria Math"/>
                <a:cs typeface="Cambria Math"/>
              </a:rPr>
              <a:t>𝟎</a:t>
            </a:r>
            <a:r>
              <a:rPr sz="2800" spc="50">
                <a:latin typeface="PMingLiU"/>
                <a:cs typeface="PMingLiU"/>
              </a:rPr>
              <a:t>)</a:t>
            </a:r>
            <a:endParaRPr sz="2800">
              <a:latin typeface="PMingLiU"/>
              <a:cs typeface="PMingLiU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34060" y="3052063"/>
            <a:ext cx="7150100" cy="744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404495" algn="r">
              <a:lnSpc>
                <a:spcPts val="2465"/>
              </a:lnSpc>
              <a:spcBef>
                <a:spcPts val="100"/>
              </a:spcBef>
            </a:pPr>
            <a:r>
              <a:rPr sz="3300" spc="-30" baseline="11363">
                <a:latin typeface="Cambria Math"/>
                <a:cs typeface="Cambria Math"/>
              </a:rPr>
              <a:t>𝑫</a:t>
            </a:r>
            <a:r>
              <a:rPr sz="1600" spc="-20">
                <a:latin typeface="Cambria Math"/>
                <a:cs typeface="Cambria Math"/>
              </a:rPr>
              <a:t>𝒊+𝟏</a:t>
            </a:r>
            <a:endParaRPr sz="1600">
              <a:latin typeface="Cambria Math"/>
              <a:cs typeface="Cambria Math"/>
            </a:endParaRPr>
          </a:p>
          <a:p>
            <a:pPr marL="381000" indent="-342900">
              <a:lnSpc>
                <a:spcPts val="3185"/>
              </a:lnSpc>
              <a:buClr>
                <a:srgbClr val="8092F0"/>
              </a:buClr>
              <a:buSzPct val="69642"/>
              <a:buFont typeface="Wingdings"/>
              <a:buChar char=""/>
              <a:tabLst>
                <a:tab pos="380365" algn="l"/>
                <a:tab pos="381000" algn="l"/>
              </a:tabLst>
            </a:pPr>
            <a:r>
              <a:rPr sz="2800">
                <a:latin typeface="Cambria Math"/>
                <a:cs typeface="Cambria Math"/>
              </a:rPr>
              <a:t>𝑺</a:t>
            </a:r>
            <a:r>
              <a:rPr sz="3075" baseline="-14905">
                <a:latin typeface="Cambria Math"/>
                <a:cs typeface="Cambria Math"/>
              </a:rPr>
              <a:t>𝒊+𝟏</a:t>
            </a:r>
            <a:r>
              <a:rPr sz="2800">
                <a:latin typeface="PMingLiU"/>
                <a:cs typeface="PMingLiU"/>
              </a:rPr>
              <a:t>：以</a:t>
            </a:r>
            <a:r>
              <a:rPr sz="2800">
                <a:latin typeface="Cambria Math"/>
                <a:cs typeface="Cambria Math"/>
              </a:rPr>
              <a:t>𝑿[𝒊 + </a:t>
            </a:r>
            <a:r>
              <a:rPr sz="2800" spc="-10">
                <a:latin typeface="Cambria Math"/>
                <a:cs typeface="Cambria Math"/>
              </a:rPr>
              <a:t>𝟏]</a:t>
            </a:r>
            <a:r>
              <a:rPr sz="2800" spc="15">
                <a:latin typeface="PMingLiU"/>
                <a:cs typeface="PMingLiU"/>
              </a:rPr>
              <a:t>开头的任一子数组和 (</a:t>
            </a:r>
            <a:r>
              <a:rPr sz="2800" spc="-10">
                <a:latin typeface="Cambria Math"/>
                <a:cs typeface="Cambria Math"/>
              </a:rPr>
              <a:t>𝑺</a:t>
            </a:r>
            <a:r>
              <a:rPr sz="3075" spc="-15" baseline="-14905">
                <a:latin typeface="Cambria Math"/>
                <a:cs typeface="Cambria Math"/>
              </a:rPr>
              <a:t>𝒊+𝟏</a:t>
            </a:r>
            <a:endParaRPr sz="3075" baseline="-14905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998713" y="3343401"/>
            <a:ext cx="12966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800">
                <a:latin typeface="Cambria Math"/>
                <a:cs typeface="Cambria Math"/>
              </a:rPr>
              <a:t>≤</a:t>
            </a:r>
            <a:r>
              <a:rPr sz="2800" spc="160">
                <a:latin typeface="Cambria Math"/>
                <a:cs typeface="Cambria Math"/>
              </a:rPr>
              <a:t> </a:t>
            </a:r>
            <a:r>
              <a:rPr sz="2800" spc="-20">
                <a:latin typeface="Cambria Math"/>
                <a:cs typeface="Cambria Math"/>
              </a:rPr>
              <a:t>𝑫</a:t>
            </a:r>
            <a:r>
              <a:rPr sz="3075" spc="-30" baseline="-14905">
                <a:latin typeface="Cambria Math"/>
                <a:cs typeface="Cambria Math"/>
              </a:rPr>
              <a:t>𝒊+𝟏</a:t>
            </a:r>
            <a:r>
              <a:rPr sz="2800" spc="-20">
                <a:latin typeface="PMingLiU"/>
                <a:cs typeface="PMingLiU"/>
              </a:rPr>
              <a:t>)</a:t>
            </a:r>
            <a:endParaRPr sz="2800">
              <a:latin typeface="PMingLiU"/>
              <a:cs typeface="PMingLiU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42821" y="5464809"/>
            <a:ext cx="77470" cy="331470"/>
          </a:xfrm>
          <a:custGeom>
            <a:avLst/>
            <a:gdLst/>
            <a:ahLst/>
            <a:cxnLst/>
            <a:rect l="l" t="t" r="r" b="b"/>
            <a:pathLst>
              <a:path w="77469" h="331470">
                <a:moveTo>
                  <a:pt x="77470" y="0"/>
                </a:moveTo>
                <a:lnTo>
                  <a:pt x="0" y="0"/>
                </a:lnTo>
                <a:lnTo>
                  <a:pt x="0" y="13970"/>
                </a:lnTo>
                <a:lnTo>
                  <a:pt x="48641" y="13970"/>
                </a:lnTo>
                <a:lnTo>
                  <a:pt x="48641" y="318770"/>
                </a:lnTo>
                <a:lnTo>
                  <a:pt x="0" y="318770"/>
                </a:lnTo>
                <a:lnTo>
                  <a:pt x="0" y="331470"/>
                </a:lnTo>
                <a:lnTo>
                  <a:pt x="77470" y="331470"/>
                </a:lnTo>
                <a:lnTo>
                  <a:pt x="77470" y="318770"/>
                </a:lnTo>
                <a:lnTo>
                  <a:pt x="77470" y="13970"/>
                </a:lnTo>
                <a:lnTo>
                  <a:pt x="774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18158" y="5464809"/>
            <a:ext cx="77470" cy="331470"/>
          </a:xfrm>
          <a:custGeom>
            <a:avLst/>
            <a:gdLst/>
            <a:ahLst/>
            <a:cxnLst/>
            <a:rect l="l" t="t" r="r" b="b"/>
            <a:pathLst>
              <a:path w="77469" h="331470">
                <a:moveTo>
                  <a:pt x="77470" y="0"/>
                </a:moveTo>
                <a:lnTo>
                  <a:pt x="0" y="0"/>
                </a:lnTo>
                <a:lnTo>
                  <a:pt x="0" y="13970"/>
                </a:lnTo>
                <a:lnTo>
                  <a:pt x="0" y="318770"/>
                </a:lnTo>
                <a:lnTo>
                  <a:pt x="0" y="331470"/>
                </a:lnTo>
                <a:lnTo>
                  <a:pt x="77470" y="331470"/>
                </a:lnTo>
                <a:lnTo>
                  <a:pt x="77470" y="318770"/>
                </a:lnTo>
                <a:lnTo>
                  <a:pt x="28829" y="318770"/>
                </a:lnTo>
                <a:lnTo>
                  <a:pt x="28829" y="13970"/>
                </a:lnTo>
                <a:lnTo>
                  <a:pt x="77470" y="13970"/>
                </a:lnTo>
                <a:lnTo>
                  <a:pt x="774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980053" y="5464809"/>
            <a:ext cx="77470" cy="331470"/>
          </a:xfrm>
          <a:custGeom>
            <a:avLst/>
            <a:gdLst/>
            <a:ahLst/>
            <a:cxnLst/>
            <a:rect l="l" t="t" r="r" b="b"/>
            <a:pathLst>
              <a:path w="77470" h="331470">
                <a:moveTo>
                  <a:pt x="77470" y="0"/>
                </a:moveTo>
                <a:lnTo>
                  <a:pt x="0" y="0"/>
                </a:lnTo>
                <a:lnTo>
                  <a:pt x="0" y="13970"/>
                </a:lnTo>
                <a:lnTo>
                  <a:pt x="48641" y="13970"/>
                </a:lnTo>
                <a:lnTo>
                  <a:pt x="48641" y="318770"/>
                </a:lnTo>
                <a:lnTo>
                  <a:pt x="0" y="318770"/>
                </a:lnTo>
                <a:lnTo>
                  <a:pt x="0" y="331470"/>
                </a:lnTo>
                <a:lnTo>
                  <a:pt x="77470" y="331470"/>
                </a:lnTo>
                <a:lnTo>
                  <a:pt x="77470" y="318770"/>
                </a:lnTo>
                <a:lnTo>
                  <a:pt x="77470" y="13970"/>
                </a:lnTo>
                <a:lnTo>
                  <a:pt x="774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755390" y="5464809"/>
            <a:ext cx="77470" cy="331470"/>
          </a:xfrm>
          <a:custGeom>
            <a:avLst/>
            <a:gdLst/>
            <a:ahLst/>
            <a:cxnLst/>
            <a:rect l="l" t="t" r="r" b="b"/>
            <a:pathLst>
              <a:path w="77470" h="331470">
                <a:moveTo>
                  <a:pt x="77470" y="0"/>
                </a:moveTo>
                <a:lnTo>
                  <a:pt x="0" y="0"/>
                </a:lnTo>
                <a:lnTo>
                  <a:pt x="0" y="13970"/>
                </a:lnTo>
                <a:lnTo>
                  <a:pt x="0" y="318770"/>
                </a:lnTo>
                <a:lnTo>
                  <a:pt x="0" y="331470"/>
                </a:lnTo>
                <a:lnTo>
                  <a:pt x="77470" y="331470"/>
                </a:lnTo>
                <a:lnTo>
                  <a:pt x="77470" y="318770"/>
                </a:lnTo>
                <a:lnTo>
                  <a:pt x="28829" y="318770"/>
                </a:lnTo>
                <a:lnTo>
                  <a:pt x="28829" y="13970"/>
                </a:lnTo>
                <a:lnTo>
                  <a:pt x="77470" y="13970"/>
                </a:lnTo>
                <a:lnTo>
                  <a:pt x="774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34060" y="5364225"/>
            <a:ext cx="446722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7840" indent="-460375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497840" algn="l"/>
                <a:tab pos="498475" algn="l"/>
                <a:tab pos="1204595" algn="l"/>
                <a:tab pos="3441065" algn="l"/>
              </a:tabLst>
            </a:pPr>
            <a:r>
              <a:rPr sz="2800">
                <a:latin typeface="Cambria Math"/>
                <a:cs typeface="Cambria Math"/>
              </a:rPr>
              <a:t>𝑿</a:t>
            </a:r>
            <a:r>
              <a:rPr sz="2800" spc="360">
                <a:latin typeface="Cambria Math"/>
                <a:cs typeface="Cambria Math"/>
              </a:rPr>
              <a:t> </a:t>
            </a:r>
            <a:r>
              <a:rPr sz="2800" spc="-50">
                <a:latin typeface="Cambria Math"/>
                <a:cs typeface="Cambria Math"/>
              </a:rPr>
              <a:t>𝒊</a:t>
            </a:r>
            <a:r>
              <a:rPr sz="2800">
                <a:latin typeface="Cambria Math"/>
                <a:cs typeface="Cambria Math"/>
              </a:rPr>
              <a:t>	+</a:t>
            </a:r>
            <a:r>
              <a:rPr sz="2800" spc="-20">
                <a:latin typeface="Cambria Math"/>
                <a:cs typeface="Cambria Math"/>
              </a:rPr>
              <a:t> </a:t>
            </a:r>
            <a:r>
              <a:rPr sz="2800">
                <a:latin typeface="Cambria Math"/>
                <a:cs typeface="Cambria Math"/>
              </a:rPr>
              <a:t>𝑫</a:t>
            </a:r>
            <a:r>
              <a:rPr sz="3075" baseline="-14905">
                <a:latin typeface="Cambria Math"/>
                <a:cs typeface="Cambria Math"/>
              </a:rPr>
              <a:t>𝒊+𝟏</a:t>
            </a:r>
            <a:r>
              <a:rPr sz="3075" spc="630" baseline="-14905">
                <a:latin typeface="Cambria Math"/>
                <a:cs typeface="Cambria Math"/>
              </a:rPr>
              <a:t> </a:t>
            </a:r>
            <a:r>
              <a:rPr sz="2800">
                <a:latin typeface="Cambria Math"/>
                <a:cs typeface="Cambria Math"/>
              </a:rPr>
              <a:t>≥</a:t>
            </a:r>
            <a:r>
              <a:rPr sz="2800" spc="140">
                <a:latin typeface="Cambria Math"/>
                <a:cs typeface="Cambria Math"/>
              </a:rPr>
              <a:t> </a:t>
            </a:r>
            <a:r>
              <a:rPr sz="2800">
                <a:latin typeface="Cambria Math"/>
                <a:cs typeface="Cambria Math"/>
              </a:rPr>
              <a:t>𝑿</a:t>
            </a:r>
            <a:r>
              <a:rPr sz="2800" spc="335">
                <a:latin typeface="Cambria Math"/>
                <a:cs typeface="Cambria Math"/>
              </a:rPr>
              <a:t> </a:t>
            </a:r>
            <a:r>
              <a:rPr sz="2800" spc="-50">
                <a:latin typeface="Cambria Math"/>
                <a:cs typeface="Cambria Math"/>
              </a:rPr>
              <a:t>𝒊</a:t>
            </a:r>
            <a:r>
              <a:rPr sz="2800">
                <a:latin typeface="Cambria Math"/>
                <a:cs typeface="Cambria Math"/>
              </a:rPr>
              <a:t>	+ </a:t>
            </a:r>
            <a:r>
              <a:rPr sz="2800" spc="-20">
                <a:latin typeface="Cambria Math"/>
                <a:cs typeface="Cambria Math"/>
              </a:rPr>
              <a:t>𝑺</a:t>
            </a:r>
            <a:r>
              <a:rPr sz="3075" spc="-30" baseline="-14905">
                <a:latin typeface="Cambria Math"/>
                <a:cs typeface="Cambria Math"/>
              </a:rPr>
              <a:t>𝒊+𝟏</a:t>
            </a:r>
            <a:endParaRPr sz="3075" baseline="-14905">
              <a:latin typeface="Cambria Math"/>
              <a:cs typeface="Cambria Math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4177866"/>
              </p:ext>
            </p:extLst>
          </p:nvPr>
        </p:nvGraphicFramePr>
        <p:xfrm>
          <a:off x="2464308" y="2205355"/>
          <a:ext cx="8128634" cy="7778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1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58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61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760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6077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marL="2952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2512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𝑿[𝒊]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AF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9200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𝑿[𝒊</a:t>
                      </a:r>
                      <a:r>
                        <a:rPr sz="20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+</a:t>
                      </a:r>
                      <a:r>
                        <a:rPr sz="2000" spc="-1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9200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9200"/>
                    </a:solidFill>
                  </a:tcPr>
                </a:tc>
                <a:tc>
                  <a:txBody>
                    <a:bodyPr/>
                    <a:lstStyle/>
                    <a:p>
                      <a:pPr marR="5334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185"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2085">
                <a:tc grid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" name="object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4694452"/>
              </p:ext>
            </p:extLst>
          </p:nvPr>
        </p:nvGraphicFramePr>
        <p:xfrm>
          <a:off x="2464308" y="4307331"/>
          <a:ext cx="8129903" cy="7658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1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4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3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14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marL="2952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2512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𝑿[𝒊]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5969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𝑿[𝒊</a:t>
                      </a:r>
                      <a:r>
                        <a:rPr sz="20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+</a:t>
                      </a:r>
                      <a:r>
                        <a:rPr sz="2000" spc="-1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R="5334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 grid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object 13"/>
          <p:cNvSpPr/>
          <p:nvPr/>
        </p:nvSpPr>
        <p:spPr>
          <a:xfrm>
            <a:off x="5987287" y="4748275"/>
            <a:ext cx="3352800" cy="332740"/>
          </a:xfrm>
          <a:custGeom>
            <a:avLst/>
            <a:gdLst/>
            <a:ahLst/>
            <a:cxnLst/>
            <a:rect l="l" t="t" r="r" b="b"/>
            <a:pathLst>
              <a:path w="3352800" h="332739">
                <a:moveTo>
                  <a:pt x="3352800" y="0"/>
                </a:moveTo>
                <a:lnTo>
                  <a:pt x="3350617" y="64639"/>
                </a:lnTo>
                <a:lnTo>
                  <a:pt x="3344672" y="117443"/>
                </a:lnTo>
                <a:lnTo>
                  <a:pt x="3335869" y="153054"/>
                </a:lnTo>
                <a:lnTo>
                  <a:pt x="3325114" y="166116"/>
                </a:lnTo>
                <a:lnTo>
                  <a:pt x="1704086" y="166116"/>
                </a:lnTo>
                <a:lnTo>
                  <a:pt x="1693330" y="179177"/>
                </a:lnTo>
                <a:lnTo>
                  <a:pt x="1684528" y="214788"/>
                </a:lnTo>
                <a:lnTo>
                  <a:pt x="1678582" y="267592"/>
                </a:lnTo>
                <a:lnTo>
                  <a:pt x="1676400" y="332232"/>
                </a:lnTo>
                <a:lnTo>
                  <a:pt x="1674217" y="267592"/>
                </a:lnTo>
                <a:lnTo>
                  <a:pt x="1668272" y="214788"/>
                </a:lnTo>
                <a:lnTo>
                  <a:pt x="1659469" y="179177"/>
                </a:lnTo>
                <a:lnTo>
                  <a:pt x="1648714" y="166116"/>
                </a:lnTo>
                <a:lnTo>
                  <a:pt x="27686" y="166116"/>
                </a:lnTo>
                <a:lnTo>
                  <a:pt x="16930" y="153054"/>
                </a:lnTo>
                <a:lnTo>
                  <a:pt x="8127" y="117443"/>
                </a:lnTo>
                <a:lnTo>
                  <a:pt x="2182" y="64639"/>
                </a:lnTo>
                <a:lnTo>
                  <a:pt x="0" y="0"/>
                </a:lnTo>
              </a:path>
            </a:pathLst>
          </a:custGeom>
          <a:ln w="31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367270" y="5141214"/>
            <a:ext cx="58166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300" spc="-30" baseline="11363">
                <a:latin typeface="Cambria Math"/>
                <a:cs typeface="Cambria Math"/>
              </a:rPr>
              <a:t>𝑺</a:t>
            </a:r>
            <a:r>
              <a:rPr sz="1600" spc="-20">
                <a:latin typeface="Cambria Math"/>
                <a:cs typeface="Cambria Math"/>
              </a:rPr>
              <a:t>𝒊+𝟏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7" name="object 7">
            <a:extLst>
              <a:ext uri="{FF2B5EF4-FFF2-40B4-BE49-F238E27FC236}">
                <a16:creationId xmlns:a16="http://schemas.microsoft.com/office/drawing/2014/main" id="{382668DF-3BF9-BF4B-B1EF-39C29B690606}"/>
              </a:ext>
            </a:extLst>
          </p:cNvPr>
          <p:cNvSpPr/>
          <p:nvPr/>
        </p:nvSpPr>
        <p:spPr>
          <a:xfrm>
            <a:off x="5932232" y="2677923"/>
            <a:ext cx="2327848" cy="332740"/>
          </a:xfrm>
          <a:custGeom>
            <a:avLst/>
            <a:gdLst/>
            <a:ahLst/>
            <a:cxnLst/>
            <a:rect l="l" t="t" r="r" b="b"/>
            <a:pathLst>
              <a:path w="3352800" h="332739">
                <a:moveTo>
                  <a:pt x="3352800" y="0"/>
                </a:moveTo>
                <a:lnTo>
                  <a:pt x="3350617" y="64639"/>
                </a:lnTo>
                <a:lnTo>
                  <a:pt x="3344672" y="117443"/>
                </a:lnTo>
                <a:lnTo>
                  <a:pt x="3335869" y="153054"/>
                </a:lnTo>
                <a:lnTo>
                  <a:pt x="3325114" y="166116"/>
                </a:lnTo>
                <a:lnTo>
                  <a:pt x="1704086" y="166116"/>
                </a:lnTo>
                <a:lnTo>
                  <a:pt x="1693330" y="179177"/>
                </a:lnTo>
                <a:lnTo>
                  <a:pt x="1684528" y="214788"/>
                </a:lnTo>
                <a:lnTo>
                  <a:pt x="1678582" y="267592"/>
                </a:lnTo>
                <a:lnTo>
                  <a:pt x="1676400" y="332232"/>
                </a:lnTo>
                <a:lnTo>
                  <a:pt x="1674217" y="267592"/>
                </a:lnTo>
                <a:lnTo>
                  <a:pt x="1668272" y="214788"/>
                </a:lnTo>
                <a:lnTo>
                  <a:pt x="1659469" y="179177"/>
                </a:lnTo>
                <a:lnTo>
                  <a:pt x="1648714" y="166116"/>
                </a:lnTo>
                <a:lnTo>
                  <a:pt x="27686" y="166116"/>
                </a:lnTo>
                <a:lnTo>
                  <a:pt x="16930" y="153054"/>
                </a:lnTo>
                <a:lnTo>
                  <a:pt x="8127" y="117443"/>
                </a:lnTo>
                <a:lnTo>
                  <a:pt x="2182" y="64639"/>
                </a:lnTo>
                <a:lnTo>
                  <a:pt x="0" y="0"/>
                </a:lnTo>
              </a:path>
            </a:pathLst>
          </a:custGeom>
          <a:ln w="31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4">
            <a:extLst>
              <a:ext uri="{FF2B5EF4-FFF2-40B4-BE49-F238E27FC236}">
                <a16:creationId xmlns:a16="http://schemas.microsoft.com/office/drawing/2014/main" id="{4CAAC75C-17CE-F94D-A313-19FEEEA3A4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8756" y="89948"/>
            <a:ext cx="4677411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>
                <a:latin typeface="SimSun" panose="02010600030101010101" pitchFamily="2" charset="-122"/>
                <a:ea typeface="SimSun" panose="02010600030101010101" pitchFamily="2" charset="-122"/>
              </a:rPr>
              <a:t>规律证明：情况</a:t>
            </a:r>
            <a:r>
              <a:rPr b="1" spc="-50" dirty="0">
                <a:latin typeface="SimSun" panose="02010600030101010101" pitchFamily="2" charset="-122"/>
                <a:ea typeface="SimSun" panose="02010600030101010101" pitchFamily="2" charset="-122"/>
                <a:cs typeface="Times New Roman"/>
              </a:rPr>
              <a:t>1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0240" y="945642"/>
            <a:ext cx="81165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93065" algn="l"/>
                <a:tab pos="393700" algn="l"/>
              </a:tabLst>
            </a:pPr>
            <a:r>
              <a:rPr sz="2800">
                <a:latin typeface="Cambria Math"/>
                <a:cs typeface="Cambria Math"/>
              </a:rPr>
              <a:t>𝑫</a:t>
            </a:r>
            <a:r>
              <a:rPr sz="3075" baseline="-14905">
                <a:latin typeface="Cambria Math"/>
                <a:cs typeface="Cambria Math"/>
              </a:rPr>
              <a:t>𝒊+𝟏</a:t>
            </a:r>
            <a:r>
              <a:rPr sz="2800">
                <a:latin typeface="PMingLiU"/>
                <a:cs typeface="PMingLiU"/>
              </a:rPr>
              <a:t>：以</a:t>
            </a:r>
            <a:r>
              <a:rPr sz="2800">
                <a:latin typeface="Cambria Math"/>
                <a:cs typeface="Cambria Math"/>
              </a:rPr>
              <a:t>𝑿[𝒊</a:t>
            </a:r>
            <a:r>
              <a:rPr sz="2800" spc="10">
                <a:latin typeface="Cambria Math"/>
                <a:cs typeface="Cambria Math"/>
              </a:rPr>
              <a:t> + </a:t>
            </a:r>
            <a:r>
              <a:rPr sz="2800" spc="-10">
                <a:latin typeface="Cambria Math"/>
                <a:cs typeface="Cambria Math"/>
              </a:rPr>
              <a:t>𝟏]</a:t>
            </a:r>
            <a:r>
              <a:rPr sz="2800" spc="15">
                <a:latin typeface="PMingLiU"/>
                <a:cs typeface="PMingLiU"/>
              </a:rPr>
              <a:t>开头的最大子数组和 (</a:t>
            </a:r>
            <a:r>
              <a:rPr sz="2800">
                <a:latin typeface="Cambria Math"/>
                <a:cs typeface="Cambria Math"/>
              </a:rPr>
              <a:t>𝑫</a:t>
            </a:r>
            <a:r>
              <a:rPr sz="3075" baseline="-14905">
                <a:latin typeface="Cambria Math"/>
                <a:cs typeface="Cambria Math"/>
              </a:rPr>
              <a:t>𝒊+𝟏</a:t>
            </a:r>
            <a:r>
              <a:rPr sz="3075" spc="719" baseline="-14905">
                <a:latin typeface="Cambria Math"/>
                <a:cs typeface="Cambria Math"/>
              </a:rPr>
              <a:t> </a:t>
            </a:r>
            <a:r>
              <a:rPr sz="2800" spc="95">
                <a:latin typeface="Cambria Math"/>
                <a:cs typeface="Cambria Math"/>
              </a:rPr>
              <a:t>&gt; </a:t>
            </a:r>
            <a:r>
              <a:rPr sz="2800" spc="50">
                <a:latin typeface="Cambria Math"/>
                <a:cs typeface="Cambria Math"/>
              </a:rPr>
              <a:t>𝟎</a:t>
            </a:r>
            <a:r>
              <a:rPr sz="2800" spc="50">
                <a:latin typeface="PMingLiU"/>
                <a:cs typeface="PMingLiU"/>
              </a:rPr>
              <a:t>)</a:t>
            </a:r>
            <a:endParaRPr sz="2800">
              <a:latin typeface="PMingLiU"/>
              <a:cs typeface="PMingLiU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940" y="2828543"/>
            <a:ext cx="7150100" cy="744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404495" algn="r">
              <a:lnSpc>
                <a:spcPts val="2465"/>
              </a:lnSpc>
              <a:spcBef>
                <a:spcPts val="100"/>
              </a:spcBef>
            </a:pPr>
            <a:r>
              <a:rPr sz="3300" spc="-30" baseline="11363">
                <a:latin typeface="Cambria Math"/>
                <a:cs typeface="Cambria Math"/>
              </a:rPr>
              <a:t>𝑫</a:t>
            </a:r>
            <a:r>
              <a:rPr sz="1600" spc="-20">
                <a:latin typeface="Cambria Math"/>
                <a:cs typeface="Cambria Math"/>
              </a:rPr>
              <a:t>𝒊+𝟏</a:t>
            </a:r>
            <a:endParaRPr sz="1600">
              <a:latin typeface="Cambria Math"/>
              <a:cs typeface="Cambria Math"/>
            </a:endParaRPr>
          </a:p>
          <a:p>
            <a:pPr marL="381000" indent="-342900">
              <a:lnSpc>
                <a:spcPts val="3185"/>
              </a:lnSpc>
              <a:buClr>
                <a:srgbClr val="8092F0"/>
              </a:buClr>
              <a:buSzPct val="69642"/>
              <a:buFont typeface="Wingdings"/>
              <a:buChar char=""/>
              <a:tabLst>
                <a:tab pos="380365" algn="l"/>
                <a:tab pos="381000" algn="l"/>
              </a:tabLst>
            </a:pPr>
            <a:r>
              <a:rPr sz="2800">
                <a:latin typeface="Cambria Math"/>
                <a:cs typeface="Cambria Math"/>
              </a:rPr>
              <a:t>𝑺</a:t>
            </a:r>
            <a:r>
              <a:rPr sz="3075" baseline="-14905">
                <a:latin typeface="Cambria Math"/>
                <a:cs typeface="Cambria Math"/>
              </a:rPr>
              <a:t>𝒊+𝟏</a:t>
            </a:r>
            <a:r>
              <a:rPr sz="2800">
                <a:latin typeface="PMingLiU"/>
                <a:cs typeface="PMingLiU"/>
              </a:rPr>
              <a:t>：以</a:t>
            </a:r>
            <a:r>
              <a:rPr sz="2800">
                <a:latin typeface="Cambria Math"/>
                <a:cs typeface="Cambria Math"/>
              </a:rPr>
              <a:t>𝑿[𝒊 + </a:t>
            </a:r>
            <a:r>
              <a:rPr sz="2800" spc="-10">
                <a:latin typeface="Cambria Math"/>
                <a:cs typeface="Cambria Math"/>
              </a:rPr>
              <a:t>𝟏]</a:t>
            </a:r>
            <a:r>
              <a:rPr sz="2800" spc="15">
                <a:latin typeface="PMingLiU"/>
                <a:cs typeface="PMingLiU"/>
              </a:rPr>
              <a:t>开头的任一子数组和 (</a:t>
            </a:r>
            <a:r>
              <a:rPr sz="2800" spc="-10">
                <a:latin typeface="Cambria Math"/>
                <a:cs typeface="Cambria Math"/>
              </a:rPr>
              <a:t>𝑺</a:t>
            </a:r>
            <a:r>
              <a:rPr sz="3075" spc="-15" baseline="-14905">
                <a:latin typeface="Cambria Math"/>
                <a:cs typeface="Cambria Math"/>
              </a:rPr>
              <a:t>𝒊+𝟏</a:t>
            </a:r>
            <a:endParaRPr sz="3075" baseline="-14905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927593" y="3119881"/>
            <a:ext cx="12966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800">
                <a:latin typeface="Cambria Math"/>
                <a:cs typeface="Cambria Math"/>
              </a:rPr>
              <a:t>≤</a:t>
            </a:r>
            <a:r>
              <a:rPr sz="2800" spc="160">
                <a:latin typeface="Cambria Math"/>
                <a:cs typeface="Cambria Math"/>
              </a:rPr>
              <a:t> </a:t>
            </a:r>
            <a:r>
              <a:rPr sz="2800" spc="-20">
                <a:latin typeface="Cambria Math"/>
                <a:cs typeface="Cambria Math"/>
              </a:rPr>
              <a:t>𝑫</a:t>
            </a:r>
            <a:r>
              <a:rPr sz="3075" spc="-30" baseline="-14905">
                <a:latin typeface="Cambria Math"/>
                <a:cs typeface="Cambria Math"/>
              </a:rPr>
              <a:t>𝒊+𝟏</a:t>
            </a:r>
            <a:r>
              <a:rPr sz="2800" spc="-20">
                <a:latin typeface="PMingLiU"/>
                <a:cs typeface="PMingLiU"/>
              </a:rPr>
              <a:t>)</a:t>
            </a:r>
            <a:endParaRPr sz="2800">
              <a:latin typeface="PMingLiU"/>
              <a:cs typeface="PMingLiU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71701" y="5241289"/>
            <a:ext cx="77470" cy="331470"/>
          </a:xfrm>
          <a:custGeom>
            <a:avLst/>
            <a:gdLst/>
            <a:ahLst/>
            <a:cxnLst/>
            <a:rect l="l" t="t" r="r" b="b"/>
            <a:pathLst>
              <a:path w="77469" h="331470">
                <a:moveTo>
                  <a:pt x="77470" y="0"/>
                </a:moveTo>
                <a:lnTo>
                  <a:pt x="0" y="0"/>
                </a:lnTo>
                <a:lnTo>
                  <a:pt x="0" y="13970"/>
                </a:lnTo>
                <a:lnTo>
                  <a:pt x="48641" y="13970"/>
                </a:lnTo>
                <a:lnTo>
                  <a:pt x="48641" y="318770"/>
                </a:lnTo>
                <a:lnTo>
                  <a:pt x="0" y="318770"/>
                </a:lnTo>
                <a:lnTo>
                  <a:pt x="0" y="331470"/>
                </a:lnTo>
                <a:lnTo>
                  <a:pt x="77470" y="331470"/>
                </a:lnTo>
                <a:lnTo>
                  <a:pt x="77470" y="318770"/>
                </a:lnTo>
                <a:lnTo>
                  <a:pt x="77470" y="13970"/>
                </a:lnTo>
                <a:lnTo>
                  <a:pt x="774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447038" y="5241289"/>
            <a:ext cx="77470" cy="331470"/>
          </a:xfrm>
          <a:custGeom>
            <a:avLst/>
            <a:gdLst/>
            <a:ahLst/>
            <a:cxnLst/>
            <a:rect l="l" t="t" r="r" b="b"/>
            <a:pathLst>
              <a:path w="77469" h="331470">
                <a:moveTo>
                  <a:pt x="77470" y="0"/>
                </a:moveTo>
                <a:lnTo>
                  <a:pt x="0" y="0"/>
                </a:lnTo>
                <a:lnTo>
                  <a:pt x="0" y="13970"/>
                </a:lnTo>
                <a:lnTo>
                  <a:pt x="0" y="318770"/>
                </a:lnTo>
                <a:lnTo>
                  <a:pt x="0" y="331470"/>
                </a:lnTo>
                <a:lnTo>
                  <a:pt x="77470" y="331470"/>
                </a:lnTo>
                <a:lnTo>
                  <a:pt x="77470" y="318770"/>
                </a:lnTo>
                <a:lnTo>
                  <a:pt x="28829" y="318770"/>
                </a:lnTo>
                <a:lnTo>
                  <a:pt x="28829" y="13970"/>
                </a:lnTo>
                <a:lnTo>
                  <a:pt x="77470" y="13970"/>
                </a:lnTo>
                <a:lnTo>
                  <a:pt x="774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908933" y="5241289"/>
            <a:ext cx="77470" cy="331470"/>
          </a:xfrm>
          <a:custGeom>
            <a:avLst/>
            <a:gdLst/>
            <a:ahLst/>
            <a:cxnLst/>
            <a:rect l="l" t="t" r="r" b="b"/>
            <a:pathLst>
              <a:path w="77470" h="331470">
                <a:moveTo>
                  <a:pt x="77470" y="0"/>
                </a:moveTo>
                <a:lnTo>
                  <a:pt x="0" y="0"/>
                </a:lnTo>
                <a:lnTo>
                  <a:pt x="0" y="13970"/>
                </a:lnTo>
                <a:lnTo>
                  <a:pt x="48641" y="13970"/>
                </a:lnTo>
                <a:lnTo>
                  <a:pt x="48641" y="318770"/>
                </a:lnTo>
                <a:lnTo>
                  <a:pt x="0" y="318770"/>
                </a:lnTo>
                <a:lnTo>
                  <a:pt x="0" y="331470"/>
                </a:lnTo>
                <a:lnTo>
                  <a:pt x="77470" y="331470"/>
                </a:lnTo>
                <a:lnTo>
                  <a:pt x="77470" y="318770"/>
                </a:lnTo>
                <a:lnTo>
                  <a:pt x="77470" y="13970"/>
                </a:lnTo>
                <a:lnTo>
                  <a:pt x="774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684270" y="5241289"/>
            <a:ext cx="77470" cy="331470"/>
          </a:xfrm>
          <a:custGeom>
            <a:avLst/>
            <a:gdLst/>
            <a:ahLst/>
            <a:cxnLst/>
            <a:rect l="l" t="t" r="r" b="b"/>
            <a:pathLst>
              <a:path w="77470" h="331470">
                <a:moveTo>
                  <a:pt x="77470" y="0"/>
                </a:moveTo>
                <a:lnTo>
                  <a:pt x="0" y="0"/>
                </a:lnTo>
                <a:lnTo>
                  <a:pt x="0" y="13970"/>
                </a:lnTo>
                <a:lnTo>
                  <a:pt x="0" y="318770"/>
                </a:lnTo>
                <a:lnTo>
                  <a:pt x="0" y="331470"/>
                </a:lnTo>
                <a:lnTo>
                  <a:pt x="77470" y="331470"/>
                </a:lnTo>
                <a:lnTo>
                  <a:pt x="77470" y="318770"/>
                </a:lnTo>
                <a:lnTo>
                  <a:pt x="28829" y="318770"/>
                </a:lnTo>
                <a:lnTo>
                  <a:pt x="28829" y="13970"/>
                </a:lnTo>
                <a:lnTo>
                  <a:pt x="77470" y="13970"/>
                </a:lnTo>
                <a:lnTo>
                  <a:pt x="774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512949" y="5967729"/>
            <a:ext cx="77470" cy="331470"/>
          </a:xfrm>
          <a:custGeom>
            <a:avLst/>
            <a:gdLst/>
            <a:ahLst/>
            <a:cxnLst/>
            <a:rect l="l" t="t" r="r" b="b"/>
            <a:pathLst>
              <a:path w="77469" h="331470">
                <a:moveTo>
                  <a:pt x="77470" y="0"/>
                </a:moveTo>
                <a:lnTo>
                  <a:pt x="0" y="0"/>
                </a:lnTo>
                <a:lnTo>
                  <a:pt x="0" y="12700"/>
                </a:lnTo>
                <a:lnTo>
                  <a:pt x="48641" y="12700"/>
                </a:lnTo>
                <a:lnTo>
                  <a:pt x="48641" y="317500"/>
                </a:lnTo>
                <a:lnTo>
                  <a:pt x="0" y="317500"/>
                </a:lnTo>
                <a:lnTo>
                  <a:pt x="0" y="331470"/>
                </a:lnTo>
                <a:lnTo>
                  <a:pt x="77470" y="331470"/>
                </a:lnTo>
                <a:lnTo>
                  <a:pt x="77470" y="317500"/>
                </a:lnTo>
                <a:lnTo>
                  <a:pt x="77470" y="12700"/>
                </a:lnTo>
                <a:lnTo>
                  <a:pt x="774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288286" y="5967729"/>
            <a:ext cx="77470" cy="331470"/>
          </a:xfrm>
          <a:custGeom>
            <a:avLst/>
            <a:gdLst/>
            <a:ahLst/>
            <a:cxnLst/>
            <a:rect l="l" t="t" r="r" b="b"/>
            <a:pathLst>
              <a:path w="77469" h="331470">
                <a:moveTo>
                  <a:pt x="77470" y="0"/>
                </a:moveTo>
                <a:lnTo>
                  <a:pt x="0" y="0"/>
                </a:lnTo>
                <a:lnTo>
                  <a:pt x="0" y="12700"/>
                </a:lnTo>
                <a:lnTo>
                  <a:pt x="0" y="317500"/>
                </a:lnTo>
                <a:lnTo>
                  <a:pt x="0" y="331470"/>
                </a:lnTo>
                <a:lnTo>
                  <a:pt x="77470" y="331470"/>
                </a:lnTo>
                <a:lnTo>
                  <a:pt x="77470" y="317500"/>
                </a:lnTo>
                <a:lnTo>
                  <a:pt x="28829" y="317500"/>
                </a:lnTo>
                <a:lnTo>
                  <a:pt x="28829" y="12700"/>
                </a:lnTo>
                <a:lnTo>
                  <a:pt x="77470" y="12700"/>
                </a:lnTo>
                <a:lnTo>
                  <a:pt x="774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50240" y="5140705"/>
            <a:ext cx="4492625" cy="1178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0540" indent="-460375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510540" algn="l"/>
                <a:tab pos="511175" algn="l"/>
                <a:tab pos="1217295" algn="l"/>
                <a:tab pos="3453765" algn="l"/>
              </a:tabLst>
            </a:pPr>
            <a:r>
              <a:rPr sz="2800">
                <a:latin typeface="Cambria Math"/>
                <a:cs typeface="Cambria Math"/>
              </a:rPr>
              <a:t>𝑿</a:t>
            </a:r>
            <a:r>
              <a:rPr sz="2800" spc="360">
                <a:latin typeface="Cambria Math"/>
                <a:cs typeface="Cambria Math"/>
              </a:rPr>
              <a:t> </a:t>
            </a:r>
            <a:r>
              <a:rPr sz="2800" spc="-50">
                <a:latin typeface="Cambria Math"/>
                <a:cs typeface="Cambria Math"/>
              </a:rPr>
              <a:t>𝒊</a:t>
            </a:r>
            <a:r>
              <a:rPr sz="2800">
                <a:latin typeface="Cambria Math"/>
                <a:cs typeface="Cambria Math"/>
              </a:rPr>
              <a:t>	+</a:t>
            </a:r>
            <a:r>
              <a:rPr sz="2800" spc="-20">
                <a:latin typeface="Cambria Math"/>
                <a:cs typeface="Cambria Math"/>
              </a:rPr>
              <a:t> </a:t>
            </a:r>
            <a:r>
              <a:rPr sz="2800">
                <a:latin typeface="Cambria Math"/>
                <a:cs typeface="Cambria Math"/>
              </a:rPr>
              <a:t>𝑫</a:t>
            </a:r>
            <a:r>
              <a:rPr sz="3075" baseline="-14905">
                <a:latin typeface="Cambria Math"/>
                <a:cs typeface="Cambria Math"/>
              </a:rPr>
              <a:t>𝒊+𝟏</a:t>
            </a:r>
            <a:r>
              <a:rPr sz="3075" spc="630" baseline="-14905">
                <a:latin typeface="Cambria Math"/>
                <a:cs typeface="Cambria Math"/>
              </a:rPr>
              <a:t> </a:t>
            </a:r>
            <a:r>
              <a:rPr sz="2800">
                <a:latin typeface="Cambria Math"/>
                <a:cs typeface="Cambria Math"/>
              </a:rPr>
              <a:t>≥</a:t>
            </a:r>
            <a:r>
              <a:rPr sz="2800" spc="140">
                <a:latin typeface="Cambria Math"/>
                <a:cs typeface="Cambria Math"/>
              </a:rPr>
              <a:t> </a:t>
            </a:r>
            <a:r>
              <a:rPr sz="2800">
                <a:latin typeface="Cambria Math"/>
                <a:cs typeface="Cambria Math"/>
              </a:rPr>
              <a:t>𝑿</a:t>
            </a:r>
            <a:r>
              <a:rPr sz="2800" spc="335">
                <a:latin typeface="Cambria Math"/>
                <a:cs typeface="Cambria Math"/>
              </a:rPr>
              <a:t> </a:t>
            </a:r>
            <a:r>
              <a:rPr sz="2800" spc="-50">
                <a:latin typeface="Cambria Math"/>
                <a:cs typeface="Cambria Math"/>
              </a:rPr>
              <a:t>𝒊</a:t>
            </a:r>
            <a:r>
              <a:rPr sz="2800">
                <a:latin typeface="Cambria Math"/>
                <a:cs typeface="Cambria Math"/>
              </a:rPr>
              <a:t>	+ </a:t>
            </a:r>
            <a:r>
              <a:rPr sz="2800" spc="-20">
                <a:latin typeface="Cambria Math"/>
                <a:cs typeface="Cambria Math"/>
              </a:rPr>
              <a:t>𝑺</a:t>
            </a:r>
            <a:r>
              <a:rPr sz="3075" spc="-30" baseline="-14905">
                <a:latin typeface="Cambria Math"/>
                <a:cs typeface="Cambria Math"/>
              </a:rPr>
              <a:t>𝒊+𝟏</a:t>
            </a:r>
            <a:endParaRPr sz="3075" baseline="-14905">
              <a:latin typeface="Cambria Math"/>
              <a:cs typeface="Cambria Math"/>
            </a:endParaRPr>
          </a:p>
          <a:p>
            <a:pPr marL="510540" indent="-460375">
              <a:lnSpc>
                <a:spcPct val="100000"/>
              </a:lnSpc>
              <a:spcBef>
                <a:spcPts val="235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510540" algn="l"/>
                <a:tab pos="511175" algn="l"/>
                <a:tab pos="2058035" algn="l"/>
              </a:tabLst>
            </a:pPr>
            <a:r>
              <a:rPr sz="2800">
                <a:latin typeface="Cambria Math"/>
                <a:cs typeface="Cambria Math"/>
              </a:rPr>
              <a:t>𝑫</a:t>
            </a:r>
            <a:r>
              <a:rPr sz="3075" baseline="-14905">
                <a:latin typeface="Cambria Math"/>
                <a:cs typeface="Cambria Math"/>
              </a:rPr>
              <a:t>𝒊</a:t>
            </a:r>
            <a:r>
              <a:rPr sz="3075" spc="652" baseline="-14905">
                <a:latin typeface="Cambria Math"/>
                <a:cs typeface="Cambria Math"/>
              </a:rPr>
              <a:t> </a:t>
            </a:r>
            <a:r>
              <a:rPr sz="2800">
                <a:latin typeface="Cambria Math"/>
                <a:cs typeface="Cambria Math"/>
              </a:rPr>
              <a:t>=</a:t>
            </a:r>
            <a:r>
              <a:rPr sz="2800" spc="155">
                <a:latin typeface="Cambria Math"/>
                <a:cs typeface="Cambria Math"/>
              </a:rPr>
              <a:t> </a:t>
            </a:r>
            <a:r>
              <a:rPr sz="2800">
                <a:latin typeface="Cambria Math"/>
                <a:cs typeface="Cambria Math"/>
              </a:rPr>
              <a:t>𝑿</a:t>
            </a:r>
            <a:r>
              <a:rPr sz="2800" spc="355">
                <a:latin typeface="Cambria Math"/>
                <a:cs typeface="Cambria Math"/>
              </a:rPr>
              <a:t> </a:t>
            </a:r>
            <a:r>
              <a:rPr sz="2800" spc="-50">
                <a:latin typeface="Cambria Math"/>
                <a:cs typeface="Cambria Math"/>
              </a:rPr>
              <a:t>𝒊</a:t>
            </a:r>
            <a:r>
              <a:rPr sz="2800">
                <a:latin typeface="Cambria Math"/>
                <a:cs typeface="Cambria Math"/>
              </a:rPr>
              <a:t>	+ </a:t>
            </a:r>
            <a:r>
              <a:rPr sz="2800" spc="-20">
                <a:latin typeface="Cambria Math"/>
                <a:cs typeface="Cambria Math"/>
              </a:rPr>
              <a:t>𝑫</a:t>
            </a:r>
            <a:r>
              <a:rPr sz="3075" spc="-30" baseline="-14905">
                <a:latin typeface="Cambria Math"/>
                <a:cs typeface="Cambria Math"/>
              </a:rPr>
              <a:t>𝒊+𝟏</a:t>
            </a:r>
            <a:endParaRPr sz="3075" baseline="-14905">
              <a:latin typeface="Cambria Math"/>
              <a:cs typeface="Cambria Math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2393188" y="1981835"/>
          <a:ext cx="8128634" cy="7778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1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58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61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760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6077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marL="2952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2512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𝑿[𝒊]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AF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9200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𝑿[𝒊</a:t>
                      </a:r>
                      <a:r>
                        <a:rPr sz="20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+</a:t>
                      </a:r>
                      <a:r>
                        <a:rPr sz="2000" spc="-1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9200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9200"/>
                    </a:solidFill>
                  </a:tcPr>
                </a:tc>
                <a:tc>
                  <a:txBody>
                    <a:bodyPr/>
                    <a:lstStyle/>
                    <a:p>
                      <a:pPr marR="5334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185"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2085">
                <a:tc grid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2393188" y="4083811"/>
          <a:ext cx="8129903" cy="7658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1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4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3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14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marL="2952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2512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𝑿[𝒊]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5969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𝑿[𝒊</a:t>
                      </a:r>
                      <a:r>
                        <a:rPr sz="20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+</a:t>
                      </a:r>
                      <a:r>
                        <a:rPr sz="2000" spc="-1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R="5334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 grid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object 15"/>
          <p:cNvSpPr/>
          <p:nvPr/>
        </p:nvSpPr>
        <p:spPr>
          <a:xfrm>
            <a:off x="5916167" y="4524755"/>
            <a:ext cx="3352800" cy="332740"/>
          </a:xfrm>
          <a:custGeom>
            <a:avLst/>
            <a:gdLst/>
            <a:ahLst/>
            <a:cxnLst/>
            <a:rect l="l" t="t" r="r" b="b"/>
            <a:pathLst>
              <a:path w="3352800" h="332739">
                <a:moveTo>
                  <a:pt x="3352800" y="0"/>
                </a:moveTo>
                <a:lnTo>
                  <a:pt x="3350617" y="64639"/>
                </a:lnTo>
                <a:lnTo>
                  <a:pt x="3344672" y="117443"/>
                </a:lnTo>
                <a:lnTo>
                  <a:pt x="3335869" y="153054"/>
                </a:lnTo>
                <a:lnTo>
                  <a:pt x="3325114" y="166116"/>
                </a:lnTo>
                <a:lnTo>
                  <a:pt x="1704086" y="166116"/>
                </a:lnTo>
                <a:lnTo>
                  <a:pt x="1693330" y="179177"/>
                </a:lnTo>
                <a:lnTo>
                  <a:pt x="1684528" y="214788"/>
                </a:lnTo>
                <a:lnTo>
                  <a:pt x="1678582" y="267592"/>
                </a:lnTo>
                <a:lnTo>
                  <a:pt x="1676400" y="332232"/>
                </a:lnTo>
                <a:lnTo>
                  <a:pt x="1674217" y="267592"/>
                </a:lnTo>
                <a:lnTo>
                  <a:pt x="1668272" y="214788"/>
                </a:lnTo>
                <a:lnTo>
                  <a:pt x="1659469" y="179177"/>
                </a:lnTo>
                <a:lnTo>
                  <a:pt x="1648714" y="166116"/>
                </a:lnTo>
                <a:lnTo>
                  <a:pt x="27686" y="166116"/>
                </a:lnTo>
                <a:lnTo>
                  <a:pt x="16930" y="153054"/>
                </a:lnTo>
                <a:lnTo>
                  <a:pt x="8127" y="117443"/>
                </a:lnTo>
                <a:lnTo>
                  <a:pt x="2182" y="64639"/>
                </a:lnTo>
                <a:lnTo>
                  <a:pt x="0" y="0"/>
                </a:lnTo>
              </a:path>
            </a:pathLst>
          </a:custGeom>
          <a:ln w="31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7296150" y="4917694"/>
            <a:ext cx="58166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300" spc="-30" baseline="11363">
                <a:latin typeface="Cambria Math"/>
                <a:cs typeface="Cambria Math"/>
              </a:rPr>
              <a:t>𝑺</a:t>
            </a:r>
            <a:r>
              <a:rPr sz="1600" spc="-20">
                <a:latin typeface="Cambria Math"/>
                <a:cs typeface="Cambria Math"/>
              </a:rPr>
              <a:t>𝒊+𝟏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9" name="object 7">
            <a:extLst>
              <a:ext uri="{FF2B5EF4-FFF2-40B4-BE49-F238E27FC236}">
                <a16:creationId xmlns:a16="http://schemas.microsoft.com/office/drawing/2014/main" id="{5DF7A36B-571A-214B-90E7-C167712E8D49}"/>
              </a:ext>
            </a:extLst>
          </p:cNvPr>
          <p:cNvSpPr/>
          <p:nvPr/>
        </p:nvSpPr>
        <p:spPr>
          <a:xfrm>
            <a:off x="5871272" y="2454403"/>
            <a:ext cx="2327848" cy="332740"/>
          </a:xfrm>
          <a:custGeom>
            <a:avLst/>
            <a:gdLst/>
            <a:ahLst/>
            <a:cxnLst/>
            <a:rect l="l" t="t" r="r" b="b"/>
            <a:pathLst>
              <a:path w="3352800" h="332739">
                <a:moveTo>
                  <a:pt x="3352800" y="0"/>
                </a:moveTo>
                <a:lnTo>
                  <a:pt x="3350617" y="64639"/>
                </a:lnTo>
                <a:lnTo>
                  <a:pt x="3344672" y="117443"/>
                </a:lnTo>
                <a:lnTo>
                  <a:pt x="3335869" y="153054"/>
                </a:lnTo>
                <a:lnTo>
                  <a:pt x="3325114" y="166116"/>
                </a:lnTo>
                <a:lnTo>
                  <a:pt x="1704086" y="166116"/>
                </a:lnTo>
                <a:lnTo>
                  <a:pt x="1693330" y="179177"/>
                </a:lnTo>
                <a:lnTo>
                  <a:pt x="1684528" y="214788"/>
                </a:lnTo>
                <a:lnTo>
                  <a:pt x="1678582" y="267592"/>
                </a:lnTo>
                <a:lnTo>
                  <a:pt x="1676400" y="332232"/>
                </a:lnTo>
                <a:lnTo>
                  <a:pt x="1674217" y="267592"/>
                </a:lnTo>
                <a:lnTo>
                  <a:pt x="1668272" y="214788"/>
                </a:lnTo>
                <a:lnTo>
                  <a:pt x="1659469" y="179177"/>
                </a:lnTo>
                <a:lnTo>
                  <a:pt x="1648714" y="166116"/>
                </a:lnTo>
                <a:lnTo>
                  <a:pt x="27686" y="166116"/>
                </a:lnTo>
                <a:lnTo>
                  <a:pt x="16930" y="153054"/>
                </a:lnTo>
                <a:lnTo>
                  <a:pt x="8127" y="117443"/>
                </a:lnTo>
                <a:lnTo>
                  <a:pt x="2182" y="64639"/>
                </a:lnTo>
                <a:lnTo>
                  <a:pt x="0" y="0"/>
                </a:lnTo>
              </a:path>
            </a:pathLst>
          </a:custGeom>
          <a:ln w="31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4">
            <a:extLst>
              <a:ext uri="{FF2B5EF4-FFF2-40B4-BE49-F238E27FC236}">
                <a16:creationId xmlns:a16="http://schemas.microsoft.com/office/drawing/2014/main" id="{D18FE8F2-9A6F-E543-8A2C-40DE523490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8756" y="89948"/>
            <a:ext cx="4677411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>
                <a:latin typeface="SimSun" panose="02010600030101010101" pitchFamily="2" charset="-122"/>
                <a:ea typeface="SimSun" panose="02010600030101010101" pitchFamily="2" charset="-122"/>
              </a:rPr>
              <a:t>规律证明：情况</a:t>
            </a:r>
            <a:r>
              <a:rPr b="1" spc="-50" dirty="0">
                <a:latin typeface="SimSun" panose="02010600030101010101" pitchFamily="2" charset="-122"/>
                <a:ea typeface="SimSun" panose="02010600030101010101" pitchFamily="2" charset="-122"/>
                <a:cs typeface="Times New Roman"/>
              </a:rPr>
              <a:t>1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2940" y="945642"/>
            <a:ext cx="81038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80365" algn="l"/>
                <a:tab pos="381000" algn="l"/>
              </a:tabLst>
            </a:pPr>
            <a:r>
              <a:rPr sz="2800">
                <a:latin typeface="Cambria Math"/>
                <a:cs typeface="Cambria Math"/>
              </a:rPr>
              <a:t>𝑫</a:t>
            </a:r>
            <a:r>
              <a:rPr sz="3075" baseline="-14905">
                <a:latin typeface="Cambria Math"/>
                <a:cs typeface="Cambria Math"/>
              </a:rPr>
              <a:t>𝒊+𝟏</a:t>
            </a:r>
            <a:r>
              <a:rPr sz="2800">
                <a:latin typeface="PMingLiU"/>
                <a:cs typeface="PMingLiU"/>
              </a:rPr>
              <a:t>：以</a:t>
            </a:r>
            <a:r>
              <a:rPr sz="2800">
                <a:latin typeface="Cambria Math"/>
                <a:cs typeface="Cambria Math"/>
              </a:rPr>
              <a:t>𝑿[𝒊</a:t>
            </a:r>
            <a:r>
              <a:rPr sz="2800" spc="10">
                <a:latin typeface="Cambria Math"/>
                <a:cs typeface="Cambria Math"/>
              </a:rPr>
              <a:t> + </a:t>
            </a:r>
            <a:r>
              <a:rPr sz="2800" spc="-10">
                <a:latin typeface="Cambria Math"/>
                <a:cs typeface="Cambria Math"/>
              </a:rPr>
              <a:t>𝟏]</a:t>
            </a:r>
            <a:r>
              <a:rPr sz="2800" spc="15">
                <a:latin typeface="PMingLiU"/>
                <a:cs typeface="PMingLiU"/>
              </a:rPr>
              <a:t>开头的最大子数组和 (</a:t>
            </a:r>
            <a:r>
              <a:rPr sz="2800">
                <a:latin typeface="Cambria Math"/>
                <a:cs typeface="Cambria Math"/>
              </a:rPr>
              <a:t>𝑫</a:t>
            </a:r>
            <a:r>
              <a:rPr sz="3075" baseline="-14905">
                <a:latin typeface="Cambria Math"/>
                <a:cs typeface="Cambria Math"/>
              </a:rPr>
              <a:t>𝒊+𝟏</a:t>
            </a:r>
            <a:r>
              <a:rPr sz="3075" spc="719" baseline="-14905">
                <a:latin typeface="Cambria Math"/>
                <a:cs typeface="Cambria Math"/>
              </a:rPr>
              <a:t> </a:t>
            </a:r>
            <a:r>
              <a:rPr sz="2800" spc="95">
                <a:latin typeface="Cambria Math"/>
                <a:cs typeface="Cambria Math"/>
              </a:rPr>
              <a:t>≤ </a:t>
            </a:r>
            <a:r>
              <a:rPr sz="2800" spc="50">
                <a:latin typeface="Cambria Math"/>
                <a:cs typeface="Cambria Math"/>
              </a:rPr>
              <a:t>𝟎</a:t>
            </a:r>
            <a:r>
              <a:rPr sz="2800" spc="50">
                <a:latin typeface="PMingLiU"/>
                <a:cs typeface="PMingLiU"/>
              </a:rPr>
              <a:t>)</a:t>
            </a:r>
            <a:endParaRPr sz="2800">
              <a:latin typeface="PMingLiU"/>
              <a:cs typeface="PMingLiU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34109" y="110014"/>
            <a:ext cx="4961891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>
                <a:latin typeface="SimSun" panose="02010600030101010101" pitchFamily="2" charset="-122"/>
                <a:ea typeface="SimSun" panose="02010600030101010101" pitchFamily="2" charset="-122"/>
              </a:rPr>
              <a:t>规律证明：情况</a:t>
            </a:r>
            <a:r>
              <a:rPr b="1" spc="-50" dirty="0">
                <a:latin typeface="SimSun" panose="02010600030101010101" pitchFamily="2" charset="-122"/>
                <a:ea typeface="SimSun" panose="02010600030101010101" pitchFamily="2" charset="-122"/>
                <a:cs typeface="Times New Roman"/>
              </a:rPr>
              <a:t>2</a:t>
            </a:r>
          </a:p>
        </p:txBody>
      </p:sp>
      <p:sp>
        <p:nvSpPr>
          <p:cNvPr id="4" name="object 4"/>
          <p:cNvSpPr/>
          <p:nvPr/>
        </p:nvSpPr>
        <p:spPr>
          <a:xfrm>
            <a:off x="5883783" y="1981835"/>
            <a:ext cx="2322830" cy="421640"/>
          </a:xfrm>
          <a:custGeom>
            <a:avLst/>
            <a:gdLst/>
            <a:ahLst/>
            <a:cxnLst/>
            <a:rect l="l" t="t" r="r" b="b"/>
            <a:pathLst>
              <a:path w="2322829" h="421639">
                <a:moveTo>
                  <a:pt x="0" y="0"/>
                </a:moveTo>
                <a:lnTo>
                  <a:pt x="0" y="421639"/>
                </a:lnTo>
              </a:path>
              <a:path w="2322829" h="421639">
                <a:moveTo>
                  <a:pt x="2322830" y="0"/>
                </a:moveTo>
                <a:lnTo>
                  <a:pt x="2322830" y="421639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393188" y="1981835"/>
          <a:ext cx="8128632" cy="7778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1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14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6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60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607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marL="2952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2512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𝑿[𝒊]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AF5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𝑿[𝒊</a:t>
                      </a:r>
                      <a:r>
                        <a:rPr sz="20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+</a:t>
                      </a:r>
                      <a:r>
                        <a:rPr sz="2000" spc="-1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9200"/>
                    </a:solidFill>
                  </a:tcPr>
                </a:tc>
                <a:tc>
                  <a:txBody>
                    <a:bodyPr/>
                    <a:lstStyle/>
                    <a:p>
                      <a:pPr marR="387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9200"/>
                    </a:solidFill>
                  </a:tcPr>
                </a:tc>
                <a:tc>
                  <a:txBody>
                    <a:bodyPr/>
                    <a:lstStyle/>
                    <a:p>
                      <a:pPr marR="387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18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2085">
                <a:tc grid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5916167" y="2422398"/>
            <a:ext cx="2289175" cy="345440"/>
          </a:xfrm>
          <a:custGeom>
            <a:avLst/>
            <a:gdLst/>
            <a:ahLst/>
            <a:cxnLst/>
            <a:rect l="l" t="t" r="r" b="b"/>
            <a:pathLst>
              <a:path w="2289175" h="345439">
                <a:moveTo>
                  <a:pt x="2289048" y="0"/>
                </a:moveTo>
                <a:lnTo>
                  <a:pt x="2286795" y="67204"/>
                </a:lnTo>
                <a:lnTo>
                  <a:pt x="2280650" y="122062"/>
                </a:lnTo>
                <a:lnTo>
                  <a:pt x="2271527" y="159037"/>
                </a:lnTo>
                <a:lnTo>
                  <a:pt x="2260346" y="172592"/>
                </a:lnTo>
                <a:lnTo>
                  <a:pt x="1173226" y="172592"/>
                </a:lnTo>
                <a:lnTo>
                  <a:pt x="1162044" y="186148"/>
                </a:lnTo>
                <a:lnTo>
                  <a:pt x="1152921" y="223123"/>
                </a:lnTo>
                <a:lnTo>
                  <a:pt x="1146776" y="277981"/>
                </a:lnTo>
                <a:lnTo>
                  <a:pt x="1144524" y="345186"/>
                </a:lnTo>
                <a:lnTo>
                  <a:pt x="1142271" y="277981"/>
                </a:lnTo>
                <a:lnTo>
                  <a:pt x="1136126" y="223123"/>
                </a:lnTo>
                <a:lnTo>
                  <a:pt x="1127003" y="186148"/>
                </a:lnTo>
                <a:lnTo>
                  <a:pt x="1115822" y="172592"/>
                </a:lnTo>
                <a:lnTo>
                  <a:pt x="28702" y="172592"/>
                </a:lnTo>
                <a:lnTo>
                  <a:pt x="17520" y="159037"/>
                </a:lnTo>
                <a:lnTo>
                  <a:pt x="8397" y="122062"/>
                </a:lnTo>
                <a:lnTo>
                  <a:pt x="2252" y="67204"/>
                </a:lnTo>
                <a:lnTo>
                  <a:pt x="0" y="0"/>
                </a:lnTo>
              </a:path>
            </a:pathLst>
          </a:custGeom>
          <a:ln w="31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805421" y="2828543"/>
            <a:ext cx="63309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300" spc="-30" baseline="11363">
                <a:latin typeface="Cambria Math"/>
                <a:cs typeface="Cambria Math"/>
              </a:rPr>
              <a:t>𝑫</a:t>
            </a:r>
            <a:r>
              <a:rPr sz="1600" spc="-20">
                <a:latin typeface="Cambria Math"/>
                <a:cs typeface="Cambria Math"/>
              </a:rPr>
              <a:t>𝒊+𝟏</a:t>
            </a:r>
            <a:endParaRPr sz="16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2940" y="945642"/>
            <a:ext cx="81038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80365" algn="l"/>
                <a:tab pos="381000" algn="l"/>
              </a:tabLst>
            </a:pPr>
            <a:r>
              <a:rPr sz="2800">
                <a:latin typeface="Cambria Math"/>
                <a:cs typeface="Cambria Math"/>
              </a:rPr>
              <a:t>𝑫</a:t>
            </a:r>
            <a:r>
              <a:rPr sz="3075" baseline="-14905">
                <a:latin typeface="Cambria Math"/>
                <a:cs typeface="Cambria Math"/>
              </a:rPr>
              <a:t>𝒊+𝟏</a:t>
            </a:r>
            <a:r>
              <a:rPr sz="2800">
                <a:latin typeface="PMingLiU"/>
                <a:cs typeface="PMingLiU"/>
              </a:rPr>
              <a:t>：以</a:t>
            </a:r>
            <a:r>
              <a:rPr sz="2800">
                <a:latin typeface="Cambria Math"/>
                <a:cs typeface="Cambria Math"/>
              </a:rPr>
              <a:t>𝑿[𝒊</a:t>
            </a:r>
            <a:r>
              <a:rPr sz="2800" spc="10">
                <a:latin typeface="Cambria Math"/>
                <a:cs typeface="Cambria Math"/>
              </a:rPr>
              <a:t> + </a:t>
            </a:r>
            <a:r>
              <a:rPr sz="2800" spc="-10">
                <a:latin typeface="Cambria Math"/>
                <a:cs typeface="Cambria Math"/>
              </a:rPr>
              <a:t>𝟏]</a:t>
            </a:r>
            <a:r>
              <a:rPr sz="2800" spc="15">
                <a:latin typeface="PMingLiU"/>
                <a:cs typeface="PMingLiU"/>
              </a:rPr>
              <a:t>开头的最大子数组和 (</a:t>
            </a:r>
            <a:r>
              <a:rPr sz="2800">
                <a:latin typeface="Cambria Math"/>
                <a:cs typeface="Cambria Math"/>
              </a:rPr>
              <a:t>𝑫</a:t>
            </a:r>
            <a:r>
              <a:rPr sz="3075" baseline="-14905">
                <a:latin typeface="Cambria Math"/>
                <a:cs typeface="Cambria Math"/>
              </a:rPr>
              <a:t>𝒊+𝟏</a:t>
            </a:r>
            <a:r>
              <a:rPr sz="3075" spc="719" baseline="-14905">
                <a:latin typeface="Cambria Math"/>
                <a:cs typeface="Cambria Math"/>
              </a:rPr>
              <a:t> </a:t>
            </a:r>
            <a:r>
              <a:rPr sz="2800" spc="95">
                <a:latin typeface="Cambria Math"/>
                <a:cs typeface="Cambria Math"/>
              </a:rPr>
              <a:t>≤ </a:t>
            </a:r>
            <a:r>
              <a:rPr sz="2800" spc="50">
                <a:latin typeface="Cambria Math"/>
                <a:cs typeface="Cambria Math"/>
              </a:rPr>
              <a:t>𝟎</a:t>
            </a:r>
            <a:r>
              <a:rPr sz="2800" spc="50">
                <a:latin typeface="PMingLiU"/>
                <a:cs typeface="PMingLiU"/>
              </a:rPr>
              <a:t>)</a:t>
            </a:r>
            <a:endParaRPr sz="2800">
              <a:latin typeface="PMingLiU"/>
              <a:cs typeface="PMingLiU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940" y="2828543"/>
            <a:ext cx="7150100" cy="744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404495" algn="r">
              <a:lnSpc>
                <a:spcPts val="2465"/>
              </a:lnSpc>
              <a:spcBef>
                <a:spcPts val="100"/>
              </a:spcBef>
            </a:pPr>
            <a:r>
              <a:rPr sz="3300" spc="-30" baseline="11363">
                <a:latin typeface="Cambria Math"/>
                <a:cs typeface="Cambria Math"/>
              </a:rPr>
              <a:t>𝑫</a:t>
            </a:r>
            <a:r>
              <a:rPr sz="1600" spc="-20">
                <a:latin typeface="Cambria Math"/>
                <a:cs typeface="Cambria Math"/>
              </a:rPr>
              <a:t>𝒊+𝟏</a:t>
            </a:r>
            <a:endParaRPr sz="1600">
              <a:latin typeface="Cambria Math"/>
              <a:cs typeface="Cambria Math"/>
            </a:endParaRPr>
          </a:p>
          <a:p>
            <a:pPr marL="381000" indent="-342900">
              <a:lnSpc>
                <a:spcPts val="3185"/>
              </a:lnSpc>
              <a:buClr>
                <a:srgbClr val="8092F0"/>
              </a:buClr>
              <a:buSzPct val="69642"/>
              <a:buFont typeface="Wingdings"/>
              <a:buChar char=""/>
              <a:tabLst>
                <a:tab pos="380365" algn="l"/>
                <a:tab pos="381000" algn="l"/>
              </a:tabLst>
            </a:pPr>
            <a:r>
              <a:rPr sz="2800">
                <a:latin typeface="Cambria Math"/>
                <a:cs typeface="Cambria Math"/>
              </a:rPr>
              <a:t>𝑺</a:t>
            </a:r>
            <a:r>
              <a:rPr sz="3075" baseline="-14905">
                <a:latin typeface="Cambria Math"/>
                <a:cs typeface="Cambria Math"/>
              </a:rPr>
              <a:t>𝒊+𝟏</a:t>
            </a:r>
            <a:r>
              <a:rPr sz="2800">
                <a:latin typeface="PMingLiU"/>
                <a:cs typeface="PMingLiU"/>
              </a:rPr>
              <a:t>：以</a:t>
            </a:r>
            <a:r>
              <a:rPr sz="2800">
                <a:latin typeface="Cambria Math"/>
                <a:cs typeface="Cambria Math"/>
              </a:rPr>
              <a:t>𝑿[𝒊 + </a:t>
            </a:r>
            <a:r>
              <a:rPr sz="2800" spc="-10">
                <a:latin typeface="Cambria Math"/>
                <a:cs typeface="Cambria Math"/>
              </a:rPr>
              <a:t>𝟏]</a:t>
            </a:r>
            <a:r>
              <a:rPr sz="2800" spc="15">
                <a:latin typeface="PMingLiU"/>
                <a:cs typeface="PMingLiU"/>
              </a:rPr>
              <a:t>开头的任一子数组和 (</a:t>
            </a:r>
            <a:r>
              <a:rPr sz="2800" spc="-10">
                <a:latin typeface="Cambria Math"/>
                <a:cs typeface="Cambria Math"/>
              </a:rPr>
              <a:t>𝑺</a:t>
            </a:r>
            <a:r>
              <a:rPr sz="3075" spc="-15" baseline="-14905">
                <a:latin typeface="Cambria Math"/>
                <a:cs typeface="Cambria Math"/>
              </a:rPr>
              <a:t>𝒊+𝟏</a:t>
            </a:r>
            <a:endParaRPr sz="3075" baseline="-14905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927593" y="3119881"/>
            <a:ext cx="12966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800">
                <a:latin typeface="Cambria Math"/>
                <a:cs typeface="Cambria Math"/>
              </a:rPr>
              <a:t>≤</a:t>
            </a:r>
            <a:r>
              <a:rPr sz="2800" spc="160">
                <a:latin typeface="Cambria Math"/>
                <a:cs typeface="Cambria Math"/>
              </a:rPr>
              <a:t> </a:t>
            </a:r>
            <a:r>
              <a:rPr sz="2800" spc="-20">
                <a:latin typeface="Cambria Math"/>
                <a:cs typeface="Cambria Math"/>
              </a:rPr>
              <a:t>𝑫</a:t>
            </a:r>
            <a:r>
              <a:rPr sz="3075" spc="-30" baseline="-14905">
                <a:latin typeface="Cambria Math"/>
                <a:cs typeface="Cambria Math"/>
              </a:rPr>
              <a:t>𝒊+𝟏</a:t>
            </a:r>
            <a:r>
              <a:rPr sz="2800" spc="-20">
                <a:latin typeface="PMingLiU"/>
                <a:cs typeface="PMingLiU"/>
              </a:rPr>
              <a:t>)</a:t>
            </a:r>
            <a:endParaRPr sz="2800">
              <a:latin typeface="PMingLiU"/>
              <a:cs typeface="PMingLiU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393188" y="1981835"/>
          <a:ext cx="8128634" cy="7778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1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58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61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760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6077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marL="2952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2512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𝑿[𝒊]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AF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9200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𝑿[𝒊</a:t>
                      </a:r>
                      <a:r>
                        <a:rPr sz="20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+</a:t>
                      </a:r>
                      <a:r>
                        <a:rPr sz="2000" spc="-1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9200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9200"/>
                    </a:solidFill>
                  </a:tcPr>
                </a:tc>
                <a:tc>
                  <a:txBody>
                    <a:bodyPr/>
                    <a:lstStyle/>
                    <a:p>
                      <a:pPr marR="5334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185"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2085">
                <a:tc grid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393188" y="4083811"/>
          <a:ext cx="8129903" cy="7658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1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4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3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14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marL="2952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2512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𝑿[𝒊]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AF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5969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𝑿[𝒊</a:t>
                      </a:r>
                      <a:r>
                        <a:rPr sz="20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+</a:t>
                      </a:r>
                      <a:r>
                        <a:rPr sz="2000" spc="-1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R="5334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 grid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5916167" y="4524755"/>
            <a:ext cx="3352800" cy="332740"/>
          </a:xfrm>
          <a:custGeom>
            <a:avLst/>
            <a:gdLst/>
            <a:ahLst/>
            <a:cxnLst/>
            <a:rect l="l" t="t" r="r" b="b"/>
            <a:pathLst>
              <a:path w="3352800" h="332739">
                <a:moveTo>
                  <a:pt x="3352800" y="0"/>
                </a:moveTo>
                <a:lnTo>
                  <a:pt x="3350617" y="64639"/>
                </a:lnTo>
                <a:lnTo>
                  <a:pt x="3344672" y="117443"/>
                </a:lnTo>
                <a:lnTo>
                  <a:pt x="3335869" y="153054"/>
                </a:lnTo>
                <a:lnTo>
                  <a:pt x="3325114" y="166116"/>
                </a:lnTo>
                <a:lnTo>
                  <a:pt x="1704086" y="166116"/>
                </a:lnTo>
                <a:lnTo>
                  <a:pt x="1693330" y="179177"/>
                </a:lnTo>
                <a:lnTo>
                  <a:pt x="1684528" y="214788"/>
                </a:lnTo>
                <a:lnTo>
                  <a:pt x="1678582" y="267592"/>
                </a:lnTo>
                <a:lnTo>
                  <a:pt x="1676400" y="332232"/>
                </a:lnTo>
                <a:lnTo>
                  <a:pt x="1674217" y="267592"/>
                </a:lnTo>
                <a:lnTo>
                  <a:pt x="1668272" y="214788"/>
                </a:lnTo>
                <a:lnTo>
                  <a:pt x="1659469" y="179177"/>
                </a:lnTo>
                <a:lnTo>
                  <a:pt x="1648714" y="166116"/>
                </a:lnTo>
                <a:lnTo>
                  <a:pt x="27686" y="166116"/>
                </a:lnTo>
                <a:lnTo>
                  <a:pt x="16930" y="153054"/>
                </a:lnTo>
                <a:lnTo>
                  <a:pt x="8127" y="117443"/>
                </a:lnTo>
                <a:lnTo>
                  <a:pt x="2182" y="64639"/>
                </a:lnTo>
                <a:lnTo>
                  <a:pt x="0" y="0"/>
                </a:lnTo>
              </a:path>
            </a:pathLst>
          </a:custGeom>
          <a:ln w="31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296150" y="4917694"/>
            <a:ext cx="58166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300" spc="-30" baseline="11363">
                <a:latin typeface="Cambria Math"/>
                <a:cs typeface="Cambria Math"/>
              </a:rPr>
              <a:t>𝑺</a:t>
            </a:r>
            <a:r>
              <a:rPr sz="1600" spc="-20">
                <a:latin typeface="Cambria Math"/>
                <a:cs typeface="Cambria Math"/>
              </a:rPr>
              <a:t>𝒊+𝟏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2" name="object 6">
            <a:extLst>
              <a:ext uri="{FF2B5EF4-FFF2-40B4-BE49-F238E27FC236}">
                <a16:creationId xmlns:a16="http://schemas.microsoft.com/office/drawing/2014/main" id="{1C6FC26D-1854-EE47-8E70-752F9B1C047A}"/>
              </a:ext>
            </a:extLst>
          </p:cNvPr>
          <p:cNvSpPr/>
          <p:nvPr/>
        </p:nvSpPr>
        <p:spPr>
          <a:xfrm>
            <a:off x="5916167" y="2422398"/>
            <a:ext cx="2289175" cy="345440"/>
          </a:xfrm>
          <a:custGeom>
            <a:avLst/>
            <a:gdLst/>
            <a:ahLst/>
            <a:cxnLst/>
            <a:rect l="l" t="t" r="r" b="b"/>
            <a:pathLst>
              <a:path w="2289175" h="345439">
                <a:moveTo>
                  <a:pt x="2289048" y="0"/>
                </a:moveTo>
                <a:lnTo>
                  <a:pt x="2286795" y="67204"/>
                </a:lnTo>
                <a:lnTo>
                  <a:pt x="2280650" y="122062"/>
                </a:lnTo>
                <a:lnTo>
                  <a:pt x="2271527" y="159037"/>
                </a:lnTo>
                <a:lnTo>
                  <a:pt x="2260346" y="172592"/>
                </a:lnTo>
                <a:lnTo>
                  <a:pt x="1173226" y="172592"/>
                </a:lnTo>
                <a:lnTo>
                  <a:pt x="1162044" y="186148"/>
                </a:lnTo>
                <a:lnTo>
                  <a:pt x="1152921" y="223123"/>
                </a:lnTo>
                <a:lnTo>
                  <a:pt x="1146776" y="277981"/>
                </a:lnTo>
                <a:lnTo>
                  <a:pt x="1144524" y="345186"/>
                </a:lnTo>
                <a:lnTo>
                  <a:pt x="1142271" y="277981"/>
                </a:lnTo>
                <a:lnTo>
                  <a:pt x="1136126" y="223123"/>
                </a:lnTo>
                <a:lnTo>
                  <a:pt x="1127003" y="186148"/>
                </a:lnTo>
                <a:lnTo>
                  <a:pt x="1115822" y="172592"/>
                </a:lnTo>
                <a:lnTo>
                  <a:pt x="28702" y="172592"/>
                </a:lnTo>
                <a:lnTo>
                  <a:pt x="17520" y="159037"/>
                </a:lnTo>
                <a:lnTo>
                  <a:pt x="8397" y="122062"/>
                </a:lnTo>
                <a:lnTo>
                  <a:pt x="2252" y="67204"/>
                </a:lnTo>
                <a:lnTo>
                  <a:pt x="0" y="0"/>
                </a:lnTo>
              </a:path>
            </a:pathLst>
          </a:custGeom>
          <a:ln w="31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2971B9C2-EDF8-5F44-937B-B9BF3A8EA1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34109" y="110014"/>
            <a:ext cx="4961891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>
                <a:latin typeface="SimSun" panose="02010600030101010101" pitchFamily="2" charset="-122"/>
                <a:ea typeface="SimSun" panose="02010600030101010101" pitchFamily="2" charset="-122"/>
              </a:rPr>
              <a:t>规律证明：情况</a:t>
            </a:r>
            <a:r>
              <a:rPr b="1" spc="-50" dirty="0">
                <a:latin typeface="SimSun" panose="02010600030101010101" pitchFamily="2" charset="-122"/>
                <a:ea typeface="SimSun" panose="02010600030101010101" pitchFamily="2" charset="-122"/>
                <a:cs typeface="Times New Roman"/>
              </a:rPr>
              <a:t>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2940" y="945642"/>
            <a:ext cx="81038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80365" algn="l"/>
                <a:tab pos="381000" algn="l"/>
              </a:tabLst>
            </a:pPr>
            <a:r>
              <a:rPr sz="2800">
                <a:latin typeface="Cambria Math"/>
                <a:cs typeface="Cambria Math"/>
              </a:rPr>
              <a:t>𝑫</a:t>
            </a:r>
            <a:r>
              <a:rPr sz="3075" baseline="-14905">
                <a:latin typeface="Cambria Math"/>
                <a:cs typeface="Cambria Math"/>
              </a:rPr>
              <a:t>𝒊+𝟏</a:t>
            </a:r>
            <a:r>
              <a:rPr sz="2800">
                <a:latin typeface="PMingLiU"/>
                <a:cs typeface="PMingLiU"/>
              </a:rPr>
              <a:t>：以</a:t>
            </a:r>
            <a:r>
              <a:rPr sz="2800">
                <a:latin typeface="Cambria Math"/>
                <a:cs typeface="Cambria Math"/>
              </a:rPr>
              <a:t>𝑿[𝒊</a:t>
            </a:r>
            <a:r>
              <a:rPr sz="2800" spc="10">
                <a:latin typeface="Cambria Math"/>
                <a:cs typeface="Cambria Math"/>
              </a:rPr>
              <a:t> + </a:t>
            </a:r>
            <a:r>
              <a:rPr sz="2800" spc="-10">
                <a:latin typeface="Cambria Math"/>
                <a:cs typeface="Cambria Math"/>
              </a:rPr>
              <a:t>𝟏]</a:t>
            </a:r>
            <a:r>
              <a:rPr sz="2800" spc="15">
                <a:latin typeface="PMingLiU"/>
                <a:cs typeface="PMingLiU"/>
              </a:rPr>
              <a:t>开头的最大子数组和 (</a:t>
            </a:r>
            <a:r>
              <a:rPr sz="2800">
                <a:latin typeface="Cambria Math"/>
                <a:cs typeface="Cambria Math"/>
              </a:rPr>
              <a:t>𝑫</a:t>
            </a:r>
            <a:r>
              <a:rPr sz="3075" baseline="-14905">
                <a:latin typeface="Cambria Math"/>
                <a:cs typeface="Cambria Math"/>
              </a:rPr>
              <a:t>𝒊+𝟏</a:t>
            </a:r>
            <a:r>
              <a:rPr sz="3075" spc="719" baseline="-14905">
                <a:latin typeface="Cambria Math"/>
                <a:cs typeface="Cambria Math"/>
              </a:rPr>
              <a:t> </a:t>
            </a:r>
            <a:r>
              <a:rPr sz="2800" spc="95">
                <a:latin typeface="Cambria Math"/>
                <a:cs typeface="Cambria Math"/>
              </a:rPr>
              <a:t>≤ </a:t>
            </a:r>
            <a:r>
              <a:rPr sz="2800" spc="50">
                <a:latin typeface="Cambria Math"/>
                <a:cs typeface="Cambria Math"/>
              </a:rPr>
              <a:t>𝟎</a:t>
            </a:r>
            <a:r>
              <a:rPr sz="2800" spc="50">
                <a:latin typeface="PMingLiU"/>
                <a:cs typeface="PMingLiU"/>
              </a:rPr>
              <a:t>)</a:t>
            </a:r>
            <a:endParaRPr sz="2800">
              <a:latin typeface="PMingLiU"/>
              <a:cs typeface="PMingLiU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940" y="2828543"/>
            <a:ext cx="7150100" cy="744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404495" algn="r">
              <a:lnSpc>
                <a:spcPts val="2465"/>
              </a:lnSpc>
              <a:spcBef>
                <a:spcPts val="100"/>
              </a:spcBef>
            </a:pPr>
            <a:r>
              <a:rPr sz="3300" spc="-30" baseline="11363">
                <a:latin typeface="Cambria Math"/>
                <a:cs typeface="Cambria Math"/>
              </a:rPr>
              <a:t>𝑫</a:t>
            </a:r>
            <a:r>
              <a:rPr sz="1600" spc="-20">
                <a:latin typeface="Cambria Math"/>
                <a:cs typeface="Cambria Math"/>
              </a:rPr>
              <a:t>𝒊+𝟏</a:t>
            </a:r>
            <a:endParaRPr sz="1600">
              <a:latin typeface="Cambria Math"/>
              <a:cs typeface="Cambria Math"/>
            </a:endParaRPr>
          </a:p>
          <a:p>
            <a:pPr marL="381000" indent="-342900">
              <a:lnSpc>
                <a:spcPts val="3185"/>
              </a:lnSpc>
              <a:buClr>
                <a:srgbClr val="8092F0"/>
              </a:buClr>
              <a:buSzPct val="69642"/>
              <a:buFont typeface="Wingdings"/>
              <a:buChar char=""/>
              <a:tabLst>
                <a:tab pos="380365" algn="l"/>
                <a:tab pos="381000" algn="l"/>
              </a:tabLst>
            </a:pPr>
            <a:r>
              <a:rPr sz="2800">
                <a:latin typeface="Cambria Math"/>
                <a:cs typeface="Cambria Math"/>
              </a:rPr>
              <a:t>𝑺</a:t>
            </a:r>
            <a:r>
              <a:rPr sz="3075" baseline="-14905">
                <a:latin typeface="Cambria Math"/>
                <a:cs typeface="Cambria Math"/>
              </a:rPr>
              <a:t>𝒊+𝟏</a:t>
            </a:r>
            <a:r>
              <a:rPr sz="2800">
                <a:latin typeface="PMingLiU"/>
                <a:cs typeface="PMingLiU"/>
              </a:rPr>
              <a:t>：以</a:t>
            </a:r>
            <a:r>
              <a:rPr sz="2800">
                <a:latin typeface="Cambria Math"/>
                <a:cs typeface="Cambria Math"/>
              </a:rPr>
              <a:t>𝑿[𝒊 + </a:t>
            </a:r>
            <a:r>
              <a:rPr sz="2800" spc="-10">
                <a:latin typeface="Cambria Math"/>
                <a:cs typeface="Cambria Math"/>
              </a:rPr>
              <a:t>𝟏]</a:t>
            </a:r>
            <a:r>
              <a:rPr sz="2800" spc="15">
                <a:latin typeface="PMingLiU"/>
                <a:cs typeface="PMingLiU"/>
              </a:rPr>
              <a:t>开头的任一子数组和 (</a:t>
            </a:r>
            <a:r>
              <a:rPr sz="2800" spc="-10">
                <a:latin typeface="Cambria Math"/>
                <a:cs typeface="Cambria Math"/>
              </a:rPr>
              <a:t>𝑺</a:t>
            </a:r>
            <a:r>
              <a:rPr sz="3075" spc="-15" baseline="-14905">
                <a:latin typeface="Cambria Math"/>
                <a:cs typeface="Cambria Math"/>
              </a:rPr>
              <a:t>𝒊+𝟏</a:t>
            </a:r>
            <a:endParaRPr sz="3075" baseline="-14905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927593" y="3119881"/>
            <a:ext cx="12966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800">
                <a:latin typeface="Cambria Math"/>
                <a:cs typeface="Cambria Math"/>
              </a:rPr>
              <a:t>≤</a:t>
            </a:r>
            <a:r>
              <a:rPr sz="2800" spc="160">
                <a:latin typeface="Cambria Math"/>
                <a:cs typeface="Cambria Math"/>
              </a:rPr>
              <a:t> </a:t>
            </a:r>
            <a:r>
              <a:rPr sz="2800" spc="-20">
                <a:latin typeface="Cambria Math"/>
                <a:cs typeface="Cambria Math"/>
              </a:rPr>
              <a:t>𝑫</a:t>
            </a:r>
            <a:r>
              <a:rPr sz="3075" spc="-30" baseline="-14905">
                <a:latin typeface="Cambria Math"/>
                <a:cs typeface="Cambria Math"/>
              </a:rPr>
              <a:t>𝒊+𝟏</a:t>
            </a:r>
            <a:r>
              <a:rPr sz="2800" spc="-20">
                <a:latin typeface="PMingLiU"/>
                <a:cs typeface="PMingLiU"/>
              </a:rPr>
              <a:t>)</a:t>
            </a:r>
            <a:endParaRPr sz="2800">
              <a:latin typeface="PMingLiU"/>
              <a:cs typeface="PMingLiU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54353" y="5397500"/>
            <a:ext cx="77470" cy="331470"/>
          </a:xfrm>
          <a:custGeom>
            <a:avLst/>
            <a:gdLst/>
            <a:ahLst/>
            <a:cxnLst/>
            <a:rect l="l" t="t" r="r" b="b"/>
            <a:pathLst>
              <a:path w="77469" h="331470">
                <a:moveTo>
                  <a:pt x="77470" y="0"/>
                </a:moveTo>
                <a:lnTo>
                  <a:pt x="0" y="0"/>
                </a:lnTo>
                <a:lnTo>
                  <a:pt x="0" y="12700"/>
                </a:lnTo>
                <a:lnTo>
                  <a:pt x="48641" y="12700"/>
                </a:lnTo>
                <a:lnTo>
                  <a:pt x="48641" y="317500"/>
                </a:lnTo>
                <a:lnTo>
                  <a:pt x="0" y="317500"/>
                </a:lnTo>
                <a:lnTo>
                  <a:pt x="0" y="331470"/>
                </a:lnTo>
                <a:lnTo>
                  <a:pt x="77470" y="331470"/>
                </a:lnTo>
                <a:lnTo>
                  <a:pt x="77470" y="317500"/>
                </a:lnTo>
                <a:lnTo>
                  <a:pt x="77470" y="12700"/>
                </a:lnTo>
                <a:lnTo>
                  <a:pt x="774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29690" y="5397500"/>
            <a:ext cx="77470" cy="331470"/>
          </a:xfrm>
          <a:custGeom>
            <a:avLst/>
            <a:gdLst/>
            <a:ahLst/>
            <a:cxnLst/>
            <a:rect l="l" t="t" r="r" b="b"/>
            <a:pathLst>
              <a:path w="77469" h="331470">
                <a:moveTo>
                  <a:pt x="77470" y="0"/>
                </a:moveTo>
                <a:lnTo>
                  <a:pt x="0" y="0"/>
                </a:lnTo>
                <a:lnTo>
                  <a:pt x="0" y="12700"/>
                </a:lnTo>
                <a:lnTo>
                  <a:pt x="0" y="317500"/>
                </a:lnTo>
                <a:lnTo>
                  <a:pt x="0" y="331470"/>
                </a:lnTo>
                <a:lnTo>
                  <a:pt x="77470" y="331470"/>
                </a:lnTo>
                <a:lnTo>
                  <a:pt x="77470" y="317500"/>
                </a:lnTo>
                <a:lnTo>
                  <a:pt x="28829" y="317500"/>
                </a:lnTo>
                <a:lnTo>
                  <a:pt x="28829" y="12700"/>
                </a:lnTo>
                <a:lnTo>
                  <a:pt x="77470" y="12700"/>
                </a:lnTo>
                <a:lnTo>
                  <a:pt x="774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726053" y="5397500"/>
            <a:ext cx="77470" cy="331470"/>
          </a:xfrm>
          <a:custGeom>
            <a:avLst/>
            <a:gdLst/>
            <a:ahLst/>
            <a:cxnLst/>
            <a:rect l="l" t="t" r="r" b="b"/>
            <a:pathLst>
              <a:path w="77470" h="331470">
                <a:moveTo>
                  <a:pt x="77470" y="0"/>
                </a:moveTo>
                <a:lnTo>
                  <a:pt x="0" y="0"/>
                </a:lnTo>
                <a:lnTo>
                  <a:pt x="0" y="12700"/>
                </a:lnTo>
                <a:lnTo>
                  <a:pt x="48641" y="12700"/>
                </a:lnTo>
                <a:lnTo>
                  <a:pt x="48641" y="317500"/>
                </a:lnTo>
                <a:lnTo>
                  <a:pt x="0" y="317500"/>
                </a:lnTo>
                <a:lnTo>
                  <a:pt x="0" y="331470"/>
                </a:lnTo>
                <a:lnTo>
                  <a:pt x="77470" y="331470"/>
                </a:lnTo>
                <a:lnTo>
                  <a:pt x="77470" y="317500"/>
                </a:lnTo>
                <a:lnTo>
                  <a:pt x="77470" y="12700"/>
                </a:lnTo>
                <a:lnTo>
                  <a:pt x="774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501390" y="5397500"/>
            <a:ext cx="77470" cy="331470"/>
          </a:xfrm>
          <a:custGeom>
            <a:avLst/>
            <a:gdLst/>
            <a:ahLst/>
            <a:cxnLst/>
            <a:rect l="l" t="t" r="r" b="b"/>
            <a:pathLst>
              <a:path w="77470" h="331470">
                <a:moveTo>
                  <a:pt x="77470" y="0"/>
                </a:moveTo>
                <a:lnTo>
                  <a:pt x="0" y="0"/>
                </a:lnTo>
                <a:lnTo>
                  <a:pt x="0" y="12700"/>
                </a:lnTo>
                <a:lnTo>
                  <a:pt x="0" y="317500"/>
                </a:lnTo>
                <a:lnTo>
                  <a:pt x="0" y="331470"/>
                </a:lnTo>
                <a:lnTo>
                  <a:pt x="77470" y="331470"/>
                </a:lnTo>
                <a:lnTo>
                  <a:pt x="77470" y="317500"/>
                </a:lnTo>
                <a:lnTo>
                  <a:pt x="28829" y="317500"/>
                </a:lnTo>
                <a:lnTo>
                  <a:pt x="28829" y="12700"/>
                </a:lnTo>
                <a:lnTo>
                  <a:pt x="77470" y="12700"/>
                </a:lnTo>
                <a:lnTo>
                  <a:pt x="774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62940" y="5295900"/>
            <a:ext cx="434911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80365" algn="l"/>
                <a:tab pos="381000" algn="l"/>
                <a:tab pos="1086485" algn="l"/>
                <a:tab pos="3258820" algn="l"/>
              </a:tabLst>
            </a:pPr>
            <a:r>
              <a:rPr sz="2800">
                <a:latin typeface="Cambria Math"/>
                <a:cs typeface="Cambria Math"/>
              </a:rPr>
              <a:t>𝑿</a:t>
            </a:r>
            <a:r>
              <a:rPr sz="2800" spc="360">
                <a:latin typeface="Cambria Math"/>
                <a:cs typeface="Cambria Math"/>
              </a:rPr>
              <a:t> </a:t>
            </a:r>
            <a:r>
              <a:rPr sz="2800" spc="-50">
                <a:latin typeface="Cambria Math"/>
                <a:cs typeface="Cambria Math"/>
              </a:rPr>
              <a:t>𝒊</a:t>
            </a:r>
            <a:r>
              <a:rPr sz="2800">
                <a:latin typeface="Cambria Math"/>
                <a:cs typeface="Cambria Math"/>
              </a:rPr>
              <a:t>	+</a:t>
            </a:r>
            <a:r>
              <a:rPr sz="2800" spc="-15">
                <a:latin typeface="Cambria Math"/>
                <a:cs typeface="Cambria Math"/>
              </a:rPr>
              <a:t> </a:t>
            </a:r>
            <a:r>
              <a:rPr sz="2800">
                <a:latin typeface="Cambria Math"/>
                <a:cs typeface="Cambria Math"/>
              </a:rPr>
              <a:t>𝑺</a:t>
            </a:r>
            <a:r>
              <a:rPr sz="3075" baseline="-14905">
                <a:latin typeface="Cambria Math"/>
                <a:cs typeface="Cambria Math"/>
              </a:rPr>
              <a:t>𝒊+𝟏</a:t>
            </a:r>
            <a:r>
              <a:rPr sz="3075" spc="630" baseline="-14905">
                <a:latin typeface="Cambria Math"/>
                <a:cs typeface="Cambria Math"/>
              </a:rPr>
              <a:t> </a:t>
            </a:r>
            <a:r>
              <a:rPr sz="2800">
                <a:latin typeface="Cambria Math"/>
                <a:cs typeface="Cambria Math"/>
              </a:rPr>
              <a:t>≤</a:t>
            </a:r>
            <a:r>
              <a:rPr sz="2800" spc="135">
                <a:latin typeface="Cambria Math"/>
                <a:cs typeface="Cambria Math"/>
              </a:rPr>
              <a:t> </a:t>
            </a:r>
            <a:r>
              <a:rPr sz="2800">
                <a:latin typeface="Cambria Math"/>
                <a:cs typeface="Cambria Math"/>
              </a:rPr>
              <a:t>𝑿</a:t>
            </a:r>
            <a:r>
              <a:rPr sz="2800" spc="335">
                <a:latin typeface="Cambria Math"/>
                <a:cs typeface="Cambria Math"/>
              </a:rPr>
              <a:t> </a:t>
            </a:r>
            <a:r>
              <a:rPr sz="2800" spc="-50">
                <a:latin typeface="Cambria Math"/>
                <a:cs typeface="Cambria Math"/>
              </a:rPr>
              <a:t>𝒊</a:t>
            </a:r>
            <a:r>
              <a:rPr sz="2800">
                <a:latin typeface="Cambria Math"/>
                <a:cs typeface="Cambria Math"/>
              </a:rPr>
              <a:t>	+</a:t>
            </a:r>
            <a:r>
              <a:rPr sz="2800" spc="-10">
                <a:latin typeface="Cambria Math"/>
                <a:cs typeface="Cambria Math"/>
              </a:rPr>
              <a:t> </a:t>
            </a:r>
            <a:r>
              <a:rPr sz="2800" spc="-20">
                <a:latin typeface="Cambria Math"/>
                <a:cs typeface="Cambria Math"/>
              </a:rPr>
              <a:t>𝑫</a:t>
            </a:r>
            <a:r>
              <a:rPr sz="3075" spc="-30" baseline="-14905">
                <a:latin typeface="Cambria Math"/>
                <a:cs typeface="Cambria Math"/>
              </a:rPr>
              <a:t>𝒊+𝟏</a:t>
            </a:r>
            <a:endParaRPr sz="3075" baseline="-14905">
              <a:latin typeface="Cambria Math"/>
              <a:cs typeface="Cambria Math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2393188" y="1981835"/>
          <a:ext cx="8128634" cy="7778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1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58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61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760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6077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marL="2952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2512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𝑿[𝒊]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AF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9200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𝑿[𝒊</a:t>
                      </a:r>
                      <a:r>
                        <a:rPr sz="20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+</a:t>
                      </a:r>
                      <a:r>
                        <a:rPr sz="2000" spc="-1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9200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9200"/>
                    </a:solidFill>
                  </a:tcPr>
                </a:tc>
                <a:tc>
                  <a:txBody>
                    <a:bodyPr/>
                    <a:lstStyle/>
                    <a:p>
                      <a:pPr marR="5334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185"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2085">
                <a:tc grid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object 12"/>
          <p:cNvSpPr/>
          <p:nvPr/>
        </p:nvSpPr>
        <p:spPr>
          <a:xfrm>
            <a:off x="5916167" y="4524755"/>
            <a:ext cx="3352800" cy="332740"/>
          </a:xfrm>
          <a:custGeom>
            <a:avLst/>
            <a:gdLst/>
            <a:ahLst/>
            <a:cxnLst/>
            <a:rect l="l" t="t" r="r" b="b"/>
            <a:pathLst>
              <a:path w="3352800" h="332739">
                <a:moveTo>
                  <a:pt x="3352800" y="0"/>
                </a:moveTo>
                <a:lnTo>
                  <a:pt x="3350617" y="64639"/>
                </a:lnTo>
                <a:lnTo>
                  <a:pt x="3344672" y="117443"/>
                </a:lnTo>
                <a:lnTo>
                  <a:pt x="3335869" y="153054"/>
                </a:lnTo>
                <a:lnTo>
                  <a:pt x="3325114" y="166116"/>
                </a:lnTo>
                <a:lnTo>
                  <a:pt x="1704086" y="166116"/>
                </a:lnTo>
                <a:lnTo>
                  <a:pt x="1693330" y="179177"/>
                </a:lnTo>
                <a:lnTo>
                  <a:pt x="1684528" y="214788"/>
                </a:lnTo>
                <a:lnTo>
                  <a:pt x="1678582" y="267592"/>
                </a:lnTo>
                <a:lnTo>
                  <a:pt x="1676400" y="332232"/>
                </a:lnTo>
                <a:lnTo>
                  <a:pt x="1674217" y="267592"/>
                </a:lnTo>
                <a:lnTo>
                  <a:pt x="1668272" y="214788"/>
                </a:lnTo>
                <a:lnTo>
                  <a:pt x="1659469" y="179177"/>
                </a:lnTo>
                <a:lnTo>
                  <a:pt x="1648714" y="166116"/>
                </a:lnTo>
                <a:lnTo>
                  <a:pt x="27686" y="166116"/>
                </a:lnTo>
                <a:lnTo>
                  <a:pt x="16930" y="153054"/>
                </a:lnTo>
                <a:lnTo>
                  <a:pt x="8127" y="117443"/>
                </a:lnTo>
                <a:lnTo>
                  <a:pt x="2182" y="64639"/>
                </a:lnTo>
                <a:lnTo>
                  <a:pt x="0" y="0"/>
                </a:lnTo>
              </a:path>
            </a:pathLst>
          </a:custGeom>
          <a:ln w="31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296150" y="4917694"/>
            <a:ext cx="58166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300" spc="-30" baseline="11363">
                <a:latin typeface="Cambria Math"/>
                <a:cs typeface="Cambria Math"/>
              </a:rPr>
              <a:t>𝑺</a:t>
            </a:r>
            <a:r>
              <a:rPr sz="1600" spc="-20">
                <a:latin typeface="Cambria Math"/>
                <a:cs typeface="Cambria Math"/>
              </a:rPr>
              <a:t>𝒊+𝟏</a:t>
            </a:r>
            <a:endParaRPr sz="1600">
              <a:latin typeface="Cambria Math"/>
              <a:cs typeface="Cambria Math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2393188" y="4083811"/>
          <a:ext cx="8129903" cy="7658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1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4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3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14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marL="2952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2512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𝑿[𝒊]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AF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5969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𝑿[𝒊</a:t>
                      </a:r>
                      <a:r>
                        <a:rPr sz="20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+</a:t>
                      </a:r>
                      <a:r>
                        <a:rPr sz="2000" spc="-1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R="5334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 grid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object 6">
            <a:extLst>
              <a:ext uri="{FF2B5EF4-FFF2-40B4-BE49-F238E27FC236}">
                <a16:creationId xmlns:a16="http://schemas.microsoft.com/office/drawing/2014/main" id="{8F3AE861-CD34-B34E-B82D-86490D468EB8}"/>
              </a:ext>
            </a:extLst>
          </p:cNvPr>
          <p:cNvSpPr/>
          <p:nvPr/>
        </p:nvSpPr>
        <p:spPr>
          <a:xfrm>
            <a:off x="5916167" y="2422398"/>
            <a:ext cx="2289175" cy="345440"/>
          </a:xfrm>
          <a:custGeom>
            <a:avLst/>
            <a:gdLst/>
            <a:ahLst/>
            <a:cxnLst/>
            <a:rect l="l" t="t" r="r" b="b"/>
            <a:pathLst>
              <a:path w="2289175" h="345439">
                <a:moveTo>
                  <a:pt x="2289048" y="0"/>
                </a:moveTo>
                <a:lnTo>
                  <a:pt x="2286795" y="67204"/>
                </a:lnTo>
                <a:lnTo>
                  <a:pt x="2280650" y="122062"/>
                </a:lnTo>
                <a:lnTo>
                  <a:pt x="2271527" y="159037"/>
                </a:lnTo>
                <a:lnTo>
                  <a:pt x="2260346" y="172592"/>
                </a:lnTo>
                <a:lnTo>
                  <a:pt x="1173226" y="172592"/>
                </a:lnTo>
                <a:lnTo>
                  <a:pt x="1162044" y="186148"/>
                </a:lnTo>
                <a:lnTo>
                  <a:pt x="1152921" y="223123"/>
                </a:lnTo>
                <a:lnTo>
                  <a:pt x="1146776" y="277981"/>
                </a:lnTo>
                <a:lnTo>
                  <a:pt x="1144524" y="345186"/>
                </a:lnTo>
                <a:lnTo>
                  <a:pt x="1142271" y="277981"/>
                </a:lnTo>
                <a:lnTo>
                  <a:pt x="1136126" y="223123"/>
                </a:lnTo>
                <a:lnTo>
                  <a:pt x="1127003" y="186148"/>
                </a:lnTo>
                <a:lnTo>
                  <a:pt x="1115822" y="172592"/>
                </a:lnTo>
                <a:lnTo>
                  <a:pt x="28702" y="172592"/>
                </a:lnTo>
                <a:lnTo>
                  <a:pt x="17520" y="159037"/>
                </a:lnTo>
                <a:lnTo>
                  <a:pt x="8397" y="122062"/>
                </a:lnTo>
                <a:lnTo>
                  <a:pt x="2252" y="67204"/>
                </a:lnTo>
                <a:lnTo>
                  <a:pt x="0" y="0"/>
                </a:lnTo>
              </a:path>
            </a:pathLst>
          </a:custGeom>
          <a:ln w="31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3">
            <a:extLst>
              <a:ext uri="{FF2B5EF4-FFF2-40B4-BE49-F238E27FC236}">
                <a16:creationId xmlns:a16="http://schemas.microsoft.com/office/drawing/2014/main" id="{1FF3CAE6-FA1B-0545-A97A-0538565D1C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34109" y="110014"/>
            <a:ext cx="4961891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>
                <a:latin typeface="SimSun" panose="02010600030101010101" pitchFamily="2" charset="-122"/>
                <a:ea typeface="SimSun" panose="02010600030101010101" pitchFamily="2" charset="-122"/>
              </a:rPr>
              <a:t>规律证明：情况</a:t>
            </a:r>
            <a:r>
              <a:rPr b="1" spc="-50" dirty="0">
                <a:latin typeface="SimSun" panose="02010600030101010101" pitchFamily="2" charset="-122"/>
                <a:ea typeface="SimSun" panose="02010600030101010101" pitchFamily="2" charset="-122"/>
                <a:cs typeface="Times New Roman"/>
              </a:rPr>
              <a:t>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2940" y="945642"/>
            <a:ext cx="81038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80365" algn="l"/>
                <a:tab pos="381000" algn="l"/>
              </a:tabLst>
            </a:pPr>
            <a:r>
              <a:rPr sz="2800">
                <a:latin typeface="Cambria Math"/>
                <a:cs typeface="Cambria Math"/>
              </a:rPr>
              <a:t>𝑫</a:t>
            </a:r>
            <a:r>
              <a:rPr sz="3075" baseline="-14905">
                <a:latin typeface="Cambria Math"/>
                <a:cs typeface="Cambria Math"/>
              </a:rPr>
              <a:t>𝒊+𝟏</a:t>
            </a:r>
            <a:r>
              <a:rPr sz="2800">
                <a:latin typeface="PMingLiU"/>
                <a:cs typeface="PMingLiU"/>
              </a:rPr>
              <a:t>：以</a:t>
            </a:r>
            <a:r>
              <a:rPr sz="2800">
                <a:latin typeface="Cambria Math"/>
                <a:cs typeface="Cambria Math"/>
              </a:rPr>
              <a:t>𝑿[𝒊</a:t>
            </a:r>
            <a:r>
              <a:rPr sz="2800" spc="10">
                <a:latin typeface="Cambria Math"/>
                <a:cs typeface="Cambria Math"/>
              </a:rPr>
              <a:t> + </a:t>
            </a:r>
            <a:r>
              <a:rPr sz="2800" spc="-10">
                <a:latin typeface="Cambria Math"/>
                <a:cs typeface="Cambria Math"/>
              </a:rPr>
              <a:t>𝟏]</a:t>
            </a:r>
            <a:r>
              <a:rPr sz="2800" spc="15">
                <a:latin typeface="PMingLiU"/>
                <a:cs typeface="PMingLiU"/>
              </a:rPr>
              <a:t>开头的最大子数组和 (</a:t>
            </a:r>
            <a:r>
              <a:rPr sz="2800">
                <a:latin typeface="Cambria Math"/>
                <a:cs typeface="Cambria Math"/>
              </a:rPr>
              <a:t>𝑫</a:t>
            </a:r>
            <a:r>
              <a:rPr sz="3075" baseline="-14905">
                <a:latin typeface="Cambria Math"/>
                <a:cs typeface="Cambria Math"/>
              </a:rPr>
              <a:t>𝒊+𝟏</a:t>
            </a:r>
            <a:r>
              <a:rPr sz="3075" spc="719" baseline="-14905">
                <a:latin typeface="Cambria Math"/>
                <a:cs typeface="Cambria Math"/>
              </a:rPr>
              <a:t> </a:t>
            </a:r>
            <a:r>
              <a:rPr sz="2800" spc="95">
                <a:latin typeface="Cambria Math"/>
                <a:cs typeface="Cambria Math"/>
              </a:rPr>
              <a:t>≤ </a:t>
            </a:r>
            <a:r>
              <a:rPr sz="2800" spc="50">
                <a:latin typeface="Cambria Math"/>
                <a:cs typeface="Cambria Math"/>
              </a:rPr>
              <a:t>𝟎</a:t>
            </a:r>
            <a:r>
              <a:rPr sz="2800" spc="50">
                <a:latin typeface="PMingLiU"/>
                <a:cs typeface="PMingLiU"/>
              </a:rPr>
              <a:t>)</a:t>
            </a:r>
            <a:endParaRPr sz="2800">
              <a:latin typeface="PMingLiU"/>
              <a:cs typeface="PMingLiU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940" y="2828543"/>
            <a:ext cx="7150100" cy="744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404495" algn="r">
              <a:lnSpc>
                <a:spcPts val="2465"/>
              </a:lnSpc>
              <a:spcBef>
                <a:spcPts val="100"/>
              </a:spcBef>
            </a:pPr>
            <a:r>
              <a:rPr sz="3300" spc="-30" baseline="11363">
                <a:latin typeface="Cambria Math"/>
                <a:cs typeface="Cambria Math"/>
              </a:rPr>
              <a:t>𝑫</a:t>
            </a:r>
            <a:r>
              <a:rPr sz="1600" spc="-20">
                <a:latin typeface="Cambria Math"/>
                <a:cs typeface="Cambria Math"/>
              </a:rPr>
              <a:t>𝒊+𝟏</a:t>
            </a:r>
            <a:endParaRPr sz="1600">
              <a:latin typeface="Cambria Math"/>
              <a:cs typeface="Cambria Math"/>
            </a:endParaRPr>
          </a:p>
          <a:p>
            <a:pPr marL="381000" indent="-342900">
              <a:lnSpc>
                <a:spcPts val="3185"/>
              </a:lnSpc>
              <a:buClr>
                <a:srgbClr val="8092F0"/>
              </a:buClr>
              <a:buSzPct val="69642"/>
              <a:buFont typeface="Wingdings"/>
              <a:buChar char=""/>
              <a:tabLst>
                <a:tab pos="380365" algn="l"/>
                <a:tab pos="381000" algn="l"/>
              </a:tabLst>
            </a:pPr>
            <a:r>
              <a:rPr sz="2800">
                <a:latin typeface="Cambria Math"/>
                <a:cs typeface="Cambria Math"/>
              </a:rPr>
              <a:t>𝑺</a:t>
            </a:r>
            <a:r>
              <a:rPr sz="3075" baseline="-14905">
                <a:latin typeface="Cambria Math"/>
                <a:cs typeface="Cambria Math"/>
              </a:rPr>
              <a:t>𝒊+𝟏</a:t>
            </a:r>
            <a:r>
              <a:rPr sz="2800">
                <a:latin typeface="PMingLiU"/>
                <a:cs typeface="PMingLiU"/>
              </a:rPr>
              <a:t>：以</a:t>
            </a:r>
            <a:r>
              <a:rPr sz="2800">
                <a:latin typeface="Cambria Math"/>
                <a:cs typeface="Cambria Math"/>
              </a:rPr>
              <a:t>𝑿[𝒊 + </a:t>
            </a:r>
            <a:r>
              <a:rPr sz="2800" spc="-10">
                <a:latin typeface="Cambria Math"/>
                <a:cs typeface="Cambria Math"/>
              </a:rPr>
              <a:t>𝟏]</a:t>
            </a:r>
            <a:r>
              <a:rPr sz="2800" spc="15">
                <a:latin typeface="PMingLiU"/>
                <a:cs typeface="PMingLiU"/>
              </a:rPr>
              <a:t>开头的任一子数组和 (</a:t>
            </a:r>
            <a:r>
              <a:rPr sz="2800" spc="-10">
                <a:latin typeface="Cambria Math"/>
                <a:cs typeface="Cambria Math"/>
              </a:rPr>
              <a:t>𝑺</a:t>
            </a:r>
            <a:r>
              <a:rPr sz="3075" spc="-15" baseline="-14905">
                <a:latin typeface="Cambria Math"/>
                <a:cs typeface="Cambria Math"/>
              </a:rPr>
              <a:t>𝒊+𝟏</a:t>
            </a:r>
            <a:endParaRPr sz="3075" baseline="-14905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927593" y="3119881"/>
            <a:ext cx="12966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800">
                <a:latin typeface="Cambria Math"/>
                <a:cs typeface="Cambria Math"/>
              </a:rPr>
              <a:t>≤</a:t>
            </a:r>
            <a:r>
              <a:rPr sz="2800" spc="160">
                <a:latin typeface="Cambria Math"/>
                <a:cs typeface="Cambria Math"/>
              </a:rPr>
              <a:t> </a:t>
            </a:r>
            <a:r>
              <a:rPr sz="2800" spc="-20">
                <a:latin typeface="Cambria Math"/>
                <a:cs typeface="Cambria Math"/>
              </a:rPr>
              <a:t>𝑫</a:t>
            </a:r>
            <a:r>
              <a:rPr sz="3075" spc="-30" baseline="-14905">
                <a:latin typeface="Cambria Math"/>
                <a:cs typeface="Cambria Math"/>
              </a:rPr>
              <a:t>𝒊+𝟏</a:t>
            </a:r>
            <a:r>
              <a:rPr sz="2800" spc="-20">
                <a:latin typeface="PMingLiU"/>
                <a:cs typeface="PMingLiU"/>
              </a:rPr>
              <a:t>)</a:t>
            </a:r>
            <a:endParaRPr sz="2800">
              <a:latin typeface="PMingLiU"/>
              <a:cs typeface="PMingLiU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54353" y="5397500"/>
            <a:ext cx="77470" cy="331470"/>
          </a:xfrm>
          <a:custGeom>
            <a:avLst/>
            <a:gdLst/>
            <a:ahLst/>
            <a:cxnLst/>
            <a:rect l="l" t="t" r="r" b="b"/>
            <a:pathLst>
              <a:path w="77469" h="331470">
                <a:moveTo>
                  <a:pt x="77470" y="0"/>
                </a:moveTo>
                <a:lnTo>
                  <a:pt x="0" y="0"/>
                </a:lnTo>
                <a:lnTo>
                  <a:pt x="0" y="12700"/>
                </a:lnTo>
                <a:lnTo>
                  <a:pt x="48641" y="12700"/>
                </a:lnTo>
                <a:lnTo>
                  <a:pt x="48641" y="317500"/>
                </a:lnTo>
                <a:lnTo>
                  <a:pt x="0" y="317500"/>
                </a:lnTo>
                <a:lnTo>
                  <a:pt x="0" y="331470"/>
                </a:lnTo>
                <a:lnTo>
                  <a:pt x="77470" y="331470"/>
                </a:lnTo>
                <a:lnTo>
                  <a:pt x="77470" y="317500"/>
                </a:lnTo>
                <a:lnTo>
                  <a:pt x="77470" y="12700"/>
                </a:lnTo>
                <a:lnTo>
                  <a:pt x="774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29690" y="5397500"/>
            <a:ext cx="77470" cy="331470"/>
          </a:xfrm>
          <a:custGeom>
            <a:avLst/>
            <a:gdLst/>
            <a:ahLst/>
            <a:cxnLst/>
            <a:rect l="l" t="t" r="r" b="b"/>
            <a:pathLst>
              <a:path w="77469" h="331470">
                <a:moveTo>
                  <a:pt x="77470" y="0"/>
                </a:moveTo>
                <a:lnTo>
                  <a:pt x="0" y="0"/>
                </a:lnTo>
                <a:lnTo>
                  <a:pt x="0" y="12700"/>
                </a:lnTo>
                <a:lnTo>
                  <a:pt x="0" y="317500"/>
                </a:lnTo>
                <a:lnTo>
                  <a:pt x="0" y="331470"/>
                </a:lnTo>
                <a:lnTo>
                  <a:pt x="77470" y="331470"/>
                </a:lnTo>
                <a:lnTo>
                  <a:pt x="77470" y="317500"/>
                </a:lnTo>
                <a:lnTo>
                  <a:pt x="28829" y="317500"/>
                </a:lnTo>
                <a:lnTo>
                  <a:pt x="28829" y="12700"/>
                </a:lnTo>
                <a:lnTo>
                  <a:pt x="77470" y="12700"/>
                </a:lnTo>
                <a:lnTo>
                  <a:pt x="774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726053" y="5397500"/>
            <a:ext cx="77470" cy="331470"/>
          </a:xfrm>
          <a:custGeom>
            <a:avLst/>
            <a:gdLst/>
            <a:ahLst/>
            <a:cxnLst/>
            <a:rect l="l" t="t" r="r" b="b"/>
            <a:pathLst>
              <a:path w="77470" h="331470">
                <a:moveTo>
                  <a:pt x="77470" y="0"/>
                </a:moveTo>
                <a:lnTo>
                  <a:pt x="0" y="0"/>
                </a:lnTo>
                <a:lnTo>
                  <a:pt x="0" y="12700"/>
                </a:lnTo>
                <a:lnTo>
                  <a:pt x="48641" y="12700"/>
                </a:lnTo>
                <a:lnTo>
                  <a:pt x="48641" y="317500"/>
                </a:lnTo>
                <a:lnTo>
                  <a:pt x="0" y="317500"/>
                </a:lnTo>
                <a:lnTo>
                  <a:pt x="0" y="331470"/>
                </a:lnTo>
                <a:lnTo>
                  <a:pt x="77470" y="331470"/>
                </a:lnTo>
                <a:lnTo>
                  <a:pt x="77470" y="317500"/>
                </a:lnTo>
                <a:lnTo>
                  <a:pt x="77470" y="12700"/>
                </a:lnTo>
                <a:lnTo>
                  <a:pt x="774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501390" y="5397500"/>
            <a:ext cx="77470" cy="331470"/>
          </a:xfrm>
          <a:custGeom>
            <a:avLst/>
            <a:gdLst/>
            <a:ahLst/>
            <a:cxnLst/>
            <a:rect l="l" t="t" r="r" b="b"/>
            <a:pathLst>
              <a:path w="77470" h="331470">
                <a:moveTo>
                  <a:pt x="77470" y="0"/>
                </a:moveTo>
                <a:lnTo>
                  <a:pt x="0" y="0"/>
                </a:lnTo>
                <a:lnTo>
                  <a:pt x="0" y="12700"/>
                </a:lnTo>
                <a:lnTo>
                  <a:pt x="0" y="317500"/>
                </a:lnTo>
                <a:lnTo>
                  <a:pt x="0" y="331470"/>
                </a:lnTo>
                <a:lnTo>
                  <a:pt x="77470" y="331470"/>
                </a:lnTo>
                <a:lnTo>
                  <a:pt x="77470" y="317500"/>
                </a:lnTo>
                <a:lnTo>
                  <a:pt x="28829" y="317500"/>
                </a:lnTo>
                <a:lnTo>
                  <a:pt x="28829" y="12700"/>
                </a:lnTo>
                <a:lnTo>
                  <a:pt x="77470" y="12700"/>
                </a:lnTo>
                <a:lnTo>
                  <a:pt x="774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50240" y="4884223"/>
            <a:ext cx="7240270" cy="864869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R="43180" algn="r">
              <a:lnSpc>
                <a:spcPct val="100000"/>
              </a:lnSpc>
              <a:spcBef>
                <a:spcPts val="365"/>
              </a:spcBef>
            </a:pPr>
            <a:r>
              <a:rPr sz="3300" spc="-30" baseline="11363">
                <a:latin typeface="Cambria Math"/>
                <a:cs typeface="Cambria Math"/>
              </a:rPr>
              <a:t>𝑺</a:t>
            </a:r>
            <a:r>
              <a:rPr sz="1600" spc="-20">
                <a:latin typeface="Cambria Math"/>
                <a:cs typeface="Cambria Math"/>
              </a:rPr>
              <a:t>𝒊+𝟏</a:t>
            </a:r>
            <a:endParaRPr sz="1600">
              <a:latin typeface="Cambria Math"/>
              <a:cs typeface="Cambria Math"/>
            </a:endParaRPr>
          </a:p>
          <a:p>
            <a:pPr marL="393700" indent="-342900">
              <a:lnSpc>
                <a:spcPct val="100000"/>
              </a:lnSpc>
              <a:spcBef>
                <a:spcPts val="34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93065" algn="l"/>
                <a:tab pos="393700" algn="l"/>
                <a:tab pos="1099185" algn="l"/>
                <a:tab pos="3271520" algn="l"/>
              </a:tabLst>
            </a:pPr>
            <a:r>
              <a:rPr sz="2800">
                <a:latin typeface="Cambria Math"/>
                <a:cs typeface="Cambria Math"/>
              </a:rPr>
              <a:t>𝑿</a:t>
            </a:r>
            <a:r>
              <a:rPr sz="2800" spc="360">
                <a:latin typeface="Cambria Math"/>
                <a:cs typeface="Cambria Math"/>
              </a:rPr>
              <a:t> </a:t>
            </a:r>
            <a:r>
              <a:rPr sz="2800" spc="-50">
                <a:latin typeface="Cambria Math"/>
                <a:cs typeface="Cambria Math"/>
              </a:rPr>
              <a:t>𝒊</a:t>
            </a:r>
            <a:r>
              <a:rPr sz="2800">
                <a:latin typeface="Cambria Math"/>
                <a:cs typeface="Cambria Math"/>
              </a:rPr>
              <a:t>	+</a:t>
            </a:r>
            <a:r>
              <a:rPr sz="2800" spc="-15">
                <a:latin typeface="Cambria Math"/>
                <a:cs typeface="Cambria Math"/>
              </a:rPr>
              <a:t> </a:t>
            </a:r>
            <a:r>
              <a:rPr sz="2800">
                <a:latin typeface="Cambria Math"/>
                <a:cs typeface="Cambria Math"/>
              </a:rPr>
              <a:t>𝑺</a:t>
            </a:r>
            <a:r>
              <a:rPr sz="3075" baseline="-14905">
                <a:latin typeface="Cambria Math"/>
                <a:cs typeface="Cambria Math"/>
              </a:rPr>
              <a:t>𝒊+𝟏</a:t>
            </a:r>
            <a:r>
              <a:rPr sz="3075" spc="630" baseline="-14905">
                <a:latin typeface="Cambria Math"/>
                <a:cs typeface="Cambria Math"/>
              </a:rPr>
              <a:t> </a:t>
            </a:r>
            <a:r>
              <a:rPr sz="2800">
                <a:latin typeface="Cambria Math"/>
                <a:cs typeface="Cambria Math"/>
              </a:rPr>
              <a:t>≤</a:t>
            </a:r>
            <a:r>
              <a:rPr sz="2800" spc="135">
                <a:latin typeface="Cambria Math"/>
                <a:cs typeface="Cambria Math"/>
              </a:rPr>
              <a:t> </a:t>
            </a:r>
            <a:r>
              <a:rPr sz="2800">
                <a:latin typeface="Cambria Math"/>
                <a:cs typeface="Cambria Math"/>
              </a:rPr>
              <a:t>𝑿</a:t>
            </a:r>
            <a:r>
              <a:rPr sz="2800" spc="335">
                <a:latin typeface="Cambria Math"/>
                <a:cs typeface="Cambria Math"/>
              </a:rPr>
              <a:t> </a:t>
            </a:r>
            <a:r>
              <a:rPr sz="2800" spc="-50">
                <a:latin typeface="Cambria Math"/>
                <a:cs typeface="Cambria Math"/>
              </a:rPr>
              <a:t>𝒊</a:t>
            </a:r>
            <a:r>
              <a:rPr sz="2800">
                <a:latin typeface="Cambria Math"/>
                <a:cs typeface="Cambria Math"/>
              </a:rPr>
              <a:t>	+</a:t>
            </a:r>
            <a:r>
              <a:rPr sz="2800" spc="-35">
                <a:latin typeface="Cambria Math"/>
                <a:cs typeface="Cambria Math"/>
              </a:rPr>
              <a:t> </a:t>
            </a:r>
            <a:r>
              <a:rPr sz="2800">
                <a:latin typeface="Cambria Math"/>
                <a:cs typeface="Cambria Math"/>
              </a:rPr>
              <a:t>𝑫</a:t>
            </a:r>
            <a:r>
              <a:rPr sz="3075" baseline="-14905">
                <a:latin typeface="Cambria Math"/>
                <a:cs typeface="Cambria Math"/>
              </a:rPr>
              <a:t>𝒊+𝟏</a:t>
            </a:r>
            <a:r>
              <a:rPr sz="3075" spc="622" baseline="-14905">
                <a:latin typeface="Cambria Math"/>
                <a:cs typeface="Cambria Math"/>
              </a:rPr>
              <a:t> </a:t>
            </a: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≤</a:t>
            </a:r>
            <a:r>
              <a:rPr sz="2800" spc="13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 spc="-20">
                <a:solidFill>
                  <a:srgbClr val="FF0000"/>
                </a:solidFill>
                <a:latin typeface="Cambria Math"/>
                <a:cs typeface="Cambria Math"/>
              </a:rPr>
              <a:t>𝑿[𝒊]</a:t>
            </a:r>
            <a:endParaRPr sz="2800">
              <a:latin typeface="Cambria Math"/>
              <a:cs typeface="Cambria Math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2393188" y="1981835"/>
          <a:ext cx="8128634" cy="7778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1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58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61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760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6077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marL="2952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2512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𝑿[𝒊]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AF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9200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𝑿[𝒊</a:t>
                      </a:r>
                      <a:r>
                        <a:rPr sz="20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+</a:t>
                      </a:r>
                      <a:r>
                        <a:rPr sz="2000" spc="-1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9200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9200"/>
                    </a:solidFill>
                  </a:tcPr>
                </a:tc>
                <a:tc>
                  <a:txBody>
                    <a:bodyPr/>
                    <a:lstStyle/>
                    <a:p>
                      <a:pPr marR="5334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185"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2085">
                <a:tc grid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object 12"/>
          <p:cNvSpPr/>
          <p:nvPr/>
        </p:nvSpPr>
        <p:spPr>
          <a:xfrm>
            <a:off x="5916167" y="4524755"/>
            <a:ext cx="3352800" cy="332740"/>
          </a:xfrm>
          <a:custGeom>
            <a:avLst/>
            <a:gdLst/>
            <a:ahLst/>
            <a:cxnLst/>
            <a:rect l="l" t="t" r="r" b="b"/>
            <a:pathLst>
              <a:path w="3352800" h="332739">
                <a:moveTo>
                  <a:pt x="3352800" y="0"/>
                </a:moveTo>
                <a:lnTo>
                  <a:pt x="3350617" y="64639"/>
                </a:lnTo>
                <a:lnTo>
                  <a:pt x="3344672" y="117443"/>
                </a:lnTo>
                <a:lnTo>
                  <a:pt x="3335869" y="153054"/>
                </a:lnTo>
                <a:lnTo>
                  <a:pt x="3325114" y="166116"/>
                </a:lnTo>
                <a:lnTo>
                  <a:pt x="1704086" y="166116"/>
                </a:lnTo>
                <a:lnTo>
                  <a:pt x="1693330" y="179177"/>
                </a:lnTo>
                <a:lnTo>
                  <a:pt x="1684528" y="214788"/>
                </a:lnTo>
                <a:lnTo>
                  <a:pt x="1678582" y="267592"/>
                </a:lnTo>
                <a:lnTo>
                  <a:pt x="1676400" y="332232"/>
                </a:lnTo>
                <a:lnTo>
                  <a:pt x="1674217" y="267592"/>
                </a:lnTo>
                <a:lnTo>
                  <a:pt x="1668272" y="214788"/>
                </a:lnTo>
                <a:lnTo>
                  <a:pt x="1659469" y="179177"/>
                </a:lnTo>
                <a:lnTo>
                  <a:pt x="1648714" y="166116"/>
                </a:lnTo>
                <a:lnTo>
                  <a:pt x="27686" y="166116"/>
                </a:lnTo>
                <a:lnTo>
                  <a:pt x="16930" y="153054"/>
                </a:lnTo>
                <a:lnTo>
                  <a:pt x="8127" y="117443"/>
                </a:lnTo>
                <a:lnTo>
                  <a:pt x="2182" y="64639"/>
                </a:lnTo>
                <a:lnTo>
                  <a:pt x="0" y="0"/>
                </a:lnTo>
              </a:path>
            </a:pathLst>
          </a:custGeom>
          <a:ln w="31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2393188" y="4083811"/>
          <a:ext cx="8129903" cy="7658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1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4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3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14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marL="2952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2512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𝑿[𝒊]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AF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5969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𝑿[𝒊</a:t>
                      </a:r>
                      <a:r>
                        <a:rPr sz="20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+</a:t>
                      </a:r>
                      <a:r>
                        <a:rPr sz="2000" spc="-1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R="5334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 grid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object 6">
            <a:extLst>
              <a:ext uri="{FF2B5EF4-FFF2-40B4-BE49-F238E27FC236}">
                <a16:creationId xmlns:a16="http://schemas.microsoft.com/office/drawing/2014/main" id="{8F7934CE-13B5-3B4A-ABDB-F660F7C88B92}"/>
              </a:ext>
            </a:extLst>
          </p:cNvPr>
          <p:cNvSpPr/>
          <p:nvPr/>
        </p:nvSpPr>
        <p:spPr>
          <a:xfrm>
            <a:off x="5916167" y="2422398"/>
            <a:ext cx="2289175" cy="345440"/>
          </a:xfrm>
          <a:custGeom>
            <a:avLst/>
            <a:gdLst/>
            <a:ahLst/>
            <a:cxnLst/>
            <a:rect l="l" t="t" r="r" b="b"/>
            <a:pathLst>
              <a:path w="2289175" h="345439">
                <a:moveTo>
                  <a:pt x="2289048" y="0"/>
                </a:moveTo>
                <a:lnTo>
                  <a:pt x="2286795" y="67204"/>
                </a:lnTo>
                <a:lnTo>
                  <a:pt x="2280650" y="122062"/>
                </a:lnTo>
                <a:lnTo>
                  <a:pt x="2271527" y="159037"/>
                </a:lnTo>
                <a:lnTo>
                  <a:pt x="2260346" y="172592"/>
                </a:lnTo>
                <a:lnTo>
                  <a:pt x="1173226" y="172592"/>
                </a:lnTo>
                <a:lnTo>
                  <a:pt x="1162044" y="186148"/>
                </a:lnTo>
                <a:lnTo>
                  <a:pt x="1152921" y="223123"/>
                </a:lnTo>
                <a:lnTo>
                  <a:pt x="1146776" y="277981"/>
                </a:lnTo>
                <a:lnTo>
                  <a:pt x="1144524" y="345186"/>
                </a:lnTo>
                <a:lnTo>
                  <a:pt x="1142271" y="277981"/>
                </a:lnTo>
                <a:lnTo>
                  <a:pt x="1136126" y="223123"/>
                </a:lnTo>
                <a:lnTo>
                  <a:pt x="1127003" y="186148"/>
                </a:lnTo>
                <a:lnTo>
                  <a:pt x="1115822" y="172592"/>
                </a:lnTo>
                <a:lnTo>
                  <a:pt x="28702" y="172592"/>
                </a:lnTo>
                <a:lnTo>
                  <a:pt x="17520" y="159037"/>
                </a:lnTo>
                <a:lnTo>
                  <a:pt x="8397" y="122062"/>
                </a:lnTo>
                <a:lnTo>
                  <a:pt x="2252" y="67204"/>
                </a:lnTo>
                <a:lnTo>
                  <a:pt x="0" y="0"/>
                </a:lnTo>
              </a:path>
            </a:pathLst>
          </a:custGeom>
          <a:ln w="31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3">
            <a:extLst>
              <a:ext uri="{FF2B5EF4-FFF2-40B4-BE49-F238E27FC236}">
                <a16:creationId xmlns:a16="http://schemas.microsoft.com/office/drawing/2014/main" id="{4725ECEE-B5FE-C649-AF28-6CABDFD46B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34109" y="110014"/>
            <a:ext cx="4961891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>
                <a:latin typeface="SimSun" panose="02010600030101010101" pitchFamily="2" charset="-122"/>
                <a:ea typeface="SimSun" panose="02010600030101010101" pitchFamily="2" charset="-122"/>
              </a:rPr>
              <a:t>规律证明：情况</a:t>
            </a:r>
            <a:r>
              <a:rPr b="1" spc="-50" dirty="0">
                <a:latin typeface="SimSun" panose="02010600030101010101" pitchFamily="2" charset="-122"/>
                <a:ea typeface="SimSun" panose="02010600030101010101" pitchFamily="2" charset="-122"/>
                <a:cs typeface="Times New Roman"/>
              </a:rPr>
              <a:t>2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2940" y="945642"/>
            <a:ext cx="81038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80365" algn="l"/>
                <a:tab pos="381000" algn="l"/>
              </a:tabLst>
            </a:pPr>
            <a:r>
              <a:rPr sz="2800">
                <a:latin typeface="Cambria Math"/>
                <a:cs typeface="Cambria Math"/>
              </a:rPr>
              <a:t>𝑫</a:t>
            </a:r>
            <a:r>
              <a:rPr sz="3075" baseline="-14905">
                <a:latin typeface="Cambria Math"/>
                <a:cs typeface="Cambria Math"/>
              </a:rPr>
              <a:t>𝒊+𝟏</a:t>
            </a:r>
            <a:r>
              <a:rPr sz="2800">
                <a:latin typeface="PMingLiU"/>
                <a:cs typeface="PMingLiU"/>
              </a:rPr>
              <a:t>：以</a:t>
            </a:r>
            <a:r>
              <a:rPr sz="2800">
                <a:latin typeface="Cambria Math"/>
                <a:cs typeface="Cambria Math"/>
              </a:rPr>
              <a:t>𝑿[𝒊</a:t>
            </a:r>
            <a:r>
              <a:rPr sz="2800" spc="10">
                <a:latin typeface="Cambria Math"/>
                <a:cs typeface="Cambria Math"/>
              </a:rPr>
              <a:t> + </a:t>
            </a:r>
            <a:r>
              <a:rPr sz="2800" spc="-10">
                <a:latin typeface="Cambria Math"/>
                <a:cs typeface="Cambria Math"/>
              </a:rPr>
              <a:t>𝟏]</a:t>
            </a:r>
            <a:r>
              <a:rPr sz="2800" spc="15">
                <a:latin typeface="PMingLiU"/>
                <a:cs typeface="PMingLiU"/>
              </a:rPr>
              <a:t>开头的最大子数组和 (</a:t>
            </a:r>
            <a:r>
              <a:rPr sz="2800">
                <a:latin typeface="Cambria Math"/>
                <a:cs typeface="Cambria Math"/>
              </a:rPr>
              <a:t>𝑫</a:t>
            </a:r>
            <a:r>
              <a:rPr sz="3075" baseline="-14905">
                <a:latin typeface="Cambria Math"/>
                <a:cs typeface="Cambria Math"/>
              </a:rPr>
              <a:t>𝒊+𝟏</a:t>
            </a:r>
            <a:r>
              <a:rPr sz="3075" spc="719" baseline="-14905">
                <a:latin typeface="Cambria Math"/>
                <a:cs typeface="Cambria Math"/>
              </a:rPr>
              <a:t> </a:t>
            </a:r>
            <a:r>
              <a:rPr sz="2800" spc="95">
                <a:latin typeface="Cambria Math"/>
                <a:cs typeface="Cambria Math"/>
              </a:rPr>
              <a:t>≤ </a:t>
            </a:r>
            <a:r>
              <a:rPr sz="2800" spc="50">
                <a:latin typeface="Cambria Math"/>
                <a:cs typeface="Cambria Math"/>
              </a:rPr>
              <a:t>𝟎</a:t>
            </a:r>
            <a:r>
              <a:rPr sz="2800" spc="50">
                <a:latin typeface="PMingLiU"/>
                <a:cs typeface="PMingLiU"/>
              </a:rPr>
              <a:t>)</a:t>
            </a:r>
            <a:endParaRPr sz="2800">
              <a:latin typeface="PMingLiU"/>
              <a:cs typeface="PMingLiU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940" y="2828543"/>
            <a:ext cx="7150100" cy="744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404495" algn="r">
              <a:lnSpc>
                <a:spcPts val="2465"/>
              </a:lnSpc>
              <a:spcBef>
                <a:spcPts val="100"/>
              </a:spcBef>
            </a:pPr>
            <a:r>
              <a:rPr sz="3300" spc="-30" baseline="11363">
                <a:latin typeface="Cambria Math"/>
                <a:cs typeface="Cambria Math"/>
              </a:rPr>
              <a:t>𝑫</a:t>
            </a:r>
            <a:r>
              <a:rPr sz="1600" spc="-20">
                <a:latin typeface="Cambria Math"/>
                <a:cs typeface="Cambria Math"/>
              </a:rPr>
              <a:t>𝒊+𝟏</a:t>
            </a:r>
            <a:endParaRPr sz="1600">
              <a:latin typeface="Cambria Math"/>
              <a:cs typeface="Cambria Math"/>
            </a:endParaRPr>
          </a:p>
          <a:p>
            <a:pPr marL="381000" indent="-342900">
              <a:lnSpc>
                <a:spcPts val="3185"/>
              </a:lnSpc>
              <a:buClr>
                <a:srgbClr val="8092F0"/>
              </a:buClr>
              <a:buSzPct val="69642"/>
              <a:buFont typeface="Wingdings"/>
              <a:buChar char=""/>
              <a:tabLst>
                <a:tab pos="380365" algn="l"/>
                <a:tab pos="381000" algn="l"/>
              </a:tabLst>
            </a:pPr>
            <a:r>
              <a:rPr sz="2800">
                <a:latin typeface="Cambria Math"/>
                <a:cs typeface="Cambria Math"/>
              </a:rPr>
              <a:t>𝑺</a:t>
            </a:r>
            <a:r>
              <a:rPr sz="3075" baseline="-14905">
                <a:latin typeface="Cambria Math"/>
                <a:cs typeface="Cambria Math"/>
              </a:rPr>
              <a:t>𝒊+𝟏</a:t>
            </a:r>
            <a:r>
              <a:rPr sz="2800">
                <a:latin typeface="PMingLiU"/>
                <a:cs typeface="PMingLiU"/>
              </a:rPr>
              <a:t>：以</a:t>
            </a:r>
            <a:r>
              <a:rPr sz="2800">
                <a:latin typeface="Cambria Math"/>
                <a:cs typeface="Cambria Math"/>
              </a:rPr>
              <a:t>𝑿[𝒊 + </a:t>
            </a:r>
            <a:r>
              <a:rPr sz="2800" spc="-10">
                <a:latin typeface="Cambria Math"/>
                <a:cs typeface="Cambria Math"/>
              </a:rPr>
              <a:t>𝟏]</a:t>
            </a:r>
            <a:r>
              <a:rPr sz="2800" spc="15">
                <a:latin typeface="PMingLiU"/>
                <a:cs typeface="PMingLiU"/>
              </a:rPr>
              <a:t>开头的任一子数组和 (</a:t>
            </a:r>
            <a:r>
              <a:rPr sz="2800" spc="-10">
                <a:latin typeface="Cambria Math"/>
                <a:cs typeface="Cambria Math"/>
              </a:rPr>
              <a:t>𝑺</a:t>
            </a:r>
            <a:r>
              <a:rPr sz="3075" spc="-15" baseline="-14905">
                <a:latin typeface="Cambria Math"/>
                <a:cs typeface="Cambria Math"/>
              </a:rPr>
              <a:t>𝒊+𝟏</a:t>
            </a:r>
            <a:endParaRPr sz="3075" baseline="-14905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927593" y="3119881"/>
            <a:ext cx="12966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800">
                <a:latin typeface="Cambria Math"/>
                <a:cs typeface="Cambria Math"/>
              </a:rPr>
              <a:t>≤</a:t>
            </a:r>
            <a:r>
              <a:rPr sz="2800" spc="160">
                <a:latin typeface="Cambria Math"/>
                <a:cs typeface="Cambria Math"/>
              </a:rPr>
              <a:t> </a:t>
            </a:r>
            <a:r>
              <a:rPr sz="2800" spc="-20">
                <a:latin typeface="Cambria Math"/>
                <a:cs typeface="Cambria Math"/>
              </a:rPr>
              <a:t>𝑫</a:t>
            </a:r>
            <a:r>
              <a:rPr sz="3075" spc="-30" baseline="-14905">
                <a:latin typeface="Cambria Math"/>
                <a:cs typeface="Cambria Math"/>
              </a:rPr>
              <a:t>𝒊+𝟏</a:t>
            </a:r>
            <a:r>
              <a:rPr sz="2800" spc="-20">
                <a:latin typeface="PMingLiU"/>
                <a:cs typeface="PMingLiU"/>
              </a:rPr>
              <a:t>)</a:t>
            </a:r>
            <a:endParaRPr sz="2800">
              <a:latin typeface="PMingLiU"/>
              <a:cs typeface="PMingLiU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54353" y="5397500"/>
            <a:ext cx="77470" cy="331470"/>
          </a:xfrm>
          <a:custGeom>
            <a:avLst/>
            <a:gdLst/>
            <a:ahLst/>
            <a:cxnLst/>
            <a:rect l="l" t="t" r="r" b="b"/>
            <a:pathLst>
              <a:path w="77469" h="331470">
                <a:moveTo>
                  <a:pt x="77470" y="0"/>
                </a:moveTo>
                <a:lnTo>
                  <a:pt x="0" y="0"/>
                </a:lnTo>
                <a:lnTo>
                  <a:pt x="0" y="12700"/>
                </a:lnTo>
                <a:lnTo>
                  <a:pt x="48641" y="12700"/>
                </a:lnTo>
                <a:lnTo>
                  <a:pt x="48641" y="317500"/>
                </a:lnTo>
                <a:lnTo>
                  <a:pt x="0" y="317500"/>
                </a:lnTo>
                <a:lnTo>
                  <a:pt x="0" y="331470"/>
                </a:lnTo>
                <a:lnTo>
                  <a:pt x="77470" y="331470"/>
                </a:lnTo>
                <a:lnTo>
                  <a:pt x="77470" y="317500"/>
                </a:lnTo>
                <a:lnTo>
                  <a:pt x="77470" y="12700"/>
                </a:lnTo>
                <a:lnTo>
                  <a:pt x="774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29690" y="5397500"/>
            <a:ext cx="77470" cy="331470"/>
          </a:xfrm>
          <a:custGeom>
            <a:avLst/>
            <a:gdLst/>
            <a:ahLst/>
            <a:cxnLst/>
            <a:rect l="l" t="t" r="r" b="b"/>
            <a:pathLst>
              <a:path w="77469" h="331470">
                <a:moveTo>
                  <a:pt x="77470" y="0"/>
                </a:moveTo>
                <a:lnTo>
                  <a:pt x="0" y="0"/>
                </a:lnTo>
                <a:lnTo>
                  <a:pt x="0" y="12700"/>
                </a:lnTo>
                <a:lnTo>
                  <a:pt x="0" y="317500"/>
                </a:lnTo>
                <a:lnTo>
                  <a:pt x="0" y="331470"/>
                </a:lnTo>
                <a:lnTo>
                  <a:pt x="77470" y="331470"/>
                </a:lnTo>
                <a:lnTo>
                  <a:pt x="77470" y="317500"/>
                </a:lnTo>
                <a:lnTo>
                  <a:pt x="28829" y="317500"/>
                </a:lnTo>
                <a:lnTo>
                  <a:pt x="28829" y="12700"/>
                </a:lnTo>
                <a:lnTo>
                  <a:pt x="77470" y="12700"/>
                </a:lnTo>
                <a:lnTo>
                  <a:pt x="774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726053" y="5397500"/>
            <a:ext cx="77470" cy="331470"/>
          </a:xfrm>
          <a:custGeom>
            <a:avLst/>
            <a:gdLst/>
            <a:ahLst/>
            <a:cxnLst/>
            <a:rect l="l" t="t" r="r" b="b"/>
            <a:pathLst>
              <a:path w="77470" h="331470">
                <a:moveTo>
                  <a:pt x="77470" y="0"/>
                </a:moveTo>
                <a:lnTo>
                  <a:pt x="0" y="0"/>
                </a:lnTo>
                <a:lnTo>
                  <a:pt x="0" y="12700"/>
                </a:lnTo>
                <a:lnTo>
                  <a:pt x="48641" y="12700"/>
                </a:lnTo>
                <a:lnTo>
                  <a:pt x="48641" y="317500"/>
                </a:lnTo>
                <a:lnTo>
                  <a:pt x="0" y="317500"/>
                </a:lnTo>
                <a:lnTo>
                  <a:pt x="0" y="331470"/>
                </a:lnTo>
                <a:lnTo>
                  <a:pt x="77470" y="331470"/>
                </a:lnTo>
                <a:lnTo>
                  <a:pt x="77470" y="317500"/>
                </a:lnTo>
                <a:lnTo>
                  <a:pt x="77470" y="12700"/>
                </a:lnTo>
                <a:lnTo>
                  <a:pt x="774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501390" y="5397500"/>
            <a:ext cx="77470" cy="331470"/>
          </a:xfrm>
          <a:custGeom>
            <a:avLst/>
            <a:gdLst/>
            <a:ahLst/>
            <a:cxnLst/>
            <a:rect l="l" t="t" r="r" b="b"/>
            <a:pathLst>
              <a:path w="77470" h="331470">
                <a:moveTo>
                  <a:pt x="77470" y="0"/>
                </a:moveTo>
                <a:lnTo>
                  <a:pt x="0" y="0"/>
                </a:lnTo>
                <a:lnTo>
                  <a:pt x="0" y="12700"/>
                </a:lnTo>
                <a:lnTo>
                  <a:pt x="0" y="317500"/>
                </a:lnTo>
                <a:lnTo>
                  <a:pt x="0" y="331470"/>
                </a:lnTo>
                <a:lnTo>
                  <a:pt x="77470" y="331470"/>
                </a:lnTo>
                <a:lnTo>
                  <a:pt x="77470" y="317500"/>
                </a:lnTo>
                <a:lnTo>
                  <a:pt x="28829" y="317500"/>
                </a:lnTo>
                <a:lnTo>
                  <a:pt x="28829" y="12700"/>
                </a:lnTo>
                <a:lnTo>
                  <a:pt x="77470" y="12700"/>
                </a:lnTo>
                <a:lnTo>
                  <a:pt x="774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37540" y="4884223"/>
            <a:ext cx="7265670" cy="159004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R="55880" algn="r">
              <a:lnSpc>
                <a:spcPct val="100000"/>
              </a:lnSpc>
              <a:spcBef>
                <a:spcPts val="365"/>
              </a:spcBef>
            </a:pPr>
            <a:r>
              <a:rPr sz="3300" spc="-30" baseline="11363" dirty="0">
                <a:latin typeface="Cambria Math"/>
                <a:cs typeface="Cambria Math"/>
              </a:rPr>
              <a:t>𝑺</a:t>
            </a:r>
            <a:r>
              <a:rPr sz="1600" spc="-20" dirty="0">
                <a:latin typeface="Cambria Math"/>
                <a:cs typeface="Cambria Math"/>
              </a:rPr>
              <a:t>𝒊+𝟏</a:t>
            </a:r>
            <a:endParaRPr sz="1600" dirty="0">
              <a:latin typeface="Cambria Math"/>
              <a:cs typeface="Cambria Math"/>
            </a:endParaRPr>
          </a:p>
          <a:p>
            <a:pPr marL="406400" indent="-342900">
              <a:lnSpc>
                <a:spcPct val="100000"/>
              </a:lnSpc>
              <a:spcBef>
                <a:spcPts val="34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405765" algn="l"/>
                <a:tab pos="406400" algn="l"/>
                <a:tab pos="1111885" algn="l"/>
                <a:tab pos="3284220" algn="l"/>
              </a:tabLst>
            </a:pPr>
            <a:r>
              <a:rPr sz="2800" dirty="0">
                <a:latin typeface="Cambria Math"/>
                <a:cs typeface="Cambria Math"/>
              </a:rPr>
              <a:t>𝑿</a:t>
            </a:r>
            <a:r>
              <a:rPr sz="2800" spc="360" dirty="0">
                <a:latin typeface="Cambria Math"/>
                <a:cs typeface="Cambria Math"/>
              </a:rPr>
              <a:t> </a:t>
            </a:r>
            <a:r>
              <a:rPr sz="2800" spc="-50" dirty="0">
                <a:latin typeface="Cambria Math"/>
                <a:cs typeface="Cambria Math"/>
              </a:rPr>
              <a:t>𝒊</a:t>
            </a:r>
            <a:r>
              <a:rPr sz="2800" dirty="0">
                <a:latin typeface="Cambria Math"/>
                <a:cs typeface="Cambria Math"/>
              </a:rPr>
              <a:t>	+</a:t>
            </a:r>
            <a:r>
              <a:rPr sz="2800" spc="-1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𝑺</a:t>
            </a:r>
            <a:r>
              <a:rPr sz="3075" baseline="-14905" dirty="0">
                <a:latin typeface="Cambria Math"/>
                <a:cs typeface="Cambria Math"/>
              </a:rPr>
              <a:t>𝒊+𝟏</a:t>
            </a:r>
            <a:r>
              <a:rPr sz="3075" spc="630" baseline="-1490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≤</a:t>
            </a:r>
            <a:r>
              <a:rPr sz="2800" spc="13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𝑿</a:t>
            </a:r>
            <a:r>
              <a:rPr sz="2800" spc="335" dirty="0">
                <a:latin typeface="Cambria Math"/>
                <a:cs typeface="Cambria Math"/>
              </a:rPr>
              <a:t> </a:t>
            </a:r>
            <a:r>
              <a:rPr sz="2800" spc="-50" dirty="0">
                <a:latin typeface="Cambria Math"/>
                <a:cs typeface="Cambria Math"/>
              </a:rPr>
              <a:t>𝒊</a:t>
            </a:r>
            <a:r>
              <a:rPr sz="2800" dirty="0">
                <a:latin typeface="Cambria Math"/>
                <a:cs typeface="Cambria Math"/>
              </a:rPr>
              <a:t>	+</a:t>
            </a:r>
            <a:r>
              <a:rPr sz="2800" spc="-3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𝑫</a:t>
            </a:r>
            <a:r>
              <a:rPr sz="3075" baseline="-14905" dirty="0">
                <a:latin typeface="Cambria Math"/>
                <a:cs typeface="Cambria Math"/>
              </a:rPr>
              <a:t>𝒊+𝟏</a:t>
            </a:r>
            <a:r>
              <a:rPr sz="3075" spc="622" baseline="-1490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≤</a:t>
            </a:r>
            <a:r>
              <a:rPr sz="2800" spc="130" dirty="0">
                <a:latin typeface="Cambria Math"/>
                <a:cs typeface="Cambria Math"/>
              </a:rPr>
              <a:t> </a:t>
            </a:r>
            <a:r>
              <a:rPr sz="2800" spc="-20" dirty="0">
                <a:latin typeface="Cambria Math"/>
                <a:cs typeface="Cambria Math"/>
              </a:rPr>
              <a:t>𝑿[𝒊]</a:t>
            </a:r>
            <a:endParaRPr sz="2800" dirty="0">
              <a:latin typeface="Cambria Math"/>
              <a:cs typeface="Cambria Math"/>
            </a:endParaRPr>
          </a:p>
          <a:p>
            <a:pPr marL="406400" indent="-342900">
              <a:lnSpc>
                <a:spcPct val="100000"/>
              </a:lnSpc>
              <a:spcBef>
                <a:spcPts val="235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405765" algn="l"/>
                <a:tab pos="406400" algn="l"/>
              </a:tabLst>
            </a:pPr>
            <a:r>
              <a:rPr sz="2800" dirty="0">
                <a:latin typeface="Cambria Math"/>
                <a:cs typeface="Cambria Math"/>
              </a:rPr>
              <a:t>𝑫</a:t>
            </a:r>
            <a:r>
              <a:rPr sz="3075" baseline="-14905" dirty="0">
                <a:latin typeface="Cambria Math"/>
                <a:cs typeface="Cambria Math"/>
              </a:rPr>
              <a:t>𝒊</a:t>
            </a:r>
            <a:r>
              <a:rPr sz="3075" spc="652" baseline="-1490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=</a:t>
            </a:r>
            <a:r>
              <a:rPr sz="2800" spc="150" dirty="0">
                <a:latin typeface="Cambria Math"/>
                <a:cs typeface="Cambria Math"/>
              </a:rPr>
              <a:t> </a:t>
            </a:r>
            <a:r>
              <a:rPr sz="2800" spc="-20" dirty="0">
                <a:latin typeface="Cambria Math"/>
                <a:cs typeface="Cambria Math"/>
              </a:rPr>
              <a:t>𝑿[𝒊]</a:t>
            </a:r>
            <a:endParaRPr sz="2800" dirty="0">
              <a:latin typeface="Cambria Math"/>
              <a:cs typeface="Cambria Math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2393188" y="1981835"/>
          <a:ext cx="8128634" cy="7778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1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58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61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760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6077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marL="2952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2512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𝑿[𝒊]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AF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9200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𝑿[𝒊</a:t>
                      </a:r>
                      <a:r>
                        <a:rPr sz="20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+</a:t>
                      </a:r>
                      <a:r>
                        <a:rPr sz="2000" spc="-1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9200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9200"/>
                    </a:solidFill>
                  </a:tcPr>
                </a:tc>
                <a:tc>
                  <a:txBody>
                    <a:bodyPr/>
                    <a:lstStyle/>
                    <a:p>
                      <a:pPr marR="5334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185"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2085">
                <a:tc grid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object 12"/>
          <p:cNvSpPr/>
          <p:nvPr/>
        </p:nvSpPr>
        <p:spPr>
          <a:xfrm>
            <a:off x="5916167" y="4524755"/>
            <a:ext cx="3352800" cy="332740"/>
          </a:xfrm>
          <a:custGeom>
            <a:avLst/>
            <a:gdLst/>
            <a:ahLst/>
            <a:cxnLst/>
            <a:rect l="l" t="t" r="r" b="b"/>
            <a:pathLst>
              <a:path w="3352800" h="332739">
                <a:moveTo>
                  <a:pt x="3352800" y="0"/>
                </a:moveTo>
                <a:lnTo>
                  <a:pt x="3350617" y="64639"/>
                </a:lnTo>
                <a:lnTo>
                  <a:pt x="3344672" y="117443"/>
                </a:lnTo>
                <a:lnTo>
                  <a:pt x="3335869" y="153054"/>
                </a:lnTo>
                <a:lnTo>
                  <a:pt x="3325114" y="166116"/>
                </a:lnTo>
                <a:lnTo>
                  <a:pt x="1704086" y="166116"/>
                </a:lnTo>
                <a:lnTo>
                  <a:pt x="1693330" y="179177"/>
                </a:lnTo>
                <a:lnTo>
                  <a:pt x="1684528" y="214788"/>
                </a:lnTo>
                <a:lnTo>
                  <a:pt x="1678582" y="267592"/>
                </a:lnTo>
                <a:lnTo>
                  <a:pt x="1676400" y="332232"/>
                </a:lnTo>
                <a:lnTo>
                  <a:pt x="1674217" y="267592"/>
                </a:lnTo>
                <a:lnTo>
                  <a:pt x="1668272" y="214788"/>
                </a:lnTo>
                <a:lnTo>
                  <a:pt x="1659469" y="179177"/>
                </a:lnTo>
                <a:lnTo>
                  <a:pt x="1648714" y="166116"/>
                </a:lnTo>
                <a:lnTo>
                  <a:pt x="27686" y="166116"/>
                </a:lnTo>
                <a:lnTo>
                  <a:pt x="16930" y="153054"/>
                </a:lnTo>
                <a:lnTo>
                  <a:pt x="8127" y="117443"/>
                </a:lnTo>
                <a:lnTo>
                  <a:pt x="2182" y="64639"/>
                </a:lnTo>
                <a:lnTo>
                  <a:pt x="0" y="0"/>
                </a:lnTo>
              </a:path>
            </a:pathLst>
          </a:custGeom>
          <a:ln w="31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2393188" y="4083811"/>
          <a:ext cx="8129903" cy="7658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1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4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3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14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marL="2952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2512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𝑿[𝒊]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AF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5969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𝑿[𝒊</a:t>
                      </a:r>
                      <a:r>
                        <a:rPr sz="20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+</a:t>
                      </a:r>
                      <a:r>
                        <a:rPr sz="2000" spc="-1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R="5334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 grid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object 6">
            <a:extLst>
              <a:ext uri="{FF2B5EF4-FFF2-40B4-BE49-F238E27FC236}">
                <a16:creationId xmlns:a16="http://schemas.microsoft.com/office/drawing/2014/main" id="{7669DF68-F30C-0D4D-8765-C89D8E09139A}"/>
              </a:ext>
            </a:extLst>
          </p:cNvPr>
          <p:cNvSpPr/>
          <p:nvPr/>
        </p:nvSpPr>
        <p:spPr>
          <a:xfrm>
            <a:off x="5916167" y="2422398"/>
            <a:ext cx="2289175" cy="345440"/>
          </a:xfrm>
          <a:custGeom>
            <a:avLst/>
            <a:gdLst/>
            <a:ahLst/>
            <a:cxnLst/>
            <a:rect l="l" t="t" r="r" b="b"/>
            <a:pathLst>
              <a:path w="2289175" h="345439">
                <a:moveTo>
                  <a:pt x="2289048" y="0"/>
                </a:moveTo>
                <a:lnTo>
                  <a:pt x="2286795" y="67204"/>
                </a:lnTo>
                <a:lnTo>
                  <a:pt x="2280650" y="122062"/>
                </a:lnTo>
                <a:lnTo>
                  <a:pt x="2271527" y="159037"/>
                </a:lnTo>
                <a:lnTo>
                  <a:pt x="2260346" y="172592"/>
                </a:lnTo>
                <a:lnTo>
                  <a:pt x="1173226" y="172592"/>
                </a:lnTo>
                <a:lnTo>
                  <a:pt x="1162044" y="186148"/>
                </a:lnTo>
                <a:lnTo>
                  <a:pt x="1152921" y="223123"/>
                </a:lnTo>
                <a:lnTo>
                  <a:pt x="1146776" y="277981"/>
                </a:lnTo>
                <a:lnTo>
                  <a:pt x="1144524" y="345186"/>
                </a:lnTo>
                <a:lnTo>
                  <a:pt x="1142271" y="277981"/>
                </a:lnTo>
                <a:lnTo>
                  <a:pt x="1136126" y="223123"/>
                </a:lnTo>
                <a:lnTo>
                  <a:pt x="1127003" y="186148"/>
                </a:lnTo>
                <a:lnTo>
                  <a:pt x="1115822" y="172592"/>
                </a:lnTo>
                <a:lnTo>
                  <a:pt x="28702" y="172592"/>
                </a:lnTo>
                <a:lnTo>
                  <a:pt x="17520" y="159037"/>
                </a:lnTo>
                <a:lnTo>
                  <a:pt x="8397" y="122062"/>
                </a:lnTo>
                <a:lnTo>
                  <a:pt x="2252" y="67204"/>
                </a:lnTo>
                <a:lnTo>
                  <a:pt x="0" y="0"/>
                </a:lnTo>
              </a:path>
            </a:pathLst>
          </a:custGeom>
          <a:ln w="31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3">
            <a:extLst>
              <a:ext uri="{FF2B5EF4-FFF2-40B4-BE49-F238E27FC236}">
                <a16:creationId xmlns:a16="http://schemas.microsoft.com/office/drawing/2014/main" id="{B6F94E8F-306A-734F-9F87-8B79F39F7E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34109" y="110014"/>
            <a:ext cx="4961891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>
                <a:latin typeface="SimSun" panose="02010600030101010101" pitchFamily="2" charset="-122"/>
                <a:ea typeface="SimSun" panose="02010600030101010101" pitchFamily="2" charset="-122"/>
              </a:rPr>
              <a:t>规律证明：情况</a:t>
            </a:r>
            <a:r>
              <a:rPr b="1" spc="-50" dirty="0">
                <a:latin typeface="SimSun" panose="02010600030101010101" pitchFamily="2" charset="-122"/>
                <a:ea typeface="SimSun" panose="02010600030101010101" pitchFamily="2" charset="-122"/>
                <a:cs typeface="Times New Roman"/>
              </a:rPr>
              <a:t>2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9620" y="1202182"/>
            <a:ext cx="250380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给出问题表示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14043" y="2217927"/>
            <a:ext cx="46875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0045" indent="-347980">
              <a:lnSpc>
                <a:spcPct val="100000"/>
              </a:lnSpc>
              <a:spcBef>
                <a:spcPts val="10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360045" algn="l"/>
                <a:tab pos="360680" algn="l"/>
              </a:tabLst>
            </a:pPr>
            <a:r>
              <a:rPr sz="2400">
                <a:latin typeface="Cambria Math"/>
                <a:cs typeface="Cambria Math"/>
              </a:rPr>
              <a:t>𝑫[𝒊]</a:t>
            </a:r>
            <a:r>
              <a:rPr sz="2400" spc="35">
                <a:latin typeface="PMingLiU"/>
                <a:cs typeface="PMingLiU"/>
              </a:rPr>
              <a:t>: 以</a:t>
            </a:r>
            <a:r>
              <a:rPr sz="2400" spc="-10">
                <a:latin typeface="Cambria Math"/>
                <a:cs typeface="Cambria Math"/>
              </a:rPr>
              <a:t>𝑿[𝒊]</a:t>
            </a:r>
            <a:r>
              <a:rPr sz="2400" spc="-10">
                <a:latin typeface="PMingLiU"/>
                <a:cs typeface="PMingLiU"/>
              </a:rPr>
              <a:t>开头的最大子数组和</a:t>
            </a:r>
            <a:endParaRPr sz="2400">
              <a:latin typeface="PMingLiU"/>
              <a:cs typeface="PMingLiU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9620" y="3982212"/>
            <a:ext cx="250380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明确原始问题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17140" y="5306568"/>
            <a:ext cx="66484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80">
                <a:latin typeface="Cambria Math"/>
                <a:cs typeface="Cambria Math"/>
              </a:rPr>
              <a:t>𝟏≤𝒊≤𝒏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183762" y="5126100"/>
            <a:ext cx="762635" cy="283845"/>
          </a:xfrm>
          <a:custGeom>
            <a:avLst/>
            <a:gdLst/>
            <a:ahLst/>
            <a:cxnLst/>
            <a:rect l="l" t="t" r="r" b="b"/>
            <a:pathLst>
              <a:path w="762635" h="283845">
                <a:moveTo>
                  <a:pt x="671576" y="0"/>
                </a:moveTo>
                <a:lnTo>
                  <a:pt x="667639" y="0"/>
                </a:lnTo>
                <a:lnTo>
                  <a:pt x="667639" y="11302"/>
                </a:lnTo>
                <a:lnTo>
                  <a:pt x="669925" y="11302"/>
                </a:lnTo>
                <a:lnTo>
                  <a:pt x="680114" y="11995"/>
                </a:lnTo>
                <a:lnTo>
                  <a:pt x="712851" y="37417"/>
                </a:lnTo>
                <a:lnTo>
                  <a:pt x="715899" y="59689"/>
                </a:lnTo>
                <a:lnTo>
                  <a:pt x="715710" y="65164"/>
                </a:lnTo>
                <a:lnTo>
                  <a:pt x="715152" y="71294"/>
                </a:lnTo>
                <a:lnTo>
                  <a:pt x="714238" y="78067"/>
                </a:lnTo>
                <a:lnTo>
                  <a:pt x="712978" y="85470"/>
                </a:lnTo>
                <a:lnTo>
                  <a:pt x="710945" y="95630"/>
                </a:lnTo>
                <a:lnTo>
                  <a:pt x="709930" y="102869"/>
                </a:lnTo>
                <a:lnTo>
                  <a:pt x="709930" y="115696"/>
                </a:lnTo>
                <a:lnTo>
                  <a:pt x="712469" y="122681"/>
                </a:lnTo>
                <a:lnTo>
                  <a:pt x="717422" y="128015"/>
                </a:lnTo>
                <a:lnTo>
                  <a:pt x="722376" y="133476"/>
                </a:lnTo>
                <a:lnTo>
                  <a:pt x="728218" y="137413"/>
                </a:lnTo>
                <a:lnTo>
                  <a:pt x="735076" y="140080"/>
                </a:lnTo>
                <a:lnTo>
                  <a:pt x="735076" y="142747"/>
                </a:lnTo>
                <a:lnTo>
                  <a:pt x="728218" y="145287"/>
                </a:lnTo>
                <a:lnTo>
                  <a:pt x="722376" y="149224"/>
                </a:lnTo>
                <a:lnTo>
                  <a:pt x="712469" y="160146"/>
                </a:lnTo>
                <a:lnTo>
                  <a:pt x="709930" y="167004"/>
                </a:lnTo>
                <a:lnTo>
                  <a:pt x="709930" y="179831"/>
                </a:lnTo>
                <a:lnTo>
                  <a:pt x="710945" y="187070"/>
                </a:lnTo>
                <a:lnTo>
                  <a:pt x="712978" y="197357"/>
                </a:lnTo>
                <a:lnTo>
                  <a:pt x="714238" y="204690"/>
                </a:lnTo>
                <a:lnTo>
                  <a:pt x="715152" y="211439"/>
                </a:lnTo>
                <a:lnTo>
                  <a:pt x="715710" y="217592"/>
                </a:lnTo>
                <a:lnTo>
                  <a:pt x="715899" y="223138"/>
                </a:lnTo>
                <a:lnTo>
                  <a:pt x="715137" y="235592"/>
                </a:lnTo>
                <a:lnTo>
                  <a:pt x="689149" y="269700"/>
                </a:lnTo>
                <a:lnTo>
                  <a:pt x="669925" y="272541"/>
                </a:lnTo>
                <a:lnTo>
                  <a:pt x="667639" y="272541"/>
                </a:lnTo>
                <a:lnTo>
                  <a:pt x="667639" y="283844"/>
                </a:lnTo>
                <a:lnTo>
                  <a:pt x="671576" y="283844"/>
                </a:lnTo>
                <a:lnTo>
                  <a:pt x="687931" y="282630"/>
                </a:lnTo>
                <a:lnTo>
                  <a:pt x="723900" y="267842"/>
                </a:lnTo>
                <a:lnTo>
                  <a:pt x="741171" y="220344"/>
                </a:lnTo>
                <a:lnTo>
                  <a:pt x="740957" y="214012"/>
                </a:lnTo>
                <a:lnTo>
                  <a:pt x="740314" y="207216"/>
                </a:lnTo>
                <a:lnTo>
                  <a:pt x="739243" y="199967"/>
                </a:lnTo>
                <a:lnTo>
                  <a:pt x="737743" y="192277"/>
                </a:lnTo>
                <a:lnTo>
                  <a:pt x="735330" y="181736"/>
                </a:lnTo>
                <a:lnTo>
                  <a:pt x="734187" y="174751"/>
                </a:lnTo>
                <a:lnTo>
                  <a:pt x="734187" y="164337"/>
                </a:lnTo>
                <a:lnTo>
                  <a:pt x="736600" y="158749"/>
                </a:lnTo>
                <a:lnTo>
                  <a:pt x="745997" y="150113"/>
                </a:lnTo>
                <a:lnTo>
                  <a:pt x="753109" y="147827"/>
                </a:lnTo>
                <a:lnTo>
                  <a:pt x="762634" y="147446"/>
                </a:lnTo>
                <a:lnTo>
                  <a:pt x="762634" y="135254"/>
                </a:lnTo>
                <a:lnTo>
                  <a:pt x="753109" y="135000"/>
                </a:lnTo>
                <a:lnTo>
                  <a:pt x="745997" y="132714"/>
                </a:lnTo>
                <a:lnTo>
                  <a:pt x="736600" y="124078"/>
                </a:lnTo>
                <a:lnTo>
                  <a:pt x="734187" y="118490"/>
                </a:lnTo>
                <a:lnTo>
                  <a:pt x="734187" y="108076"/>
                </a:lnTo>
                <a:lnTo>
                  <a:pt x="735330" y="100964"/>
                </a:lnTo>
                <a:lnTo>
                  <a:pt x="737743" y="90423"/>
                </a:lnTo>
                <a:lnTo>
                  <a:pt x="739243" y="82805"/>
                </a:lnTo>
                <a:lnTo>
                  <a:pt x="740314" y="75580"/>
                </a:lnTo>
                <a:lnTo>
                  <a:pt x="740957" y="68760"/>
                </a:lnTo>
                <a:lnTo>
                  <a:pt x="741171" y="62356"/>
                </a:lnTo>
                <a:lnTo>
                  <a:pt x="740098" y="47827"/>
                </a:lnTo>
                <a:lnTo>
                  <a:pt x="714117" y="9215"/>
                </a:lnTo>
                <a:lnTo>
                  <a:pt x="687931" y="1214"/>
                </a:lnTo>
                <a:lnTo>
                  <a:pt x="671576" y="0"/>
                </a:lnTo>
                <a:close/>
              </a:path>
              <a:path w="762635" h="283845">
                <a:moveTo>
                  <a:pt x="94996" y="0"/>
                </a:moveTo>
                <a:lnTo>
                  <a:pt x="91186" y="0"/>
                </a:lnTo>
                <a:lnTo>
                  <a:pt x="74777" y="1214"/>
                </a:lnTo>
                <a:lnTo>
                  <a:pt x="38862" y="16001"/>
                </a:lnTo>
                <a:lnTo>
                  <a:pt x="21664" y="59562"/>
                </a:lnTo>
                <a:lnTo>
                  <a:pt x="21558" y="65035"/>
                </a:lnTo>
                <a:lnTo>
                  <a:pt x="21679" y="68615"/>
                </a:lnTo>
                <a:lnTo>
                  <a:pt x="22336" y="75406"/>
                </a:lnTo>
                <a:lnTo>
                  <a:pt x="23445" y="82625"/>
                </a:lnTo>
                <a:lnTo>
                  <a:pt x="25018" y="90296"/>
                </a:lnTo>
                <a:lnTo>
                  <a:pt x="27305" y="100837"/>
                </a:lnTo>
                <a:lnTo>
                  <a:pt x="28448" y="107822"/>
                </a:lnTo>
                <a:lnTo>
                  <a:pt x="28448" y="118363"/>
                </a:lnTo>
                <a:lnTo>
                  <a:pt x="26162" y="123824"/>
                </a:lnTo>
                <a:lnTo>
                  <a:pt x="21336" y="128142"/>
                </a:lnTo>
                <a:lnTo>
                  <a:pt x="16637" y="132460"/>
                </a:lnTo>
                <a:lnTo>
                  <a:pt x="9525" y="134873"/>
                </a:lnTo>
                <a:lnTo>
                  <a:pt x="0" y="135127"/>
                </a:lnTo>
                <a:lnTo>
                  <a:pt x="0" y="147319"/>
                </a:lnTo>
                <a:lnTo>
                  <a:pt x="9525" y="147573"/>
                </a:lnTo>
                <a:lnTo>
                  <a:pt x="16637" y="149986"/>
                </a:lnTo>
                <a:lnTo>
                  <a:pt x="21336" y="154304"/>
                </a:lnTo>
                <a:lnTo>
                  <a:pt x="26162" y="158622"/>
                </a:lnTo>
                <a:lnTo>
                  <a:pt x="28448" y="164083"/>
                </a:lnTo>
                <a:lnTo>
                  <a:pt x="28448" y="174497"/>
                </a:lnTo>
                <a:lnTo>
                  <a:pt x="27305" y="181609"/>
                </a:lnTo>
                <a:lnTo>
                  <a:pt x="25018" y="192150"/>
                </a:lnTo>
                <a:lnTo>
                  <a:pt x="23445" y="199822"/>
                </a:lnTo>
                <a:lnTo>
                  <a:pt x="22336" y="207041"/>
                </a:lnTo>
                <a:lnTo>
                  <a:pt x="21679" y="213832"/>
                </a:lnTo>
                <a:lnTo>
                  <a:pt x="21462" y="220217"/>
                </a:lnTo>
                <a:lnTo>
                  <a:pt x="22556" y="235267"/>
                </a:lnTo>
                <a:lnTo>
                  <a:pt x="48627" y="274629"/>
                </a:lnTo>
                <a:lnTo>
                  <a:pt x="91186" y="283844"/>
                </a:lnTo>
                <a:lnTo>
                  <a:pt x="94996" y="283844"/>
                </a:lnTo>
                <a:lnTo>
                  <a:pt x="94996" y="272541"/>
                </a:lnTo>
                <a:lnTo>
                  <a:pt x="92710" y="272541"/>
                </a:lnTo>
                <a:lnTo>
                  <a:pt x="82520" y="271829"/>
                </a:lnTo>
                <a:lnTo>
                  <a:pt x="49784" y="246062"/>
                </a:lnTo>
                <a:lnTo>
                  <a:pt x="46736" y="222884"/>
                </a:lnTo>
                <a:lnTo>
                  <a:pt x="46926" y="217412"/>
                </a:lnTo>
                <a:lnTo>
                  <a:pt x="47498" y="211296"/>
                </a:lnTo>
                <a:lnTo>
                  <a:pt x="48450" y="204561"/>
                </a:lnTo>
                <a:lnTo>
                  <a:pt x="49784" y="197230"/>
                </a:lnTo>
                <a:lnTo>
                  <a:pt x="51689" y="186943"/>
                </a:lnTo>
                <a:lnTo>
                  <a:pt x="52705" y="179704"/>
                </a:lnTo>
                <a:lnTo>
                  <a:pt x="52705" y="166877"/>
                </a:lnTo>
                <a:lnTo>
                  <a:pt x="50292" y="159892"/>
                </a:lnTo>
                <a:lnTo>
                  <a:pt x="45339" y="154558"/>
                </a:lnTo>
                <a:lnTo>
                  <a:pt x="40386" y="149097"/>
                </a:lnTo>
                <a:lnTo>
                  <a:pt x="34417" y="145160"/>
                </a:lnTo>
                <a:lnTo>
                  <a:pt x="27559" y="142620"/>
                </a:lnTo>
                <a:lnTo>
                  <a:pt x="27559" y="139826"/>
                </a:lnTo>
                <a:lnTo>
                  <a:pt x="34417" y="137286"/>
                </a:lnTo>
                <a:lnTo>
                  <a:pt x="40386" y="133349"/>
                </a:lnTo>
                <a:lnTo>
                  <a:pt x="45339" y="127888"/>
                </a:lnTo>
                <a:lnTo>
                  <a:pt x="50292" y="122554"/>
                </a:lnTo>
                <a:lnTo>
                  <a:pt x="52705" y="115569"/>
                </a:lnTo>
                <a:lnTo>
                  <a:pt x="52705" y="102742"/>
                </a:lnTo>
                <a:lnTo>
                  <a:pt x="51689" y="95503"/>
                </a:lnTo>
                <a:lnTo>
                  <a:pt x="49784" y="85216"/>
                </a:lnTo>
                <a:lnTo>
                  <a:pt x="48450" y="77886"/>
                </a:lnTo>
                <a:lnTo>
                  <a:pt x="47498" y="71151"/>
                </a:lnTo>
                <a:lnTo>
                  <a:pt x="46926" y="65035"/>
                </a:lnTo>
                <a:lnTo>
                  <a:pt x="46736" y="59562"/>
                </a:lnTo>
                <a:lnTo>
                  <a:pt x="47497" y="47535"/>
                </a:lnTo>
                <a:lnTo>
                  <a:pt x="73485" y="14081"/>
                </a:lnTo>
                <a:lnTo>
                  <a:pt x="92710" y="11302"/>
                </a:lnTo>
                <a:lnTo>
                  <a:pt x="94996" y="11302"/>
                </a:lnTo>
                <a:lnTo>
                  <a:pt x="949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88643" y="5037581"/>
            <a:ext cx="27927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5445" indent="-347980">
              <a:lnSpc>
                <a:spcPct val="100000"/>
              </a:lnSpc>
              <a:spcBef>
                <a:spcPts val="10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385445" algn="l"/>
                <a:tab pos="386080" algn="l"/>
                <a:tab pos="2199005" algn="l"/>
              </a:tabLst>
            </a:pPr>
            <a:r>
              <a:rPr sz="2400">
                <a:latin typeface="Cambria Math"/>
                <a:cs typeface="Cambria Math"/>
              </a:rPr>
              <a:t>𝑺</a:t>
            </a:r>
            <a:r>
              <a:rPr sz="2625" baseline="-15873">
                <a:latin typeface="Cambria Math"/>
                <a:cs typeface="Cambria Math"/>
              </a:rPr>
              <a:t>𝒎𝒂𝒙</a:t>
            </a:r>
            <a:r>
              <a:rPr sz="2625" spc="569" baseline="-15873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=</a:t>
            </a:r>
            <a:r>
              <a:rPr sz="2400" spc="260">
                <a:latin typeface="Cambria Math"/>
                <a:cs typeface="Cambria Math"/>
              </a:rPr>
              <a:t> </a:t>
            </a:r>
            <a:r>
              <a:rPr sz="2400" spc="-25">
                <a:latin typeface="Cambria Math"/>
                <a:cs typeface="Cambria Math"/>
              </a:rPr>
              <a:t>𝐦𝐚𝐱</a:t>
            </a:r>
            <a:r>
              <a:rPr sz="2400">
                <a:latin typeface="Cambria Math"/>
                <a:cs typeface="Cambria Math"/>
              </a:rPr>
              <a:t>	</a:t>
            </a:r>
            <a:r>
              <a:rPr sz="2400" spc="-20">
                <a:latin typeface="Cambria Math"/>
                <a:cs typeface="Cambria Math"/>
              </a:rPr>
              <a:t>𝑫[𝒊]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259839" y="170974"/>
            <a:ext cx="4027171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问题结构分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析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116948" y="1018413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9"/>
                </a:lnTo>
                <a:lnTo>
                  <a:pt x="0" y="876426"/>
                </a:lnTo>
                <a:lnTo>
                  <a:pt x="7647" y="914364"/>
                </a:lnTo>
                <a:lnTo>
                  <a:pt x="28511" y="945324"/>
                </a:lnTo>
                <a:lnTo>
                  <a:pt x="59471" y="966188"/>
                </a:lnTo>
                <a:lnTo>
                  <a:pt x="97408" y="973836"/>
                </a:lnTo>
                <a:lnTo>
                  <a:pt x="1758823" y="973836"/>
                </a:lnTo>
                <a:lnTo>
                  <a:pt x="1796760" y="966188"/>
                </a:lnTo>
                <a:lnTo>
                  <a:pt x="1827720" y="945324"/>
                </a:lnTo>
                <a:lnTo>
                  <a:pt x="1848584" y="914364"/>
                </a:lnTo>
                <a:lnTo>
                  <a:pt x="1856231" y="876426"/>
                </a:lnTo>
                <a:lnTo>
                  <a:pt x="1856231" y="97409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83C8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346438" y="1314449"/>
            <a:ext cx="13970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>
                <a:solidFill>
                  <a:srgbClr val="FFFFFF"/>
                </a:solidFill>
                <a:latin typeface="PMingLiU"/>
                <a:cs typeface="PMingLiU"/>
              </a:rPr>
              <a:t>问题结构分析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825228" y="2052827"/>
            <a:ext cx="439420" cy="367030"/>
          </a:xfrm>
          <a:custGeom>
            <a:avLst/>
            <a:gdLst/>
            <a:ahLst/>
            <a:cxnLst/>
            <a:rect l="l" t="t" r="r" b="b"/>
            <a:pathLst>
              <a:path w="439420" h="367030">
                <a:moveTo>
                  <a:pt x="351154" y="0"/>
                </a:moveTo>
                <a:lnTo>
                  <a:pt x="87756" y="0"/>
                </a:lnTo>
                <a:lnTo>
                  <a:pt x="87756" y="183261"/>
                </a:lnTo>
                <a:lnTo>
                  <a:pt x="0" y="183261"/>
                </a:lnTo>
                <a:lnTo>
                  <a:pt x="219455" y="366522"/>
                </a:lnTo>
                <a:lnTo>
                  <a:pt x="438912" y="183261"/>
                </a:lnTo>
                <a:lnTo>
                  <a:pt x="351154" y="183261"/>
                </a:lnTo>
                <a:lnTo>
                  <a:pt x="35115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116948" y="2480691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9"/>
                </a:lnTo>
                <a:lnTo>
                  <a:pt x="0" y="876426"/>
                </a:lnTo>
                <a:lnTo>
                  <a:pt x="7647" y="914364"/>
                </a:lnTo>
                <a:lnTo>
                  <a:pt x="28511" y="945324"/>
                </a:lnTo>
                <a:lnTo>
                  <a:pt x="59471" y="966188"/>
                </a:lnTo>
                <a:lnTo>
                  <a:pt x="97408" y="973836"/>
                </a:lnTo>
                <a:lnTo>
                  <a:pt x="1758823" y="973836"/>
                </a:lnTo>
                <a:lnTo>
                  <a:pt x="1796760" y="966188"/>
                </a:lnTo>
                <a:lnTo>
                  <a:pt x="1827720" y="945324"/>
                </a:lnTo>
                <a:lnTo>
                  <a:pt x="1848584" y="914364"/>
                </a:lnTo>
                <a:lnTo>
                  <a:pt x="1856231" y="876426"/>
                </a:lnTo>
                <a:lnTo>
                  <a:pt x="1856231" y="97409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9346438" y="2776982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>
                <a:solidFill>
                  <a:srgbClr val="FFFFFF"/>
                </a:solidFill>
                <a:latin typeface="PMingLiU"/>
                <a:cs typeface="PMingLiU"/>
              </a:rPr>
              <a:t>递推关系建立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825228" y="3515105"/>
            <a:ext cx="439420" cy="365125"/>
          </a:xfrm>
          <a:custGeom>
            <a:avLst/>
            <a:gdLst/>
            <a:ahLst/>
            <a:cxnLst/>
            <a:rect l="l" t="t" r="r" b="b"/>
            <a:pathLst>
              <a:path w="439420" h="365125">
                <a:moveTo>
                  <a:pt x="351154" y="0"/>
                </a:moveTo>
                <a:lnTo>
                  <a:pt x="87756" y="0"/>
                </a:lnTo>
                <a:lnTo>
                  <a:pt x="87756" y="182499"/>
                </a:lnTo>
                <a:lnTo>
                  <a:pt x="0" y="182499"/>
                </a:lnTo>
                <a:lnTo>
                  <a:pt x="219455" y="364998"/>
                </a:lnTo>
                <a:lnTo>
                  <a:pt x="438912" y="182499"/>
                </a:lnTo>
                <a:lnTo>
                  <a:pt x="351154" y="182499"/>
                </a:lnTo>
                <a:lnTo>
                  <a:pt x="35115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9116948" y="3941445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8"/>
                </a:lnTo>
                <a:lnTo>
                  <a:pt x="0" y="876426"/>
                </a:lnTo>
                <a:lnTo>
                  <a:pt x="7647" y="914364"/>
                </a:lnTo>
                <a:lnTo>
                  <a:pt x="28511" y="945324"/>
                </a:lnTo>
                <a:lnTo>
                  <a:pt x="59471" y="966188"/>
                </a:lnTo>
                <a:lnTo>
                  <a:pt x="97408" y="973835"/>
                </a:lnTo>
                <a:lnTo>
                  <a:pt x="1758823" y="973835"/>
                </a:lnTo>
                <a:lnTo>
                  <a:pt x="1796760" y="966188"/>
                </a:lnTo>
                <a:lnTo>
                  <a:pt x="1827720" y="945324"/>
                </a:lnTo>
                <a:lnTo>
                  <a:pt x="1848584" y="914364"/>
                </a:lnTo>
                <a:lnTo>
                  <a:pt x="1856231" y="876426"/>
                </a:lnTo>
                <a:lnTo>
                  <a:pt x="1856231" y="97408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9346438" y="4237735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>
                <a:solidFill>
                  <a:srgbClr val="FFFFFF"/>
                </a:solidFill>
                <a:latin typeface="PMingLiU"/>
                <a:cs typeface="PMingLiU"/>
              </a:rPr>
              <a:t>自底向上计算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825228" y="4975859"/>
            <a:ext cx="439420" cy="365125"/>
          </a:xfrm>
          <a:custGeom>
            <a:avLst/>
            <a:gdLst/>
            <a:ahLst/>
            <a:cxnLst/>
            <a:rect l="l" t="t" r="r" b="b"/>
            <a:pathLst>
              <a:path w="439420" h="365125">
                <a:moveTo>
                  <a:pt x="351154" y="0"/>
                </a:moveTo>
                <a:lnTo>
                  <a:pt x="87756" y="0"/>
                </a:lnTo>
                <a:lnTo>
                  <a:pt x="87756" y="182498"/>
                </a:lnTo>
                <a:lnTo>
                  <a:pt x="0" y="182498"/>
                </a:lnTo>
                <a:lnTo>
                  <a:pt x="219455" y="364997"/>
                </a:lnTo>
                <a:lnTo>
                  <a:pt x="438912" y="182498"/>
                </a:lnTo>
                <a:lnTo>
                  <a:pt x="351154" y="182498"/>
                </a:lnTo>
                <a:lnTo>
                  <a:pt x="35115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9116948" y="5402198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9"/>
                </a:lnTo>
                <a:lnTo>
                  <a:pt x="0" y="876452"/>
                </a:lnTo>
                <a:lnTo>
                  <a:pt x="7647" y="914358"/>
                </a:lnTo>
                <a:lnTo>
                  <a:pt x="28511" y="945313"/>
                </a:lnTo>
                <a:lnTo>
                  <a:pt x="59471" y="966183"/>
                </a:lnTo>
                <a:lnTo>
                  <a:pt x="97408" y="973835"/>
                </a:lnTo>
                <a:lnTo>
                  <a:pt x="1758823" y="973835"/>
                </a:lnTo>
                <a:lnTo>
                  <a:pt x="1796760" y="966183"/>
                </a:lnTo>
                <a:lnTo>
                  <a:pt x="1827720" y="945313"/>
                </a:lnTo>
                <a:lnTo>
                  <a:pt x="1848584" y="914358"/>
                </a:lnTo>
                <a:lnTo>
                  <a:pt x="1856231" y="876452"/>
                </a:lnTo>
                <a:lnTo>
                  <a:pt x="1856231" y="97409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9346438" y="5698744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>
                <a:solidFill>
                  <a:srgbClr val="FFFFFF"/>
                </a:solidFill>
                <a:latin typeface="PMingLiU"/>
                <a:cs typeface="PMingLiU"/>
              </a:rPr>
              <a:t>最优方案追踪</a:t>
            </a:r>
            <a:endParaRPr sz="1800">
              <a:latin typeface="PMingLiU"/>
              <a:cs typeface="PMingLiU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943355"/>
            <a:ext cx="5554980" cy="1179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>
                <a:latin typeface="Cambria Math"/>
                <a:cs typeface="Cambria Math"/>
              </a:rPr>
              <a:t>𝑫[𝒊]</a:t>
            </a:r>
            <a:r>
              <a:rPr sz="2800" spc="-5">
                <a:latin typeface="PMingLiU"/>
                <a:cs typeface="PMingLiU"/>
              </a:rPr>
              <a:t>：以</a:t>
            </a:r>
            <a:r>
              <a:rPr sz="2800" spc="-10">
                <a:latin typeface="Cambria Math"/>
                <a:cs typeface="Cambria Math"/>
              </a:rPr>
              <a:t>𝑿[𝒊]</a:t>
            </a:r>
            <a:r>
              <a:rPr sz="2800">
                <a:latin typeface="PMingLiU"/>
                <a:cs typeface="PMingLiU"/>
              </a:rPr>
              <a:t>开头的</a:t>
            </a:r>
            <a:r>
              <a:rPr sz="2800">
                <a:solidFill>
                  <a:srgbClr val="FF0000"/>
                </a:solidFill>
                <a:latin typeface="PMingLiU"/>
                <a:cs typeface="PMingLiU"/>
              </a:rPr>
              <a:t>最大</a:t>
            </a:r>
            <a:r>
              <a:rPr sz="2800" spc="-15">
                <a:latin typeface="PMingLiU"/>
                <a:cs typeface="PMingLiU"/>
              </a:rPr>
              <a:t>子数组和</a:t>
            </a:r>
            <a:endParaRPr sz="2800">
              <a:latin typeface="PMingLiU"/>
              <a:cs typeface="PMingLiU"/>
            </a:endParaRPr>
          </a:p>
          <a:p>
            <a:pPr marL="355600" indent="-342900">
              <a:lnSpc>
                <a:spcPct val="100000"/>
              </a:lnSpc>
              <a:spcBef>
                <a:spcPts val="236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>
                <a:latin typeface="PMingLiU"/>
                <a:cs typeface="PMingLiU"/>
              </a:rPr>
              <a:t>情况</a:t>
            </a:r>
            <a:r>
              <a:rPr sz="2800" b="1">
                <a:latin typeface="Times New Roman"/>
                <a:cs typeface="Times New Roman"/>
              </a:rPr>
              <a:t>1</a:t>
            </a:r>
            <a:r>
              <a:rPr sz="2800">
                <a:latin typeface="PMingLiU"/>
                <a:cs typeface="PMingLiU"/>
              </a:rPr>
              <a:t>：</a:t>
            </a:r>
            <a:r>
              <a:rPr sz="2800">
                <a:latin typeface="Cambria Math"/>
                <a:cs typeface="Cambria Math"/>
              </a:rPr>
              <a:t>𝑫[𝒊</a:t>
            </a:r>
            <a:r>
              <a:rPr sz="2800" spc="-10">
                <a:latin typeface="Cambria Math"/>
                <a:cs typeface="Cambria Math"/>
              </a:rPr>
              <a:t> + </a:t>
            </a:r>
            <a:r>
              <a:rPr sz="2800">
                <a:latin typeface="Cambria Math"/>
                <a:cs typeface="Cambria Math"/>
              </a:rPr>
              <a:t>𝟏</a:t>
            </a:r>
            <a:r>
              <a:rPr sz="2800" spc="75">
                <a:latin typeface="Cambria Math"/>
                <a:cs typeface="Cambria Math"/>
              </a:rPr>
              <a:t>] &gt; </a:t>
            </a:r>
            <a:r>
              <a:rPr sz="2800" spc="-60"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25549" y="171788"/>
            <a:ext cx="9189338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递推关系建立：分析最优（子）结</a:t>
            </a:r>
            <a:r>
              <a:rPr sz="3600"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构</a:t>
            </a:r>
            <a:endParaRPr sz="36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49325" y="2976626"/>
          <a:ext cx="8129903" cy="3956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1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14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14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marL="2952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461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2512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𝑿[𝒊]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AF5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𝑿[𝒊</a:t>
                      </a:r>
                      <a:r>
                        <a:rPr sz="20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+</a:t>
                      </a:r>
                      <a:r>
                        <a:rPr sz="2000" spc="-1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9200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9200"/>
                    </a:solidFill>
                  </a:tcPr>
                </a:tc>
                <a:tc>
                  <a:txBody>
                    <a:bodyPr/>
                    <a:lstStyle/>
                    <a:p>
                      <a:pPr marR="5334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3130295" y="3651503"/>
            <a:ext cx="3431540" cy="332740"/>
          </a:xfrm>
          <a:custGeom>
            <a:avLst/>
            <a:gdLst/>
            <a:ahLst/>
            <a:cxnLst/>
            <a:rect l="l" t="t" r="r" b="b"/>
            <a:pathLst>
              <a:path w="3431540" h="332739">
                <a:moveTo>
                  <a:pt x="3431285" y="0"/>
                </a:moveTo>
                <a:lnTo>
                  <a:pt x="3429103" y="64639"/>
                </a:lnTo>
                <a:lnTo>
                  <a:pt x="3423157" y="117443"/>
                </a:lnTo>
                <a:lnTo>
                  <a:pt x="3414355" y="153054"/>
                </a:lnTo>
                <a:lnTo>
                  <a:pt x="3403600" y="166116"/>
                </a:lnTo>
                <a:lnTo>
                  <a:pt x="1743329" y="166116"/>
                </a:lnTo>
                <a:lnTo>
                  <a:pt x="1732573" y="179177"/>
                </a:lnTo>
                <a:lnTo>
                  <a:pt x="1723770" y="214788"/>
                </a:lnTo>
                <a:lnTo>
                  <a:pt x="1717825" y="267592"/>
                </a:lnTo>
                <a:lnTo>
                  <a:pt x="1715643" y="332232"/>
                </a:lnTo>
                <a:lnTo>
                  <a:pt x="1713460" y="267592"/>
                </a:lnTo>
                <a:lnTo>
                  <a:pt x="1707515" y="214788"/>
                </a:lnTo>
                <a:lnTo>
                  <a:pt x="1698712" y="179177"/>
                </a:lnTo>
                <a:lnTo>
                  <a:pt x="1687957" y="166116"/>
                </a:lnTo>
                <a:lnTo>
                  <a:pt x="27686" y="166116"/>
                </a:lnTo>
                <a:lnTo>
                  <a:pt x="16930" y="153054"/>
                </a:lnTo>
                <a:lnTo>
                  <a:pt x="8128" y="117443"/>
                </a:lnTo>
                <a:lnTo>
                  <a:pt x="2182" y="64639"/>
                </a:lnTo>
                <a:lnTo>
                  <a:pt x="0" y="0"/>
                </a:lnTo>
              </a:path>
            </a:pathLst>
          </a:custGeom>
          <a:ln w="31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431536" y="4069079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833" y="0"/>
                </a:moveTo>
                <a:lnTo>
                  <a:pt x="0" y="0"/>
                </a:lnTo>
                <a:lnTo>
                  <a:pt x="0" y="11430"/>
                </a:lnTo>
                <a:lnTo>
                  <a:pt x="38227" y="11430"/>
                </a:lnTo>
                <a:lnTo>
                  <a:pt x="38227" y="250190"/>
                </a:lnTo>
                <a:lnTo>
                  <a:pt x="0" y="250190"/>
                </a:lnTo>
                <a:lnTo>
                  <a:pt x="0" y="260350"/>
                </a:lnTo>
                <a:lnTo>
                  <a:pt x="60833" y="260350"/>
                </a:lnTo>
                <a:lnTo>
                  <a:pt x="60833" y="250190"/>
                </a:lnTo>
                <a:lnTo>
                  <a:pt x="60833" y="11430"/>
                </a:lnTo>
                <a:lnTo>
                  <a:pt x="608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255641" y="4069079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833" y="0"/>
                </a:moveTo>
                <a:lnTo>
                  <a:pt x="0" y="0"/>
                </a:lnTo>
                <a:lnTo>
                  <a:pt x="0" y="11430"/>
                </a:lnTo>
                <a:lnTo>
                  <a:pt x="0" y="250190"/>
                </a:lnTo>
                <a:lnTo>
                  <a:pt x="0" y="260350"/>
                </a:lnTo>
                <a:lnTo>
                  <a:pt x="60833" y="260350"/>
                </a:lnTo>
                <a:lnTo>
                  <a:pt x="60833" y="250190"/>
                </a:lnTo>
                <a:lnTo>
                  <a:pt x="22606" y="250190"/>
                </a:lnTo>
                <a:lnTo>
                  <a:pt x="22606" y="11430"/>
                </a:lnTo>
                <a:lnTo>
                  <a:pt x="60833" y="11430"/>
                </a:lnTo>
                <a:lnTo>
                  <a:pt x="608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88340" y="3873209"/>
            <a:ext cx="6189345" cy="1048385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3470275">
              <a:lnSpc>
                <a:spcPct val="100000"/>
              </a:lnSpc>
              <a:spcBef>
                <a:spcPts val="1000"/>
              </a:spcBef>
              <a:tabLst>
                <a:tab pos="4897120" algn="l"/>
              </a:tabLst>
            </a:pPr>
            <a:r>
              <a:rPr sz="2200">
                <a:latin typeface="Cambria Math"/>
                <a:cs typeface="Cambria Math"/>
              </a:rPr>
              <a:t>𝑫[𝒊]</a:t>
            </a:r>
            <a:r>
              <a:rPr sz="2200" spc="114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=</a:t>
            </a:r>
            <a:r>
              <a:rPr sz="2200" spc="114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𝑿</a:t>
            </a:r>
            <a:r>
              <a:rPr sz="2200" spc="275">
                <a:latin typeface="Cambria Math"/>
                <a:cs typeface="Cambria Math"/>
              </a:rPr>
              <a:t> </a:t>
            </a:r>
            <a:r>
              <a:rPr sz="2200" spc="-50">
                <a:latin typeface="Cambria Math"/>
                <a:cs typeface="Cambria Math"/>
              </a:rPr>
              <a:t>𝒊</a:t>
            </a:r>
            <a:r>
              <a:rPr sz="2200">
                <a:latin typeface="Cambria Math"/>
                <a:cs typeface="Cambria Math"/>
              </a:rPr>
              <a:t>	+</a:t>
            </a:r>
            <a:r>
              <a:rPr sz="2200" spc="-15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𝑫[𝒊 + </a:t>
            </a:r>
            <a:r>
              <a:rPr sz="2200" spc="-25">
                <a:latin typeface="Cambria Math"/>
                <a:cs typeface="Cambria Math"/>
              </a:rPr>
              <a:t>𝟏]</a:t>
            </a:r>
            <a:endParaRPr sz="2200">
              <a:latin typeface="Cambria Math"/>
              <a:cs typeface="Cambria Math"/>
            </a:endParaRPr>
          </a:p>
          <a:p>
            <a:pPr marL="355600" indent="-342900">
              <a:lnSpc>
                <a:spcPct val="100000"/>
              </a:lnSpc>
              <a:spcBef>
                <a:spcPts val="115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>
                <a:latin typeface="PMingLiU"/>
                <a:cs typeface="PMingLiU"/>
              </a:rPr>
              <a:t>情况</a:t>
            </a:r>
            <a:r>
              <a:rPr sz="2800" b="1">
                <a:latin typeface="Times New Roman"/>
                <a:cs typeface="Times New Roman"/>
              </a:rPr>
              <a:t>2</a:t>
            </a:r>
            <a:r>
              <a:rPr sz="2800" b="1">
                <a:latin typeface="Microsoft JhengHei"/>
                <a:cs typeface="Microsoft JhengHei"/>
              </a:rPr>
              <a:t>：</a:t>
            </a:r>
            <a:r>
              <a:rPr sz="2800">
                <a:latin typeface="Cambria Math"/>
                <a:cs typeface="Cambria Math"/>
              </a:rPr>
              <a:t>𝑫[𝒊</a:t>
            </a:r>
            <a:r>
              <a:rPr sz="2800" spc="-5">
                <a:latin typeface="Cambria Math"/>
                <a:cs typeface="Cambria Math"/>
              </a:rPr>
              <a:t> + </a:t>
            </a:r>
            <a:r>
              <a:rPr sz="2800">
                <a:latin typeface="Cambria Math"/>
                <a:cs typeface="Cambria Math"/>
              </a:rPr>
              <a:t>𝟏</a:t>
            </a:r>
            <a:r>
              <a:rPr sz="2800" spc="75">
                <a:latin typeface="Cambria Math"/>
                <a:cs typeface="Cambria Math"/>
              </a:rPr>
              <a:t>] ≤ </a:t>
            </a:r>
            <a:r>
              <a:rPr sz="2800" spc="-50"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22671" y="3375152"/>
            <a:ext cx="103441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>
                <a:latin typeface="Cambria Math"/>
                <a:cs typeface="Cambria Math"/>
              </a:rPr>
              <a:t>𝑫[𝒊</a:t>
            </a:r>
            <a:r>
              <a:rPr sz="2200" spc="-5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+</a:t>
            </a:r>
            <a:r>
              <a:rPr sz="2200" spc="-10">
                <a:latin typeface="Cambria Math"/>
                <a:cs typeface="Cambria Math"/>
              </a:rPr>
              <a:t> </a:t>
            </a:r>
            <a:r>
              <a:rPr sz="2200" spc="-25">
                <a:latin typeface="Cambria Math"/>
                <a:cs typeface="Cambria Math"/>
              </a:rPr>
              <a:t>𝟏]</a:t>
            </a:r>
            <a:endParaRPr sz="2200">
              <a:latin typeface="Cambria Math"/>
              <a:cs typeface="Cambria Math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749325" y="5567553"/>
          <a:ext cx="8129903" cy="396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1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14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14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2952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461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2512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𝑿[𝒊]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𝑿[𝒊</a:t>
                      </a:r>
                      <a:r>
                        <a:rPr sz="20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+</a:t>
                      </a:r>
                      <a:r>
                        <a:rPr sz="2000" spc="-1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R="5334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object 11"/>
          <p:cNvSpPr/>
          <p:nvPr/>
        </p:nvSpPr>
        <p:spPr>
          <a:xfrm>
            <a:off x="3130295" y="5996178"/>
            <a:ext cx="1022985" cy="396240"/>
          </a:xfrm>
          <a:custGeom>
            <a:avLst/>
            <a:gdLst/>
            <a:ahLst/>
            <a:cxnLst/>
            <a:rect l="l" t="t" r="r" b="b"/>
            <a:pathLst>
              <a:path w="1022985" h="396239">
                <a:moveTo>
                  <a:pt x="1022604" y="0"/>
                </a:moveTo>
                <a:lnTo>
                  <a:pt x="1020016" y="77119"/>
                </a:lnTo>
                <a:lnTo>
                  <a:pt x="1012951" y="140093"/>
                </a:lnTo>
                <a:lnTo>
                  <a:pt x="1002458" y="182551"/>
                </a:lnTo>
                <a:lnTo>
                  <a:pt x="989583" y="198120"/>
                </a:lnTo>
                <a:lnTo>
                  <a:pt x="544321" y="198120"/>
                </a:lnTo>
                <a:lnTo>
                  <a:pt x="531447" y="213688"/>
                </a:lnTo>
                <a:lnTo>
                  <a:pt x="520953" y="256146"/>
                </a:lnTo>
                <a:lnTo>
                  <a:pt x="513889" y="319120"/>
                </a:lnTo>
                <a:lnTo>
                  <a:pt x="511302" y="396240"/>
                </a:lnTo>
                <a:lnTo>
                  <a:pt x="508714" y="319120"/>
                </a:lnTo>
                <a:lnTo>
                  <a:pt x="501649" y="256146"/>
                </a:lnTo>
                <a:lnTo>
                  <a:pt x="491156" y="213688"/>
                </a:lnTo>
                <a:lnTo>
                  <a:pt x="478281" y="198120"/>
                </a:lnTo>
                <a:lnTo>
                  <a:pt x="33020" y="198120"/>
                </a:lnTo>
                <a:lnTo>
                  <a:pt x="20145" y="182551"/>
                </a:lnTo>
                <a:lnTo>
                  <a:pt x="9651" y="140093"/>
                </a:lnTo>
                <a:lnTo>
                  <a:pt x="2587" y="77119"/>
                </a:lnTo>
                <a:lnTo>
                  <a:pt x="0" y="0"/>
                </a:lnTo>
              </a:path>
            </a:pathLst>
          </a:custGeom>
          <a:ln w="31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052572" y="6270497"/>
            <a:ext cx="139255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>
                <a:latin typeface="Cambria Math"/>
                <a:cs typeface="Cambria Math"/>
              </a:rPr>
              <a:t>𝑫[𝒊]</a:t>
            </a:r>
            <a:r>
              <a:rPr sz="2200" spc="110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=</a:t>
            </a:r>
            <a:r>
              <a:rPr sz="2200" spc="110">
                <a:latin typeface="Cambria Math"/>
                <a:cs typeface="Cambria Math"/>
              </a:rPr>
              <a:t> </a:t>
            </a:r>
            <a:r>
              <a:rPr sz="2200" spc="-20">
                <a:latin typeface="Cambria Math"/>
                <a:cs typeface="Cambria Math"/>
              </a:rPr>
              <a:t>𝑿[𝒊]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116948" y="1018413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9"/>
                </a:lnTo>
                <a:lnTo>
                  <a:pt x="0" y="876426"/>
                </a:lnTo>
                <a:lnTo>
                  <a:pt x="7647" y="914364"/>
                </a:lnTo>
                <a:lnTo>
                  <a:pt x="28511" y="945324"/>
                </a:lnTo>
                <a:lnTo>
                  <a:pt x="59471" y="966188"/>
                </a:lnTo>
                <a:lnTo>
                  <a:pt x="97408" y="973836"/>
                </a:lnTo>
                <a:lnTo>
                  <a:pt x="1758823" y="973836"/>
                </a:lnTo>
                <a:lnTo>
                  <a:pt x="1796760" y="966188"/>
                </a:lnTo>
                <a:lnTo>
                  <a:pt x="1827720" y="945324"/>
                </a:lnTo>
                <a:lnTo>
                  <a:pt x="1848584" y="914364"/>
                </a:lnTo>
                <a:lnTo>
                  <a:pt x="1856231" y="876426"/>
                </a:lnTo>
                <a:lnTo>
                  <a:pt x="1856231" y="97409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9346438" y="1314449"/>
            <a:ext cx="13970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>
                <a:solidFill>
                  <a:srgbClr val="FFFFFF"/>
                </a:solidFill>
                <a:latin typeface="PMingLiU"/>
                <a:cs typeface="PMingLiU"/>
              </a:rPr>
              <a:t>问题结构分析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825228" y="2052827"/>
            <a:ext cx="439420" cy="367030"/>
          </a:xfrm>
          <a:custGeom>
            <a:avLst/>
            <a:gdLst/>
            <a:ahLst/>
            <a:cxnLst/>
            <a:rect l="l" t="t" r="r" b="b"/>
            <a:pathLst>
              <a:path w="439420" h="367030">
                <a:moveTo>
                  <a:pt x="351154" y="0"/>
                </a:moveTo>
                <a:lnTo>
                  <a:pt x="87756" y="0"/>
                </a:lnTo>
                <a:lnTo>
                  <a:pt x="87756" y="183261"/>
                </a:lnTo>
                <a:lnTo>
                  <a:pt x="0" y="183261"/>
                </a:lnTo>
                <a:lnTo>
                  <a:pt x="219455" y="366522"/>
                </a:lnTo>
                <a:lnTo>
                  <a:pt x="438912" y="183261"/>
                </a:lnTo>
                <a:lnTo>
                  <a:pt x="351154" y="183261"/>
                </a:lnTo>
                <a:lnTo>
                  <a:pt x="35115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116948" y="2480691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9"/>
                </a:lnTo>
                <a:lnTo>
                  <a:pt x="0" y="876426"/>
                </a:lnTo>
                <a:lnTo>
                  <a:pt x="7647" y="914364"/>
                </a:lnTo>
                <a:lnTo>
                  <a:pt x="28511" y="945324"/>
                </a:lnTo>
                <a:lnTo>
                  <a:pt x="59471" y="966188"/>
                </a:lnTo>
                <a:lnTo>
                  <a:pt x="97408" y="973836"/>
                </a:lnTo>
                <a:lnTo>
                  <a:pt x="1758823" y="973836"/>
                </a:lnTo>
                <a:lnTo>
                  <a:pt x="1796760" y="966188"/>
                </a:lnTo>
                <a:lnTo>
                  <a:pt x="1827720" y="945324"/>
                </a:lnTo>
                <a:lnTo>
                  <a:pt x="1848584" y="914364"/>
                </a:lnTo>
                <a:lnTo>
                  <a:pt x="1856231" y="876426"/>
                </a:lnTo>
                <a:lnTo>
                  <a:pt x="1856231" y="97409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83C8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9346438" y="2776982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>
                <a:solidFill>
                  <a:srgbClr val="FFFFFF"/>
                </a:solidFill>
                <a:latin typeface="PMingLiU"/>
                <a:cs typeface="PMingLiU"/>
              </a:rPr>
              <a:t>递推关系建立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825228" y="3515105"/>
            <a:ext cx="439420" cy="365125"/>
          </a:xfrm>
          <a:custGeom>
            <a:avLst/>
            <a:gdLst/>
            <a:ahLst/>
            <a:cxnLst/>
            <a:rect l="l" t="t" r="r" b="b"/>
            <a:pathLst>
              <a:path w="439420" h="365125">
                <a:moveTo>
                  <a:pt x="351154" y="0"/>
                </a:moveTo>
                <a:lnTo>
                  <a:pt x="87756" y="0"/>
                </a:lnTo>
                <a:lnTo>
                  <a:pt x="87756" y="182499"/>
                </a:lnTo>
                <a:lnTo>
                  <a:pt x="0" y="182499"/>
                </a:lnTo>
                <a:lnTo>
                  <a:pt x="219455" y="364998"/>
                </a:lnTo>
                <a:lnTo>
                  <a:pt x="438912" y="182499"/>
                </a:lnTo>
                <a:lnTo>
                  <a:pt x="351154" y="182499"/>
                </a:lnTo>
                <a:lnTo>
                  <a:pt x="35115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9116948" y="3941445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8"/>
                </a:lnTo>
                <a:lnTo>
                  <a:pt x="0" y="876426"/>
                </a:lnTo>
                <a:lnTo>
                  <a:pt x="7647" y="914364"/>
                </a:lnTo>
                <a:lnTo>
                  <a:pt x="28511" y="945324"/>
                </a:lnTo>
                <a:lnTo>
                  <a:pt x="59471" y="966188"/>
                </a:lnTo>
                <a:lnTo>
                  <a:pt x="97408" y="973835"/>
                </a:lnTo>
                <a:lnTo>
                  <a:pt x="1758823" y="973835"/>
                </a:lnTo>
                <a:lnTo>
                  <a:pt x="1796760" y="966188"/>
                </a:lnTo>
                <a:lnTo>
                  <a:pt x="1827720" y="945324"/>
                </a:lnTo>
                <a:lnTo>
                  <a:pt x="1848584" y="914364"/>
                </a:lnTo>
                <a:lnTo>
                  <a:pt x="1856231" y="876426"/>
                </a:lnTo>
                <a:lnTo>
                  <a:pt x="1856231" y="97408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9346438" y="4237735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>
                <a:solidFill>
                  <a:srgbClr val="FFFFFF"/>
                </a:solidFill>
                <a:latin typeface="PMingLiU"/>
                <a:cs typeface="PMingLiU"/>
              </a:rPr>
              <a:t>自底向上计算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9825228" y="4975859"/>
            <a:ext cx="439420" cy="365125"/>
          </a:xfrm>
          <a:custGeom>
            <a:avLst/>
            <a:gdLst/>
            <a:ahLst/>
            <a:cxnLst/>
            <a:rect l="l" t="t" r="r" b="b"/>
            <a:pathLst>
              <a:path w="439420" h="365125">
                <a:moveTo>
                  <a:pt x="351154" y="0"/>
                </a:moveTo>
                <a:lnTo>
                  <a:pt x="87756" y="0"/>
                </a:lnTo>
                <a:lnTo>
                  <a:pt x="87756" y="182498"/>
                </a:lnTo>
                <a:lnTo>
                  <a:pt x="0" y="182498"/>
                </a:lnTo>
                <a:lnTo>
                  <a:pt x="219455" y="364997"/>
                </a:lnTo>
                <a:lnTo>
                  <a:pt x="438912" y="182498"/>
                </a:lnTo>
                <a:lnTo>
                  <a:pt x="351154" y="182498"/>
                </a:lnTo>
                <a:lnTo>
                  <a:pt x="35115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9116948" y="5402198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9"/>
                </a:lnTo>
                <a:lnTo>
                  <a:pt x="0" y="876452"/>
                </a:lnTo>
                <a:lnTo>
                  <a:pt x="7647" y="914358"/>
                </a:lnTo>
                <a:lnTo>
                  <a:pt x="28511" y="945313"/>
                </a:lnTo>
                <a:lnTo>
                  <a:pt x="59471" y="966183"/>
                </a:lnTo>
                <a:lnTo>
                  <a:pt x="97408" y="973835"/>
                </a:lnTo>
                <a:lnTo>
                  <a:pt x="1758823" y="973835"/>
                </a:lnTo>
                <a:lnTo>
                  <a:pt x="1796760" y="966183"/>
                </a:lnTo>
                <a:lnTo>
                  <a:pt x="1827720" y="945313"/>
                </a:lnTo>
                <a:lnTo>
                  <a:pt x="1848584" y="914358"/>
                </a:lnTo>
                <a:lnTo>
                  <a:pt x="1856231" y="876452"/>
                </a:lnTo>
                <a:lnTo>
                  <a:pt x="1856231" y="97409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9346438" y="5698744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>
                <a:solidFill>
                  <a:srgbClr val="FFFFFF"/>
                </a:solidFill>
                <a:latin typeface="PMingLiU"/>
                <a:cs typeface="PMingLiU"/>
              </a:rPr>
              <a:t>最优方案追踪</a:t>
            </a:r>
            <a:endParaRPr sz="1800">
              <a:latin typeface="PMingLiU"/>
              <a:cs typeface="PMingLiU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943355"/>
            <a:ext cx="5554980" cy="1179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>
                <a:latin typeface="Cambria Math"/>
                <a:cs typeface="Cambria Math"/>
              </a:rPr>
              <a:t>𝑫[𝒊]</a:t>
            </a:r>
            <a:r>
              <a:rPr sz="2800" spc="-5">
                <a:latin typeface="PMingLiU"/>
                <a:cs typeface="PMingLiU"/>
              </a:rPr>
              <a:t>：以</a:t>
            </a:r>
            <a:r>
              <a:rPr sz="2800" spc="-10">
                <a:latin typeface="Cambria Math"/>
                <a:cs typeface="Cambria Math"/>
              </a:rPr>
              <a:t>𝑿[𝒊]</a:t>
            </a:r>
            <a:r>
              <a:rPr sz="2800">
                <a:latin typeface="PMingLiU"/>
                <a:cs typeface="PMingLiU"/>
              </a:rPr>
              <a:t>开头的</a:t>
            </a:r>
            <a:r>
              <a:rPr sz="2800">
                <a:solidFill>
                  <a:srgbClr val="FF0000"/>
                </a:solidFill>
                <a:latin typeface="PMingLiU"/>
                <a:cs typeface="PMingLiU"/>
              </a:rPr>
              <a:t>最大</a:t>
            </a:r>
            <a:r>
              <a:rPr sz="2800" spc="-15">
                <a:latin typeface="PMingLiU"/>
                <a:cs typeface="PMingLiU"/>
              </a:rPr>
              <a:t>子数组和</a:t>
            </a:r>
            <a:endParaRPr sz="2800">
              <a:latin typeface="PMingLiU"/>
              <a:cs typeface="PMingLiU"/>
            </a:endParaRPr>
          </a:p>
          <a:p>
            <a:pPr marL="355600" indent="-342900">
              <a:lnSpc>
                <a:spcPct val="100000"/>
              </a:lnSpc>
              <a:spcBef>
                <a:spcPts val="236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>
                <a:latin typeface="PMingLiU"/>
                <a:cs typeface="PMingLiU"/>
              </a:rPr>
              <a:t>情况</a:t>
            </a:r>
            <a:r>
              <a:rPr sz="2800" b="1">
                <a:latin typeface="Times New Roman"/>
                <a:cs typeface="Times New Roman"/>
              </a:rPr>
              <a:t>1</a:t>
            </a:r>
            <a:r>
              <a:rPr sz="2800">
                <a:latin typeface="PMingLiU"/>
                <a:cs typeface="PMingLiU"/>
              </a:rPr>
              <a:t>：</a:t>
            </a:r>
            <a:r>
              <a:rPr sz="2800">
                <a:latin typeface="Cambria Math"/>
                <a:cs typeface="Cambria Math"/>
              </a:rPr>
              <a:t>𝑫[𝒊</a:t>
            </a:r>
            <a:r>
              <a:rPr sz="2800" spc="-10">
                <a:latin typeface="Cambria Math"/>
                <a:cs typeface="Cambria Math"/>
              </a:rPr>
              <a:t> + </a:t>
            </a:r>
            <a:r>
              <a:rPr sz="2800">
                <a:latin typeface="Cambria Math"/>
                <a:cs typeface="Cambria Math"/>
              </a:rPr>
              <a:t>𝟏</a:t>
            </a:r>
            <a:r>
              <a:rPr sz="2800" spc="75">
                <a:latin typeface="Cambria Math"/>
                <a:cs typeface="Cambria Math"/>
              </a:rPr>
              <a:t>] &gt; </a:t>
            </a:r>
            <a:r>
              <a:rPr sz="2800" spc="-60"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49325" y="2976626"/>
          <a:ext cx="8129903" cy="3956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1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14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14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marL="2952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461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2512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𝑿[𝒊]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AF5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𝑿[𝒊</a:t>
                      </a:r>
                      <a:r>
                        <a:rPr sz="20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+</a:t>
                      </a:r>
                      <a:r>
                        <a:rPr sz="2000" spc="-1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9200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9200"/>
                    </a:solidFill>
                  </a:tcPr>
                </a:tc>
                <a:tc>
                  <a:txBody>
                    <a:bodyPr/>
                    <a:lstStyle/>
                    <a:p>
                      <a:pPr marR="5334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3130295" y="3651503"/>
            <a:ext cx="3431540" cy="332740"/>
          </a:xfrm>
          <a:custGeom>
            <a:avLst/>
            <a:gdLst/>
            <a:ahLst/>
            <a:cxnLst/>
            <a:rect l="l" t="t" r="r" b="b"/>
            <a:pathLst>
              <a:path w="3431540" h="332739">
                <a:moveTo>
                  <a:pt x="3431285" y="0"/>
                </a:moveTo>
                <a:lnTo>
                  <a:pt x="3429103" y="64639"/>
                </a:lnTo>
                <a:lnTo>
                  <a:pt x="3423157" y="117443"/>
                </a:lnTo>
                <a:lnTo>
                  <a:pt x="3414355" y="153054"/>
                </a:lnTo>
                <a:lnTo>
                  <a:pt x="3403600" y="166116"/>
                </a:lnTo>
                <a:lnTo>
                  <a:pt x="1743329" y="166116"/>
                </a:lnTo>
                <a:lnTo>
                  <a:pt x="1732573" y="179177"/>
                </a:lnTo>
                <a:lnTo>
                  <a:pt x="1723770" y="214788"/>
                </a:lnTo>
                <a:lnTo>
                  <a:pt x="1717825" y="267592"/>
                </a:lnTo>
                <a:lnTo>
                  <a:pt x="1715643" y="332232"/>
                </a:lnTo>
                <a:lnTo>
                  <a:pt x="1713460" y="267592"/>
                </a:lnTo>
                <a:lnTo>
                  <a:pt x="1707515" y="214788"/>
                </a:lnTo>
                <a:lnTo>
                  <a:pt x="1698712" y="179177"/>
                </a:lnTo>
                <a:lnTo>
                  <a:pt x="1687957" y="166116"/>
                </a:lnTo>
                <a:lnTo>
                  <a:pt x="27686" y="166116"/>
                </a:lnTo>
                <a:lnTo>
                  <a:pt x="16930" y="153054"/>
                </a:lnTo>
                <a:lnTo>
                  <a:pt x="8128" y="117443"/>
                </a:lnTo>
                <a:lnTo>
                  <a:pt x="2182" y="64639"/>
                </a:lnTo>
                <a:lnTo>
                  <a:pt x="0" y="0"/>
                </a:lnTo>
              </a:path>
            </a:pathLst>
          </a:custGeom>
          <a:ln w="31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431536" y="4069079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833" y="0"/>
                </a:moveTo>
                <a:lnTo>
                  <a:pt x="0" y="0"/>
                </a:lnTo>
                <a:lnTo>
                  <a:pt x="0" y="11430"/>
                </a:lnTo>
                <a:lnTo>
                  <a:pt x="38227" y="11430"/>
                </a:lnTo>
                <a:lnTo>
                  <a:pt x="38227" y="250190"/>
                </a:lnTo>
                <a:lnTo>
                  <a:pt x="0" y="250190"/>
                </a:lnTo>
                <a:lnTo>
                  <a:pt x="0" y="260350"/>
                </a:lnTo>
                <a:lnTo>
                  <a:pt x="60833" y="260350"/>
                </a:lnTo>
                <a:lnTo>
                  <a:pt x="60833" y="250190"/>
                </a:lnTo>
                <a:lnTo>
                  <a:pt x="60833" y="11430"/>
                </a:lnTo>
                <a:lnTo>
                  <a:pt x="608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255641" y="4069079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833" y="0"/>
                </a:moveTo>
                <a:lnTo>
                  <a:pt x="0" y="0"/>
                </a:lnTo>
                <a:lnTo>
                  <a:pt x="0" y="11430"/>
                </a:lnTo>
                <a:lnTo>
                  <a:pt x="0" y="250190"/>
                </a:lnTo>
                <a:lnTo>
                  <a:pt x="0" y="260350"/>
                </a:lnTo>
                <a:lnTo>
                  <a:pt x="60833" y="260350"/>
                </a:lnTo>
                <a:lnTo>
                  <a:pt x="60833" y="250190"/>
                </a:lnTo>
                <a:lnTo>
                  <a:pt x="22606" y="250190"/>
                </a:lnTo>
                <a:lnTo>
                  <a:pt x="22606" y="11430"/>
                </a:lnTo>
                <a:lnTo>
                  <a:pt x="60833" y="11430"/>
                </a:lnTo>
                <a:lnTo>
                  <a:pt x="608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88340" y="3873209"/>
            <a:ext cx="6189345" cy="1048385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3470275">
              <a:lnSpc>
                <a:spcPct val="100000"/>
              </a:lnSpc>
              <a:spcBef>
                <a:spcPts val="1000"/>
              </a:spcBef>
              <a:tabLst>
                <a:tab pos="4897120" algn="l"/>
              </a:tabLst>
            </a:pPr>
            <a:r>
              <a:rPr sz="2200">
                <a:latin typeface="Cambria Math"/>
                <a:cs typeface="Cambria Math"/>
              </a:rPr>
              <a:t>𝑫[𝒊]</a:t>
            </a:r>
            <a:r>
              <a:rPr sz="2200" spc="114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=</a:t>
            </a:r>
            <a:r>
              <a:rPr sz="2200" spc="114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𝑿</a:t>
            </a:r>
            <a:r>
              <a:rPr sz="2200" spc="275">
                <a:latin typeface="Cambria Math"/>
                <a:cs typeface="Cambria Math"/>
              </a:rPr>
              <a:t> </a:t>
            </a:r>
            <a:r>
              <a:rPr sz="2200" spc="-50">
                <a:latin typeface="Cambria Math"/>
                <a:cs typeface="Cambria Math"/>
              </a:rPr>
              <a:t>𝒊</a:t>
            </a:r>
            <a:r>
              <a:rPr sz="2200">
                <a:latin typeface="Cambria Math"/>
                <a:cs typeface="Cambria Math"/>
              </a:rPr>
              <a:t>	+</a:t>
            </a:r>
            <a:r>
              <a:rPr sz="2200" spc="-15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𝑫[𝒊 + </a:t>
            </a:r>
            <a:r>
              <a:rPr sz="2200" spc="-25">
                <a:latin typeface="Cambria Math"/>
                <a:cs typeface="Cambria Math"/>
              </a:rPr>
              <a:t>𝟏]</a:t>
            </a:r>
            <a:endParaRPr sz="2200">
              <a:latin typeface="Cambria Math"/>
              <a:cs typeface="Cambria Math"/>
            </a:endParaRPr>
          </a:p>
          <a:p>
            <a:pPr marL="355600" indent="-342900">
              <a:lnSpc>
                <a:spcPct val="100000"/>
              </a:lnSpc>
              <a:spcBef>
                <a:spcPts val="115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>
                <a:latin typeface="PMingLiU"/>
                <a:cs typeface="PMingLiU"/>
              </a:rPr>
              <a:t>情况</a:t>
            </a:r>
            <a:r>
              <a:rPr sz="2800" b="1">
                <a:latin typeface="Times New Roman"/>
                <a:cs typeface="Times New Roman"/>
              </a:rPr>
              <a:t>2</a:t>
            </a:r>
            <a:r>
              <a:rPr sz="2800" b="1">
                <a:latin typeface="Microsoft JhengHei"/>
                <a:cs typeface="Microsoft JhengHei"/>
              </a:rPr>
              <a:t>：</a:t>
            </a:r>
            <a:r>
              <a:rPr sz="2800">
                <a:latin typeface="Cambria Math"/>
                <a:cs typeface="Cambria Math"/>
              </a:rPr>
              <a:t>𝑫[𝒊</a:t>
            </a:r>
            <a:r>
              <a:rPr sz="2800" spc="-5">
                <a:latin typeface="Cambria Math"/>
                <a:cs typeface="Cambria Math"/>
              </a:rPr>
              <a:t> + </a:t>
            </a:r>
            <a:r>
              <a:rPr sz="2800">
                <a:latin typeface="Cambria Math"/>
                <a:cs typeface="Cambria Math"/>
              </a:rPr>
              <a:t>𝟏</a:t>
            </a:r>
            <a:r>
              <a:rPr sz="2800" spc="75">
                <a:latin typeface="Cambria Math"/>
                <a:cs typeface="Cambria Math"/>
              </a:rPr>
              <a:t>] ≤ </a:t>
            </a:r>
            <a:r>
              <a:rPr sz="2800" spc="-50"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22671" y="3375152"/>
            <a:ext cx="103441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>
                <a:latin typeface="Cambria Math"/>
                <a:cs typeface="Cambria Math"/>
              </a:rPr>
              <a:t>𝑫[𝒊</a:t>
            </a:r>
            <a:r>
              <a:rPr sz="2200" spc="-5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+</a:t>
            </a:r>
            <a:r>
              <a:rPr sz="2200" spc="-10">
                <a:latin typeface="Cambria Math"/>
                <a:cs typeface="Cambria Math"/>
              </a:rPr>
              <a:t> </a:t>
            </a:r>
            <a:r>
              <a:rPr sz="2200" spc="-25">
                <a:latin typeface="Cambria Math"/>
                <a:cs typeface="Cambria Math"/>
              </a:rPr>
              <a:t>𝟏]</a:t>
            </a:r>
            <a:endParaRPr sz="2200">
              <a:latin typeface="Cambria Math"/>
              <a:cs typeface="Cambria Math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749325" y="5567553"/>
          <a:ext cx="8129903" cy="396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1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14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14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2952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461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2512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𝑿[𝒊]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𝑿[𝒊</a:t>
                      </a:r>
                      <a:r>
                        <a:rPr sz="20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+</a:t>
                      </a:r>
                      <a:r>
                        <a:rPr sz="2000" spc="-1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R="5334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object 11"/>
          <p:cNvSpPr/>
          <p:nvPr/>
        </p:nvSpPr>
        <p:spPr>
          <a:xfrm>
            <a:off x="3130295" y="5996178"/>
            <a:ext cx="1022985" cy="396240"/>
          </a:xfrm>
          <a:custGeom>
            <a:avLst/>
            <a:gdLst/>
            <a:ahLst/>
            <a:cxnLst/>
            <a:rect l="l" t="t" r="r" b="b"/>
            <a:pathLst>
              <a:path w="1022985" h="396239">
                <a:moveTo>
                  <a:pt x="1022604" y="0"/>
                </a:moveTo>
                <a:lnTo>
                  <a:pt x="1020016" y="77119"/>
                </a:lnTo>
                <a:lnTo>
                  <a:pt x="1012951" y="140093"/>
                </a:lnTo>
                <a:lnTo>
                  <a:pt x="1002458" y="182551"/>
                </a:lnTo>
                <a:lnTo>
                  <a:pt x="989583" y="198120"/>
                </a:lnTo>
                <a:lnTo>
                  <a:pt x="544321" y="198120"/>
                </a:lnTo>
                <a:lnTo>
                  <a:pt x="531447" y="213688"/>
                </a:lnTo>
                <a:lnTo>
                  <a:pt x="520953" y="256146"/>
                </a:lnTo>
                <a:lnTo>
                  <a:pt x="513889" y="319120"/>
                </a:lnTo>
                <a:lnTo>
                  <a:pt x="511302" y="396240"/>
                </a:lnTo>
                <a:lnTo>
                  <a:pt x="508714" y="319120"/>
                </a:lnTo>
                <a:lnTo>
                  <a:pt x="501649" y="256146"/>
                </a:lnTo>
                <a:lnTo>
                  <a:pt x="491156" y="213688"/>
                </a:lnTo>
                <a:lnTo>
                  <a:pt x="478281" y="198120"/>
                </a:lnTo>
                <a:lnTo>
                  <a:pt x="33020" y="198120"/>
                </a:lnTo>
                <a:lnTo>
                  <a:pt x="20145" y="182551"/>
                </a:lnTo>
                <a:lnTo>
                  <a:pt x="9651" y="140093"/>
                </a:lnTo>
                <a:lnTo>
                  <a:pt x="2587" y="77119"/>
                </a:lnTo>
                <a:lnTo>
                  <a:pt x="0" y="0"/>
                </a:lnTo>
              </a:path>
            </a:pathLst>
          </a:custGeom>
          <a:ln w="31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052572" y="6270497"/>
            <a:ext cx="139255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>
                <a:latin typeface="Cambria Math"/>
                <a:cs typeface="Cambria Math"/>
              </a:rPr>
              <a:t>𝑫[𝒊]</a:t>
            </a:r>
            <a:r>
              <a:rPr sz="2200" spc="110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=</a:t>
            </a:r>
            <a:r>
              <a:rPr sz="2200" spc="110">
                <a:latin typeface="Cambria Math"/>
                <a:cs typeface="Cambria Math"/>
              </a:rPr>
              <a:t> </a:t>
            </a:r>
            <a:r>
              <a:rPr sz="2200" spc="-20">
                <a:latin typeface="Cambria Math"/>
                <a:cs typeface="Cambria Math"/>
              </a:rPr>
              <a:t>𝑿[𝒊]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116948" y="1018413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9"/>
                </a:lnTo>
                <a:lnTo>
                  <a:pt x="0" y="876426"/>
                </a:lnTo>
                <a:lnTo>
                  <a:pt x="7647" y="914364"/>
                </a:lnTo>
                <a:lnTo>
                  <a:pt x="28511" y="945324"/>
                </a:lnTo>
                <a:lnTo>
                  <a:pt x="59471" y="966188"/>
                </a:lnTo>
                <a:lnTo>
                  <a:pt x="97408" y="973836"/>
                </a:lnTo>
                <a:lnTo>
                  <a:pt x="1758823" y="973836"/>
                </a:lnTo>
                <a:lnTo>
                  <a:pt x="1796760" y="966188"/>
                </a:lnTo>
                <a:lnTo>
                  <a:pt x="1827720" y="945324"/>
                </a:lnTo>
                <a:lnTo>
                  <a:pt x="1848584" y="914364"/>
                </a:lnTo>
                <a:lnTo>
                  <a:pt x="1856231" y="876426"/>
                </a:lnTo>
                <a:lnTo>
                  <a:pt x="1856231" y="97409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9346438" y="1314449"/>
            <a:ext cx="13970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>
                <a:solidFill>
                  <a:srgbClr val="FFFFFF"/>
                </a:solidFill>
                <a:latin typeface="PMingLiU"/>
                <a:cs typeface="PMingLiU"/>
              </a:rPr>
              <a:t>问题结构分析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825228" y="2052827"/>
            <a:ext cx="439420" cy="367030"/>
          </a:xfrm>
          <a:custGeom>
            <a:avLst/>
            <a:gdLst/>
            <a:ahLst/>
            <a:cxnLst/>
            <a:rect l="l" t="t" r="r" b="b"/>
            <a:pathLst>
              <a:path w="439420" h="367030">
                <a:moveTo>
                  <a:pt x="351154" y="0"/>
                </a:moveTo>
                <a:lnTo>
                  <a:pt x="87756" y="0"/>
                </a:lnTo>
                <a:lnTo>
                  <a:pt x="87756" y="183261"/>
                </a:lnTo>
                <a:lnTo>
                  <a:pt x="0" y="183261"/>
                </a:lnTo>
                <a:lnTo>
                  <a:pt x="219455" y="366522"/>
                </a:lnTo>
                <a:lnTo>
                  <a:pt x="438912" y="183261"/>
                </a:lnTo>
                <a:lnTo>
                  <a:pt x="351154" y="183261"/>
                </a:lnTo>
                <a:lnTo>
                  <a:pt x="35115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116948" y="2480691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9"/>
                </a:lnTo>
                <a:lnTo>
                  <a:pt x="0" y="876426"/>
                </a:lnTo>
                <a:lnTo>
                  <a:pt x="7647" y="914364"/>
                </a:lnTo>
                <a:lnTo>
                  <a:pt x="28511" y="945324"/>
                </a:lnTo>
                <a:lnTo>
                  <a:pt x="59471" y="966188"/>
                </a:lnTo>
                <a:lnTo>
                  <a:pt x="97408" y="973836"/>
                </a:lnTo>
                <a:lnTo>
                  <a:pt x="1758823" y="973836"/>
                </a:lnTo>
                <a:lnTo>
                  <a:pt x="1796760" y="966188"/>
                </a:lnTo>
                <a:lnTo>
                  <a:pt x="1827720" y="945324"/>
                </a:lnTo>
                <a:lnTo>
                  <a:pt x="1848584" y="914364"/>
                </a:lnTo>
                <a:lnTo>
                  <a:pt x="1856231" y="876426"/>
                </a:lnTo>
                <a:lnTo>
                  <a:pt x="1856231" y="97409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83C8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9346438" y="2776982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>
                <a:solidFill>
                  <a:srgbClr val="FFFFFF"/>
                </a:solidFill>
                <a:latin typeface="PMingLiU"/>
                <a:cs typeface="PMingLiU"/>
              </a:rPr>
              <a:t>递推关系建立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825228" y="3515105"/>
            <a:ext cx="439420" cy="365125"/>
          </a:xfrm>
          <a:custGeom>
            <a:avLst/>
            <a:gdLst/>
            <a:ahLst/>
            <a:cxnLst/>
            <a:rect l="l" t="t" r="r" b="b"/>
            <a:pathLst>
              <a:path w="439420" h="365125">
                <a:moveTo>
                  <a:pt x="351154" y="0"/>
                </a:moveTo>
                <a:lnTo>
                  <a:pt x="87756" y="0"/>
                </a:lnTo>
                <a:lnTo>
                  <a:pt x="87756" y="182499"/>
                </a:lnTo>
                <a:lnTo>
                  <a:pt x="0" y="182499"/>
                </a:lnTo>
                <a:lnTo>
                  <a:pt x="219455" y="364998"/>
                </a:lnTo>
                <a:lnTo>
                  <a:pt x="438912" y="182499"/>
                </a:lnTo>
                <a:lnTo>
                  <a:pt x="351154" y="182499"/>
                </a:lnTo>
                <a:lnTo>
                  <a:pt x="35115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9116948" y="3941445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8"/>
                </a:lnTo>
                <a:lnTo>
                  <a:pt x="0" y="876426"/>
                </a:lnTo>
                <a:lnTo>
                  <a:pt x="7647" y="914364"/>
                </a:lnTo>
                <a:lnTo>
                  <a:pt x="28511" y="945324"/>
                </a:lnTo>
                <a:lnTo>
                  <a:pt x="59471" y="966188"/>
                </a:lnTo>
                <a:lnTo>
                  <a:pt x="97408" y="973835"/>
                </a:lnTo>
                <a:lnTo>
                  <a:pt x="1758823" y="973835"/>
                </a:lnTo>
                <a:lnTo>
                  <a:pt x="1796760" y="966188"/>
                </a:lnTo>
                <a:lnTo>
                  <a:pt x="1827720" y="945324"/>
                </a:lnTo>
                <a:lnTo>
                  <a:pt x="1848584" y="914364"/>
                </a:lnTo>
                <a:lnTo>
                  <a:pt x="1856231" y="876426"/>
                </a:lnTo>
                <a:lnTo>
                  <a:pt x="1856231" y="97408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9346438" y="4237735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>
                <a:solidFill>
                  <a:srgbClr val="FFFFFF"/>
                </a:solidFill>
                <a:latin typeface="PMingLiU"/>
                <a:cs typeface="PMingLiU"/>
              </a:rPr>
              <a:t>自底向上计算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9825228" y="4975859"/>
            <a:ext cx="439420" cy="365125"/>
          </a:xfrm>
          <a:custGeom>
            <a:avLst/>
            <a:gdLst/>
            <a:ahLst/>
            <a:cxnLst/>
            <a:rect l="l" t="t" r="r" b="b"/>
            <a:pathLst>
              <a:path w="439420" h="365125">
                <a:moveTo>
                  <a:pt x="351154" y="0"/>
                </a:moveTo>
                <a:lnTo>
                  <a:pt x="87756" y="0"/>
                </a:lnTo>
                <a:lnTo>
                  <a:pt x="87756" y="182498"/>
                </a:lnTo>
                <a:lnTo>
                  <a:pt x="0" y="182498"/>
                </a:lnTo>
                <a:lnTo>
                  <a:pt x="219455" y="364997"/>
                </a:lnTo>
                <a:lnTo>
                  <a:pt x="438912" y="182498"/>
                </a:lnTo>
                <a:lnTo>
                  <a:pt x="351154" y="182498"/>
                </a:lnTo>
                <a:lnTo>
                  <a:pt x="35115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9116948" y="5402198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9"/>
                </a:lnTo>
                <a:lnTo>
                  <a:pt x="0" y="876452"/>
                </a:lnTo>
                <a:lnTo>
                  <a:pt x="7647" y="914358"/>
                </a:lnTo>
                <a:lnTo>
                  <a:pt x="28511" y="945313"/>
                </a:lnTo>
                <a:lnTo>
                  <a:pt x="59471" y="966183"/>
                </a:lnTo>
                <a:lnTo>
                  <a:pt x="97408" y="973835"/>
                </a:lnTo>
                <a:lnTo>
                  <a:pt x="1758823" y="973835"/>
                </a:lnTo>
                <a:lnTo>
                  <a:pt x="1796760" y="966183"/>
                </a:lnTo>
                <a:lnTo>
                  <a:pt x="1827720" y="945313"/>
                </a:lnTo>
                <a:lnTo>
                  <a:pt x="1848584" y="914358"/>
                </a:lnTo>
                <a:lnTo>
                  <a:pt x="1856231" y="876452"/>
                </a:lnTo>
                <a:lnTo>
                  <a:pt x="1856231" y="97409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9346438" y="5698744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>
                <a:solidFill>
                  <a:srgbClr val="FFFFFF"/>
                </a:solidFill>
                <a:latin typeface="PMingLiU"/>
                <a:cs typeface="PMingLiU"/>
              </a:rPr>
              <a:t>最优方案追踪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508754" y="4386198"/>
            <a:ext cx="2452370" cy="633730"/>
          </a:xfrm>
          <a:custGeom>
            <a:avLst/>
            <a:gdLst/>
            <a:ahLst/>
            <a:cxnLst/>
            <a:rect l="l" t="t" r="r" b="b"/>
            <a:pathLst>
              <a:path w="2452370" h="633729">
                <a:moveTo>
                  <a:pt x="2451862" y="599440"/>
                </a:moveTo>
                <a:lnTo>
                  <a:pt x="1709254" y="78879"/>
                </a:lnTo>
                <a:lnTo>
                  <a:pt x="1716900" y="67945"/>
                </a:lnTo>
                <a:lnTo>
                  <a:pt x="1731137" y="47625"/>
                </a:lnTo>
                <a:lnTo>
                  <a:pt x="1604772" y="28829"/>
                </a:lnTo>
                <a:lnTo>
                  <a:pt x="1665605" y="141224"/>
                </a:lnTo>
                <a:lnTo>
                  <a:pt x="1687449" y="110020"/>
                </a:lnTo>
                <a:lnTo>
                  <a:pt x="2347709" y="572985"/>
                </a:lnTo>
                <a:lnTo>
                  <a:pt x="115582" y="36969"/>
                </a:lnTo>
                <a:lnTo>
                  <a:pt x="116649" y="32512"/>
                </a:lnTo>
                <a:lnTo>
                  <a:pt x="124460" y="0"/>
                </a:lnTo>
                <a:lnTo>
                  <a:pt x="0" y="28829"/>
                </a:lnTo>
                <a:lnTo>
                  <a:pt x="97790" y="111125"/>
                </a:lnTo>
                <a:lnTo>
                  <a:pt x="106680" y="74053"/>
                </a:lnTo>
                <a:lnTo>
                  <a:pt x="2436876" y="633603"/>
                </a:lnTo>
                <a:lnTo>
                  <a:pt x="2441511" y="614235"/>
                </a:lnTo>
                <a:lnTo>
                  <a:pt x="2451862" y="5994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6949440" y="4710684"/>
            <a:ext cx="1712595" cy="581025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88265" rIns="0" bIns="0" rtlCol="0">
            <a:spAutoFit/>
          </a:bodyPr>
          <a:lstStyle/>
          <a:p>
            <a:pPr marL="156845">
              <a:lnSpc>
                <a:spcPct val="100000"/>
              </a:lnSpc>
              <a:spcBef>
                <a:spcPts val="695"/>
              </a:spcBef>
            </a:pPr>
            <a:r>
              <a:rPr sz="2200" spc="-10">
                <a:solidFill>
                  <a:srgbClr val="FFFFFF"/>
                </a:solidFill>
                <a:latin typeface="PMingLiU"/>
                <a:cs typeface="PMingLiU"/>
              </a:rPr>
              <a:t>最优子结构</a:t>
            </a:r>
            <a:endParaRPr sz="2200">
              <a:latin typeface="PMingLiU"/>
              <a:cs typeface="PMingLiU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122420" y="3896867"/>
            <a:ext cx="2827020" cy="528320"/>
          </a:xfrm>
          <a:custGeom>
            <a:avLst/>
            <a:gdLst/>
            <a:ahLst/>
            <a:cxnLst/>
            <a:rect l="l" t="t" r="r" b="b"/>
            <a:pathLst>
              <a:path w="2827020" h="528320">
                <a:moveTo>
                  <a:pt x="0" y="81660"/>
                </a:moveTo>
                <a:lnTo>
                  <a:pt x="6419" y="49881"/>
                </a:lnTo>
                <a:lnTo>
                  <a:pt x="23923" y="23923"/>
                </a:lnTo>
                <a:lnTo>
                  <a:pt x="49881" y="6419"/>
                </a:lnTo>
                <a:lnTo>
                  <a:pt x="81660" y="0"/>
                </a:lnTo>
                <a:lnTo>
                  <a:pt x="677290" y="0"/>
                </a:lnTo>
                <a:lnTo>
                  <a:pt x="709070" y="6419"/>
                </a:lnTo>
                <a:lnTo>
                  <a:pt x="735028" y="23923"/>
                </a:lnTo>
                <a:lnTo>
                  <a:pt x="752532" y="49881"/>
                </a:lnTo>
                <a:lnTo>
                  <a:pt x="758951" y="81660"/>
                </a:lnTo>
                <a:lnTo>
                  <a:pt x="758951" y="408304"/>
                </a:lnTo>
                <a:lnTo>
                  <a:pt x="752532" y="440084"/>
                </a:lnTo>
                <a:lnTo>
                  <a:pt x="735028" y="466042"/>
                </a:lnTo>
                <a:lnTo>
                  <a:pt x="709070" y="483546"/>
                </a:lnTo>
                <a:lnTo>
                  <a:pt x="677290" y="489965"/>
                </a:lnTo>
                <a:lnTo>
                  <a:pt x="81660" y="489965"/>
                </a:lnTo>
                <a:lnTo>
                  <a:pt x="49881" y="483546"/>
                </a:lnTo>
                <a:lnTo>
                  <a:pt x="23923" y="466042"/>
                </a:lnTo>
                <a:lnTo>
                  <a:pt x="6419" y="440084"/>
                </a:lnTo>
                <a:lnTo>
                  <a:pt x="0" y="408304"/>
                </a:lnTo>
                <a:lnTo>
                  <a:pt x="0" y="81660"/>
                </a:lnTo>
                <a:close/>
              </a:path>
              <a:path w="2827020" h="528320">
                <a:moveTo>
                  <a:pt x="1617726" y="119760"/>
                </a:moveTo>
                <a:lnTo>
                  <a:pt x="1624145" y="87981"/>
                </a:lnTo>
                <a:lnTo>
                  <a:pt x="1641649" y="62023"/>
                </a:lnTo>
                <a:lnTo>
                  <a:pt x="1667607" y="44519"/>
                </a:lnTo>
                <a:lnTo>
                  <a:pt x="1699387" y="38099"/>
                </a:lnTo>
                <a:lnTo>
                  <a:pt x="2745358" y="38099"/>
                </a:lnTo>
                <a:lnTo>
                  <a:pt x="2777138" y="44519"/>
                </a:lnTo>
                <a:lnTo>
                  <a:pt x="2803096" y="62023"/>
                </a:lnTo>
                <a:lnTo>
                  <a:pt x="2820600" y="87981"/>
                </a:lnTo>
                <a:lnTo>
                  <a:pt x="2827020" y="119760"/>
                </a:lnTo>
                <a:lnTo>
                  <a:pt x="2827020" y="446404"/>
                </a:lnTo>
                <a:lnTo>
                  <a:pt x="2820600" y="478184"/>
                </a:lnTo>
                <a:lnTo>
                  <a:pt x="2803096" y="504142"/>
                </a:lnTo>
                <a:lnTo>
                  <a:pt x="2777138" y="521646"/>
                </a:lnTo>
                <a:lnTo>
                  <a:pt x="2745358" y="528065"/>
                </a:lnTo>
                <a:lnTo>
                  <a:pt x="1699387" y="528065"/>
                </a:lnTo>
                <a:lnTo>
                  <a:pt x="1667607" y="521646"/>
                </a:lnTo>
                <a:lnTo>
                  <a:pt x="1641649" y="504142"/>
                </a:lnTo>
                <a:lnTo>
                  <a:pt x="1624145" y="478184"/>
                </a:lnTo>
                <a:lnTo>
                  <a:pt x="1617726" y="446404"/>
                </a:lnTo>
                <a:lnTo>
                  <a:pt x="1617726" y="119760"/>
                </a:lnTo>
                <a:close/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5500623"/>
            <a:ext cx="165481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dirty="0">
                <a:latin typeface="Cambria Math"/>
                <a:cs typeface="Cambria Math"/>
              </a:rPr>
              <a:t>𝑫[𝒊]</a:t>
            </a:r>
            <a:r>
              <a:rPr sz="2800" spc="13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=</a:t>
            </a:r>
          </a:p>
        </p:txBody>
      </p:sp>
      <p:sp>
        <p:nvSpPr>
          <p:cNvPr id="3" name="object 3"/>
          <p:cNvSpPr/>
          <p:nvPr/>
        </p:nvSpPr>
        <p:spPr>
          <a:xfrm>
            <a:off x="2840609" y="5363209"/>
            <a:ext cx="77470" cy="331470"/>
          </a:xfrm>
          <a:custGeom>
            <a:avLst/>
            <a:gdLst/>
            <a:ahLst/>
            <a:cxnLst/>
            <a:rect l="l" t="t" r="r" b="b"/>
            <a:pathLst>
              <a:path w="77469" h="331470">
                <a:moveTo>
                  <a:pt x="77470" y="0"/>
                </a:moveTo>
                <a:lnTo>
                  <a:pt x="0" y="0"/>
                </a:lnTo>
                <a:lnTo>
                  <a:pt x="0" y="12700"/>
                </a:lnTo>
                <a:lnTo>
                  <a:pt x="48641" y="12700"/>
                </a:lnTo>
                <a:lnTo>
                  <a:pt x="48641" y="317500"/>
                </a:lnTo>
                <a:lnTo>
                  <a:pt x="0" y="317500"/>
                </a:lnTo>
                <a:lnTo>
                  <a:pt x="0" y="331470"/>
                </a:lnTo>
                <a:lnTo>
                  <a:pt x="77470" y="331470"/>
                </a:lnTo>
                <a:lnTo>
                  <a:pt x="77470" y="317500"/>
                </a:lnTo>
                <a:lnTo>
                  <a:pt x="77470" y="12700"/>
                </a:lnTo>
                <a:lnTo>
                  <a:pt x="774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615946" y="5363209"/>
            <a:ext cx="77470" cy="331470"/>
          </a:xfrm>
          <a:custGeom>
            <a:avLst/>
            <a:gdLst/>
            <a:ahLst/>
            <a:cxnLst/>
            <a:rect l="l" t="t" r="r" b="b"/>
            <a:pathLst>
              <a:path w="77469" h="331470">
                <a:moveTo>
                  <a:pt x="77470" y="0"/>
                </a:moveTo>
                <a:lnTo>
                  <a:pt x="0" y="0"/>
                </a:lnTo>
                <a:lnTo>
                  <a:pt x="0" y="12700"/>
                </a:lnTo>
                <a:lnTo>
                  <a:pt x="0" y="317500"/>
                </a:lnTo>
                <a:lnTo>
                  <a:pt x="0" y="331470"/>
                </a:lnTo>
                <a:lnTo>
                  <a:pt x="77470" y="331470"/>
                </a:lnTo>
                <a:lnTo>
                  <a:pt x="77470" y="317500"/>
                </a:lnTo>
                <a:lnTo>
                  <a:pt x="28829" y="317500"/>
                </a:lnTo>
                <a:lnTo>
                  <a:pt x="28829" y="12700"/>
                </a:lnTo>
                <a:lnTo>
                  <a:pt x="77470" y="12700"/>
                </a:lnTo>
                <a:lnTo>
                  <a:pt x="774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077714" y="5228159"/>
            <a:ext cx="2395220" cy="94678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2800">
                <a:latin typeface="Cambria Math"/>
                <a:cs typeface="Cambria Math"/>
              </a:rPr>
              <a:t>𝒊𝒇</a:t>
            </a:r>
            <a:r>
              <a:rPr sz="2800" spc="-10">
                <a:latin typeface="Cambria Math"/>
                <a:cs typeface="Cambria Math"/>
              </a:rPr>
              <a:t> </a:t>
            </a:r>
            <a:r>
              <a:rPr sz="2800">
                <a:latin typeface="Cambria Math"/>
                <a:cs typeface="Cambria Math"/>
              </a:rPr>
              <a:t>𝑫[𝒊</a:t>
            </a:r>
            <a:r>
              <a:rPr sz="2800" spc="-10">
                <a:latin typeface="Cambria Math"/>
                <a:cs typeface="Cambria Math"/>
              </a:rPr>
              <a:t> </a:t>
            </a:r>
            <a:r>
              <a:rPr sz="2800">
                <a:latin typeface="Cambria Math"/>
                <a:cs typeface="Cambria Math"/>
              </a:rPr>
              <a:t>+</a:t>
            </a:r>
            <a:r>
              <a:rPr sz="2800" spc="-5">
                <a:latin typeface="Cambria Math"/>
                <a:cs typeface="Cambria Math"/>
              </a:rPr>
              <a:t> </a:t>
            </a:r>
            <a:r>
              <a:rPr sz="2800">
                <a:latin typeface="Cambria Math"/>
                <a:cs typeface="Cambria Math"/>
              </a:rPr>
              <a:t>𝟏]</a:t>
            </a:r>
            <a:r>
              <a:rPr sz="2800" spc="145">
                <a:latin typeface="Cambria Math"/>
                <a:cs typeface="Cambria Math"/>
              </a:rPr>
              <a:t> </a:t>
            </a:r>
            <a:r>
              <a:rPr sz="2800">
                <a:latin typeface="Cambria Math"/>
                <a:cs typeface="Cambria Math"/>
              </a:rPr>
              <a:t>&gt;</a:t>
            </a:r>
            <a:r>
              <a:rPr sz="2800" spc="155">
                <a:latin typeface="Cambria Math"/>
                <a:cs typeface="Cambria Math"/>
              </a:rPr>
              <a:t> </a:t>
            </a:r>
            <a:r>
              <a:rPr sz="2800" spc="-50"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2800">
                <a:latin typeface="Cambria Math"/>
                <a:cs typeface="Cambria Math"/>
              </a:rPr>
              <a:t>𝒊𝒇</a:t>
            </a:r>
            <a:r>
              <a:rPr sz="2800" spc="-5">
                <a:latin typeface="Cambria Math"/>
                <a:cs typeface="Cambria Math"/>
              </a:rPr>
              <a:t> </a:t>
            </a:r>
            <a:r>
              <a:rPr sz="2800">
                <a:latin typeface="Cambria Math"/>
                <a:cs typeface="Cambria Math"/>
              </a:rPr>
              <a:t>𝑫[𝒊</a:t>
            </a:r>
            <a:r>
              <a:rPr sz="2800" spc="-10">
                <a:latin typeface="Cambria Math"/>
                <a:cs typeface="Cambria Math"/>
              </a:rPr>
              <a:t> </a:t>
            </a:r>
            <a:r>
              <a:rPr sz="2800">
                <a:latin typeface="Cambria Math"/>
                <a:cs typeface="Cambria Math"/>
              </a:rPr>
              <a:t>+</a:t>
            </a:r>
            <a:r>
              <a:rPr sz="2800" spc="-5">
                <a:latin typeface="Cambria Math"/>
                <a:cs typeface="Cambria Math"/>
              </a:rPr>
              <a:t> </a:t>
            </a:r>
            <a:r>
              <a:rPr sz="2800">
                <a:latin typeface="Cambria Math"/>
                <a:cs typeface="Cambria Math"/>
              </a:rPr>
              <a:t>𝟏]</a:t>
            </a:r>
            <a:r>
              <a:rPr sz="2800" spc="145">
                <a:latin typeface="Cambria Math"/>
                <a:cs typeface="Cambria Math"/>
              </a:rPr>
              <a:t> </a:t>
            </a:r>
            <a:r>
              <a:rPr sz="2800">
                <a:latin typeface="Cambria Math"/>
                <a:cs typeface="Cambria Math"/>
              </a:rPr>
              <a:t>≤</a:t>
            </a:r>
            <a:r>
              <a:rPr sz="2800" spc="155">
                <a:latin typeface="Cambria Math"/>
                <a:cs typeface="Cambria Math"/>
              </a:rPr>
              <a:t> </a:t>
            </a:r>
            <a:r>
              <a:rPr sz="2800" spc="-50">
                <a:latin typeface="Cambria Math"/>
                <a:cs typeface="Cambria Math"/>
              </a:rPr>
              <a:t>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692525" y="5822950"/>
            <a:ext cx="77470" cy="331470"/>
          </a:xfrm>
          <a:custGeom>
            <a:avLst/>
            <a:gdLst/>
            <a:ahLst/>
            <a:cxnLst/>
            <a:rect l="l" t="t" r="r" b="b"/>
            <a:pathLst>
              <a:path w="77470" h="331470">
                <a:moveTo>
                  <a:pt x="77470" y="0"/>
                </a:moveTo>
                <a:lnTo>
                  <a:pt x="0" y="0"/>
                </a:lnTo>
                <a:lnTo>
                  <a:pt x="0" y="13970"/>
                </a:lnTo>
                <a:lnTo>
                  <a:pt x="48641" y="13970"/>
                </a:lnTo>
                <a:lnTo>
                  <a:pt x="48641" y="318770"/>
                </a:lnTo>
                <a:lnTo>
                  <a:pt x="0" y="318770"/>
                </a:lnTo>
                <a:lnTo>
                  <a:pt x="0" y="331470"/>
                </a:lnTo>
                <a:lnTo>
                  <a:pt x="77470" y="331470"/>
                </a:lnTo>
                <a:lnTo>
                  <a:pt x="77470" y="318770"/>
                </a:lnTo>
                <a:lnTo>
                  <a:pt x="77470" y="13970"/>
                </a:lnTo>
                <a:lnTo>
                  <a:pt x="774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467862" y="5822950"/>
            <a:ext cx="77470" cy="331470"/>
          </a:xfrm>
          <a:custGeom>
            <a:avLst/>
            <a:gdLst/>
            <a:ahLst/>
            <a:cxnLst/>
            <a:rect l="l" t="t" r="r" b="b"/>
            <a:pathLst>
              <a:path w="77470" h="331470">
                <a:moveTo>
                  <a:pt x="77470" y="0"/>
                </a:moveTo>
                <a:lnTo>
                  <a:pt x="0" y="0"/>
                </a:lnTo>
                <a:lnTo>
                  <a:pt x="0" y="13970"/>
                </a:lnTo>
                <a:lnTo>
                  <a:pt x="0" y="318770"/>
                </a:lnTo>
                <a:lnTo>
                  <a:pt x="0" y="331470"/>
                </a:lnTo>
                <a:lnTo>
                  <a:pt x="77470" y="331470"/>
                </a:lnTo>
                <a:lnTo>
                  <a:pt x="77470" y="318770"/>
                </a:lnTo>
                <a:lnTo>
                  <a:pt x="28829" y="318770"/>
                </a:lnTo>
                <a:lnTo>
                  <a:pt x="28829" y="13970"/>
                </a:lnTo>
                <a:lnTo>
                  <a:pt x="77470" y="13970"/>
                </a:lnTo>
                <a:lnTo>
                  <a:pt x="774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317750" y="5228159"/>
            <a:ext cx="2431415" cy="94678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65"/>
              </a:spcBef>
              <a:tabLst>
                <a:tab pos="705485" algn="l"/>
              </a:tabLst>
            </a:pPr>
            <a:r>
              <a:rPr sz="2800">
                <a:latin typeface="Cambria Math"/>
                <a:cs typeface="Cambria Math"/>
              </a:rPr>
              <a:t>𝑿</a:t>
            </a:r>
            <a:r>
              <a:rPr sz="2800" spc="360">
                <a:latin typeface="Cambria Math"/>
                <a:cs typeface="Cambria Math"/>
              </a:rPr>
              <a:t> </a:t>
            </a:r>
            <a:r>
              <a:rPr sz="2800" spc="-50">
                <a:latin typeface="Cambria Math"/>
                <a:cs typeface="Cambria Math"/>
              </a:rPr>
              <a:t>𝒊</a:t>
            </a:r>
            <a:r>
              <a:rPr sz="2800">
                <a:latin typeface="Cambria Math"/>
                <a:cs typeface="Cambria Math"/>
              </a:rPr>
              <a:t>	+</a:t>
            </a:r>
            <a:r>
              <a:rPr sz="2800" spc="-5">
                <a:latin typeface="Cambria Math"/>
                <a:cs typeface="Cambria Math"/>
              </a:rPr>
              <a:t> </a:t>
            </a:r>
            <a:r>
              <a:rPr sz="2800">
                <a:latin typeface="Cambria Math"/>
                <a:cs typeface="Cambria Math"/>
              </a:rPr>
              <a:t>𝑫[𝒊</a:t>
            </a:r>
            <a:r>
              <a:rPr sz="2800" spc="-10">
                <a:latin typeface="Cambria Math"/>
                <a:cs typeface="Cambria Math"/>
              </a:rPr>
              <a:t> </a:t>
            </a:r>
            <a:r>
              <a:rPr sz="2800">
                <a:latin typeface="Cambria Math"/>
                <a:cs typeface="Cambria Math"/>
              </a:rPr>
              <a:t>+</a:t>
            </a:r>
            <a:r>
              <a:rPr sz="2800" spc="-10">
                <a:latin typeface="Cambria Math"/>
                <a:cs typeface="Cambria Math"/>
              </a:rPr>
              <a:t> </a:t>
            </a:r>
            <a:r>
              <a:rPr sz="2800" spc="-25">
                <a:latin typeface="Cambria Math"/>
                <a:cs typeface="Cambria Math"/>
              </a:rPr>
              <a:t>𝟏],</a:t>
            </a:r>
            <a:endParaRPr sz="2800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  <a:spcBef>
                <a:spcPts val="265"/>
              </a:spcBef>
            </a:pPr>
            <a:r>
              <a:rPr sz="2800">
                <a:latin typeface="Cambria Math"/>
                <a:cs typeface="Cambria Math"/>
              </a:rPr>
              <a:t>𝑿</a:t>
            </a:r>
            <a:r>
              <a:rPr sz="2800" spc="360">
                <a:latin typeface="Cambria Math"/>
                <a:cs typeface="Cambria Math"/>
              </a:rPr>
              <a:t> </a:t>
            </a:r>
            <a:r>
              <a:rPr sz="2800">
                <a:latin typeface="Cambria Math"/>
                <a:cs typeface="Cambria Math"/>
              </a:rPr>
              <a:t>𝒊</a:t>
            </a:r>
            <a:r>
              <a:rPr sz="2800" spc="360">
                <a:latin typeface="Cambria Math"/>
                <a:cs typeface="Cambria Math"/>
              </a:rPr>
              <a:t> </a:t>
            </a:r>
            <a:r>
              <a:rPr sz="2800" spc="-50">
                <a:latin typeface="Cambria Math"/>
                <a:cs typeface="Cambria Math"/>
              </a:rPr>
              <a:t>,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205040" y="223036"/>
            <a:ext cx="8129903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递推关系建立：构造递推公</a:t>
            </a:r>
            <a:r>
              <a:rPr sz="3600"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式</a:t>
            </a:r>
            <a:endParaRPr sz="36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116948" y="1018413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9"/>
                </a:lnTo>
                <a:lnTo>
                  <a:pt x="0" y="876426"/>
                </a:lnTo>
                <a:lnTo>
                  <a:pt x="7647" y="914364"/>
                </a:lnTo>
                <a:lnTo>
                  <a:pt x="28511" y="945324"/>
                </a:lnTo>
                <a:lnTo>
                  <a:pt x="59471" y="966188"/>
                </a:lnTo>
                <a:lnTo>
                  <a:pt x="97408" y="973836"/>
                </a:lnTo>
                <a:lnTo>
                  <a:pt x="1758823" y="973836"/>
                </a:lnTo>
                <a:lnTo>
                  <a:pt x="1796760" y="966188"/>
                </a:lnTo>
                <a:lnTo>
                  <a:pt x="1827720" y="945324"/>
                </a:lnTo>
                <a:lnTo>
                  <a:pt x="1848584" y="914364"/>
                </a:lnTo>
                <a:lnTo>
                  <a:pt x="1856231" y="876426"/>
                </a:lnTo>
                <a:lnTo>
                  <a:pt x="1856231" y="97409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346438" y="1314449"/>
            <a:ext cx="13970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>
                <a:solidFill>
                  <a:srgbClr val="FFFFFF"/>
                </a:solidFill>
                <a:latin typeface="PMingLiU"/>
                <a:cs typeface="PMingLiU"/>
              </a:rPr>
              <a:t>问题结构分析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825228" y="2052827"/>
            <a:ext cx="439420" cy="367030"/>
          </a:xfrm>
          <a:custGeom>
            <a:avLst/>
            <a:gdLst/>
            <a:ahLst/>
            <a:cxnLst/>
            <a:rect l="l" t="t" r="r" b="b"/>
            <a:pathLst>
              <a:path w="439420" h="367030">
                <a:moveTo>
                  <a:pt x="351154" y="0"/>
                </a:moveTo>
                <a:lnTo>
                  <a:pt x="87756" y="0"/>
                </a:lnTo>
                <a:lnTo>
                  <a:pt x="87756" y="183261"/>
                </a:lnTo>
                <a:lnTo>
                  <a:pt x="0" y="183261"/>
                </a:lnTo>
                <a:lnTo>
                  <a:pt x="219455" y="366522"/>
                </a:lnTo>
                <a:lnTo>
                  <a:pt x="438912" y="183261"/>
                </a:lnTo>
                <a:lnTo>
                  <a:pt x="351154" y="183261"/>
                </a:lnTo>
                <a:lnTo>
                  <a:pt x="35115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116948" y="2480691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9"/>
                </a:lnTo>
                <a:lnTo>
                  <a:pt x="0" y="876426"/>
                </a:lnTo>
                <a:lnTo>
                  <a:pt x="7647" y="914364"/>
                </a:lnTo>
                <a:lnTo>
                  <a:pt x="28511" y="945324"/>
                </a:lnTo>
                <a:lnTo>
                  <a:pt x="59471" y="966188"/>
                </a:lnTo>
                <a:lnTo>
                  <a:pt x="97408" y="973836"/>
                </a:lnTo>
                <a:lnTo>
                  <a:pt x="1758823" y="973836"/>
                </a:lnTo>
                <a:lnTo>
                  <a:pt x="1796760" y="966188"/>
                </a:lnTo>
                <a:lnTo>
                  <a:pt x="1827720" y="945324"/>
                </a:lnTo>
                <a:lnTo>
                  <a:pt x="1848584" y="914364"/>
                </a:lnTo>
                <a:lnTo>
                  <a:pt x="1856231" y="876426"/>
                </a:lnTo>
                <a:lnTo>
                  <a:pt x="1856231" y="97409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83C8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9346438" y="2776982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>
                <a:solidFill>
                  <a:srgbClr val="FFFFFF"/>
                </a:solidFill>
                <a:latin typeface="PMingLiU"/>
                <a:cs typeface="PMingLiU"/>
              </a:rPr>
              <a:t>递推关系建立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825228" y="3515105"/>
            <a:ext cx="439420" cy="365125"/>
          </a:xfrm>
          <a:custGeom>
            <a:avLst/>
            <a:gdLst/>
            <a:ahLst/>
            <a:cxnLst/>
            <a:rect l="l" t="t" r="r" b="b"/>
            <a:pathLst>
              <a:path w="439420" h="365125">
                <a:moveTo>
                  <a:pt x="351154" y="0"/>
                </a:moveTo>
                <a:lnTo>
                  <a:pt x="87756" y="0"/>
                </a:lnTo>
                <a:lnTo>
                  <a:pt x="87756" y="182499"/>
                </a:lnTo>
                <a:lnTo>
                  <a:pt x="0" y="182499"/>
                </a:lnTo>
                <a:lnTo>
                  <a:pt x="219455" y="364998"/>
                </a:lnTo>
                <a:lnTo>
                  <a:pt x="438912" y="182499"/>
                </a:lnTo>
                <a:lnTo>
                  <a:pt x="351154" y="182499"/>
                </a:lnTo>
                <a:lnTo>
                  <a:pt x="35115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116948" y="3941445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8"/>
                </a:lnTo>
                <a:lnTo>
                  <a:pt x="0" y="876426"/>
                </a:lnTo>
                <a:lnTo>
                  <a:pt x="7647" y="914364"/>
                </a:lnTo>
                <a:lnTo>
                  <a:pt x="28511" y="945324"/>
                </a:lnTo>
                <a:lnTo>
                  <a:pt x="59471" y="966188"/>
                </a:lnTo>
                <a:lnTo>
                  <a:pt x="97408" y="973835"/>
                </a:lnTo>
                <a:lnTo>
                  <a:pt x="1758823" y="973835"/>
                </a:lnTo>
                <a:lnTo>
                  <a:pt x="1796760" y="966188"/>
                </a:lnTo>
                <a:lnTo>
                  <a:pt x="1827720" y="945324"/>
                </a:lnTo>
                <a:lnTo>
                  <a:pt x="1848584" y="914364"/>
                </a:lnTo>
                <a:lnTo>
                  <a:pt x="1856231" y="876426"/>
                </a:lnTo>
                <a:lnTo>
                  <a:pt x="1856231" y="97408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9346438" y="4237735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>
                <a:solidFill>
                  <a:srgbClr val="FFFFFF"/>
                </a:solidFill>
                <a:latin typeface="PMingLiU"/>
                <a:cs typeface="PMingLiU"/>
              </a:rPr>
              <a:t>自底向上计算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825228" y="4975859"/>
            <a:ext cx="439420" cy="365125"/>
          </a:xfrm>
          <a:custGeom>
            <a:avLst/>
            <a:gdLst/>
            <a:ahLst/>
            <a:cxnLst/>
            <a:rect l="l" t="t" r="r" b="b"/>
            <a:pathLst>
              <a:path w="439420" h="365125">
                <a:moveTo>
                  <a:pt x="351154" y="0"/>
                </a:moveTo>
                <a:lnTo>
                  <a:pt x="87756" y="0"/>
                </a:lnTo>
                <a:lnTo>
                  <a:pt x="87756" y="182498"/>
                </a:lnTo>
                <a:lnTo>
                  <a:pt x="0" y="182498"/>
                </a:lnTo>
                <a:lnTo>
                  <a:pt x="219455" y="364997"/>
                </a:lnTo>
                <a:lnTo>
                  <a:pt x="438912" y="182498"/>
                </a:lnTo>
                <a:lnTo>
                  <a:pt x="351154" y="182498"/>
                </a:lnTo>
                <a:lnTo>
                  <a:pt x="35115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9116948" y="5402198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9"/>
                </a:lnTo>
                <a:lnTo>
                  <a:pt x="0" y="876452"/>
                </a:lnTo>
                <a:lnTo>
                  <a:pt x="7647" y="914358"/>
                </a:lnTo>
                <a:lnTo>
                  <a:pt x="28511" y="945313"/>
                </a:lnTo>
                <a:lnTo>
                  <a:pt x="59471" y="966183"/>
                </a:lnTo>
                <a:lnTo>
                  <a:pt x="97408" y="973835"/>
                </a:lnTo>
                <a:lnTo>
                  <a:pt x="1758823" y="973835"/>
                </a:lnTo>
                <a:lnTo>
                  <a:pt x="1796760" y="966183"/>
                </a:lnTo>
                <a:lnTo>
                  <a:pt x="1827720" y="945313"/>
                </a:lnTo>
                <a:lnTo>
                  <a:pt x="1848584" y="914358"/>
                </a:lnTo>
                <a:lnTo>
                  <a:pt x="1856231" y="876452"/>
                </a:lnTo>
                <a:lnTo>
                  <a:pt x="1856231" y="97409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9346438" y="5698744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>
                <a:solidFill>
                  <a:srgbClr val="FFFFFF"/>
                </a:solidFill>
                <a:latin typeface="PMingLiU"/>
                <a:cs typeface="PMingLiU"/>
              </a:rPr>
              <a:t>最优方案追踪</a:t>
            </a:r>
            <a:endParaRPr sz="1800">
              <a:latin typeface="PMingLiU"/>
              <a:cs typeface="PMingLiU"/>
            </a:endParaRPr>
          </a:p>
        </p:txBody>
      </p: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603250" y="3398773"/>
          <a:ext cx="8129903" cy="3956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1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14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14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marL="2952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461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2512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𝑿[𝒊]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𝑿[𝒊</a:t>
                      </a:r>
                      <a:r>
                        <a:rPr sz="20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+</a:t>
                      </a:r>
                      <a:r>
                        <a:rPr sz="2000" spc="-1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603250" y="1644776"/>
          <a:ext cx="8129903" cy="3956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1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14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14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marL="2952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461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2512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𝑿[𝒊]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AF5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𝑿[𝒊</a:t>
                      </a:r>
                      <a:r>
                        <a:rPr sz="20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+</a:t>
                      </a:r>
                      <a:r>
                        <a:rPr sz="2000" spc="-1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9200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9200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9200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𝑿[𝒏]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3" name="object 23"/>
          <p:cNvGrpSpPr/>
          <p:nvPr/>
        </p:nvGrpSpPr>
        <p:grpSpPr>
          <a:xfrm>
            <a:off x="2968117" y="2304414"/>
            <a:ext cx="4603750" cy="694055"/>
            <a:chOff x="2968117" y="2304414"/>
            <a:chExt cx="4603750" cy="694055"/>
          </a:xfrm>
        </p:grpSpPr>
        <p:sp>
          <p:nvSpPr>
            <p:cNvPr id="24" name="object 24"/>
            <p:cNvSpPr/>
            <p:nvPr/>
          </p:nvSpPr>
          <p:spPr>
            <a:xfrm>
              <a:off x="2983992" y="2320289"/>
              <a:ext cx="4572000" cy="396240"/>
            </a:xfrm>
            <a:custGeom>
              <a:avLst/>
              <a:gdLst/>
              <a:ahLst/>
              <a:cxnLst/>
              <a:rect l="l" t="t" r="r" b="b"/>
              <a:pathLst>
                <a:path w="4572000" h="396239">
                  <a:moveTo>
                    <a:pt x="4572000" y="0"/>
                  </a:moveTo>
                  <a:lnTo>
                    <a:pt x="4569412" y="77140"/>
                  </a:lnTo>
                  <a:lnTo>
                    <a:pt x="4562348" y="140112"/>
                  </a:lnTo>
                  <a:lnTo>
                    <a:pt x="4551854" y="182558"/>
                  </a:lnTo>
                  <a:lnTo>
                    <a:pt x="4538980" y="198120"/>
                  </a:lnTo>
                  <a:lnTo>
                    <a:pt x="2319020" y="198120"/>
                  </a:lnTo>
                  <a:lnTo>
                    <a:pt x="2306145" y="213681"/>
                  </a:lnTo>
                  <a:lnTo>
                    <a:pt x="2295651" y="256127"/>
                  </a:lnTo>
                  <a:lnTo>
                    <a:pt x="2288587" y="319099"/>
                  </a:lnTo>
                  <a:lnTo>
                    <a:pt x="2285999" y="396239"/>
                  </a:lnTo>
                  <a:lnTo>
                    <a:pt x="2283412" y="319099"/>
                  </a:lnTo>
                  <a:lnTo>
                    <a:pt x="2276347" y="256127"/>
                  </a:lnTo>
                  <a:lnTo>
                    <a:pt x="2265854" y="213681"/>
                  </a:lnTo>
                  <a:lnTo>
                    <a:pt x="2252980" y="198120"/>
                  </a:lnTo>
                  <a:lnTo>
                    <a:pt x="33019" y="198120"/>
                  </a:lnTo>
                  <a:lnTo>
                    <a:pt x="20145" y="182558"/>
                  </a:lnTo>
                  <a:lnTo>
                    <a:pt x="9652" y="140112"/>
                  </a:lnTo>
                  <a:lnTo>
                    <a:pt x="2587" y="77140"/>
                  </a:lnTo>
                  <a:lnTo>
                    <a:pt x="0" y="0"/>
                  </a:lnTo>
                </a:path>
              </a:pathLst>
            </a:custGeom>
            <a:ln w="317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695823" y="2738119"/>
              <a:ext cx="236854" cy="260350"/>
            </a:xfrm>
            <a:custGeom>
              <a:avLst/>
              <a:gdLst/>
              <a:ahLst/>
              <a:cxnLst/>
              <a:rect l="l" t="t" r="r" b="b"/>
              <a:pathLst>
                <a:path w="236853" h="260350">
                  <a:moveTo>
                    <a:pt x="60960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0" y="248920"/>
                  </a:lnTo>
                  <a:lnTo>
                    <a:pt x="0" y="260350"/>
                  </a:lnTo>
                  <a:lnTo>
                    <a:pt x="60960" y="260350"/>
                  </a:lnTo>
                  <a:lnTo>
                    <a:pt x="60960" y="248920"/>
                  </a:lnTo>
                  <a:lnTo>
                    <a:pt x="22733" y="248920"/>
                  </a:lnTo>
                  <a:lnTo>
                    <a:pt x="22733" y="10160"/>
                  </a:lnTo>
                  <a:lnTo>
                    <a:pt x="60960" y="10160"/>
                  </a:lnTo>
                  <a:lnTo>
                    <a:pt x="60960" y="0"/>
                  </a:lnTo>
                  <a:close/>
                </a:path>
                <a:path w="236853" h="260350">
                  <a:moveTo>
                    <a:pt x="236855" y="0"/>
                  </a:moveTo>
                  <a:lnTo>
                    <a:pt x="175895" y="0"/>
                  </a:lnTo>
                  <a:lnTo>
                    <a:pt x="175895" y="10160"/>
                  </a:lnTo>
                  <a:lnTo>
                    <a:pt x="214122" y="10160"/>
                  </a:lnTo>
                  <a:lnTo>
                    <a:pt x="214122" y="248920"/>
                  </a:lnTo>
                  <a:lnTo>
                    <a:pt x="175895" y="248920"/>
                  </a:lnTo>
                  <a:lnTo>
                    <a:pt x="175895" y="260350"/>
                  </a:lnTo>
                  <a:lnTo>
                    <a:pt x="236855" y="260350"/>
                  </a:lnTo>
                  <a:lnTo>
                    <a:pt x="236855" y="248920"/>
                  </a:lnTo>
                  <a:lnTo>
                    <a:pt x="236855" y="10160"/>
                  </a:lnTo>
                  <a:lnTo>
                    <a:pt x="2368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585461" y="2655569"/>
            <a:ext cx="273240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40815" algn="l"/>
              </a:tabLst>
            </a:pPr>
            <a:r>
              <a:rPr sz="2200">
                <a:latin typeface="Cambria Math"/>
                <a:cs typeface="Cambria Math"/>
              </a:rPr>
              <a:t>𝑫[𝒊]</a:t>
            </a:r>
            <a:r>
              <a:rPr sz="2200" spc="114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=</a:t>
            </a:r>
            <a:r>
              <a:rPr sz="2200" spc="120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𝑿</a:t>
            </a:r>
            <a:r>
              <a:rPr sz="2200" spc="280">
                <a:latin typeface="Cambria Math"/>
                <a:cs typeface="Cambria Math"/>
              </a:rPr>
              <a:t> </a:t>
            </a:r>
            <a:r>
              <a:rPr sz="2200" spc="-50">
                <a:latin typeface="Cambria Math"/>
                <a:cs typeface="Cambria Math"/>
              </a:rPr>
              <a:t>𝒊</a:t>
            </a:r>
            <a:r>
              <a:rPr sz="2200">
                <a:latin typeface="Cambria Math"/>
                <a:cs typeface="Cambria Math"/>
              </a:rPr>
              <a:t>	+</a:t>
            </a:r>
            <a:r>
              <a:rPr sz="2200" spc="-25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𝑫[𝒊 +</a:t>
            </a:r>
            <a:r>
              <a:rPr sz="2200" spc="-10">
                <a:latin typeface="Cambria Math"/>
                <a:cs typeface="Cambria Math"/>
              </a:rPr>
              <a:t> </a:t>
            </a:r>
            <a:r>
              <a:rPr sz="2200" spc="-25">
                <a:latin typeface="Cambria Math"/>
                <a:cs typeface="Cambria Math"/>
              </a:rPr>
              <a:t>𝟏]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717794" y="2085594"/>
            <a:ext cx="1034415" cy="361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>
                <a:latin typeface="Cambria Math"/>
                <a:cs typeface="Cambria Math"/>
              </a:rPr>
              <a:t>𝑫[𝒊</a:t>
            </a:r>
            <a:r>
              <a:rPr sz="2200" spc="-10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+</a:t>
            </a:r>
            <a:r>
              <a:rPr sz="2200" spc="-10">
                <a:latin typeface="Cambria Math"/>
                <a:cs typeface="Cambria Math"/>
              </a:rPr>
              <a:t> </a:t>
            </a:r>
            <a:r>
              <a:rPr sz="2200" spc="-25">
                <a:latin typeface="Cambria Math"/>
                <a:cs typeface="Cambria Math"/>
              </a:rPr>
              <a:t>𝟏]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2983992" y="3827526"/>
            <a:ext cx="1023619" cy="396240"/>
          </a:xfrm>
          <a:custGeom>
            <a:avLst/>
            <a:gdLst/>
            <a:ahLst/>
            <a:cxnLst/>
            <a:rect l="l" t="t" r="r" b="b"/>
            <a:pathLst>
              <a:path w="1023619" h="396239">
                <a:moveTo>
                  <a:pt x="1023366" y="0"/>
                </a:moveTo>
                <a:lnTo>
                  <a:pt x="1020778" y="77140"/>
                </a:lnTo>
                <a:lnTo>
                  <a:pt x="1013713" y="140112"/>
                </a:lnTo>
                <a:lnTo>
                  <a:pt x="1003220" y="182558"/>
                </a:lnTo>
                <a:lnTo>
                  <a:pt x="990345" y="198119"/>
                </a:lnTo>
                <a:lnTo>
                  <a:pt x="544703" y="198119"/>
                </a:lnTo>
                <a:lnTo>
                  <a:pt x="531828" y="213681"/>
                </a:lnTo>
                <a:lnTo>
                  <a:pt x="521334" y="256127"/>
                </a:lnTo>
                <a:lnTo>
                  <a:pt x="514270" y="319099"/>
                </a:lnTo>
                <a:lnTo>
                  <a:pt x="511682" y="396240"/>
                </a:lnTo>
                <a:lnTo>
                  <a:pt x="509095" y="319099"/>
                </a:lnTo>
                <a:lnTo>
                  <a:pt x="502030" y="256127"/>
                </a:lnTo>
                <a:lnTo>
                  <a:pt x="491537" y="213681"/>
                </a:lnTo>
                <a:lnTo>
                  <a:pt x="478662" y="198119"/>
                </a:lnTo>
                <a:lnTo>
                  <a:pt x="33019" y="198119"/>
                </a:lnTo>
                <a:lnTo>
                  <a:pt x="20145" y="182558"/>
                </a:lnTo>
                <a:lnTo>
                  <a:pt x="9652" y="140112"/>
                </a:lnTo>
                <a:lnTo>
                  <a:pt x="2587" y="77140"/>
                </a:lnTo>
                <a:lnTo>
                  <a:pt x="0" y="0"/>
                </a:lnTo>
              </a:path>
            </a:pathLst>
          </a:custGeom>
          <a:ln w="31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2901695" y="4101338"/>
            <a:ext cx="139192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>
                <a:latin typeface="Cambria Math"/>
                <a:cs typeface="Cambria Math"/>
              </a:rPr>
              <a:t>𝑫[𝒊]</a:t>
            </a:r>
            <a:r>
              <a:rPr sz="2200" spc="114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=</a:t>
            </a:r>
            <a:r>
              <a:rPr sz="2200" spc="120">
                <a:latin typeface="Cambria Math"/>
                <a:cs typeface="Cambria Math"/>
              </a:rPr>
              <a:t> </a:t>
            </a:r>
            <a:r>
              <a:rPr sz="2200" spc="-20">
                <a:latin typeface="Cambria Math"/>
                <a:cs typeface="Cambria Math"/>
              </a:rPr>
              <a:t>𝑿[𝒊]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30" name="左大括号 29">
            <a:extLst>
              <a:ext uri="{FF2B5EF4-FFF2-40B4-BE49-F238E27FC236}">
                <a16:creationId xmlns:a16="http://schemas.microsoft.com/office/drawing/2014/main" id="{E91B412C-6159-764F-B988-9964087DC704}"/>
              </a:ext>
            </a:extLst>
          </p:cNvPr>
          <p:cNvSpPr/>
          <p:nvPr/>
        </p:nvSpPr>
        <p:spPr>
          <a:xfrm>
            <a:off x="2087501" y="5340984"/>
            <a:ext cx="157859" cy="813436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23949" y="171990"/>
            <a:ext cx="7573011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自底向上计算：确定计算顺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序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16948" y="1018413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9"/>
                </a:lnTo>
                <a:lnTo>
                  <a:pt x="0" y="876426"/>
                </a:lnTo>
                <a:lnTo>
                  <a:pt x="7647" y="914364"/>
                </a:lnTo>
                <a:lnTo>
                  <a:pt x="28511" y="945324"/>
                </a:lnTo>
                <a:lnTo>
                  <a:pt x="59471" y="966188"/>
                </a:lnTo>
                <a:lnTo>
                  <a:pt x="97408" y="973836"/>
                </a:lnTo>
                <a:lnTo>
                  <a:pt x="1758823" y="973836"/>
                </a:lnTo>
                <a:lnTo>
                  <a:pt x="1796760" y="966188"/>
                </a:lnTo>
                <a:lnTo>
                  <a:pt x="1827720" y="945324"/>
                </a:lnTo>
                <a:lnTo>
                  <a:pt x="1848584" y="914364"/>
                </a:lnTo>
                <a:lnTo>
                  <a:pt x="1856231" y="876426"/>
                </a:lnTo>
                <a:lnTo>
                  <a:pt x="1856231" y="97409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346438" y="1314449"/>
            <a:ext cx="13970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>
                <a:solidFill>
                  <a:srgbClr val="FFFFFF"/>
                </a:solidFill>
                <a:latin typeface="PMingLiU"/>
                <a:cs typeface="PMingLiU"/>
              </a:rPr>
              <a:t>问题结构分析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825228" y="2052827"/>
            <a:ext cx="439420" cy="367030"/>
          </a:xfrm>
          <a:custGeom>
            <a:avLst/>
            <a:gdLst/>
            <a:ahLst/>
            <a:cxnLst/>
            <a:rect l="l" t="t" r="r" b="b"/>
            <a:pathLst>
              <a:path w="439420" h="367030">
                <a:moveTo>
                  <a:pt x="351154" y="0"/>
                </a:moveTo>
                <a:lnTo>
                  <a:pt x="87756" y="0"/>
                </a:lnTo>
                <a:lnTo>
                  <a:pt x="87756" y="183261"/>
                </a:lnTo>
                <a:lnTo>
                  <a:pt x="0" y="183261"/>
                </a:lnTo>
                <a:lnTo>
                  <a:pt x="219455" y="366522"/>
                </a:lnTo>
                <a:lnTo>
                  <a:pt x="438912" y="183261"/>
                </a:lnTo>
                <a:lnTo>
                  <a:pt x="351154" y="183261"/>
                </a:lnTo>
                <a:lnTo>
                  <a:pt x="35115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116948" y="2480691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9"/>
                </a:lnTo>
                <a:lnTo>
                  <a:pt x="0" y="876426"/>
                </a:lnTo>
                <a:lnTo>
                  <a:pt x="7647" y="914364"/>
                </a:lnTo>
                <a:lnTo>
                  <a:pt x="28511" y="945324"/>
                </a:lnTo>
                <a:lnTo>
                  <a:pt x="59471" y="966188"/>
                </a:lnTo>
                <a:lnTo>
                  <a:pt x="97408" y="973836"/>
                </a:lnTo>
                <a:lnTo>
                  <a:pt x="1758823" y="973836"/>
                </a:lnTo>
                <a:lnTo>
                  <a:pt x="1796760" y="966188"/>
                </a:lnTo>
                <a:lnTo>
                  <a:pt x="1827720" y="945324"/>
                </a:lnTo>
                <a:lnTo>
                  <a:pt x="1848584" y="914364"/>
                </a:lnTo>
                <a:lnTo>
                  <a:pt x="1856231" y="876426"/>
                </a:lnTo>
                <a:lnTo>
                  <a:pt x="1856231" y="97409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346438" y="2776982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>
                <a:solidFill>
                  <a:srgbClr val="FFFFFF"/>
                </a:solidFill>
                <a:latin typeface="PMingLiU"/>
                <a:cs typeface="PMingLiU"/>
              </a:rPr>
              <a:t>递推关系建立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825228" y="3515105"/>
            <a:ext cx="439420" cy="365125"/>
          </a:xfrm>
          <a:custGeom>
            <a:avLst/>
            <a:gdLst/>
            <a:ahLst/>
            <a:cxnLst/>
            <a:rect l="l" t="t" r="r" b="b"/>
            <a:pathLst>
              <a:path w="439420" h="365125">
                <a:moveTo>
                  <a:pt x="351154" y="0"/>
                </a:moveTo>
                <a:lnTo>
                  <a:pt x="87756" y="0"/>
                </a:lnTo>
                <a:lnTo>
                  <a:pt x="87756" y="182499"/>
                </a:lnTo>
                <a:lnTo>
                  <a:pt x="0" y="182499"/>
                </a:lnTo>
                <a:lnTo>
                  <a:pt x="219455" y="364998"/>
                </a:lnTo>
                <a:lnTo>
                  <a:pt x="438912" y="182499"/>
                </a:lnTo>
                <a:lnTo>
                  <a:pt x="351154" y="182499"/>
                </a:lnTo>
                <a:lnTo>
                  <a:pt x="35115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116948" y="3941445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8"/>
                </a:lnTo>
                <a:lnTo>
                  <a:pt x="0" y="876426"/>
                </a:lnTo>
                <a:lnTo>
                  <a:pt x="7647" y="914364"/>
                </a:lnTo>
                <a:lnTo>
                  <a:pt x="28511" y="945324"/>
                </a:lnTo>
                <a:lnTo>
                  <a:pt x="59471" y="966188"/>
                </a:lnTo>
                <a:lnTo>
                  <a:pt x="97408" y="973835"/>
                </a:lnTo>
                <a:lnTo>
                  <a:pt x="1758823" y="973835"/>
                </a:lnTo>
                <a:lnTo>
                  <a:pt x="1796760" y="966188"/>
                </a:lnTo>
                <a:lnTo>
                  <a:pt x="1827720" y="945324"/>
                </a:lnTo>
                <a:lnTo>
                  <a:pt x="1848584" y="914364"/>
                </a:lnTo>
                <a:lnTo>
                  <a:pt x="1856231" y="876426"/>
                </a:lnTo>
                <a:lnTo>
                  <a:pt x="1856231" y="97408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83C8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346438" y="4237735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>
                <a:solidFill>
                  <a:srgbClr val="FFFFFF"/>
                </a:solidFill>
                <a:latin typeface="PMingLiU"/>
                <a:cs typeface="PMingLiU"/>
              </a:rPr>
              <a:t>自底向上计算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825228" y="4975859"/>
            <a:ext cx="439420" cy="365125"/>
          </a:xfrm>
          <a:custGeom>
            <a:avLst/>
            <a:gdLst/>
            <a:ahLst/>
            <a:cxnLst/>
            <a:rect l="l" t="t" r="r" b="b"/>
            <a:pathLst>
              <a:path w="439420" h="365125">
                <a:moveTo>
                  <a:pt x="351154" y="0"/>
                </a:moveTo>
                <a:lnTo>
                  <a:pt x="87756" y="0"/>
                </a:lnTo>
                <a:lnTo>
                  <a:pt x="87756" y="182498"/>
                </a:lnTo>
                <a:lnTo>
                  <a:pt x="0" y="182498"/>
                </a:lnTo>
                <a:lnTo>
                  <a:pt x="219455" y="364997"/>
                </a:lnTo>
                <a:lnTo>
                  <a:pt x="438912" y="182498"/>
                </a:lnTo>
                <a:lnTo>
                  <a:pt x="351154" y="182498"/>
                </a:lnTo>
                <a:lnTo>
                  <a:pt x="35115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116948" y="5402198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9"/>
                </a:lnTo>
                <a:lnTo>
                  <a:pt x="0" y="876452"/>
                </a:lnTo>
                <a:lnTo>
                  <a:pt x="7647" y="914358"/>
                </a:lnTo>
                <a:lnTo>
                  <a:pt x="28511" y="945313"/>
                </a:lnTo>
                <a:lnTo>
                  <a:pt x="59471" y="966183"/>
                </a:lnTo>
                <a:lnTo>
                  <a:pt x="97408" y="973835"/>
                </a:lnTo>
                <a:lnTo>
                  <a:pt x="1758823" y="973835"/>
                </a:lnTo>
                <a:lnTo>
                  <a:pt x="1796760" y="966183"/>
                </a:lnTo>
                <a:lnTo>
                  <a:pt x="1827720" y="945313"/>
                </a:lnTo>
                <a:lnTo>
                  <a:pt x="1848584" y="914358"/>
                </a:lnTo>
                <a:lnTo>
                  <a:pt x="1856231" y="876452"/>
                </a:lnTo>
                <a:lnTo>
                  <a:pt x="1856231" y="97409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9346438" y="5698744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>
                <a:solidFill>
                  <a:srgbClr val="FFFFFF"/>
                </a:solidFill>
                <a:latin typeface="PMingLiU"/>
                <a:cs typeface="PMingLiU"/>
              </a:rPr>
              <a:t>最优方案追踪</a:t>
            </a:r>
            <a:endParaRPr sz="1800">
              <a:latin typeface="PMingLiU"/>
              <a:cs typeface="PMingLiU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974991" y="4066285"/>
          <a:ext cx="7406636" cy="791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78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37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61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26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22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…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+1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…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𝒏</a:t>
                      </a:r>
                      <a:r>
                        <a:rPr sz="2000" spc="-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2000" spc="-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588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𝑿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937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20">
                          <a:latin typeface="Cambria Math"/>
                          <a:cs typeface="Cambria Math"/>
                        </a:rPr>
                        <a:t>𝑿[𝟏]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5244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20">
                          <a:latin typeface="Cambria Math"/>
                          <a:cs typeface="Cambria Math"/>
                        </a:rPr>
                        <a:t>𝑿[𝟐]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461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20">
                          <a:latin typeface="Cambria Math"/>
                          <a:cs typeface="Cambria Math"/>
                        </a:rPr>
                        <a:t>𝑿[𝒊]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461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20">
                          <a:latin typeface="Cambria Math"/>
                          <a:cs typeface="Cambria Math"/>
                        </a:rPr>
                        <a:t>𝑿[𝒏]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872236" y="3578605"/>
            <a:ext cx="68580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30">
                <a:latin typeface="PMingLiU"/>
                <a:cs typeface="PMingLiU"/>
              </a:rPr>
              <a:t>已知</a:t>
            </a:r>
            <a:endParaRPr sz="2600">
              <a:latin typeface="PMingLiU"/>
              <a:cs typeface="PMingLiU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974991" y="4066285"/>
          <a:ext cx="7406636" cy="791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78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37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61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26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22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…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+1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…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𝒏</a:t>
                      </a:r>
                      <a:r>
                        <a:rPr sz="2000" spc="-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2000" spc="-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588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𝑿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937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20">
                          <a:latin typeface="Cambria Math"/>
                          <a:cs typeface="Cambria Math"/>
                        </a:rPr>
                        <a:t>𝑿[𝟏]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5244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20">
                          <a:latin typeface="Cambria Math"/>
                          <a:cs typeface="Cambria Math"/>
                        </a:rPr>
                        <a:t>𝑿[𝟐]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461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20">
                          <a:latin typeface="Cambria Math"/>
                          <a:cs typeface="Cambria Math"/>
                        </a:rPr>
                        <a:t>𝑿[𝒊]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461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20">
                          <a:latin typeface="Cambria Math"/>
                          <a:cs typeface="Cambria Math"/>
                        </a:rPr>
                        <a:t>𝑿[𝒏]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739140" y="1019302"/>
            <a:ext cx="14363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20">
                <a:latin typeface="PMingLiU"/>
                <a:cs typeface="PMingLiU"/>
              </a:rPr>
              <a:t>初始化</a:t>
            </a:r>
            <a:endParaRPr sz="2800">
              <a:latin typeface="PMingLiU"/>
              <a:cs typeface="PMingLiU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84070" y="1612899"/>
            <a:ext cx="66675" cy="284480"/>
          </a:xfrm>
          <a:custGeom>
            <a:avLst/>
            <a:gdLst/>
            <a:ahLst/>
            <a:cxnLst/>
            <a:rect l="l" t="t" r="r" b="b"/>
            <a:pathLst>
              <a:path w="66675" h="28448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41783" y="11430"/>
                </a:lnTo>
                <a:lnTo>
                  <a:pt x="41783" y="273050"/>
                </a:lnTo>
                <a:lnTo>
                  <a:pt x="0" y="273050"/>
                </a:lnTo>
                <a:lnTo>
                  <a:pt x="0" y="284480"/>
                </a:lnTo>
                <a:lnTo>
                  <a:pt x="66421" y="284480"/>
                </a:lnTo>
                <a:lnTo>
                  <a:pt x="66421" y="27305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07591" y="1612899"/>
            <a:ext cx="66675" cy="284480"/>
          </a:xfrm>
          <a:custGeom>
            <a:avLst/>
            <a:gdLst/>
            <a:ahLst/>
            <a:cxnLst/>
            <a:rect l="l" t="t" r="r" b="b"/>
            <a:pathLst>
              <a:path w="66675" h="28448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3050"/>
                </a:lnTo>
                <a:lnTo>
                  <a:pt x="0" y="284480"/>
                </a:lnTo>
                <a:lnTo>
                  <a:pt x="66421" y="284480"/>
                </a:lnTo>
                <a:lnTo>
                  <a:pt x="66421" y="273050"/>
                </a:lnTo>
                <a:lnTo>
                  <a:pt x="24765" y="273050"/>
                </a:lnTo>
                <a:lnTo>
                  <a:pt x="24765" y="1143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83563" y="1524508"/>
            <a:ext cx="10071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1009" indent="-448945">
              <a:lnSpc>
                <a:spcPct val="100000"/>
              </a:lnSpc>
              <a:spcBef>
                <a:spcPts val="10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461009" algn="l"/>
                <a:tab pos="461645" algn="l"/>
              </a:tabLst>
            </a:pPr>
            <a:r>
              <a:rPr sz="2400">
                <a:latin typeface="Cambria Math"/>
                <a:cs typeface="Cambria Math"/>
              </a:rPr>
              <a:t>𝑫</a:t>
            </a:r>
            <a:r>
              <a:rPr sz="2400" spc="305">
                <a:latin typeface="Cambria Math"/>
                <a:cs typeface="Cambria Math"/>
              </a:rPr>
              <a:t> </a:t>
            </a:r>
            <a:r>
              <a:rPr sz="2400" spc="-60">
                <a:latin typeface="Cambria Math"/>
                <a:cs typeface="Cambria Math"/>
              </a:rPr>
              <a:t>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55773" y="1524508"/>
            <a:ext cx="959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>
                <a:latin typeface="Cambria Math"/>
                <a:cs typeface="Cambria Math"/>
              </a:rPr>
              <a:t>=</a:t>
            </a:r>
            <a:r>
              <a:rPr sz="2400" spc="130">
                <a:latin typeface="Cambria Math"/>
                <a:cs typeface="Cambria Math"/>
              </a:rPr>
              <a:t> </a:t>
            </a:r>
            <a:r>
              <a:rPr sz="2400" spc="-20">
                <a:latin typeface="Cambria Math"/>
                <a:cs typeface="Cambria Math"/>
              </a:rPr>
              <a:t>𝑿[𝒏]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981341" y="5124551"/>
            <a:ext cx="7407909" cy="792480"/>
            <a:chOff x="981341" y="5124551"/>
            <a:chExt cx="7407909" cy="792480"/>
          </a:xfrm>
        </p:grpSpPr>
        <p:sp>
          <p:nvSpPr>
            <p:cNvPr id="9" name="object 9"/>
            <p:cNvSpPr/>
            <p:nvPr/>
          </p:nvSpPr>
          <p:spPr>
            <a:xfrm>
              <a:off x="981341" y="5124551"/>
              <a:ext cx="7407275" cy="792480"/>
            </a:xfrm>
            <a:custGeom>
              <a:avLst/>
              <a:gdLst/>
              <a:ahLst/>
              <a:cxnLst/>
              <a:rect l="l" t="t" r="r" b="b"/>
              <a:pathLst>
                <a:path w="7407275" h="792479">
                  <a:moveTo>
                    <a:pt x="7407275" y="0"/>
                  </a:moveTo>
                  <a:lnTo>
                    <a:pt x="0" y="0"/>
                  </a:lnTo>
                  <a:lnTo>
                    <a:pt x="0" y="792479"/>
                  </a:lnTo>
                  <a:lnTo>
                    <a:pt x="7407275" y="792479"/>
                  </a:lnTo>
                  <a:lnTo>
                    <a:pt x="740727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565643" y="5520791"/>
              <a:ext cx="823594" cy="396240"/>
            </a:xfrm>
            <a:custGeom>
              <a:avLst/>
              <a:gdLst/>
              <a:ahLst/>
              <a:cxnLst/>
              <a:rect l="l" t="t" r="r" b="b"/>
              <a:pathLst>
                <a:path w="823594" h="396239">
                  <a:moveTo>
                    <a:pt x="823036" y="0"/>
                  </a:moveTo>
                  <a:lnTo>
                    <a:pt x="0" y="0"/>
                  </a:lnTo>
                  <a:lnTo>
                    <a:pt x="0" y="396240"/>
                  </a:lnTo>
                  <a:lnTo>
                    <a:pt x="823036" y="396240"/>
                  </a:lnTo>
                  <a:lnTo>
                    <a:pt x="823036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974991" y="5118227"/>
          <a:ext cx="7406636" cy="791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78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37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61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26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22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…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+1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…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𝒏</a:t>
                      </a:r>
                      <a:r>
                        <a:rPr sz="2000" spc="-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2000" spc="-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588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𝑫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20">
                          <a:latin typeface="Cambria Math"/>
                          <a:cs typeface="Cambria Math"/>
                        </a:rPr>
                        <a:t>𝑿[𝒏]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872236" y="3578605"/>
            <a:ext cx="68580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30">
                <a:latin typeface="PMingLiU"/>
                <a:cs typeface="PMingLiU"/>
              </a:rPr>
              <a:t>已知</a:t>
            </a:r>
            <a:endParaRPr sz="2600">
              <a:latin typeface="PMingLiU"/>
              <a:cs typeface="PMingLiU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116948" y="1018413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9"/>
                </a:lnTo>
                <a:lnTo>
                  <a:pt x="0" y="876426"/>
                </a:lnTo>
                <a:lnTo>
                  <a:pt x="7647" y="914364"/>
                </a:lnTo>
                <a:lnTo>
                  <a:pt x="28511" y="945324"/>
                </a:lnTo>
                <a:lnTo>
                  <a:pt x="59471" y="966188"/>
                </a:lnTo>
                <a:lnTo>
                  <a:pt x="97408" y="973836"/>
                </a:lnTo>
                <a:lnTo>
                  <a:pt x="1758823" y="973836"/>
                </a:lnTo>
                <a:lnTo>
                  <a:pt x="1796760" y="966188"/>
                </a:lnTo>
                <a:lnTo>
                  <a:pt x="1827720" y="945324"/>
                </a:lnTo>
                <a:lnTo>
                  <a:pt x="1848584" y="914364"/>
                </a:lnTo>
                <a:lnTo>
                  <a:pt x="1856231" y="876426"/>
                </a:lnTo>
                <a:lnTo>
                  <a:pt x="1856231" y="97409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9346438" y="1314449"/>
            <a:ext cx="13970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>
                <a:solidFill>
                  <a:srgbClr val="FFFFFF"/>
                </a:solidFill>
                <a:latin typeface="PMingLiU"/>
                <a:cs typeface="PMingLiU"/>
              </a:rPr>
              <a:t>问题结构分析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825228" y="2052827"/>
            <a:ext cx="439420" cy="367030"/>
          </a:xfrm>
          <a:custGeom>
            <a:avLst/>
            <a:gdLst/>
            <a:ahLst/>
            <a:cxnLst/>
            <a:rect l="l" t="t" r="r" b="b"/>
            <a:pathLst>
              <a:path w="439420" h="367030">
                <a:moveTo>
                  <a:pt x="351154" y="0"/>
                </a:moveTo>
                <a:lnTo>
                  <a:pt x="87756" y="0"/>
                </a:lnTo>
                <a:lnTo>
                  <a:pt x="87756" y="183261"/>
                </a:lnTo>
                <a:lnTo>
                  <a:pt x="0" y="183261"/>
                </a:lnTo>
                <a:lnTo>
                  <a:pt x="219455" y="366522"/>
                </a:lnTo>
                <a:lnTo>
                  <a:pt x="438912" y="183261"/>
                </a:lnTo>
                <a:lnTo>
                  <a:pt x="351154" y="183261"/>
                </a:lnTo>
                <a:lnTo>
                  <a:pt x="35115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116948" y="2480691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9"/>
                </a:lnTo>
                <a:lnTo>
                  <a:pt x="0" y="876426"/>
                </a:lnTo>
                <a:lnTo>
                  <a:pt x="7647" y="914364"/>
                </a:lnTo>
                <a:lnTo>
                  <a:pt x="28511" y="945324"/>
                </a:lnTo>
                <a:lnTo>
                  <a:pt x="59471" y="966188"/>
                </a:lnTo>
                <a:lnTo>
                  <a:pt x="97408" y="973836"/>
                </a:lnTo>
                <a:lnTo>
                  <a:pt x="1758823" y="973836"/>
                </a:lnTo>
                <a:lnTo>
                  <a:pt x="1796760" y="966188"/>
                </a:lnTo>
                <a:lnTo>
                  <a:pt x="1827720" y="945324"/>
                </a:lnTo>
                <a:lnTo>
                  <a:pt x="1848584" y="914364"/>
                </a:lnTo>
                <a:lnTo>
                  <a:pt x="1856231" y="876426"/>
                </a:lnTo>
                <a:lnTo>
                  <a:pt x="1856231" y="97409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9346438" y="2776982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>
                <a:solidFill>
                  <a:srgbClr val="FFFFFF"/>
                </a:solidFill>
                <a:latin typeface="PMingLiU"/>
                <a:cs typeface="PMingLiU"/>
              </a:rPr>
              <a:t>递推关系建立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825228" y="3515105"/>
            <a:ext cx="439420" cy="365125"/>
          </a:xfrm>
          <a:custGeom>
            <a:avLst/>
            <a:gdLst/>
            <a:ahLst/>
            <a:cxnLst/>
            <a:rect l="l" t="t" r="r" b="b"/>
            <a:pathLst>
              <a:path w="439420" h="365125">
                <a:moveTo>
                  <a:pt x="351154" y="0"/>
                </a:moveTo>
                <a:lnTo>
                  <a:pt x="87756" y="0"/>
                </a:lnTo>
                <a:lnTo>
                  <a:pt x="87756" y="182499"/>
                </a:lnTo>
                <a:lnTo>
                  <a:pt x="0" y="182499"/>
                </a:lnTo>
                <a:lnTo>
                  <a:pt x="219455" y="364998"/>
                </a:lnTo>
                <a:lnTo>
                  <a:pt x="438912" y="182499"/>
                </a:lnTo>
                <a:lnTo>
                  <a:pt x="351154" y="182499"/>
                </a:lnTo>
                <a:lnTo>
                  <a:pt x="35115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9116948" y="3941445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8"/>
                </a:lnTo>
                <a:lnTo>
                  <a:pt x="0" y="876426"/>
                </a:lnTo>
                <a:lnTo>
                  <a:pt x="7647" y="914364"/>
                </a:lnTo>
                <a:lnTo>
                  <a:pt x="28511" y="945324"/>
                </a:lnTo>
                <a:lnTo>
                  <a:pt x="59471" y="966188"/>
                </a:lnTo>
                <a:lnTo>
                  <a:pt x="97408" y="973835"/>
                </a:lnTo>
                <a:lnTo>
                  <a:pt x="1758823" y="973835"/>
                </a:lnTo>
                <a:lnTo>
                  <a:pt x="1796760" y="966188"/>
                </a:lnTo>
                <a:lnTo>
                  <a:pt x="1827720" y="945324"/>
                </a:lnTo>
                <a:lnTo>
                  <a:pt x="1848584" y="914364"/>
                </a:lnTo>
                <a:lnTo>
                  <a:pt x="1856231" y="876426"/>
                </a:lnTo>
                <a:lnTo>
                  <a:pt x="1856231" y="97408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83C8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9346438" y="4237735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>
                <a:solidFill>
                  <a:srgbClr val="FFFFFF"/>
                </a:solidFill>
                <a:latin typeface="PMingLiU"/>
                <a:cs typeface="PMingLiU"/>
              </a:rPr>
              <a:t>自底向上计算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9825228" y="4975859"/>
            <a:ext cx="439420" cy="365125"/>
          </a:xfrm>
          <a:custGeom>
            <a:avLst/>
            <a:gdLst/>
            <a:ahLst/>
            <a:cxnLst/>
            <a:rect l="l" t="t" r="r" b="b"/>
            <a:pathLst>
              <a:path w="439420" h="365125">
                <a:moveTo>
                  <a:pt x="351154" y="0"/>
                </a:moveTo>
                <a:lnTo>
                  <a:pt x="87756" y="0"/>
                </a:lnTo>
                <a:lnTo>
                  <a:pt x="87756" y="182498"/>
                </a:lnTo>
                <a:lnTo>
                  <a:pt x="0" y="182498"/>
                </a:lnTo>
                <a:lnTo>
                  <a:pt x="219455" y="364997"/>
                </a:lnTo>
                <a:lnTo>
                  <a:pt x="438912" y="182498"/>
                </a:lnTo>
                <a:lnTo>
                  <a:pt x="351154" y="182498"/>
                </a:lnTo>
                <a:lnTo>
                  <a:pt x="35115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9116948" y="5402198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9"/>
                </a:lnTo>
                <a:lnTo>
                  <a:pt x="0" y="876452"/>
                </a:lnTo>
                <a:lnTo>
                  <a:pt x="7647" y="914358"/>
                </a:lnTo>
                <a:lnTo>
                  <a:pt x="28511" y="945313"/>
                </a:lnTo>
                <a:lnTo>
                  <a:pt x="59471" y="966183"/>
                </a:lnTo>
                <a:lnTo>
                  <a:pt x="97408" y="973835"/>
                </a:lnTo>
                <a:lnTo>
                  <a:pt x="1758823" y="973835"/>
                </a:lnTo>
                <a:lnTo>
                  <a:pt x="1796760" y="966183"/>
                </a:lnTo>
                <a:lnTo>
                  <a:pt x="1827720" y="945313"/>
                </a:lnTo>
                <a:lnTo>
                  <a:pt x="1848584" y="914358"/>
                </a:lnTo>
                <a:lnTo>
                  <a:pt x="1856231" y="876452"/>
                </a:lnTo>
                <a:lnTo>
                  <a:pt x="1856231" y="97409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9346438" y="5698744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>
                <a:solidFill>
                  <a:srgbClr val="FFFFFF"/>
                </a:solidFill>
                <a:latin typeface="PMingLiU"/>
                <a:cs typeface="PMingLiU"/>
              </a:rPr>
              <a:t>最优方案追踪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596378" y="5495544"/>
            <a:ext cx="699770" cy="406400"/>
          </a:xfrm>
          <a:custGeom>
            <a:avLst/>
            <a:gdLst/>
            <a:ahLst/>
            <a:cxnLst/>
            <a:rect l="l" t="t" r="r" b="b"/>
            <a:pathLst>
              <a:path w="699770" h="406400">
                <a:moveTo>
                  <a:pt x="0" y="67690"/>
                </a:moveTo>
                <a:lnTo>
                  <a:pt x="5326" y="41362"/>
                </a:lnTo>
                <a:lnTo>
                  <a:pt x="19843" y="19843"/>
                </a:lnTo>
                <a:lnTo>
                  <a:pt x="41362" y="5326"/>
                </a:lnTo>
                <a:lnTo>
                  <a:pt x="67691" y="0"/>
                </a:lnTo>
                <a:lnTo>
                  <a:pt x="631825" y="0"/>
                </a:lnTo>
                <a:lnTo>
                  <a:pt x="658153" y="5326"/>
                </a:lnTo>
                <a:lnTo>
                  <a:pt x="679672" y="19843"/>
                </a:lnTo>
                <a:lnTo>
                  <a:pt x="694189" y="41362"/>
                </a:lnTo>
                <a:lnTo>
                  <a:pt x="699516" y="67690"/>
                </a:lnTo>
                <a:lnTo>
                  <a:pt x="699516" y="338454"/>
                </a:lnTo>
                <a:lnTo>
                  <a:pt x="694189" y="364805"/>
                </a:lnTo>
                <a:lnTo>
                  <a:pt x="679672" y="386321"/>
                </a:lnTo>
                <a:lnTo>
                  <a:pt x="658153" y="400827"/>
                </a:lnTo>
                <a:lnTo>
                  <a:pt x="631825" y="406145"/>
                </a:lnTo>
                <a:lnTo>
                  <a:pt x="67691" y="406145"/>
                </a:lnTo>
                <a:lnTo>
                  <a:pt x="41362" y="400827"/>
                </a:lnTo>
                <a:lnTo>
                  <a:pt x="19843" y="386321"/>
                </a:lnTo>
                <a:lnTo>
                  <a:pt x="5326" y="364805"/>
                </a:lnTo>
                <a:lnTo>
                  <a:pt x="0" y="338454"/>
                </a:lnTo>
                <a:lnTo>
                  <a:pt x="0" y="67690"/>
                </a:lnTo>
                <a:close/>
              </a:path>
            </a:pathLst>
          </a:custGeom>
          <a:ln w="4445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872603" y="4896230"/>
            <a:ext cx="152400" cy="473075"/>
          </a:xfrm>
          <a:custGeom>
            <a:avLst/>
            <a:gdLst/>
            <a:ahLst/>
            <a:cxnLst/>
            <a:rect l="l" t="t" r="r" b="b"/>
            <a:pathLst>
              <a:path w="152400" h="473075">
                <a:moveTo>
                  <a:pt x="50800" y="320675"/>
                </a:moveTo>
                <a:lnTo>
                  <a:pt x="0" y="320675"/>
                </a:lnTo>
                <a:lnTo>
                  <a:pt x="76200" y="473075"/>
                </a:lnTo>
                <a:lnTo>
                  <a:pt x="139700" y="346075"/>
                </a:lnTo>
                <a:lnTo>
                  <a:pt x="50800" y="346075"/>
                </a:lnTo>
                <a:lnTo>
                  <a:pt x="50800" y="320675"/>
                </a:lnTo>
                <a:close/>
              </a:path>
              <a:path w="152400" h="473075">
                <a:moveTo>
                  <a:pt x="101600" y="0"/>
                </a:moveTo>
                <a:lnTo>
                  <a:pt x="50800" y="0"/>
                </a:lnTo>
                <a:lnTo>
                  <a:pt x="50800" y="346075"/>
                </a:lnTo>
                <a:lnTo>
                  <a:pt x="101600" y="346075"/>
                </a:lnTo>
                <a:lnTo>
                  <a:pt x="101600" y="0"/>
                </a:lnTo>
                <a:close/>
              </a:path>
              <a:path w="152400" h="473075">
                <a:moveTo>
                  <a:pt x="152400" y="320675"/>
                </a:moveTo>
                <a:lnTo>
                  <a:pt x="101600" y="320675"/>
                </a:lnTo>
                <a:lnTo>
                  <a:pt x="101600" y="346075"/>
                </a:lnTo>
                <a:lnTo>
                  <a:pt x="139700" y="346075"/>
                </a:lnTo>
                <a:lnTo>
                  <a:pt x="152400" y="320675"/>
                </a:lnTo>
                <a:close/>
              </a:path>
            </a:pathLst>
          </a:custGeom>
          <a:solidFill>
            <a:srgbClr val="FF25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">
            <a:extLst>
              <a:ext uri="{FF2B5EF4-FFF2-40B4-BE49-F238E27FC236}">
                <a16:creationId xmlns:a16="http://schemas.microsoft.com/office/drawing/2014/main" id="{40C045E9-7868-7241-845B-F45C0D6FFE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23949" y="171990"/>
            <a:ext cx="7573011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自底向上计算：确定计算顺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序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084070" y="1653539"/>
            <a:ext cx="66675" cy="284480"/>
          </a:xfrm>
          <a:custGeom>
            <a:avLst/>
            <a:gdLst/>
            <a:ahLst/>
            <a:cxnLst/>
            <a:rect l="l" t="t" r="r" b="b"/>
            <a:pathLst>
              <a:path w="66675" h="28448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41783" y="11430"/>
                </a:lnTo>
                <a:lnTo>
                  <a:pt x="41783" y="273050"/>
                </a:lnTo>
                <a:lnTo>
                  <a:pt x="0" y="273050"/>
                </a:lnTo>
                <a:lnTo>
                  <a:pt x="0" y="284480"/>
                </a:lnTo>
                <a:lnTo>
                  <a:pt x="66421" y="284480"/>
                </a:lnTo>
                <a:lnTo>
                  <a:pt x="66421" y="27305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807591" y="1653539"/>
            <a:ext cx="66675" cy="284480"/>
          </a:xfrm>
          <a:custGeom>
            <a:avLst/>
            <a:gdLst/>
            <a:ahLst/>
            <a:cxnLst/>
            <a:rect l="l" t="t" r="r" b="b"/>
            <a:pathLst>
              <a:path w="66675" h="28448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3050"/>
                </a:lnTo>
                <a:lnTo>
                  <a:pt x="0" y="284480"/>
                </a:lnTo>
                <a:lnTo>
                  <a:pt x="66421" y="284480"/>
                </a:lnTo>
                <a:lnTo>
                  <a:pt x="66421" y="273050"/>
                </a:lnTo>
                <a:lnTo>
                  <a:pt x="24765" y="273050"/>
                </a:lnTo>
                <a:lnTo>
                  <a:pt x="24765" y="1143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39140" y="968665"/>
            <a:ext cx="2475865" cy="149479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19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20">
                <a:latin typeface="PMingLiU"/>
                <a:cs typeface="PMingLiU"/>
              </a:rPr>
              <a:t>初始化</a:t>
            </a:r>
            <a:endParaRPr sz="2800">
              <a:latin typeface="PMingLiU"/>
              <a:cs typeface="PMingLiU"/>
            </a:endParaRPr>
          </a:p>
          <a:p>
            <a:pPr marL="805815" lvl="1" indent="-449580">
              <a:lnSpc>
                <a:spcPct val="100000"/>
              </a:lnSpc>
              <a:spcBef>
                <a:spcPts val="61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805815" algn="l"/>
                <a:tab pos="806450" algn="l"/>
                <a:tab pos="1529080" algn="l"/>
              </a:tabLst>
            </a:pPr>
            <a:r>
              <a:rPr sz="2400">
                <a:latin typeface="Cambria Math"/>
                <a:cs typeface="Cambria Math"/>
              </a:rPr>
              <a:t>𝑫</a:t>
            </a:r>
            <a:r>
              <a:rPr sz="2400" spc="305">
                <a:latin typeface="Cambria Math"/>
                <a:cs typeface="Cambria Math"/>
              </a:rPr>
              <a:t> </a:t>
            </a:r>
            <a:r>
              <a:rPr sz="2400" spc="-60">
                <a:latin typeface="Cambria Math"/>
                <a:cs typeface="Cambria Math"/>
              </a:rPr>
              <a:t>𝒏</a:t>
            </a:r>
            <a:r>
              <a:rPr sz="2400">
                <a:latin typeface="Cambria Math"/>
                <a:cs typeface="Cambria Math"/>
              </a:rPr>
              <a:t>	=</a:t>
            </a:r>
            <a:r>
              <a:rPr sz="2400" spc="120">
                <a:latin typeface="Cambria Math"/>
                <a:cs typeface="Cambria Math"/>
              </a:rPr>
              <a:t> </a:t>
            </a:r>
            <a:r>
              <a:rPr sz="2400" spc="-20">
                <a:latin typeface="Cambria Math"/>
                <a:cs typeface="Cambria Math"/>
              </a:rPr>
              <a:t>𝑿[𝒏]</a:t>
            </a:r>
            <a:endParaRPr sz="2400">
              <a:latin typeface="Cambria Math"/>
              <a:cs typeface="Cambria Math"/>
            </a:endParaRPr>
          </a:p>
          <a:p>
            <a:pPr marL="355600" indent="-342900">
              <a:lnSpc>
                <a:spcPct val="100000"/>
              </a:lnSpc>
              <a:spcBef>
                <a:spcPts val="63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5">
                <a:latin typeface="PMingLiU"/>
                <a:cs typeface="PMingLiU"/>
              </a:rPr>
              <a:t>递推公式</a:t>
            </a:r>
            <a:endParaRPr sz="2800">
              <a:latin typeface="PMingLiU"/>
              <a:cs typeface="PMingLiU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83563" y="2849372"/>
            <a:ext cx="1576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1009" indent="-448945">
              <a:lnSpc>
                <a:spcPct val="100000"/>
              </a:lnSpc>
              <a:spcBef>
                <a:spcPts val="10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461009" algn="l"/>
                <a:tab pos="461645" algn="l"/>
              </a:tabLst>
            </a:pPr>
            <a:r>
              <a:rPr sz="2400" dirty="0">
                <a:latin typeface="Cambria Math"/>
                <a:cs typeface="Cambria Math"/>
              </a:rPr>
              <a:t>𝑫[𝒊]</a:t>
            </a:r>
            <a:r>
              <a:rPr sz="2400" spc="114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</a:p>
        </p:txBody>
      </p:sp>
      <p:sp>
        <p:nvSpPr>
          <p:cNvPr id="6" name="object 6"/>
          <p:cNvSpPr/>
          <p:nvPr/>
        </p:nvSpPr>
        <p:spPr>
          <a:xfrm>
            <a:off x="3083814" y="2734309"/>
            <a:ext cx="66675" cy="283210"/>
          </a:xfrm>
          <a:custGeom>
            <a:avLst/>
            <a:gdLst/>
            <a:ahLst/>
            <a:cxnLst/>
            <a:rect l="l" t="t" r="r" b="b"/>
            <a:pathLst>
              <a:path w="66675" h="28321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41783" y="11430"/>
                </a:lnTo>
                <a:lnTo>
                  <a:pt x="41783" y="271780"/>
                </a:lnTo>
                <a:lnTo>
                  <a:pt x="0" y="271780"/>
                </a:lnTo>
                <a:lnTo>
                  <a:pt x="0" y="283210"/>
                </a:lnTo>
                <a:lnTo>
                  <a:pt x="66421" y="283210"/>
                </a:lnTo>
                <a:lnTo>
                  <a:pt x="66421" y="27178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891917" y="2734309"/>
            <a:ext cx="66675" cy="283210"/>
          </a:xfrm>
          <a:custGeom>
            <a:avLst/>
            <a:gdLst/>
            <a:ahLst/>
            <a:cxnLst/>
            <a:rect l="l" t="t" r="r" b="b"/>
            <a:pathLst>
              <a:path w="66675" h="28321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1780"/>
                </a:lnTo>
                <a:lnTo>
                  <a:pt x="0" y="283210"/>
                </a:lnTo>
                <a:lnTo>
                  <a:pt x="66421" y="283210"/>
                </a:lnTo>
                <a:lnTo>
                  <a:pt x="66421" y="271780"/>
                </a:lnTo>
                <a:lnTo>
                  <a:pt x="24765" y="271780"/>
                </a:lnTo>
                <a:lnTo>
                  <a:pt x="24765" y="1143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546092" y="2734309"/>
            <a:ext cx="66675" cy="283210"/>
          </a:xfrm>
          <a:custGeom>
            <a:avLst/>
            <a:gdLst/>
            <a:ahLst/>
            <a:cxnLst/>
            <a:rect l="l" t="t" r="r" b="b"/>
            <a:pathLst>
              <a:path w="66675" h="28321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41783" y="11430"/>
                </a:lnTo>
                <a:lnTo>
                  <a:pt x="41783" y="271780"/>
                </a:lnTo>
                <a:lnTo>
                  <a:pt x="0" y="271780"/>
                </a:lnTo>
                <a:lnTo>
                  <a:pt x="0" y="283210"/>
                </a:lnTo>
                <a:lnTo>
                  <a:pt x="66421" y="283210"/>
                </a:lnTo>
                <a:lnTo>
                  <a:pt x="66421" y="27178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809365" y="2734309"/>
            <a:ext cx="66675" cy="283210"/>
          </a:xfrm>
          <a:custGeom>
            <a:avLst/>
            <a:gdLst/>
            <a:ahLst/>
            <a:cxnLst/>
            <a:rect l="l" t="t" r="r" b="b"/>
            <a:pathLst>
              <a:path w="66675" h="28321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1780"/>
                </a:lnTo>
                <a:lnTo>
                  <a:pt x="0" y="283210"/>
                </a:lnTo>
                <a:lnTo>
                  <a:pt x="66421" y="283210"/>
                </a:lnTo>
                <a:lnTo>
                  <a:pt x="66421" y="271780"/>
                </a:lnTo>
                <a:lnTo>
                  <a:pt x="24765" y="271780"/>
                </a:lnTo>
                <a:lnTo>
                  <a:pt x="24765" y="1143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634488" y="2644902"/>
            <a:ext cx="20878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17220" algn="l"/>
              </a:tabLst>
            </a:pP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𝑿</a:t>
            </a:r>
            <a:r>
              <a:rPr sz="2400" spc="30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50">
                <a:solidFill>
                  <a:srgbClr val="FF0000"/>
                </a:solidFill>
                <a:latin typeface="Cambria Math"/>
                <a:cs typeface="Cambria Math"/>
              </a:rPr>
              <a:t>𝒊</a:t>
            </a: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	</a:t>
            </a:r>
            <a:r>
              <a:rPr sz="2400">
                <a:latin typeface="Cambria Math"/>
                <a:cs typeface="Cambria Math"/>
              </a:rPr>
              <a:t>+ 𝑫</a:t>
            </a:r>
            <a:r>
              <a:rPr sz="2400" spc="305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𝒊 + 𝟏</a:t>
            </a:r>
            <a:r>
              <a:rPr sz="2400" spc="305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00497" y="2615692"/>
            <a:ext cx="2056130" cy="81534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2400">
                <a:latin typeface="Cambria Math"/>
                <a:cs typeface="Cambria Math"/>
              </a:rPr>
              <a:t>𝒊𝒇</a:t>
            </a:r>
            <a:r>
              <a:rPr sz="2400" spc="-10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𝑫[𝒊</a:t>
            </a:r>
            <a:r>
              <a:rPr sz="2400" spc="-10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+ 𝟏]</a:t>
            </a:r>
            <a:r>
              <a:rPr sz="2400" spc="125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&gt;</a:t>
            </a:r>
            <a:r>
              <a:rPr sz="2400" spc="135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𝟎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2400">
                <a:latin typeface="Cambria Math"/>
                <a:cs typeface="Cambria Math"/>
              </a:rPr>
              <a:t>𝒊𝒇</a:t>
            </a:r>
            <a:r>
              <a:rPr sz="2400" spc="-10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𝑫[𝒊</a:t>
            </a:r>
            <a:r>
              <a:rPr sz="2400" spc="-10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+ 𝟏]</a:t>
            </a:r>
            <a:r>
              <a:rPr sz="2400" spc="125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≤</a:t>
            </a:r>
            <a:r>
              <a:rPr sz="2400" spc="135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𝟎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815334" y="3128009"/>
            <a:ext cx="66675" cy="284480"/>
          </a:xfrm>
          <a:custGeom>
            <a:avLst/>
            <a:gdLst/>
            <a:ahLst/>
            <a:cxnLst/>
            <a:rect l="l" t="t" r="r" b="b"/>
            <a:pathLst>
              <a:path w="66675" h="28448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41783" y="11430"/>
                </a:lnTo>
                <a:lnTo>
                  <a:pt x="41783" y="273050"/>
                </a:lnTo>
                <a:lnTo>
                  <a:pt x="0" y="273050"/>
                </a:lnTo>
                <a:lnTo>
                  <a:pt x="0" y="284480"/>
                </a:lnTo>
                <a:lnTo>
                  <a:pt x="66421" y="284480"/>
                </a:lnTo>
                <a:lnTo>
                  <a:pt x="66421" y="27305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623437" y="3128009"/>
            <a:ext cx="66675" cy="284480"/>
          </a:xfrm>
          <a:custGeom>
            <a:avLst/>
            <a:gdLst/>
            <a:ahLst/>
            <a:cxnLst/>
            <a:rect l="l" t="t" r="r" b="b"/>
            <a:pathLst>
              <a:path w="66675" h="28448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3050"/>
                </a:lnTo>
                <a:lnTo>
                  <a:pt x="0" y="284480"/>
                </a:lnTo>
                <a:lnTo>
                  <a:pt x="66421" y="284480"/>
                </a:lnTo>
                <a:lnTo>
                  <a:pt x="66421" y="273050"/>
                </a:lnTo>
                <a:lnTo>
                  <a:pt x="24765" y="273050"/>
                </a:lnTo>
                <a:lnTo>
                  <a:pt x="24765" y="1143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366008" y="3039872"/>
            <a:ext cx="6254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𝑿</a:t>
            </a:r>
            <a:r>
              <a:rPr sz="2400" spc="30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𝒊</a:t>
            </a:r>
            <a:r>
              <a:rPr sz="2400" spc="30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974991" y="5118227"/>
          <a:ext cx="7406636" cy="791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78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37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61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26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22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…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+1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…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𝒏</a:t>
                      </a:r>
                      <a:r>
                        <a:rPr sz="2000" spc="-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2000" spc="-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588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𝑫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20">
                          <a:latin typeface="Cambria Math"/>
                          <a:cs typeface="Cambria Math"/>
                        </a:rPr>
                        <a:t>𝑿[𝒏]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object 17"/>
          <p:cNvSpPr/>
          <p:nvPr/>
        </p:nvSpPr>
        <p:spPr>
          <a:xfrm>
            <a:off x="9116948" y="1018413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9"/>
                </a:lnTo>
                <a:lnTo>
                  <a:pt x="0" y="876426"/>
                </a:lnTo>
                <a:lnTo>
                  <a:pt x="7647" y="914364"/>
                </a:lnTo>
                <a:lnTo>
                  <a:pt x="28511" y="945324"/>
                </a:lnTo>
                <a:lnTo>
                  <a:pt x="59471" y="966188"/>
                </a:lnTo>
                <a:lnTo>
                  <a:pt x="97408" y="973836"/>
                </a:lnTo>
                <a:lnTo>
                  <a:pt x="1758823" y="973836"/>
                </a:lnTo>
                <a:lnTo>
                  <a:pt x="1796760" y="966188"/>
                </a:lnTo>
                <a:lnTo>
                  <a:pt x="1827720" y="945324"/>
                </a:lnTo>
                <a:lnTo>
                  <a:pt x="1848584" y="914364"/>
                </a:lnTo>
                <a:lnTo>
                  <a:pt x="1856231" y="876426"/>
                </a:lnTo>
                <a:lnTo>
                  <a:pt x="1856231" y="97409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9346438" y="1314449"/>
            <a:ext cx="13970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>
                <a:solidFill>
                  <a:srgbClr val="FFFFFF"/>
                </a:solidFill>
                <a:latin typeface="PMingLiU"/>
                <a:cs typeface="PMingLiU"/>
              </a:rPr>
              <a:t>问题结构分析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825228" y="2052827"/>
            <a:ext cx="439420" cy="367030"/>
          </a:xfrm>
          <a:custGeom>
            <a:avLst/>
            <a:gdLst/>
            <a:ahLst/>
            <a:cxnLst/>
            <a:rect l="l" t="t" r="r" b="b"/>
            <a:pathLst>
              <a:path w="439420" h="367030">
                <a:moveTo>
                  <a:pt x="351154" y="0"/>
                </a:moveTo>
                <a:lnTo>
                  <a:pt x="87756" y="0"/>
                </a:lnTo>
                <a:lnTo>
                  <a:pt x="87756" y="183261"/>
                </a:lnTo>
                <a:lnTo>
                  <a:pt x="0" y="183261"/>
                </a:lnTo>
                <a:lnTo>
                  <a:pt x="219455" y="366522"/>
                </a:lnTo>
                <a:lnTo>
                  <a:pt x="438912" y="183261"/>
                </a:lnTo>
                <a:lnTo>
                  <a:pt x="351154" y="183261"/>
                </a:lnTo>
                <a:lnTo>
                  <a:pt x="35115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9116948" y="2480691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9"/>
                </a:lnTo>
                <a:lnTo>
                  <a:pt x="0" y="876426"/>
                </a:lnTo>
                <a:lnTo>
                  <a:pt x="7647" y="914364"/>
                </a:lnTo>
                <a:lnTo>
                  <a:pt x="28511" y="945324"/>
                </a:lnTo>
                <a:lnTo>
                  <a:pt x="59471" y="966188"/>
                </a:lnTo>
                <a:lnTo>
                  <a:pt x="97408" y="973836"/>
                </a:lnTo>
                <a:lnTo>
                  <a:pt x="1758823" y="973836"/>
                </a:lnTo>
                <a:lnTo>
                  <a:pt x="1796760" y="966188"/>
                </a:lnTo>
                <a:lnTo>
                  <a:pt x="1827720" y="945324"/>
                </a:lnTo>
                <a:lnTo>
                  <a:pt x="1848584" y="914364"/>
                </a:lnTo>
                <a:lnTo>
                  <a:pt x="1856231" y="876426"/>
                </a:lnTo>
                <a:lnTo>
                  <a:pt x="1856231" y="97409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9346438" y="2776982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>
                <a:solidFill>
                  <a:srgbClr val="FFFFFF"/>
                </a:solidFill>
                <a:latin typeface="PMingLiU"/>
                <a:cs typeface="PMingLiU"/>
              </a:rPr>
              <a:t>递推关系建立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9825228" y="3515105"/>
            <a:ext cx="439420" cy="365125"/>
          </a:xfrm>
          <a:custGeom>
            <a:avLst/>
            <a:gdLst/>
            <a:ahLst/>
            <a:cxnLst/>
            <a:rect l="l" t="t" r="r" b="b"/>
            <a:pathLst>
              <a:path w="439420" h="365125">
                <a:moveTo>
                  <a:pt x="351154" y="0"/>
                </a:moveTo>
                <a:lnTo>
                  <a:pt x="87756" y="0"/>
                </a:lnTo>
                <a:lnTo>
                  <a:pt x="87756" y="182499"/>
                </a:lnTo>
                <a:lnTo>
                  <a:pt x="0" y="182499"/>
                </a:lnTo>
                <a:lnTo>
                  <a:pt x="219455" y="364998"/>
                </a:lnTo>
                <a:lnTo>
                  <a:pt x="438912" y="182499"/>
                </a:lnTo>
                <a:lnTo>
                  <a:pt x="351154" y="182499"/>
                </a:lnTo>
                <a:lnTo>
                  <a:pt x="35115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9116948" y="3941445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8"/>
                </a:lnTo>
                <a:lnTo>
                  <a:pt x="0" y="876426"/>
                </a:lnTo>
                <a:lnTo>
                  <a:pt x="7647" y="914364"/>
                </a:lnTo>
                <a:lnTo>
                  <a:pt x="28511" y="945324"/>
                </a:lnTo>
                <a:lnTo>
                  <a:pt x="59471" y="966188"/>
                </a:lnTo>
                <a:lnTo>
                  <a:pt x="97408" y="973835"/>
                </a:lnTo>
                <a:lnTo>
                  <a:pt x="1758823" y="973835"/>
                </a:lnTo>
                <a:lnTo>
                  <a:pt x="1796760" y="966188"/>
                </a:lnTo>
                <a:lnTo>
                  <a:pt x="1827720" y="945324"/>
                </a:lnTo>
                <a:lnTo>
                  <a:pt x="1848584" y="914364"/>
                </a:lnTo>
                <a:lnTo>
                  <a:pt x="1856231" y="876426"/>
                </a:lnTo>
                <a:lnTo>
                  <a:pt x="1856231" y="97408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83C8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9346438" y="4237735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>
                <a:solidFill>
                  <a:srgbClr val="FFFFFF"/>
                </a:solidFill>
                <a:latin typeface="PMingLiU"/>
                <a:cs typeface="PMingLiU"/>
              </a:rPr>
              <a:t>自底向上计算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9825228" y="4975859"/>
            <a:ext cx="439420" cy="365125"/>
          </a:xfrm>
          <a:custGeom>
            <a:avLst/>
            <a:gdLst/>
            <a:ahLst/>
            <a:cxnLst/>
            <a:rect l="l" t="t" r="r" b="b"/>
            <a:pathLst>
              <a:path w="439420" h="365125">
                <a:moveTo>
                  <a:pt x="351154" y="0"/>
                </a:moveTo>
                <a:lnTo>
                  <a:pt x="87756" y="0"/>
                </a:lnTo>
                <a:lnTo>
                  <a:pt x="87756" y="182498"/>
                </a:lnTo>
                <a:lnTo>
                  <a:pt x="0" y="182498"/>
                </a:lnTo>
                <a:lnTo>
                  <a:pt x="219455" y="364997"/>
                </a:lnTo>
                <a:lnTo>
                  <a:pt x="438912" y="182498"/>
                </a:lnTo>
                <a:lnTo>
                  <a:pt x="351154" y="182498"/>
                </a:lnTo>
                <a:lnTo>
                  <a:pt x="35115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9116948" y="5402198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9"/>
                </a:lnTo>
                <a:lnTo>
                  <a:pt x="0" y="876452"/>
                </a:lnTo>
                <a:lnTo>
                  <a:pt x="7647" y="914358"/>
                </a:lnTo>
                <a:lnTo>
                  <a:pt x="28511" y="945313"/>
                </a:lnTo>
                <a:lnTo>
                  <a:pt x="59471" y="966183"/>
                </a:lnTo>
                <a:lnTo>
                  <a:pt x="97408" y="973835"/>
                </a:lnTo>
                <a:lnTo>
                  <a:pt x="1758823" y="973835"/>
                </a:lnTo>
                <a:lnTo>
                  <a:pt x="1796760" y="966183"/>
                </a:lnTo>
                <a:lnTo>
                  <a:pt x="1827720" y="945313"/>
                </a:lnTo>
                <a:lnTo>
                  <a:pt x="1848584" y="914358"/>
                </a:lnTo>
                <a:lnTo>
                  <a:pt x="1856231" y="876452"/>
                </a:lnTo>
                <a:lnTo>
                  <a:pt x="1856231" y="97409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9346438" y="5698744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>
                <a:solidFill>
                  <a:srgbClr val="FFFFFF"/>
                </a:solidFill>
                <a:latin typeface="PMingLiU"/>
                <a:cs typeface="PMingLiU"/>
              </a:rPr>
              <a:t>最优方案追踪</a:t>
            </a:r>
            <a:endParaRPr sz="1800">
              <a:latin typeface="PMingLiU"/>
              <a:cs typeface="PMingLiU"/>
            </a:endParaRPr>
          </a:p>
        </p:txBody>
      </p:sp>
      <p:graphicFrame>
        <p:nvGraphicFramePr>
          <p:cNvPr id="28" name="object 28"/>
          <p:cNvGraphicFramePr>
            <a:graphicFrameLocks noGrp="1"/>
          </p:cNvGraphicFramePr>
          <p:nvPr/>
        </p:nvGraphicFramePr>
        <p:xfrm>
          <a:off x="974991" y="4066285"/>
          <a:ext cx="7406636" cy="791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78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37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61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26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22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…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+1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…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𝒏</a:t>
                      </a:r>
                      <a:r>
                        <a:rPr sz="2000" spc="-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2000" spc="-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588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𝑿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937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20">
                          <a:latin typeface="Cambria Math"/>
                          <a:cs typeface="Cambria Math"/>
                        </a:rPr>
                        <a:t>𝑿[𝟏]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5244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20">
                          <a:latin typeface="Cambria Math"/>
                          <a:cs typeface="Cambria Math"/>
                        </a:rPr>
                        <a:t>𝑿[𝟐]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461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20">
                          <a:latin typeface="Cambria Math"/>
                          <a:cs typeface="Cambria Math"/>
                        </a:rPr>
                        <a:t>𝑿[𝒊]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461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20">
                          <a:latin typeface="Cambria Math"/>
                          <a:cs typeface="Cambria Math"/>
                        </a:rPr>
                        <a:t>𝑿[𝒏]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9" name="object 29"/>
          <p:cNvSpPr txBox="1"/>
          <p:nvPr/>
        </p:nvSpPr>
        <p:spPr>
          <a:xfrm>
            <a:off x="872236" y="3578605"/>
            <a:ext cx="68580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30">
                <a:latin typeface="PMingLiU"/>
                <a:cs typeface="PMingLiU"/>
              </a:rPr>
              <a:t>已知</a:t>
            </a:r>
            <a:endParaRPr sz="2600">
              <a:latin typeface="PMingLiU"/>
              <a:cs typeface="PMingLiU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979164" y="4469129"/>
            <a:ext cx="706120" cy="406400"/>
          </a:xfrm>
          <a:custGeom>
            <a:avLst/>
            <a:gdLst/>
            <a:ahLst/>
            <a:cxnLst/>
            <a:rect l="l" t="t" r="r" b="b"/>
            <a:pathLst>
              <a:path w="706120" h="406400">
                <a:moveTo>
                  <a:pt x="0" y="67691"/>
                </a:moveTo>
                <a:lnTo>
                  <a:pt x="5326" y="41362"/>
                </a:lnTo>
                <a:lnTo>
                  <a:pt x="19843" y="19843"/>
                </a:lnTo>
                <a:lnTo>
                  <a:pt x="41362" y="5326"/>
                </a:lnTo>
                <a:lnTo>
                  <a:pt x="67690" y="0"/>
                </a:lnTo>
                <a:lnTo>
                  <a:pt x="637921" y="0"/>
                </a:lnTo>
                <a:lnTo>
                  <a:pt x="664249" y="5326"/>
                </a:lnTo>
                <a:lnTo>
                  <a:pt x="685768" y="19843"/>
                </a:lnTo>
                <a:lnTo>
                  <a:pt x="700285" y="41362"/>
                </a:lnTo>
                <a:lnTo>
                  <a:pt x="705612" y="67691"/>
                </a:lnTo>
                <a:lnTo>
                  <a:pt x="705612" y="338455"/>
                </a:lnTo>
                <a:lnTo>
                  <a:pt x="700285" y="364783"/>
                </a:lnTo>
                <a:lnTo>
                  <a:pt x="685768" y="386302"/>
                </a:lnTo>
                <a:lnTo>
                  <a:pt x="664249" y="400819"/>
                </a:lnTo>
                <a:lnTo>
                  <a:pt x="637921" y="406146"/>
                </a:lnTo>
                <a:lnTo>
                  <a:pt x="67690" y="406146"/>
                </a:lnTo>
                <a:lnTo>
                  <a:pt x="41362" y="400819"/>
                </a:lnTo>
                <a:lnTo>
                  <a:pt x="19843" y="386302"/>
                </a:lnTo>
                <a:lnTo>
                  <a:pt x="5326" y="364783"/>
                </a:lnTo>
                <a:lnTo>
                  <a:pt x="0" y="338455"/>
                </a:lnTo>
                <a:lnTo>
                  <a:pt x="0" y="67691"/>
                </a:lnTo>
                <a:close/>
              </a:path>
            </a:pathLst>
          </a:custGeom>
          <a:ln w="44449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左大括号 32">
            <a:extLst>
              <a:ext uri="{FF2B5EF4-FFF2-40B4-BE49-F238E27FC236}">
                <a16:creationId xmlns:a16="http://schemas.microsoft.com/office/drawing/2014/main" id="{0BCC1EEE-78D8-A24E-BA66-12E9D7C5849A}"/>
              </a:ext>
            </a:extLst>
          </p:cNvPr>
          <p:cNvSpPr/>
          <p:nvPr/>
        </p:nvSpPr>
        <p:spPr>
          <a:xfrm>
            <a:off x="2473581" y="2668904"/>
            <a:ext cx="157859" cy="813436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object 2">
            <a:extLst>
              <a:ext uri="{FF2B5EF4-FFF2-40B4-BE49-F238E27FC236}">
                <a16:creationId xmlns:a16="http://schemas.microsoft.com/office/drawing/2014/main" id="{B47783DC-F4B8-3444-99F0-A1DDCD9380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23949" y="171990"/>
            <a:ext cx="7573011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自底向上计算：确定计算顺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序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053590" y="1663699"/>
            <a:ext cx="66675" cy="284480"/>
          </a:xfrm>
          <a:custGeom>
            <a:avLst/>
            <a:gdLst/>
            <a:ahLst/>
            <a:cxnLst/>
            <a:rect l="l" t="t" r="r" b="b"/>
            <a:pathLst>
              <a:path w="66675" h="28448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41783" y="11430"/>
                </a:lnTo>
                <a:lnTo>
                  <a:pt x="41783" y="273050"/>
                </a:lnTo>
                <a:lnTo>
                  <a:pt x="0" y="273050"/>
                </a:lnTo>
                <a:lnTo>
                  <a:pt x="0" y="284480"/>
                </a:lnTo>
                <a:lnTo>
                  <a:pt x="66421" y="284480"/>
                </a:lnTo>
                <a:lnTo>
                  <a:pt x="66421" y="27305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777111" y="1663699"/>
            <a:ext cx="66675" cy="284480"/>
          </a:xfrm>
          <a:custGeom>
            <a:avLst/>
            <a:gdLst/>
            <a:ahLst/>
            <a:cxnLst/>
            <a:rect l="l" t="t" r="r" b="b"/>
            <a:pathLst>
              <a:path w="66675" h="28448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3050"/>
                </a:lnTo>
                <a:lnTo>
                  <a:pt x="0" y="284480"/>
                </a:lnTo>
                <a:lnTo>
                  <a:pt x="66421" y="284480"/>
                </a:lnTo>
                <a:lnTo>
                  <a:pt x="66421" y="273050"/>
                </a:lnTo>
                <a:lnTo>
                  <a:pt x="24765" y="273050"/>
                </a:lnTo>
                <a:lnTo>
                  <a:pt x="24765" y="1143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08660" y="978825"/>
            <a:ext cx="2475865" cy="149479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19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20">
                <a:latin typeface="PMingLiU"/>
                <a:cs typeface="PMingLiU"/>
              </a:rPr>
              <a:t>初始化</a:t>
            </a:r>
            <a:endParaRPr sz="2800">
              <a:latin typeface="PMingLiU"/>
              <a:cs typeface="PMingLiU"/>
            </a:endParaRPr>
          </a:p>
          <a:p>
            <a:pPr marL="805815" lvl="1" indent="-449580">
              <a:lnSpc>
                <a:spcPct val="100000"/>
              </a:lnSpc>
              <a:spcBef>
                <a:spcPts val="61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805815" algn="l"/>
                <a:tab pos="806450" algn="l"/>
                <a:tab pos="1529080" algn="l"/>
              </a:tabLst>
            </a:pPr>
            <a:r>
              <a:rPr sz="2400">
                <a:latin typeface="Cambria Math"/>
                <a:cs typeface="Cambria Math"/>
              </a:rPr>
              <a:t>𝑫</a:t>
            </a:r>
            <a:r>
              <a:rPr sz="2400" spc="305">
                <a:latin typeface="Cambria Math"/>
                <a:cs typeface="Cambria Math"/>
              </a:rPr>
              <a:t> </a:t>
            </a:r>
            <a:r>
              <a:rPr sz="2400" spc="-60">
                <a:latin typeface="Cambria Math"/>
                <a:cs typeface="Cambria Math"/>
              </a:rPr>
              <a:t>𝒏</a:t>
            </a:r>
            <a:r>
              <a:rPr sz="2400">
                <a:latin typeface="Cambria Math"/>
                <a:cs typeface="Cambria Math"/>
              </a:rPr>
              <a:t>	=</a:t>
            </a:r>
            <a:r>
              <a:rPr sz="2400" spc="120">
                <a:latin typeface="Cambria Math"/>
                <a:cs typeface="Cambria Math"/>
              </a:rPr>
              <a:t> </a:t>
            </a:r>
            <a:r>
              <a:rPr sz="2400" spc="-20">
                <a:latin typeface="Cambria Math"/>
                <a:cs typeface="Cambria Math"/>
              </a:rPr>
              <a:t>𝑿[𝒏]</a:t>
            </a:r>
            <a:endParaRPr sz="2400">
              <a:latin typeface="Cambria Math"/>
              <a:cs typeface="Cambria Math"/>
            </a:endParaRPr>
          </a:p>
          <a:p>
            <a:pPr marL="355600" indent="-342900">
              <a:lnSpc>
                <a:spcPct val="100000"/>
              </a:lnSpc>
              <a:spcBef>
                <a:spcPts val="63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5">
                <a:latin typeface="PMingLiU"/>
                <a:cs typeface="PMingLiU"/>
              </a:rPr>
              <a:t>递推公式</a:t>
            </a:r>
            <a:endParaRPr sz="2800">
              <a:latin typeface="PMingLiU"/>
              <a:cs typeface="PMingLiU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53083" y="2859532"/>
            <a:ext cx="1576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1009" indent="-448945">
              <a:lnSpc>
                <a:spcPct val="100000"/>
              </a:lnSpc>
              <a:spcBef>
                <a:spcPts val="10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461009" algn="l"/>
                <a:tab pos="461645" algn="l"/>
              </a:tabLst>
            </a:pPr>
            <a:r>
              <a:rPr sz="2400" dirty="0">
                <a:latin typeface="Cambria Math"/>
                <a:cs typeface="Cambria Math"/>
              </a:rPr>
              <a:t>𝑫[𝒊]</a:t>
            </a:r>
            <a:r>
              <a:rPr sz="2400" spc="114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</a:p>
        </p:txBody>
      </p:sp>
      <p:sp>
        <p:nvSpPr>
          <p:cNvPr id="6" name="object 6"/>
          <p:cNvSpPr/>
          <p:nvPr/>
        </p:nvSpPr>
        <p:spPr>
          <a:xfrm>
            <a:off x="3053334" y="2744469"/>
            <a:ext cx="66675" cy="283210"/>
          </a:xfrm>
          <a:custGeom>
            <a:avLst/>
            <a:gdLst/>
            <a:ahLst/>
            <a:cxnLst/>
            <a:rect l="l" t="t" r="r" b="b"/>
            <a:pathLst>
              <a:path w="66675" h="28321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41783" y="11430"/>
                </a:lnTo>
                <a:lnTo>
                  <a:pt x="41783" y="271780"/>
                </a:lnTo>
                <a:lnTo>
                  <a:pt x="0" y="271780"/>
                </a:lnTo>
                <a:lnTo>
                  <a:pt x="0" y="283210"/>
                </a:lnTo>
                <a:lnTo>
                  <a:pt x="66421" y="283210"/>
                </a:lnTo>
                <a:lnTo>
                  <a:pt x="66421" y="27178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861437" y="2744469"/>
            <a:ext cx="66675" cy="283210"/>
          </a:xfrm>
          <a:custGeom>
            <a:avLst/>
            <a:gdLst/>
            <a:ahLst/>
            <a:cxnLst/>
            <a:rect l="l" t="t" r="r" b="b"/>
            <a:pathLst>
              <a:path w="66675" h="28321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1780"/>
                </a:lnTo>
                <a:lnTo>
                  <a:pt x="0" y="283210"/>
                </a:lnTo>
                <a:lnTo>
                  <a:pt x="66421" y="283210"/>
                </a:lnTo>
                <a:lnTo>
                  <a:pt x="66421" y="271780"/>
                </a:lnTo>
                <a:lnTo>
                  <a:pt x="24765" y="271780"/>
                </a:lnTo>
                <a:lnTo>
                  <a:pt x="24765" y="1143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515612" y="2744469"/>
            <a:ext cx="66675" cy="283210"/>
          </a:xfrm>
          <a:custGeom>
            <a:avLst/>
            <a:gdLst/>
            <a:ahLst/>
            <a:cxnLst/>
            <a:rect l="l" t="t" r="r" b="b"/>
            <a:pathLst>
              <a:path w="66675" h="28321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41783" y="11430"/>
                </a:lnTo>
                <a:lnTo>
                  <a:pt x="41783" y="271780"/>
                </a:lnTo>
                <a:lnTo>
                  <a:pt x="0" y="271780"/>
                </a:lnTo>
                <a:lnTo>
                  <a:pt x="0" y="283210"/>
                </a:lnTo>
                <a:lnTo>
                  <a:pt x="66421" y="283210"/>
                </a:lnTo>
                <a:lnTo>
                  <a:pt x="66421" y="27178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778885" y="2744469"/>
            <a:ext cx="66675" cy="283210"/>
          </a:xfrm>
          <a:custGeom>
            <a:avLst/>
            <a:gdLst/>
            <a:ahLst/>
            <a:cxnLst/>
            <a:rect l="l" t="t" r="r" b="b"/>
            <a:pathLst>
              <a:path w="66675" h="28321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1780"/>
                </a:lnTo>
                <a:lnTo>
                  <a:pt x="0" y="283210"/>
                </a:lnTo>
                <a:lnTo>
                  <a:pt x="66421" y="283210"/>
                </a:lnTo>
                <a:lnTo>
                  <a:pt x="66421" y="271780"/>
                </a:lnTo>
                <a:lnTo>
                  <a:pt x="24765" y="271780"/>
                </a:lnTo>
                <a:lnTo>
                  <a:pt x="24765" y="1143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604008" y="2655062"/>
            <a:ext cx="20878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17220" algn="l"/>
              </a:tabLst>
            </a:pPr>
            <a:r>
              <a:rPr sz="2400">
                <a:latin typeface="Cambria Math"/>
                <a:cs typeface="Cambria Math"/>
              </a:rPr>
              <a:t>𝑿</a:t>
            </a:r>
            <a:r>
              <a:rPr sz="2400" spc="305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𝒊</a:t>
            </a:r>
            <a:r>
              <a:rPr sz="2400">
                <a:latin typeface="Cambria Math"/>
                <a:cs typeface="Cambria Math"/>
              </a:rPr>
              <a:t>	+ </a:t>
            </a: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𝑫</a:t>
            </a:r>
            <a:r>
              <a:rPr sz="2400" spc="30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0000"/>
                </a:solidFill>
                <a:latin typeface="Cambria Math"/>
                <a:cs typeface="Cambria Math"/>
              </a:rPr>
              <a:t>𝒊 + 𝟏</a:t>
            </a:r>
            <a:r>
              <a:rPr sz="2400" spc="30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70017" y="2625852"/>
            <a:ext cx="2056130" cy="81534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2400">
                <a:latin typeface="Cambria Math"/>
                <a:cs typeface="Cambria Math"/>
              </a:rPr>
              <a:t>𝒊𝒇</a:t>
            </a:r>
            <a:r>
              <a:rPr sz="2400" spc="-10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𝑫[𝒊</a:t>
            </a:r>
            <a:r>
              <a:rPr sz="2400" spc="-10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+ 𝟏]</a:t>
            </a:r>
            <a:r>
              <a:rPr sz="2400" spc="125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&gt;</a:t>
            </a:r>
            <a:r>
              <a:rPr sz="2400" spc="135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𝟎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2400">
                <a:latin typeface="Cambria Math"/>
                <a:cs typeface="Cambria Math"/>
              </a:rPr>
              <a:t>𝒊𝒇</a:t>
            </a:r>
            <a:r>
              <a:rPr sz="2400" spc="-10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𝑫[𝒊</a:t>
            </a:r>
            <a:r>
              <a:rPr sz="2400" spc="-10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+ 𝟏]</a:t>
            </a:r>
            <a:r>
              <a:rPr sz="2400" spc="125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≤</a:t>
            </a:r>
            <a:r>
              <a:rPr sz="2400" spc="135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𝟎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784854" y="3138169"/>
            <a:ext cx="66675" cy="284480"/>
          </a:xfrm>
          <a:custGeom>
            <a:avLst/>
            <a:gdLst/>
            <a:ahLst/>
            <a:cxnLst/>
            <a:rect l="l" t="t" r="r" b="b"/>
            <a:pathLst>
              <a:path w="66675" h="28448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41783" y="11430"/>
                </a:lnTo>
                <a:lnTo>
                  <a:pt x="41783" y="273050"/>
                </a:lnTo>
                <a:lnTo>
                  <a:pt x="0" y="273050"/>
                </a:lnTo>
                <a:lnTo>
                  <a:pt x="0" y="284480"/>
                </a:lnTo>
                <a:lnTo>
                  <a:pt x="66421" y="284480"/>
                </a:lnTo>
                <a:lnTo>
                  <a:pt x="66421" y="27305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592957" y="3138169"/>
            <a:ext cx="66675" cy="284480"/>
          </a:xfrm>
          <a:custGeom>
            <a:avLst/>
            <a:gdLst/>
            <a:ahLst/>
            <a:cxnLst/>
            <a:rect l="l" t="t" r="r" b="b"/>
            <a:pathLst>
              <a:path w="66675" h="28448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3050"/>
                </a:lnTo>
                <a:lnTo>
                  <a:pt x="0" y="284480"/>
                </a:lnTo>
                <a:lnTo>
                  <a:pt x="66421" y="284480"/>
                </a:lnTo>
                <a:lnTo>
                  <a:pt x="66421" y="273050"/>
                </a:lnTo>
                <a:lnTo>
                  <a:pt x="24765" y="273050"/>
                </a:lnTo>
                <a:lnTo>
                  <a:pt x="24765" y="1143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335528" y="3050032"/>
            <a:ext cx="6254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>
                <a:latin typeface="Cambria Math"/>
                <a:cs typeface="Cambria Math"/>
              </a:rPr>
              <a:t>𝑿</a:t>
            </a:r>
            <a:r>
              <a:rPr sz="2400" spc="305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𝒊</a:t>
            </a:r>
            <a:r>
              <a:rPr sz="2400" spc="305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981341" y="5124551"/>
            <a:ext cx="7407275" cy="792480"/>
            <a:chOff x="981341" y="5124551"/>
            <a:chExt cx="7407275" cy="792480"/>
          </a:xfrm>
        </p:grpSpPr>
        <p:sp>
          <p:nvSpPr>
            <p:cNvPr id="16" name="object 16"/>
            <p:cNvSpPr/>
            <p:nvPr/>
          </p:nvSpPr>
          <p:spPr>
            <a:xfrm>
              <a:off x="981341" y="5124551"/>
              <a:ext cx="7407275" cy="792480"/>
            </a:xfrm>
            <a:custGeom>
              <a:avLst/>
              <a:gdLst/>
              <a:ahLst/>
              <a:cxnLst/>
              <a:rect l="l" t="t" r="r" b="b"/>
              <a:pathLst>
                <a:path w="7407275" h="792479">
                  <a:moveTo>
                    <a:pt x="7407275" y="0"/>
                  </a:moveTo>
                  <a:lnTo>
                    <a:pt x="0" y="0"/>
                  </a:lnTo>
                  <a:lnTo>
                    <a:pt x="0" y="792479"/>
                  </a:lnTo>
                  <a:lnTo>
                    <a:pt x="7407275" y="792479"/>
                  </a:lnTo>
                  <a:lnTo>
                    <a:pt x="740727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796536" y="5124576"/>
              <a:ext cx="1123315" cy="396240"/>
            </a:xfrm>
            <a:custGeom>
              <a:avLst/>
              <a:gdLst/>
              <a:ahLst/>
              <a:cxnLst/>
              <a:rect l="l" t="t" r="r" b="b"/>
              <a:pathLst>
                <a:path w="1123314" h="396239">
                  <a:moveTo>
                    <a:pt x="1122946" y="0"/>
                  </a:moveTo>
                  <a:lnTo>
                    <a:pt x="0" y="0"/>
                  </a:lnTo>
                  <a:lnTo>
                    <a:pt x="0" y="396240"/>
                  </a:lnTo>
                  <a:lnTo>
                    <a:pt x="1122946" y="396240"/>
                  </a:lnTo>
                  <a:lnTo>
                    <a:pt x="1122946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796536" y="5520791"/>
              <a:ext cx="1123315" cy="396240"/>
            </a:xfrm>
            <a:custGeom>
              <a:avLst/>
              <a:gdLst/>
              <a:ahLst/>
              <a:cxnLst/>
              <a:rect l="l" t="t" r="r" b="b"/>
              <a:pathLst>
                <a:path w="1123314" h="396239">
                  <a:moveTo>
                    <a:pt x="1122946" y="0"/>
                  </a:moveTo>
                  <a:lnTo>
                    <a:pt x="0" y="0"/>
                  </a:lnTo>
                  <a:lnTo>
                    <a:pt x="0" y="396240"/>
                  </a:lnTo>
                  <a:lnTo>
                    <a:pt x="1122946" y="396240"/>
                  </a:lnTo>
                  <a:lnTo>
                    <a:pt x="1122946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974991" y="5118227"/>
          <a:ext cx="7406636" cy="791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78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37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61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26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22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…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+1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…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𝒏</a:t>
                      </a:r>
                      <a:r>
                        <a:rPr sz="2000" spc="-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2000" spc="-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588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𝑫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5244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>
                          <a:latin typeface="Cambria Math"/>
                          <a:cs typeface="Cambria Math"/>
                        </a:rPr>
                        <a:t>𝑫[𝒊</a:t>
                      </a:r>
                      <a:r>
                        <a:rPr sz="2000" spc="-1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>
                          <a:latin typeface="Cambria Math"/>
                          <a:cs typeface="Cambria Math"/>
                        </a:rPr>
                        <a:t>+</a:t>
                      </a:r>
                      <a:r>
                        <a:rPr sz="2000" spc="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 spc="-35">
                          <a:latin typeface="Cambria Math"/>
                          <a:cs typeface="Cambria Math"/>
                        </a:rPr>
                        <a:t>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20">
                          <a:latin typeface="Cambria Math"/>
                          <a:cs typeface="Cambria Math"/>
                        </a:rPr>
                        <a:t>𝑿[𝒏]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" name="object 20"/>
          <p:cNvSpPr txBox="1"/>
          <p:nvPr/>
        </p:nvSpPr>
        <p:spPr>
          <a:xfrm>
            <a:off x="872236" y="3578605"/>
            <a:ext cx="68580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30">
                <a:latin typeface="PMingLiU"/>
                <a:cs typeface="PMingLiU"/>
              </a:rPr>
              <a:t>已知</a:t>
            </a:r>
            <a:endParaRPr sz="2600">
              <a:latin typeface="PMingLiU"/>
              <a:cs typeface="PMingLiU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9116948" y="1018413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9"/>
                </a:lnTo>
                <a:lnTo>
                  <a:pt x="0" y="876426"/>
                </a:lnTo>
                <a:lnTo>
                  <a:pt x="7647" y="914364"/>
                </a:lnTo>
                <a:lnTo>
                  <a:pt x="28511" y="945324"/>
                </a:lnTo>
                <a:lnTo>
                  <a:pt x="59471" y="966188"/>
                </a:lnTo>
                <a:lnTo>
                  <a:pt x="97408" y="973836"/>
                </a:lnTo>
                <a:lnTo>
                  <a:pt x="1758823" y="973836"/>
                </a:lnTo>
                <a:lnTo>
                  <a:pt x="1796760" y="966188"/>
                </a:lnTo>
                <a:lnTo>
                  <a:pt x="1827720" y="945324"/>
                </a:lnTo>
                <a:lnTo>
                  <a:pt x="1848584" y="914364"/>
                </a:lnTo>
                <a:lnTo>
                  <a:pt x="1856231" y="876426"/>
                </a:lnTo>
                <a:lnTo>
                  <a:pt x="1856231" y="97409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9346438" y="1314449"/>
            <a:ext cx="13970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>
                <a:solidFill>
                  <a:srgbClr val="FFFFFF"/>
                </a:solidFill>
                <a:latin typeface="PMingLiU"/>
                <a:cs typeface="PMingLiU"/>
              </a:rPr>
              <a:t>问题结构分析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9825228" y="2052827"/>
            <a:ext cx="439420" cy="367030"/>
          </a:xfrm>
          <a:custGeom>
            <a:avLst/>
            <a:gdLst/>
            <a:ahLst/>
            <a:cxnLst/>
            <a:rect l="l" t="t" r="r" b="b"/>
            <a:pathLst>
              <a:path w="439420" h="367030">
                <a:moveTo>
                  <a:pt x="351154" y="0"/>
                </a:moveTo>
                <a:lnTo>
                  <a:pt x="87756" y="0"/>
                </a:lnTo>
                <a:lnTo>
                  <a:pt x="87756" y="183261"/>
                </a:lnTo>
                <a:lnTo>
                  <a:pt x="0" y="183261"/>
                </a:lnTo>
                <a:lnTo>
                  <a:pt x="219455" y="366522"/>
                </a:lnTo>
                <a:lnTo>
                  <a:pt x="438912" y="183261"/>
                </a:lnTo>
                <a:lnTo>
                  <a:pt x="351154" y="183261"/>
                </a:lnTo>
                <a:lnTo>
                  <a:pt x="35115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9116948" y="2480691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9"/>
                </a:lnTo>
                <a:lnTo>
                  <a:pt x="0" y="876426"/>
                </a:lnTo>
                <a:lnTo>
                  <a:pt x="7647" y="914364"/>
                </a:lnTo>
                <a:lnTo>
                  <a:pt x="28511" y="945324"/>
                </a:lnTo>
                <a:lnTo>
                  <a:pt x="59471" y="966188"/>
                </a:lnTo>
                <a:lnTo>
                  <a:pt x="97408" y="973836"/>
                </a:lnTo>
                <a:lnTo>
                  <a:pt x="1758823" y="973836"/>
                </a:lnTo>
                <a:lnTo>
                  <a:pt x="1796760" y="966188"/>
                </a:lnTo>
                <a:lnTo>
                  <a:pt x="1827720" y="945324"/>
                </a:lnTo>
                <a:lnTo>
                  <a:pt x="1848584" y="914364"/>
                </a:lnTo>
                <a:lnTo>
                  <a:pt x="1856231" y="876426"/>
                </a:lnTo>
                <a:lnTo>
                  <a:pt x="1856231" y="97409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9346438" y="2776982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>
                <a:solidFill>
                  <a:srgbClr val="FFFFFF"/>
                </a:solidFill>
                <a:latin typeface="PMingLiU"/>
                <a:cs typeface="PMingLiU"/>
              </a:rPr>
              <a:t>递推关系建立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9825228" y="3515105"/>
            <a:ext cx="439420" cy="365125"/>
          </a:xfrm>
          <a:custGeom>
            <a:avLst/>
            <a:gdLst/>
            <a:ahLst/>
            <a:cxnLst/>
            <a:rect l="l" t="t" r="r" b="b"/>
            <a:pathLst>
              <a:path w="439420" h="365125">
                <a:moveTo>
                  <a:pt x="351154" y="0"/>
                </a:moveTo>
                <a:lnTo>
                  <a:pt x="87756" y="0"/>
                </a:lnTo>
                <a:lnTo>
                  <a:pt x="87756" y="182499"/>
                </a:lnTo>
                <a:lnTo>
                  <a:pt x="0" y="182499"/>
                </a:lnTo>
                <a:lnTo>
                  <a:pt x="219455" y="364998"/>
                </a:lnTo>
                <a:lnTo>
                  <a:pt x="438912" y="182499"/>
                </a:lnTo>
                <a:lnTo>
                  <a:pt x="351154" y="182499"/>
                </a:lnTo>
                <a:lnTo>
                  <a:pt x="35115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9116948" y="3941445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8"/>
                </a:lnTo>
                <a:lnTo>
                  <a:pt x="0" y="876426"/>
                </a:lnTo>
                <a:lnTo>
                  <a:pt x="7647" y="914364"/>
                </a:lnTo>
                <a:lnTo>
                  <a:pt x="28511" y="945324"/>
                </a:lnTo>
                <a:lnTo>
                  <a:pt x="59471" y="966188"/>
                </a:lnTo>
                <a:lnTo>
                  <a:pt x="97408" y="973835"/>
                </a:lnTo>
                <a:lnTo>
                  <a:pt x="1758823" y="973835"/>
                </a:lnTo>
                <a:lnTo>
                  <a:pt x="1796760" y="966188"/>
                </a:lnTo>
                <a:lnTo>
                  <a:pt x="1827720" y="945324"/>
                </a:lnTo>
                <a:lnTo>
                  <a:pt x="1848584" y="914364"/>
                </a:lnTo>
                <a:lnTo>
                  <a:pt x="1856231" y="876426"/>
                </a:lnTo>
                <a:lnTo>
                  <a:pt x="1856231" y="97408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83C8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9346438" y="4237735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>
                <a:solidFill>
                  <a:srgbClr val="FFFFFF"/>
                </a:solidFill>
                <a:latin typeface="PMingLiU"/>
                <a:cs typeface="PMingLiU"/>
              </a:rPr>
              <a:t>自底向上计算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9825228" y="4975859"/>
            <a:ext cx="439420" cy="365125"/>
          </a:xfrm>
          <a:custGeom>
            <a:avLst/>
            <a:gdLst/>
            <a:ahLst/>
            <a:cxnLst/>
            <a:rect l="l" t="t" r="r" b="b"/>
            <a:pathLst>
              <a:path w="439420" h="365125">
                <a:moveTo>
                  <a:pt x="351154" y="0"/>
                </a:moveTo>
                <a:lnTo>
                  <a:pt x="87756" y="0"/>
                </a:lnTo>
                <a:lnTo>
                  <a:pt x="87756" y="182498"/>
                </a:lnTo>
                <a:lnTo>
                  <a:pt x="0" y="182498"/>
                </a:lnTo>
                <a:lnTo>
                  <a:pt x="219455" y="364997"/>
                </a:lnTo>
                <a:lnTo>
                  <a:pt x="438912" y="182498"/>
                </a:lnTo>
                <a:lnTo>
                  <a:pt x="351154" y="182498"/>
                </a:lnTo>
                <a:lnTo>
                  <a:pt x="35115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9116948" y="5402198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9"/>
                </a:lnTo>
                <a:lnTo>
                  <a:pt x="0" y="876452"/>
                </a:lnTo>
                <a:lnTo>
                  <a:pt x="7647" y="914358"/>
                </a:lnTo>
                <a:lnTo>
                  <a:pt x="28511" y="945313"/>
                </a:lnTo>
                <a:lnTo>
                  <a:pt x="59471" y="966183"/>
                </a:lnTo>
                <a:lnTo>
                  <a:pt x="97408" y="973835"/>
                </a:lnTo>
                <a:lnTo>
                  <a:pt x="1758823" y="973835"/>
                </a:lnTo>
                <a:lnTo>
                  <a:pt x="1796760" y="966183"/>
                </a:lnTo>
                <a:lnTo>
                  <a:pt x="1827720" y="945313"/>
                </a:lnTo>
                <a:lnTo>
                  <a:pt x="1848584" y="914358"/>
                </a:lnTo>
                <a:lnTo>
                  <a:pt x="1856231" y="876452"/>
                </a:lnTo>
                <a:lnTo>
                  <a:pt x="1856231" y="97409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9346438" y="5698744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>
                <a:solidFill>
                  <a:srgbClr val="FFFFFF"/>
                </a:solidFill>
                <a:latin typeface="PMingLiU"/>
                <a:cs typeface="PMingLiU"/>
              </a:rPr>
              <a:t>最优方案追踪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844796" y="5480303"/>
            <a:ext cx="1026794" cy="406400"/>
          </a:xfrm>
          <a:custGeom>
            <a:avLst/>
            <a:gdLst/>
            <a:ahLst/>
            <a:cxnLst/>
            <a:rect l="l" t="t" r="r" b="b"/>
            <a:pathLst>
              <a:path w="1026794" h="406400">
                <a:moveTo>
                  <a:pt x="0" y="67691"/>
                </a:moveTo>
                <a:lnTo>
                  <a:pt x="5326" y="41362"/>
                </a:lnTo>
                <a:lnTo>
                  <a:pt x="19843" y="19843"/>
                </a:lnTo>
                <a:lnTo>
                  <a:pt x="41362" y="5326"/>
                </a:lnTo>
                <a:lnTo>
                  <a:pt x="67690" y="0"/>
                </a:lnTo>
                <a:lnTo>
                  <a:pt x="958723" y="0"/>
                </a:lnTo>
                <a:lnTo>
                  <a:pt x="985051" y="5326"/>
                </a:lnTo>
                <a:lnTo>
                  <a:pt x="1006570" y="19843"/>
                </a:lnTo>
                <a:lnTo>
                  <a:pt x="1021087" y="41362"/>
                </a:lnTo>
                <a:lnTo>
                  <a:pt x="1026413" y="67691"/>
                </a:lnTo>
                <a:lnTo>
                  <a:pt x="1026413" y="338455"/>
                </a:lnTo>
                <a:lnTo>
                  <a:pt x="1021087" y="364805"/>
                </a:lnTo>
                <a:lnTo>
                  <a:pt x="1006570" y="386321"/>
                </a:lnTo>
                <a:lnTo>
                  <a:pt x="985051" y="400827"/>
                </a:lnTo>
                <a:lnTo>
                  <a:pt x="958723" y="406146"/>
                </a:lnTo>
                <a:lnTo>
                  <a:pt x="67690" y="406146"/>
                </a:lnTo>
                <a:lnTo>
                  <a:pt x="41362" y="400827"/>
                </a:lnTo>
                <a:lnTo>
                  <a:pt x="19843" y="386321"/>
                </a:lnTo>
                <a:lnTo>
                  <a:pt x="5326" y="364805"/>
                </a:lnTo>
                <a:lnTo>
                  <a:pt x="0" y="338455"/>
                </a:lnTo>
                <a:lnTo>
                  <a:pt x="0" y="67691"/>
                </a:lnTo>
                <a:close/>
              </a:path>
            </a:pathLst>
          </a:custGeom>
          <a:ln w="4445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4" name="object 34"/>
          <p:cNvGraphicFramePr>
            <a:graphicFrameLocks noGrp="1"/>
          </p:cNvGraphicFramePr>
          <p:nvPr/>
        </p:nvGraphicFramePr>
        <p:xfrm>
          <a:off x="974991" y="4066285"/>
          <a:ext cx="7406636" cy="791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78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37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61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26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22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…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+1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…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𝒏</a:t>
                      </a:r>
                      <a:r>
                        <a:rPr sz="2000" spc="-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2000" spc="-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588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𝑿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937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20">
                          <a:latin typeface="Cambria Math"/>
                          <a:cs typeface="Cambria Math"/>
                        </a:rPr>
                        <a:t>𝑿[𝟏]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5244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20">
                          <a:latin typeface="Cambria Math"/>
                          <a:cs typeface="Cambria Math"/>
                        </a:rPr>
                        <a:t>𝑿[𝟐]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461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20">
                          <a:latin typeface="Cambria Math"/>
                          <a:cs typeface="Cambria Math"/>
                        </a:rPr>
                        <a:t>𝑿[𝒊]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461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20">
                          <a:latin typeface="Cambria Math"/>
                          <a:cs typeface="Cambria Math"/>
                        </a:rPr>
                        <a:t>𝑿[𝒏]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7" name="左大括号 36">
            <a:extLst>
              <a:ext uri="{FF2B5EF4-FFF2-40B4-BE49-F238E27FC236}">
                <a16:creationId xmlns:a16="http://schemas.microsoft.com/office/drawing/2014/main" id="{78EFA621-253E-B348-B14E-0B905673C575}"/>
              </a:ext>
            </a:extLst>
          </p:cNvPr>
          <p:cNvSpPr/>
          <p:nvPr/>
        </p:nvSpPr>
        <p:spPr>
          <a:xfrm>
            <a:off x="2390968" y="2675825"/>
            <a:ext cx="157859" cy="813436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object 2">
            <a:extLst>
              <a:ext uri="{FF2B5EF4-FFF2-40B4-BE49-F238E27FC236}">
                <a16:creationId xmlns:a16="http://schemas.microsoft.com/office/drawing/2014/main" id="{4067E412-FF92-DA48-BE6B-906C97873C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23949" y="171990"/>
            <a:ext cx="7573011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自底向上计算：确定计算顺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序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073910" y="1653539"/>
            <a:ext cx="66675" cy="284480"/>
          </a:xfrm>
          <a:custGeom>
            <a:avLst/>
            <a:gdLst/>
            <a:ahLst/>
            <a:cxnLst/>
            <a:rect l="l" t="t" r="r" b="b"/>
            <a:pathLst>
              <a:path w="66675" h="28448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41783" y="11430"/>
                </a:lnTo>
                <a:lnTo>
                  <a:pt x="41783" y="273050"/>
                </a:lnTo>
                <a:lnTo>
                  <a:pt x="0" y="273050"/>
                </a:lnTo>
                <a:lnTo>
                  <a:pt x="0" y="284480"/>
                </a:lnTo>
                <a:lnTo>
                  <a:pt x="66421" y="284480"/>
                </a:lnTo>
                <a:lnTo>
                  <a:pt x="66421" y="27305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797431" y="1653539"/>
            <a:ext cx="66675" cy="284480"/>
          </a:xfrm>
          <a:custGeom>
            <a:avLst/>
            <a:gdLst/>
            <a:ahLst/>
            <a:cxnLst/>
            <a:rect l="l" t="t" r="r" b="b"/>
            <a:pathLst>
              <a:path w="66675" h="28448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3050"/>
                </a:lnTo>
                <a:lnTo>
                  <a:pt x="0" y="284480"/>
                </a:lnTo>
                <a:lnTo>
                  <a:pt x="66421" y="284480"/>
                </a:lnTo>
                <a:lnTo>
                  <a:pt x="66421" y="273050"/>
                </a:lnTo>
                <a:lnTo>
                  <a:pt x="24765" y="273050"/>
                </a:lnTo>
                <a:lnTo>
                  <a:pt x="24765" y="1143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28980" y="968665"/>
            <a:ext cx="2475865" cy="149479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19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20">
                <a:latin typeface="PMingLiU"/>
                <a:cs typeface="PMingLiU"/>
              </a:rPr>
              <a:t>初始化</a:t>
            </a:r>
            <a:endParaRPr sz="2800">
              <a:latin typeface="PMingLiU"/>
              <a:cs typeface="PMingLiU"/>
            </a:endParaRPr>
          </a:p>
          <a:p>
            <a:pPr marL="805815" lvl="1" indent="-449580">
              <a:lnSpc>
                <a:spcPct val="100000"/>
              </a:lnSpc>
              <a:spcBef>
                <a:spcPts val="61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805815" algn="l"/>
                <a:tab pos="806450" algn="l"/>
                <a:tab pos="1529080" algn="l"/>
              </a:tabLst>
            </a:pPr>
            <a:r>
              <a:rPr sz="2400">
                <a:latin typeface="Cambria Math"/>
                <a:cs typeface="Cambria Math"/>
              </a:rPr>
              <a:t>𝑫</a:t>
            </a:r>
            <a:r>
              <a:rPr sz="2400" spc="305">
                <a:latin typeface="Cambria Math"/>
                <a:cs typeface="Cambria Math"/>
              </a:rPr>
              <a:t> </a:t>
            </a:r>
            <a:r>
              <a:rPr sz="2400" spc="-60">
                <a:latin typeface="Cambria Math"/>
                <a:cs typeface="Cambria Math"/>
              </a:rPr>
              <a:t>𝒏</a:t>
            </a:r>
            <a:r>
              <a:rPr sz="2400">
                <a:latin typeface="Cambria Math"/>
                <a:cs typeface="Cambria Math"/>
              </a:rPr>
              <a:t>	=</a:t>
            </a:r>
            <a:r>
              <a:rPr sz="2400" spc="120">
                <a:latin typeface="Cambria Math"/>
                <a:cs typeface="Cambria Math"/>
              </a:rPr>
              <a:t> </a:t>
            </a:r>
            <a:r>
              <a:rPr sz="2400" spc="-20">
                <a:latin typeface="Cambria Math"/>
                <a:cs typeface="Cambria Math"/>
              </a:rPr>
              <a:t>𝑿[𝒏]</a:t>
            </a:r>
            <a:endParaRPr sz="2400">
              <a:latin typeface="Cambria Math"/>
              <a:cs typeface="Cambria Math"/>
            </a:endParaRPr>
          </a:p>
          <a:p>
            <a:pPr marL="355600" indent="-342900">
              <a:lnSpc>
                <a:spcPct val="100000"/>
              </a:lnSpc>
              <a:spcBef>
                <a:spcPts val="63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5">
                <a:latin typeface="PMingLiU"/>
                <a:cs typeface="PMingLiU"/>
              </a:rPr>
              <a:t>递推公式</a:t>
            </a:r>
            <a:endParaRPr sz="2800">
              <a:latin typeface="PMingLiU"/>
              <a:cs typeface="PMingLiU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73403" y="2849372"/>
            <a:ext cx="1576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1009" indent="-448945">
              <a:lnSpc>
                <a:spcPct val="100000"/>
              </a:lnSpc>
              <a:spcBef>
                <a:spcPts val="10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461009" algn="l"/>
                <a:tab pos="461645" algn="l"/>
              </a:tabLst>
            </a:pPr>
            <a:r>
              <a:rPr sz="2400" dirty="0">
                <a:latin typeface="Cambria Math"/>
                <a:cs typeface="Cambria Math"/>
              </a:rPr>
              <a:t>𝑫[𝒊]</a:t>
            </a:r>
            <a:r>
              <a:rPr sz="2400" spc="114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</a:p>
        </p:txBody>
      </p:sp>
      <p:sp>
        <p:nvSpPr>
          <p:cNvPr id="6" name="object 6"/>
          <p:cNvSpPr/>
          <p:nvPr/>
        </p:nvSpPr>
        <p:spPr>
          <a:xfrm>
            <a:off x="3073654" y="2734309"/>
            <a:ext cx="66675" cy="283210"/>
          </a:xfrm>
          <a:custGeom>
            <a:avLst/>
            <a:gdLst/>
            <a:ahLst/>
            <a:cxnLst/>
            <a:rect l="l" t="t" r="r" b="b"/>
            <a:pathLst>
              <a:path w="66675" h="28321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41783" y="11430"/>
                </a:lnTo>
                <a:lnTo>
                  <a:pt x="41783" y="271780"/>
                </a:lnTo>
                <a:lnTo>
                  <a:pt x="0" y="271780"/>
                </a:lnTo>
                <a:lnTo>
                  <a:pt x="0" y="283210"/>
                </a:lnTo>
                <a:lnTo>
                  <a:pt x="66421" y="283210"/>
                </a:lnTo>
                <a:lnTo>
                  <a:pt x="66421" y="27178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881757" y="2734309"/>
            <a:ext cx="66675" cy="283210"/>
          </a:xfrm>
          <a:custGeom>
            <a:avLst/>
            <a:gdLst/>
            <a:ahLst/>
            <a:cxnLst/>
            <a:rect l="l" t="t" r="r" b="b"/>
            <a:pathLst>
              <a:path w="66675" h="28321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1780"/>
                </a:lnTo>
                <a:lnTo>
                  <a:pt x="0" y="283210"/>
                </a:lnTo>
                <a:lnTo>
                  <a:pt x="66421" y="283210"/>
                </a:lnTo>
                <a:lnTo>
                  <a:pt x="66421" y="271780"/>
                </a:lnTo>
                <a:lnTo>
                  <a:pt x="24765" y="271780"/>
                </a:lnTo>
                <a:lnTo>
                  <a:pt x="24765" y="1143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535932" y="2734309"/>
            <a:ext cx="66675" cy="283210"/>
          </a:xfrm>
          <a:custGeom>
            <a:avLst/>
            <a:gdLst/>
            <a:ahLst/>
            <a:cxnLst/>
            <a:rect l="l" t="t" r="r" b="b"/>
            <a:pathLst>
              <a:path w="66675" h="28321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41783" y="11430"/>
                </a:lnTo>
                <a:lnTo>
                  <a:pt x="41783" y="271780"/>
                </a:lnTo>
                <a:lnTo>
                  <a:pt x="0" y="271780"/>
                </a:lnTo>
                <a:lnTo>
                  <a:pt x="0" y="283210"/>
                </a:lnTo>
                <a:lnTo>
                  <a:pt x="66421" y="283210"/>
                </a:lnTo>
                <a:lnTo>
                  <a:pt x="66421" y="27178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799205" y="2734309"/>
            <a:ext cx="66675" cy="283210"/>
          </a:xfrm>
          <a:custGeom>
            <a:avLst/>
            <a:gdLst/>
            <a:ahLst/>
            <a:cxnLst/>
            <a:rect l="l" t="t" r="r" b="b"/>
            <a:pathLst>
              <a:path w="66675" h="28321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1780"/>
                </a:lnTo>
                <a:lnTo>
                  <a:pt x="0" y="283210"/>
                </a:lnTo>
                <a:lnTo>
                  <a:pt x="66421" y="283210"/>
                </a:lnTo>
                <a:lnTo>
                  <a:pt x="66421" y="271780"/>
                </a:lnTo>
                <a:lnTo>
                  <a:pt x="24765" y="271780"/>
                </a:lnTo>
                <a:lnTo>
                  <a:pt x="24765" y="1143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624328" y="2644902"/>
            <a:ext cx="20878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17220" algn="l"/>
              </a:tabLst>
            </a:pPr>
            <a:r>
              <a:rPr sz="2400" dirty="0">
                <a:latin typeface="Cambria Math"/>
                <a:cs typeface="Cambria Math"/>
              </a:rPr>
              <a:t>𝑿</a:t>
            </a:r>
            <a:r>
              <a:rPr sz="2400" spc="305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𝒊</a:t>
            </a:r>
            <a:r>
              <a:rPr sz="2400" dirty="0">
                <a:latin typeface="Cambria Math"/>
                <a:cs typeface="Cambria Math"/>
              </a:rPr>
              <a:t>	+ 𝑫</a:t>
            </a:r>
            <a:r>
              <a:rPr sz="2400" spc="30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𝒊 + 𝟏</a:t>
            </a:r>
            <a:r>
              <a:rPr sz="2400" spc="305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,</a:t>
            </a:r>
            <a:endParaRPr sz="2400" dirty="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90337" y="2615692"/>
            <a:ext cx="2056130" cy="81534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2400">
                <a:latin typeface="Cambria Math"/>
                <a:cs typeface="Cambria Math"/>
              </a:rPr>
              <a:t>𝒊𝒇</a:t>
            </a:r>
            <a:r>
              <a:rPr sz="2400" spc="-10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𝑫[𝒊</a:t>
            </a:r>
            <a:r>
              <a:rPr sz="2400" spc="-10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+ 𝟏]</a:t>
            </a:r>
            <a:r>
              <a:rPr sz="2400" spc="125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&gt;</a:t>
            </a:r>
            <a:r>
              <a:rPr sz="2400" spc="135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𝟎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2400">
                <a:latin typeface="Cambria Math"/>
                <a:cs typeface="Cambria Math"/>
              </a:rPr>
              <a:t>𝒊𝒇</a:t>
            </a:r>
            <a:r>
              <a:rPr sz="2400" spc="-10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𝑫[𝒊</a:t>
            </a:r>
            <a:r>
              <a:rPr sz="2400" spc="-10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+ 𝟏]</a:t>
            </a:r>
            <a:r>
              <a:rPr sz="2400" spc="125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≤</a:t>
            </a:r>
            <a:r>
              <a:rPr sz="2400" spc="135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𝟎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805174" y="3128009"/>
            <a:ext cx="66675" cy="284480"/>
          </a:xfrm>
          <a:custGeom>
            <a:avLst/>
            <a:gdLst/>
            <a:ahLst/>
            <a:cxnLst/>
            <a:rect l="l" t="t" r="r" b="b"/>
            <a:pathLst>
              <a:path w="66675" h="28448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41783" y="11430"/>
                </a:lnTo>
                <a:lnTo>
                  <a:pt x="41783" y="273050"/>
                </a:lnTo>
                <a:lnTo>
                  <a:pt x="0" y="273050"/>
                </a:lnTo>
                <a:lnTo>
                  <a:pt x="0" y="284480"/>
                </a:lnTo>
                <a:lnTo>
                  <a:pt x="66421" y="284480"/>
                </a:lnTo>
                <a:lnTo>
                  <a:pt x="66421" y="27305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613277" y="3128009"/>
            <a:ext cx="66675" cy="284480"/>
          </a:xfrm>
          <a:custGeom>
            <a:avLst/>
            <a:gdLst/>
            <a:ahLst/>
            <a:cxnLst/>
            <a:rect l="l" t="t" r="r" b="b"/>
            <a:pathLst>
              <a:path w="66675" h="28448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3050"/>
                </a:lnTo>
                <a:lnTo>
                  <a:pt x="0" y="284480"/>
                </a:lnTo>
                <a:lnTo>
                  <a:pt x="66421" y="284480"/>
                </a:lnTo>
                <a:lnTo>
                  <a:pt x="66421" y="273050"/>
                </a:lnTo>
                <a:lnTo>
                  <a:pt x="24765" y="273050"/>
                </a:lnTo>
                <a:lnTo>
                  <a:pt x="24765" y="1143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355848" y="3039872"/>
            <a:ext cx="6254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>
                <a:latin typeface="Cambria Math"/>
                <a:cs typeface="Cambria Math"/>
              </a:rPr>
              <a:t>𝑿</a:t>
            </a:r>
            <a:r>
              <a:rPr sz="2400" spc="305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𝒊</a:t>
            </a:r>
            <a:r>
              <a:rPr sz="2400" spc="305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981341" y="5124551"/>
            <a:ext cx="7407275" cy="792480"/>
            <a:chOff x="981341" y="5124551"/>
            <a:chExt cx="7407275" cy="792480"/>
          </a:xfrm>
        </p:grpSpPr>
        <p:sp>
          <p:nvSpPr>
            <p:cNvPr id="16" name="object 16"/>
            <p:cNvSpPr/>
            <p:nvPr/>
          </p:nvSpPr>
          <p:spPr>
            <a:xfrm>
              <a:off x="981341" y="5124551"/>
              <a:ext cx="7407275" cy="792480"/>
            </a:xfrm>
            <a:custGeom>
              <a:avLst/>
              <a:gdLst/>
              <a:ahLst/>
              <a:cxnLst/>
              <a:rect l="l" t="t" r="r" b="b"/>
              <a:pathLst>
                <a:path w="7407275" h="792479">
                  <a:moveTo>
                    <a:pt x="7407275" y="0"/>
                  </a:moveTo>
                  <a:lnTo>
                    <a:pt x="0" y="0"/>
                  </a:lnTo>
                  <a:lnTo>
                    <a:pt x="0" y="792479"/>
                  </a:lnTo>
                  <a:lnTo>
                    <a:pt x="7407275" y="792479"/>
                  </a:lnTo>
                  <a:lnTo>
                    <a:pt x="740727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015869" y="5124576"/>
              <a:ext cx="2903855" cy="396240"/>
            </a:xfrm>
            <a:custGeom>
              <a:avLst/>
              <a:gdLst/>
              <a:ahLst/>
              <a:cxnLst/>
              <a:rect l="l" t="t" r="r" b="b"/>
              <a:pathLst>
                <a:path w="2903854" h="396239">
                  <a:moveTo>
                    <a:pt x="2903613" y="0"/>
                  </a:moveTo>
                  <a:lnTo>
                    <a:pt x="1780667" y="0"/>
                  </a:lnTo>
                  <a:lnTo>
                    <a:pt x="866267" y="0"/>
                  </a:lnTo>
                  <a:lnTo>
                    <a:pt x="0" y="0"/>
                  </a:lnTo>
                  <a:lnTo>
                    <a:pt x="0" y="396240"/>
                  </a:lnTo>
                  <a:lnTo>
                    <a:pt x="866267" y="396240"/>
                  </a:lnTo>
                  <a:lnTo>
                    <a:pt x="1780667" y="396240"/>
                  </a:lnTo>
                  <a:lnTo>
                    <a:pt x="2903613" y="396240"/>
                  </a:lnTo>
                  <a:lnTo>
                    <a:pt x="2903613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015869" y="5520791"/>
              <a:ext cx="2903855" cy="396240"/>
            </a:xfrm>
            <a:custGeom>
              <a:avLst/>
              <a:gdLst/>
              <a:ahLst/>
              <a:cxnLst/>
              <a:rect l="l" t="t" r="r" b="b"/>
              <a:pathLst>
                <a:path w="2903854" h="396239">
                  <a:moveTo>
                    <a:pt x="2903613" y="0"/>
                  </a:moveTo>
                  <a:lnTo>
                    <a:pt x="1780667" y="0"/>
                  </a:lnTo>
                  <a:lnTo>
                    <a:pt x="866267" y="0"/>
                  </a:lnTo>
                  <a:lnTo>
                    <a:pt x="0" y="0"/>
                  </a:lnTo>
                  <a:lnTo>
                    <a:pt x="0" y="396240"/>
                  </a:lnTo>
                  <a:lnTo>
                    <a:pt x="866267" y="396240"/>
                  </a:lnTo>
                  <a:lnTo>
                    <a:pt x="1780667" y="396240"/>
                  </a:lnTo>
                  <a:lnTo>
                    <a:pt x="2903613" y="396240"/>
                  </a:lnTo>
                  <a:lnTo>
                    <a:pt x="2903613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974991" y="5118227"/>
          <a:ext cx="7406636" cy="791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78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37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61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26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22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…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+1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…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𝒏</a:t>
                      </a:r>
                      <a:r>
                        <a:rPr sz="2000" spc="-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2000" spc="-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588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𝑫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20">
                          <a:latin typeface="Cambria Math"/>
                          <a:cs typeface="Cambria Math"/>
                        </a:rPr>
                        <a:t>𝑫[𝒊]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>
                          <a:latin typeface="Cambria Math"/>
                          <a:cs typeface="Cambria Math"/>
                        </a:rPr>
                        <a:t>𝑫[𝒊</a:t>
                      </a:r>
                      <a:r>
                        <a:rPr sz="2000" spc="-1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>
                          <a:latin typeface="Cambria Math"/>
                          <a:cs typeface="Cambria Math"/>
                        </a:rPr>
                        <a:t>+</a:t>
                      </a:r>
                      <a:r>
                        <a:rPr sz="2000" spc="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 spc="-35">
                          <a:latin typeface="Cambria Math"/>
                          <a:cs typeface="Cambria Math"/>
                        </a:rPr>
                        <a:t>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20">
                          <a:latin typeface="Cambria Math"/>
                          <a:cs typeface="Cambria Math"/>
                        </a:rPr>
                        <a:t>𝑿[𝒏]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" name="object 20"/>
          <p:cNvSpPr txBox="1"/>
          <p:nvPr/>
        </p:nvSpPr>
        <p:spPr>
          <a:xfrm>
            <a:off x="872236" y="3578605"/>
            <a:ext cx="68580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30">
                <a:latin typeface="PMingLiU"/>
                <a:cs typeface="PMingLiU"/>
              </a:rPr>
              <a:t>已知</a:t>
            </a:r>
            <a:endParaRPr sz="2600">
              <a:latin typeface="PMingLiU"/>
              <a:cs typeface="PMingLiU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9116948" y="1018413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9"/>
                </a:lnTo>
                <a:lnTo>
                  <a:pt x="0" y="876426"/>
                </a:lnTo>
                <a:lnTo>
                  <a:pt x="7647" y="914364"/>
                </a:lnTo>
                <a:lnTo>
                  <a:pt x="28511" y="945324"/>
                </a:lnTo>
                <a:lnTo>
                  <a:pt x="59471" y="966188"/>
                </a:lnTo>
                <a:lnTo>
                  <a:pt x="97408" y="973836"/>
                </a:lnTo>
                <a:lnTo>
                  <a:pt x="1758823" y="973836"/>
                </a:lnTo>
                <a:lnTo>
                  <a:pt x="1796760" y="966188"/>
                </a:lnTo>
                <a:lnTo>
                  <a:pt x="1827720" y="945324"/>
                </a:lnTo>
                <a:lnTo>
                  <a:pt x="1848584" y="914364"/>
                </a:lnTo>
                <a:lnTo>
                  <a:pt x="1856231" y="876426"/>
                </a:lnTo>
                <a:lnTo>
                  <a:pt x="1856231" y="97409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9346438" y="1314449"/>
            <a:ext cx="13970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>
                <a:solidFill>
                  <a:srgbClr val="FFFFFF"/>
                </a:solidFill>
                <a:latin typeface="PMingLiU"/>
                <a:cs typeface="PMingLiU"/>
              </a:rPr>
              <a:t>问题结构分析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9825228" y="2052827"/>
            <a:ext cx="439420" cy="367030"/>
          </a:xfrm>
          <a:custGeom>
            <a:avLst/>
            <a:gdLst/>
            <a:ahLst/>
            <a:cxnLst/>
            <a:rect l="l" t="t" r="r" b="b"/>
            <a:pathLst>
              <a:path w="439420" h="367030">
                <a:moveTo>
                  <a:pt x="351154" y="0"/>
                </a:moveTo>
                <a:lnTo>
                  <a:pt x="87756" y="0"/>
                </a:lnTo>
                <a:lnTo>
                  <a:pt x="87756" y="183261"/>
                </a:lnTo>
                <a:lnTo>
                  <a:pt x="0" y="183261"/>
                </a:lnTo>
                <a:lnTo>
                  <a:pt x="219455" y="366522"/>
                </a:lnTo>
                <a:lnTo>
                  <a:pt x="438912" y="183261"/>
                </a:lnTo>
                <a:lnTo>
                  <a:pt x="351154" y="183261"/>
                </a:lnTo>
                <a:lnTo>
                  <a:pt x="35115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9116948" y="2480691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9"/>
                </a:lnTo>
                <a:lnTo>
                  <a:pt x="0" y="876426"/>
                </a:lnTo>
                <a:lnTo>
                  <a:pt x="7647" y="914364"/>
                </a:lnTo>
                <a:lnTo>
                  <a:pt x="28511" y="945324"/>
                </a:lnTo>
                <a:lnTo>
                  <a:pt x="59471" y="966188"/>
                </a:lnTo>
                <a:lnTo>
                  <a:pt x="97408" y="973836"/>
                </a:lnTo>
                <a:lnTo>
                  <a:pt x="1758823" y="973836"/>
                </a:lnTo>
                <a:lnTo>
                  <a:pt x="1796760" y="966188"/>
                </a:lnTo>
                <a:lnTo>
                  <a:pt x="1827720" y="945324"/>
                </a:lnTo>
                <a:lnTo>
                  <a:pt x="1848584" y="914364"/>
                </a:lnTo>
                <a:lnTo>
                  <a:pt x="1856231" y="876426"/>
                </a:lnTo>
                <a:lnTo>
                  <a:pt x="1856231" y="97409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9346438" y="2776982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>
                <a:solidFill>
                  <a:srgbClr val="FFFFFF"/>
                </a:solidFill>
                <a:latin typeface="PMingLiU"/>
                <a:cs typeface="PMingLiU"/>
              </a:rPr>
              <a:t>递推关系建立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9825228" y="3515105"/>
            <a:ext cx="439420" cy="365125"/>
          </a:xfrm>
          <a:custGeom>
            <a:avLst/>
            <a:gdLst/>
            <a:ahLst/>
            <a:cxnLst/>
            <a:rect l="l" t="t" r="r" b="b"/>
            <a:pathLst>
              <a:path w="439420" h="365125">
                <a:moveTo>
                  <a:pt x="351154" y="0"/>
                </a:moveTo>
                <a:lnTo>
                  <a:pt x="87756" y="0"/>
                </a:lnTo>
                <a:lnTo>
                  <a:pt x="87756" y="182499"/>
                </a:lnTo>
                <a:lnTo>
                  <a:pt x="0" y="182499"/>
                </a:lnTo>
                <a:lnTo>
                  <a:pt x="219455" y="364998"/>
                </a:lnTo>
                <a:lnTo>
                  <a:pt x="438912" y="182499"/>
                </a:lnTo>
                <a:lnTo>
                  <a:pt x="351154" y="182499"/>
                </a:lnTo>
                <a:lnTo>
                  <a:pt x="35115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9116948" y="3941445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8"/>
                </a:lnTo>
                <a:lnTo>
                  <a:pt x="0" y="876426"/>
                </a:lnTo>
                <a:lnTo>
                  <a:pt x="7647" y="914364"/>
                </a:lnTo>
                <a:lnTo>
                  <a:pt x="28511" y="945324"/>
                </a:lnTo>
                <a:lnTo>
                  <a:pt x="59471" y="966188"/>
                </a:lnTo>
                <a:lnTo>
                  <a:pt x="97408" y="973835"/>
                </a:lnTo>
                <a:lnTo>
                  <a:pt x="1758823" y="973835"/>
                </a:lnTo>
                <a:lnTo>
                  <a:pt x="1796760" y="966188"/>
                </a:lnTo>
                <a:lnTo>
                  <a:pt x="1827720" y="945324"/>
                </a:lnTo>
                <a:lnTo>
                  <a:pt x="1848584" y="914364"/>
                </a:lnTo>
                <a:lnTo>
                  <a:pt x="1856231" y="876426"/>
                </a:lnTo>
                <a:lnTo>
                  <a:pt x="1856231" y="97408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83C8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9346438" y="4237735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>
                <a:solidFill>
                  <a:srgbClr val="FFFFFF"/>
                </a:solidFill>
                <a:latin typeface="PMingLiU"/>
                <a:cs typeface="PMingLiU"/>
              </a:rPr>
              <a:t>自底向上计算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9825228" y="4975859"/>
            <a:ext cx="439420" cy="365125"/>
          </a:xfrm>
          <a:custGeom>
            <a:avLst/>
            <a:gdLst/>
            <a:ahLst/>
            <a:cxnLst/>
            <a:rect l="l" t="t" r="r" b="b"/>
            <a:pathLst>
              <a:path w="439420" h="365125">
                <a:moveTo>
                  <a:pt x="351154" y="0"/>
                </a:moveTo>
                <a:lnTo>
                  <a:pt x="87756" y="0"/>
                </a:lnTo>
                <a:lnTo>
                  <a:pt x="87756" y="182498"/>
                </a:lnTo>
                <a:lnTo>
                  <a:pt x="0" y="182498"/>
                </a:lnTo>
                <a:lnTo>
                  <a:pt x="219455" y="364997"/>
                </a:lnTo>
                <a:lnTo>
                  <a:pt x="438912" y="182498"/>
                </a:lnTo>
                <a:lnTo>
                  <a:pt x="351154" y="182498"/>
                </a:lnTo>
                <a:lnTo>
                  <a:pt x="35115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9116948" y="5402198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9"/>
                </a:lnTo>
                <a:lnTo>
                  <a:pt x="0" y="876452"/>
                </a:lnTo>
                <a:lnTo>
                  <a:pt x="7647" y="914358"/>
                </a:lnTo>
                <a:lnTo>
                  <a:pt x="28511" y="945313"/>
                </a:lnTo>
                <a:lnTo>
                  <a:pt x="59471" y="966183"/>
                </a:lnTo>
                <a:lnTo>
                  <a:pt x="97408" y="973835"/>
                </a:lnTo>
                <a:lnTo>
                  <a:pt x="1758823" y="973835"/>
                </a:lnTo>
                <a:lnTo>
                  <a:pt x="1796760" y="966183"/>
                </a:lnTo>
                <a:lnTo>
                  <a:pt x="1827720" y="945313"/>
                </a:lnTo>
                <a:lnTo>
                  <a:pt x="1848584" y="914358"/>
                </a:lnTo>
                <a:lnTo>
                  <a:pt x="1856231" y="876452"/>
                </a:lnTo>
                <a:lnTo>
                  <a:pt x="1856231" y="97409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9346438" y="5698744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>
                <a:solidFill>
                  <a:srgbClr val="FFFFFF"/>
                </a:solidFill>
                <a:latin typeface="PMingLiU"/>
                <a:cs typeface="PMingLiU"/>
              </a:rPr>
              <a:t>最优方案追踪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3823715" y="5480303"/>
            <a:ext cx="1026794" cy="406400"/>
          </a:xfrm>
          <a:custGeom>
            <a:avLst/>
            <a:gdLst/>
            <a:ahLst/>
            <a:cxnLst/>
            <a:rect l="l" t="t" r="r" b="b"/>
            <a:pathLst>
              <a:path w="1026794" h="406400">
                <a:moveTo>
                  <a:pt x="0" y="67691"/>
                </a:moveTo>
                <a:lnTo>
                  <a:pt x="5326" y="41362"/>
                </a:lnTo>
                <a:lnTo>
                  <a:pt x="19843" y="19843"/>
                </a:lnTo>
                <a:lnTo>
                  <a:pt x="41362" y="5326"/>
                </a:lnTo>
                <a:lnTo>
                  <a:pt x="67691" y="0"/>
                </a:lnTo>
                <a:lnTo>
                  <a:pt x="958723" y="0"/>
                </a:lnTo>
                <a:lnTo>
                  <a:pt x="985051" y="5326"/>
                </a:lnTo>
                <a:lnTo>
                  <a:pt x="1006570" y="19843"/>
                </a:lnTo>
                <a:lnTo>
                  <a:pt x="1021087" y="41362"/>
                </a:lnTo>
                <a:lnTo>
                  <a:pt x="1026413" y="67691"/>
                </a:lnTo>
                <a:lnTo>
                  <a:pt x="1026413" y="338455"/>
                </a:lnTo>
                <a:lnTo>
                  <a:pt x="1021087" y="364805"/>
                </a:lnTo>
                <a:lnTo>
                  <a:pt x="1006570" y="386321"/>
                </a:lnTo>
                <a:lnTo>
                  <a:pt x="985051" y="400827"/>
                </a:lnTo>
                <a:lnTo>
                  <a:pt x="958723" y="406146"/>
                </a:lnTo>
                <a:lnTo>
                  <a:pt x="67691" y="406146"/>
                </a:lnTo>
                <a:lnTo>
                  <a:pt x="41362" y="400827"/>
                </a:lnTo>
                <a:lnTo>
                  <a:pt x="19843" y="386321"/>
                </a:lnTo>
                <a:lnTo>
                  <a:pt x="5326" y="364805"/>
                </a:lnTo>
                <a:lnTo>
                  <a:pt x="0" y="338455"/>
                </a:lnTo>
                <a:lnTo>
                  <a:pt x="0" y="67691"/>
                </a:lnTo>
                <a:close/>
              </a:path>
            </a:pathLst>
          </a:custGeom>
          <a:ln w="4445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4" name="object 34"/>
          <p:cNvGraphicFramePr>
            <a:graphicFrameLocks noGrp="1"/>
          </p:cNvGraphicFramePr>
          <p:nvPr/>
        </p:nvGraphicFramePr>
        <p:xfrm>
          <a:off x="974991" y="4066285"/>
          <a:ext cx="7406636" cy="791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78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37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61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26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22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…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+1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…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𝒏</a:t>
                      </a:r>
                      <a:r>
                        <a:rPr sz="2000" spc="-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2000" spc="-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588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𝑿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937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20">
                          <a:latin typeface="Cambria Math"/>
                          <a:cs typeface="Cambria Math"/>
                        </a:rPr>
                        <a:t>𝑿[𝟏]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5244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20">
                          <a:latin typeface="Cambria Math"/>
                          <a:cs typeface="Cambria Math"/>
                        </a:rPr>
                        <a:t>𝑿[𝟐]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461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20">
                          <a:latin typeface="Cambria Math"/>
                          <a:cs typeface="Cambria Math"/>
                        </a:rPr>
                        <a:t>𝑿[𝒊]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461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20">
                          <a:latin typeface="Cambria Math"/>
                          <a:cs typeface="Cambria Math"/>
                        </a:rPr>
                        <a:t>𝑿[𝒏]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7" name="左大括号 36">
            <a:extLst>
              <a:ext uri="{FF2B5EF4-FFF2-40B4-BE49-F238E27FC236}">
                <a16:creationId xmlns:a16="http://schemas.microsoft.com/office/drawing/2014/main" id="{1696083B-96F1-044A-BC16-E19A92562382}"/>
              </a:ext>
            </a:extLst>
          </p:cNvPr>
          <p:cNvSpPr/>
          <p:nvPr/>
        </p:nvSpPr>
        <p:spPr>
          <a:xfrm>
            <a:off x="2421956" y="2659317"/>
            <a:ext cx="157859" cy="813436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object 2">
            <a:extLst>
              <a:ext uri="{FF2B5EF4-FFF2-40B4-BE49-F238E27FC236}">
                <a16:creationId xmlns:a16="http://schemas.microsoft.com/office/drawing/2014/main" id="{DAA9DB4D-838D-7640-91F1-558E5E1D68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23949" y="171990"/>
            <a:ext cx="7573011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自底向上计算：确定计算顺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序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14550" y="1612899"/>
            <a:ext cx="66675" cy="284480"/>
          </a:xfrm>
          <a:custGeom>
            <a:avLst/>
            <a:gdLst/>
            <a:ahLst/>
            <a:cxnLst/>
            <a:rect l="l" t="t" r="r" b="b"/>
            <a:pathLst>
              <a:path w="66675" h="28448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41783" y="11430"/>
                </a:lnTo>
                <a:lnTo>
                  <a:pt x="41783" y="273050"/>
                </a:lnTo>
                <a:lnTo>
                  <a:pt x="0" y="273050"/>
                </a:lnTo>
                <a:lnTo>
                  <a:pt x="0" y="284480"/>
                </a:lnTo>
                <a:lnTo>
                  <a:pt x="66421" y="284480"/>
                </a:lnTo>
                <a:lnTo>
                  <a:pt x="66421" y="27305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838071" y="1612899"/>
            <a:ext cx="66675" cy="284480"/>
          </a:xfrm>
          <a:custGeom>
            <a:avLst/>
            <a:gdLst/>
            <a:ahLst/>
            <a:cxnLst/>
            <a:rect l="l" t="t" r="r" b="b"/>
            <a:pathLst>
              <a:path w="66675" h="28448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3050"/>
                </a:lnTo>
                <a:lnTo>
                  <a:pt x="0" y="284480"/>
                </a:lnTo>
                <a:lnTo>
                  <a:pt x="66421" y="284480"/>
                </a:lnTo>
                <a:lnTo>
                  <a:pt x="66421" y="273050"/>
                </a:lnTo>
                <a:lnTo>
                  <a:pt x="24765" y="273050"/>
                </a:lnTo>
                <a:lnTo>
                  <a:pt x="24765" y="1143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69620" y="928025"/>
            <a:ext cx="2475865" cy="149479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19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20">
                <a:latin typeface="PMingLiU"/>
                <a:cs typeface="PMingLiU"/>
              </a:rPr>
              <a:t>初始化</a:t>
            </a:r>
            <a:endParaRPr sz="2800">
              <a:latin typeface="PMingLiU"/>
              <a:cs typeface="PMingLiU"/>
            </a:endParaRPr>
          </a:p>
          <a:p>
            <a:pPr marL="805815" lvl="1" indent="-449580">
              <a:lnSpc>
                <a:spcPct val="100000"/>
              </a:lnSpc>
              <a:spcBef>
                <a:spcPts val="61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805815" algn="l"/>
                <a:tab pos="806450" algn="l"/>
                <a:tab pos="1529080" algn="l"/>
              </a:tabLst>
            </a:pPr>
            <a:r>
              <a:rPr sz="2400">
                <a:latin typeface="Cambria Math"/>
                <a:cs typeface="Cambria Math"/>
              </a:rPr>
              <a:t>𝑫</a:t>
            </a:r>
            <a:r>
              <a:rPr sz="2400" spc="305">
                <a:latin typeface="Cambria Math"/>
                <a:cs typeface="Cambria Math"/>
              </a:rPr>
              <a:t> </a:t>
            </a:r>
            <a:r>
              <a:rPr sz="2400" spc="-60">
                <a:latin typeface="Cambria Math"/>
                <a:cs typeface="Cambria Math"/>
              </a:rPr>
              <a:t>𝒏</a:t>
            </a:r>
            <a:r>
              <a:rPr sz="2400">
                <a:latin typeface="Cambria Math"/>
                <a:cs typeface="Cambria Math"/>
              </a:rPr>
              <a:t>	=</a:t>
            </a:r>
            <a:r>
              <a:rPr sz="2400" spc="120">
                <a:latin typeface="Cambria Math"/>
                <a:cs typeface="Cambria Math"/>
              </a:rPr>
              <a:t> </a:t>
            </a:r>
            <a:r>
              <a:rPr sz="2400" spc="-20">
                <a:latin typeface="Cambria Math"/>
                <a:cs typeface="Cambria Math"/>
              </a:rPr>
              <a:t>𝑿[𝒏]</a:t>
            </a:r>
            <a:endParaRPr sz="2400">
              <a:latin typeface="Cambria Math"/>
              <a:cs typeface="Cambria Math"/>
            </a:endParaRPr>
          </a:p>
          <a:p>
            <a:pPr marL="355600" indent="-342900">
              <a:lnSpc>
                <a:spcPct val="100000"/>
              </a:lnSpc>
              <a:spcBef>
                <a:spcPts val="63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5">
                <a:latin typeface="PMingLiU"/>
                <a:cs typeface="PMingLiU"/>
              </a:rPr>
              <a:t>递推公式</a:t>
            </a:r>
            <a:endParaRPr sz="2800">
              <a:latin typeface="PMingLiU"/>
              <a:cs typeface="PMingLiU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14043" y="2808732"/>
            <a:ext cx="1576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1009" indent="-448945">
              <a:lnSpc>
                <a:spcPct val="100000"/>
              </a:lnSpc>
              <a:spcBef>
                <a:spcPts val="10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461009" algn="l"/>
                <a:tab pos="461645" algn="l"/>
              </a:tabLst>
            </a:pPr>
            <a:r>
              <a:rPr sz="2400" dirty="0">
                <a:latin typeface="Cambria Math"/>
                <a:cs typeface="Cambria Math"/>
              </a:rPr>
              <a:t>𝑫[𝒊]</a:t>
            </a:r>
            <a:r>
              <a:rPr sz="2400" spc="114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</a:p>
        </p:txBody>
      </p:sp>
      <p:sp>
        <p:nvSpPr>
          <p:cNvPr id="6" name="object 6"/>
          <p:cNvSpPr/>
          <p:nvPr/>
        </p:nvSpPr>
        <p:spPr>
          <a:xfrm>
            <a:off x="3114294" y="2693669"/>
            <a:ext cx="66675" cy="283210"/>
          </a:xfrm>
          <a:custGeom>
            <a:avLst/>
            <a:gdLst/>
            <a:ahLst/>
            <a:cxnLst/>
            <a:rect l="l" t="t" r="r" b="b"/>
            <a:pathLst>
              <a:path w="66675" h="28321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41783" y="11430"/>
                </a:lnTo>
                <a:lnTo>
                  <a:pt x="41783" y="271780"/>
                </a:lnTo>
                <a:lnTo>
                  <a:pt x="0" y="271780"/>
                </a:lnTo>
                <a:lnTo>
                  <a:pt x="0" y="283210"/>
                </a:lnTo>
                <a:lnTo>
                  <a:pt x="66421" y="283210"/>
                </a:lnTo>
                <a:lnTo>
                  <a:pt x="66421" y="27178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22397" y="2693669"/>
            <a:ext cx="66675" cy="283210"/>
          </a:xfrm>
          <a:custGeom>
            <a:avLst/>
            <a:gdLst/>
            <a:ahLst/>
            <a:cxnLst/>
            <a:rect l="l" t="t" r="r" b="b"/>
            <a:pathLst>
              <a:path w="66675" h="28321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1780"/>
                </a:lnTo>
                <a:lnTo>
                  <a:pt x="0" y="283210"/>
                </a:lnTo>
                <a:lnTo>
                  <a:pt x="66421" y="283210"/>
                </a:lnTo>
                <a:lnTo>
                  <a:pt x="66421" y="271780"/>
                </a:lnTo>
                <a:lnTo>
                  <a:pt x="24765" y="271780"/>
                </a:lnTo>
                <a:lnTo>
                  <a:pt x="24765" y="1143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576572" y="2693669"/>
            <a:ext cx="66675" cy="283210"/>
          </a:xfrm>
          <a:custGeom>
            <a:avLst/>
            <a:gdLst/>
            <a:ahLst/>
            <a:cxnLst/>
            <a:rect l="l" t="t" r="r" b="b"/>
            <a:pathLst>
              <a:path w="66675" h="28321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41783" y="11430"/>
                </a:lnTo>
                <a:lnTo>
                  <a:pt x="41783" y="271780"/>
                </a:lnTo>
                <a:lnTo>
                  <a:pt x="0" y="271780"/>
                </a:lnTo>
                <a:lnTo>
                  <a:pt x="0" y="283210"/>
                </a:lnTo>
                <a:lnTo>
                  <a:pt x="66421" y="283210"/>
                </a:lnTo>
                <a:lnTo>
                  <a:pt x="66421" y="27178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839845" y="2693669"/>
            <a:ext cx="66675" cy="283210"/>
          </a:xfrm>
          <a:custGeom>
            <a:avLst/>
            <a:gdLst/>
            <a:ahLst/>
            <a:cxnLst/>
            <a:rect l="l" t="t" r="r" b="b"/>
            <a:pathLst>
              <a:path w="66675" h="28321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1780"/>
                </a:lnTo>
                <a:lnTo>
                  <a:pt x="0" y="283210"/>
                </a:lnTo>
                <a:lnTo>
                  <a:pt x="66421" y="283210"/>
                </a:lnTo>
                <a:lnTo>
                  <a:pt x="66421" y="271780"/>
                </a:lnTo>
                <a:lnTo>
                  <a:pt x="24765" y="271780"/>
                </a:lnTo>
                <a:lnTo>
                  <a:pt x="24765" y="1143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664968" y="2604262"/>
            <a:ext cx="20878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17220" algn="l"/>
              </a:tabLst>
            </a:pPr>
            <a:r>
              <a:rPr sz="2400">
                <a:latin typeface="Cambria Math"/>
                <a:cs typeface="Cambria Math"/>
              </a:rPr>
              <a:t>𝑿</a:t>
            </a:r>
            <a:r>
              <a:rPr sz="2400" spc="305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𝒊</a:t>
            </a:r>
            <a:r>
              <a:rPr sz="2400">
                <a:latin typeface="Cambria Math"/>
                <a:cs typeface="Cambria Math"/>
              </a:rPr>
              <a:t>	+ 𝑫</a:t>
            </a:r>
            <a:r>
              <a:rPr sz="2400" spc="305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𝒊 + 𝟏</a:t>
            </a:r>
            <a:r>
              <a:rPr sz="2400" spc="305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30977" y="2575052"/>
            <a:ext cx="2056130" cy="81534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2400">
                <a:latin typeface="Cambria Math"/>
                <a:cs typeface="Cambria Math"/>
              </a:rPr>
              <a:t>𝒊𝒇</a:t>
            </a:r>
            <a:r>
              <a:rPr sz="2400" spc="-10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𝑫[𝒊</a:t>
            </a:r>
            <a:r>
              <a:rPr sz="2400" spc="-10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+ 𝟏]</a:t>
            </a:r>
            <a:r>
              <a:rPr sz="2400" spc="125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&gt;</a:t>
            </a:r>
            <a:r>
              <a:rPr sz="2400" spc="135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𝟎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2400">
                <a:latin typeface="Cambria Math"/>
                <a:cs typeface="Cambria Math"/>
              </a:rPr>
              <a:t>𝒊𝒇</a:t>
            </a:r>
            <a:r>
              <a:rPr sz="2400" spc="-10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𝑫[𝒊</a:t>
            </a:r>
            <a:r>
              <a:rPr sz="2400" spc="-10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+ 𝟏]</a:t>
            </a:r>
            <a:r>
              <a:rPr sz="2400" spc="125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≤</a:t>
            </a:r>
            <a:r>
              <a:rPr sz="2400" spc="135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𝟎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845814" y="3087369"/>
            <a:ext cx="66675" cy="284480"/>
          </a:xfrm>
          <a:custGeom>
            <a:avLst/>
            <a:gdLst/>
            <a:ahLst/>
            <a:cxnLst/>
            <a:rect l="l" t="t" r="r" b="b"/>
            <a:pathLst>
              <a:path w="66675" h="28448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41783" y="11430"/>
                </a:lnTo>
                <a:lnTo>
                  <a:pt x="41783" y="273050"/>
                </a:lnTo>
                <a:lnTo>
                  <a:pt x="0" y="273050"/>
                </a:lnTo>
                <a:lnTo>
                  <a:pt x="0" y="284480"/>
                </a:lnTo>
                <a:lnTo>
                  <a:pt x="66421" y="284480"/>
                </a:lnTo>
                <a:lnTo>
                  <a:pt x="66421" y="27305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653917" y="3087369"/>
            <a:ext cx="66675" cy="284480"/>
          </a:xfrm>
          <a:custGeom>
            <a:avLst/>
            <a:gdLst/>
            <a:ahLst/>
            <a:cxnLst/>
            <a:rect l="l" t="t" r="r" b="b"/>
            <a:pathLst>
              <a:path w="66675" h="28448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3050"/>
                </a:lnTo>
                <a:lnTo>
                  <a:pt x="0" y="284480"/>
                </a:lnTo>
                <a:lnTo>
                  <a:pt x="66421" y="284480"/>
                </a:lnTo>
                <a:lnTo>
                  <a:pt x="66421" y="273050"/>
                </a:lnTo>
                <a:lnTo>
                  <a:pt x="24765" y="273050"/>
                </a:lnTo>
                <a:lnTo>
                  <a:pt x="24765" y="1143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396488" y="2999232"/>
            <a:ext cx="6254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>
                <a:latin typeface="Cambria Math"/>
                <a:cs typeface="Cambria Math"/>
              </a:rPr>
              <a:t>𝑿</a:t>
            </a:r>
            <a:r>
              <a:rPr sz="2400" spc="305">
                <a:latin typeface="Cambria Math"/>
                <a:cs typeface="Cambria Math"/>
              </a:rPr>
              <a:t> </a:t>
            </a:r>
            <a:r>
              <a:rPr sz="2400">
                <a:latin typeface="Cambria Math"/>
                <a:cs typeface="Cambria Math"/>
              </a:rPr>
              <a:t>𝒊</a:t>
            </a:r>
            <a:r>
              <a:rPr sz="2400" spc="305">
                <a:latin typeface="Cambria Math"/>
                <a:cs typeface="Cambria Math"/>
              </a:rPr>
              <a:t> </a:t>
            </a:r>
            <a:r>
              <a:rPr sz="2400" spc="-50"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981341" y="5124551"/>
            <a:ext cx="7407275" cy="792480"/>
            <a:chOff x="981341" y="5124551"/>
            <a:chExt cx="7407275" cy="792480"/>
          </a:xfrm>
        </p:grpSpPr>
        <p:sp>
          <p:nvSpPr>
            <p:cNvPr id="16" name="object 16"/>
            <p:cNvSpPr/>
            <p:nvPr/>
          </p:nvSpPr>
          <p:spPr>
            <a:xfrm>
              <a:off x="981341" y="5124551"/>
              <a:ext cx="7407275" cy="792480"/>
            </a:xfrm>
            <a:custGeom>
              <a:avLst/>
              <a:gdLst/>
              <a:ahLst/>
              <a:cxnLst/>
              <a:rect l="l" t="t" r="r" b="b"/>
              <a:pathLst>
                <a:path w="7407275" h="792479">
                  <a:moveTo>
                    <a:pt x="7407275" y="0"/>
                  </a:moveTo>
                  <a:lnTo>
                    <a:pt x="0" y="0"/>
                  </a:lnTo>
                  <a:lnTo>
                    <a:pt x="0" y="792479"/>
                  </a:lnTo>
                  <a:lnTo>
                    <a:pt x="7407275" y="792479"/>
                  </a:lnTo>
                  <a:lnTo>
                    <a:pt x="740727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804416" y="5520791"/>
              <a:ext cx="5761355" cy="396240"/>
            </a:xfrm>
            <a:custGeom>
              <a:avLst/>
              <a:gdLst/>
              <a:ahLst/>
              <a:cxnLst/>
              <a:rect l="l" t="t" r="r" b="b"/>
              <a:pathLst>
                <a:path w="5761355" h="396239">
                  <a:moveTo>
                    <a:pt x="4938090" y="0"/>
                  </a:moveTo>
                  <a:lnTo>
                    <a:pt x="4938090" y="0"/>
                  </a:lnTo>
                  <a:lnTo>
                    <a:pt x="0" y="0"/>
                  </a:lnTo>
                  <a:lnTo>
                    <a:pt x="0" y="396240"/>
                  </a:lnTo>
                  <a:lnTo>
                    <a:pt x="4938090" y="396240"/>
                  </a:lnTo>
                  <a:lnTo>
                    <a:pt x="4938090" y="0"/>
                  </a:lnTo>
                  <a:close/>
                </a:path>
                <a:path w="5761355" h="396239">
                  <a:moveTo>
                    <a:pt x="5761177" y="0"/>
                  </a:moveTo>
                  <a:lnTo>
                    <a:pt x="4938141" y="0"/>
                  </a:lnTo>
                  <a:lnTo>
                    <a:pt x="4938141" y="396240"/>
                  </a:lnTo>
                  <a:lnTo>
                    <a:pt x="5761177" y="396240"/>
                  </a:lnTo>
                  <a:lnTo>
                    <a:pt x="5761177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974991" y="5118227"/>
          <a:ext cx="7406636" cy="791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78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37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61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26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22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…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+1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…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𝒏</a:t>
                      </a:r>
                      <a:r>
                        <a:rPr sz="2000" spc="-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2000" spc="-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588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𝑫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20">
                          <a:latin typeface="Cambria Math"/>
                          <a:cs typeface="Cambria Math"/>
                        </a:rPr>
                        <a:t>𝑿[𝒏]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974991" y="4066285"/>
          <a:ext cx="7406636" cy="791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78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37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61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26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22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…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+1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…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𝒏</a:t>
                      </a:r>
                      <a:r>
                        <a:rPr sz="2000" spc="-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2000" spc="-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588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𝑿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937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20">
                          <a:latin typeface="Cambria Math"/>
                          <a:cs typeface="Cambria Math"/>
                        </a:rPr>
                        <a:t>𝑿[𝟏]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5244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20">
                          <a:latin typeface="Cambria Math"/>
                          <a:cs typeface="Cambria Math"/>
                        </a:rPr>
                        <a:t>𝑿[𝟐]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461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20">
                          <a:latin typeface="Cambria Math"/>
                          <a:cs typeface="Cambria Math"/>
                        </a:rPr>
                        <a:t>𝑿[𝒊]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461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20">
                          <a:latin typeface="Cambria Math"/>
                          <a:cs typeface="Cambria Math"/>
                        </a:rPr>
                        <a:t>𝑿[𝒏]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" name="object 20"/>
          <p:cNvSpPr txBox="1"/>
          <p:nvPr/>
        </p:nvSpPr>
        <p:spPr>
          <a:xfrm>
            <a:off x="872236" y="3578605"/>
            <a:ext cx="68580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30">
                <a:latin typeface="PMingLiU"/>
                <a:cs typeface="PMingLiU"/>
              </a:rPr>
              <a:t>已知</a:t>
            </a:r>
            <a:endParaRPr sz="2600">
              <a:latin typeface="PMingLiU"/>
              <a:cs typeface="PMingLiU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1215136" y="215765"/>
            <a:ext cx="8192771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自底向上计算：依次求解问</a:t>
            </a:r>
            <a:r>
              <a:rPr sz="3600"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题</a:t>
            </a:r>
            <a:endParaRPr sz="36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9116948" y="1018413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9"/>
                </a:lnTo>
                <a:lnTo>
                  <a:pt x="0" y="876426"/>
                </a:lnTo>
                <a:lnTo>
                  <a:pt x="7647" y="914364"/>
                </a:lnTo>
                <a:lnTo>
                  <a:pt x="28511" y="945324"/>
                </a:lnTo>
                <a:lnTo>
                  <a:pt x="59471" y="966188"/>
                </a:lnTo>
                <a:lnTo>
                  <a:pt x="97408" y="973836"/>
                </a:lnTo>
                <a:lnTo>
                  <a:pt x="1758823" y="973836"/>
                </a:lnTo>
                <a:lnTo>
                  <a:pt x="1796760" y="966188"/>
                </a:lnTo>
                <a:lnTo>
                  <a:pt x="1827720" y="945324"/>
                </a:lnTo>
                <a:lnTo>
                  <a:pt x="1848584" y="914364"/>
                </a:lnTo>
                <a:lnTo>
                  <a:pt x="1856231" y="876426"/>
                </a:lnTo>
                <a:lnTo>
                  <a:pt x="1856231" y="97409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9346438" y="1314449"/>
            <a:ext cx="13970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>
                <a:solidFill>
                  <a:srgbClr val="FFFFFF"/>
                </a:solidFill>
                <a:latin typeface="PMingLiU"/>
                <a:cs typeface="PMingLiU"/>
              </a:rPr>
              <a:t>问题结构分析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9825228" y="2052827"/>
            <a:ext cx="439420" cy="367030"/>
          </a:xfrm>
          <a:custGeom>
            <a:avLst/>
            <a:gdLst/>
            <a:ahLst/>
            <a:cxnLst/>
            <a:rect l="l" t="t" r="r" b="b"/>
            <a:pathLst>
              <a:path w="439420" h="367030">
                <a:moveTo>
                  <a:pt x="351154" y="0"/>
                </a:moveTo>
                <a:lnTo>
                  <a:pt x="87756" y="0"/>
                </a:lnTo>
                <a:lnTo>
                  <a:pt x="87756" y="183261"/>
                </a:lnTo>
                <a:lnTo>
                  <a:pt x="0" y="183261"/>
                </a:lnTo>
                <a:lnTo>
                  <a:pt x="219455" y="366522"/>
                </a:lnTo>
                <a:lnTo>
                  <a:pt x="438912" y="183261"/>
                </a:lnTo>
                <a:lnTo>
                  <a:pt x="351154" y="183261"/>
                </a:lnTo>
                <a:lnTo>
                  <a:pt x="35115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9116948" y="2480691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9"/>
                </a:lnTo>
                <a:lnTo>
                  <a:pt x="0" y="876426"/>
                </a:lnTo>
                <a:lnTo>
                  <a:pt x="7647" y="914364"/>
                </a:lnTo>
                <a:lnTo>
                  <a:pt x="28511" y="945324"/>
                </a:lnTo>
                <a:lnTo>
                  <a:pt x="59471" y="966188"/>
                </a:lnTo>
                <a:lnTo>
                  <a:pt x="97408" y="973836"/>
                </a:lnTo>
                <a:lnTo>
                  <a:pt x="1758823" y="973836"/>
                </a:lnTo>
                <a:lnTo>
                  <a:pt x="1796760" y="966188"/>
                </a:lnTo>
                <a:lnTo>
                  <a:pt x="1827720" y="945324"/>
                </a:lnTo>
                <a:lnTo>
                  <a:pt x="1848584" y="914364"/>
                </a:lnTo>
                <a:lnTo>
                  <a:pt x="1856231" y="876426"/>
                </a:lnTo>
                <a:lnTo>
                  <a:pt x="1856231" y="97409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9346438" y="2776982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>
                <a:solidFill>
                  <a:srgbClr val="FFFFFF"/>
                </a:solidFill>
                <a:latin typeface="PMingLiU"/>
                <a:cs typeface="PMingLiU"/>
              </a:rPr>
              <a:t>递推关系建立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9825228" y="3515105"/>
            <a:ext cx="439420" cy="365125"/>
          </a:xfrm>
          <a:custGeom>
            <a:avLst/>
            <a:gdLst/>
            <a:ahLst/>
            <a:cxnLst/>
            <a:rect l="l" t="t" r="r" b="b"/>
            <a:pathLst>
              <a:path w="439420" h="365125">
                <a:moveTo>
                  <a:pt x="351154" y="0"/>
                </a:moveTo>
                <a:lnTo>
                  <a:pt x="87756" y="0"/>
                </a:lnTo>
                <a:lnTo>
                  <a:pt x="87756" y="182499"/>
                </a:lnTo>
                <a:lnTo>
                  <a:pt x="0" y="182499"/>
                </a:lnTo>
                <a:lnTo>
                  <a:pt x="219455" y="364998"/>
                </a:lnTo>
                <a:lnTo>
                  <a:pt x="438912" y="182499"/>
                </a:lnTo>
                <a:lnTo>
                  <a:pt x="351154" y="182499"/>
                </a:lnTo>
                <a:lnTo>
                  <a:pt x="35115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9116948" y="3941445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8"/>
                </a:lnTo>
                <a:lnTo>
                  <a:pt x="0" y="876426"/>
                </a:lnTo>
                <a:lnTo>
                  <a:pt x="7647" y="914364"/>
                </a:lnTo>
                <a:lnTo>
                  <a:pt x="28511" y="945324"/>
                </a:lnTo>
                <a:lnTo>
                  <a:pt x="59471" y="966188"/>
                </a:lnTo>
                <a:lnTo>
                  <a:pt x="97408" y="973835"/>
                </a:lnTo>
                <a:lnTo>
                  <a:pt x="1758823" y="973835"/>
                </a:lnTo>
                <a:lnTo>
                  <a:pt x="1796760" y="966188"/>
                </a:lnTo>
                <a:lnTo>
                  <a:pt x="1827720" y="945324"/>
                </a:lnTo>
                <a:lnTo>
                  <a:pt x="1848584" y="914364"/>
                </a:lnTo>
                <a:lnTo>
                  <a:pt x="1856231" y="876426"/>
                </a:lnTo>
                <a:lnTo>
                  <a:pt x="1856231" y="97408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83C8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9346438" y="4237735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>
                <a:solidFill>
                  <a:srgbClr val="FFFFFF"/>
                </a:solidFill>
                <a:latin typeface="PMingLiU"/>
                <a:cs typeface="PMingLiU"/>
              </a:rPr>
              <a:t>自底向上计算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9825228" y="4975859"/>
            <a:ext cx="439420" cy="365125"/>
          </a:xfrm>
          <a:custGeom>
            <a:avLst/>
            <a:gdLst/>
            <a:ahLst/>
            <a:cxnLst/>
            <a:rect l="l" t="t" r="r" b="b"/>
            <a:pathLst>
              <a:path w="439420" h="365125">
                <a:moveTo>
                  <a:pt x="351154" y="0"/>
                </a:moveTo>
                <a:lnTo>
                  <a:pt x="87756" y="0"/>
                </a:lnTo>
                <a:lnTo>
                  <a:pt x="87756" y="182498"/>
                </a:lnTo>
                <a:lnTo>
                  <a:pt x="0" y="182498"/>
                </a:lnTo>
                <a:lnTo>
                  <a:pt x="219455" y="364997"/>
                </a:lnTo>
                <a:lnTo>
                  <a:pt x="438912" y="182498"/>
                </a:lnTo>
                <a:lnTo>
                  <a:pt x="351154" y="182498"/>
                </a:lnTo>
                <a:lnTo>
                  <a:pt x="35115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9116948" y="5402198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9"/>
                </a:lnTo>
                <a:lnTo>
                  <a:pt x="0" y="876452"/>
                </a:lnTo>
                <a:lnTo>
                  <a:pt x="7647" y="914358"/>
                </a:lnTo>
                <a:lnTo>
                  <a:pt x="28511" y="945313"/>
                </a:lnTo>
                <a:lnTo>
                  <a:pt x="59471" y="966183"/>
                </a:lnTo>
                <a:lnTo>
                  <a:pt x="97408" y="973835"/>
                </a:lnTo>
                <a:lnTo>
                  <a:pt x="1758823" y="973835"/>
                </a:lnTo>
                <a:lnTo>
                  <a:pt x="1796760" y="966183"/>
                </a:lnTo>
                <a:lnTo>
                  <a:pt x="1827720" y="945313"/>
                </a:lnTo>
                <a:lnTo>
                  <a:pt x="1848584" y="914358"/>
                </a:lnTo>
                <a:lnTo>
                  <a:pt x="1856231" y="876452"/>
                </a:lnTo>
                <a:lnTo>
                  <a:pt x="1856231" y="97409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9346438" y="5698744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>
                <a:solidFill>
                  <a:srgbClr val="FFFFFF"/>
                </a:solidFill>
                <a:latin typeface="PMingLiU"/>
                <a:cs typeface="PMingLiU"/>
              </a:rPr>
              <a:t>最优方案追踪</a:t>
            </a:r>
            <a:endParaRPr sz="1800">
              <a:latin typeface="PMingLiU"/>
              <a:cs typeface="PMingLiU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1847850" y="5657850"/>
            <a:ext cx="5184775" cy="1050925"/>
            <a:chOff x="1847850" y="5657850"/>
            <a:chExt cx="5184775" cy="1050925"/>
          </a:xfrm>
        </p:grpSpPr>
        <p:sp>
          <p:nvSpPr>
            <p:cNvPr id="34" name="object 34"/>
            <p:cNvSpPr/>
            <p:nvPr/>
          </p:nvSpPr>
          <p:spPr>
            <a:xfrm>
              <a:off x="2129027" y="5657850"/>
              <a:ext cx="4903470" cy="114300"/>
            </a:xfrm>
            <a:custGeom>
              <a:avLst/>
              <a:gdLst/>
              <a:ahLst/>
              <a:cxnLst/>
              <a:rect l="l" t="t" r="r" b="b"/>
              <a:pathLst>
                <a:path w="4903470" h="114300">
                  <a:moveTo>
                    <a:pt x="114300" y="0"/>
                  </a:moveTo>
                  <a:lnTo>
                    <a:pt x="0" y="57150"/>
                  </a:lnTo>
                  <a:lnTo>
                    <a:pt x="114300" y="114300"/>
                  </a:lnTo>
                  <a:lnTo>
                    <a:pt x="114300" y="76200"/>
                  </a:lnTo>
                  <a:lnTo>
                    <a:pt x="95250" y="76200"/>
                  </a:lnTo>
                  <a:lnTo>
                    <a:pt x="95250" y="38100"/>
                  </a:lnTo>
                  <a:lnTo>
                    <a:pt x="114300" y="38100"/>
                  </a:lnTo>
                  <a:lnTo>
                    <a:pt x="114300" y="0"/>
                  </a:lnTo>
                  <a:close/>
                </a:path>
                <a:path w="4903470" h="114300">
                  <a:moveTo>
                    <a:pt x="114300" y="38100"/>
                  </a:moveTo>
                  <a:lnTo>
                    <a:pt x="95250" y="38100"/>
                  </a:lnTo>
                  <a:lnTo>
                    <a:pt x="95250" y="76200"/>
                  </a:lnTo>
                  <a:lnTo>
                    <a:pt x="114300" y="76200"/>
                  </a:lnTo>
                  <a:lnTo>
                    <a:pt x="114300" y="38100"/>
                  </a:lnTo>
                  <a:close/>
                </a:path>
                <a:path w="4903470" h="114300">
                  <a:moveTo>
                    <a:pt x="4903343" y="38100"/>
                  </a:moveTo>
                  <a:lnTo>
                    <a:pt x="114300" y="38100"/>
                  </a:lnTo>
                  <a:lnTo>
                    <a:pt x="114300" y="76200"/>
                  </a:lnTo>
                  <a:lnTo>
                    <a:pt x="4903343" y="76200"/>
                  </a:lnTo>
                  <a:lnTo>
                    <a:pt x="4903343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47850" y="5896457"/>
              <a:ext cx="2588895" cy="812800"/>
            </a:xfrm>
            <a:custGeom>
              <a:avLst/>
              <a:gdLst/>
              <a:ahLst/>
              <a:cxnLst/>
              <a:rect l="l" t="t" r="r" b="b"/>
              <a:pathLst>
                <a:path w="2588895" h="812800">
                  <a:moveTo>
                    <a:pt x="2588641" y="0"/>
                  </a:moveTo>
                  <a:lnTo>
                    <a:pt x="1476121" y="280314"/>
                  </a:lnTo>
                  <a:lnTo>
                    <a:pt x="0" y="280314"/>
                  </a:lnTo>
                  <a:lnTo>
                    <a:pt x="0" y="812190"/>
                  </a:lnTo>
                  <a:lnTo>
                    <a:pt x="2530602" y="812190"/>
                  </a:lnTo>
                  <a:lnTo>
                    <a:pt x="2530602" y="280314"/>
                  </a:lnTo>
                  <a:lnTo>
                    <a:pt x="2108835" y="280314"/>
                  </a:lnTo>
                  <a:lnTo>
                    <a:pt x="2588641" y="0"/>
                  </a:lnTo>
                  <a:close/>
                </a:path>
              </a:pathLst>
            </a:custGeom>
            <a:solidFill>
              <a:srgbClr val="083C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2185923" y="6209538"/>
            <a:ext cx="1854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>
                <a:solidFill>
                  <a:srgbClr val="FFFFFF"/>
                </a:solidFill>
                <a:latin typeface="PMingLiU"/>
                <a:cs typeface="PMingLiU"/>
              </a:rPr>
              <a:t>自底向上计算</a:t>
            </a:r>
            <a:endParaRPr sz="2400">
              <a:latin typeface="PMingLiU"/>
              <a:cs typeface="PMingLiU"/>
            </a:endParaRPr>
          </a:p>
        </p:txBody>
      </p:sp>
      <p:sp>
        <p:nvSpPr>
          <p:cNvPr id="37" name="左大括号 36">
            <a:extLst>
              <a:ext uri="{FF2B5EF4-FFF2-40B4-BE49-F238E27FC236}">
                <a16:creationId xmlns:a16="http://schemas.microsoft.com/office/drawing/2014/main" id="{9099CE69-ED09-EF48-B5AE-CD69F23CEEF5}"/>
              </a:ext>
            </a:extLst>
          </p:cNvPr>
          <p:cNvSpPr/>
          <p:nvPr/>
        </p:nvSpPr>
        <p:spPr>
          <a:xfrm>
            <a:off x="2484565" y="2641345"/>
            <a:ext cx="157859" cy="813436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660773" y="1181099"/>
            <a:ext cx="77470" cy="331470"/>
          </a:xfrm>
          <a:custGeom>
            <a:avLst/>
            <a:gdLst/>
            <a:ahLst/>
            <a:cxnLst/>
            <a:rect l="l" t="t" r="r" b="b"/>
            <a:pathLst>
              <a:path w="77470" h="331469">
                <a:moveTo>
                  <a:pt x="77470" y="0"/>
                </a:moveTo>
                <a:lnTo>
                  <a:pt x="0" y="0"/>
                </a:lnTo>
                <a:lnTo>
                  <a:pt x="0" y="13970"/>
                </a:lnTo>
                <a:lnTo>
                  <a:pt x="48641" y="13970"/>
                </a:lnTo>
                <a:lnTo>
                  <a:pt x="48641" y="318770"/>
                </a:lnTo>
                <a:lnTo>
                  <a:pt x="0" y="318770"/>
                </a:lnTo>
                <a:lnTo>
                  <a:pt x="0" y="331470"/>
                </a:lnTo>
                <a:lnTo>
                  <a:pt x="77470" y="331470"/>
                </a:lnTo>
                <a:lnTo>
                  <a:pt x="77470" y="318770"/>
                </a:lnTo>
                <a:lnTo>
                  <a:pt x="77470" y="13970"/>
                </a:lnTo>
                <a:lnTo>
                  <a:pt x="774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862324" y="1181099"/>
            <a:ext cx="77470" cy="331470"/>
          </a:xfrm>
          <a:custGeom>
            <a:avLst/>
            <a:gdLst/>
            <a:ahLst/>
            <a:cxnLst/>
            <a:rect l="l" t="t" r="r" b="b"/>
            <a:pathLst>
              <a:path w="77470" h="331469">
                <a:moveTo>
                  <a:pt x="77470" y="0"/>
                </a:moveTo>
                <a:lnTo>
                  <a:pt x="0" y="0"/>
                </a:lnTo>
                <a:lnTo>
                  <a:pt x="0" y="13970"/>
                </a:lnTo>
                <a:lnTo>
                  <a:pt x="0" y="318770"/>
                </a:lnTo>
                <a:lnTo>
                  <a:pt x="0" y="331470"/>
                </a:lnTo>
                <a:lnTo>
                  <a:pt x="77470" y="331470"/>
                </a:lnTo>
                <a:lnTo>
                  <a:pt x="77470" y="318770"/>
                </a:lnTo>
                <a:lnTo>
                  <a:pt x="28829" y="318770"/>
                </a:lnTo>
                <a:lnTo>
                  <a:pt x="28829" y="13970"/>
                </a:lnTo>
                <a:lnTo>
                  <a:pt x="77470" y="13970"/>
                </a:lnTo>
                <a:lnTo>
                  <a:pt x="774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498090" y="2103119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38227" y="10160"/>
                </a:lnTo>
                <a:lnTo>
                  <a:pt x="38227" y="250190"/>
                </a:lnTo>
                <a:lnTo>
                  <a:pt x="0" y="25019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5019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322195" y="2103119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0" y="25019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50190"/>
                </a:lnTo>
                <a:lnTo>
                  <a:pt x="22733" y="250190"/>
                </a:lnTo>
                <a:lnTo>
                  <a:pt x="22733" y="1016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08660" y="988985"/>
            <a:ext cx="3957954" cy="139319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19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构造追踪数组</a:t>
            </a:r>
            <a:r>
              <a:rPr sz="2800" dirty="0">
                <a:latin typeface="Cambria Math"/>
                <a:cs typeface="Cambria Math"/>
              </a:rPr>
              <a:t>𝑹𝒆𝒄</a:t>
            </a:r>
            <a:r>
              <a:rPr sz="2800" spc="365" dirty="0">
                <a:latin typeface="Cambria Math"/>
                <a:cs typeface="Cambria Math"/>
              </a:rPr>
              <a:t> </a:t>
            </a:r>
            <a:r>
              <a:rPr sz="2800" spc="-10" dirty="0">
                <a:latin typeface="Cambria Math"/>
                <a:cs typeface="Cambria Math"/>
              </a:rPr>
              <a:t>𝟏</a:t>
            </a:r>
            <a:r>
              <a:rPr sz="2800" spc="-80" dirty="0">
                <a:latin typeface="Cambria Math"/>
                <a:cs typeface="Cambria Math"/>
              </a:rPr>
              <a:t>. . </a:t>
            </a:r>
            <a:r>
              <a:rPr sz="2800" spc="-50" dirty="0">
                <a:latin typeface="Cambria Math"/>
                <a:cs typeface="Cambria Math"/>
              </a:rPr>
              <a:t>𝒏</a:t>
            </a:r>
            <a:endParaRPr sz="2800" dirty="0">
              <a:latin typeface="Cambria Math"/>
              <a:cs typeface="Cambria Math"/>
            </a:endParaRPr>
          </a:p>
          <a:p>
            <a:pPr marL="704215" lvl="1" indent="-347980">
              <a:lnSpc>
                <a:spcPct val="100000"/>
              </a:lnSpc>
              <a:spcBef>
                <a:spcPts val="61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>
                <a:latin typeface="PMingLiU"/>
                <a:cs typeface="PMingLiU"/>
              </a:rPr>
              <a:t>情况</a:t>
            </a:r>
            <a:r>
              <a:rPr sz="2400" b="1" dirty="0">
                <a:latin typeface="Times New Roman"/>
                <a:cs typeface="Times New Roman"/>
              </a:rPr>
              <a:t>1</a:t>
            </a:r>
            <a:r>
              <a:rPr sz="2400" spc="-10" dirty="0">
                <a:latin typeface="PMingLiU"/>
                <a:cs typeface="PMingLiU"/>
              </a:rPr>
              <a:t>：结尾相同</a:t>
            </a:r>
            <a:endParaRPr sz="2400" dirty="0">
              <a:latin typeface="PMingLiU"/>
              <a:cs typeface="PMingLiU"/>
            </a:endParaRPr>
          </a:p>
          <a:p>
            <a:pPr marL="705485">
              <a:lnSpc>
                <a:spcPct val="100000"/>
              </a:lnSpc>
              <a:spcBef>
                <a:spcPts val="550"/>
              </a:spcBef>
              <a:tabLst>
                <a:tab pos="1092200" algn="l"/>
                <a:tab pos="1958975" algn="l"/>
              </a:tabLst>
            </a:pPr>
            <a:r>
              <a:rPr sz="1550" spc="305" dirty="0">
                <a:solidFill>
                  <a:srgbClr val="EB91D7"/>
                </a:solidFill>
                <a:latin typeface="PMingLiU"/>
                <a:cs typeface="PMingLiU"/>
              </a:rPr>
              <a:t>o</a:t>
            </a:r>
            <a:r>
              <a:rPr sz="1550" dirty="0">
                <a:solidFill>
                  <a:srgbClr val="EB91D7"/>
                </a:solidFill>
                <a:latin typeface="PMingLiU"/>
                <a:cs typeface="PMingLiU"/>
              </a:rPr>
              <a:t>	</a:t>
            </a:r>
            <a:r>
              <a:rPr sz="2200" dirty="0">
                <a:latin typeface="Cambria Math"/>
                <a:cs typeface="Cambria Math"/>
              </a:rPr>
              <a:t>𝑹𝒆𝒄</a:t>
            </a:r>
            <a:r>
              <a:rPr sz="2200" spc="280" dirty="0">
                <a:latin typeface="Cambria Math"/>
                <a:cs typeface="Cambria Math"/>
              </a:rPr>
              <a:t> </a:t>
            </a:r>
            <a:r>
              <a:rPr sz="2200" spc="-50" dirty="0">
                <a:latin typeface="Cambria Math"/>
                <a:cs typeface="Cambria Math"/>
              </a:rPr>
              <a:t>𝒊</a:t>
            </a:r>
            <a:r>
              <a:rPr sz="2200" dirty="0">
                <a:latin typeface="Cambria Math"/>
                <a:cs typeface="Cambria Math"/>
              </a:rPr>
              <a:t>	=</a:t>
            </a:r>
            <a:r>
              <a:rPr sz="2200" spc="120" dirty="0">
                <a:latin typeface="Cambria Math"/>
                <a:cs typeface="Cambria Math"/>
              </a:rPr>
              <a:t> </a:t>
            </a:r>
            <a:r>
              <a:rPr sz="2200" dirty="0">
                <a:latin typeface="Cambria Math"/>
                <a:cs typeface="Cambria Math"/>
              </a:rPr>
              <a:t>𝑹𝒆𝒄[𝒊 +</a:t>
            </a:r>
            <a:r>
              <a:rPr sz="2200" spc="-5" dirty="0">
                <a:latin typeface="Cambria Math"/>
                <a:cs typeface="Cambria Math"/>
              </a:rPr>
              <a:t> </a:t>
            </a:r>
            <a:r>
              <a:rPr sz="2200" spc="-25" dirty="0">
                <a:latin typeface="Cambria Math"/>
                <a:cs typeface="Cambria Math"/>
              </a:rPr>
              <a:t>𝟏]</a:t>
            </a:r>
            <a:endParaRPr sz="2200" dirty="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215199" y="227074"/>
            <a:ext cx="5951411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最优方案追踪：记录决策过</a:t>
            </a:r>
            <a:r>
              <a:rPr sz="3600"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程</a:t>
            </a:r>
            <a:endParaRPr sz="36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116948" y="1018413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9"/>
                </a:lnTo>
                <a:lnTo>
                  <a:pt x="0" y="876426"/>
                </a:lnTo>
                <a:lnTo>
                  <a:pt x="7647" y="914364"/>
                </a:lnTo>
                <a:lnTo>
                  <a:pt x="28511" y="945324"/>
                </a:lnTo>
                <a:lnTo>
                  <a:pt x="59471" y="966188"/>
                </a:lnTo>
                <a:lnTo>
                  <a:pt x="97408" y="973836"/>
                </a:lnTo>
                <a:lnTo>
                  <a:pt x="1758823" y="973836"/>
                </a:lnTo>
                <a:lnTo>
                  <a:pt x="1796760" y="966188"/>
                </a:lnTo>
                <a:lnTo>
                  <a:pt x="1827720" y="945324"/>
                </a:lnTo>
                <a:lnTo>
                  <a:pt x="1848584" y="914364"/>
                </a:lnTo>
                <a:lnTo>
                  <a:pt x="1856231" y="876426"/>
                </a:lnTo>
                <a:lnTo>
                  <a:pt x="1856231" y="97409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346438" y="1314449"/>
            <a:ext cx="13970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>
                <a:solidFill>
                  <a:srgbClr val="FFFFFF"/>
                </a:solidFill>
                <a:latin typeface="PMingLiU"/>
                <a:cs typeface="PMingLiU"/>
              </a:rPr>
              <a:t>问题结构分析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825228" y="2052827"/>
            <a:ext cx="439420" cy="367030"/>
          </a:xfrm>
          <a:custGeom>
            <a:avLst/>
            <a:gdLst/>
            <a:ahLst/>
            <a:cxnLst/>
            <a:rect l="l" t="t" r="r" b="b"/>
            <a:pathLst>
              <a:path w="439420" h="367030">
                <a:moveTo>
                  <a:pt x="351154" y="0"/>
                </a:moveTo>
                <a:lnTo>
                  <a:pt x="87756" y="0"/>
                </a:lnTo>
                <a:lnTo>
                  <a:pt x="87756" y="183261"/>
                </a:lnTo>
                <a:lnTo>
                  <a:pt x="0" y="183261"/>
                </a:lnTo>
                <a:lnTo>
                  <a:pt x="219455" y="366522"/>
                </a:lnTo>
                <a:lnTo>
                  <a:pt x="438912" y="183261"/>
                </a:lnTo>
                <a:lnTo>
                  <a:pt x="351154" y="183261"/>
                </a:lnTo>
                <a:lnTo>
                  <a:pt x="35115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116948" y="2480691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9"/>
                </a:lnTo>
                <a:lnTo>
                  <a:pt x="0" y="876426"/>
                </a:lnTo>
                <a:lnTo>
                  <a:pt x="7647" y="914364"/>
                </a:lnTo>
                <a:lnTo>
                  <a:pt x="28511" y="945324"/>
                </a:lnTo>
                <a:lnTo>
                  <a:pt x="59471" y="966188"/>
                </a:lnTo>
                <a:lnTo>
                  <a:pt x="97408" y="973836"/>
                </a:lnTo>
                <a:lnTo>
                  <a:pt x="1758823" y="973836"/>
                </a:lnTo>
                <a:lnTo>
                  <a:pt x="1796760" y="966188"/>
                </a:lnTo>
                <a:lnTo>
                  <a:pt x="1827720" y="945324"/>
                </a:lnTo>
                <a:lnTo>
                  <a:pt x="1848584" y="914364"/>
                </a:lnTo>
                <a:lnTo>
                  <a:pt x="1856231" y="876426"/>
                </a:lnTo>
                <a:lnTo>
                  <a:pt x="1856231" y="97409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346438" y="2776982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>
                <a:solidFill>
                  <a:srgbClr val="FFFFFF"/>
                </a:solidFill>
                <a:latin typeface="PMingLiU"/>
                <a:cs typeface="PMingLiU"/>
              </a:rPr>
              <a:t>递推关系建立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825228" y="3515105"/>
            <a:ext cx="439420" cy="365125"/>
          </a:xfrm>
          <a:custGeom>
            <a:avLst/>
            <a:gdLst/>
            <a:ahLst/>
            <a:cxnLst/>
            <a:rect l="l" t="t" r="r" b="b"/>
            <a:pathLst>
              <a:path w="439420" h="365125">
                <a:moveTo>
                  <a:pt x="351154" y="0"/>
                </a:moveTo>
                <a:lnTo>
                  <a:pt x="87756" y="0"/>
                </a:lnTo>
                <a:lnTo>
                  <a:pt x="87756" y="182499"/>
                </a:lnTo>
                <a:lnTo>
                  <a:pt x="0" y="182499"/>
                </a:lnTo>
                <a:lnTo>
                  <a:pt x="219455" y="364998"/>
                </a:lnTo>
                <a:lnTo>
                  <a:pt x="438912" y="182499"/>
                </a:lnTo>
                <a:lnTo>
                  <a:pt x="351154" y="182499"/>
                </a:lnTo>
                <a:lnTo>
                  <a:pt x="35115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116948" y="3941445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8"/>
                </a:lnTo>
                <a:lnTo>
                  <a:pt x="0" y="876426"/>
                </a:lnTo>
                <a:lnTo>
                  <a:pt x="7647" y="914364"/>
                </a:lnTo>
                <a:lnTo>
                  <a:pt x="28511" y="945324"/>
                </a:lnTo>
                <a:lnTo>
                  <a:pt x="59471" y="966188"/>
                </a:lnTo>
                <a:lnTo>
                  <a:pt x="97408" y="973835"/>
                </a:lnTo>
                <a:lnTo>
                  <a:pt x="1758823" y="973835"/>
                </a:lnTo>
                <a:lnTo>
                  <a:pt x="1796760" y="966188"/>
                </a:lnTo>
                <a:lnTo>
                  <a:pt x="1827720" y="945324"/>
                </a:lnTo>
                <a:lnTo>
                  <a:pt x="1848584" y="914364"/>
                </a:lnTo>
                <a:lnTo>
                  <a:pt x="1856231" y="876426"/>
                </a:lnTo>
                <a:lnTo>
                  <a:pt x="1856231" y="97408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9346438" y="4237735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>
                <a:solidFill>
                  <a:srgbClr val="FFFFFF"/>
                </a:solidFill>
                <a:latin typeface="PMingLiU"/>
                <a:cs typeface="PMingLiU"/>
              </a:rPr>
              <a:t>自底向上计算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825228" y="4975859"/>
            <a:ext cx="439420" cy="365125"/>
          </a:xfrm>
          <a:custGeom>
            <a:avLst/>
            <a:gdLst/>
            <a:ahLst/>
            <a:cxnLst/>
            <a:rect l="l" t="t" r="r" b="b"/>
            <a:pathLst>
              <a:path w="439420" h="365125">
                <a:moveTo>
                  <a:pt x="351154" y="0"/>
                </a:moveTo>
                <a:lnTo>
                  <a:pt x="87756" y="0"/>
                </a:lnTo>
                <a:lnTo>
                  <a:pt x="87756" y="182498"/>
                </a:lnTo>
                <a:lnTo>
                  <a:pt x="0" y="182498"/>
                </a:lnTo>
                <a:lnTo>
                  <a:pt x="219455" y="364997"/>
                </a:lnTo>
                <a:lnTo>
                  <a:pt x="438912" y="182498"/>
                </a:lnTo>
                <a:lnTo>
                  <a:pt x="351154" y="182498"/>
                </a:lnTo>
                <a:lnTo>
                  <a:pt x="35115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116948" y="5402198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9"/>
                </a:lnTo>
                <a:lnTo>
                  <a:pt x="0" y="876452"/>
                </a:lnTo>
                <a:lnTo>
                  <a:pt x="7647" y="914358"/>
                </a:lnTo>
                <a:lnTo>
                  <a:pt x="28511" y="945313"/>
                </a:lnTo>
                <a:lnTo>
                  <a:pt x="59471" y="966183"/>
                </a:lnTo>
                <a:lnTo>
                  <a:pt x="97408" y="973835"/>
                </a:lnTo>
                <a:lnTo>
                  <a:pt x="1758823" y="973835"/>
                </a:lnTo>
                <a:lnTo>
                  <a:pt x="1796760" y="966183"/>
                </a:lnTo>
                <a:lnTo>
                  <a:pt x="1827720" y="945313"/>
                </a:lnTo>
                <a:lnTo>
                  <a:pt x="1848584" y="914358"/>
                </a:lnTo>
                <a:lnTo>
                  <a:pt x="1856231" y="876452"/>
                </a:lnTo>
                <a:lnTo>
                  <a:pt x="1856231" y="97409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83C8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9346438" y="5698744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>
                <a:solidFill>
                  <a:srgbClr val="FFFFFF"/>
                </a:solidFill>
                <a:latin typeface="PMingLiU"/>
                <a:cs typeface="PMingLiU"/>
              </a:rPr>
              <a:t>最优方案追踪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19" name="object 19"/>
          <p:cNvSpPr/>
          <p:nvPr/>
        </p:nvSpPr>
        <p:spPr>
          <a:xfrm flipH="1">
            <a:off x="6037834" y="5220589"/>
            <a:ext cx="0" cy="805815"/>
          </a:xfrm>
          <a:custGeom>
            <a:avLst/>
            <a:gdLst/>
            <a:ahLst/>
            <a:cxnLst/>
            <a:rect l="l" t="t" r="r" b="b"/>
            <a:pathLst>
              <a:path h="805814">
                <a:moveTo>
                  <a:pt x="0" y="0"/>
                </a:moveTo>
                <a:lnTo>
                  <a:pt x="0" y="805205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1093279" y="5220589"/>
          <a:ext cx="7406636" cy="791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78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37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61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756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9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22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…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7846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+1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314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…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𝒏</a:t>
                      </a:r>
                      <a:r>
                        <a:rPr sz="2000" spc="-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2000" spc="-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9718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18859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25">
                          <a:latin typeface="Cambria Math"/>
                          <a:cs typeface="Cambria Math"/>
                        </a:rPr>
                        <a:t>𝑹𝒆𝒄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9718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" name="object 21"/>
          <p:cNvSpPr/>
          <p:nvPr/>
        </p:nvSpPr>
        <p:spPr>
          <a:xfrm>
            <a:off x="5472429" y="4391405"/>
            <a:ext cx="1363980" cy="1468120"/>
          </a:xfrm>
          <a:custGeom>
            <a:avLst/>
            <a:gdLst/>
            <a:ahLst/>
            <a:cxnLst/>
            <a:rect l="l" t="t" r="r" b="b"/>
            <a:pathLst>
              <a:path w="1363979" h="1468120">
                <a:moveTo>
                  <a:pt x="1272282" y="70862"/>
                </a:moveTo>
                <a:lnTo>
                  <a:pt x="0" y="1442199"/>
                </a:lnTo>
                <a:lnTo>
                  <a:pt x="27940" y="1468107"/>
                </a:lnTo>
                <a:lnTo>
                  <a:pt x="1300222" y="96770"/>
                </a:lnTo>
                <a:lnTo>
                  <a:pt x="1272282" y="70862"/>
                </a:lnTo>
                <a:close/>
              </a:path>
              <a:path w="1363979" h="1468120">
                <a:moveTo>
                  <a:pt x="1347370" y="56896"/>
                </a:moveTo>
                <a:lnTo>
                  <a:pt x="1285240" y="56896"/>
                </a:lnTo>
                <a:lnTo>
                  <a:pt x="1313179" y="82804"/>
                </a:lnTo>
                <a:lnTo>
                  <a:pt x="1300222" y="96770"/>
                </a:lnTo>
                <a:lnTo>
                  <a:pt x="1328166" y="122682"/>
                </a:lnTo>
                <a:lnTo>
                  <a:pt x="1347370" y="56896"/>
                </a:lnTo>
                <a:close/>
              </a:path>
              <a:path w="1363979" h="1468120">
                <a:moveTo>
                  <a:pt x="1285240" y="56896"/>
                </a:moveTo>
                <a:lnTo>
                  <a:pt x="1272282" y="70862"/>
                </a:lnTo>
                <a:lnTo>
                  <a:pt x="1300222" y="96770"/>
                </a:lnTo>
                <a:lnTo>
                  <a:pt x="1313179" y="82804"/>
                </a:lnTo>
                <a:lnTo>
                  <a:pt x="1285240" y="56896"/>
                </a:lnTo>
                <a:close/>
              </a:path>
              <a:path w="1363979" h="1468120">
                <a:moveTo>
                  <a:pt x="1363979" y="0"/>
                </a:moveTo>
                <a:lnTo>
                  <a:pt x="1244346" y="44958"/>
                </a:lnTo>
                <a:lnTo>
                  <a:pt x="1272282" y="70862"/>
                </a:lnTo>
                <a:lnTo>
                  <a:pt x="1285240" y="56896"/>
                </a:lnTo>
                <a:lnTo>
                  <a:pt x="1347370" y="56896"/>
                </a:lnTo>
                <a:lnTo>
                  <a:pt x="136397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5140959" y="4180332"/>
            <a:ext cx="53530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20">
                <a:latin typeface="Cambria Math"/>
                <a:cs typeface="Cambria Math"/>
              </a:rPr>
              <a:t>𝑫[𝒊]</a:t>
            </a:r>
            <a:endParaRPr sz="2200">
              <a:latin typeface="Cambria Math"/>
              <a:cs typeface="Cambria Math"/>
            </a:endParaRPr>
          </a:p>
        </p:txBody>
      </p:sp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1093279" y="2466594"/>
          <a:ext cx="7406636" cy="19234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78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37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61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26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912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5471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22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97815">
                <a:tc grid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FF0000"/>
                      </a:solidFill>
                      <a:prstDash val="sysDash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ysDash"/>
                    </a:lnL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…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5244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…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ysDash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0096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𝒏</a:t>
                      </a:r>
                      <a:r>
                        <a:rPr sz="2000" spc="-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2000" spc="-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38100">
                      <a:solidFill>
                        <a:srgbClr val="FF0000"/>
                      </a:solidFill>
                      <a:prstDash val="sysDash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651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𝑿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937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20">
                          <a:latin typeface="Cambria Math"/>
                          <a:cs typeface="Cambria Math"/>
                        </a:rPr>
                        <a:t>𝑿[𝟏]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20">
                          <a:latin typeface="Cambria Math"/>
                          <a:cs typeface="Cambria Math"/>
                        </a:rPr>
                        <a:t>𝑿[𝟐]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461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20">
                          <a:latin typeface="Cambria Math"/>
                          <a:cs typeface="Cambria Math"/>
                        </a:rPr>
                        <a:t>𝑿[𝒊]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92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ysDash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92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ysDash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461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20">
                          <a:latin typeface="Cambria Math"/>
                          <a:cs typeface="Cambria Math"/>
                        </a:rPr>
                        <a:t>𝑿[𝒏]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4390">
                <a:tc gridSpan="7">
                  <a:txBody>
                    <a:bodyPr/>
                    <a:lstStyle/>
                    <a:p>
                      <a:pPr marR="380365" algn="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200">
                          <a:latin typeface="Cambria Math"/>
                          <a:cs typeface="Cambria Math"/>
                        </a:rPr>
                        <a:t>𝑫[𝒊</a:t>
                      </a:r>
                      <a:r>
                        <a:rPr sz="2200" spc="-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200">
                          <a:latin typeface="Cambria Math"/>
                          <a:cs typeface="Cambria Math"/>
                        </a:rPr>
                        <a:t>+</a:t>
                      </a:r>
                      <a:r>
                        <a:rPr sz="2200" spc="-1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200" spc="-25">
                          <a:latin typeface="Cambria Math"/>
                          <a:cs typeface="Cambria Math"/>
                        </a:rPr>
                        <a:t>𝟏]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10160" marB="0">
                    <a:lnR w="76200">
                      <a:solidFill>
                        <a:srgbClr val="FF0000"/>
                      </a:solidFill>
                      <a:prstDash val="sysDash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FF0000"/>
                      </a:solidFill>
                      <a:prstDash val="sysDash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" name="左大括号 23">
            <a:extLst>
              <a:ext uri="{FF2B5EF4-FFF2-40B4-BE49-F238E27FC236}">
                <a16:creationId xmlns:a16="http://schemas.microsoft.com/office/drawing/2014/main" id="{07D0EDE1-938C-7640-90D5-56E73EC34CB4}"/>
              </a:ext>
            </a:extLst>
          </p:cNvPr>
          <p:cNvSpPr/>
          <p:nvPr/>
        </p:nvSpPr>
        <p:spPr>
          <a:xfrm rot="16200000">
            <a:off x="5248275" y="2656585"/>
            <a:ext cx="284480" cy="2731770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6" name="直线连接符 25">
            <a:extLst>
              <a:ext uri="{FF2B5EF4-FFF2-40B4-BE49-F238E27FC236}">
                <a16:creationId xmlns:a16="http://schemas.microsoft.com/office/drawing/2014/main" id="{80707C81-7DC2-1C40-B5FB-DD200C5072D7}"/>
              </a:ext>
            </a:extLst>
          </p:cNvPr>
          <p:cNvCxnSpPr>
            <a:cxnSpLocks/>
          </p:cNvCxnSpPr>
          <p:nvPr/>
        </p:nvCxnSpPr>
        <p:spPr>
          <a:xfrm flipH="1">
            <a:off x="6822832" y="2297723"/>
            <a:ext cx="13577" cy="1229105"/>
          </a:xfrm>
          <a:prstGeom prst="line">
            <a:avLst/>
          </a:prstGeom>
          <a:ln w="762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701413" y="1251548"/>
            <a:ext cx="77470" cy="331470"/>
          </a:xfrm>
          <a:custGeom>
            <a:avLst/>
            <a:gdLst/>
            <a:ahLst/>
            <a:cxnLst/>
            <a:rect l="l" t="t" r="r" b="b"/>
            <a:pathLst>
              <a:path w="77470" h="331469">
                <a:moveTo>
                  <a:pt x="77470" y="0"/>
                </a:moveTo>
                <a:lnTo>
                  <a:pt x="0" y="0"/>
                </a:lnTo>
                <a:lnTo>
                  <a:pt x="0" y="13970"/>
                </a:lnTo>
                <a:lnTo>
                  <a:pt x="48641" y="13970"/>
                </a:lnTo>
                <a:lnTo>
                  <a:pt x="48641" y="318770"/>
                </a:lnTo>
                <a:lnTo>
                  <a:pt x="0" y="318770"/>
                </a:lnTo>
                <a:lnTo>
                  <a:pt x="0" y="331470"/>
                </a:lnTo>
                <a:lnTo>
                  <a:pt x="77470" y="331470"/>
                </a:lnTo>
                <a:lnTo>
                  <a:pt x="77470" y="318770"/>
                </a:lnTo>
                <a:lnTo>
                  <a:pt x="77470" y="13970"/>
                </a:lnTo>
                <a:lnTo>
                  <a:pt x="774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902964" y="1251548"/>
            <a:ext cx="77470" cy="331470"/>
          </a:xfrm>
          <a:custGeom>
            <a:avLst/>
            <a:gdLst/>
            <a:ahLst/>
            <a:cxnLst/>
            <a:rect l="l" t="t" r="r" b="b"/>
            <a:pathLst>
              <a:path w="77470" h="331469">
                <a:moveTo>
                  <a:pt x="77470" y="0"/>
                </a:moveTo>
                <a:lnTo>
                  <a:pt x="0" y="0"/>
                </a:lnTo>
                <a:lnTo>
                  <a:pt x="0" y="13970"/>
                </a:lnTo>
                <a:lnTo>
                  <a:pt x="0" y="318770"/>
                </a:lnTo>
                <a:lnTo>
                  <a:pt x="0" y="331470"/>
                </a:lnTo>
                <a:lnTo>
                  <a:pt x="77470" y="331470"/>
                </a:lnTo>
                <a:lnTo>
                  <a:pt x="77470" y="318770"/>
                </a:lnTo>
                <a:lnTo>
                  <a:pt x="28829" y="318770"/>
                </a:lnTo>
                <a:lnTo>
                  <a:pt x="28829" y="13970"/>
                </a:lnTo>
                <a:lnTo>
                  <a:pt x="77470" y="13970"/>
                </a:lnTo>
                <a:lnTo>
                  <a:pt x="774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538730" y="2173568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38227" y="10160"/>
                </a:lnTo>
                <a:lnTo>
                  <a:pt x="38227" y="250190"/>
                </a:lnTo>
                <a:lnTo>
                  <a:pt x="0" y="25019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5019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362835" y="2173568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0" y="25019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50190"/>
                </a:lnTo>
                <a:lnTo>
                  <a:pt x="22733" y="250190"/>
                </a:lnTo>
                <a:lnTo>
                  <a:pt x="22733" y="1016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49300" y="1059434"/>
            <a:ext cx="3957954" cy="139319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19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构造追踪数组</a:t>
            </a:r>
            <a:r>
              <a:rPr sz="2800" dirty="0">
                <a:latin typeface="Cambria Math"/>
                <a:cs typeface="Cambria Math"/>
              </a:rPr>
              <a:t>𝑹𝒆𝒄</a:t>
            </a:r>
            <a:r>
              <a:rPr sz="2800" spc="365" dirty="0">
                <a:latin typeface="Cambria Math"/>
                <a:cs typeface="Cambria Math"/>
              </a:rPr>
              <a:t> </a:t>
            </a:r>
            <a:r>
              <a:rPr sz="2800" spc="-10" dirty="0">
                <a:latin typeface="Cambria Math"/>
                <a:cs typeface="Cambria Math"/>
              </a:rPr>
              <a:t>𝟏</a:t>
            </a:r>
            <a:r>
              <a:rPr sz="2800" spc="-80" dirty="0">
                <a:latin typeface="Cambria Math"/>
                <a:cs typeface="Cambria Math"/>
              </a:rPr>
              <a:t>. . </a:t>
            </a:r>
            <a:r>
              <a:rPr sz="2800" spc="-50" dirty="0">
                <a:latin typeface="Cambria Math"/>
                <a:cs typeface="Cambria Math"/>
              </a:rPr>
              <a:t>𝒏</a:t>
            </a:r>
            <a:endParaRPr sz="2800" dirty="0">
              <a:latin typeface="Cambria Math"/>
              <a:cs typeface="Cambria Math"/>
            </a:endParaRPr>
          </a:p>
          <a:p>
            <a:pPr marL="704215" lvl="1" indent="-347980">
              <a:lnSpc>
                <a:spcPct val="100000"/>
              </a:lnSpc>
              <a:spcBef>
                <a:spcPts val="61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>
                <a:latin typeface="PMingLiU"/>
                <a:cs typeface="PMingLiU"/>
              </a:rPr>
              <a:t>情况</a:t>
            </a:r>
            <a:r>
              <a:rPr sz="2400" b="1" dirty="0">
                <a:latin typeface="Times New Roman"/>
                <a:cs typeface="Times New Roman"/>
              </a:rPr>
              <a:t>1</a:t>
            </a:r>
            <a:r>
              <a:rPr sz="2400" spc="-10" dirty="0">
                <a:latin typeface="PMingLiU"/>
                <a:cs typeface="PMingLiU"/>
              </a:rPr>
              <a:t>：结尾相同</a:t>
            </a:r>
            <a:endParaRPr sz="2400" dirty="0">
              <a:latin typeface="PMingLiU"/>
              <a:cs typeface="PMingLiU"/>
            </a:endParaRPr>
          </a:p>
          <a:p>
            <a:pPr marL="705485">
              <a:lnSpc>
                <a:spcPct val="100000"/>
              </a:lnSpc>
              <a:spcBef>
                <a:spcPts val="550"/>
              </a:spcBef>
              <a:tabLst>
                <a:tab pos="1092200" algn="l"/>
                <a:tab pos="1958975" algn="l"/>
              </a:tabLst>
            </a:pPr>
            <a:r>
              <a:rPr sz="1550" spc="305" dirty="0">
                <a:solidFill>
                  <a:srgbClr val="EB91D7"/>
                </a:solidFill>
                <a:latin typeface="PMingLiU"/>
                <a:cs typeface="PMingLiU"/>
              </a:rPr>
              <a:t>o</a:t>
            </a:r>
            <a:r>
              <a:rPr sz="1550" dirty="0">
                <a:solidFill>
                  <a:srgbClr val="EB91D7"/>
                </a:solidFill>
                <a:latin typeface="PMingLiU"/>
                <a:cs typeface="PMingLiU"/>
              </a:rPr>
              <a:t>	</a:t>
            </a:r>
            <a:r>
              <a:rPr sz="2200" dirty="0">
                <a:latin typeface="Cambria Math"/>
                <a:cs typeface="Cambria Math"/>
              </a:rPr>
              <a:t>𝑹𝒆𝒄</a:t>
            </a:r>
            <a:r>
              <a:rPr sz="2200" spc="280" dirty="0">
                <a:latin typeface="Cambria Math"/>
                <a:cs typeface="Cambria Math"/>
              </a:rPr>
              <a:t> </a:t>
            </a:r>
            <a:r>
              <a:rPr sz="2200" spc="-50" dirty="0">
                <a:latin typeface="Cambria Math"/>
                <a:cs typeface="Cambria Math"/>
              </a:rPr>
              <a:t>𝒊</a:t>
            </a:r>
            <a:r>
              <a:rPr sz="2200" dirty="0">
                <a:latin typeface="Cambria Math"/>
                <a:cs typeface="Cambria Math"/>
              </a:rPr>
              <a:t>	=</a:t>
            </a:r>
            <a:r>
              <a:rPr sz="2200" spc="120" dirty="0">
                <a:latin typeface="Cambria Math"/>
                <a:cs typeface="Cambria Math"/>
              </a:rPr>
              <a:t> </a:t>
            </a:r>
            <a:r>
              <a:rPr sz="2200" dirty="0">
                <a:latin typeface="Cambria Math"/>
                <a:cs typeface="Cambria Math"/>
              </a:rPr>
              <a:t>𝑹𝒆𝒄[𝒊 +</a:t>
            </a:r>
            <a:r>
              <a:rPr sz="2200" spc="-5" dirty="0">
                <a:latin typeface="Cambria Math"/>
                <a:cs typeface="Cambria Math"/>
              </a:rPr>
              <a:t> </a:t>
            </a:r>
            <a:r>
              <a:rPr sz="2200" spc="-25" dirty="0">
                <a:latin typeface="Cambria Math"/>
                <a:cs typeface="Cambria Math"/>
              </a:rPr>
              <a:t>𝟏]</a:t>
            </a:r>
            <a:endParaRPr sz="2200" dirty="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116948" y="1018413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9"/>
                </a:lnTo>
                <a:lnTo>
                  <a:pt x="0" y="876426"/>
                </a:lnTo>
                <a:lnTo>
                  <a:pt x="7647" y="914364"/>
                </a:lnTo>
                <a:lnTo>
                  <a:pt x="28511" y="945324"/>
                </a:lnTo>
                <a:lnTo>
                  <a:pt x="59471" y="966188"/>
                </a:lnTo>
                <a:lnTo>
                  <a:pt x="97408" y="973836"/>
                </a:lnTo>
                <a:lnTo>
                  <a:pt x="1758823" y="973836"/>
                </a:lnTo>
                <a:lnTo>
                  <a:pt x="1796760" y="966188"/>
                </a:lnTo>
                <a:lnTo>
                  <a:pt x="1827720" y="945324"/>
                </a:lnTo>
                <a:lnTo>
                  <a:pt x="1848584" y="914364"/>
                </a:lnTo>
                <a:lnTo>
                  <a:pt x="1856231" y="876426"/>
                </a:lnTo>
                <a:lnTo>
                  <a:pt x="1856231" y="97409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346438" y="1314449"/>
            <a:ext cx="13970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>
                <a:solidFill>
                  <a:srgbClr val="FFFFFF"/>
                </a:solidFill>
                <a:latin typeface="PMingLiU"/>
                <a:cs typeface="PMingLiU"/>
              </a:rPr>
              <a:t>问题结构分析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825228" y="2052827"/>
            <a:ext cx="439420" cy="367030"/>
          </a:xfrm>
          <a:custGeom>
            <a:avLst/>
            <a:gdLst/>
            <a:ahLst/>
            <a:cxnLst/>
            <a:rect l="l" t="t" r="r" b="b"/>
            <a:pathLst>
              <a:path w="439420" h="367030">
                <a:moveTo>
                  <a:pt x="351154" y="0"/>
                </a:moveTo>
                <a:lnTo>
                  <a:pt x="87756" y="0"/>
                </a:lnTo>
                <a:lnTo>
                  <a:pt x="87756" y="183261"/>
                </a:lnTo>
                <a:lnTo>
                  <a:pt x="0" y="183261"/>
                </a:lnTo>
                <a:lnTo>
                  <a:pt x="219455" y="366522"/>
                </a:lnTo>
                <a:lnTo>
                  <a:pt x="438912" y="183261"/>
                </a:lnTo>
                <a:lnTo>
                  <a:pt x="351154" y="183261"/>
                </a:lnTo>
                <a:lnTo>
                  <a:pt x="35115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116948" y="2480691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9"/>
                </a:lnTo>
                <a:lnTo>
                  <a:pt x="0" y="876426"/>
                </a:lnTo>
                <a:lnTo>
                  <a:pt x="7647" y="914364"/>
                </a:lnTo>
                <a:lnTo>
                  <a:pt x="28511" y="945324"/>
                </a:lnTo>
                <a:lnTo>
                  <a:pt x="59471" y="966188"/>
                </a:lnTo>
                <a:lnTo>
                  <a:pt x="97408" y="973836"/>
                </a:lnTo>
                <a:lnTo>
                  <a:pt x="1758823" y="973836"/>
                </a:lnTo>
                <a:lnTo>
                  <a:pt x="1796760" y="966188"/>
                </a:lnTo>
                <a:lnTo>
                  <a:pt x="1827720" y="945324"/>
                </a:lnTo>
                <a:lnTo>
                  <a:pt x="1848584" y="914364"/>
                </a:lnTo>
                <a:lnTo>
                  <a:pt x="1856231" y="876426"/>
                </a:lnTo>
                <a:lnTo>
                  <a:pt x="1856231" y="97409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346438" y="2776982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>
                <a:solidFill>
                  <a:srgbClr val="FFFFFF"/>
                </a:solidFill>
                <a:latin typeface="PMingLiU"/>
                <a:cs typeface="PMingLiU"/>
              </a:rPr>
              <a:t>递推关系建立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825228" y="3515105"/>
            <a:ext cx="439420" cy="365125"/>
          </a:xfrm>
          <a:custGeom>
            <a:avLst/>
            <a:gdLst/>
            <a:ahLst/>
            <a:cxnLst/>
            <a:rect l="l" t="t" r="r" b="b"/>
            <a:pathLst>
              <a:path w="439420" h="365125">
                <a:moveTo>
                  <a:pt x="351154" y="0"/>
                </a:moveTo>
                <a:lnTo>
                  <a:pt x="87756" y="0"/>
                </a:lnTo>
                <a:lnTo>
                  <a:pt x="87756" y="182499"/>
                </a:lnTo>
                <a:lnTo>
                  <a:pt x="0" y="182499"/>
                </a:lnTo>
                <a:lnTo>
                  <a:pt x="219455" y="364998"/>
                </a:lnTo>
                <a:lnTo>
                  <a:pt x="438912" y="182499"/>
                </a:lnTo>
                <a:lnTo>
                  <a:pt x="351154" y="182499"/>
                </a:lnTo>
                <a:lnTo>
                  <a:pt x="35115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116948" y="3941445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8"/>
                </a:lnTo>
                <a:lnTo>
                  <a:pt x="0" y="876426"/>
                </a:lnTo>
                <a:lnTo>
                  <a:pt x="7647" y="914364"/>
                </a:lnTo>
                <a:lnTo>
                  <a:pt x="28511" y="945324"/>
                </a:lnTo>
                <a:lnTo>
                  <a:pt x="59471" y="966188"/>
                </a:lnTo>
                <a:lnTo>
                  <a:pt x="97408" y="973835"/>
                </a:lnTo>
                <a:lnTo>
                  <a:pt x="1758823" y="973835"/>
                </a:lnTo>
                <a:lnTo>
                  <a:pt x="1796760" y="966188"/>
                </a:lnTo>
                <a:lnTo>
                  <a:pt x="1827720" y="945324"/>
                </a:lnTo>
                <a:lnTo>
                  <a:pt x="1848584" y="914364"/>
                </a:lnTo>
                <a:lnTo>
                  <a:pt x="1856231" y="876426"/>
                </a:lnTo>
                <a:lnTo>
                  <a:pt x="1856231" y="97408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9346438" y="4237735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>
                <a:solidFill>
                  <a:srgbClr val="FFFFFF"/>
                </a:solidFill>
                <a:latin typeface="PMingLiU"/>
                <a:cs typeface="PMingLiU"/>
              </a:rPr>
              <a:t>自底向上计算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825228" y="4975859"/>
            <a:ext cx="439420" cy="365125"/>
          </a:xfrm>
          <a:custGeom>
            <a:avLst/>
            <a:gdLst/>
            <a:ahLst/>
            <a:cxnLst/>
            <a:rect l="l" t="t" r="r" b="b"/>
            <a:pathLst>
              <a:path w="439420" h="365125">
                <a:moveTo>
                  <a:pt x="351154" y="0"/>
                </a:moveTo>
                <a:lnTo>
                  <a:pt x="87756" y="0"/>
                </a:lnTo>
                <a:lnTo>
                  <a:pt x="87756" y="182498"/>
                </a:lnTo>
                <a:lnTo>
                  <a:pt x="0" y="182498"/>
                </a:lnTo>
                <a:lnTo>
                  <a:pt x="219455" y="364997"/>
                </a:lnTo>
                <a:lnTo>
                  <a:pt x="438912" y="182498"/>
                </a:lnTo>
                <a:lnTo>
                  <a:pt x="351154" y="182498"/>
                </a:lnTo>
                <a:lnTo>
                  <a:pt x="35115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116948" y="5402198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9"/>
                </a:lnTo>
                <a:lnTo>
                  <a:pt x="0" y="876452"/>
                </a:lnTo>
                <a:lnTo>
                  <a:pt x="7647" y="914358"/>
                </a:lnTo>
                <a:lnTo>
                  <a:pt x="28511" y="945313"/>
                </a:lnTo>
                <a:lnTo>
                  <a:pt x="59471" y="966183"/>
                </a:lnTo>
                <a:lnTo>
                  <a:pt x="97408" y="973835"/>
                </a:lnTo>
                <a:lnTo>
                  <a:pt x="1758823" y="973835"/>
                </a:lnTo>
                <a:lnTo>
                  <a:pt x="1796760" y="966183"/>
                </a:lnTo>
                <a:lnTo>
                  <a:pt x="1827720" y="945313"/>
                </a:lnTo>
                <a:lnTo>
                  <a:pt x="1848584" y="914358"/>
                </a:lnTo>
                <a:lnTo>
                  <a:pt x="1856231" y="876452"/>
                </a:lnTo>
                <a:lnTo>
                  <a:pt x="1856231" y="97409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83C8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9346438" y="5698744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>
                <a:solidFill>
                  <a:srgbClr val="FFFFFF"/>
                </a:solidFill>
                <a:latin typeface="PMingLiU"/>
                <a:cs typeface="PMingLiU"/>
              </a:rPr>
              <a:t>最优方案追踪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19" name="object 19"/>
          <p:cNvSpPr/>
          <p:nvPr/>
        </p:nvSpPr>
        <p:spPr>
          <a:xfrm flipH="1">
            <a:off x="4914900" y="5220589"/>
            <a:ext cx="0" cy="805815"/>
          </a:xfrm>
          <a:custGeom>
            <a:avLst/>
            <a:gdLst/>
            <a:ahLst/>
            <a:cxnLst/>
            <a:rect l="l" t="t" r="r" b="b"/>
            <a:pathLst>
              <a:path h="805814">
                <a:moveTo>
                  <a:pt x="0" y="0"/>
                </a:moveTo>
                <a:lnTo>
                  <a:pt x="0" y="805205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 flipH="1">
            <a:off x="6037834" y="5220589"/>
            <a:ext cx="0" cy="805815"/>
          </a:xfrm>
          <a:custGeom>
            <a:avLst/>
            <a:gdLst/>
            <a:ahLst/>
            <a:cxnLst/>
            <a:rect l="l" t="t" r="r" b="b"/>
            <a:pathLst>
              <a:path h="805814">
                <a:moveTo>
                  <a:pt x="0" y="0"/>
                </a:moveTo>
                <a:lnTo>
                  <a:pt x="0" y="805205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1093279" y="5220589"/>
          <a:ext cx="7409176" cy="791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78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37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61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32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74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5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359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2359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…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2286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4095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+1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314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…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𝒏</a:t>
                      </a:r>
                      <a:r>
                        <a:rPr sz="2000" spc="-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2000" spc="-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9718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18859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25">
                          <a:latin typeface="Cambria Math"/>
                          <a:cs typeface="Cambria Math"/>
                        </a:rPr>
                        <a:t>𝑹𝒆𝒄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9718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2" name="object 22"/>
          <p:cNvSpPr txBox="1"/>
          <p:nvPr/>
        </p:nvSpPr>
        <p:spPr>
          <a:xfrm>
            <a:off x="5140959" y="4180332"/>
            <a:ext cx="53530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20">
                <a:latin typeface="Cambria Math"/>
                <a:cs typeface="Cambria Math"/>
              </a:rPr>
              <a:t>𝑫[𝒊]</a:t>
            </a:r>
            <a:endParaRPr sz="2200">
              <a:latin typeface="Cambria Math"/>
              <a:cs typeface="Cambria Math"/>
            </a:endParaRPr>
          </a:p>
        </p:txBody>
      </p:sp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1093279" y="2466594"/>
          <a:ext cx="7406636" cy="19234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78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37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61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26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912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5471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22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97815">
                <a:tc grid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FF0000"/>
                      </a:solidFill>
                      <a:prstDash val="sysDash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ysDash"/>
                    </a:lnL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…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5244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…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ysDash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0096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𝒏</a:t>
                      </a:r>
                      <a:r>
                        <a:rPr sz="2000" spc="-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2000" spc="-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38100">
                      <a:solidFill>
                        <a:srgbClr val="FF0000"/>
                      </a:solidFill>
                      <a:prstDash val="sysDash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651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𝑿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937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20">
                          <a:latin typeface="Cambria Math"/>
                          <a:cs typeface="Cambria Math"/>
                        </a:rPr>
                        <a:t>𝑿[𝟏]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20">
                          <a:latin typeface="Cambria Math"/>
                          <a:cs typeface="Cambria Math"/>
                        </a:rPr>
                        <a:t>𝑿[𝟐]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461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20">
                          <a:latin typeface="Cambria Math"/>
                          <a:cs typeface="Cambria Math"/>
                        </a:rPr>
                        <a:t>𝑿[𝒊]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92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ysDash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92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ysDash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461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20">
                          <a:latin typeface="Cambria Math"/>
                          <a:cs typeface="Cambria Math"/>
                        </a:rPr>
                        <a:t>𝑿[𝒏]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4390">
                <a:tc gridSpan="7">
                  <a:txBody>
                    <a:bodyPr/>
                    <a:lstStyle/>
                    <a:p>
                      <a:pPr marR="380365" algn="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200">
                          <a:latin typeface="Cambria Math"/>
                          <a:cs typeface="Cambria Math"/>
                        </a:rPr>
                        <a:t>𝑫[𝒊</a:t>
                      </a:r>
                      <a:r>
                        <a:rPr sz="2200" spc="-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200">
                          <a:latin typeface="Cambria Math"/>
                          <a:cs typeface="Cambria Math"/>
                        </a:rPr>
                        <a:t>+</a:t>
                      </a:r>
                      <a:r>
                        <a:rPr sz="2200" spc="-1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200" spc="-25">
                          <a:latin typeface="Cambria Math"/>
                          <a:cs typeface="Cambria Math"/>
                        </a:rPr>
                        <a:t>𝟏]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10160" marB="0">
                    <a:lnR w="76200">
                      <a:solidFill>
                        <a:srgbClr val="FF0000"/>
                      </a:solidFill>
                      <a:prstDash val="sysDash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FF0000"/>
                      </a:solidFill>
                      <a:prstDash val="sysDash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" name="object 24"/>
          <p:cNvSpPr/>
          <p:nvPr/>
        </p:nvSpPr>
        <p:spPr>
          <a:xfrm>
            <a:off x="4488942" y="4389373"/>
            <a:ext cx="2357120" cy="1470660"/>
          </a:xfrm>
          <a:custGeom>
            <a:avLst/>
            <a:gdLst/>
            <a:ahLst/>
            <a:cxnLst/>
            <a:rect l="l" t="t" r="r" b="b"/>
            <a:pathLst>
              <a:path w="2357120" h="1470660">
                <a:moveTo>
                  <a:pt x="2357120" y="33020"/>
                </a:moveTo>
                <a:lnTo>
                  <a:pt x="2344699" y="11506"/>
                </a:lnTo>
                <a:lnTo>
                  <a:pt x="2347468" y="2032"/>
                </a:lnTo>
                <a:lnTo>
                  <a:pt x="2340699" y="4584"/>
                </a:lnTo>
                <a:lnTo>
                  <a:pt x="2338070" y="0"/>
                </a:lnTo>
                <a:lnTo>
                  <a:pt x="2310600" y="15887"/>
                </a:lnTo>
                <a:lnTo>
                  <a:pt x="2227834" y="46990"/>
                </a:lnTo>
                <a:lnTo>
                  <a:pt x="2238959" y="57327"/>
                </a:lnTo>
                <a:lnTo>
                  <a:pt x="89395" y="1300543"/>
                </a:lnTo>
                <a:lnTo>
                  <a:pt x="70358" y="1267561"/>
                </a:lnTo>
                <a:lnTo>
                  <a:pt x="0" y="1374254"/>
                </a:lnTo>
                <a:lnTo>
                  <a:pt x="127508" y="1366507"/>
                </a:lnTo>
                <a:lnTo>
                  <a:pt x="113957" y="1343063"/>
                </a:lnTo>
                <a:lnTo>
                  <a:pt x="108445" y="1333525"/>
                </a:lnTo>
                <a:lnTo>
                  <a:pt x="2218232" y="113347"/>
                </a:lnTo>
                <a:lnTo>
                  <a:pt x="983488" y="1444231"/>
                </a:lnTo>
                <a:lnTo>
                  <a:pt x="1011428" y="1470139"/>
                </a:lnTo>
                <a:lnTo>
                  <a:pt x="2283701" y="98806"/>
                </a:lnTo>
                <a:lnTo>
                  <a:pt x="2311654" y="124714"/>
                </a:lnTo>
                <a:lnTo>
                  <a:pt x="2330856" y="58928"/>
                </a:lnTo>
                <a:lnTo>
                  <a:pt x="2334615" y="46037"/>
                </a:lnTo>
                <a:lnTo>
                  <a:pt x="2357120" y="3302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左大括号 26">
            <a:extLst>
              <a:ext uri="{FF2B5EF4-FFF2-40B4-BE49-F238E27FC236}">
                <a16:creationId xmlns:a16="http://schemas.microsoft.com/office/drawing/2014/main" id="{09426F00-D44A-AA48-950C-8FA41DE36805}"/>
              </a:ext>
            </a:extLst>
          </p:cNvPr>
          <p:cNvSpPr/>
          <p:nvPr/>
        </p:nvSpPr>
        <p:spPr>
          <a:xfrm rot="16200000">
            <a:off x="5248275" y="2656585"/>
            <a:ext cx="284480" cy="2731770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object 7">
            <a:extLst>
              <a:ext uri="{FF2B5EF4-FFF2-40B4-BE49-F238E27FC236}">
                <a16:creationId xmlns:a16="http://schemas.microsoft.com/office/drawing/2014/main" id="{7941EE6D-9A42-D649-8AF5-77FF210020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5199" y="227074"/>
            <a:ext cx="5951411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最优方案追踪：记录决策过</a:t>
            </a:r>
            <a:r>
              <a:rPr sz="3600"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程</a:t>
            </a:r>
            <a:endParaRPr sz="36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cxnSp>
        <p:nvCxnSpPr>
          <p:cNvPr id="26" name="直线连接符 25">
            <a:extLst>
              <a:ext uri="{FF2B5EF4-FFF2-40B4-BE49-F238E27FC236}">
                <a16:creationId xmlns:a16="http://schemas.microsoft.com/office/drawing/2014/main" id="{DE50E6ED-5DFE-3B4E-B451-0F906274BB3E}"/>
              </a:ext>
            </a:extLst>
          </p:cNvPr>
          <p:cNvCxnSpPr>
            <a:cxnSpLocks/>
          </p:cNvCxnSpPr>
          <p:nvPr/>
        </p:nvCxnSpPr>
        <p:spPr>
          <a:xfrm flipH="1">
            <a:off x="6822832" y="2297723"/>
            <a:ext cx="13577" cy="1229105"/>
          </a:xfrm>
          <a:prstGeom prst="line">
            <a:avLst/>
          </a:prstGeom>
          <a:ln w="762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701413" y="1303019"/>
            <a:ext cx="77470" cy="331470"/>
          </a:xfrm>
          <a:custGeom>
            <a:avLst/>
            <a:gdLst/>
            <a:ahLst/>
            <a:cxnLst/>
            <a:rect l="l" t="t" r="r" b="b"/>
            <a:pathLst>
              <a:path w="77470" h="331469">
                <a:moveTo>
                  <a:pt x="77470" y="0"/>
                </a:moveTo>
                <a:lnTo>
                  <a:pt x="0" y="0"/>
                </a:lnTo>
                <a:lnTo>
                  <a:pt x="0" y="13970"/>
                </a:lnTo>
                <a:lnTo>
                  <a:pt x="48641" y="13970"/>
                </a:lnTo>
                <a:lnTo>
                  <a:pt x="48641" y="318770"/>
                </a:lnTo>
                <a:lnTo>
                  <a:pt x="0" y="318770"/>
                </a:lnTo>
                <a:lnTo>
                  <a:pt x="0" y="331470"/>
                </a:lnTo>
                <a:lnTo>
                  <a:pt x="77470" y="331470"/>
                </a:lnTo>
                <a:lnTo>
                  <a:pt x="77470" y="318770"/>
                </a:lnTo>
                <a:lnTo>
                  <a:pt x="77470" y="13970"/>
                </a:lnTo>
                <a:lnTo>
                  <a:pt x="774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902964" y="1303019"/>
            <a:ext cx="77470" cy="331470"/>
          </a:xfrm>
          <a:custGeom>
            <a:avLst/>
            <a:gdLst/>
            <a:ahLst/>
            <a:cxnLst/>
            <a:rect l="l" t="t" r="r" b="b"/>
            <a:pathLst>
              <a:path w="77470" h="331469">
                <a:moveTo>
                  <a:pt x="77470" y="0"/>
                </a:moveTo>
                <a:lnTo>
                  <a:pt x="0" y="0"/>
                </a:lnTo>
                <a:lnTo>
                  <a:pt x="0" y="13970"/>
                </a:lnTo>
                <a:lnTo>
                  <a:pt x="0" y="318770"/>
                </a:lnTo>
                <a:lnTo>
                  <a:pt x="0" y="331470"/>
                </a:lnTo>
                <a:lnTo>
                  <a:pt x="77470" y="331470"/>
                </a:lnTo>
                <a:lnTo>
                  <a:pt x="77470" y="318770"/>
                </a:lnTo>
                <a:lnTo>
                  <a:pt x="28829" y="318770"/>
                </a:lnTo>
                <a:lnTo>
                  <a:pt x="28829" y="13970"/>
                </a:lnTo>
                <a:lnTo>
                  <a:pt x="77470" y="13970"/>
                </a:lnTo>
                <a:lnTo>
                  <a:pt x="774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538730" y="2225039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38227" y="10160"/>
                </a:lnTo>
                <a:lnTo>
                  <a:pt x="38227" y="250190"/>
                </a:lnTo>
                <a:lnTo>
                  <a:pt x="0" y="25019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5019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362835" y="2225039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0" y="25019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50190"/>
                </a:lnTo>
                <a:lnTo>
                  <a:pt x="22733" y="250190"/>
                </a:lnTo>
                <a:lnTo>
                  <a:pt x="22733" y="1016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49300" y="1110905"/>
            <a:ext cx="3957954" cy="139319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19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构造追踪数组</a:t>
            </a:r>
            <a:r>
              <a:rPr sz="2800" dirty="0">
                <a:latin typeface="Cambria Math"/>
                <a:cs typeface="Cambria Math"/>
              </a:rPr>
              <a:t>𝑹𝒆𝒄</a:t>
            </a:r>
            <a:r>
              <a:rPr sz="2800" spc="365" dirty="0">
                <a:latin typeface="Cambria Math"/>
                <a:cs typeface="Cambria Math"/>
              </a:rPr>
              <a:t> </a:t>
            </a:r>
            <a:r>
              <a:rPr sz="2800" spc="-10" dirty="0">
                <a:latin typeface="Cambria Math"/>
                <a:cs typeface="Cambria Math"/>
              </a:rPr>
              <a:t>𝟏</a:t>
            </a:r>
            <a:r>
              <a:rPr sz="2800" spc="-80" dirty="0">
                <a:latin typeface="Cambria Math"/>
                <a:cs typeface="Cambria Math"/>
              </a:rPr>
              <a:t>. . </a:t>
            </a:r>
            <a:r>
              <a:rPr sz="2800" spc="-50" dirty="0">
                <a:latin typeface="Cambria Math"/>
                <a:cs typeface="Cambria Math"/>
              </a:rPr>
              <a:t>𝒏</a:t>
            </a:r>
            <a:endParaRPr sz="2800" dirty="0">
              <a:latin typeface="Cambria Math"/>
              <a:cs typeface="Cambria Math"/>
            </a:endParaRPr>
          </a:p>
          <a:p>
            <a:pPr marL="704215" lvl="1" indent="-347980">
              <a:lnSpc>
                <a:spcPct val="100000"/>
              </a:lnSpc>
              <a:spcBef>
                <a:spcPts val="61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>
                <a:latin typeface="PMingLiU"/>
                <a:cs typeface="PMingLiU"/>
              </a:rPr>
              <a:t>情况</a:t>
            </a:r>
            <a:r>
              <a:rPr sz="2400" b="1" dirty="0">
                <a:latin typeface="Times New Roman"/>
                <a:cs typeface="Times New Roman"/>
              </a:rPr>
              <a:t>2</a:t>
            </a:r>
            <a:r>
              <a:rPr sz="2400" spc="-10" dirty="0">
                <a:latin typeface="PMingLiU"/>
                <a:cs typeface="PMingLiU"/>
              </a:rPr>
              <a:t>：结尾不同</a:t>
            </a:r>
            <a:endParaRPr sz="2400" dirty="0">
              <a:latin typeface="PMingLiU"/>
              <a:cs typeface="PMingLiU"/>
            </a:endParaRPr>
          </a:p>
          <a:p>
            <a:pPr marL="705485">
              <a:lnSpc>
                <a:spcPct val="100000"/>
              </a:lnSpc>
              <a:spcBef>
                <a:spcPts val="550"/>
              </a:spcBef>
              <a:tabLst>
                <a:tab pos="1092200" algn="l"/>
                <a:tab pos="1958975" algn="l"/>
              </a:tabLst>
            </a:pPr>
            <a:r>
              <a:rPr sz="1550" spc="305" dirty="0">
                <a:solidFill>
                  <a:srgbClr val="EB91D7"/>
                </a:solidFill>
                <a:latin typeface="PMingLiU"/>
                <a:cs typeface="PMingLiU"/>
              </a:rPr>
              <a:t>o</a:t>
            </a:r>
            <a:r>
              <a:rPr sz="1550" dirty="0">
                <a:solidFill>
                  <a:srgbClr val="EB91D7"/>
                </a:solidFill>
                <a:latin typeface="PMingLiU"/>
                <a:cs typeface="PMingLiU"/>
              </a:rPr>
              <a:t>	</a:t>
            </a:r>
            <a:r>
              <a:rPr sz="2200" dirty="0">
                <a:latin typeface="Cambria Math"/>
                <a:cs typeface="Cambria Math"/>
              </a:rPr>
              <a:t>𝑹𝒆𝒄</a:t>
            </a:r>
            <a:r>
              <a:rPr sz="2200" spc="280" dirty="0">
                <a:latin typeface="Cambria Math"/>
                <a:cs typeface="Cambria Math"/>
              </a:rPr>
              <a:t> </a:t>
            </a:r>
            <a:r>
              <a:rPr sz="2200" spc="-50" dirty="0">
                <a:latin typeface="Cambria Math"/>
                <a:cs typeface="Cambria Math"/>
              </a:rPr>
              <a:t>𝒊</a:t>
            </a:r>
            <a:r>
              <a:rPr sz="2200" dirty="0">
                <a:latin typeface="Cambria Math"/>
                <a:cs typeface="Cambria Math"/>
              </a:rPr>
              <a:t>	=</a:t>
            </a:r>
            <a:r>
              <a:rPr sz="2200" spc="120" dirty="0">
                <a:latin typeface="Cambria Math"/>
                <a:cs typeface="Cambria Math"/>
              </a:rPr>
              <a:t> </a:t>
            </a:r>
            <a:r>
              <a:rPr sz="2200" spc="-50" dirty="0">
                <a:latin typeface="Cambria Math"/>
                <a:cs typeface="Cambria Math"/>
              </a:rPr>
              <a:t>𝒊</a:t>
            </a:r>
            <a:endParaRPr sz="2200" dirty="0">
              <a:latin typeface="Cambria Math"/>
              <a:cs typeface="Cambria Math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096924" y="2466594"/>
          <a:ext cx="7406636" cy="19227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78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37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61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10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60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29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22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02260"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FF0000"/>
                      </a:solidFill>
                      <a:prstDash val="sysDash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ysDash"/>
                    </a:lnL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…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8064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ysDash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8191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…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38100">
                      <a:solidFill>
                        <a:srgbClr val="FF0000"/>
                      </a:solidFill>
                      <a:prstDash val="sysDash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𝒏</a:t>
                      </a:r>
                      <a:r>
                        <a:rPr sz="2000" spc="-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2000" spc="-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588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𝑿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937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latin typeface="Cambria Math"/>
                          <a:cs typeface="Cambria Math"/>
                        </a:rPr>
                        <a:t>𝑿[𝟏]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5244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latin typeface="Cambria Math"/>
                          <a:cs typeface="Cambria Math"/>
                        </a:rPr>
                        <a:t>𝑿[𝟐]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8128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latin typeface="Cambria Math"/>
                          <a:cs typeface="Cambria Math"/>
                        </a:rPr>
                        <a:t>𝑿[𝒊]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ysDash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92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ysDash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latin typeface="Cambria Math"/>
                          <a:cs typeface="Cambria Math"/>
                        </a:rPr>
                        <a:t>𝑿[𝒏]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9310"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R="202565" algn="r">
                        <a:lnSpc>
                          <a:spcPct val="100000"/>
                        </a:lnSpc>
                      </a:pPr>
                      <a:r>
                        <a:rPr sz="2200" spc="-20">
                          <a:latin typeface="Cambria Math"/>
                          <a:cs typeface="Cambria Math"/>
                        </a:rPr>
                        <a:t>𝑫[𝒊]</a:t>
                      </a:r>
                      <a:endParaRPr sz="2200">
                        <a:latin typeface="Cambria Math"/>
                        <a:cs typeface="Cambria Math"/>
                      </a:endParaRPr>
                    </a:p>
                  </a:txBody>
                  <a:tcPr marL="0" marR="0" marT="5715" marB="0">
                    <a:lnR w="38100">
                      <a:solidFill>
                        <a:srgbClr val="FF0000"/>
                      </a:solidFill>
                      <a:prstDash val="sysDash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ysDash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object 9"/>
          <p:cNvSpPr/>
          <p:nvPr/>
        </p:nvSpPr>
        <p:spPr>
          <a:xfrm>
            <a:off x="9116948" y="1018413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9"/>
                </a:lnTo>
                <a:lnTo>
                  <a:pt x="0" y="876426"/>
                </a:lnTo>
                <a:lnTo>
                  <a:pt x="7647" y="914364"/>
                </a:lnTo>
                <a:lnTo>
                  <a:pt x="28511" y="945324"/>
                </a:lnTo>
                <a:lnTo>
                  <a:pt x="59471" y="966188"/>
                </a:lnTo>
                <a:lnTo>
                  <a:pt x="97408" y="973836"/>
                </a:lnTo>
                <a:lnTo>
                  <a:pt x="1758823" y="973836"/>
                </a:lnTo>
                <a:lnTo>
                  <a:pt x="1796760" y="966188"/>
                </a:lnTo>
                <a:lnTo>
                  <a:pt x="1827720" y="945324"/>
                </a:lnTo>
                <a:lnTo>
                  <a:pt x="1848584" y="914364"/>
                </a:lnTo>
                <a:lnTo>
                  <a:pt x="1856231" y="876426"/>
                </a:lnTo>
                <a:lnTo>
                  <a:pt x="1856231" y="97409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346438" y="1314449"/>
            <a:ext cx="13970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>
                <a:solidFill>
                  <a:srgbClr val="FFFFFF"/>
                </a:solidFill>
                <a:latin typeface="PMingLiU"/>
                <a:cs typeface="PMingLiU"/>
              </a:rPr>
              <a:t>问题结构分析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825228" y="2052827"/>
            <a:ext cx="439420" cy="367030"/>
          </a:xfrm>
          <a:custGeom>
            <a:avLst/>
            <a:gdLst/>
            <a:ahLst/>
            <a:cxnLst/>
            <a:rect l="l" t="t" r="r" b="b"/>
            <a:pathLst>
              <a:path w="439420" h="367030">
                <a:moveTo>
                  <a:pt x="351154" y="0"/>
                </a:moveTo>
                <a:lnTo>
                  <a:pt x="87756" y="0"/>
                </a:lnTo>
                <a:lnTo>
                  <a:pt x="87756" y="183261"/>
                </a:lnTo>
                <a:lnTo>
                  <a:pt x="0" y="183261"/>
                </a:lnTo>
                <a:lnTo>
                  <a:pt x="219455" y="366522"/>
                </a:lnTo>
                <a:lnTo>
                  <a:pt x="438912" y="183261"/>
                </a:lnTo>
                <a:lnTo>
                  <a:pt x="351154" y="183261"/>
                </a:lnTo>
                <a:lnTo>
                  <a:pt x="35115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116948" y="2480691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9"/>
                </a:lnTo>
                <a:lnTo>
                  <a:pt x="0" y="876426"/>
                </a:lnTo>
                <a:lnTo>
                  <a:pt x="7647" y="914364"/>
                </a:lnTo>
                <a:lnTo>
                  <a:pt x="28511" y="945324"/>
                </a:lnTo>
                <a:lnTo>
                  <a:pt x="59471" y="966188"/>
                </a:lnTo>
                <a:lnTo>
                  <a:pt x="97408" y="973836"/>
                </a:lnTo>
                <a:lnTo>
                  <a:pt x="1758823" y="973836"/>
                </a:lnTo>
                <a:lnTo>
                  <a:pt x="1796760" y="966188"/>
                </a:lnTo>
                <a:lnTo>
                  <a:pt x="1827720" y="945324"/>
                </a:lnTo>
                <a:lnTo>
                  <a:pt x="1848584" y="914364"/>
                </a:lnTo>
                <a:lnTo>
                  <a:pt x="1856231" y="876426"/>
                </a:lnTo>
                <a:lnTo>
                  <a:pt x="1856231" y="97409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9346438" y="2776982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>
                <a:solidFill>
                  <a:srgbClr val="FFFFFF"/>
                </a:solidFill>
                <a:latin typeface="PMingLiU"/>
                <a:cs typeface="PMingLiU"/>
              </a:rPr>
              <a:t>递推关系建立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825228" y="3515105"/>
            <a:ext cx="439420" cy="365125"/>
          </a:xfrm>
          <a:custGeom>
            <a:avLst/>
            <a:gdLst/>
            <a:ahLst/>
            <a:cxnLst/>
            <a:rect l="l" t="t" r="r" b="b"/>
            <a:pathLst>
              <a:path w="439420" h="365125">
                <a:moveTo>
                  <a:pt x="351154" y="0"/>
                </a:moveTo>
                <a:lnTo>
                  <a:pt x="87756" y="0"/>
                </a:lnTo>
                <a:lnTo>
                  <a:pt x="87756" y="182499"/>
                </a:lnTo>
                <a:lnTo>
                  <a:pt x="0" y="182499"/>
                </a:lnTo>
                <a:lnTo>
                  <a:pt x="219455" y="364998"/>
                </a:lnTo>
                <a:lnTo>
                  <a:pt x="438912" y="182499"/>
                </a:lnTo>
                <a:lnTo>
                  <a:pt x="351154" y="182499"/>
                </a:lnTo>
                <a:lnTo>
                  <a:pt x="35115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9116948" y="3941445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8"/>
                </a:lnTo>
                <a:lnTo>
                  <a:pt x="0" y="876426"/>
                </a:lnTo>
                <a:lnTo>
                  <a:pt x="7647" y="914364"/>
                </a:lnTo>
                <a:lnTo>
                  <a:pt x="28511" y="945324"/>
                </a:lnTo>
                <a:lnTo>
                  <a:pt x="59471" y="966188"/>
                </a:lnTo>
                <a:lnTo>
                  <a:pt x="97408" y="973835"/>
                </a:lnTo>
                <a:lnTo>
                  <a:pt x="1758823" y="973835"/>
                </a:lnTo>
                <a:lnTo>
                  <a:pt x="1796760" y="966188"/>
                </a:lnTo>
                <a:lnTo>
                  <a:pt x="1827720" y="945324"/>
                </a:lnTo>
                <a:lnTo>
                  <a:pt x="1848584" y="914364"/>
                </a:lnTo>
                <a:lnTo>
                  <a:pt x="1856231" y="876426"/>
                </a:lnTo>
                <a:lnTo>
                  <a:pt x="1856231" y="97408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9346438" y="4237735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>
                <a:solidFill>
                  <a:srgbClr val="FFFFFF"/>
                </a:solidFill>
                <a:latin typeface="PMingLiU"/>
                <a:cs typeface="PMingLiU"/>
              </a:rPr>
              <a:t>自底向上计算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825228" y="4975859"/>
            <a:ext cx="439420" cy="365125"/>
          </a:xfrm>
          <a:custGeom>
            <a:avLst/>
            <a:gdLst/>
            <a:ahLst/>
            <a:cxnLst/>
            <a:rect l="l" t="t" r="r" b="b"/>
            <a:pathLst>
              <a:path w="439420" h="365125">
                <a:moveTo>
                  <a:pt x="351154" y="0"/>
                </a:moveTo>
                <a:lnTo>
                  <a:pt x="87756" y="0"/>
                </a:lnTo>
                <a:lnTo>
                  <a:pt x="87756" y="182498"/>
                </a:lnTo>
                <a:lnTo>
                  <a:pt x="0" y="182498"/>
                </a:lnTo>
                <a:lnTo>
                  <a:pt x="219455" y="364997"/>
                </a:lnTo>
                <a:lnTo>
                  <a:pt x="438912" y="182498"/>
                </a:lnTo>
                <a:lnTo>
                  <a:pt x="351154" y="182498"/>
                </a:lnTo>
                <a:lnTo>
                  <a:pt x="35115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9116948" y="5402198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9"/>
                </a:lnTo>
                <a:lnTo>
                  <a:pt x="0" y="876452"/>
                </a:lnTo>
                <a:lnTo>
                  <a:pt x="7647" y="914358"/>
                </a:lnTo>
                <a:lnTo>
                  <a:pt x="28511" y="945313"/>
                </a:lnTo>
                <a:lnTo>
                  <a:pt x="59471" y="966183"/>
                </a:lnTo>
                <a:lnTo>
                  <a:pt x="97408" y="973835"/>
                </a:lnTo>
                <a:lnTo>
                  <a:pt x="1758823" y="973835"/>
                </a:lnTo>
                <a:lnTo>
                  <a:pt x="1796760" y="966183"/>
                </a:lnTo>
                <a:lnTo>
                  <a:pt x="1827720" y="945313"/>
                </a:lnTo>
                <a:lnTo>
                  <a:pt x="1848584" y="914358"/>
                </a:lnTo>
                <a:lnTo>
                  <a:pt x="1856231" y="876452"/>
                </a:lnTo>
                <a:lnTo>
                  <a:pt x="1856231" y="97409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83C8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9346438" y="5698744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>
                <a:solidFill>
                  <a:srgbClr val="FFFFFF"/>
                </a:solidFill>
                <a:latin typeface="PMingLiU"/>
                <a:cs typeface="PMingLiU"/>
              </a:rPr>
              <a:t>最优方案追踪</a:t>
            </a:r>
            <a:endParaRPr sz="1800">
              <a:latin typeface="PMingLiU"/>
              <a:cs typeface="PMingLiU"/>
            </a:endParaRPr>
          </a:p>
        </p:txBody>
      </p: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1093279" y="5220589"/>
          <a:ext cx="7406636" cy="791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78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37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61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26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22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…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+1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…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𝒏</a:t>
                      </a:r>
                      <a:r>
                        <a:rPr sz="2000" spc="-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2000" spc="-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9718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18859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25">
                          <a:latin typeface="Cambria Math"/>
                          <a:cs typeface="Cambria Math"/>
                        </a:rPr>
                        <a:t>𝑹𝒆𝒄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9718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" name="object 21"/>
          <p:cNvSpPr/>
          <p:nvPr/>
        </p:nvSpPr>
        <p:spPr>
          <a:xfrm>
            <a:off x="4011929" y="3585971"/>
            <a:ext cx="850900" cy="356870"/>
          </a:xfrm>
          <a:custGeom>
            <a:avLst/>
            <a:gdLst/>
            <a:ahLst/>
            <a:cxnLst/>
            <a:rect l="l" t="t" r="r" b="b"/>
            <a:pathLst>
              <a:path w="850900" h="356870">
                <a:moveTo>
                  <a:pt x="850392" y="0"/>
                </a:moveTo>
                <a:lnTo>
                  <a:pt x="848052" y="69383"/>
                </a:lnTo>
                <a:lnTo>
                  <a:pt x="841676" y="126063"/>
                </a:lnTo>
                <a:lnTo>
                  <a:pt x="832229" y="164288"/>
                </a:lnTo>
                <a:lnTo>
                  <a:pt x="820674" y="178307"/>
                </a:lnTo>
                <a:lnTo>
                  <a:pt x="454914" y="178307"/>
                </a:lnTo>
                <a:lnTo>
                  <a:pt x="443358" y="192327"/>
                </a:lnTo>
                <a:lnTo>
                  <a:pt x="433911" y="230552"/>
                </a:lnTo>
                <a:lnTo>
                  <a:pt x="427535" y="287232"/>
                </a:lnTo>
                <a:lnTo>
                  <a:pt x="425196" y="356615"/>
                </a:lnTo>
                <a:lnTo>
                  <a:pt x="422856" y="287232"/>
                </a:lnTo>
                <a:lnTo>
                  <a:pt x="416480" y="230552"/>
                </a:lnTo>
                <a:lnTo>
                  <a:pt x="407033" y="192327"/>
                </a:lnTo>
                <a:lnTo>
                  <a:pt x="395478" y="178307"/>
                </a:lnTo>
                <a:lnTo>
                  <a:pt x="29718" y="178307"/>
                </a:lnTo>
                <a:lnTo>
                  <a:pt x="18162" y="164288"/>
                </a:lnTo>
                <a:lnTo>
                  <a:pt x="8715" y="126063"/>
                </a:lnTo>
                <a:lnTo>
                  <a:pt x="2339" y="69383"/>
                </a:lnTo>
                <a:lnTo>
                  <a:pt x="0" y="0"/>
                </a:lnTo>
              </a:path>
            </a:pathLst>
          </a:custGeom>
          <a:ln w="31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472685" y="4449953"/>
            <a:ext cx="490855" cy="1313815"/>
          </a:xfrm>
          <a:custGeom>
            <a:avLst/>
            <a:gdLst/>
            <a:ahLst/>
            <a:cxnLst/>
            <a:rect l="l" t="t" r="r" b="b"/>
            <a:pathLst>
              <a:path w="490854" h="1313814">
                <a:moveTo>
                  <a:pt x="0" y="1186561"/>
                </a:moveTo>
                <a:lnTo>
                  <a:pt x="16255" y="1313307"/>
                </a:lnTo>
                <a:lnTo>
                  <a:pt x="102379" y="1229664"/>
                </a:lnTo>
                <a:lnTo>
                  <a:pt x="65659" y="1229664"/>
                </a:lnTo>
                <a:lnTo>
                  <a:pt x="29717" y="1217104"/>
                </a:lnTo>
                <a:lnTo>
                  <a:pt x="35997" y="1199130"/>
                </a:lnTo>
                <a:lnTo>
                  <a:pt x="0" y="1186561"/>
                </a:lnTo>
                <a:close/>
              </a:path>
              <a:path w="490854" h="1313814">
                <a:moveTo>
                  <a:pt x="35997" y="1199130"/>
                </a:moveTo>
                <a:lnTo>
                  <a:pt x="29717" y="1217104"/>
                </a:lnTo>
                <a:lnTo>
                  <a:pt x="65659" y="1229664"/>
                </a:lnTo>
                <a:lnTo>
                  <a:pt x="71941" y="1211681"/>
                </a:lnTo>
                <a:lnTo>
                  <a:pt x="35997" y="1199130"/>
                </a:lnTo>
                <a:close/>
              </a:path>
              <a:path w="490854" h="1313814">
                <a:moveTo>
                  <a:pt x="71941" y="1211681"/>
                </a:moveTo>
                <a:lnTo>
                  <a:pt x="65659" y="1229664"/>
                </a:lnTo>
                <a:lnTo>
                  <a:pt x="102379" y="1229664"/>
                </a:lnTo>
                <a:lnTo>
                  <a:pt x="107950" y="1224254"/>
                </a:lnTo>
                <a:lnTo>
                  <a:pt x="71941" y="1211681"/>
                </a:lnTo>
                <a:close/>
              </a:path>
              <a:path w="490854" h="1313814">
                <a:moveTo>
                  <a:pt x="454913" y="0"/>
                </a:moveTo>
                <a:lnTo>
                  <a:pt x="35997" y="1199130"/>
                </a:lnTo>
                <a:lnTo>
                  <a:pt x="71941" y="1211681"/>
                </a:lnTo>
                <a:lnTo>
                  <a:pt x="490854" y="12446"/>
                </a:lnTo>
                <a:lnTo>
                  <a:pt x="45491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7">
            <a:extLst>
              <a:ext uri="{FF2B5EF4-FFF2-40B4-BE49-F238E27FC236}">
                <a16:creationId xmlns:a16="http://schemas.microsoft.com/office/drawing/2014/main" id="{094F9D94-B5CA-3E4F-BEF9-DF8BA267A3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5199" y="227074"/>
            <a:ext cx="5951411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最优方案追踪：记录决策过</a:t>
            </a:r>
            <a:r>
              <a:rPr sz="3600"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程</a:t>
            </a:r>
            <a:endParaRPr sz="36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9620" y="1162049"/>
            <a:ext cx="39268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5" dirty="0" err="1">
                <a:latin typeface="PMingLiU"/>
                <a:cs typeface="PMingLiU"/>
              </a:rPr>
              <a:t>从子问题中查找最优解</a:t>
            </a:r>
            <a:endParaRPr sz="2800" dirty="0">
              <a:latin typeface="PMingLiU"/>
              <a:cs typeface="PMingLiU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93279" y="2762885"/>
          <a:ext cx="7406636" cy="7912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78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37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61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26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22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…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…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461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𝒏</a:t>
                      </a:r>
                      <a:r>
                        <a:rPr sz="2000" spc="-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2000" spc="-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651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𝑿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937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latin typeface="Cambria Math"/>
                          <a:cs typeface="Cambria Math"/>
                        </a:rPr>
                        <a:t>𝑿[𝟏]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latin typeface="Cambria Math"/>
                          <a:cs typeface="Cambria Math"/>
                        </a:rPr>
                        <a:t>𝑿[𝟐]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latin typeface="Cambria Math"/>
                          <a:cs typeface="Cambria Math"/>
                        </a:rPr>
                        <a:t>𝑿[𝒊]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461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latin typeface="Cambria Math"/>
                          <a:cs typeface="Cambria Math"/>
                        </a:rPr>
                        <a:t>𝑿[𝒏]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9116948" y="1018413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9"/>
                </a:lnTo>
                <a:lnTo>
                  <a:pt x="0" y="876426"/>
                </a:lnTo>
                <a:lnTo>
                  <a:pt x="7647" y="914364"/>
                </a:lnTo>
                <a:lnTo>
                  <a:pt x="28511" y="945324"/>
                </a:lnTo>
                <a:lnTo>
                  <a:pt x="59471" y="966188"/>
                </a:lnTo>
                <a:lnTo>
                  <a:pt x="97408" y="973836"/>
                </a:lnTo>
                <a:lnTo>
                  <a:pt x="1758823" y="973836"/>
                </a:lnTo>
                <a:lnTo>
                  <a:pt x="1796760" y="966188"/>
                </a:lnTo>
                <a:lnTo>
                  <a:pt x="1827720" y="945324"/>
                </a:lnTo>
                <a:lnTo>
                  <a:pt x="1848584" y="914364"/>
                </a:lnTo>
                <a:lnTo>
                  <a:pt x="1856231" y="876426"/>
                </a:lnTo>
                <a:lnTo>
                  <a:pt x="1856231" y="97409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346438" y="1314449"/>
            <a:ext cx="13970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>
                <a:solidFill>
                  <a:srgbClr val="FFFFFF"/>
                </a:solidFill>
                <a:latin typeface="PMingLiU"/>
                <a:cs typeface="PMingLiU"/>
              </a:rPr>
              <a:t>问题结构分析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825228" y="2052827"/>
            <a:ext cx="439420" cy="367030"/>
          </a:xfrm>
          <a:custGeom>
            <a:avLst/>
            <a:gdLst/>
            <a:ahLst/>
            <a:cxnLst/>
            <a:rect l="l" t="t" r="r" b="b"/>
            <a:pathLst>
              <a:path w="439420" h="367030">
                <a:moveTo>
                  <a:pt x="351154" y="0"/>
                </a:moveTo>
                <a:lnTo>
                  <a:pt x="87756" y="0"/>
                </a:lnTo>
                <a:lnTo>
                  <a:pt x="87756" y="183261"/>
                </a:lnTo>
                <a:lnTo>
                  <a:pt x="0" y="183261"/>
                </a:lnTo>
                <a:lnTo>
                  <a:pt x="219455" y="366522"/>
                </a:lnTo>
                <a:lnTo>
                  <a:pt x="438912" y="183261"/>
                </a:lnTo>
                <a:lnTo>
                  <a:pt x="351154" y="183261"/>
                </a:lnTo>
                <a:lnTo>
                  <a:pt x="35115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116948" y="2480691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9"/>
                </a:lnTo>
                <a:lnTo>
                  <a:pt x="0" y="876426"/>
                </a:lnTo>
                <a:lnTo>
                  <a:pt x="7647" y="914364"/>
                </a:lnTo>
                <a:lnTo>
                  <a:pt x="28511" y="945324"/>
                </a:lnTo>
                <a:lnTo>
                  <a:pt x="59471" y="966188"/>
                </a:lnTo>
                <a:lnTo>
                  <a:pt x="97408" y="973836"/>
                </a:lnTo>
                <a:lnTo>
                  <a:pt x="1758823" y="973836"/>
                </a:lnTo>
                <a:lnTo>
                  <a:pt x="1796760" y="966188"/>
                </a:lnTo>
                <a:lnTo>
                  <a:pt x="1827720" y="945324"/>
                </a:lnTo>
                <a:lnTo>
                  <a:pt x="1848584" y="914364"/>
                </a:lnTo>
                <a:lnTo>
                  <a:pt x="1856231" y="876426"/>
                </a:lnTo>
                <a:lnTo>
                  <a:pt x="1856231" y="97409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346438" y="2776982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>
                <a:solidFill>
                  <a:srgbClr val="FFFFFF"/>
                </a:solidFill>
                <a:latin typeface="PMingLiU"/>
                <a:cs typeface="PMingLiU"/>
              </a:rPr>
              <a:t>递推关系建立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825228" y="3515105"/>
            <a:ext cx="439420" cy="365125"/>
          </a:xfrm>
          <a:custGeom>
            <a:avLst/>
            <a:gdLst/>
            <a:ahLst/>
            <a:cxnLst/>
            <a:rect l="l" t="t" r="r" b="b"/>
            <a:pathLst>
              <a:path w="439420" h="365125">
                <a:moveTo>
                  <a:pt x="351154" y="0"/>
                </a:moveTo>
                <a:lnTo>
                  <a:pt x="87756" y="0"/>
                </a:lnTo>
                <a:lnTo>
                  <a:pt x="87756" y="182499"/>
                </a:lnTo>
                <a:lnTo>
                  <a:pt x="0" y="182499"/>
                </a:lnTo>
                <a:lnTo>
                  <a:pt x="219455" y="364998"/>
                </a:lnTo>
                <a:lnTo>
                  <a:pt x="438912" y="182499"/>
                </a:lnTo>
                <a:lnTo>
                  <a:pt x="351154" y="182499"/>
                </a:lnTo>
                <a:lnTo>
                  <a:pt x="35115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116948" y="3941445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8"/>
                </a:lnTo>
                <a:lnTo>
                  <a:pt x="0" y="876426"/>
                </a:lnTo>
                <a:lnTo>
                  <a:pt x="7647" y="914364"/>
                </a:lnTo>
                <a:lnTo>
                  <a:pt x="28511" y="945324"/>
                </a:lnTo>
                <a:lnTo>
                  <a:pt x="59471" y="966188"/>
                </a:lnTo>
                <a:lnTo>
                  <a:pt x="97408" y="973835"/>
                </a:lnTo>
                <a:lnTo>
                  <a:pt x="1758823" y="973835"/>
                </a:lnTo>
                <a:lnTo>
                  <a:pt x="1796760" y="966188"/>
                </a:lnTo>
                <a:lnTo>
                  <a:pt x="1827720" y="945324"/>
                </a:lnTo>
                <a:lnTo>
                  <a:pt x="1848584" y="914364"/>
                </a:lnTo>
                <a:lnTo>
                  <a:pt x="1856231" y="876426"/>
                </a:lnTo>
                <a:lnTo>
                  <a:pt x="1856231" y="97408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346438" y="4237735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>
                <a:solidFill>
                  <a:srgbClr val="FFFFFF"/>
                </a:solidFill>
                <a:latin typeface="PMingLiU"/>
                <a:cs typeface="PMingLiU"/>
              </a:rPr>
              <a:t>自底向上计算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825228" y="4975859"/>
            <a:ext cx="439420" cy="365125"/>
          </a:xfrm>
          <a:custGeom>
            <a:avLst/>
            <a:gdLst/>
            <a:ahLst/>
            <a:cxnLst/>
            <a:rect l="l" t="t" r="r" b="b"/>
            <a:pathLst>
              <a:path w="439420" h="365125">
                <a:moveTo>
                  <a:pt x="351154" y="0"/>
                </a:moveTo>
                <a:lnTo>
                  <a:pt x="87756" y="0"/>
                </a:lnTo>
                <a:lnTo>
                  <a:pt x="87756" y="182498"/>
                </a:lnTo>
                <a:lnTo>
                  <a:pt x="0" y="182498"/>
                </a:lnTo>
                <a:lnTo>
                  <a:pt x="219455" y="364997"/>
                </a:lnTo>
                <a:lnTo>
                  <a:pt x="438912" y="182498"/>
                </a:lnTo>
                <a:lnTo>
                  <a:pt x="351154" y="182498"/>
                </a:lnTo>
                <a:lnTo>
                  <a:pt x="35115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116948" y="5402198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9"/>
                </a:lnTo>
                <a:lnTo>
                  <a:pt x="0" y="876452"/>
                </a:lnTo>
                <a:lnTo>
                  <a:pt x="7647" y="914358"/>
                </a:lnTo>
                <a:lnTo>
                  <a:pt x="28511" y="945313"/>
                </a:lnTo>
                <a:lnTo>
                  <a:pt x="59471" y="966183"/>
                </a:lnTo>
                <a:lnTo>
                  <a:pt x="97408" y="973835"/>
                </a:lnTo>
                <a:lnTo>
                  <a:pt x="1758823" y="973835"/>
                </a:lnTo>
                <a:lnTo>
                  <a:pt x="1796760" y="966183"/>
                </a:lnTo>
                <a:lnTo>
                  <a:pt x="1827720" y="945313"/>
                </a:lnTo>
                <a:lnTo>
                  <a:pt x="1848584" y="914358"/>
                </a:lnTo>
                <a:lnTo>
                  <a:pt x="1856231" y="876452"/>
                </a:lnTo>
                <a:lnTo>
                  <a:pt x="1856231" y="97409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83C8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9346438" y="5698744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>
                <a:solidFill>
                  <a:srgbClr val="FFFFFF"/>
                </a:solidFill>
                <a:latin typeface="PMingLiU"/>
                <a:cs typeface="PMingLiU"/>
              </a:rPr>
              <a:t>最优方案追踪</a:t>
            </a:r>
            <a:endParaRPr sz="1800">
              <a:latin typeface="PMingLiU"/>
              <a:cs typeface="PMingLiU"/>
            </a:endParaRPr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1093279" y="5220589"/>
          <a:ext cx="7406636" cy="791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78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37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61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26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22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…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461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…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𝒏</a:t>
                      </a:r>
                      <a:r>
                        <a:rPr sz="2000" spc="-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2000" spc="-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9718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18859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25">
                          <a:latin typeface="Cambria Math"/>
                          <a:cs typeface="Cambria Math"/>
                        </a:rPr>
                        <a:t>𝑹𝒆𝒄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9718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/>
          <p:nvPr/>
        </p:nvSpPr>
        <p:spPr>
          <a:xfrm>
            <a:off x="4336288" y="3979553"/>
            <a:ext cx="285750" cy="320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55"/>
              </a:lnSpc>
            </a:pPr>
            <a:r>
              <a:rPr sz="2200" spc="-25">
                <a:latin typeface="Cambria Math"/>
                <a:cs typeface="Cambria Math"/>
              </a:rPr>
              <a:t>𝑫</a:t>
            </a:r>
            <a:r>
              <a:rPr sz="2400" spc="-37" baseline="-15625">
                <a:latin typeface="Cambria Math"/>
                <a:cs typeface="Cambria Math"/>
              </a:rPr>
              <a:t>𝒊</a:t>
            </a:r>
            <a:endParaRPr sz="2400" baseline="-15625">
              <a:latin typeface="Cambria Math"/>
              <a:cs typeface="Cambria Math"/>
            </a:endParaRPr>
          </a:p>
        </p:txBody>
      </p:sp>
      <p:graphicFrame>
        <p:nvGraphicFramePr>
          <p:cNvPr id="18" name="object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2862318"/>
              </p:ext>
            </p:extLst>
          </p:nvPr>
        </p:nvGraphicFramePr>
        <p:xfrm>
          <a:off x="1093279" y="3894835"/>
          <a:ext cx="7406636" cy="791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07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8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61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26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22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588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𝟐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461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461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𝒏</a:t>
                      </a:r>
                      <a:r>
                        <a:rPr sz="2000" spc="-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2000" spc="-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651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𝑫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175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20">
                          <a:latin typeface="Cambria Math"/>
                          <a:cs typeface="Cambria Math"/>
                        </a:rPr>
                        <a:t>𝑫[𝟏]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5244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20" dirty="0">
                          <a:latin typeface="Cambria Math"/>
                          <a:cs typeface="Cambria Math"/>
                        </a:rPr>
                        <a:t>𝑫[𝟐]</a:t>
                      </a:r>
                      <a:endParaRPr sz="2000" dirty="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20">
                          <a:latin typeface="Cambria Math"/>
                          <a:cs typeface="Cambria Math"/>
                        </a:rPr>
                        <a:t>𝑫[𝒊]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461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20" dirty="0">
                          <a:latin typeface="Cambria Math"/>
                          <a:cs typeface="Cambria Math"/>
                        </a:rPr>
                        <a:t>𝑫[𝒏]</a:t>
                      </a:r>
                      <a:endParaRPr sz="2000" dirty="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object 19"/>
          <p:cNvSpPr txBox="1"/>
          <p:nvPr/>
        </p:nvSpPr>
        <p:spPr>
          <a:xfrm>
            <a:off x="66039" y="4213859"/>
            <a:ext cx="101536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35">
                <a:latin typeface="PMingLiU"/>
                <a:cs typeface="PMingLiU"/>
              </a:rPr>
              <a:t>已求</a:t>
            </a:r>
            <a:r>
              <a:rPr sz="2600" spc="-50">
                <a:latin typeface="PMingLiU"/>
                <a:cs typeface="PMingLiU"/>
              </a:rPr>
              <a:t>得</a:t>
            </a:r>
            <a:endParaRPr sz="2600">
              <a:latin typeface="PMingLiU"/>
              <a:cs typeface="PMingLiU"/>
            </a:endParaRPr>
          </a:p>
        </p:txBody>
      </p:sp>
      <p:sp>
        <p:nvSpPr>
          <p:cNvPr id="20" name="object 7">
            <a:extLst>
              <a:ext uri="{FF2B5EF4-FFF2-40B4-BE49-F238E27FC236}">
                <a16:creationId xmlns:a16="http://schemas.microsoft.com/office/drawing/2014/main" id="{D2BA7961-2DD0-6042-90F9-F28F6E9662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5199" y="227074"/>
            <a:ext cx="5951411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最优方案追踪：记录决策过</a:t>
            </a:r>
            <a:r>
              <a:rPr sz="3600"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程</a:t>
            </a:r>
            <a:endParaRPr sz="36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093279" y="2762885"/>
          <a:ext cx="7406636" cy="7912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78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37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61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26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22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…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…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461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𝒏</a:t>
                      </a:r>
                      <a:r>
                        <a:rPr sz="2000" spc="-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2000" spc="-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651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𝑿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937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latin typeface="Cambria Math"/>
                          <a:cs typeface="Cambria Math"/>
                        </a:rPr>
                        <a:t>𝑿[𝟏]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latin typeface="Cambria Math"/>
                          <a:cs typeface="Cambria Math"/>
                        </a:rPr>
                        <a:t>𝑿[𝟐]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latin typeface="Cambria Math"/>
                          <a:cs typeface="Cambria Math"/>
                        </a:rPr>
                        <a:t>𝑿[𝒊]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461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latin typeface="Cambria Math"/>
                          <a:cs typeface="Cambria Math"/>
                        </a:rPr>
                        <a:t>𝑿[𝒏]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93279" y="5220589"/>
          <a:ext cx="7406636" cy="791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78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37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61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26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22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…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461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…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𝒏</a:t>
                      </a:r>
                      <a:r>
                        <a:rPr sz="2000" spc="-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2000" spc="-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9718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18859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25">
                          <a:latin typeface="Cambria Math"/>
                          <a:cs typeface="Cambria Math"/>
                        </a:rPr>
                        <a:t>𝑹𝒆𝒄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9718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1074229" y="3888485"/>
            <a:ext cx="7458709" cy="817880"/>
            <a:chOff x="1074229" y="3888485"/>
            <a:chExt cx="7458709" cy="817880"/>
          </a:xfrm>
        </p:grpSpPr>
        <p:sp>
          <p:nvSpPr>
            <p:cNvPr id="5" name="object 5"/>
            <p:cNvSpPr/>
            <p:nvPr/>
          </p:nvSpPr>
          <p:spPr>
            <a:xfrm>
              <a:off x="1099629" y="3901185"/>
              <a:ext cx="7407275" cy="792480"/>
            </a:xfrm>
            <a:custGeom>
              <a:avLst/>
              <a:gdLst/>
              <a:ahLst/>
              <a:cxnLst/>
              <a:rect l="l" t="t" r="r" b="b"/>
              <a:pathLst>
                <a:path w="7407275" h="792479">
                  <a:moveTo>
                    <a:pt x="7407275" y="0"/>
                  </a:moveTo>
                  <a:lnTo>
                    <a:pt x="0" y="0"/>
                  </a:lnTo>
                  <a:lnTo>
                    <a:pt x="0" y="792480"/>
                  </a:lnTo>
                  <a:lnTo>
                    <a:pt x="7407275" y="792480"/>
                  </a:lnTo>
                  <a:lnTo>
                    <a:pt x="740727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99629" y="3901185"/>
              <a:ext cx="5761355" cy="396240"/>
            </a:xfrm>
            <a:custGeom>
              <a:avLst/>
              <a:gdLst/>
              <a:ahLst/>
              <a:cxnLst/>
              <a:rect l="l" t="t" r="r" b="b"/>
              <a:pathLst>
                <a:path w="5761355" h="396239">
                  <a:moveTo>
                    <a:pt x="823036" y="0"/>
                  </a:moveTo>
                  <a:lnTo>
                    <a:pt x="0" y="0"/>
                  </a:lnTo>
                  <a:lnTo>
                    <a:pt x="0" y="396240"/>
                  </a:lnTo>
                  <a:lnTo>
                    <a:pt x="823036" y="396240"/>
                  </a:lnTo>
                  <a:lnTo>
                    <a:pt x="823036" y="0"/>
                  </a:lnTo>
                  <a:close/>
                </a:path>
                <a:path w="5761355" h="396239">
                  <a:moveTo>
                    <a:pt x="5761240" y="0"/>
                  </a:moveTo>
                  <a:lnTo>
                    <a:pt x="4938217" y="0"/>
                  </a:lnTo>
                  <a:lnTo>
                    <a:pt x="3815270" y="0"/>
                  </a:lnTo>
                  <a:lnTo>
                    <a:pt x="2900870" y="0"/>
                  </a:lnTo>
                  <a:lnTo>
                    <a:pt x="2900870" y="396240"/>
                  </a:lnTo>
                  <a:lnTo>
                    <a:pt x="3815270" y="396240"/>
                  </a:lnTo>
                  <a:lnTo>
                    <a:pt x="4938204" y="396240"/>
                  </a:lnTo>
                  <a:lnTo>
                    <a:pt x="5761240" y="396240"/>
                  </a:lnTo>
                  <a:lnTo>
                    <a:pt x="5761240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99629" y="4297438"/>
              <a:ext cx="7407909" cy="396240"/>
            </a:xfrm>
            <a:custGeom>
              <a:avLst/>
              <a:gdLst/>
              <a:ahLst/>
              <a:cxnLst/>
              <a:rect l="l" t="t" r="r" b="b"/>
              <a:pathLst>
                <a:path w="7407909" h="396239">
                  <a:moveTo>
                    <a:pt x="1360779" y="0"/>
                  </a:moveTo>
                  <a:lnTo>
                    <a:pt x="823036" y="0"/>
                  </a:lnTo>
                  <a:lnTo>
                    <a:pt x="0" y="0"/>
                  </a:lnTo>
                  <a:lnTo>
                    <a:pt x="0" y="396227"/>
                  </a:lnTo>
                  <a:lnTo>
                    <a:pt x="823023" y="396227"/>
                  </a:lnTo>
                  <a:lnTo>
                    <a:pt x="1360779" y="396227"/>
                  </a:lnTo>
                  <a:lnTo>
                    <a:pt x="1360779" y="0"/>
                  </a:lnTo>
                  <a:close/>
                </a:path>
                <a:path w="7407909" h="396239">
                  <a:moveTo>
                    <a:pt x="6584201" y="0"/>
                  </a:moveTo>
                  <a:lnTo>
                    <a:pt x="6584201" y="0"/>
                  </a:lnTo>
                  <a:lnTo>
                    <a:pt x="2034603" y="0"/>
                  </a:lnTo>
                  <a:lnTo>
                    <a:pt x="2034603" y="396227"/>
                  </a:lnTo>
                  <a:lnTo>
                    <a:pt x="6584201" y="396227"/>
                  </a:lnTo>
                  <a:lnTo>
                    <a:pt x="6584201" y="0"/>
                  </a:lnTo>
                  <a:close/>
                </a:path>
                <a:path w="7407909" h="396239">
                  <a:moveTo>
                    <a:pt x="7407288" y="0"/>
                  </a:moveTo>
                  <a:lnTo>
                    <a:pt x="6584251" y="0"/>
                  </a:lnTo>
                  <a:lnTo>
                    <a:pt x="6584251" y="396227"/>
                  </a:lnTo>
                  <a:lnTo>
                    <a:pt x="7407288" y="396227"/>
                  </a:lnTo>
                  <a:lnTo>
                    <a:pt x="7407288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922652" y="3894835"/>
              <a:ext cx="5761355" cy="805180"/>
            </a:xfrm>
            <a:custGeom>
              <a:avLst/>
              <a:gdLst/>
              <a:ahLst/>
              <a:cxnLst/>
              <a:rect l="l" t="t" r="r" b="b"/>
              <a:pathLst>
                <a:path w="5761355" h="805179">
                  <a:moveTo>
                    <a:pt x="0" y="0"/>
                  </a:moveTo>
                  <a:lnTo>
                    <a:pt x="0" y="805180"/>
                  </a:lnTo>
                </a:path>
                <a:path w="5761355" h="805179">
                  <a:moveTo>
                    <a:pt x="537845" y="0"/>
                  </a:moveTo>
                  <a:lnTo>
                    <a:pt x="537845" y="805180"/>
                  </a:lnTo>
                </a:path>
                <a:path w="5761355" h="805179">
                  <a:moveTo>
                    <a:pt x="1211580" y="0"/>
                  </a:moveTo>
                  <a:lnTo>
                    <a:pt x="1211580" y="805180"/>
                  </a:lnTo>
                </a:path>
                <a:path w="5761355" h="805179">
                  <a:moveTo>
                    <a:pt x="2077847" y="0"/>
                  </a:moveTo>
                  <a:lnTo>
                    <a:pt x="2077847" y="805180"/>
                  </a:lnTo>
                </a:path>
                <a:path w="5761355" h="805179">
                  <a:moveTo>
                    <a:pt x="2992247" y="0"/>
                  </a:moveTo>
                  <a:lnTo>
                    <a:pt x="2992247" y="805180"/>
                  </a:lnTo>
                </a:path>
                <a:path w="5761355" h="805179">
                  <a:moveTo>
                    <a:pt x="4115181" y="0"/>
                  </a:moveTo>
                  <a:lnTo>
                    <a:pt x="4115181" y="805180"/>
                  </a:lnTo>
                </a:path>
                <a:path w="5761355" h="805179">
                  <a:moveTo>
                    <a:pt x="4938141" y="0"/>
                  </a:moveTo>
                  <a:lnTo>
                    <a:pt x="4938141" y="805180"/>
                  </a:lnTo>
                </a:path>
                <a:path w="5761355" h="805179">
                  <a:moveTo>
                    <a:pt x="5761228" y="0"/>
                  </a:moveTo>
                  <a:lnTo>
                    <a:pt x="5761228" y="80518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93279" y="4297425"/>
              <a:ext cx="7420609" cy="0"/>
            </a:xfrm>
            <a:custGeom>
              <a:avLst/>
              <a:gdLst/>
              <a:ahLst/>
              <a:cxnLst/>
              <a:rect l="l" t="t" r="r" b="b"/>
              <a:pathLst>
                <a:path w="7420609">
                  <a:moveTo>
                    <a:pt x="0" y="0"/>
                  </a:moveTo>
                  <a:lnTo>
                    <a:pt x="7420038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93279" y="3894835"/>
              <a:ext cx="7420609" cy="805180"/>
            </a:xfrm>
            <a:custGeom>
              <a:avLst/>
              <a:gdLst/>
              <a:ahLst/>
              <a:cxnLst/>
              <a:rect l="l" t="t" r="r" b="b"/>
              <a:pathLst>
                <a:path w="7420609" h="805179">
                  <a:moveTo>
                    <a:pt x="6350" y="0"/>
                  </a:moveTo>
                  <a:lnTo>
                    <a:pt x="6350" y="805180"/>
                  </a:lnTo>
                </a:path>
                <a:path w="7420609" h="805179">
                  <a:moveTo>
                    <a:pt x="7413688" y="0"/>
                  </a:moveTo>
                  <a:lnTo>
                    <a:pt x="7413688" y="805180"/>
                  </a:lnTo>
                </a:path>
                <a:path w="7420609" h="805179">
                  <a:moveTo>
                    <a:pt x="0" y="6350"/>
                  </a:moveTo>
                  <a:lnTo>
                    <a:pt x="7420038" y="6350"/>
                  </a:lnTo>
                </a:path>
                <a:path w="7420609" h="805179">
                  <a:moveTo>
                    <a:pt x="0" y="798830"/>
                  </a:moveTo>
                  <a:lnTo>
                    <a:pt x="7420038" y="79883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929002" y="3907535"/>
            <a:ext cx="525145" cy="37084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11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45"/>
              </a:spcBef>
            </a:pPr>
            <a:r>
              <a:rPr sz="2000" b="1" spc="-5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66848" y="3907535"/>
            <a:ext cx="661035" cy="37084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1115" rIns="0" bIns="0" rtlCol="0">
            <a:spAutoFit/>
          </a:bodyPr>
          <a:lstStyle/>
          <a:p>
            <a:pPr marR="55880" algn="ctr">
              <a:lnSpc>
                <a:spcPct val="100000"/>
              </a:lnSpc>
              <a:spcBef>
                <a:spcPts val="245"/>
              </a:spcBef>
            </a:pPr>
            <a:r>
              <a:rPr sz="2000" spc="-50">
                <a:solidFill>
                  <a:srgbClr val="FFFFFF"/>
                </a:solidFill>
                <a:latin typeface="Cambria Math"/>
                <a:cs typeface="Cambria Math"/>
              </a:rPr>
              <a:t>𝟐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140582" y="3907535"/>
            <a:ext cx="854075" cy="37084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1115" rIns="0" bIns="0" rtlCol="0">
            <a:spAutoFit/>
          </a:bodyPr>
          <a:lstStyle/>
          <a:p>
            <a:pPr marR="54610" algn="ctr">
              <a:lnSpc>
                <a:spcPct val="100000"/>
              </a:lnSpc>
              <a:spcBef>
                <a:spcPts val="245"/>
              </a:spcBef>
            </a:pPr>
            <a:r>
              <a:rPr sz="2000" spc="-5">
                <a:solidFill>
                  <a:srgbClr val="FFFFFF"/>
                </a:solidFill>
                <a:latin typeface="Cambria Math"/>
                <a:cs typeface="Cambria Math"/>
              </a:rPr>
              <a:t>…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921250" y="3926332"/>
            <a:ext cx="111061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4610" algn="ctr">
              <a:lnSpc>
                <a:spcPct val="100000"/>
              </a:lnSpc>
              <a:spcBef>
                <a:spcPts val="95"/>
              </a:spcBef>
            </a:pPr>
            <a:r>
              <a:rPr sz="2000" spc="-50">
                <a:solidFill>
                  <a:srgbClr val="FFFFFF"/>
                </a:solidFill>
                <a:latin typeface="Cambria Math"/>
                <a:cs typeface="Cambria Math"/>
              </a:rPr>
              <a:t>𝒊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867143" y="3907535"/>
            <a:ext cx="810895" cy="37084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1115" rIns="0" bIns="0" rtlCol="0">
            <a:spAutoFit/>
          </a:bodyPr>
          <a:lstStyle/>
          <a:p>
            <a:pPr marL="62865">
              <a:lnSpc>
                <a:spcPct val="100000"/>
              </a:lnSpc>
              <a:spcBef>
                <a:spcPts val="245"/>
              </a:spcBef>
            </a:pPr>
            <a:r>
              <a:rPr sz="2000">
                <a:solidFill>
                  <a:srgbClr val="FFFFFF"/>
                </a:solidFill>
                <a:latin typeface="Cambria Math"/>
                <a:cs typeface="Cambria Math"/>
              </a:rPr>
              <a:t>𝒏</a:t>
            </a:r>
            <a:r>
              <a:rPr sz="2000" spc="-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000">
                <a:solidFill>
                  <a:srgbClr val="FFFFFF"/>
                </a:solidFill>
                <a:latin typeface="Cambria Math"/>
                <a:cs typeface="Cambria Math"/>
              </a:rPr>
              <a:t>−</a:t>
            </a:r>
            <a:r>
              <a:rPr sz="2000" spc="-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000" spc="-50">
                <a:solidFill>
                  <a:srgbClr val="FFFFFF"/>
                </a:solidFill>
                <a:latin typeface="Cambria Math"/>
                <a:cs typeface="Cambria Math"/>
              </a:rPr>
              <a:t>𝟏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90231" y="3907535"/>
            <a:ext cx="810895" cy="37084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1115" rIns="0" bIns="0" rtlCol="0">
            <a:spAutoFit/>
          </a:bodyPr>
          <a:lstStyle/>
          <a:p>
            <a:pPr marR="56515" algn="ctr">
              <a:lnSpc>
                <a:spcPct val="100000"/>
              </a:lnSpc>
              <a:spcBef>
                <a:spcPts val="245"/>
              </a:spcBef>
            </a:pPr>
            <a:r>
              <a:rPr sz="2000" spc="-50">
                <a:solidFill>
                  <a:srgbClr val="FFFFFF"/>
                </a:solidFill>
                <a:latin typeface="Cambria Math"/>
                <a:cs typeface="Cambria Math"/>
              </a:rPr>
              <a:t>𝒏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03350" y="4324096"/>
            <a:ext cx="1029969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95934" algn="l"/>
              </a:tabLst>
            </a:pPr>
            <a:r>
              <a:rPr sz="2000" spc="-50">
                <a:latin typeface="Cambria Math"/>
                <a:cs typeface="Cambria Math"/>
              </a:rPr>
              <a:t>𝑫</a:t>
            </a:r>
            <a:r>
              <a:rPr sz="2000">
                <a:latin typeface="Cambria Math"/>
                <a:cs typeface="Cambria Math"/>
              </a:rPr>
              <a:t>	</a:t>
            </a:r>
            <a:r>
              <a:rPr sz="2000" spc="-20">
                <a:latin typeface="Cambria Math"/>
                <a:cs typeface="Cambria Math"/>
              </a:rPr>
              <a:t>𝑫[𝟏]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466848" y="4316476"/>
            <a:ext cx="661035" cy="370840"/>
          </a:xfrm>
          <a:prstGeom prst="rect">
            <a:avLst/>
          </a:prstGeom>
          <a:solidFill>
            <a:srgbClr val="CACACA"/>
          </a:solidFill>
        </p:spPr>
        <p:txBody>
          <a:bodyPr vert="horz" wrap="square" lIns="0" tIns="184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5"/>
              </a:spcBef>
            </a:pPr>
            <a:r>
              <a:rPr sz="2000" spc="-20">
                <a:latin typeface="Cambria Math"/>
                <a:cs typeface="Cambria Math"/>
              </a:rPr>
              <a:t>𝑫[𝟐]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921250" y="4322571"/>
            <a:ext cx="111061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2735">
              <a:lnSpc>
                <a:spcPct val="100000"/>
              </a:lnSpc>
              <a:spcBef>
                <a:spcPts val="95"/>
              </a:spcBef>
            </a:pPr>
            <a:r>
              <a:rPr sz="2000" spc="-20">
                <a:latin typeface="Cambria Math"/>
                <a:cs typeface="Cambria Math"/>
              </a:rPr>
              <a:t>𝑫[𝒊]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690231" y="4322571"/>
            <a:ext cx="81089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7314">
              <a:lnSpc>
                <a:spcPct val="100000"/>
              </a:lnSpc>
              <a:spcBef>
                <a:spcPts val="95"/>
              </a:spcBef>
            </a:pPr>
            <a:r>
              <a:rPr sz="2000" spc="-20">
                <a:latin typeface="Cambria Math"/>
                <a:cs typeface="Cambria Math"/>
              </a:rPr>
              <a:t>𝑫[𝒏]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59460" y="1162049"/>
            <a:ext cx="39268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5" dirty="0" err="1">
                <a:latin typeface="PMingLiU"/>
                <a:cs typeface="PMingLiU"/>
              </a:rPr>
              <a:t>从子问题中查找最优解</a:t>
            </a:r>
            <a:endParaRPr sz="2800" dirty="0">
              <a:latin typeface="PMingLiU"/>
              <a:cs typeface="PMingLiU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9116948" y="1018413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9"/>
                </a:lnTo>
                <a:lnTo>
                  <a:pt x="0" y="876426"/>
                </a:lnTo>
                <a:lnTo>
                  <a:pt x="7647" y="914364"/>
                </a:lnTo>
                <a:lnTo>
                  <a:pt x="28511" y="945324"/>
                </a:lnTo>
                <a:lnTo>
                  <a:pt x="59471" y="966188"/>
                </a:lnTo>
                <a:lnTo>
                  <a:pt x="97408" y="973836"/>
                </a:lnTo>
                <a:lnTo>
                  <a:pt x="1758823" y="973836"/>
                </a:lnTo>
                <a:lnTo>
                  <a:pt x="1796760" y="966188"/>
                </a:lnTo>
                <a:lnTo>
                  <a:pt x="1827720" y="945324"/>
                </a:lnTo>
                <a:lnTo>
                  <a:pt x="1848584" y="914364"/>
                </a:lnTo>
                <a:lnTo>
                  <a:pt x="1856231" y="876426"/>
                </a:lnTo>
                <a:lnTo>
                  <a:pt x="1856231" y="97409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9346438" y="1314449"/>
            <a:ext cx="13970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>
                <a:solidFill>
                  <a:srgbClr val="FFFFFF"/>
                </a:solidFill>
                <a:latin typeface="PMingLiU"/>
                <a:cs typeface="PMingLiU"/>
              </a:rPr>
              <a:t>问题结构分析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9825228" y="2052827"/>
            <a:ext cx="439420" cy="367030"/>
          </a:xfrm>
          <a:custGeom>
            <a:avLst/>
            <a:gdLst/>
            <a:ahLst/>
            <a:cxnLst/>
            <a:rect l="l" t="t" r="r" b="b"/>
            <a:pathLst>
              <a:path w="439420" h="367030">
                <a:moveTo>
                  <a:pt x="351154" y="0"/>
                </a:moveTo>
                <a:lnTo>
                  <a:pt x="87756" y="0"/>
                </a:lnTo>
                <a:lnTo>
                  <a:pt x="87756" y="183261"/>
                </a:lnTo>
                <a:lnTo>
                  <a:pt x="0" y="183261"/>
                </a:lnTo>
                <a:lnTo>
                  <a:pt x="219455" y="366522"/>
                </a:lnTo>
                <a:lnTo>
                  <a:pt x="438912" y="183261"/>
                </a:lnTo>
                <a:lnTo>
                  <a:pt x="351154" y="183261"/>
                </a:lnTo>
                <a:lnTo>
                  <a:pt x="35115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9116948" y="2480691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9"/>
                </a:lnTo>
                <a:lnTo>
                  <a:pt x="0" y="876426"/>
                </a:lnTo>
                <a:lnTo>
                  <a:pt x="7647" y="914364"/>
                </a:lnTo>
                <a:lnTo>
                  <a:pt x="28511" y="945324"/>
                </a:lnTo>
                <a:lnTo>
                  <a:pt x="59471" y="966188"/>
                </a:lnTo>
                <a:lnTo>
                  <a:pt x="97408" y="973836"/>
                </a:lnTo>
                <a:lnTo>
                  <a:pt x="1758823" y="973836"/>
                </a:lnTo>
                <a:lnTo>
                  <a:pt x="1796760" y="966188"/>
                </a:lnTo>
                <a:lnTo>
                  <a:pt x="1827720" y="945324"/>
                </a:lnTo>
                <a:lnTo>
                  <a:pt x="1848584" y="914364"/>
                </a:lnTo>
                <a:lnTo>
                  <a:pt x="1856231" y="876426"/>
                </a:lnTo>
                <a:lnTo>
                  <a:pt x="1856231" y="97409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9346438" y="2776982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>
                <a:solidFill>
                  <a:srgbClr val="FFFFFF"/>
                </a:solidFill>
                <a:latin typeface="PMingLiU"/>
                <a:cs typeface="PMingLiU"/>
              </a:rPr>
              <a:t>递推关系建立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9825228" y="3515105"/>
            <a:ext cx="439420" cy="365125"/>
          </a:xfrm>
          <a:custGeom>
            <a:avLst/>
            <a:gdLst/>
            <a:ahLst/>
            <a:cxnLst/>
            <a:rect l="l" t="t" r="r" b="b"/>
            <a:pathLst>
              <a:path w="439420" h="365125">
                <a:moveTo>
                  <a:pt x="351154" y="0"/>
                </a:moveTo>
                <a:lnTo>
                  <a:pt x="87756" y="0"/>
                </a:lnTo>
                <a:lnTo>
                  <a:pt x="87756" y="182499"/>
                </a:lnTo>
                <a:lnTo>
                  <a:pt x="0" y="182499"/>
                </a:lnTo>
                <a:lnTo>
                  <a:pt x="219455" y="364998"/>
                </a:lnTo>
                <a:lnTo>
                  <a:pt x="438912" y="182499"/>
                </a:lnTo>
                <a:lnTo>
                  <a:pt x="351154" y="182499"/>
                </a:lnTo>
                <a:lnTo>
                  <a:pt x="35115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9116948" y="3941445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8"/>
                </a:lnTo>
                <a:lnTo>
                  <a:pt x="0" y="876426"/>
                </a:lnTo>
                <a:lnTo>
                  <a:pt x="7647" y="914364"/>
                </a:lnTo>
                <a:lnTo>
                  <a:pt x="28511" y="945324"/>
                </a:lnTo>
                <a:lnTo>
                  <a:pt x="59471" y="966188"/>
                </a:lnTo>
                <a:lnTo>
                  <a:pt x="97408" y="973835"/>
                </a:lnTo>
                <a:lnTo>
                  <a:pt x="1758823" y="973835"/>
                </a:lnTo>
                <a:lnTo>
                  <a:pt x="1796760" y="966188"/>
                </a:lnTo>
                <a:lnTo>
                  <a:pt x="1827720" y="945324"/>
                </a:lnTo>
                <a:lnTo>
                  <a:pt x="1848584" y="914364"/>
                </a:lnTo>
                <a:lnTo>
                  <a:pt x="1856231" y="876426"/>
                </a:lnTo>
                <a:lnTo>
                  <a:pt x="1856231" y="97408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9346438" y="4237735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>
                <a:solidFill>
                  <a:srgbClr val="FFFFFF"/>
                </a:solidFill>
                <a:latin typeface="PMingLiU"/>
                <a:cs typeface="PMingLiU"/>
              </a:rPr>
              <a:t>自底向上计算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9825228" y="4975859"/>
            <a:ext cx="439420" cy="365125"/>
          </a:xfrm>
          <a:custGeom>
            <a:avLst/>
            <a:gdLst/>
            <a:ahLst/>
            <a:cxnLst/>
            <a:rect l="l" t="t" r="r" b="b"/>
            <a:pathLst>
              <a:path w="439420" h="365125">
                <a:moveTo>
                  <a:pt x="351154" y="0"/>
                </a:moveTo>
                <a:lnTo>
                  <a:pt x="87756" y="0"/>
                </a:lnTo>
                <a:lnTo>
                  <a:pt x="87756" y="182498"/>
                </a:lnTo>
                <a:lnTo>
                  <a:pt x="0" y="182498"/>
                </a:lnTo>
                <a:lnTo>
                  <a:pt x="219455" y="364997"/>
                </a:lnTo>
                <a:lnTo>
                  <a:pt x="438912" y="182498"/>
                </a:lnTo>
                <a:lnTo>
                  <a:pt x="351154" y="182498"/>
                </a:lnTo>
                <a:lnTo>
                  <a:pt x="35115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9116948" y="5402198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9"/>
                </a:lnTo>
                <a:lnTo>
                  <a:pt x="0" y="876452"/>
                </a:lnTo>
                <a:lnTo>
                  <a:pt x="7647" y="914358"/>
                </a:lnTo>
                <a:lnTo>
                  <a:pt x="28511" y="945313"/>
                </a:lnTo>
                <a:lnTo>
                  <a:pt x="59471" y="966183"/>
                </a:lnTo>
                <a:lnTo>
                  <a:pt x="97408" y="973835"/>
                </a:lnTo>
                <a:lnTo>
                  <a:pt x="1758823" y="973835"/>
                </a:lnTo>
                <a:lnTo>
                  <a:pt x="1796760" y="966183"/>
                </a:lnTo>
                <a:lnTo>
                  <a:pt x="1827720" y="945313"/>
                </a:lnTo>
                <a:lnTo>
                  <a:pt x="1848584" y="914358"/>
                </a:lnTo>
                <a:lnTo>
                  <a:pt x="1856231" y="876452"/>
                </a:lnTo>
                <a:lnTo>
                  <a:pt x="1856231" y="97409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83C8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9346438" y="5698744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>
                <a:solidFill>
                  <a:srgbClr val="FFFFFF"/>
                </a:solidFill>
                <a:latin typeface="PMingLiU"/>
                <a:cs typeface="PMingLiU"/>
              </a:rPr>
              <a:t>最优方案追踪</a:t>
            </a:r>
            <a:endParaRPr sz="1800">
              <a:latin typeface="PMingLiU"/>
              <a:cs typeface="PMingLiU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945253" y="4265548"/>
            <a:ext cx="2889885" cy="942975"/>
            <a:chOff x="4945253" y="4265548"/>
            <a:chExt cx="2889885" cy="942975"/>
          </a:xfrm>
        </p:grpSpPr>
        <p:sp>
          <p:nvSpPr>
            <p:cNvPr id="35" name="object 35"/>
            <p:cNvSpPr/>
            <p:nvPr/>
          </p:nvSpPr>
          <p:spPr>
            <a:xfrm>
              <a:off x="4967478" y="4287773"/>
              <a:ext cx="1026794" cy="406400"/>
            </a:xfrm>
            <a:custGeom>
              <a:avLst/>
              <a:gdLst/>
              <a:ahLst/>
              <a:cxnLst/>
              <a:rect l="l" t="t" r="r" b="b"/>
              <a:pathLst>
                <a:path w="1026794" h="406400">
                  <a:moveTo>
                    <a:pt x="0" y="67690"/>
                  </a:moveTo>
                  <a:lnTo>
                    <a:pt x="5326" y="41362"/>
                  </a:lnTo>
                  <a:lnTo>
                    <a:pt x="19843" y="19843"/>
                  </a:lnTo>
                  <a:lnTo>
                    <a:pt x="41362" y="5326"/>
                  </a:lnTo>
                  <a:lnTo>
                    <a:pt x="67691" y="0"/>
                  </a:lnTo>
                  <a:lnTo>
                    <a:pt x="958723" y="0"/>
                  </a:lnTo>
                  <a:lnTo>
                    <a:pt x="985051" y="5326"/>
                  </a:lnTo>
                  <a:lnTo>
                    <a:pt x="1006570" y="19843"/>
                  </a:lnTo>
                  <a:lnTo>
                    <a:pt x="1021087" y="41362"/>
                  </a:lnTo>
                  <a:lnTo>
                    <a:pt x="1026413" y="67690"/>
                  </a:lnTo>
                  <a:lnTo>
                    <a:pt x="1026413" y="338455"/>
                  </a:lnTo>
                  <a:lnTo>
                    <a:pt x="1021087" y="364783"/>
                  </a:lnTo>
                  <a:lnTo>
                    <a:pt x="1006570" y="386302"/>
                  </a:lnTo>
                  <a:lnTo>
                    <a:pt x="985051" y="400819"/>
                  </a:lnTo>
                  <a:lnTo>
                    <a:pt x="958723" y="406145"/>
                  </a:lnTo>
                  <a:lnTo>
                    <a:pt x="67691" y="406145"/>
                  </a:lnTo>
                  <a:lnTo>
                    <a:pt x="41362" y="400819"/>
                  </a:lnTo>
                  <a:lnTo>
                    <a:pt x="19843" y="386302"/>
                  </a:lnTo>
                  <a:lnTo>
                    <a:pt x="5326" y="364783"/>
                  </a:lnTo>
                  <a:lnTo>
                    <a:pt x="0" y="338455"/>
                  </a:lnTo>
                  <a:lnTo>
                    <a:pt x="0" y="67690"/>
                  </a:lnTo>
                  <a:close/>
                </a:path>
              </a:pathLst>
            </a:custGeom>
            <a:ln w="44450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856351" y="4622418"/>
              <a:ext cx="1978660" cy="586105"/>
            </a:xfrm>
            <a:custGeom>
              <a:avLst/>
              <a:gdLst/>
              <a:ahLst/>
              <a:cxnLst/>
              <a:rect l="l" t="t" r="r" b="b"/>
              <a:pathLst>
                <a:path w="1978658" h="586104">
                  <a:moveTo>
                    <a:pt x="0" y="0"/>
                  </a:moveTo>
                  <a:lnTo>
                    <a:pt x="349758" y="190372"/>
                  </a:lnTo>
                  <a:lnTo>
                    <a:pt x="24002" y="190372"/>
                  </a:lnTo>
                  <a:lnTo>
                    <a:pt x="24002" y="585850"/>
                  </a:lnTo>
                  <a:lnTo>
                    <a:pt x="1978532" y="585850"/>
                  </a:lnTo>
                  <a:lnTo>
                    <a:pt x="1978532" y="190372"/>
                  </a:lnTo>
                  <a:lnTo>
                    <a:pt x="838326" y="1903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83C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6387846" y="4777232"/>
            <a:ext cx="939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>
                <a:solidFill>
                  <a:srgbClr val="FFFFFF"/>
                </a:solidFill>
                <a:latin typeface="PMingLiU"/>
                <a:cs typeface="PMingLiU"/>
              </a:rPr>
              <a:t>最优解</a:t>
            </a:r>
            <a:endParaRPr sz="2400">
              <a:latin typeface="PMingLiU"/>
              <a:cs typeface="PMingLiU"/>
            </a:endParaRPr>
          </a:p>
        </p:txBody>
      </p:sp>
      <p:sp>
        <p:nvSpPr>
          <p:cNvPr id="38" name="object 7">
            <a:extLst>
              <a:ext uri="{FF2B5EF4-FFF2-40B4-BE49-F238E27FC236}">
                <a16:creationId xmlns:a16="http://schemas.microsoft.com/office/drawing/2014/main" id="{E657063A-4B7F-054E-9FB3-2881C2243F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5199" y="227074"/>
            <a:ext cx="5951411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最优方案追踪：记录决策过</a:t>
            </a:r>
            <a:r>
              <a:rPr sz="3600"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程</a:t>
            </a:r>
            <a:endParaRPr sz="36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7043" y="1018413"/>
            <a:ext cx="4059554" cy="104965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7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5" dirty="0" err="1">
                <a:latin typeface="PMingLiU"/>
                <a:cs typeface="PMingLiU"/>
              </a:rPr>
              <a:t>从子问题中查找最优解</a:t>
            </a:r>
            <a:endParaRPr sz="2800" dirty="0">
              <a:latin typeface="PMingLiU"/>
              <a:cs typeface="PMingLiU"/>
            </a:endParaRPr>
          </a:p>
          <a:p>
            <a:pPr marL="355600" indent="-342900">
              <a:lnSpc>
                <a:spcPct val="100000"/>
              </a:lnSpc>
              <a:spcBef>
                <a:spcPts val="67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5" dirty="0" err="1">
                <a:latin typeface="PMingLiU"/>
                <a:cs typeface="PMingLiU"/>
              </a:rPr>
              <a:t>最大子数组开头位置</a:t>
            </a:r>
            <a:r>
              <a:rPr sz="2800" spc="-5" dirty="0">
                <a:latin typeface="PMingLiU"/>
                <a:cs typeface="PMingLiU"/>
              </a:rPr>
              <a:t>：</a:t>
            </a:r>
            <a:r>
              <a:rPr sz="2800" spc="-25" dirty="0">
                <a:latin typeface="Cambria Math"/>
                <a:cs typeface="Cambria Math"/>
              </a:rPr>
              <a:t>𝒊</a:t>
            </a:r>
            <a:endParaRPr sz="2800" dirty="0">
              <a:latin typeface="Cambria Math"/>
              <a:cs typeface="Cambria Math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93279" y="2473451"/>
          <a:ext cx="7407272" cy="12941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78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37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61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77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99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22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95275"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FF0000"/>
                      </a:solidFill>
                      <a:prstDash val="sysDash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ysDash"/>
                    </a:lnL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…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…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57150">
                      <a:solidFill>
                        <a:srgbClr val="FF0000"/>
                      </a:solidFill>
                      <a:prstDash val="sysDash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6794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57150">
                      <a:solidFill>
                        <a:srgbClr val="FF0000"/>
                      </a:solidFill>
                      <a:prstDash val="sysDash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𝒏</a:t>
                      </a:r>
                      <a:r>
                        <a:rPr sz="2000" spc="-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2000" spc="-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651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𝑿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937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latin typeface="Cambria Math"/>
                          <a:cs typeface="Cambria Math"/>
                        </a:rPr>
                        <a:t>𝑿[𝟏]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latin typeface="Cambria Math"/>
                          <a:cs typeface="Cambria Math"/>
                        </a:rPr>
                        <a:t>𝑿[𝟐]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57150">
                      <a:solidFill>
                        <a:srgbClr val="FF0000"/>
                      </a:solidFill>
                      <a:prstDash val="sysDash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6667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latin typeface="Cambria Math"/>
                          <a:cs typeface="Cambria Math"/>
                        </a:rPr>
                        <a:t>𝑿[𝒊]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57150">
                      <a:solidFill>
                        <a:srgbClr val="FF0000"/>
                      </a:solidFill>
                      <a:prstDash val="sysDash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461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latin typeface="Cambria Math"/>
                          <a:cs typeface="Cambria Math"/>
                        </a:rPr>
                        <a:t>𝑿[𝒏]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7645"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FF0000"/>
                      </a:solidFill>
                      <a:prstDash val="sysDash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ysDash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9116948" y="1018413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9"/>
                </a:lnTo>
                <a:lnTo>
                  <a:pt x="0" y="876426"/>
                </a:lnTo>
                <a:lnTo>
                  <a:pt x="7647" y="914364"/>
                </a:lnTo>
                <a:lnTo>
                  <a:pt x="28511" y="945324"/>
                </a:lnTo>
                <a:lnTo>
                  <a:pt x="59471" y="966188"/>
                </a:lnTo>
                <a:lnTo>
                  <a:pt x="97408" y="973836"/>
                </a:lnTo>
                <a:lnTo>
                  <a:pt x="1758823" y="973836"/>
                </a:lnTo>
                <a:lnTo>
                  <a:pt x="1796760" y="966188"/>
                </a:lnTo>
                <a:lnTo>
                  <a:pt x="1827720" y="945324"/>
                </a:lnTo>
                <a:lnTo>
                  <a:pt x="1848584" y="914364"/>
                </a:lnTo>
                <a:lnTo>
                  <a:pt x="1856231" y="876426"/>
                </a:lnTo>
                <a:lnTo>
                  <a:pt x="1856231" y="97409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346438" y="1314449"/>
            <a:ext cx="13970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>
                <a:solidFill>
                  <a:srgbClr val="FFFFFF"/>
                </a:solidFill>
                <a:latin typeface="PMingLiU"/>
                <a:cs typeface="PMingLiU"/>
              </a:rPr>
              <a:t>问题结构分析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825228" y="2052827"/>
            <a:ext cx="439420" cy="367030"/>
          </a:xfrm>
          <a:custGeom>
            <a:avLst/>
            <a:gdLst/>
            <a:ahLst/>
            <a:cxnLst/>
            <a:rect l="l" t="t" r="r" b="b"/>
            <a:pathLst>
              <a:path w="439420" h="367030">
                <a:moveTo>
                  <a:pt x="351154" y="0"/>
                </a:moveTo>
                <a:lnTo>
                  <a:pt x="87756" y="0"/>
                </a:lnTo>
                <a:lnTo>
                  <a:pt x="87756" y="183261"/>
                </a:lnTo>
                <a:lnTo>
                  <a:pt x="0" y="183261"/>
                </a:lnTo>
                <a:lnTo>
                  <a:pt x="219455" y="366522"/>
                </a:lnTo>
                <a:lnTo>
                  <a:pt x="438912" y="183261"/>
                </a:lnTo>
                <a:lnTo>
                  <a:pt x="351154" y="183261"/>
                </a:lnTo>
                <a:lnTo>
                  <a:pt x="35115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116948" y="2480691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9"/>
                </a:lnTo>
                <a:lnTo>
                  <a:pt x="0" y="876426"/>
                </a:lnTo>
                <a:lnTo>
                  <a:pt x="7647" y="914364"/>
                </a:lnTo>
                <a:lnTo>
                  <a:pt x="28511" y="945324"/>
                </a:lnTo>
                <a:lnTo>
                  <a:pt x="59471" y="966188"/>
                </a:lnTo>
                <a:lnTo>
                  <a:pt x="97408" y="973836"/>
                </a:lnTo>
                <a:lnTo>
                  <a:pt x="1758823" y="973836"/>
                </a:lnTo>
                <a:lnTo>
                  <a:pt x="1796760" y="966188"/>
                </a:lnTo>
                <a:lnTo>
                  <a:pt x="1827720" y="945324"/>
                </a:lnTo>
                <a:lnTo>
                  <a:pt x="1848584" y="914364"/>
                </a:lnTo>
                <a:lnTo>
                  <a:pt x="1856231" y="876426"/>
                </a:lnTo>
                <a:lnTo>
                  <a:pt x="1856231" y="97409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346438" y="2776982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>
                <a:solidFill>
                  <a:srgbClr val="FFFFFF"/>
                </a:solidFill>
                <a:latin typeface="PMingLiU"/>
                <a:cs typeface="PMingLiU"/>
              </a:rPr>
              <a:t>递推关系建立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825228" y="3515105"/>
            <a:ext cx="439420" cy="365125"/>
          </a:xfrm>
          <a:custGeom>
            <a:avLst/>
            <a:gdLst/>
            <a:ahLst/>
            <a:cxnLst/>
            <a:rect l="l" t="t" r="r" b="b"/>
            <a:pathLst>
              <a:path w="439420" h="365125">
                <a:moveTo>
                  <a:pt x="351154" y="0"/>
                </a:moveTo>
                <a:lnTo>
                  <a:pt x="87756" y="0"/>
                </a:lnTo>
                <a:lnTo>
                  <a:pt x="87756" y="182499"/>
                </a:lnTo>
                <a:lnTo>
                  <a:pt x="0" y="182499"/>
                </a:lnTo>
                <a:lnTo>
                  <a:pt x="219455" y="364998"/>
                </a:lnTo>
                <a:lnTo>
                  <a:pt x="438912" y="182499"/>
                </a:lnTo>
                <a:lnTo>
                  <a:pt x="351154" y="182499"/>
                </a:lnTo>
                <a:lnTo>
                  <a:pt x="35115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116948" y="3941445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8"/>
                </a:lnTo>
                <a:lnTo>
                  <a:pt x="0" y="876426"/>
                </a:lnTo>
                <a:lnTo>
                  <a:pt x="7647" y="914364"/>
                </a:lnTo>
                <a:lnTo>
                  <a:pt x="28511" y="945324"/>
                </a:lnTo>
                <a:lnTo>
                  <a:pt x="59471" y="966188"/>
                </a:lnTo>
                <a:lnTo>
                  <a:pt x="97408" y="973835"/>
                </a:lnTo>
                <a:lnTo>
                  <a:pt x="1758823" y="973835"/>
                </a:lnTo>
                <a:lnTo>
                  <a:pt x="1796760" y="966188"/>
                </a:lnTo>
                <a:lnTo>
                  <a:pt x="1827720" y="945324"/>
                </a:lnTo>
                <a:lnTo>
                  <a:pt x="1848584" y="914364"/>
                </a:lnTo>
                <a:lnTo>
                  <a:pt x="1856231" y="876426"/>
                </a:lnTo>
                <a:lnTo>
                  <a:pt x="1856231" y="97408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346438" y="4237735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>
                <a:solidFill>
                  <a:srgbClr val="FFFFFF"/>
                </a:solidFill>
                <a:latin typeface="PMingLiU"/>
                <a:cs typeface="PMingLiU"/>
              </a:rPr>
              <a:t>自底向上计算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825228" y="4975859"/>
            <a:ext cx="439420" cy="365125"/>
          </a:xfrm>
          <a:custGeom>
            <a:avLst/>
            <a:gdLst/>
            <a:ahLst/>
            <a:cxnLst/>
            <a:rect l="l" t="t" r="r" b="b"/>
            <a:pathLst>
              <a:path w="439420" h="365125">
                <a:moveTo>
                  <a:pt x="351154" y="0"/>
                </a:moveTo>
                <a:lnTo>
                  <a:pt x="87756" y="0"/>
                </a:lnTo>
                <a:lnTo>
                  <a:pt x="87756" y="182498"/>
                </a:lnTo>
                <a:lnTo>
                  <a:pt x="0" y="182498"/>
                </a:lnTo>
                <a:lnTo>
                  <a:pt x="219455" y="364997"/>
                </a:lnTo>
                <a:lnTo>
                  <a:pt x="438912" y="182498"/>
                </a:lnTo>
                <a:lnTo>
                  <a:pt x="351154" y="182498"/>
                </a:lnTo>
                <a:lnTo>
                  <a:pt x="35115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116948" y="5402198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9"/>
                </a:lnTo>
                <a:lnTo>
                  <a:pt x="0" y="876452"/>
                </a:lnTo>
                <a:lnTo>
                  <a:pt x="7647" y="914358"/>
                </a:lnTo>
                <a:lnTo>
                  <a:pt x="28511" y="945313"/>
                </a:lnTo>
                <a:lnTo>
                  <a:pt x="59471" y="966183"/>
                </a:lnTo>
                <a:lnTo>
                  <a:pt x="97408" y="973835"/>
                </a:lnTo>
                <a:lnTo>
                  <a:pt x="1758823" y="973835"/>
                </a:lnTo>
                <a:lnTo>
                  <a:pt x="1796760" y="966183"/>
                </a:lnTo>
                <a:lnTo>
                  <a:pt x="1827720" y="945313"/>
                </a:lnTo>
                <a:lnTo>
                  <a:pt x="1848584" y="914358"/>
                </a:lnTo>
                <a:lnTo>
                  <a:pt x="1856231" y="876452"/>
                </a:lnTo>
                <a:lnTo>
                  <a:pt x="1856231" y="97409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83C8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9346438" y="5698744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>
                <a:solidFill>
                  <a:srgbClr val="FFFFFF"/>
                </a:solidFill>
                <a:latin typeface="PMingLiU"/>
                <a:cs typeface="PMingLiU"/>
              </a:rPr>
              <a:t>最优方案追踪</a:t>
            </a:r>
            <a:endParaRPr sz="1800">
              <a:latin typeface="PMingLiU"/>
              <a:cs typeface="PMingLiU"/>
            </a:endParaRPr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1093279" y="5220589"/>
          <a:ext cx="7406636" cy="791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78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37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61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26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22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…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461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…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𝒏</a:t>
                      </a:r>
                      <a:r>
                        <a:rPr sz="2000" spc="-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2000" spc="-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9718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18859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25">
                          <a:latin typeface="Cambria Math"/>
                          <a:cs typeface="Cambria Math"/>
                        </a:rPr>
                        <a:t>𝑹𝒆𝒄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9718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/>
          <p:nvPr/>
        </p:nvSpPr>
        <p:spPr>
          <a:xfrm>
            <a:off x="4336288" y="3979553"/>
            <a:ext cx="285750" cy="320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55"/>
              </a:lnSpc>
            </a:pPr>
            <a:r>
              <a:rPr sz="2200" spc="-25">
                <a:latin typeface="Cambria Math"/>
                <a:cs typeface="Cambria Math"/>
              </a:rPr>
              <a:t>𝑫</a:t>
            </a:r>
            <a:r>
              <a:rPr sz="2400" spc="-37" baseline="-15625">
                <a:latin typeface="Cambria Math"/>
                <a:cs typeface="Cambria Math"/>
              </a:rPr>
              <a:t>𝒊</a:t>
            </a:r>
            <a:endParaRPr sz="2400" baseline="-15625">
              <a:latin typeface="Cambria Math"/>
              <a:cs typeface="Cambria Math"/>
            </a:endParaRPr>
          </a:p>
        </p:txBody>
      </p:sp>
      <p:graphicFrame>
        <p:nvGraphicFramePr>
          <p:cNvPr id="18" name="object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571494"/>
              </p:ext>
            </p:extLst>
          </p:nvPr>
        </p:nvGraphicFramePr>
        <p:xfrm>
          <a:off x="1093279" y="3894835"/>
          <a:ext cx="7406636" cy="791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24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9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61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26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22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588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𝟐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461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461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𝒏</a:t>
                      </a:r>
                      <a:r>
                        <a:rPr sz="2000" spc="-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2000" spc="-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651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𝑫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175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20">
                          <a:latin typeface="Cambria Math"/>
                          <a:cs typeface="Cambria Math"/>
                        </a:rPr>
                        <a:t>𝑫[𝟏]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5244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20">
                          <a:latin typeface="Cambria Math"/>
                          <a:cs typeface="Cambria Math"/>
                        </a:rPr>
                        <a:t>𝑫[𝟐]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20">
                          <a:latin typeface="Cambria Math"/>
                          <a:cs typeface="Cambria Math"/>
                        </a:rPr>
                        <a:t>𝑫[𝒊]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461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20" dirty="0">
                          <a:latin typeface="Cambria Math"/>
                          <a:cs typeface="Cambria Math"/>
                        </a:rPr>
                        <a:t>𝑫[𝒏]</a:t>
                      </a:r>
                      <a:endParaRPr sz="2000" dirty="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9" name="object 19"/>
          <p:cNvGrpSpPr/>
          <p:nvPr/>
        </p:nvGrpSpPr>
        <p:grpSpPr>
          <a:xfrm>
            <a:off x="4945253" y="3770376"/>
            <a:ext cx="1071245" cy="946150"/>
            <a:chOff x="4945253" y="3770376"/>
            <a:chExt cx="1071245" cy="946150"/>
          </a:xfrm>
        </p:grpSpPr>
        <p:sp>
          <p:nvSpPr>
            <p:cNvPr id="20" name="object 20"/>
            <p:cNvSpPr/>
            <p:nvPr/>
          </p:nvSpPr>
          <p:spPr>
            <a:xfrm>
              <a:off x="4967478" y="4287774"/>
              <a:ext cx="1026794" cy="406400"/>
            </a:xfrm>
            <a:custGeom>
              <a:avLst/>
              <a:gdLst/>
              <a:ahLst/>
              <a:cxnLst/>
              <a:rect l="l" t="t" r="r" b="b"/>
              <a:pathLst>
                <a:path w="1026794" h="406400">
                  <a:moveTo>
                    <a:pt x="0" y="67690"/>
                  </a:moveTo>
                  <a:lnTo>
                    <a:pt x="5326" y="41362"/>
                  </a:lnTo>
                  <a:lnTo>
                    <a:pt x="19843" y="19843"/>
                  </a:lnTo>
                  <a:lnTo>
                    <a:pt x="41362" y="5326"/>
                  </a:lnTo>
                  <a:lnTo>
                    <a:pt x="67691" y="0"/>
                  </a:lnTo>
                  <a:lnTo>
                    <a:pt x="958723" y="0"/>
                  </a:lnTo>
                  <a:lnTo>
                    <a:pt x="985051" y="5326"/>
                  </a:lnTo>
                  <a:lnTo>
                    <a:pt x="1006570" y="19843"/>
                  </a:lnTo>
                  <a:lnTo>
                    <a:pt x="1021087" y="41362"/>
                  </a:lnTo>
                  <a:lnTo>
                    <a:pt x="1026413" y="67690"/>
                  </a:lnTo>
                  <a:lnTo>
                    <a:pt x="1026413" y="338455"/>
                  </a:lnTo>
                  <a:lnTo>
                    <a:pt x="1021087" y="364783"/>
                  </a:lnTo>
                  <a:lnTo>
                    <a:pt x="1006570" y="386302"/>
                  </a:lnTo>
                  <a:lnTo>
                    <a:pt x="985051" y="400819"/>
                  </a:lnTo>
                  <a:lnTo>
                    <a:pt x="958723" y="406145"/>
                  </a:lnTo>
                  <a:lnTo>
                    <a:pt x="67691" y="406145"/>
                  </a:lnTo>
                  <a:lnTo>
                    <a:pt x="41362" y="400819"/>
                  </a:lnTo>
                  <a:lnTo>
                    <a:pt x="19843" y="386302"/>
                  </a:lnTo>
                  <a:lnTo>
                    <a:pt x="5326" y="364783"/>
                  </a:lnTo>
                  <a:lnTo>
                    <a:pt x="0" y="338455"/>
                  </a:lnTo>
                  <a:lnTo>
                    <a:pt x="0" y="67690"/>
                  </a:lnTo>
                  <a:close/>
                </a:path>
              </a:pathLst>
            </a:custGeom>
            <a:ln w="44450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967478" y="3770376"/>
              <a:ext cx="527050" cy="530860"/>
            </a:xfrm>
            <a:custGeom>
              <a:avLst/>
              <a:gdLst/>
              <a:ahLst/>
              <a:cxnLst/>
              <a:rect l="l" t="t" r="r" b="b"/>
              <a:pathLst>
                <a:path w="527050" h="530860">
                  <a:moveTo>
                    <a:pt x="94034" y="67721"/>
                  </a:moveTo>
                  <a:lnTo>
                    <a:pt x="67023" y="94562"/>
                  </a:lnTo>
                  <a:lnTo>
                    <a:pt x="499745" y="530732"/>
                  </a:lnTo>
                  <a:lnTo>
                    <a:pt x="526796" y="503809"/>
                  </a:lnTo>
                  <a:lnTo>
                    <a:pt x="94034" y="67721"/>
                  </a:lnTo>
                  <a:close/>
                </a:path>
                <a:path w="527050" h="530860">
                  <a:moveTo>
                    <a:pt x="0" y="0"/>
                  </a:moveTo>
                  <a:lnTo>
                    <a:pt x="40005" y="121412"/>
                  </a:lnTo>
                  <a:lnTo>
                    <a:pt x="67023" y="94562"/>
                  </a:lnTo>
                  <a:lnTo>
                    <a:pt x="53594" y="81025"/>
                  </a:lnTo>
                  <a:lnTo>
                    <a:pt x="80645" y="54229"/>
                  </a:lnTo>
                  <a:lnTo>
                    <a:pt x="107611" y="54229"/>
                  </a:lnTo>
                  <a:lnTo>
                    <a:pt x="121031" y="40893"/>
                  </a:lnTo>
                  <a:lnTo>
                    <a:pt x="0" y="0"/>
                  </a:lnTo>
                  <a:close/>
                </a:path>
                <a:path w="527050" h="530860">
                  <a:moveTo>
                    <a:pt x="80645" y="54229"/>
                  </a:moveTo>
                  <a:lnTo>
                    <a:pt x="53594" y="81025"/>
                  </a:lnTo>
                  <a:lnTo>
                    <a:pt x="67023" y="94562"/>
                  </a:lnTo>
                  <a:lnTo>
                    <a:pt x="94034" y="67721"/>
                  </a:lnTo>
                  <a:lnTo>
                    <a:pt x="80645" y="54229"/>
                  </a:lnTo>
                  <a:close/>
                </a:path>
                <a:path w="527050" h="530860">
                  <a:moveTo>
                    <a:pt x="107611" y="54229"/>
                  </a:moveTo>
                  <a:lnTo>
                    <a:pt x="80645" y="54229"/>
                  </a:lnTo>
                  <a:lnTo>
                    <a:pt x="94034" y="67721"/>
                  </a:lnTo>
                  <a:lnTo>
                    <a:pt x="107611" y="5422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7">
            <a:extLst>
              <a:ext uri="{FF2B5EF4-FFF2-40B4-BE49-F238E27FC236}">
                <a16:creationId xmlns:a16="http://schemas.microsoft.com/office/drawing/2014/main" id="{BF0C15F9-021A-9246-8208-BBE9D6A36A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5199" y="227074"/>
            <a:ext cx="5951411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最优方案追踪：记录决策过</a:t>
            </a:r>
            <a:r>
              <a:rPr sz="3600"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程</a:t>
            </a:r>
            <a:endParaRPr sz="36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9460" y="918591"/>
            <a:ext cx="4930775" cy="156210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7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5" dirty="0" err="1">
                <a:latin typeface="PMingLiU"/>
                <a:cs typeface="PMingLiU"/>
              </a:rPr>
              <a:t>从子问题中查找最优解</a:t>
            </a:r>
            <a:endParaRPr sz="2800" dirty="0">
              <a:latin typeface="PMingLiU"/>
              <a:cs typeface="PMingLiU"/>
            </a:endParaRPr>
          </a:p>
          <a:p>
            <a:pPr marL="355600" indent="-342900">
              <a:lnSpc>
                <a:spcPct val="100000"/>
              </a:lnSpc>
              <a:spcBef>
                <a:spcPts val="67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5" dirty="0" err="1">
                <a:latin typeface="PMingLiU"/>
                <a:cs typeface="PMingLiU"/>
              </a:rPr>
              <a:t>最大子数组开头位置</a:t>
            </a:r>
            <a:r>
              <a:rPr sz="2800" spc="-5" dirty="0">
                <a:latin typeface="PMingLiU"/>
                <a:cs typeface="PMingLiU"/>
              </a:rPr>
              <a:t>：</a:t>
            </a:r>
            <a:r>
              <a:rPr sz="2800" spc="-25" dirty="0">
                <a:latin typeface="Cambria Math"/>
                <a:cs typeface="Cambria Math"/>
              </a:rPr>
              <a:t>𝒊</a:t>
            </a:r>
            <a:endParaRPr sz="2800" dirty="0">
              <a:latin typeface="Cambria Math"/>
              <a:cs typeface="Cambria Math"/>
            </a:endParaRP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5" dirty="0" err="1">
                <a:latin typeface="PMingLiU"/>
                <a:cs typeface="PMingLiU"/>
              </a:rPr>
              <a:t>最大子数组结尾位置</a:t>
            </a:r>
            <a:r>
              <a:rPr sz="2800" spc="-5" dirty="0">
                <a:latin typeface="PMingLiU"/>
                <a:cs typeface="PMingLiU"/>
              </a:rPr>
              <a:t>：</a:t>
            </a:r>
            <a:r>
              <a:rPr sz="2800" spc="-10" dirty="0">
                <a:latin typeface="Cambria Math"/>
                <a:cs typeface="Cambria Math"/>
              </a:rPr>
              <a:t>𝑹𝒆𝒄[𝒊]</a:t>
            </a:r>
            <a:endParaRPr sz="2800" dirty="0">
              <a:latin typeface="Cambria Math"/>
              <a:cs typeface="Cambria Math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116948" y="1018413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9"/>
                </a:lnTo>
                <a:lnTo>
                  <a:pt x="0" y="876426"/>
                </a:lnTo>
                <a:lnTo>
                  <a:pt x="7647" y="914364"/>
                </a:lnTo>
                <a:lnTo>
                  <a:pt x="28511" y="945324"/>
                </a:lnTo>
                <a:lnTo>
                  <a:pt x="59471" y="966188"/>
                </a:lnTo>
                <a:lnTo>
                  <a:pt x="97408" y="973836"/>
                </a:lnTo>
                <a:lnTo>
                  <a:pt x="1758823" y="973836"/>
                </a:lnTo>
                <a:lnTo>
                  <a:pt x="1796760" y="966188"/>
                </a:lnTo>
                <a:lnTo>
                  <a:pt x="1827720" y="945324"/>
                </a:lnTo>
                <a:lnTo>
                  <a:pt x="1848584" y="914364"/>
                </a:lnTo>
                <a:lnTo>
                  <a:pt x="1856231" y="876426"/>
                </a:lnTo>
                <a:lnTo>
                  <a:pt x="1856231" y="97409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346438" y="1314449"/>
            <a:ext cx="13970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>
                <a:solidFill>
                  <a:srgbClr val="FFFFFF"/>
                </a:solidFill>
                <a:latin typeface="PMingLiU"/>
                <a:cs typeface="PMingLiU"/>
              </a:rPr>
              <a:t>问题结构分析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825228" y="2052827"/>
            <a:ext cx="439420" cy="367030"/>
          </a:xfrm>
          <a:custGeom>
            <a:avLst/>
            <a:gdLst/>
            <a:ahLst/>
            <a:cxnLst/>
            <a:rect l="l" t="t" r="r" b="b"/>
            <a:pathLst>
              <a:path w="439420" h="367030">
                <a:moveTo>
                  <a:pt x="351154" y="0"/>
                </a:moveTo>
                <a:lnTo>
                  <a:pt x="87756" y="0"/>
                </a:lnTo>
                <a:lnTo>
                  <a:pt x="87756" y="183261"/>
                </a:lnTo>
                <a:lnTo>
                  <a:pt x="0" y="183261"/>
                </a:lnTo>
                <a:lnTo>
                  <a:pt x="219455" y="366522"/>
                </a:lnTo>
                <a:lnTo>
                  <a:pt x="438912" y="183261"/>
                </a:lnTo>
                <a:lnTo>
                  <a:pt x="351154" y="183261"/>
                </a:lnTo>
                <a:lnTo>
                  <a:pt x="35115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116948" y="2480691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9"/>
                </a:lnTo>
                <a:lnTo>
                  <a:pt x="0" y="876426"/>
                </a:lnTo>
                <a:lnTo>
                  <a:pt x="7647" y="914364"/>
                </a:lnTo>
                <a:lnTo>
                  <a:pt x="28511" y="945324"/>
                </a:lnTo>
                <a:lnTo>
                  <a:pt x="59471" y="966188"/>
                </a:lnTo>
                <a:lnTo>
                  <a:pt x="97408" y="973836"/>
                </a:lnTo>
                <a:lnTo>
                  <a:pt x="1758823" y="973836"/>
                </a:lnTo>
                <a:lnTo>
                  <a:pt x="1796760" y="966188"/>
                </a:lnTo>
                <a:lnTo>
                  <a:pt x="1827720" y="945324"/>
                </a:lnTo>
                <a:lnTo>
                  <a:pt x="1848584" y="914364"/>
                </a:lnTo>
                <a:lnTo>
                  <a:pt x="1856231" y="876426"/>
                </a:lnTo>
                <a:lnTo>
                  <a:pt x="1856231" y="97409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346438" y="2776982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>
                <a:solidFill>
                  <a:srgbClr val="FFFFFF"/>
                </a:solidFill>
                <a:latin typeface="PMingLiU"/>
                <a:cs typeface="PMingLiU"/>
              </a:rPr>
              <a:t>递推关系建立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825228" y="3515105"/>
            <a:ext cx="439420" cy="365125"/>
          </a:xfrm>
          <a:custGeom>
            <a:avLst/>
            <a:gdLst/>
            <a:ahLst/>
            <a:cxnLst/>
            <a:rect l="l" t="t" r="r" b="b"/>
            <a:pathLst>
              <a:path w="439420" h="365125">
                <a:moveTo>
                  <a:pt x="351154" y="0"/>
                </a:moveTo>
                <a:lnTo>
                  <a:pt x="87756" y="0"/>
                </a:lnTo>
                <a:lnTo>
                  <a:pt x="87756" y="182499"/>
                </a:lnTo>
                <a:lnTo>
                  <a:pt x="0" y="182499"/>
                </a:lnTo>
                <a:lnTo>
                  <a:pt x="219455" y="364998"/>
                </a:lnTo>
                <a:lnTo>
                  <a:pt x="438912" y="182499"/>
                </a:lnTo>
                <a:lnTo>
                  <a:pt x="351154" y="182499"/>
                </a:lnTo>
                <a:lnTo>
                  <a:pt x="35115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116948" y="3941445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8"/>
                </a:lnTo>
                <a:lnTo>
                  <a:pt x="0" y="876426"/>
                </a:lnTo>
                <a:lnTo>
                  <a:pt x="7647" y="914364"/>
                </a:lnTo>
                <a:lnTo>
                  <a:pt x="28511" y="945324"/>
                </a:lnTo>
                <a:lnTo>
                  <a:pt x="59471" y="966188"/>
                </a:lnTo>
                <a:lnTo>
                  <a:pt x="97408" y="973835"/>
                </a:lnTo>
                <a:lnTo>
                  <a:pt x="1758823" y="973835"/>
                </a:lnTo>
                <a:lnTo>
                  <a:pt x="1796760" y="966188"/>
                </a:lnTo>
                <a:lnTo>
                  <a:pt x="1827720" y="945324"/>
                </a:lnTo>
                <a:lnTo>
                  <a:pt x="1848584" y="914364"/>
                </a:lnTo>
                <a:lnTo>
                  <a:pt x="1856231" y="876426"/>
                </a:lnTo>
                <a:lnTo>
                  <a:pt x="1856231" y="97408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346438" y="4237735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>
                <a:solidFill>
                  <a:srgbClr val="FFFFFF"/>
                </a:solidFill>
                <a:latin typeface="PMingLiU"/>
                <a:cs typeface="PMingLiU"/>
              </a:rPr>
              <a:t>自底向上计算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825228" y="4975859"/>
            <a:ext cx="439420" cy="365125"/>
          </a:xfrm>
          <a:custGeom>
            <a:avLst/>
            <a:gdLst/>
            <a:ahLst/>
            <a:cxnLst/>
            <a:rect l="l" t="t" r="r" b="b"/>
            <a:pathLst>
              <a:path w="439420" h="365125">
                <a:moveTo>
                  <a:pt x="351154" y="0"/>
                </a:moveTo>
                <a:lnTo>
                  <a:pt x="87756" y="0"/>
                </a:lnTo>
                <a:lnTo>
                  <a:pt x="87756" y="182498"/>
                </a:lnTo>
                <a:lnTo>
                  <a:pt x="0" y="182498"/>
                </a:lnTo>
                <a:lnTo>
                  <a:pt x="219455" y="364997"/>
                </a:lnTo>
                <a:lnTo>
                  <a:pt x="438912" y="182498"/>
                </a:lnTo>
                <a:lnTo>
                  <a:pt x="351154" y="182498"/>
                </a:lnTo>
                <a:lnTo>
                  <a:pt x="35115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116948" y="5402198"/>
            <a:ext cx="1856739" cy="974090"/>
          </a:xfrm>
          <a:custGeom>
            <a:avLst/>
            <a:gdLst/>
            <a:ahLst/>
            <a:cxnLst/>
            <a:rect l="l" t="t" r="r" b="b"/>
            <a:pathLst>
              <a:path w="1856739" h="974089">
                <a:moveTo>
                  <a:pt x="1758823" y="0"/>
                </a:moveTo>
                <a:lnTo>
                  <a:pt x="97408" y="0"/>
                </a:lnTo>
                <a:lnTo>
                  <a:pt x="59471" y="7647"/>
                </a:lnTo>
                <a:lnTo>
                  <a:pt x="28511" y="28511"/>
                </a:lnTo>
                <a:lnTo>
                  <a:pt x="7647" y="59471"/>
                </a:lnTo>
                <a:lnTo>
                  <a:pt x="0" y="97409"/>
                </a:lnTo>
                <a:lnTo>
                  <a:pt x="0" y="876452"/>
                </a:lnTo>
                <a:lnTo>
                  <a:pt x="7647" y="914358"/>
                </a:lnTo>
                <a:lnTo>
                  <a:pt x="28511" y="945313"/>
                </a:lnTo>
                <a:lnTo>
                  <a:pt x="59471" y="966183"/>
                </a:lnTo>
                <a:lnTo>
                  <a:pt x="97408" y="973835"/>
                </a:lnTo>
                <a:lnTo>
                  <a:pt x="1758823" y="973835"/>
                </a:lnTo>
                <a:lnTo>
                  <a:pt x="1796760" y="966183"/>
                </a:lnTo>
                <a:lnTo>
                  <a:pt x="1827720" y="945313"/>
                </a:lnTo>
                <a:lnTo>
                  <a:pt x="1848584" y="914358"/>
                </a:lnTo>
                <a:lnTo>
                  <a:pt x="1856231" y="876452"/>
                </a:lnTo>
                <a:lnTo>
                  <a:pt x="1856231" y="97409"/>
                </a:lnTo>
                <a:lnTo>
                  <a:pt x="1848584" y="59471"/>
                </a:lnTo>
                <a:lnTo>
                  <a:pt x="1827720" y="28511"/>
                </a:lnTo>
                <a:lnTo>
                  <a:pt x="1796760" y="7647"/>
                </a:lnTo>
                <a:lnTo>
                  <a:pt x="1758823" y="0"/>
                </a:lnTo>
                <a:close/>
              </a:path>
            </a:pathLst>
          </a:custGeom>
          <a:solidFill>
            <a:srgbClr val="083C8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9346438" y="5698744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>
                <a:solidFill>
                  <a:srgbClr val="FFFFFF"/>
                </a:solidFill>
                <a:latin typeface="PMingLiU"/>
                <a:cs typeface="PMingLiU"/>
              </a:rPr>
              <a:t>最优方案追踪</a:t>
            </a:r>
            <a:endParaRPr sz="1800">
              <a:latin typeface="PMingLiU"/>
              <a:cs typeface="PMingLiU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945253" y="3755897"/>
            <a:ext cx="1911985" cy="1952625"/>
            <a:chOff x="4945253" y="3755897"/>
            <a:chExt cx="1911985" cy="1952625"/>
          </a:xfrm>
        </p:grpSpPr>
        <p:sp>
          <p:nvSpPr>
            <p:cNvPr id="16" name="object 16"/>
            <p:cNvSpPr/>
            <p:nvPr/>
          </p:nvSpPr>
          <p:spPr>
            <a:xfrm>
              <a:off x="4967478" y="4287773"/>
              <a:ext cx="1026794" cy="406400"/>
            </a:xfrm>
            <a:custGeom>
              <a:avLst/>
              <a:gdLst/>
              <a:ahLst/>
              <a:cxnLst/>
              <a:rect l="l" t="t" r="r" b="b"/>
              <a:pathLst>
                <a:path w="1026794" h="406400">
                  <a:moveTo>
                    <a:pt x="0" y="67690"/>
                  </a:moveTo>
                  <a:lnTo>
                    <a:pt x="5326" y="41362"/>
                  </a:lnTo>
                  <a:lnTo>
                    <a:pt x="19843" y="19843"/>
                  </a:lnTo>
                  <a:lnTo>
                    <a:pt x="41362" y="5326"/>
                  </a:lnTo>
                  <a:lnTo>
                    <a:pt x="67691" y="0"/>
                  </a:lnTo>
                  <a:lnTo>
                    <a:pt x="958723" y="0"/>
                  </a:lnTo>
                  <a:lnTo>
                    <a:pt x="985051" y="5326"/>
                  </a:lnTo>
                  <a:lnTo>
                    <a:pt x="1006570" y="19843"/>
                  </a:lnTo>
                  <a:lnTo>
                    <a:pt x="1021087" y="41362"/>
                  </a:lnTo>
                  <a:lnTo>
                    <a:pt x="1026413" y="67690"/>
                  </a:lnTo>
                  <a:lnTo>
                    <a:pt x="1026413" y="338455"/>
                  </a:lnTo>
                  <a:lnTo>
                    <a:pt x="1021087" y="364783"/>
                  </a:lnTo>
                  <a:lnTo>
                    <a:pt x="1006570" y="386302"/>
                  </a:lnTo>
                  <a:lnTo>
                    <a:pt x="985051" y="400819"/>
                  </a:lnTo>
                  <a:lnTo>
                    <a:pt x="958723" y="406145"/>
                  </a:lnTo>
                  <a:lnTo>
                    <a:pt x="67691" y="406145"/>
                  </a:lnTo>
                  <a:lnTo>
                    <a:pt x="41362" y="400819"/>
                  </a:lnTo>
                  <a:lnTo>
                    <a:pt x="19843" y="386302"/>
                  </a:lnTo>
                  <a:lnTo>
                    <a:pt x="5326" y="364783"/>
                  </a:lnTo>
                  <a:lnTo>
                    <a:pt x="0" y="338455"/>
                  </a:lnTo>
                  <a:lnTo>
                    <a:pt x="0" y="67690"/>
                  </a:lnTo>
                  <a:close/>
                </a:path>
              </a:pathLst>
            </a:custGeom>
            <a:ln w="44450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967478" y="3755897"/>
              <a:ext cx="1889760" cy="1952625"/>
            </a:xfrm>
            <a:custGeom>
              <a:avLst/>
              <a:gdLst/>
              <a:ahLst/>
              <a:cxnLst/>
              <a:rect l="l" t="t" r="r" b="b"/>
              <a:pathLst>
                <a:path w="1889758" h="1952625">
                  <a:moveTo>
                    <a:pt x="526796" y="518287"/>
                  </a:moveTo>
                  <a:lnTo>
                    <a:pt x="94030" y="82207"/>
                  </a:lnTo>
                  <a:lnTo>
                    <a:pt x="107607" y="68707"/>
                  </a:lnTo>
                  <a:lnTo>
                    <a:pt x="121031" y="55372"/>
                  </a:lnTo>
                  <a:lnTo>
                    <a:pt x="0" y="14478"/>
                  </a:lnTo>
                  <a:lnTo>
                    <a:pt x="40005" y="135890"/>
                  </a:lnTo>
                  <a:lnTo>
                    <a:pt x="67017" y="109042"/>
                  </a:lnTo>
                  <a:lnTo>
                    <a:pt x="499745" y="545211"/>
                  </a:lnTo>
                  <a:lnTo>
                    <a:pt x="526796" y="518287"/>
                  </a:lnTo>
                  <a:close/>
                </a:path>
                <a:path w="1889758" h="1952625">
                  <a:moveTo>
                    <a:pt x="1889252" y="0"/>
                  </a:moveTo>
                  <a:lnTo>
                    <a:pt x="1776476" y="60198"/>
                  </a:lnTo>
                  <a:lnTo>
                    <a:pt x="1807591" y="82257"/>
                  </a:lnTo>
                  <a:lnTo>
                    <a:pt x="497332" y="1930323"/>
                  </a:lnTo>
                  <a:lnTo>
                    <a:pt x="528320" y="1952358"/>
                  </a:lnTo>
                  <a:lnTo>
                    <a:pt x="1838655" y="104254"/>
                  </a:lnTo>
                  <a:lnTo>
                    <a:pt x="1869694" y="126238"/>
                  </a:lnTo>
                  <a:lnTo>
                    <a:pt x="1878914" y="66675"/>
                  </a:lnTo>
                  <a:lnTo>
                    <a:pt x="188925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1093279" y="2459735"/>
          <a:ext cx="7407906" cy="1308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78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37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61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77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99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97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67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22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09245"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FF0000"/>
                      </a:solidFill>
                      <a:prstDash val="sysDash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ysDash"/>
                    </a:lnL>
                    <a:lnR w="38100">
                      <a:solidFill>
                        <a:srgbClr val="FF0000"/>
                      </a:solidFill>
                      <a:prstDash val="sysDash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ysDash"/>
                    </a:lnL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…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…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57150">
                      <a:solidFill>
                        <a:srgbClr val="FF0000"/>
                      </a:solidFill>
                      <a:prstDash val="sysDash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6794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57150">
                      <a:solidFill>
                        <a:srgbClr val="FF0000"/>
                      </a:solidFill>
                      <a:prstDash val="sysDash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ysDash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𝒏</a:t>
                      </a:r>
                      <a:r>
                        <a:rPr sz="2000" spc="-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2000" spc="-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38100">
                      <a:solidFill>
                        <a:srgbClr val="FF0000"/>
                      </a:solidFill>
                      <a:prstDash val="sysDash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651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𝑿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937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latin typeface="Cambria Math"/>
                          <a:cs typeface="Cambria Math"/>
                        </a:rPr>
                        <a:t>𝑿[𝟏]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latin typeface="Cambria Math"/>
                          <a:cs typeface="Cambria Math"/>
                        </a:rPr>
                        <a:t>𝑿[𝟐]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57150">
                      <a:solidFill>
                        <a:srgbClr val="FF0000"/>
                      </a:solidFill>
                      <a:prstDash val="sysDash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6667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latin typeface="Cambria Math"/>
                          <a:cs typeface="Cambria Math"/>
                        </a:rPr>
                        <a:t>𝑿[𝒊]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57150">
                      <a:solidFill>
                        <a:srgbClr val="FF0000"/>
                      </a:solidFill>
                      <a:prstDash val="sysDash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ysDash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ysDash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461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>
                          <a:latin typeface="Cambria Math"/>
                          <a:cs typeface="Cambria Math"/>
                        </a:rPr>
                        <a:t>𝑿[𝒏]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7645"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FF0000"/>
                      </a:solidFill>
                      <a:prstDash val="sysDash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ysDash"/>
                    </a:lnL>
                    <a:lnR w="38100">
                      <a:solidFill>
                        <a:srgbClr val="FF0000"/>
                      </a:solidFill>
                      <a:prstDash val="sysDash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ysDash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object 19"/>
          <p:cNvSpPr/>
          <p:nvPr/>
        </p:nvSpPr>
        <p:spPr>
          <a:xfrm flipH="1">
            <a:off x="6037834" y="5220589"/>
            <a:ext cx="0" cy="805815"/>
          </a:xfrm>
          <a:custGeom>
            <a:avLst/>
            <a:gdLst/>
            <a:ahLst/>
            <a:cxnLst/>
            <a:rect l="l" t="t" r="r" b="b"/>
            <a:pathLst>
              <a:path h="805814">
                <a:moveTo>
                  <a:pt x="0" y="0"/>
                </a:moveTo>
                <a:lnTo>
                  <a:pt x="0" y="805205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1093279" y="5220589"/>
          <a:ext cx="7408542" cy="791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78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37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61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25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537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35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2359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…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41465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…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𝒏</a:t>
                      </a:r>
                      <a:r>
                        <a:rPr sz="2000" spc="-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2000" spc="-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9718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18859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25">
                          <a:latin typeface="Cambria Math"/>
                          <a:cs typeface="Cambria Math"/>
                        </a:rPr>
                        <a:t>𝑹𝒆𝒄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720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10">
                          <a:latin typeface="Cambria Math"/>
                          <a:cs typeface="Cambria Math"/>
                        </a:rPr>
                        <a:t>𝑹𝒆𝒄[𝒊]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9718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" name="object 21"/>
          <p:cNvSpPr txBox="1"/>
          <p:nvPr/>
        </p:nvSpPr>
        <p:spPr>
          <a:xfrm>
            <a:off x="4336288" y="3979553"/>
            <a:ext cx="285750" cy="320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55"/>
              </a:lnSpc>
            </a:pPr>
            <a:r>
              <a:rPr sz="2200" spc="-25">
                <a:latin typeface="Cambria Math"/>
                <a:cs typeface="Cambria Math"/>
              </a:rPr>
              <a:t>𝑫</a:t>
            </a:r>
            <a:r>
              <a:rPr sz="2400" spc="-37" baseline="-15625">
                <a:latin typeface="Cambria Math"/>
                <a:cs typeface="Cambria Math"/>
              </a:rPr>
              <a:t>𝒊</a:t>
            </a:r>
            <a:endParaRPr sz="2400" baseline="-15625">
              <a:latin typeface="Cambria Math"/>
              <a:cs typeface="Cambria Math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304028" y="4691379"/>
            <a:ext cx="195580" cy="1006475"/>
          </a:xfrm>
          <a:custGeom>
            <a:avLst/>
            <a:gdLst/>
            <a:ahLst/>
            <a:cxnLst/>
            <a:rect l="l" t="t" r="r" b="b"/>
            <a:pathLst>
              <a:path w="195579" h="1006475">
                <a:moveTo>
                  <a:pt x="0" y="885317"/>
                </a:moveTo>
                <a:lnTo>
                  <a:pt x="41401" y="1006259"/>
                </a:lnTo>
                <a:lnTo>
                  <a:pt x="103893" y="914387"/>
                </a:lnTo>
                <a:lnTo>
                  <a:pt x="72898" y="914387"/>
                </a:lnTo>
                <a:lnTo>
                  <a:pt x="35179" y="909320"/>
                </a:lnTo>
                <a:lnTo>
                  <a:pt x="37721" y="890400"/>
                </a:lnTo>
                <a:lnTo>
                  <a:pt x="0" y="885317"/>
                </a:lnTo>
                <a:close/>
              </a:path>
              <a:path w="195579" h="1006475">
                <a:moveTo>
                  <a:pt x="37721" y="890400"/>
                </a:moveTo>
                <a:lnTo>
                  <a:pt x="35179" y="909320"/>
                </a:lnTo>
                <a:lnTo>
                  <a:pt x="72898" y="914387"/>
                </a:lnTo>
                <a:lnTo>
                  <a:pt x="75438" y="895482"/>
                </a:lnTo>
                <a:lnTo>
                  <a:pt x="37721" y="890400"/>
                </a:lnTo>
                <a:close/>
              </a:path>
              <a:path w="195579" h="1006475">
                <a:moveTo>
                  <a:pt x="75438" y="895482"/>
                </a:moveTo>
                <a:lnTo>
                  <a:pt x="72898" y="914387"/>
                </a:lnTo>
                <a:lnTo>
                  <a:pt x="103893" y="914387"/>
                </a:lnTo>
                <a:lnTo>
                  <a:pt x="113284" y="900582"/>
                </a:lnTo>
                <a:lnTo>
                  <a:pt x="75438" y="895482"/>
                </a:lnTo>
                <a:close/>
              </a:path>
              <a:path w="195579" h="1006475">
                <a:moveTo>
                  <a:pt x="157352" y="0"/>
                </a:moveTo>
                <a:lnTo>
                  <a:pt x="37721" y="890400"/>
                </a:lnTo>
                <a:lnTo>
                  <a:pt x="75438" y="895482"/>
                </a:lnTo>
                <a:lnTo>
                  <a:pt x="195072" y="5080"/>
                </a:lnTo>
                <a:lnTo>
                  <a:pt x="15735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3" name="object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158850"/>
              </p:ext>
            </p:extLst>
          </p:nvPr>
        </p:nvGraphicFramePr>
        <p:xfrm>
          <a:off x="1093279" y="3894835"/>
          <a:ext cx="7406636" cy="791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2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73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61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26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22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588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𝟐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461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…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461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𝒏</a:t>
                      </a:r>
                      <a:r>
                        <a:rPr sz="2000" spc="-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2000" spc="-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651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𝒏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50">
                          <a:latin typeface="Cambria Math"/>
                          <a:cs typeface="Cambria Math"/>
                        </a:rPr>
                        <a:t>𝑫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175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20">
                          <a:latin typeface="Cambria Math"/>
                          <a:cs typeface="Cambria Math"/>
                        </a:rPr>
                        <a:t>𝑫[𝟏]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5244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20">
                          <a:latin typeface="Cambria Math"/>
                          <a:cs typeface="Cambria Math"/>
                        </a:rPr>
                        <a:t>𝑫[𝟐]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20" dirty="0">
                          <a:latin typeface="Cambria Math"/>
                          <a:cs typeface="Cambria Math"/>
                        </a:rPr>
                        <a:t>𝑫[𝒊]</a:t>
                      </a:r>
                      <a:endParaRPr sz="2000" dirty="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461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20" dirty="0">
                          <a:latin typeface="Cambria Math"/>
                          <a:cs typeface="Cambria Math"/>
                        </a:rPr>
                        <a:t>𝑫[𝒏]</a:t>
                      </a:r>
                      <a:endParaRPr sz="2000" dirty="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938CDB52-A14C-BC4D-8FD8-FB6609A04F8D}"/>
              </a:ext>
            </a:extLst>
          </p:cNvPr>
          <p:cNvCxnSpPr/>
          <p:nvPr/>
        </p:nvCxnSpPr>
        <p:spPr>
          <a:xfrm flipH="1" flipV="1">
            <a:off x="4967478" y="3767835"/>
            <a:ext cx="336550" cy="28600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FBF070EA-4FAA-194C-BB16-C8C1785921E8}"/>
              </a:ext>
            </a:extLst>
          </p:cNvPr>
          <p:cNvCxnSpPr/>
          <p:nvPr/>
        </p:nvCxnSpPr>
        <p:spPr>
          <a:xfrm flipV="1">
            <a:off x="5831840" y="3767835"/>
            <a:ext cx="1025398" cy="145275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bject 7">
            <a:extLst>
              <a:ext uri="{FF2B5EF4-FFF2-40B4-BE49-F238E27FC236}">
                <a16:creationId xmlns:a16="http://schemas.microsoft.com/office/drawing/2014/main" id="{0DC7FBD1-D94B-5547-A961-E088FB7631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5199" y="227074"/>
            <a:ext cx="5951411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最优方案追踪：记录决策过</a:t>
            </a:r>
            <a:r>
              <a:rPr sz="3600"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程</a:t>
            </a:r>
            <a:endParaRPr sz="36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555875" y="1370964"/>
          <a:ext cx="7446008" cy="791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2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222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222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2152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2152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222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152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17272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34440" y="171164"/>
            <a:ext cx="250444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69516" y="1723135"/>
            <a:ext cx="277495" cy="1557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𝑿</a:t>
            </a:r>
            <a:endParaRPr sz="24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endParaRPr sz="24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50">
              <a:latin typeface="Cambria Math"/>
              <a:cs typeface="Cambria Math"/>
            </a:endParaRPr>
          </a:p>
          <a:p>
            <a:pPr marL="35560">
              <a:lnSpc>
                <a:spcPct val="100000"/>
              </a:lnSpc>
              <a:spcBef>
                <a:spcPts val="5"/>
              </a:spcBef>
            </a:pPr>
            <a:r>
              <a:rPr sz="2400" spc="-50">
                <a:latin typeface="Cambria Math"/>
                <a:cs typeface="Cambria Math"/>
              </a:rPr>
              <a:t>𝑫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40229" y="4991100"/>
            <a:ext cx="5594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>
                <a:latin typeface="Cambria Math"/>
                <a:cs typeface="Cambria Math"/>
              </a:rPr>
              <a:t>𝑹𝒆𝒄</a:t>
            </a:r>
            <a:endParaRPr sz="2400">
              <a:latin typeface="Cambria Math"/>
              <a:cs typeface="Cambria Math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555875" y="2537079"/>
          <a:ext cx="7446008" cy="791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2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555875" y="4638675"/>
          <a:ext cx="7446008" cy="791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2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555875" y="1370964"/>
          <a:ext cx="7446008" cy="791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2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222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222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2152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2152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222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152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17272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555875" y="2537079"/>
          <a:ext cx="7446008" cy="791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2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555875" y="4638675"/>
          <a:ext cx="7446008" cy="791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2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1969516" y="1723135"/>
            <a:ext cx="277495" cy="1557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𝑿</a:t>
            </a:r>
            <a:endParaRPr sz="24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endParaRPr sz="24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50">
              <a:latin typeface="Cambria Math"/>
              <a:cs typeface="Cambria Math"/>
            </a:endParaRPr>
          </a:p>
          <a:p>
            <a:pPr marL="35560">
              <a:lnSpc>
                <a:spcPct val="100000"/>
              </a:lnSpc>
              <a:spcBef>
                <a:spcPts val="5"/>
              </a:spcBef>
            </a:pPr>
            <a:r>
              <a:rPr sz="2400" spc="-50">
                <a:latin typeface="Cambria Math"/>
                <a:cs typeface="Cambria Math"/>
              </a:rPr>
              <a:t>𝑫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310378" y="3405632"/>
            <a:ext cx="4050665" cy="608965"/>
          </a:xfrm>
          <a:custGeom>
            <a:avLst/>
            <a:gdLst/>
            <a:ahLst/>
            <a:cxnLst/>
            <a:rect l="l" t="t" r="r" b="b"/>
            <a:pathLst>
              <a:path w="4050665" h="608964">
                <a:moveTo>
                  <a:pt x="4050156" y="0"/>
                </a:moveTo>
                <a:lnTo>
                  <a:pt x="1953768" y="279653"/>
                </a:lnTo>
                <a:lnTo>
                  <a:pt x="1953768" y="213867"/>
                </a:lnTo>
                <a:lnTo>
                  <a:pt x="0" y="213867"/>
                </a:lnTo>
                <a:lnTo>
                  <a:pt x="0" y="608583"/>
                </a:lnTo>
                <a:lnTo>
                  <a:pt x="1953768" y="608583"/>
                </a:lnTo>
                <a:lnTo>
                  <a:pt x="1953768" y="378332"/>
                </a:lnTo>
                <a:lnTo>
                  <a:pt x="4050156" y="0"/>
                </a:lnTo>
                <a:close/>
              </a:path>
            </a:pathLst>
          </a:custGeom>
          <a:solidFill>
            <a:srgbClr val="083C8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817361" y="3583432"/>
            <a:ext cx="939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 err="1">
                <a:solidFill>
                  <a:srgbClr val="FFFFFF"/>
                </a:solidFill>
                <a:latin typeface="PMingLiU"/>
                <a:cs typeface="PMingLiU"/>
              </a:rPr>
              <a:t>初始化</a:t>
            </a:r>
            <a:endParaRPr sz="2400" dirty="0">
              <a:latin typeface="PMingLiU"/>
              <a:cs typeface="PMingLiU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40229" y="4991100"/>
            <a:ext cx="5594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>
                <a:latin typeface="Cambria Math"/>
                <a:cs typeface="Cambria Math"/>
              </a:rPr>
              <a:t>𝑹𝒆𝒄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533381" y="2950464"/>
            <a:ext cx="396240" cy="387350"/>
          </a:xfrm>
          <a:custGeom>
            <a:avLst/>
            <a:gdLst/>
            <a:ahLst/>
            <a:cxnLst/>
            <a:rect l="l" t="t" r="r" b="b"/>
            <a:pathLst>
              <a:path w="396240" h="387350">
                <a:moveTo>
                  <a:pt x="0" y="64515"/>
                </a:moveTo>
                <a:lnTo>
                  <a:pt x="5062" y="39379"/>
                </a:lnTo>
                <a:lnTo>
                  <a:pt x="18875" y="18875"/>
                </a:lnTo>
                <a:lnTo>
                  <a:pt x="39379" y="5062"/>
                </a:lnTo>
                <a:lnTo>
                  <a:pt x="64516" y="0"/>
                </a:lnTo>
                <a:lnTo>
                  <a:pt x="331724" y="0"/>
                </a:lnTo>
                <a:lnTo>
                  <a:pt x="356860" y="5062"/>
                </a:lnTo>
                <a:lnTo>
                  <a:pt x="377364" y="18875"/>
                </a:lnTo>
                <a:lnTo>
                  <a:pt x="391177" y="39379"/>
                </a:lnTo>
                <a:lnTo>
                  <a:pt x="396240" y="64515"/>
                </a:lnTo>
                <a:lnTo>
                  <a:pt x="396240" y="322580"/>
                </a:lnTo>
                <a:lnTo>
                  <a:pt x="391177" y="347716"/>
                </a:lnTo>
                <a:lnTo>
                  <a:pt x="377364" y="368220"/>
                </a:lnTo>
                <a:lnTo>
                  <a:pt x="356860" y="382033"/>
                </a:lnTo>
                <a:lnTo>
                  <a:pt x="331724" y="387096"/>
                </a:lnTo>
                <a:lnTo>
                  <a:pt x="64516" y="387096"/>
                </a:lnTo>
                <a:lnTo>
                  <a:pt x="39379" y="382033"/>
                </a:lnTo>
                <a:lnTo>
                  <a:pt x="18875" y="368220"/>
                </a:lnTo>
                <a:lnTo>
                  <a:pt x="5062" y="347716"/>
                </a:lnTo>
                <a:lnTo>
                  <a:pt x="0" y="322580"/>
                </a:lnTo>
                <a:lnTo>
                  <a:pt x="0" y="64515"/>
                </a:lnTo>
                <a:close/>
              </a:path>
            </a:pathLst>
          </a:custGeom>
          <a:ln w="44450">
            <a:solidFill>
              <a:srgbClr val="006FC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512807" y="5051297"/>
            <a:ext cx="396240" cy="386715"/>
          </a:xfrm>
          <a:custGeom>
            <a:avLst/>
            <a:gdLst/>
            <a:ahLst/>
            <a:cxnLst/>
            <a:rect l="l" t="t" r="r" b="b"/>
            <a:pathLst>
              <a:path w="396240" h="386714">
                <a:moveTo>
                  <a:pt x="0" y="64388"/>
                </a:moveTo>
                <a:lnTo>
                  <a:pt x="5060" y="39326"/>
                </a:lnTo>
                <a:lnTo>
                  <a:pt x="18859" y="18859"/>
                </a:lnTo>
                <a:lnTo>
                  <a:pt x="39326" y="5060"/>
                </a:lnTo>
                <a:lnTo>
                  <a:pt x="64389" y="0"/>
                </a:lnTo>
                <a:lnTo>
                  <a:pt x="331850" y="0"/>
                </a:lnTo>
                <a:lnTo>
                  <a:pt x="356913" y="5060"/>
                </a:lnTo>
                <a:lnTo>
                  <a:pt x="377380" y="18859"/>
                </a:lnTo>
                <a:lnTo>
                  <a:pt x="391179" y="39326"/>
                </a:lnTo>
                <a:lnTo>
                  <a:pt x="396240" y="64388"/>
                </a:lnTo>
                <a:lnTo>
                  <a:pt x="396240" y="321944"/>
                </a:lnTo>
                <a:lnTo>
                  <a:pt x="391179" y="347007"/>
                </a:lnTo>
                <a:lnTo>
                  <a:pt x="377380" y="367474"/>
                </a:lnTo>
                <a:lnTo>
                  <a:pt x="356913" y="381273"/>
                </a:lnTo>
                <a:lnTo>
                  <a:pt x="331850" y="386333"/>
                </a:lnTo>
                <a:lnTo>
                  <a:pt x="64389" y="386333"/>
                </a:lnTo>
                <a:lnTo>
                  <a:pt x="39326" y="381273"/>
                </a:lnTo>
                <a:lnTo>
                  <a:pt x="18859" y="367474"/>
                </a:lnTo>
                <a:lnTo>
                  <a:pt x="5060" y="347007"/>
                </a:lnTo>
                <a:lnTo>
                  <a:pt x="0" y="321944"/>
                </a:lnTo>
                <a:lnTo>
                  <a:pt x="0" y="64388"/>
                </a:lnTo>
                <a:close/>
              </a:path>
            </a:pathLst>
          </a:custGeom>
          <a:ln w="44450">
            <a:solidFill>
              <a:srgbClr val="006FC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98A9B2B9-8631-AD49-995F-664DA7A946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4440" y="171164"/>
            <a:ext cx="250444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562225" y="1377314"/>
            <a:ext cx="7449820" cy="792480"/>
            <a:chOff x="2562225" y="1377314"/>
            <a:chExt cx="7449820" cy="792480"/>
          </a:xfrm>
        </p:grpSpPr>
        <p:sp>
          <p:nvSpPr>
            <p:cNvPr id="3" name="object 3"/>
            <p:cNvSpPr/>
            <p:nvPr/>
          </p:nvSpPr>
          <p:spPr>
            <a:xfrm>
              <a:off x="2562225" y="1377314"/>
              <a:ext cx="7449820" cy="792480"/>
            </a:xfrm>
            <a:custGeom>
              <a:avLst/>
              <a:gdLst/>
              <a:ahLst/>
              <a:cxnLst/>
              <a:rect l="l" t="t" r="r" b="b"/>
              <a:pathLst>
                <a:path w="7449820" h="792480">
                  <a:moveTo>
                    <a:pt x="7449820" y="0"/>
                  </a:moveTo>
                  <a:lnTo>
                    <a:pt x="0" y="0"/>
                  </a:lnTo>
                  <a:lnTo>
                    <a:pt x="0" y="792479"/>
                  </a:lnTo>
                  <a:lnTo>
                    <a:pt x="7449820" y="792479"/>
                  </a:lnTo>
                  <a:lnTo>
                    <a:pt x="744982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865870" y="1773554"/>
              <a:ext cx="573405" cy="396240"/>
            </a:xfrm>
            <a:custGeom>
              <a:avLst/>
              <a:gdLst/>
              <a:ahLst/>
              <a:cxnLst/>
              <a:rect l="l" t="t" r="r" b="b"/>
              <a:pathLst>
                <a:path w="573404" h="396239">
                  <a:moveTo>
                    <a:pt x="573062" y="0"/>
                  </a:moveTo>
                  <a:lnTo>
                    <a:pt x="0" y="0"/>
                  </a:lnTo>
                  <a:lnTo>
                    <a:pt x="0" y="396239"/>
                  </a:lnTo>
                  <a:lnTo>
                    <a:pt x="573062" y="396239"/>
                  </a:lnTo>
                  <a:lnTo>
                    <a:pt x="573062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555875" y="1370964"/>
          <a:ext cx="7446008" cy="791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2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222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222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2152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2152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222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152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17272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555875" y="2537079"/>
          <a:ext cx="7446008" cy="791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2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555875" y="4638675"/>
          <a:ext cx="7446008" cy="791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2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1969516" y="1723135"/>
            <a:ext cx="277495" cy="1557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𝑿</a:t>
            </a:r>
            <a:endParaRPr sz="24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endParaRPr sz="24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50">
              <a:latin typeface="Cambria Math"/>
              <a:cs typeface="Cambria Math"/>
            </a:endParaRPr>
          </a:p>
          <a:p>
            <a:pPr marL="35560">
              <a:lnSpc>
                <a:spcPct val="100000"/>
              </a:lnSpc>
              <a:spcBef>
                <a:spcPts val="5"/>
              </a:spcBef>
            </a:pPr>
            <a:r>
              <a:rPr sz="2400" spc="-50">
                <a:latin typeface="Cambria Math"/>
                <a:cs typeface="Cambria Math"/>
              </a:rPr>
              <a:t>𝑫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941307" y="2939033"/>
            <a:ext cx="396240" cy="386715"/>
          </a:xfrm>
          <a:custGeom>
            <a:avLst/>
            <a:gdLst/>
            <a:ahLst/>
            <a:cxnLst/>
            <a:rect l="l" t="t" r="r" b="b"/>
            <a:pathLst>
              <a:path w="396240" h="386714">
                <a:moveTo>
                  <a:pt x="0" y="64388"/>
                </a:moveTo>
                <a:lnTo>
                  <a:pt x="5060" y="39326"/>
                </a:lnTo>
                <a:lnTo>
                  <a:pt x="18859" y="18859"/>
                </a:lnTo>
                <a:lnTo>
                  <a:pt x="39326" y="5060"/>
                </a:lnTo>
                <a:lnTo>
                  <a:pt x="64389" y="0"/>
                </a:lnTo>
                <a:lnTo>
                  <a:pt x="331850" y="0"/>
                </a:lnTo>
                <a:lnTo>
                  <a:pt x="356913" y="5060"/>
                </a:lnTo>
                <a:lnTo>
                  <a:pt x="377380" y="18859"/>
                </a:lnTo>
                <a:lnTo>
                  <a:pt x="391179" y="39326"/>
                </a:lnTo>
                <a:lnTo>
                  <a:pt x="396240" y="64388"/>
                </a:lnTo>
                <a:lnTo>
                  <a:pt x="396240" y="321944"/>
                </a:lnTo>
                <a:lnTo>
                  <a:pt x="391179" y="347007"/>
                </a:lnTo>
                <a:lnTo>
                  <a:pt x="377380" y="367474"/>
                </a:lnTo>
                <a:lnTo>
                  <a:pt x="356913" y="381273"/>
                </a:lnTo>
                <a:lnTo>
                  <a:pt x="331850" y="386333"/>
                </a:lnTo>
                <a:lnTo>
                  <a:pt x="64389" y="386333"/>
                </a:lnTo>
                <a:lnTo>
                  <a:pt x="39326" y="381273"/>
                </a:lnTo>
                <a:lnTo>
                  <a:pt x="18859" y="367474"/>
                </a:lnTo>
                <a:lnTo>
                  <a:pt x="5060" y="347007"/>
                </a:lnTo>
                <a:lnTo>
                  <a:pt x="0" y="321944"/>
                </a:lnTo>
                <a:lnTo>
                  <a:pt x="0" y="64388"/>
                </a:lnTo>
                <a:close/>
              </a:path>
            </a:pathLst>
          </a:custGeom>
          <a:ln w="44450">
            <a:solidFill>
              <a:srgbClr val="006FC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105655" y="3379851"/>
            <a:ext cx="5824220" cy="1094105"/>
          </a:xfrm>
          <a:custGeom>
            <a:avLst/>
            <a:gdLst/>
            <a:ahLst/>
            <a:cxnLst/>
            <a:rect l="l" t="t" r="r" b="b"/>
            <a:pathLst>
              <a:path w="5824220" h="1094104">
                <a:moveTo>
                  <a:pt x="5074539" y="0"/>
                </a:moveTo>
                <a:lnTo>
                  <a:pt x="3397250" y="262509"/>
                </a:lnTo>
                <a:lnTo>
                  <a:pt x="0" y="262509"/>
                </a:lnTo>
                <a:lnTo>
                  <a:pt x="0" y="1093851"/>
                </a:lnTo>
                <a:lnTo>
                  <a:pt x="5823966" y="1093851"/>
                </a:lnTo>
                <a:lnTo>
                  <a:pt x="5823966" y="262509"/>
                </a:lnTo>
                <a:lnTo>
                  <a:pt x="4853305" y="262509"/>
                </a:lnTo>
                <a:lnTo>
                  <a:pt x="5074539" y="0"/>
                </a:lnTo>
                <a:close/>
              </a:path>
            </a:pathLst>
          </a:custGeom>
          <a:solidFill>
            <a:srgbClr val="083C8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179315" y="3850385"/>
            <a:ext cx="11283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Cambria Math"/>
                <a:cs typeface="Cambria Math"/>
              </a:rPr>
              <a:t>𝑫[𝒊]</a:t>
            </a:r>
            <a:r>
              <a:rPr sz="2400" spc="114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endParaRPr sz="2400" dirty="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539232" y="3735069"/>
            <a:ext cx="258445" cy="283210"/>
          </a:xfrm>
          <a:custGeom>
            <a:avLst/>
            <a:gdLst/>
            <a:ahLst/>
            <a:cxnLst/>
            <a:rect l="l" t="t" r="r" b="b"/>
            <a:pathLst>
              <a:path w="258445" h="28321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1780"/>
                </a:lnTo>
                <a:lnTo>
                  <a:pt x="0" y="283210"/>
                </a:lnTo>
                <a:lnTo>
                  <a:pt x="66421" y="283210"/>
                </a:lnTo>
                <a:lnTo>
                  <a:pt x="66421" y="271780"/>
                </a:lnTo>
                <a:lnTo>
                  <a:pt x="24765" y="271780"/>
                </a:lnTo>
                <a:lnTo>
                  <a:pt x="24765" y="1143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  <a:path w="258445" h="283210">
                <a:moveTo>
                  <a:pt x="258318" y="0"/>
                </a:moveTo>
                <a:lnTo>
                  <a:pt x="191897" y="0"/>
                </a:lnTo>
                <a:lnTo>
                  <a:pt x="191897" y="11430"/>
                </a:lnTo>
                <a:lnTo>
                  <a:pt x="233553" y="11430"/>
                </a:lnTo>
                <a:lnTo>
                  <a:pt x="233553" y="271780"/>
                </a:lnTo>
                <a:lnTo>
                  <a:pt x="191897" y="271780"/>
                </a:lnTo>
                <a:lnTo>
                  <a:pt x="191897" y="283210"/>
                </a:lnTo>
                <a:lnTo>
                  <a:pt x="258318" y="283210"/>
                </a:lnTo>
                <a:lnTo>
                  <a:pt x="258318" y="271780"/>
                </a:lnTo>
                <a:lnTo>
                  <a:pt x="258318" y="11430"/>
                </a:lnTo>
                <a:lnTo>
                  <a:pt x="25831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281929" y="3646170"/>
            <a:ext cx="20872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17220" algn="l"/>
              </a:tabLst>
            </a:pP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𝑿</a:t>
            </a:r>
            <a:r>
              <a:rPr sz="2400" spc="30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 spc="-50">
                <a:solidFill>
                  <a:srgbClr val="FFFFFF"/>
                </a:solidFill>
                <a:latin typeface="Cambria Math"/>
                <a:cs typeface="Cambria Math"/>
              </a:rPr>
              <a:t>𝒊</a:t>
            </a: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	+</a:t>
            </a:r>
            <a:r>
              <a:rPr sz="2400" spc="-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𝑫[𝒊</a:t>
            </a:r>
            <a:r>
              <a:rPr sz="2400" spc="-1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+ </a:t>
            </a:r>
            <a:r>
              <a:rPr sz="2400" spc="-25">
                <a:solidFill>
                  <a:srgbClr val="FFFFFF"/>
                </a:solidFill>
                <a:latin typeface="Cambria Math"/>
                <a:cs typeface="Cambria Math"/>
              </a:rPr>
              <a:t>𝟏],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269990" y="4130039"/>
            <a:ext cx="258445" cy="283210"/>
          </a:xfrm>
          <a:custGeom>
            <a:avLst/>
            <a:gdLst/>
            <a:ahLst/>
            <a:cxnLst/>
            <a:rect l="l" t="t" r="r" b="b"/>
            <a:pathLst>
              <a:path w="258445" h="28321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1780"/>
                </a:lnTo>
                <a:lnTo>
                  <a:pt x="0" y="283210"/>
                </a:lnTo>
                <a:lnTo>
                  <a:pt x="66421" y="283210"/>
                </a:lnTo>
                <a:lnTo>
                  <a:pt x="66421" y="271780"/>
                </a:lnTo>
                <a:lnTo>
                  <a:pt x="24765" y="271780"/>
                </a:lnTo>
                <a:lnTo>
                  <a:pt x="24765" y="1143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  <a:path w="258445" h="283210">
                <a:moveTo>
                  <a:pt x="258305" y="0"/>
                </a:moveTo>
                <a:lnTo>
                  <a:pt x="191897" y="0"/>
                </a:lnTo>
                <a:lnTo>
                  <a:pt x="191897" y="11430"/>
                </a:lnTo>
                <a:lnTo>
                  <a:pt x="233553" y="11430"/>
                </a:lnTo>
                <a:lnTo>
                  <a:pt x="233553" y="271780"/>
                </a:lnTo>
                <a:lnTo>
                  <a:pt x="191897" y="271780"/>
                </a:lnTo>
                <a:lnTo>
                  <a:pt x="191897" y="283210"/>
                </a:lnTo>
                <a:lnTo>
                  <a:pt x="258305" y="283210"/>
                </a:lnTo>
                <a:lnTo>
                  <a:pt x="258305" y="271780"/>
                </a:lnTo>
                <a:lnTo>
                  <a:pt x="258305" y="11430"/>
                </a:lnTo>
                <a:lnTo>
                  <a:pt x="258305" y="0"/>
                </a:lnTo>
                <a:close/>
              </a:path>
            </a:pathLst>
          </a:custGeom>
          <a:solidFill>
            <a:srgbClr val="FF9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012688" y="4040885"/>
            <a:ext cx="6254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𝑿</a:t>
            </a:r>
            <a:r>
              <a:rPr sz="2400" spc="305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𝒊</a:t>
            </a:r>
            <a:r>
              <a:rPr sz="2400" spc="305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 spc="-50">
                <a:solidFill>
                  <a:srgbClr val="FF9200"/>
                </a:solidFill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647178" y="3617214"/>
            <a:ext cx="2056130" cy="81534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𝒊𝒇</a:t>
            </a:r>
            <a:r>
              <a:rPr sz="2400" spc="-1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𝑫[𝒊</a:t>
            </a:r>
            <a:r>
              <a:rPr sz="2400" spc="-1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+</a:t>
            </a:r>
            <a:r>
              <a:rPr sz="2400" spc="-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𝟏]</a:t>
            </a:r>
            <a:r>
              <a:rPr sz="2400" spc="13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&gt;</a:t>
            </a:r>
            <a:r>
              <a:rPr sz="2400" spc="13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 spc="-50">
                <a:solidFill>
                  <a:srgbClr val="FFFFFF"/>
                </a:solidFill>
                <a:latin typeface="Cambria Math"/>
                <a:cs typeface="Cambria Math"/>
              </a:rPr>
              <a:t>𝟎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𝒊𝒇</a:t>
            </a:r>
            <a:r>
              <a:rPr sz="2400" spc="-15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𝑫[𝒊</a:t>
            </a:r>
            <a:r>
              <a:rPr sz="2400" spc="-10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+</a:t>
            </a:r>
            <a:r>
              <a:rPr sz="2400" spc="-5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𝟏]</a:t>
            </a:r>
            <a:r>
              <a:rPr sz="2400" spc="130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≤</a:t>
            </a:r>
            <a:r>
              <a:rPr sz="2400" spc="135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 spc="-50">
                <a:solidFill>
                  <a:srgbClr val="FF9200"/>
                </a:solidFill>
                <a:latin typeface="Cambria Math"/>
                <a:cs typeface="Cambria Math"/>
              </a:rPr>
              <a:t>𝟎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840229" y="4991100"/>
            <a:ext cx="5594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>
                <a:latin typeface="Cambria Math"/>
                <a:cs typeface="Cambria Math"/>
              </a:rPr>
              <a:t>𝑹𝒆𝒄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941307" y="1741932"/>
            <a:ext cx="396240" cy="387350"/>
          </a:xfrm>
          <a:custGeom>
            <a:avLst/>
            <a:gdLst/>
            <a:ahLst/>
            <a:cxnLst/>
            <a:rect l="l" t="t" r="r" b="b"/>
            <a:pathLst>
              <a:path w="396240" h="387350">
                <a:moveTo>
                  <a:pt x="0" y="64515"/>
                </a:moveTo>
                <a:lnTo>
                  <a:pt x="5062" y="39379"/>
                </a:lnTo>
                <a:lnTo>
                  <a:pt x="18875" y="18875"/>
                </a:lnTo>
                <a:lnTo>
                  <a:pt x="39379" y="5062"/>
                </a:lnTo>
                <a:lnTo>
                  <a:pt x="64516" y="0"/>
                </a:lnTo>
                <a:lnTo>
                  <a:pt x="331724" y="0"/>
                </a:lnTo>
                <a:lnTo>
                  <a:pt x="356860" y="5062"/>
                </a:lnTo>
                <a:lnTo>
                  <a:pt x="377364" y="18875"/>
                </a:lnTo>
                <a:lnTo>
                  <a:pt x="391177" y="39379"/>
                </a:lnTo>
                <a:lnTo>
                  <a:pt x="396240" y="64515"/>
                </a:lnTo>
                <a:lnTo>
                  <a:pt x="396240" y="322579"/>
                </a:lnTo>
                <a:lnTo>
                  <a:pt x="391177" y="347716"/>
                </a:lnTo>
                <a:lnTo>
                  <a:pt x="377364" y="368220"/>
                </a:lnTo>
                <a:lnTo>
                  <a:pt x="356860" y="382033"/>
                </a:lnTo>
                <a:lnTo>
                  <a:pt x="331724" y="387095"/>
                </a:lnTo>
                <a:lnTo>
                  <a:pt x="64516" y="387095"/>
                </a:lnTo>
                <a:lnTo>
                  <a:pt x="39379" y="382033"/>
                </a:lnTo>
                <a:lnTo>
                  <a:pt x="18875" y="368220"/>
                </a:lnTo>
                <a:lnTo>
                  <a:pt x="5062" y="347716"/>
                </a:lnTo>
                <a:lnTo>
                  <a:pt x="0" y="322579"/>
                </a:lnTo>
                <a:lnTo>
                  <a:pt x="0" y="64515"/>
                </a:lnTo>
                <a:close/>
              </a:path>
            </a:pathLst>
          </a:custGeom>
          <a:ln w="4445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9533381" y="2950464"/>
            <a:ext cx="396240" cy="387350"/>
          </a:xfrm>
          <a:custGeom>
            <a:avLst/>
            <a:gdLst/>
            <a:ahLst/>
            <a:cxnLst/>
            <a:rect l="l" t="t" r="r" b="b"/>
            <a:pathLst>
              <a:path w="396240" h="387350">
                <a:moveTo>
                  <a:pt x="0" y="64515"/>
                </a:moveTo>
                <a:lnTo>
                  <a:pt x="5062" y="39379"/>
                </a:lnTo>
                <a:lnTo>
                  <a:pt x="18875" y="18875"/>
                </a:lnTo>
                <a:lnTo>
                  <a:pt x="39379" y="5062"/>
                </a:lnTo>
                <a:lnTo>
                  <a:pt x="64516" y="0"/>
                </a:lnTo>
                <a:lnTo>
                  <a:pt x="331724" y="0"/>
                </a:lnTo>
                <a:lnTo>
                  <a:pt x="356860" y="5062"/>
                </a:lnTo>
                <a:lnTo>
                  <a:pt x="377364" y="18875"/>
                </a:lnTo>
                <a:lnTo>
                  <a:pt x="391177" y="39379"/>
                </a:lnTo>
                <a:lnTo>
                  <a:pt x="396240" y="64515"/>
                </a:lnTo>
                <a:lnTo>
                  <a:pt x="396240" y="322580"/>
                </a:lnTo>
                <a:lnTo>
                  <a:pt x="391177" y="347716"/>
                </a:lnTo>
                <a:lnTo>
                  <a:pt x="377364" y="368220"/>
                </a:lnTo>
                <a:lnTo>
                  <a:pt x="356860" y="382033"/>
                </a:lnTo>
                <a:lnTo>
                  <a:pt x="331724" y="387096"/>
                </a:lnTo>
                <a:lnTo>
                  <a:pt x="64516" y="387096"/>
                </a:lnTo>
                <a:lnTo>
                  <a:pt x="39379" y="382033"/>
                </a:lnTo>
                <a:lnTo>
                  <a:pt x="18875" y="368220"/>
                </a:lnTo>
                <a:lnTo>
                  <a:pt x="5062" y="347716"/>
                </a:lnTo>
                <a:lnTo>
                  <a:pt x="0" y="322580"/>
                </a:lnTo>
                <a:lnTo>
                  <a:pt x="0" y="64515"/>
                </a:lnTo>
                <a:close/>
              </a:path>
            </a:pathLst>
          </a:custGeom>
          <a:ln w="4445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3">
            <a:extLst>
              <a:ext uri="{FF2B5EF4-FFF2-40B4-BE49-F238E27FC236}">
                <a16:creationId xmlns:a16="http://schemas.microsoft.com/office/drawing/2014/main" id="{7C7DCFAA-848A-B14B-AB66-3098CEBFBC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4440" y="171164"/>
            <a:ext cx="250444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562225" y="1377314"/>
            <a:ext cx="7449820" cy="792480"/>
            <a:chOff x="2562225" y="1377314"/>
            <a:chExt cx="7449820" cy="792480"/>
          </a:xfrm>
        </p:grpSpPr>
        <p:sp>
          <p:nvSpPr>
            <p:cNvPr id="3" name="object 3"/>
            <p:cNvSpPr/>
            <p:nvPr/>
          </p:nvSpPr>
          <p:spPr>
            <a:xfrm>
              <a:off x="2562225" y="1377314"/>
              <a:ext cx="7449820" cy="792480"/>
            </a:xfrm>
            <a:custGeom>
              <a:avLst/>
              <a:gdLst/>
              <a:ahLst/>
              <a:cxnLst/>
              <a:rect l="l" t="t" r="r" b="b"/>
              <a:pathLst>
                <a:path w="7449820" h="792480">
                  <a:moveTo>
                    <a:pt x="7449820" y="0"/>
                  </a:moveTo>
                  <a:lnTo>
                    <a:pt x="0" y="0"/>
                  </a:lnTo>
                  <a:lnTo>
                    <a:pt x="0" y="792479"/>
                  </a:lnTo>
                  <a:lnTo>
                    <a:pt x="7449820" y="792479"/>
                  </a:lnTo>
                  <a:lnTo>
                    <a:pt x="744982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865870" y="1773554"/>
              <a:ext cx="573405" cy="396240"/>
            </a:xfrm>
            <a:custGeom>
              <a:avLst/>
              <a:gdLst/>
              <a:ahLst/>
              <a:cxnLst/>
              <a:rect l="l" t="t" r="r" b="b"/>
              <a:pathLst>
                <a:path w="573404" h="396239">
                  <a:moveTo>
                    <a:pt x="573062" y="0"/>
                  </a:moveTo>
                  <a:lnTo>
                    <a:pt x="0" y="0"/>
                  </a:lnTo>
                  <a:lnTo>
                    <a:pt x="0" y="396239"/>
                  </a:lnTo>
                  <a:lnTo>
                    <a:pt x="573062" y="396239"/>
                  </a:lnTo>
                  <a:lnTo>
                    <a:pt x="573062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555875" y="1370964"/>
          <a:ext cx="7446008" cy="791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2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222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222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2152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2152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222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152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17272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555875" y="2537079"/>
          <a:ext cx="7446008" cy="791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2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555875" y="4638675"/>
          <a:ext cx="7446008" cy="791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2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1969516" y="1723135"/>
            <a:ext cx="277495" cy="1557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𝑿</a:t>
            </a:r>
            <a:endParaRPr sz="24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endParaRPr sz="24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50">
              <a:latin typeface="Cambria Math"/>
              <a:cs typeface="Cambria Math"/>
            </a:endParaRPr>
          </a:p>
          <a:p>
            <a:pPr marL="35560">
              <a:lnSpc>
                <a:spcPct val="100000"/>
              </a:lnSpc>
              <a:spcBef>
                <a:spcPts val="5"/>
              </a:spcBef>
            </a:pPr>
            <a:r>
              <a:rPr sz="2400" spc="-50">
                <a:latin typeface="Cambria Math"/>
                <a:cs typeface="Cambria Math"/>
              </a:rPr>
              <a:t>𝑫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941307" y="2939033"/>
            <a:ext cx="396240" cy="386715"/>
          </a:xfrm>
          <a:custGeom>
            <a:avLst/>
            <a:gdLst/>
            <a:ahLst/>
            <a:cxnLst/>
            <a:rect l="l" t="t" r="r" b="b"/>
            <a:pathLst>
              <a:path w="396240" h="386714">
                <a:moveTo>
                  <a:pt x="0" y="64388"/>
                </a:moveTo>
                <a:lnTo>
                  <a:pt x="5060" y="39326"/>
                </a:lnTo>
                <a:lnTo>
                  <a:pt x="18859" y="18859"/>
                </a:lnTo>
                <a:lnTo>
                  <a:pt x="39326" y="5060"/>
                </a:lnTo>
                <a:lnTo>
                  <a:pt x="64389" y="0"/>
                </a:lnTo>
                <a:lnTo>
                  <a:pt x="331850" y="0"/>
                </a:lnTo>
                <a:lnTo>
                  <a:pt x="356913" y="5060"/>
                </a:lnTo>
                <a:lnTo>
                  <a:pt x="377380" y="18859"/>
                </a:lnTo>
                <a:lnTo>
                  <a:pt x="391179" y="39326"/>
                </a:lnTo>
                <a:lnTo>
                  <a:pt x="396240" y="64388"/>
                </a:lnTo>
                <a:lnTo>
                  <a:pt x="396240" y="321944"/>
                </a:lnTo>
                <a:lnTo>
                  <a:pt x="391179" y="347007"/>
                </a:lnTo>
                <a:lnTo>
                  <a:pt x="377380" y="367474"/>
                </a:lnTo>
                <a:lnTo>
                  <a:pt x="356913" y="381273"/>
                </a:lnTo>
                <a:lnTo>
                  <a:pt x="331850" y="386333"/>
                </a:lnTo>
                <a:lnTo>
                  <a:pt x="64389" y="386333"/>
                </a:lnTo>
                <a:lnTo>
                  <a:pt x="39326" y="381273"/>
                </a:lnTo>
                <a:lnTo>
                  <a:pt x="18859" y="367474"/>
                </a:lnTo>
                <a:lnTo>
                  <a:pt x="5060" y="347007"/>
                </a:lnTo>
                <a:lnTo>
                  <a:pt x="0" y="321944"/>
                </a:lnTo>
                <a:lnTo>
                  <a:pt x="0" y="64388"/>
                </a:lnTo>
                <a:close/>
              </a:path>
            </a:pathLst>
          </a:custGeom>
          <a:ln w="44450">
            <a:solidFill>
              <a:srgbClr val="006FC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840229" y="4991100"/>
            <a:ext cx="5594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>
                <a:latin typeface="Cambria Math"/>
                <a:cs typeface="Cambria Math"/>
              </a:rPr>
              <a:t>𝑹𝒆𝒄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941307" y="1741932"/>
            <a:ext cx="396240" cy="387350"/>
          </a:xfrm>
          <a:custGeom>
            <a:avLst/>
            <a:gdLst/>
            <a:ahLst/>
            <a:cxnLst/>
            <a:rect l="l" t="t" r="r" b="b"/>
            <a:pathLst>
              <a:path w="396240" h="387350">
                <a:moveTo>
                  <a:pt x="0" y="64515"/>
                </a:moveTo>
                <a:lnTo>
                  <a:pt x="5062" y="39379"/>
                </a:lnTo>
                <a:lnTo>
                  <a:pt x="18875" y="18875"/>
                </a:lnTo>
                <a:lnTo>
                  <a:pt x="39379" y="5062"/>
                </a:lnTo>
                <a:lnTo>
                  <a:pt x="64516" y="0"/>
                </a:lnTo>
                <a:lnTo>
                  <a:pt x="331724" y="0"/>
                </a:lnTo>
                <a:lnTo>
                  <a:pt x="356860" y="5062"/>
                </a:lnTo>
                <a:lnTo>
                  <a:pt x="377364" y="18875"/>
                </a:lnTo>
                <a:lnTo>
                  <a:pt x="391177" y="39379"/>
                </a:lnTo>
                <a:lnTo>
                  <a:pt x="396240" y="64515"/>
                </a:lnTo>
                <a:lnTo>
                  <a:pt x="396240" y="322579"/>
                </a:lnTo>
                <a:lnTo>
                  <a:pt x="391177" y="347716"/>
                </a:lnTo>
                <a:lnTo>
                  <a:pt x="377364" y="368220"/>
                </a:lnTo>
                <a:lnTo>
                  <a:pt x="356860" y="382033"/>
                </a:lnTo>
                <a:lnTo>
                  <a:pt x="331724" y="387095"/>
                </a:lnTo>
                <a:lnTo>
                  <a:pt x="64516" y="387095"/>
                </a:lnTo>
                <a:lnTo>
                  <a:pt x="39379" y="382033"/>
                </a:lnTo>
                <a:lnTo>
                  <a:pt x="18875" y="368220"/>
                </a:lnTo>
                <a:lnTo>
                  <a:pt x="5062" y="347716"/>
                </a:lnTo>
                <a:lnTo>
                  <a:pt x="0" y="322579"/>
                </a:lnTo>
                <a:lnTo>
                  <a:pt x="0" y="64515"/>
                </a:lnTo>
                <a:close/>
              </a:path>
            </a:pathLst>
          </a:custGeom>
          <a:ln w="4445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941307" y="5051297"/>
            <a:ext cx="396240" cy="386715"/>
          </a:xfrm>
          <a:custGeom>
            <a:avLst/>
            <a:gdLst/>
            <a:ahLst/>
            <a:cxnLst/>
            <a:rect l="l" t="t" r="r" b="b"/>
            <a:pathLst>
              <a:path w="396240" h="386714">
                <a:moveTo>
                  <a:pt x="0" y="64388"/>
                </a:moveTo>
                <a:lnTo>
                  <a:pt x="5060" y="39326"/>
                </a:lnTo>
                <a:lnTo>
                  <a:pt x="18859" y="18859"/>
                </a:lnTo>
                <a:lnTo>
                  <a:pt x="39326" y="5060"/>
                </a:lnTo>
                <a:lnTo>
                  <a:pt x="64389" y="0"/>
                </a:lnTo>
                <a:lnTo>
                  <a:pt x="331850" y="0"/>
                </a:lnTo>
                <a:lnTo>
                  <a:pt x="356913" y="5060"/>
                </a:lnTo>
                <a:lnTo>
                  <a:pt x="377380" y="18859"/>
                </a:lnTo>
                <a:lnTo>
                  <a:pt x="391179" y="39326"/>
                </a:lnTo>
                <a:lnTo>
                  <a:pt x="396240" y="64388"/>
                </a:lnTo>
                <a:lnTo>
                  <a:pt x="396240" y="321944"/>
                </a:lnTo>
                <a:lnTo>
                  <a:pt x="391179" y="347007"/>
                </a:lnTo>
                <a:lnTo>
                  <a:pt x="377380" y="367474"/>
                </a:lnTo>
                <a:lnTo>
                  <a:pt x="356913" y="381273"/>
                </a:lnTo>
                <a:lnTo>
                  <a:pt x="331850" y="386333"/>
                </a:lnTo>
                <a:lnTo>
                  <a:pt x="64389" y="386333"/>
                </a:lnTo>
                <a:lnTo>
                  <a:pt x="39326" y="381273"/>
                </a:lnTo>
                <a:lnTo>
                  <a:pt x="18859" y="367474"/>
                </a:lnTo>
                <a:lnTo>
                  <a:pt x="5060" y="347007"/>
                </a:lnTo>
                <a:lnTo>
                  <a:pt x="0" y="321944"/>
                </a:lnTo>
                <a:lnTo>
                  <a:pt x="0" y="64388"/>
                </a:lnTo>
                <a:close/>
              </a:path>
            </a:pathLst>
          </a:custGeom>
          <a:ln w="44450">
            <a:solidFill>
              <a:srgbClr val="006FC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105655" y="3379851"/>
            <a:ext cx="5824220" cy="1094105"/>
          </a:xfrm>
          <a:custGeom>
            <a:avLst/>
            <a:gdLst/>
            <a:ahLst/>
            <a:cxnLst/>
            <a:rect l="l" t="t" r="r" b="b"/>
            <a:pathLst>
              <a:path w="5824220" h="1094104">
                <a:moveTo>
                  <a:pt x="5074539" y="0"/>
                </a:moveTo>
                <a:lnTo>
                  <a:pt x="3397250" y="262509"/>
                </a:lnTo>
                <a:lnTo>
                  <a:pt x="0" y="262509"/>
                </a:lnTo>
                <a:lnTo>
                  <a:pt x="0" y="1093851"/>
                </a:lnTo>
                <a:lnTo>
                  <a:pt x="5823966" y="1093851"/>
                </a:lnTo>
                <a:lnTo>
                  <a:pt x="5823966" y="262509"/>
                </a:lnTo>
                <a:lnTo>
                  <a:pt x="4853305" y="262509"/>
                </a:lnTo>
                <a:lnTo>
                  <a:pt x="5074539" y="0"/>
                </a:lnTo>
                <a:close/>
              </a:path>
            </a:pathLst>
          </a:custGeom>
          <a:solidFill>
            <a:srgbClr val="083C8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179315" y="3850385"/>
            <a:ext cx="11283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Cambria Math"/>
                <a:cs typeface="Cambria Math"/>
              </a:rPr>
              <a:t>𝑫[𝒊]</a:t>
            </a:r>
            <a:r>
              <a:rPr sz="2400" spc="114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endParaRPr sz="2400" dirty="0">
              <a:latin typeface="Cambria Math"/>
              <a:cs typeface="Cambria Math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539232" y="3735069"/>
            <a:ext cx="258445" cy="283210"/>
          </a:xfrm>
          <a:custGeom>
            <a:avLst/>
            <a:gdLst/>
            <a:ahLst/>
            <a:cxnLst/>
            <a:rect l="l" t="t" r="r" b="b"/>
            <a:pathLst>
              <a:path w="258445" h="28321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1780"/>
                </a:lnTo>
                <a:lnTo>
                  <a:pt x="0" y="283210"/>
                </a:lnTo>
                <a:lnTo>
                  <a:pt x="66421" y="283210"/>
                </a:lnTo>
                <a:lnTo>
                  <a:pt x="66421" y="271780"/>
                </a:lnTo>
                <a:lnTo>
                  <a:pt x="24765" y="271780"/>
                </a:lnTo>
                <a:lnTo>
                  <a:pt x="24765" y="1143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  <a:path w="258445" h="283210">
                <a:moveTo>
                  <a:pt x="258318" y="0"/>
                </a:moveTo>
                <a:lnTo>
                  <a:pt x="191897" y="0"/>
                </a:lnTo>
                <a:lnTo>
                  <a:pt x="191897" y="11430"/>
                </a:lnTo>
                <a:lnTo>
                  <a:pt x="233553" y="11430"/>
                </a:lnTo>
                <a:lnTo>
                  <a:pt x="233553" y="271780"/>
                </a:lnTo>
                <a:lnTo>
                  <a:pt x="191897" y="271780"/>
                </a:lnTo>
                <a:lnTo>
                  <a:pt x="191897" y="283210"/>
                </a:lnTo>
                <a:lnTo>
                  <a:pt x="258318" y="283210"/>
                </a:lnTo>
                <a:lnTo>
                  <a:pt x="258318" y="271780"/>
                </a:lnTo>
                <a:lnTo>
                  <a:pt x="258318" y="11430"/>
                </a:lnTo>
                <a:lnTo>
                  <a:pt x="25831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281929" y="3646170"/>
            <a:ext cx="20872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17220" algn="l"/>
              </a:tabLst>
            </a:pP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𝑿</a:t>
            </a:r>
            <a:r>
              <a:rPr sz="2400" spc="30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 spc="-50">
                <a:solidFill>
                  <a:srgbClr val="FFFFFF"/>
                </a:solidFill>
                <a:latin typeface="Cambria Math"/>
                <a:cs typeface="Cambria Math"/>
              </a:rPr>
              <a:t>𝒊</a:t>
            </a: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	+</a:t>
            </a:r>
            <a:r>
              <a:rPr sz="2400" spc="-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𝑫[𝒊</a:t>
            </a:r>
            <a:r>
              <a:rPr sz="2400" spc="-1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+ </a:t>
            </a:r>
            <a:r>
              <a:rPr sz="2400" spc="-25">
                <a:solidFill>
                  <a:srgbClr val="FFFFFF"/>
                </a:solidFill>
                <a:latin typeface="Cambria Math"/>
                <a:cs typeface="Cambria Math"/>
              </a:rPr>
              <a:t>𝟏],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269990" y="4130039"/>
            <a:ext cx="258445" cy="283210"/>
          </a:xfrm>
          <a:custGeom>
            <a:avLst/>
            <a:gdLst/>
            <a:ahLst/>
            <a:cxnLst/>
            <a:rect l="l" t="t" r="r" b="b"/>
            <a:pathLst>
              <a:path w="258445" h="28321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1780"/>
                </a:lnTo>
                <a:lnTo>
                  <a:pt x="0" y="283210"/>
                </a:lnTo>
                <a:lnTo>
                  <a:pt x="66421" y="283210"/>
                </a:lnTo>
                <a:lnTo>
                  <a:pt x="66421" y="271780"/>
                </a:lnTo>
                <a:lnTo>
                  <a:pt x="24765" y="271780"/>
                </a:lnTo>
                <a:lnTo>
                  <a:pt x="24765" y="1143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  <a:path w="258445" h="283210">
                <a:moveTo>
                  <a:pt x="258305" y="0"/>
                </a:moveTo>
                <a:lnTo>
                  <a:pt x="191897" y="0"/>
                </a:lnTo>
                <a:lnTo>
                  <a:pt x="191897" y="11430"/>
                </a:lnTo>
                <a:lnTo>
                  <a:pt x="233553" y="11430"/>
                </a:lnTo>
                <a:lnTo>
                  <a:pt x="233553" y="271780"/>
                </a:lnTo>
                <a:lnTo>
                  <a:pt x="191897" y="271780"/>
                </a:lnTo>
                <a:lnTo>
                  <a:pt x="191897" y="283210"/>
                </a:lnTo>
                <a:lnTo>
                  <a:pt x="258305" y="283210"/>
                </a:lnTo>
                <a:lnTo>
                  <a:pt x="258305" y="271780"/>
                </a:lnTo>
                <a:lnTo>
                  <a:pt x="258305" y="11430"/>
                </a:lnTo>
                <a:lnTo>
                  <a:pt x="258305" y="0"/>
                </a:lnTo>
                <a:close/>
              </a:path>
            </a:pathLst>
          </a:custGeom>
          <a:solidFill>
            <a:srgbClr val="FF9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012688" y="4040885"/>
            <a:ext cx="6254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𝑿</a:t>
            </a:r>
            <a:r>
              <a:rPr sz="2400" spc="305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𝒊</a:t>
            </a:r>
            <a:r>
              <a:rPr sz="2400" spc="305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 spc="-50">
                <a:solidFill>
                  <a:srgbClr val="FF9200"/>
                </a:solidFill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647178" y="3617214"/>
            <a:ext cx="2056130" cy="81534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𝒊𝒇</a:t>
            </a:r>
            <a:r>
              <a:rPr sz="2400" spc="-1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𝑫[𝒊</a:t>
            </a:r>
            <a:r>
              <a:rPr sz="2400" spc="-1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+</a:t>
            </a:r>
            <a:r>
              <a:rPr sz="2400" spc="-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𝟏]</a:t>
            </a:r>
            <a:r>
              <a:rPr sz="2400" spc="13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&gt;</a:t>
            </a:r>
            <a:r>
              <a:rPr sz="2400" spc="13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 spc="-50">
                <a:solidFill>
                  <a:srgbClr val="FFFFFF"/>
                </a:solidFill>
                <a:latin typeface="Cambria Math"/>
                <a:cs typeface="Cambria Math"/>
              </a:rPr>
              <a:t>𝟎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𝒊𝒇</a:t>
            </a:r>
            <a:r>
              <a:rPr sz="2400" spc="-15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𝑫[𝒊</a:t>
            </a:r>
            <a:r>
              <a:rPr sz="2400" spc="-10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+</a:t>
            </a:r>
            <a:r>
              <a:rPr sz="2400" spc="-5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𝟏]</a:t>
            </a:r>
            <a:r>
              <a:rPr sz="2400" spc="130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≤</a:t>
            </a:r>
            <a:r>
              <a:rPr sz="2400" spc="135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 spc="-50">
                <a:solidFill>
                  <a:srgbClr val="FF9200"/>
                </a:solidFill>
                <a:latin typeface="Cambria Math"/>
                <a:cs typeface="Cambria Math"/>
              </a:rPr>
              <a:t>𝟎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1" name="object 3">
            <a:extLst>
              <a:ext uri="{FF2B5EF4-FFF2-40B4-BE49-F238E27FC236}">
                <a16:creationId xmlns:a16="http://schemas.microsoft.com/office/drawing/2014/main" id="{9E9FD08B-3319-EF4B-8A7B-D5AA17F9CB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4440" y="171164"/>
            <a:ext cx="250444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562225" y="1377314"/>
            <a:ext cx="7449820" cy="792480"/>
            <a:chOff x="2562225" y="1377314"/>
            <a:chExt cx="7449820" cy="792480"/>
          </a:xfrm>
        </p:grpSpPr>
        <p:sp>
          <p:nvSpPr>
            <p:cNvPr id="3" name="object 3"/>
            <p:cNvSpPr/>
            <p:nvPr/>
          </p:nvSpPr>
          <p:spPr>
            <a:xfrm>
              <a:off x="2562225" y="1377314"/>
              <a:ext cx="7449820" cy="792480"/>
            </a:xfrm>
            <a:custGeom>
              <a:avLst/>
              <a:gdLst/>
              <a:ahLst/>
              <a:cxnLst/>
              <a:rect l="l" t="t" r="r" b="b"/>
              <a:pathLst>
                <a:path w="7449820" h="792480">
                  <a:moveTo>
                    <a:pt x="7449820" y="0"/>
                  </a:moveTo>
                  <a:lnTo>
                    <a:pt x="0" y="0"/>
                  </a:lnTo>
                  <a:lnTo>
                    <a:pt x="0" y="792479"/>
                  </a:lnTo>
                  <a:lnTo>
                    <a:pt x="7449820" y="792479"/>
                  </a:lnTo>
                  <a:lnTo>
                    <a:pt x="744982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292846" y="1773554"/>
              <a:ext cx="573405" cy="396240"/>
            </a:xfrm>
            <a:custGeom>
              <a:avLst/>
              <a:gdLst/>
              <a:ahLst/>
              <a:cxnLst/>
              <a:rect l="l" t="t" r="r" b="b"/>
              <a:pathLst>
                <a:path w="573404" h="396239">
                  <a:moveTo>
                    <a:pt x="573062" y="0"/>
                  </a:moveTo>
                  <a:lnTo>
                    <a:pt x="0" y="0"/>
                  </a:lnTo>
                  <a:lnTo>
                    <a:pt x="0" y="396239"/>
                  </a:lnTo>
                  <a:lnTo>
                    <a:pt x="573062" y="396239"/>
                  </a:lnTo>
                  <a:lnTo>
                    <a:pt x="573062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555875" y="1370964"/>
          <a:ext cx="7446008" cy="791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2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222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222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2152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2152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222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152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17272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555875" y="2537079"/>
          <a:ext cx="7446008" cy="791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2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555875" y="4638675"/>
          <a:ext cx="7446008" cy="791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2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1969516" y="1723135"/>
            <a:ext cx="277495" cy="1557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𝑿</a:t>
            </a:r>
            <a:endParaRPr sz="24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endParaRPr sz="24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50">
              <a:latin typeface="Cambria Math"/>
              <a:cs typeface="Cambria Math"/>
            </a:endParaRPr>
          </a:p>
          <a:p>
            <a:pPr marL="35560">
              <a:lnSpc>
                <a:spcPct val="100000"/>
              </a:lnSpc>
              <a:spcBef>
                <a:spcPts val="5"/>
              </a:spcBef>
            </a:pPr>
            <a:r>
              <a:rPr sz="2400" spc="-50">
                <a:latin typeface="Cambria Math"/>
                <a:cs typeface="Cambria Math"/>
              </a:rPr>
              <a:t>𝑫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77428" y="2939033"/>
            <a:ext cx="396240" cy="386715"/>
          </a:xfrm>
          <a:custGeom>
            <a:avLst/>
            <a:gdLst/>
            <a:ahLst/>
            <a:cxnLst/>
            <a:rect l="l" t="t" r="r" b="b"/>
            <a:pathLst>
              <a:path w="396240" h="386714">
                <a:moveTo>
                  <a:pt x="0" y="64388"/>
                </a:moveTo>
                <a:lnTo>
                  <a:pt x="5060" y="39326"/>
                </a:lnTo>
                <a:lnTo>
                  <a:pt x="18859" y="18859"/>
                </a:lnTo>
                <a:lnTo>
                  <a:pt x="39326" y="5060"/>
                </a:lnTo>
                <a:lnTo>
                  <a:pt x="64389" y="0"/>
                </a:lnTo>
                <a:lnTo>
                  <a:pt x="331850" y="0"/>
                </a:lnTo>
                <a:lnTo>
                  <a:pt x="356913" y="5060"/>
                </a:lnTo>
                <a:lnTo>
                  <a:pt x="377380" y="18859"/>
                </a:lnTo>
                <a:lnTo>
                  <a:pt x="391179" y="39326"/>
                </a:lnTo>
                <a:lnTo>
                  <a:pt x="396240" y="64388"/>
                </a:lnTo>
                <a:lnTo>
                  <a:pt x="396240" y="321944"/>
                </a:lnTo>
                <a:lnTo>
                  <a:pt x="391179" y="347007"/>
                </a:lnTo>
                <a:lnTo>
                  <a:pt x="377380" y="367474"/>
                </a:lnTo>
                <a:lnTo>
                  <a:pt x="356913" y="381273"/>
                </a:lnTo>
                <a:lnTo>
                  <a:pt x="331850" y="386333"/>
                </a:lnTo>
                <a:lnTo>
                  <a:pt x="64389" y="386333"/>
                </a:lnTo>
                <a:lnTo>
                  <a:pt x="39326" y="381273"/>
                </a:lnTo>
                <a:lnTo>
                  <a:pt x="18859" y="367474"/>
                </a:lnTo>
                <a:lnTo>
                  <a:pt x="5060" y="347007"/>
                </a:lnTo>
                <a:lnTo>
                  <a:pt x="0" y="321944"/>
                </a:lnTo>
                <a:lnTo>
                  <a:pt x="0" y="64388"/>
                </a:lnTo>
                <a:close/>
              </a:path>
            </a:pathLst>
          </a:custGeom>
          <a:ln w="44450">
            <a:solidFill>
              <a:srgbClr val="006FC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840229" y="4991100"/>
            <a:ext cx="5594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>
                <a:latin typeface="Cambria Math"/>
                <a:cs typeface="Cambria Math"/>
              </a:rPr>
              <a:t>𝑹𝒆𝒄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77428" y="1741932"/>
            <a:ext cx="396240" cy="387350"/>
          </a:xfrm>
          <a:custGeom>
            <a:avLst/>
            <a:gdLst/>
            <a:ahLst/>
            <a:cxnLst/>
            <a:rect l="l" t="t" r="r" b="b"/>
            <a:pathLst>
              <a:path w="396240" h="387350">
                <a:moveTo>
                  <a:pt x="0" y="64515"/>
                </a:moveTo>
                <a:lnTo>
                  <a:pt x="5062" y="39379"/>
                </a:lnTo>
                <a:lnTo>
                  <a:pt x="18875" y="18875"/>
                </a:lnTo>
                <a:lnTo>
                  <a:pt x="39379" y="5062"/>
                </a:lnTo>
                <a:lnTo>
                  <a:pt x="64516" y="0"/>
                </a:lnTo>
                <a:lnTo>
                  <a:pt x="331724" y="0"/>
                </a:lnTo>
                <a:lnTo>
                  <a:pt x="356860" y="5062"/>
                </a:lnTo>
                <a:lnTo>
                  <a:pt x="377364" y="18875"/>
                </a:lnTo>
                <a:lnTo>
                  <a:pt x="391177" y="39379"/>
                </a:lnTo>
                <a:lnTo>
                  <a:pt x="396240" y="64515"/>
                </a:lnTo>
                <a:lnTo>
                  <a:pt x="396240" y="322579"/>
                </a:lnTo>
                <a:lnTo>
                  <a:pt x="391177" y="347716"/>
                </a:lnTo>
                <a:lnTo>
                  <a:pt x="377364" y="368220"/>
                </a:lnTo>
                <a:lnTo>
                  <a:pt x="356860" y="382033"/>
                </a:lnTo>
                <a:lnTo>
                  <a:pt x="331724" y="387095"/>
                </a:lnTo>
                <a:lnTo>
                  <a:pt x="64516" y="387095"/>
                </a:lnTo>
                <a:lnTo>
                  <a:pt x="39379" y="382033"/>
                </a:lnTo>
                <a:lnTo>
                  <a:pt x="18875" y="368220"/>
                </a:lnTo>
                <a:lnTo>
                  <a:pt x="5062" y="347716"/>
                </a:lnTo>
                <a:lnTo>
                  <a:pt x="0" y="322579"/>
                </a:lnTo>
                <a:lnTo>
                  <a:pt x="0" y="64515"/>
                </a:lnTo>
                <a:close/>
              </a:path>
            </a:pathLst>
          </a:custGeom>
          <a:ln w="4445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377428" y="5051297"/>
            <a:ext cx="396240" cy="386715"/>
          </a:xfrm>
          <a:custGeom>
            <a:avLst/>
            <a:gdLst/>
            <a:ahLst/>
            <a:cxnLst/>
            <a:rect l="l" t="t" r="r" b="b"/>
            <a:pathLst>
              <a:path w="396240" h="386714">
                <a:moveTo>
                  <a:pt x="0" y="64388"/>
                </a:moveTo>
                <a:lnTo>
                  <a:pt x="5060" y="39326"/>
                </a:lnTo>
                <a:lnTo>
                  <a:pt x="18859" y="18859"/>
                </a:lnTo>
                <a:lnTo>
                  <a:pt x="39326" y="5060"/>
                </a:lnTo>
                <a:lnTo>
                  <a:pt x="64389" y="0"/>
                </a:lnTo>
                <a:lnTo>
                  <a:pt x="331850" y="0"/>
                </a:lnTo>
                <a:lnTo>
                  <a:pt x="356913" y="5060"/>
                </a:lnTo>
                <a:lnTo>
                  <a:pt x="377380" y="18859"/>
                </a:lnTo>
                <a:lnTo>
                  <a:pt x="391179" y="39326"/>
                </a:lnTo>
                <a:lnTo>
                  <a:pt x="396240" y="64388"/>
                </a:lnTo>
                <a:lnTo>
                  <a:pt x="396240" y="321944"/>
                </a:lnTo>
                <a:lnTo>
                  <a:pt x="391179" y="347007"/>
                </a:lnTo>
                <a:lnTo>
                  <a:pt x="377380" y="367474"/>
                </a:lnTo>
                <a:lnTo>
                  <a:pt x="356913" y="381273"/>
                </a:lnTo>
                <a:lnTo>
                  <a:pt x="331850" y="386333"/>
                </a:lnTo>
                <a:lnTo>
                  <a:pt x="64389" y="386333"/>
                </a:lnTo>
                <a:lnTo>
                  <a:pt x="39326" y="381273"/>
                </a:lnTo>
                <a:lnTo>
                  <a:pt x="18859" y="367474"/>
                </a:lnTo>
                <a:lnTo>
                  <a:pt x="5060" y="347007"/>
                </a:lnTo>
                <a:lnTo>
                  <a:pt x="0" y="321944"/>
                </a:lnTo>
                <a:lnTo>
                  <a:pt x="0" y="64388"/>
                </a:lnTo>
                <a:close/>
              </a:path>
            </a:pathLst>
          </a:custGeom>
          <a:ln w="44450">
            <a:solidFill>
              <a:srgbClr val="006FC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923019" y="2939033"/>
            <a:ext cx="396240" cy="386715"/>
          </a:xfrm>
          <a:custGeom>
            <a:avLst/>
            <a:gdLst/>
            <a:ahLst/>
            <a:cxnLst/>
            <a:rect l="l" t="t" r="r" b="b"/>
            <a:pathLst>
              <a:path w="396240" h="386714">
                <a:moveTo>
                  <a:pt x="0" y="64388"/>
                </a:moveTo>
                <a:lnTo>
                  <a:pt x="5060" y="39326"/>
                </a:lnTo>
                <a:lnTo>
                  <a:pt x="18859" y="18859"/>
                </a:lnTo>
                <a:lnTo>
                  <a:pt x="39326" y="5060"/>
                </a:lnTo>
                <a:lnTo>
                  <a:pt x="64388" y="0"/>
                </a:lnTo>
                <a:lnTo>
                  <a:pt x="331850" y="0"/>
                </a:lnTo>
                <a:lnTo>
                  <a:pt x="356913" y="5060"/>
                </a:lnTo>
                <a:lnTo>
                  <a:pt x="377380" y="18859"/>
                </a:lnTo>
                <a:lnTo>
                  <a:pt x="391179" y="39326"/>
                </a:lnTo>
                <a:lnTo>
                  <a:pt x="396239" y="64388"/>
                </a:lnTo>
                <a:lnTo>
                  <a:pt x="396239" y="321944"/>
                </a:lnTo>
                <a:lnTo>
                  <a:pt x="391179" y="347007"/>
                </a:lnTo>
                <a:lnTo>
                  <a:pt x="377380" y="367474"/>
                </a:lnTo>
                <a:lnTo>
                  <a:pt x="356913" y="381273"/>
                </a:lnTo>
                <a:lnTo>
                  <a:pt x="331850" y="386333"/>
                </a:lnTo>
                <a:lnTo>
                  <a:pt x="64388" y="386333"/>
                </a:lnTo>
                <a:lnTo>
                  <a:pt x="39326" y="381273"/>
                </a:lnTo>
                <a:lnTo>
                  <a:pt x="18859" y="367474"/>
                </a:lnTo>
                <a:lnTo>
                  <a:pt x="5060" y="347007"/>
                </a:lnTo>
                <a:lnTo>
                  <a:pt x="0" y="321944"/>
                </a:lnTo>
                <a:lnTo>
                  <a:pt x="0" y="64388"/>
                </a:lnTo>
                <a:close/>
              </a:path>
            </a:pathLst>
          </a:custGeom>
          <a:ln w="44449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571494" y="3379851"/>
            <a:ext cx="5824220" cy="1094105"/>
          </a:xfrm>
          <a:custGeom>
            <a:avLst/>
            <a:gdLst/>
            <a:ahLst/>
            <a:cxnLst/>
            <a:rect l="l" t="t" r="r" b="b"/>
            <a:pathLst>
              <a:path w="5824220" h="1094104">
                <a:moveTo>
                  <a:pt x="5074538" y="0"/>
                </a:moveTo>
                <a:lnTo>
                  <a:pt x="3397250" y="262509"/>
                </a:lnTo>
                <a:lnTo>
                  <a:pt x="0" y="262509"/>
                </a:lnTo>
                <a:lnTo>
                  <a:pt x="0" y="1093851"/>
                </a:lnTo>
                <a:lnTo>
                  <a:pt x="5823965" y="1093851"/>
                </a:lnTo>
                <a:lnTo>
                  <a:pt x="5823965" y="262509"/>
                </a:lnTo>
                <a:lnTo>
                  <a:pt x="4853305" y="262509"/>
                </a:lnTo>
                <a:lnTo>
                  <a:pt x="5074538" y="0"/>
                </a:lnTo>
                <a:close/>
              </a:path>
            </a:pathLst>
          </a:custGeom>
          <a:solidFill>
            <a:srgbClr val="083C8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644646" y="3850385"/>
            <a:ext cx="11283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Cambria Math"/>
                <a:cs typeface="Cambria Math"/>
              </a:rPr>
              <a:t>𝑫[𝒊]</a:t>
            </a:r>
            <a:r>
              <a:rPr sz="2400" spc="114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endParaRPr sz="2400" dirty="0">
              <a:latin typeface="Cambria Math"/>
              <a:cs typeface="Cambria Math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004689" y="3735069"/>
            <a:ext cx="258445" cy="283210"/>
          </a:xfrm>
          <a:custGeom>
            <a:avLst/>
            <a:gdLst/>
            <a:ahLst/>
            <a:cxnLst/>
            <a:rect l="l" t="t" r="r" b="b"/>
            <a:pathLst>
              <a:path w="258445" h="283210">
                <a:moveTo>
                  <a:pt x="66294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1780"/>
                </a:lnTo>
                <a:lnTo>
                  <a:pt x="0" y="283210"/>
                </a:lnTo>
                <a:lnTo>
                  <a:pt x="66294" y="283210"/>
                </a:lnTo>
                <a:lnTo>
                  <a:pt x="66294" y="271780"/>
                </a:lnTo>
                <a:lnTo>
                  <a:pt x="24638" y="271780"/>
                </a:lnTo>
                <a:lnTo>
                  <a:pt x="24638" y="11430"/>
                </a:lnTo>
                <a:lnTo>
                  <a:pt x="66294" y="11430"/>
                </a:lnTo>
                <a:lnTo>
                  <a:pt x="66294" y="0"/>
                </a:lnTo>
                <a:close/>
              </a:path>
              <a:path w="258445" h="283210">
                <a:moveTo>
                  <a:pt x="258318" y="0"/>
                </a:moveTo>
                <a:lnTo>
                  <a:pt x="191897" y="0"/>
                </a:lnTo>
                <a:lnTo>
                  <a:pt x="191897" y="11430"/>
                </a:lnTo>
                <a:lnTo>
                  <a:pt x="233553" y="11430"/>
                </a:lnTo>
                <a:lnTo>
                  <a:pt x="233553" y="271780"/>
                </a:lnTo>
                <a:lnTo>
                  <a:pt x="191897" y="271780"/>
                </a:lnTo>
                <a:lnTo>
                  <a:pt x="191897" y="283210"/>
                </a:lnTo>
                <a:lnTo>
                  <a:pt x="258318" y="283210"/>
                </a:lnTo>
                <a:lnTo>
                  <a:pt x="258318" y="271780"/>
                </a:lnTo>
                <a:lnTo>
                  <a:pt x="258318" y="11430"/>
                </a:lnTo>
                <a:lnTo>
                  <a:pt x="258318" y="0"/>
                </a:lnTo>
                <a:close/>
              </a:path>
            </a:pathLst>
          </a:custGeom>
          <a:solidFill>
            <a:srgbClr val="FF9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747259" y="3646170"/>
            <a:ext cx="20872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17220" algn="l"/>
              </a:tabLst>
            </a:pP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𝑿</a:t>
            </a:r>
            <a:r>
              <a:rPr sz="2400" spc="305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 spc="-50">
                <a:solidFill>
                  <a:srgbClr val="FF9200"/>
                </a:solidFill>
                <a:latin typeface="Cambria Math"/>
                <a:cs typeface="Cambria Math"/>
              </a:rPr>
              <a:t>𝒊</a:t>
            </a: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	+</a:t>
            </a:r>
            <a:r>
              <a:rPr sz="2400" spc="-5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𝑫[𝒊</a:t>
            </a:r>
            <a:r>
              <a:rPr sz="2400" spc="-10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+ </a:t>
            </a:r>
            <a:r>
              <a:rPr sz="2400" spc="-25">
                <a:solidFill>
                  <a:srgbClr val="FF9200"/>
                </a:solidFill>
                <a:latin typeface="Cambria Math"/>
                <a:cs typeface="Cambria Math"/>
              </a:rPr>
              <a:t>𝟏],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735447" y="4130039"/>
            <a:ext cx="258445" cy="283210"/>
          </a:xfrm>
          <a:custGeom>
            <a:avLst/>
            <a:gdLst/>
            <a:ahLst/>
            <a:cxnLst/>
            <a:rect l="l" t="t" r="r" b="b"/>
            <a:pathLst>
              <a:path w="258445" h="283210">
                <a:moveTo>
                  <a:pt x="66294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1780"/>
                </a:lnTo>
                <a:lnTo>
                  <a:pt x="0" y="283210"/>
                </a:lnTo>
                <a:lnTo>
                  <a:pt x="66294" y="283210"/>
                </a:lnTo>
                <a:lnTo>
                  <a:pt x="66294" y="271780"/>
                </a:lnTo>
                <a:lnTo>
                  <a:pt x="24638" y="271780"/>
                </a:lnTo>
                <a:lnTo>
                  <a:pt x="24638" y="11430"/>
                </a:lnTo>
                <a:lnTo>
                  <a:pt x="66294" y="11430"/>
                </a:lnTo>
                <a:lnTo>
                  <a:pt x="66294" y="0"/>
                </a:lnTo>
                <a:close/>
              </a:path>
              <a:path w="258445" h="283210">
                <a:moveTo>
                  <a:pt x="258318" y="0"/>
                </a:moveTo>
                <a:lnTo>
                  <a:pt x="191897" y="0"/>
                </a:lnTo>
                <a:lnTo>
                  <a:pt x="191897" y="11430"/>
                </a:lnTo>
                <a:lnTo>
                  <a:pt x="233553" y="11430"/>
                </a:lnTo>
                <a:lnTo>
                  <a:pt x="233553" y="271780"/>
                </a:lnTo>
                <a:lnTo>
                  <a:pt x="191897" y="271780"/>
                </a:lnTo>
                <a:lnTo>
                  <a:pt x="191897" y="283210"/>
                </a:lnTo>
                <a:lnTo>
                  <a:pt x="258318" y="283210"/>
                </a:lnTo>
                <a:lnTo>
                  <a:pt x="258318" y="271780"/>
                </a:lnTo>
                <a:lnTo>
                  <a:pt x="258318" y="11430"/>
                </a:lnTo>
                <a:lnTo>
                  <a:pt x="25831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478017" y="4040885"/>
            <a:ext cx="6254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𝑿</a:t>
            </a:r>
            <a:r>
              <a:rPr sz="2400" spc="30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𝒊</a:t>
            </a:r>
            <a:r>
              <a:rPr sz="2400" spc="30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 spc="-50">
                <a:solidFill>
                  <a:srgbClr val="FFFFFF"/>
                </a:solidFill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112761" y="3617214"/>
            <a:ext cx="2056130" cy="81534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𝒊𝒇</a:t>
            </a:r>
            <a:r>
              <a:rPr sz="2400" spc="-10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𝑫[𝒊</a:t>
            </a:r>
            <a:r>
              <a:rPr sz="2400" spc="-10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+</a:t>
            </a:r>
            <a:r>
              <a:rPr sz="2400" spc="-5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𝟏]</a:t>
            </a:r>
            <a:r>
              <a:rPr sz="2400" spc="130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&gt;</a:t>
            </a:r>
            <a:r>
              <a:rPr sz="2400" spc="135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 spc="-50">
                <a:solidFill>
                  <a:srgbClr val="FF9200"/>
                </a:solidFill>
                <a:latin typeface="Cambria Math"/>
                <a:cs typeface="Cambria Math"/>
              </a:rPr>
              <a:t>𝟎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𝒊𝒇</a:t>
            </a:r>
            <a:r>
              <a:rPr sz="2400" spc="-1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𝑫[𝒊</a:t>
            </a:r>
            <a:r>
              <a:rPr sz="2400" spc="-1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+</a:t>
            </a:r>
            <a:r>
              <a:rPr sz="2400" spc="-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𝟏]</a:t>
            </a:r>
            <a:r>
              <a:rPr sz="2400" spc="13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≤</a:t>
            </a:r>
            <a:r>
              <a:rPr sz="2400" spc="13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 spc="-50">
                <a:solidFill>
                  <a:srgbClr val="FFFFFF"/>
                </a:solidFill>
                <a:latin typeface="Cambria Math"/>
                <a:cs typeface="Cambria Math"/>
              </a:rPr>
              <a:t>𝟎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2" name="object 3">
            <a:extLst>
              <a:ext uri="{FF2B5EF4-FFF2-40B4-BE49-F238E27FC236}">
                <a16:creationId xmlns:a16="http://schemas.microsoft.com/office/drawing/2014/main" id="{3541F36B-7CC7-0041-907F-5E77E94CB7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4440" y="171164"/>
            <a:ext cx="250444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562225" y="1377314"/>
            <a:ext cx="7449820" cy="792480"/>
            <a:chOff x="2562225" y="1377314"/>
            <a:chExt cx="7449820" cy="792480"/>
          </a:xfrm>
        </p:grpSpPr>
        <p:sp>
          <p:nvSpPr>
            <p:cNvPr id="3" name="object 3"/>
            <p:cNvSpPr/>
            <p:nvPr/>
          </p:nvSpPr>
          <p:spPr>
            <a:xfrm>
              <a:off x="2562225" y="1377314"/>
              <a:ext cx="7449820" cy="792480"/>
            </a:xfrm>
            <a:custGeom>
              <a:avLst/>
              <a:gdLst/>
              <a:ahLst/>
              <a:cxnLst/>
              <a:rect l="l" t="t" r="r" b="b"/>
              <a:pathLst>
                <a:path w="7449820" h="792480">
                  <a:moveTo>
                    <a:pt x="7449820" y="0"/>
                  </a:moveTo>
                  <a:lnTo>
                    <a:pt x="0" y="0"/>
                  </a:lnTo>
                  <a:lnTo>
                    <a:pt x="0" y="792479"/>
                  </a:lnTo>
                  <a:lnTo>
                    <a:pt x="7449820" y="792479"/>
                  </a:lnTo>
                  <a:lnTo>
                    <a:pt x="744982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719821" y="1773554"/>
              <a:ext cx="573405" cy="396240"/>
            </a:xfrm>
            <a:custGeom>
              <a:avLst/>
              <a:gdLst/>
              <a:ahLst/>
              <a:cxnLst/>
              <a:rect l="l" t="t" r="r" b="b"/>
              <a:pathLst>
                <a:path w="573404" h="396239">
                  <a:moveTo>
                    <a:pt x="573062" y="0"/>
                  </a:moveTo>
                  <a:lnTo>
                    <a:pt x="0" y="0"/>
                  </a:lnTo>
                  <a:lnTo>
                    <a:pt x="0" y="396239"/>
                  </a:lnTo>
                  <a:lnTo>
                    <a:pt x="573062" y="396239"/>
                  </a:lnTo>
                  <a:lnTo>
                    <a:pt x="573062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555875" y="1370964"/>
          <a:ext cx="7446008" cy="791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2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222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222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2152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2152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222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152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17272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555875" y="2537079"/>
          <a:ext cx="7446008" cy="791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2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555875" y="4638675"/>
          <a:ext cx="7446008" cy="791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2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08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1969516" y="1723135"/>
            <a:ext cx="277495" cy="1557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𝑿</a:t>
            </a:r>
            <a:endParaRPr sz="24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endParaRPr sz="24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50">
              <a:latin typeface="Cambria Math"/>
              <a:cs typeface="Cambria Math"/>
            </a:endParaRPr>
          </a:p>
          <a:p>
            <a:pPr marL="35560">
              <a:lnSpc>
                <a:spcPct val="100000"/>
              </a:lnSpc>
              <a:spcBef>
                <a:spcPts val="5"/>
              </a:spcBef>
            </a:pPr>
            <a:r>
              <a:rPr sz="2400" spc="-50">
                <a:latin typeface="Cambria Math"/>
                <a:cs typeface="Cambria Math"/>
              </a:rPr>
              <a:t>𝑫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783068" y="2939033"/>
            <a:ext cx="396240" cy="386715"/>
          </a:xfrm>
          <a:custGeom>
            <a:avLst/>
            <a:gdLst/>
            <a:ahLst/>
            <a:cxnLst/>
            <a:rect l="l" t="t" r="r" b="b"/>
            <a:pathLst>
              <a:path w="396240" h="386714">
                <a:moveTo>
                  <a:pt x="0" y="64388"/>
                </a:moveTo>
                <a:lnTo>
                  <a:pt x="5060" y="39326"/>
                </a:lnTo>
                <a:lnTo>
                  <a:pt x="18859" y="18859"/>
                </a:lnTo>
                <a:lnTo>
                  <a:pt x="39326" y="5060"/>
                </a:lnTo>
                <a:lnTo>
                  <a:pt x="64388" y="0"/>
                </a:lnTo>
                <a:lnTo>
                  <a:pt x="331850" y="0"/>
                </a:lnTo>
                <a:lnTo>
                  <a:pt x="356913" y="5060"/>
                </a:lnTo>
                <a:lnTo>
                  <a:pt x="377380" y="18859"/>
                </a:lnTo>
                <a:lnTo>
                  <a:pt x="391179" y="39326"/>
                </a:lnTo>
                <a:lnTo>
                  <a:pt x="396239" y="64388"/>
                </a:lnTo>
                <a:lnTo>
                  <a:pt x="396239" y="321944"/>
                </a:lnTo>
                <a:lnTo>
                  <a:pt x="391179" y="347007"/>
                </a:lnTo>
                <a:lnTo>
                  <a:pt x="377380" y="367474"/>
                </a:lnTo>
                <a:lnTo>
                  <a:pt x="356913" y="381273"/>
                </a:lnTo>
                <a:lnTo>
                  <a:pt x="331850" y="386333"/>
                </a:lnTo>
                <a:lnTo>
                  <a:pt x="64388" y="386333"/>
                </a:lnTo>
                <a:lnTo>
                  <a:pt x="39326" y="381273"/>
                </a:lnTo>
                <a:lnTo>
                  <a:pt x="18859" y="367474"/>
                </a:lnTo>
                <a:lnTo>
                  <a:pt x="5060" y="347007"/>
                </a:lnTo>
                <a:lnTo>
                  <a:pt x="0" y="321944"/>
                </a:lnTo>
                <a:lnTo>
                  <a:pt x="0" y="64388"/>
                </a:lnTo>
                <a:close/>
              </a:path>
            </a:pathLst>
          </a:custGeom>
          <a:ln w="44449">
            <a:solidFill>
              <a:srgbClr val="006FC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840229" y="4991100"/>
            <a:ext cx="5594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>
                <a:latin typeface="Cambria Math"/>
                <a:cs typeface="Cambria Math"/>
              </a:rPr>
              <a:t>𝑹𝒆𝒄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783068" y="1741932"/>
            <a:ext cx="396240" cy="387350"/>
          </a:xfrm>
          <a:custGeom>
            <a:avLst/>
            <a:gdLst/>
            <a:ahLst/>
            <a:cxnLst/>
            <a:rect l="l" t="t" r="r" b="b"/>
            <a:pathLst>
              <a:path w="396240" h="387350">
                <a:moveTo>
                  <a:pt x="0" y="64515"/>
                </a:moveTo>
                <a:lnTo>
                  <a:pt x="5062" y="39379"/>
                </a:lnTo>
                <a:lnTo>
                  <a:pt x="18875" y="18875"/>
                </a:lnTo>
                <a:lnTo>
                  <a:pt x="39379" y="5062"/>
                </a:lnTo>
                <a:lnTo>
                  <a:pt x="64515" y="0"/>
                </a:lnTo>
                <a:lnTo>
                  <a:pt x="331724" y="0"/>
                </a:lnTo>
                <a:lnTo>
                  <a:pt x="356860" y="5062"/>
                </a:lnTo>
                <a:lnTo>
                  <a:pt x="377364" y="18875"/>
                </a:lnTo>
                <a:lnTo>
                  <a:pt x="391177" y="39379"/>
                </a:lnTo>
                <a:lnTo>
                  <a:pt x="396239" y="64515"/>
                </a:lnTo>
                <a:lnTo>
                  <a:pt x="396239" y="322579"/>
                </a:lnTo>
                <a:lnTo>
                  <a:pt x="391177" y="347716"/>
                </a:lnTo>
                <a:lnTo>
                  <a:pt x="377364" y="368220"/>
                </a:lnTo>
                <a:lnTo>
                  <a:pt x="356860" y="382033"/>
                </a:lnTo>
                <a:lnTo>
                  <a:pt x="331724" y="387095"/>
                </a:lnTo>
                <a:lnTo>
                  <a:pt x="64515" y="387095"/>
                </a:lnTo>
                <a:lnTo>
                  <a:pt x="39379" y="382033"/>
                </a:lnTo>
                <a:lnTo>
                  <a:pt x="18875" y="368220"/>
                </a:lnTo>
                <a:lnTo>
                  <a:pt x="5062" y="347716"/>
                </a:lnTo>
                <a:lnTo>
                  <a:pt x="0" y="322579"/>
                </a:lnTo>
                <a:lnTo>
                  <a:pt x="0" y="64515"/>
                </a:lnTo>
                <a:close/>
              </a:path>
            </a:pathLst>
          </a:custGeom>
          <a:ln w="4445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783068" y="5051297"/>
            <a:ext cx="396240" cy="386715"/>
          </a:xfrm>
          <a:custGeom>
            <a:avLst/>
            <a:gdLst/>
            <a:ahLst/>
            <a:cxnLst/>
            <a:rect l="l" t="t" r="r" b="b"/>
            <a:pathLst>
              <a:path w="396240" h="386714">
                <a:moveTo>
                  <a:pt x="0" y="64388"/>
                </a:moveTo>
                <a:lnTo>
                  <a:pt x="5060" y="39326"/>
                </a:lnTo>
                <a:lnTo>
                  <a:pt x="18859" y="18859"/>
                </a:lnTo>
                <a:lnTo>
                  <a:pt x="39326" y="5060"/>
                </a:lnTo>
                <a:lnTo>
                  <a:pt x="64388" y="0"/>
                </a:lnTo>
                <a:lnTo>
                  <a:pt x="331850" y="0"/>
                </a:lnTo>
                <a:lnTo>
                  <a:pt x="356913" y="5060"/>
                </a:lnTo>
                <a:lnTo>
                  <a:pt x="377380" y="18859"/>
                </a:lnTo>
                <a:lnTo>
                  <a:pt x="391179" y="39326"/>
                </a:lnTo>
                <a:lnTo>
                  <a:pt x="396239" y="64388"/>
                </a:lnTo>
                <a:lnTo>
                  <a:pt x="396239" y="321944"/>
                </a:lnTo>
                <a:lnTo>
                  <a:pt x="391179" y="347007"/>
                </a:lnTo>
                <a:lnTo>
                  <a:pt x="377380" y="367474"/>
                </a:lnTo>
                <a:lnTo>
                  <a:pt x="356913" y="381273"/>
                </a:lnTo>
                <a:lnTo>
                  <a:pt x="331850" y="386333"/>
                </a:lnTo>
                <a:lnTo>
                  <a:pt x="64388" y="386333"/>
                </a:lnTo>
                <a:lnTo>
                  <a:pt x="39326" y="381273"/>
                </a:lnTo>
                <a:lnTo>
                  <a:pt x="18859" y="367474"/>
                </a:lnTo>
                <a:lnTo>
                  <a:pt x="5060" y="347007"/>
                </a:lnTo>
                <a:lnTo>
                  <a:pt x="0" y="321944"/>
                </a:lnTo>
                <a:lnTo>
                  <a:pt x="0" y="64388"/>
                </a:lnTo>
                <a:close/>
              </a:path>
            </a:pathLst>
          </a:custGeom>
          <a:ln w="44450">
            <a:solidFill>
              <a:srgbClr val="006FC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328659" y="2939033"/>
            <a:ext cx="396240" cy="386715"/>
          </a:xfrm>
          <a:custGeom>
            <a:avLst/>
            <a:gdLst/>
            <a:ahLst/>
            <a:cxnLst/>
            <a:rect l="l" t="t" r="r" b="b"/>
            <a:pathLst>
              <a:path w="396240" h="386714">
                <a:moveTo>
                  <a:pt x="0" y="64388"/>
                </a:moveTo>
                <a:lnTo>
                  <a:pt x="5060" y="39326"/>
                </a:lnTo>
                <a:lnTo>
                  <a:pt x="18859" y="18859"/>
                </a:lnTo>
                <a:lnTo>
                  <a:pt x="39326" y="5060"/>
                </a:lnTo>
                <a:lnTo>
                  <a:pt x="64389" y="0"/>
                </a:lnTo>
                <a:lnTo>
                  <a:pt x="331850" y="0"/>
                </a:lnTo>
                <a:lnTo>
                  <a:pt x="356913" y="5060"/>
                </a:lnTo>
                <a:lnTo>
                  <a:pt x="377380" y="18859"/>
                </a:lnTo>
                <a:lnTo>
                  <a:pt x="391179" y="39326"/>
                </a:lnTo>
                <a:lnTo>
                  <a:pt x="396240" y="64388"/>
                </a:lnTo>
                <a:lnTo>
                  <a:pt x="396240" y="321944"/>
                </a:lnTo>
                <a:lnTo>
                  <a:pt x="391179" y="347007"/>
                </a:lnTo>
                <a:lnTo>
                  <a:pt x="377380" y="367474"/>
                </a:lnTo>
                <a:lnTo>
                  <a:pt x="356913" y="381273"/>
                </a:lnTo>
                <a:lnTo>
                  <a:pt x="331850" y="386333"/>
                </a:lnTo>
                <a:lnTo>
                  <a:pt x="64389" y="386333"/>
                </a:lnTo>
                <a:lnTo>
                  <a:pt x="39326" y="381273"/>
                </a:lnTo>
                <a:lnTo>
                  <a:pt x="18859" y="367474"/>
                </a:lnTo>
                <a:lnTo>
                  <a:pt x="5060" y="347007"/>
                </a:lnTo>
                <a:lnTo>
                  <a:pt x="0" y="321944"/>
                </a:lnTo>
                <a:lnTo>
                  <a:pt x="0" y="64388"/>
                </a:lnTo>
                <a:close/>
              </a:path>
            </a:pathLst>
          </a:custGeom>
          <a:ln w="4445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839973" y="3379851"/>
            <a:ext cx="5824220" cy="1094105"/>
          </a:xfrm>
          <a:custGeom>
            <a:avLst/>
            <a:gdLst/>
            <a:ahLst/>
            <a:cxnLst/>
            <a:rect l="l" t="t" r="r" b="b"/>
            <a:pathLst>
              <a:path w="5824220" h="1094104">
                <a:moveTo>
                  <a:pt x="5074539" y="0"/>
                </a:moveTo>
                <a:lnTo>
                  <a:pt x="3397250" y="262509"/>
                </a:lnTo>
                <a:lnTo>
                  <a:pt x="0" y="262509"/>
                </a:lnTo>
                <a:lnTo>
                  <a:pt x="0" y="1093851"/>
                </a:lnTo>
                <a:lnTo>
                  <a:pt x="5823966" y="1093851"/>
                </a:lnTo>
                <a:lnTo>
                  <a:pt x="5823966" y="262509"/>
                </a:lnTo>
                <a:lnTo>
                  <a:pt x="4853305" y="262509"/>
                </a:lnTo>
                <a:lnTo>
                  <a:pt x="5074539" y="0"/>
                </a:lnTo>
                <a:close/>
              </a:path>
            </a:pathLst>
          </a:custGeom>
          <a:solidFill>
            <a:srgbClr val="083C8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913126" y="3850385"/>
            <a:ext cx="11283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Cambria Math"/>
                <a:cs typeface="Cambria Math"/>
              </a:rPr>
              <a:t>𝑫[𝒊]</a:t>
            </a:r>
            <a:r>
              <a:rPr sz="2400" spc="114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endParaRPr sz="2400" dirty="0">
              <a:latin typeface="Cambria Math"/>
              <a:cs typeface="Cambria Math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273169" y="3735069"/>
            <a:ext cx="258445" cy="283210"/>
          </a:xfrm>
          <a:custGeom>
            <a:avLst/>
            <a:gdLst/>
            <a:ahLst/>
            <a:cxnLst/>
            <a:rect l="l" t="t" r="r" b="b"/>
            <a:pathLst>
              <a:path w="258445" h="283210">
                <a:moveTo>
                  <a:pt x="66294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1780"/>
                </a:lnTo>
                <a:lnTo>
                  <a:pt x="0" y="283210"/>
                </a:lnTo>
                <a:lnTo>
                  <a:pt x="66294" y="283210"/>
                </a:lnTo>
                <a:lnTo>
                  <a:pt x="66294" y="271780"/>
                </a:lnTo>
                <a:lnTo>
                  <a:pt x="24638" y="271780"/>
                </a:lnTo>
                <a:lnTo>
                  <a:pt x="24638" y="11430"/>
                </a:lnTo>
                <a:lnTo>
                  <a:pt x="66294" y="11430"/>
                </a:lnTo>
                <a:lnTo>
                  <a:pt x="66294" y="0"/>
                </a:lnTo>
                <a:close/>
              </a:path>
              <a:path w="258445" h="283210">
                <a:moveTo>
                  <a:pt x="258318" y="0"/>
                </a:moveTo>
                <a:lnTo>
                  <a:pt x="191897" y="0"/>
                </a:lnTo>
                <a:lnTo>
                  <a:pt x="191897" y="11430"/>
                </a:lnTo>
                <a:lnTo>
                  <a:pt x="233553" y="11430"/>
                </a:lnTo>
                <a:lnTo>
                  <a:pt x="233553" y="271780"/>
                </a:lnTo>
                <a:lnTo>
                  <a:pt x="191897" y="271780"/>
                </a:lnTo>
                <a:lnTo>
                  <a:pt x="191897" y="283210"/>
                </a:lnTo>
                <a:lnTo>
                  <a:pt x="258318" y="283210"/>
                </a:lnTo>
                <a:lnTo>
                  <a:pt x="258318" y="271780"/>
                </a:lnTo>
                <a:lnTo>
                  <a:pt x="258318" y="11430"/>
                </a:lnTo>
                <a:lnTo>
                  <a:pt x="258318" y="0"/>
                </a:lnTo>
                <a:close/>
              </a:path>
            </a:pathLst>
          </a:custGeom>
          <a:solidFill>
            <a:srgbClr val="FF9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015740" y="3646170"/>
            <a:ext cx="20872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17220" algn="l"/>
              </a:tabLst>
            </a:pP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𝑿</a:t>
            </a:r>
            <a:r>
              <a:rPr sz="2400" spc="305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 spc="-50">
                <a:solidFill>
                  <a:srgbClr val="FF9200"/>
                </a:solidFill>
                <a:latin typeface="Cambria Math"/>
                <a:cs typeface="Cambria Math"/>
              </a:rPr>
              <a:t>𝒊</a:t>
            </a: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	+</a:t>
            </a:r>
            <a:r>
              <a:rPr sz="2400" spc="-5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𝑫[𝒊</a:t>
            </a:r>
            <a:r>
              <a:rPr sz="2400" spc="-10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+ </a:t>
            </a:r>
            <a:r>
              <a:rPr sz="2400" spc="-25">
                <a:solidFill>
                  <a:srgbClr val="FF9200"/>
                </a:solidFill>
                <a:latin typeface="Cambria Math"/>
                <a:cs typeface="Cambria Math"/>
              </a:rPr>
              <a:t>𝟏],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003927" y="4130039"/>
            <a:ext cx="258445" cy="283210"/>
          </a:xfrm>
          <a:custGeom>
            <a:avLst/>
            <a:gdLst/>
            <a:ahLst/>
            <a:cxnLst/>
            <a:rect l="l" t="t" r="r" b="b"/>
            <a:pathLst>
              <a:path w="258445" h="283210">
                <a:moveTo>
                  <a:pt x="66294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1780"/>
                </a:lnTo>
                <a:lnTo>
                  <a:pt x="0" y="283210"/>
                </a:lnTo>
                <a:lnTo>
                  <a:pt x="66294" y="283210"/>
                </a:lnTo>
                <a:lnTo>
                  <a:pt x="66294" y="271780"/>
                </a:lnTo>
                <a:lnTo>
                  <a:pt x="24638" y="271780"/>
                </a:lnTo>
                <a:lnTo>
                  <a:pt x="24638" y="11430"/>
                </a:lnTo>
                <a:lnTo>
                  <a:pt x="66294" y="11430"/>
                </a:lnTo>
                <a:lnTo>
                  <a:pt x="66294" y="0"/>
                </a:lnTo>
                <a:close/>
              </a:path>
              <a:path w="258445" h="283210">
                <a:moveTo>
                  <a:pt x="258318" y="0"/>
                </a:moveTo>
                <a:lnTo>
                  <a:pt x="191897" y="0"/>
                </a:lnTo>
                <a:lnTo>
                  <a:pt x="191897" y="11430"/>
                </a:lnTo>
                <a:lnTo>
                  <a:pt x="233553" y="11430"/>
                </a:lnTo>
                <a:lnTo>
                  <a:pt x="233553" y="271780"/>
                </a:lnTo>
                <a:lnTo>
                  <a:pt x="191897" y="271780"/>
                </a:lnTo>
                <a:lnTo>
                  <a:pt x="191897" y="283210"/>
                </a:lnTo>
                <a:lnTo>
                  <a:pt x="258318" y="283210"/>
                </a:lnTo>
                <a:lnTo>
                  <a:pt x="258318" y="271780"/>
                </a:lnTo>
                <a:lnTo>
                  <a:pt x="258318" y="11430"/>
                </a:lnTo>
                <a:lnTo>
                  <a:pt x="25831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746497" y="4040885"/>
            <a:ext cx="6254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𝑿</a:t>
            </a:r>
            <a:r>
              <a:rPr sz="2400" spc="30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𝒊</a:t>
            </a:r>
            <a:r>
              <a:rPr sz="2400" spc="30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 spc="-50">
                <a:solidFill>
                  <a:srgbClr val="FFFFFF"/>
                </a:solidFill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380988" y="3617214"/>
            <a:ext cx="2056130" cy="81534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𝒊𝒇</a:t>
            </a:r>
            <a:r>
              <a:rPr sz="2400" spc="-15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𝑫[𝒊</a:t>
            </a:r>
            <a:r>
              <a:rPr sz="2400" spc="-10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+</a:t>
            </a:r>
            <a:r>
              <a:rPr sz="2400" spc="-5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𝟏]</a:t>
            </a:r>
            <a:r>
              <a:rPr sz="2400" spc="130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&gt;</a:t>
            </a:r>
            <a:r>
              <a:rPr sz="2400" spc="135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 spc="-50">
                <a:solidFill>
                  <a:srgbClr val="FF9200"/>
                </a:solidFill>
                <a:latin typeface="Cambria Math"/>
                <a:cs typeface="Cambria Math"/>
              </a:rPr>
              <a:t>𝟎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𝒊𝒇</a:t>
            </a:r>
            <a:r>
              <a:rPr sz="2400" spc="-1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𝑫[𝒊</a:t>
            </a:r>
            <a:r>
              <a:rPr sz="2400" spc="-1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+</a:t>
            </a:r>
            <a:r>
              <a:rPr sz="2400" spc="-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𝟏]</a:t>
            </a:r>
            <a:r>
              <a:rPr sz="2400" spc="13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≤</a:t>
            </a:r>
            <a:r>
              <a:rPr sz="2400" spc="13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 spc="-50">
                <a:solidFill>
                  <a:srgbClr val="FFFFFF"/>
                </a:solidFill>
                <a:latin typeface="Cambria Math"/>
                <a:cs typeface="Cambria Math"/>
              </a:rPr>
              <a:t>𝟎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2" name="object 3">
            <a:extLst>
              <a:ext uri="{FF2B5EF4-FFF2-40B4-BE49-F238E27FC236}">
                <a16:creationId xmlns:a16="http://schemas.microsoft.com/office/drawing/2014/main" id="{0B2CB324-1789-5940-A229-CA5366B306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4440" y="171164"/>
            <a:ext cx="250444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562225" y="1377314"/>
            <a:ext cx="7449820" cy="792480"/>
            <a:chOff x="2562225" y="1377314"/>
            <a:chExt cx="7449820" cy="792480"/>
          </a:xfrm>
        </p:grpSpPr>
        <p:sp>
          <p:nvSpPr>
            <p:cNvPr id="3" name="object 3"/>
            <p:cNvSpPr/>
            <p:nvPr/>
          </p:nvSpPr>
          <p:spPr>
            <a:xfrm>
              <a:off x="2562225" y="1377314"/>
              <a:ext cx="7449820" cy="792480"/>
            </a:xfrm>
            <a:custGeom>
              <a:avLst/>
              <a:gdLst/>
              <a:ahLst/>
              <a:cxnLst/>
              <a:rect l="l" t="t" r="r" b="b"/>
              <a:pathLst>
                <a:path w="7449820" h="792480">
                  <a:moveTo>
                    <a:pt x="7449820" y="0"/>
                  </a:moveTo>
                  <a:lnTo>
                    <a:pt x="0" y="0"/>
                  </a:lnTo>
                  <a:lnTo>
                    <a:pt x="0" y="792479"/>
                  </a:lnTo>
                  <a:lnTo>
                    <a:pt x="7449820" y="792479"/>
                  </a:lnTo>
                  <a:lnTo>
                    <a:pt x="744982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146671" y="1773554"/>
              <a:ext cx="573405" cy="396240"/>
            </a:xfrm>
            <a:custGeom>
              <a:avLst/>
              <a:gdLst/>
              <a:ahLst/>
              <a:cxnLst/>
              <a:rect l="l" t="t" r="r" b="b"/>
              <a:pathLst>
                <a:path w="573404" h="396239">
                  <a:moveTo>
                    <a:pt x="573062" y="0"/>
                  </a:moveTo>
                  <a:lnTo>
                    <a:pt x="0" y="0"/>
                  </a:lnTo>
                  <a:lnTo>
                    <a:pt x="0" y="396239"/>
                  </a:lnTo>
                  <a:lnTo>
                    <a:pt x="573062" y="396239"/>
                  </a:lnTo>
                  <a:lnTo>
                    <a:pt x="573062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555875" y="1370964"/>
          <a:ext cx="7446008" cy="791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2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222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222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2152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2152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222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152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17272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555875" y="2537079"/>
          <a:ext cx="7446008" cy="791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2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555875" y="4638675"/>
          <a:ext cx="7446008" cy="791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2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215265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171450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08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1969516" y="1723135"/>
            <a:ext cx="277495" cy="1557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𝑿</a:t>
            </a:r>
            <a:endParaRPr sz="24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endParaRPr sz="24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50">
              <a:latin typeface="Cambria Math"/>
              <a:cs typeface="Cambria Math"/>
            </a:endParaRPr>
          </a:p>
          <a:p>
            <a:pPr marL="35560">
              <a:lnSpc>
                <a:spcPct val="100000"/>
              </a:lnSpc>
              <a:spcBef>
                <a:spcPts val="5"/>
              </a:spcBef>
            </a:pPr>
            <a:r>
              <a:rPr sz="2400" spc="-50">
                <a:latin typeface="Cambria Math"/>
                <a:cs typeface="Cambria Math"/>
              </a:rPr>
              <a:t>𝑫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234428" y="2939033"/>
            <a:ext cx="396240" cy="386715"/>
          </a:xfrm>
          <a:custGeom>
            <a:avLst/>
            <a:gdLst/>
            <a:ahLst/>
            <a:cxnLst/>
            <a:rect l="l" t="t" r="r" b="b"/>
            <a:pathLst>
              <a:path w="396240" h="386714">
                <a:moveTo>
                  <a:pt x="0" y="64388"/>
                </a:moveTo>
                <a:lnTo>
                  <a:pt x="5060" y="39326"/>
                </a:lnTo>
                <a:lnTo>
                  <a:pt x="18859" y="18859"/>
                </a:lnTo>
                <a:lnTo>
                  <a:pt x="39326" y="5060"/>
                </a:lnTo>
                <a:lnTo>
                  <a:pt x="64389" y="0"/>
                </a:lnTo>
                <a:lnTo>
                  <a:pt x="331850" y="0"/>
                </a:lnTo>
                <a:lnTo>
                  <a:pt x="356913" y="5060"/>
                </a:lnTo>
                <a:lnTo>
                  <a:pt x="377380" y="18859"/>
                </a:lnTo>
                <a:lnTo>
                  <a:pt x="391179" y="39326"/>
                </a:lnTo>
                <a:lnTo>
                  <a:pt x="396240" y="64388"/>
                </a:lnTo>
                <a:lnTo>
                  <a:pt x="396240" y="321944"/>
                </a:lnTo>
                <a:lnTo>
                  <a:pt x="391179" y="347007"/>
                </a:lnTo>
                <a:lnTo>
                  <a:pt x="377380" y="367474"/>
                </a:lnTo>
                <a:lnTo>
                  <a:pt x="356913" y="381273"/>
                </a:lnTo>
                <a:lnTo>
                  <a:pt x="331850" y="386333"/>
                </a:lnTo>
                <a:lnTo>
                  <a:pt x="64389" y="386333"/>
                </a:lnTo>
                <a:lnTo>
                  <a:pt x="39326" y="381273"/>
                </a:lnTo>
                <a:lnTo>
                  <a:pt x="18859" y="367474"/>
                </a:lnTo>
                <a:lnTo>
                  <a:pt x="5060" y="347007"/>
                </a:lnTo>
                <a:lnTo>
                  <a:pt x="0" y="321944"/>
                </a:lnTo>
                <a:lnTo>
                  <a:pt x="0" y="64388"/>
                </a:lnTo>
                <a:close/>
              </a:path>
            </a:pathLst>
          </a:custGeom>
          <a:ln w="44450">
            <a:solidFill>
              <a:srgbClr val="006FC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840229" y="4991100"/>
            <a:ext cx="5594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>
                <a:latin typeface="Cambria Math"/>
                <a:cs typeface="Cambria Math"/>
              </a:rPr>
              <a:t>𝑹𝒆𝒄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234428" y="1741932"/>
            <a:ext cx="396240" cy="387350"/>
          </a:xfrm>
          <a:custGeom>
            <a:avLst/>
            <a:gdLst/>
            <a:ahLst/>
            <a:cxnLst/>
            <a:rect l="l" t="t" r="r" b="b"/>
            <a:pathLst>
              <a:path w="396240" h="387350">
                <a:moveTo>
                  <a:pt x="0" y="64515"/>
                </a:moveTo>
                <a:lnTo>
                  <a:pt x="5062" y="39379"/>
                </a:lnTo>
                <a:lnTo>
                  <a:pt x="18875" y="18875"/>
                </a:lnTo>
                <a:lnTo>
                  <a:pt x="39379" y="5062"/>
                </a:lnTo>
                <a:lnTo>
                  <a:pt x="64516" y="0"/>
                </a:lnTo>
                <a:lnTo>
                  <a:pt x="331724" y="0"/>
                </a:lnTo>
                <a:lnTo>
                  <a:pt x="356860" y="5062"/>
                </a:lnTo>
                <a:lnTo>
                  <a:pt x="377364" y="18875"/>
                </a:lnTo>
                <a:lnTo>
                  <a:pt x="391177" y="39379"/>
                </a:lnTo>
                <a:lnTo>
                  <a:pt x="396240" y="64515"/>
                </a:lnTo>
                <a:lnTo>
                  <a:pt x="396240" y="322579"/>
                </a:lnTo>
                <a:lnTo>
                  <a:pt x="391177" y="347716"/>
                </a:lnTo>
                <a:lnTo>
                  <a:pt x="377364" y="368220"/>
                </a:lnTo>
                <a:lnTo>
                  <a:pt x="356860" y="382033"/>
                </a:lnTo>
                <a:lnTo>
                  <a:pt x="331724" y="387095"/>
                </a:lnTo>
                <a:lnTo>
                  <a:pt x="64516" y="387095"/>
                </a:lnTo>
                <a:lnTo>
                  <a:pt x="39379" y="382033"/>
                </a:lnTo>
                <a:lnTo>
                  <a:pt x="18875" y="368220"/>
                </a:lnTo>
                <a:lnTo>
                  <a:pt x="5062" y="347716"/>
                </a:lnTo>
                <a:lnTo>
                  <a:pt x="0" y="322579"/>
                </a:lnTo>
                <a:lnTo>
                  <a:pt x="0" y="64515"/>
                </a:lnTo>
                <a:close/>
              </a:path>
            </a:pathLst>
          </a:custGeom>
          <a:ln w="4445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234428" y="5051297"/>
            <a:ext cx="396240" cy="386715"/>
          </a:xfrm>
          <a:custGeom>
            <a:avLst/>
            <a:gdLst/>
            <a:ahLst/>
            <a:cxnLst/>
            <a:rect l="l" t="t" r="r" b="b"/>
            <a:pathLst>
              <a:path w="396240" h="386714">
                <a:moveTo>
                  <a:pt x="0" y="64388"/>
                </a:moveTo>
                <a:lnTo>
                  <a:pt x="5060" y="39326"/>
                </a:lnTo>
                <a:lnTo>
                  <a:pt x="18859" y="18859"/>
                </a:lnTo>
                <a:lnTo>
                  <a:pt x="39326" y="5060"/>
                </a:lnTo>
                <a:lnTo>
                  <a:pt x="64389" y="0"/>
                </a:lnTo>
                <a:lnTo>
                  <a:pt x="331850" y="0"/>
                </a:lnTo>
                <a:lnTo>
                  <a:pt x="356913" y="5060"/>
                </a:lnTo>
                <a:lnTo>
                  <a:pt x="377380" y="18859"/>
                </a:lnTo>
                <a:lnTo>
                  <a:pt x="391179" y="39326"/>
                </a:lnTo>
                <a:lnTo>
                  <a:pt x="396240" y="64388"/>
                </a:lnTo>
                <a:lnTo>
                  <a:pt x="396240" y="321944"/>
                </a:lnTo>
                <a:lnTo>
                  <a:pt x="391179" y="347007"/>
                </a:lnTo>
                <a:lnTo>
                  <a:pt x="377380" y="367474"/>
                </a:lnTo>
                <a:lnTo>
                  <a:pt x="356913" y="381273"/>
                </a:lnTo>
                <a:lnTo>
                  <a:pt x="331850" y="386333"/>
                </a:lnTo>
                <a:lnTo>
                  <a:pt x="64389" y="386333"/>
                </a:lnTo>
                <a:lnTo>
                  <a:pt x="39326" y="381273"/>
                </a:lnTo>
                <a:lnTo>
                  <a:pt x="18859" y="367474"/>
                </a:lnTo>
                <a:lnTo>
                  <a:pt x="5060" y="347007"/>
                </a:lnTo>
                <a:lnTo>
                  <a:pt x="0" y="321944"/>
                </a:lnTo>
                <a:lnTo>
                  <a:pt x="0" y="64388"/>
                </a:lnTo>
                <a:close/>
              </a:path>
            </a:pathLst>
          </a:custGeom>
          <a:ln w="44450">
            <a:solidFill>
              <a:srgbClr val="006FC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780019" y="2939033"/>
            <a:ext cx="396240" cy="386715"/>
          </a:xfrm>
          <a:custGeom>
            <a:avLst/>
            <a:gdLst/>
            <a:ahLst/>
            <a:cxnLst/>
            <a:rect l="l" t="t" r="r" b="b"/>
            <a:pathLst>
              <a:path w="396240" h="386714">
                <a:moveTo>
                  <a:pt x="0" y="64388"/>
                </a:moveTo>
                <a:lnTo>
                  <a:pt x="5060" y="39326"/>
                </a:lnTo>
                <a:lnTo>
                  <a:pt x="18859" y="18859"/>
                </a:lnTo>
                <a:lnTo>
                  <a:pt x="39326" y="5060"/>
                </a:lnTo>
                <a:lnTo>
                  <a:pt x="64388" y="0"/>
                </a:lnTo>
                <a:lnTo>
                  <a:pt x="331850" y="0"/>
                </a:lnTo>
                <a:lnTo>
                  <a:pt x="356913" y="5060"/>
                </a:lnTo>
                <a:lnTo>
                  <a:pt x="377380" y="18859"/>
                </a:lnTo>
                <a:lnTo>
                  <a:pt x="391179" y="39326"/>
                </a:lnTo>
                <a:lnTo>
                  <a:pt x="396239" y="64388"/>
                </a:lnTo>
                <a:lnTo>
                  <a:pt x="396239" y="321944"/>
                </a:lnTo>
                <a:lnTo>
                  <a:pt x="391179" y="347007"/>
                </a:lnTo>
                <a:lnTo>
                  <a:pt x="377380" y="367474"/>
                </a:lnTo>
                <a:lnTo>
                  <a:pt x="356913" y="381273"/>
                </a:lnTo>
                <a:lnTo>
                  <a:pt x="331850" y="386333"/>
                </a:lnTo>
                <a:lnTo>
                  <a:pt x="64388" y="386333"/>
                </a:lnTo>
                <a:lnTo>
                  <a:pt x="39326" y="381273"/>
                </a:lnTo>
                <a:lnTo>
                  <a:pt x="18859" y="367474"/>
                </a:lnTo>
                <a:lnTo>
                  <a:pt x="5060" y="347007"/>
                </a:lnTo>
                <a:lnTo>
                  <a:pt x="0" y="321944"/>
                </a:lnTo>
                <a:lnTo>
                  <a:pt x="0" y="64388"/>
                </a:lnTo>
                <a:close/>
              </a:path>
            </a:pathLst>
          </a:custGeom>
          <a:ln w="44449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361438" y="3379851"/>
            <a:ext cx="5824220" cy="1094105"/>
          </a:xfrm>
          <a:custGeom>
            <a:avLst/>
            <a:gdLst/>
            <a:ahLst/>
            <a:cxnLst/>
            <a:rect l="l" t="t" r="r" b="b"/>
            <a:pathLst>
              <a:path w="5824220" h="1094104">
                <a:moveTo>
                  <a:pt x="5074539" y="0"/>
                </a:moveTo>
                <a:lnTo>
                  <a:pt x="3397250" y="262509"/>
                </a:lnTo>
                <a:lnTo>
                  <a:pt x="0" y="262509"/>
                </a:lnTo>
                <a:lnTo>
                  <a:pt x="0" y="1093851"/>
                </a:lnTo>
                <a:lnTo>
                  <a:pt x="5823966" y="1093851"/>
                </a:lnTo>
                <a:lnTo>
                  <a:pt x="5823966" y="262509"/>
                </a:lnTo>
                <a:lnTo>
                  <a:pt x="4853305" y="262509"/>
                </a:lnTo>
                <a:lnTo>
                  <a:pt x="5074539" y="0"/>
                </a:lnTo>
                <a:close/>
              </a:path>
            </a:pathLst>
          </a:custGeom>
          <a:solidFill>
            <a:srgbClr val="083C8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434589" y="3850385"/>
            <a:ext cx="11290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Cambria Math"/>
                <a:cs typeface="Cambria Math"/>
              </a:rPr>
              <a:t>𝑫[𝒊]</a:t>
            </a:r>
            <a:r>
              <a:rPr sz="2400" spc="114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endParaRPr sz="2400" dirty="0">
              <a:latin typeface="Cambria Math"/>
              <a:cs typeface="Cambria Math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794887" y="3735069"/>
            <a:ext cx="258445" cy="283210"/>
          </a:xfrm>
          <a:custGeom>
            <a:avLst/>
            <a:gdLst/>
            <a:ahLst/>
            <a:cxnLst/>
            <a:rect l="l" t="t" r="r" b="b"/>
            <a:pathLst>
              <a:path w="258445" h="283210">
                <a:moveTo>
                  <a:pt x="66294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1780"/>
                </a:lnTo>
                <a:lnTo>
                  <a:pt x="0" y="283210"/>
                </a:lnTo>
                <a:lnTo>
                  <a:pt x="66294" y="283210"/>
                </a:lnTo>
                <a:lnTo>
                  <a:pt x="66294" y="271780"/>
                </a:lnTo>
                <a:lnTo>
                  <a:pt x="24638" y="271780"/>
                </a:lnTo>
                <a:lnTo>
                  <a:pt x="24638" y="11430"/>
                </a:lnTo>
                <a:lnTo>
                  <a:pt x="66294" y="11430"/>
                </a:lnTo>
                <a:lnTo>
                  <a:pt x="66294" y="0"/>
                </a:lnTo>
                <a:close/>
              </a:path>
              <a:path w="258445" h="283210">
                <a:moveTo>
                  <a:pt x="258191" y="0"/>
                </a:moveTo>
                <a:lnTo>
                  <a:pt x="191897" y="0"/>
                </a:lnTo>
                <a:lnTo>
                  <a:pt x="191897" y="11430"/>
                </a:lnTo>
                <a:lnTo>
                  <a:pt x="233553" y="11430"/>
                </a:lnTo>
                <a:lnTo>
                  <a:pt x="233553" y="271780"/>
                </a:lnTo>
                <a:lnTo>
                  <a:pt x="191897" y="271780"/>
                </a:lnTo>
                <a:lnTo>
                  <a:pt x="191897" y="283210"/>
                </a:lnTo>
                <a:lnTo>
                  <a:pt x="258191" y="283210"/>
                </a:lnTo>
                <a:lnTo>
                  <a:pt x="258191" y="271780"/>
                </a:lnTo>
                <a:lnTo>
                  <a:pt x="258191" y="11430"/>
                </a:lnTo>
                <a:lnTo>
                  <a:pt x="258191" y="0"/>
                </a:lnTo>
                <a:close/>
              </a:path>
            </a:pathLst>
          </a:custGeom>
          <a:solidFill>
            <a:srgbClr val="FF9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537458" y="3646170"/>
            <a:ext cx="20872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17220" algn="l"/>
              </a:tabLst>
            </a:pP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𝑿</a:t>
            </a:r>
            <a:r>
              <a:rPr sz="2400" spc="305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 spc="-50">
                <a:solidFill>
                  <a:srgbClr val="FF9200"/>
                </a:solidFill>
                <a:latin typeface="Cambria Math"/>
                <a:cs typeface="Cambria Math"/>
              </a:rPr>
              <a:t>𝒊</a:t>
            </a: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	+</a:t>
            </a:r>
            <a:r>
              <a:rPr sz="2400" spc="-5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𝑫[𝒊</a:t>
            </a:r>
            <a:r>
              <a:rPr sz="2400" spc="-10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+ </a:t>
            </a:r>
            <a:r>
              <a:rPr sz="2400" spc="-25">
                <a:solidFill>
                  <a:srgbClr val="FF9200"/>
                </a:solidFill>
                <a:latin typeface="Cambria Math"/>
                <a:cs typeface="Cambria Math"/>
              </a:rPr>
              <a:t>𝟏],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525645" y="4130039"/>
            <a:ext cx="258445" cy="283210"/>
          </a:xfrm>
          <a:custGeom>
            <a:avLst/>
            <a:gdLst/>
            <a:ahLst/>
            <a:cxnLst/>
            <a:rect l="l" t="t" r="r" b="b"/>
            <a:pathLst>
              <a:path w="258445" h="283210">
                <a:moveTo>
                  <a:pt x="66294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1780"/>
                </a:lnTo>
                <a:lnTo>
                  <a:pt x="0" y="283210"/>
                </a:lnTo>
                <a:lnTo>
                  <a:pt x="66294" y="283210"/>
                </a:lnTo>
                <a:lnTo>
                  <a:pt x="66294" y="271780"/>
                </a:lnTo>
                <a:lnTo>
                  <a:pt x="24638" y="271780"/>
                </a:lnTo>
                <a:lnTo>
                  <a:pt x="24638" y="11430"/>
                </a:lnTo>
                <a:lnTo>
                  <a:pt x="66294" y="11430"/>
                </a:lnTo>
                <a:lnTo>
                  <a:pt x="66294" y="0"/>
                </a:lnTo>
                <a:close/>
              </a:path>
              <a:path w="258445" h="283210">
                <a:moveTo>
                  <a:pt x="258191" y="0"/>
                </a:moveTo>
                <a:lnTo>
                  <a:pt x="191897" y="0"/>
                </a:lnTo>
                <a:lnTo>
                  <a:pt x="191897" y="11430"/>
                </a:lnTo>
                <a:lnTo>
                  <a:pt x="233553" y="11430"/>
                </a:lnTo>
                <a:lnTo>
                  <a:pt x="233553" y="271780"/>
                </a:lnTo>
                <a:lnTo>
                  <a:pt x="191897" y="271780"/>
                </a:lnTo>
                <a:lnTo>
                  <a:pt x="191897" y="283210"/>
                </a:lnTo>
                <a:lnTo>
                  <a:pt x="258191" y="283210"/>
                </a:lnTo>
                <a:lnTo>
                  <a:pt x="258191" y="271780"/>
                </a:lnTo>
                <a:lnTo>
                  <a:pt x="258191" y="11430"/>
                </a:lnTo>
                <a:lnTo>
                  <a:pt x="2581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268215" y="4040885"/>
            <a:ext cx="6254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𝑿</a:t>
            </a:r>
            <a:r>
              <a:rPr sz="2400" spc="30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𝒊</a:t>
            </a:r>
            <a:r>
              <a:rPr sz="2400" spc="30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 spc="-50">
                <a:solidFill>
                  <a:srgbClr val="FFFFFF"/>
                </a:solidFill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902705" y="3617214"/>
            <a:ext cx="2056130" cy="81534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𝒊𝒇</a:t>
            </a:r>
            <a:r>
              <a:rPr sz="2400" spc="-10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𝑫[𝒊</a:t>
            </a:r>
            <a:r>
              <a:rPr sz="2400" spc="-10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+</a:t>
            </a:r>
            <a:r>
              <a:rPr sz="2400" spc="-5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𝟏]</a:t>
            </a:r>
            <a:r>
              <a:rPr sz="2400" spc="130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&gt;</a:t>
            </a:r>
            <a:r>
              <a:rPr sz="2400" spc="135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 spc="-50">
                <a:solidFill>
                  <a:srgbClr val="FF9200"/>
                </a:solidFill>
                <a:latin typeface="Cambria Math"/>
                <a:cs typeface="Cambria Math"/>
              </a:rPr>
              <a:t>𝟎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𝒊𝒇</a:t>
            </a:r>
            <a:r>
              <a:rPr sz="2400" spc="-1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𝑫[𝒊</a:t>
            </a:r>
            <a:r>
              <a:rPr sz="2400" spc="-1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+</a:t>
            </a:r>
            <a:r>
              <a:rPr sz="2400" spc="-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𝟏]</a:t>
            </a:r>
            <a:r>
              <a:rPr sz="2400" spc="13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≤</a:t>
            </a:r>
            <a:r>
              <a:rPr sz="2400" spc="13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 spc="-50">
                <a:solidFill>
                  <a:srgbClr val="FFFFFF"/>
                </a:solidFill>
                <a:latin typeface="Cambria Math"/>
                <a:cs typeface="Cambria Math"/>
              </a:rPr>
              <a:t>𝟎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2" name="object 3">
            <a:extLst>
              <a:ext uri="{FF2B5EF4-FFF2-40B4-BE49-F238E27FC236}">
                <a16:creationId xmlns:a16="http://schemas.microsoft.com/office/drawing/2014/main" id="{B1FC02E3-32E4-574E-89BE-B6E34F17B0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4440" y="171164"/>
            <a:ext cx="250444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562225" y="1377314"/>
            <a:ext cx="7449820" cy="792480"/>
            <a:chOff x="2562225" y="1377314"/>
            <a:chExt cx="7449820" cy="792480"/>
          </a:xfrm>
        </p:grpSpPr>
        <p:sp>
          <p:nvSpPr>
            <p:cNvPr id="3" name="object 3"/>
            <p:cNvSpPr/>
            <p:nvPr/>
          </p:nvSpPr>
          <p:spPr>
            <a:xfrm>
              <a:off x="2562225" y="1377314"/>
              <a:ext cx="7449820" cy="792480"/>
            </a:xfrm>
            <a:custGeom>
              <a:avLst/>
              <a:gdLst/>
              <a:ahLst/>
              <a:cxnLst/>
              <a:rect l="l" t="t" r="r" b="b"/>
              <a:pathLst>
                <a:path w="7449820" h="792480">
                  <a:moveTo>
                    <a:pt x="7449820" y="0"/>
                  </a:moveTo>
                  <a:lnTo>
                    <a:pt x="0" y="0"/>
                  </a:lnTo>
                  <a:lnTo>
                    <a:pt x="0" y="792479"/>
                  </a:lnTo>
                  <a:lnTo>
                    <a:pt x="7449820" y="792479"/>
                  </a:lnTo>
                  <a:lnTo>
                    <a:pt x="744982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573646" y="1773554"/>
              <a:ext cx="573405" cy="396240"/>
            </a:xfrm>
            <a:custGeom>
              <a:avLst/>
              <a:gdLst/>
              <a:ahLst/>
              <a:cxnLst/>
              <a:rect l="l" t="t" r="r" b="b"/>
              <a:pathLst>
                <a:path w="573404" h="396239">
                  <a:moveTo>
                    <a:pt x="573062" y="0"/>
                  </a:moveTo>
                  <a:lnTo>
                    <a:pt x="0" y="0"/>
                  </a:lnTo>
                  <a:lnTo>
                    <a:pt x="0" y="396239"/>
                  </a:lnTo>
                  <a:lnTo>
                    <a:pt x="573062" y="396239"/>
                  </a:lnTo>
                  <a:lnTo>
                    <a:pt x="573062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555875" y="1370964"/>
          <a:ext cx="7446008" cy="791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2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222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222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2152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2152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222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152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272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555875" y="2537079"/>
          <a:ext cx="7446008" cy="791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2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555875" y="4638675"/>
          <a:ext cx="7446008" cy="791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2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215265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08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171450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08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1969516" y="1723135"/>
            <a:ext cx="277495" cy="1557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𝑿</a:t>
            </a:r>
            <a:endParaRPr sz="24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endParaRPr sz="24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50">
              <a:latin typeface="Cambria Math"/>
              <a:cs typeface="Cambria Math"/>
            </a:endParaRPr>
          </a:p>
          <a:p>
            <a:pPr marL="35560">
              <a:lnSpc>
                <a:spcPct val="100000"/>
              </a:lnSpc>
              <a:spcBef>
                <a:spcPts val="5"/>
              </a:spcBef>
            </a:pPr>
            <a:r>
              <a:rPr sz="2400" spc="-50">
                <a:latin typeface="Cambria Math"/>
                <a:cs typeface="Cambria Math"/>
              </a:rPr>
              <a:t>𝑫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655307" y="2939033"/>
            <a:ext cx="396240" cy="386715"/>
          </a:xfrm>
          <a:custGeom>
            <a:avLst/>
            <a:gdLst/>
            <a:ahLst/>
            <a:cxnLst/>
            <a:rect l="l" t="t" r="r" b="b"/>
            <a:pathLst>
              <a:path w="396240" h="386714">
                <a:moveTo>
                  <a:pt x="0" y="64388"/>
                </a:moveTo>
                <a:lnTo>
                  <a:pt x="5060" y="39326"/>
                </a:lnTo>
                <a:lnTo>
                  <a:pt x="18859" y="18859"/>
                </a:lnTo>
                <a:lnTo>
                  <a:pt x="39326" y="5060"/>
                </a:lnTo>
                <a:lnTo>
                  <a:pt x="64389" y="0"/>
                </a:lnTo>
                <a:lnTo>
                  <a:pt x="331850" y="0"/>
                </a:lnTo>
                <a:lnTo>
                  <a:pt x="356913" y="5060"/>
                </a:lnTo>
                <a:lnTo>
                  <a:pt x="377380" y="18859"/>
                </a:lnTo>
                <a:lnTo>
                  <a:pt x="391179" y="39326"/>
                </a:lnTo>
                <a:lnTo>
                  <a:pt x="396240" y="64388"/>
                </a:lnTo>
                <a:lnTo>
                  <a:pt x="396240" y="321944"/>
                </a:lnTo>
                <a:lnTo>
                  <a:pt x="391179" y="347007"/>
                </a:lnTo>
                <a:lnTo>
                  <a:pt x="377380" y="367474"/>
                </a:lnTo>
                <a:lnTo>
                  <a:pt x="356913" y="381273"/>
                </a:lnTo>
                <a:lnTo>
                  <a:pt x="331850" y="386333"/>
                </a:lnTo>
                <a:lnTo>
                  <a:pt x="64389" y="386333"/>
                </a:lnTo>
                <a:lnTo>
                  <a:pt x="39326" y="381273"/>
                </a:lnTo>
                <a:lnTo>
                  <a:pt x="18859" y="367474"/>
                </a:lnTo>
                <a:lnTo>
                  <a:pt x="5060" y="347007"/>
                </a:lnTo>
                <a:lnTo>
                  <a:pt x="0" y="321944"/>
                </a:lnTo>
                <a:lnTo>
                  <a:pt x="0" y="64388"/>
                </a:lnTo>
                <a:close/>
              </a:path>
            </a:pathLst>
          </a:custGeom>
          <a:ln w="44450">
            <a:solidFill>
              <a:srgbClr val="006FC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840229" y="4991100"/>
            <a:ext cx="5594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>
                <a:latin typeface="Cambria Math"/>
                <a:cs typeface="Cambria Math"/>
              </a:rPr>
              <a:t>𝑹𝒆𝒄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655307" y="1741932"/>
            <a:ext cx="396240" cy="387350"/>
          </a:xfrm>
          <a:custGeom>
            <a:avLst/>
            <a:gdLst/>
            <a:ahLst/>
            <a:cxnLst/>
            <a:rect l="l" t="t" r="r" b="b"/>
            <a:pathLst>
              <a:path w="396240" h="387350">
                <a:moveTo>
                  <a:pt x="0" y="64515"/>
                </a:moveTo>
                <a:lnTo>
                  <a:pt x="5062" y="39379"/>
                </a:lnTo>
                <a:lnTo>
                  <a:pt x="18875" y="18875"/>
                </a:lnTo>
                <a:lnTo>
                  <a:pt x="39379" y="5062"/>
                </a:lnTo>
                <a:lnTo>
                  <a:pt x="64516" y="0"/>
                </a:lnTo>
                <a:lnTo>
                  <a:pt x="331724" y="0"/>
                </a:lnTo>
                <a:lnTo>
                  <a:pt x="356860" y="5062"/>
                </a:lnTo>
                <a:lnTo>
                  <a:pt x="377364" y="18875"/>
                </a:lnTo>
                <a:lnTo>
                  <a:pt x="391177" y="39379"/>
                </a:lnTo>
                <a:lnTo>
                  <a:pt x="396240" y="64515"/>
                </a:lnTo>
                <a:lnTo>
                  <a:pt x="396240" y="322579"/>
                </a:lnTo>
                <a:lnTo>
                  <a:pt x="391177" y="347716"/>
                </a:lnTo>
                <a:lnTo>
                  <a:pt x="377364" y="368220"/>
                </a:lnTo>
                <a:lnTo>
                  <a:pt x="356860" y="382033"/>
                </a:lnTo>
                <a:lnTo>
                  <a:pt x="331724" y="387095"/>
                </a:lnTo>
                <a:lnTo>
                  <a:pt x="64516" y="387095"/>
                </a:lnTo>
                <a:lnTo>
                  <a:pt x="39379" y="382033"/>
                </a:lnTo>
                <a:lnTo>
                  <a:pt x="18875" y="368220"/>
                </a:lnTo>
                <a:lnTo>
                  <a:pt x="5062" y="347716"/>
                </a:lnTo>
                <a:lnTo>
                  <a:pt x="0" y="322579"/>
                </a:lnTo>
                <a:lnTo>
                  <a:pt x="0" y="64515"/>
                </a:lnTo>
                <a:close/>
              </a:path>
            </a:pathLst>
          </a:custGeom>
          <a:ln w="4445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655307" y="5051297"/>
            <a:ext cx="396240" cy="386715"/>
          </a:xfrm>
          <a:custGeom>
            <a:avLst/>
            <a:gdLst/>
            <a:ahLst/>
            <a:cxnLst/>
            <a:rect l="l" t="t" r="r" b="b"/>
            <a:pathLst>
              <a:path w="396240" h="386714">
                <a:moveTo>
                  <a:pt x="0" y="64388"/>
                </a:moveTo>
                <a:lnTo>
                  <a:pt x="5060" y="39326"/>
                </a:lnTo>
                <a:lnTo>
                  <a:pt x="18859" y="18859"/>
                </a:lnTo>
                <a:lnTo>
                  <a:pt x="39326" y="5060"/>
                </a:lnTo>
                <a:lnTo>
                  <a:pt x="64389" y="0"/>
                </a:lnTo>
                <a:lnTo>
                  <a:pt x="331850" y="0"/>
                </a:lnTo>
                <a:lnTo>
                  <a:pt x="356913" y="5060"/>
                </a:lnTo>
                <a:lnTo>
                  <a:pt x="377380" y="18859"/>
                </a:lnTo>
                <a:lnTo>
                  <a:pt x="391179" y="39326"/>
                </a:lnTo>
                <a:lnTo>
                  <a:pt x="396240" y="64388"/>
                </a:lnTo>
                <a:lnTo>
                  <a:pt x="396240" y="321944"/>
                </a:lnTo>
                <a:lnTo>
                  <a:pt x="391179" y="347007"/>
                </a:lnTo>
                <a:lnTo>
                  <a:pt x="377380" y="367474"/>
                </a:lnTo>
                <a:lnTo>
                  <a:pt x="356913" y="381273"/>
                </a:lnTo>
                <a:lnTo>
                  <a:pt x="331850" y="386333"/>
                </a:lnTo>
                <a:lnTo>
                  <a:pt x="64389" y="386333"/>
                </a:lnTo>
                <a:lnTo>
                  <a:pt x="39326" y="381273"/>
                </a:lnTo>
                <a:lnTo>
                  <a:pt x="18859" y="367474"/>
                </a:lnTo>
                <a:lnTo>
                  <a:pt x="5060" y="347007"/>
                </a:lnTo>
                <a:lnTo>
                  <a:pt x="0" y="321944"/>
                </a:lnTo>
                <a:lnTo>
                  <a:pt x="0" y="64388"/>
                </a:lnTo>
                <a:close/>
              </a:path>
            </a:pathLst>
          </a:custGeom>
          <a:ln w="44450">
            <a:solidFill>
              <a:srgbClr val="006FC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200900" y="2939033"/>
            <a:ext cx="396240" cy="386715"/>
          </a:xfrm>
          <a:custGeom>
            <a:avLst/>
            <a:gdLst/>
            <a:ahLst/>
            <a:cxnLst/>
            <a:rect l="l" t="t" r="r" b="b"/>
            <a:pathLst>
              <a:path w="396240" h="386714">
                <a:moveTo>
                  <a:pt x="0" y="64388"/>
                </a:moveTo>
                <a:lnTo>
                  <a:pt x="5060" y="39326"/>
                </a:lnTo>
                <a:lnTo>
                  <a:pt x="18859" y="18859"/>
                </a:lnTo>
                <a:lnTo>
                  <a:pt x="39326" y="5060"/>
                </a:lnTo>
                <a:lnTo>
                  <a:pt x="64389" y="0"/>
                </a:lnTo>
                <a:lnTo>
                  <a:pt x="331850" y="0"/>
                </a:lnTo>
                <a:lnTo>
                  <a:pt x="356913" y="5060"/>
                </a:lnTo>
                <a:lnTo>
                  <a:pt x="377380" y="18859"/>
                </a:lnTo>
                <a:lnTo>
                  <a:pt x="391179" y="39326"/>
                </a:lnTo>
                <a:lnTo>
                  <a:pt x="396240" y="64388"/>
                </a:lnTo>
                <a:lnTo>
                  <a:pt x="396240" y="321944"/>
                </a:lnTo>
                <a:lnTo>
                  <a:pt x="391179" y="347007"/>
                </a:lnTo>
                <a:lnTo>
                  <a:pt x="377380" y="367474"/>
                </a:lnTo>
                <a:lnTo>
                  <a:pt x="356913" y="381273"/>
                </a:lnTo>
                <a:lnTo>
                  <a:pt x="331850" y="386333"/>
                </a:lnTo>
                <a:lnTo>
                  <a:pt x="64389" y="386333"/>
                </a:lnTo>
                <a:lnTo>
                  <a:pt x="39326" y="381273"/>
                </a:lnTo>
                <a:lnTo>
                  <a:pt x="18859" y="367474"/>
                </a:lnTo>
                <a:lnTo>
                  <a:pt x="5060" y="347007"/>
                </a:lnTo>
                <a:lnTo>
                  <a:pt x="0" y="321944"/>
                </a:lnTo>
                <a:lnTo>
                  <a:pt x="0" y="64388"/>
                </a:lnTo>
                <a:close/>
              </a:path>
            </a:pathLst>
          </a:custGeom>
          <a:ln w="4445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784604" y="3379851"/>
            <a:ext cx="5824220" cy="1094105"/>
          </a:xfrm>
          <a:custGeom>
            <a:avLst/>
            <a:gdLst/>
            <a:ahLst/>
            <a:cxnLst/>
            <a:rect l="l" t="t" r="r" b="b"/>
            <a:pathLst>
              <a:path w="5824220" h="1094104">
                <a:moveTo>
                  <a:pt x="5074539" y="0"/>
                </a:moveTo>
                <a:lnTo>
                  <a:pt x="3397250" y="262509"/>
                </a:lnTo>
                <a:lnTo>
                  <a:pt x="0" y="262509"/>
                </a:lnTo>
                <a:lnTo>
                  <a:pt x="0" y="1093851"/>
                </a:lnTo>
                <a:lnTo>
                  <a:pt x="5823966" y="1093851"/>
                </a:lnTo>
                <a:lnTo>
                  <a:pt x="5823966" y="262509"/>
                </a:lnTo>
                <a:lnTo>
                  <a:pt x="4853305" y="262509"/>
                </a:lnTo>
                <a:lnTo>
                  <a:pt x="5074539" y="0"/>
                </a:lnTo>
                <a:close/>
              </a:path>
            </a:pathLst>
          </a:custGeom>
          <a:solidFill>
            <a:srgbClr val="083C8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857755" y="3850385"/>
            <a:ext cx="11290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Cambria Math"/>
                <a:cs typeface="Cambria Math"/>
              </a:rPr>
              <a:t>𝑫[𝒊]</a:t>
            </a:r>
            <a:r>
              <a:rPr sz="2400" spc="13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endParaRPr sz="2400" dirty="0">
              <a:latin typeface="Cambria Math"/>
              <a:cs typeface="Cambria Math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218053" y="3735069"/>
            <a:ext cx="258445" cy="283210"/>
          </a:xfrm>
          <a:custGeom>
            <a:avLst/>
            <a:gdLst/>
            <a:ahLst/>
            <a:cxnLst/>
            <a:rect l="l" t="t" r="r" b="b"/>
            <a:pathLst>
              <a:path w="258445" h="28321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1780"/>
                </a:lnTo>
                <a:lnTo>
                  <a:pt x="0" y="283210"/>
                </a:lnTo>
                <a:lnTo>
                  <a:pt x="66421" y="283210"/>
                </a:lnTo>
                <a:lnTo>
                  <a:pt x="66421" y="271780"/>
                </a:lnTo>
                <a:lnTo>
                  <a:pt x="24765" y="271780"/>
                </a:lnTo>
                <a:lnTo>
                  <a:pt x="24765" y="1143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  <a:path w="258445" h="283210">
                <a:moveTo>
                  <a:pt x="258318" y="0"/>
                </a:moveTo>
                <a:lnTo>
                  <a:pt x="191897" y="0"/>
                </a:lnTo>
                <a:lnTo>
                  <a:pt x="191897" y="11430"/>
                </a:lnTo>
                <a:lnTo>
                  <a:pt x="233553" y="11430"/>
                </a:lnTo>
                <a:lnTo>
                  <a:pt x="233553" y="271780"/>
                </a:lnTo>
                <a:lnTo>
                  <a:pt x="191897" y="271780"/>
                </a:lnTo>
                <a:lnTo>
                  <a:pt x="191897" y="283210"/>
                </a:lnTo>
                <a:lnTo>
                  <a:pt x="258318" y="283210"/>
                </a:lnTo>
                <a:lnTo>
                  <a:pt x="258318" y="271780"/>
                </a:lnTo>
                <a:lnTo>
                  <a:pt x="258318" y="11430"/>
                </a:lnTo>
                <a:lnTo>
                  <a:pt x="258318" y="0"/>
                </a:lnTo>
                <a:close/>
              </a:path>
            </a:pathLst>
          </a:custGeom>
          <a:solidFill>
            <a:srgbClr val="FF9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960623" y="3646170"/>
            <a:ext cx="20872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17220" algn="l"/>
              </a:tabLst>
            </a:pP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𝑿</a:t>
            </a:r>
            <a:r>
              <a:rPr sz="2400" spc="305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 spc="-50">
                <a:solidFill>
                  <a:srgbClr val="FF9200"/>
                </a:solidFill>
                <a:latin typeface="Cambria Math"/>
                <a:cs typeface="Cambria Math"/>
              </a:rPr>
              <a:t>𝒊</a:t>
            </a: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	+</a:t>
            </a:r>
            <a:r>
              <a:rPr sz="2400" spc="-5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𝑫[𝒊</a:t>
            </a:r>
            <a:r>
              <a:rPr sz="2400" spc="-10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+ </a:t>
            </a:r>
            <a:r>
              <a:rPr sz="2400" spc="-25">
                <a:solidFill>
                  <a:srgbClr val="FF9200"/>
                </a:solidFill>
                <a:latin typeface="Cambria Math"/>
                <a:cs typeface="Cambria Math"/>
              </a:rPr>
              <a:t>𝟏],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948811" y="4130039"/>
            <a:ext cx="258445" cy="283210"/>
          </a:xfrm>
          <a:custGeom>
            <a:avLst/>
            <a:gdLst/>
            <a:ahLst/>
            <a:cxnLst/>
            <a:rect l="l" t="t" r="r" b="b"/>
            <a:pathLst>
              <a:path w="258445" h="28321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1780"/>
                </a:lnTo>
                <a:lnTo>
                  <a:pt x="0" y="283210"/>
                </a:lnTo>
                <a:lnTo>
                  <a:pt x="66421" y="283210"/>
                </a:lnTo>
                <a:lnTo>
                  <a:pt x="66421" y="271780"/>
                </a:lnTo>
                <a:lnTo>
                  <a:pt x="24765" y="271780"/>
                </a:lnTo>
                <a:lnTo>
                  <a:pt x="24765" y="1143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  <a:path w="258445" h="283210">
                <a:moveTo>
                  <a:pt x="258318" y="0"/>
                </a:moveTo>
                <a:lnTo>
                  <a:pt x="191897" y="0"/>
                </a:lnTo>
                <a:lnTo>
                  <a:pt x="191897" y="11430"/>
                </a:lnTo>
                <a:lnTo>
                  <a:pt x="233553" y="11430"/>
                </a:lnTo>
                <a:lnTo>
                  <a:pt x="233553" y="271780"/>
                </a:lnTo>
                <a:lnTo>
                  <a:pt x="191897" y="271780"/>
                </a:lnTo>
                <a:lnTo>
                  <a:pt x="191897" y="283210"/>
                </a:lnTo>
                <a:lnTo>
                  <a:pt x="258318" y="283210"/>
                </a:lnTo>
                <a:lnTo>
                  <a:pt x="258318" y="271780"/>
                </a:lnTo>
                <a:lnTo>
                  <a:pt x="258318" y="11430"/>
                </a:lnTo>
                <a:lnTo>
                  <a:pt x="25831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691382" y="4040885"/>
            <a:ext cx="6254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𝑿</a:t>
            </a:r>
            <a:r>
              <a:rPr sz="2400" spc="30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𝒊</a:t>
            </a:r>
            <a:r>
              <a:rPr sz="2400" spc="30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 spc="-50">
                <a:solidFill>
                  <a:srgbClr val="FFFFFF"/>
                </a:solidFill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325871" y="3617214"/>
            <a:ext cx="2056130" cy="81534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𝒊𝒇</a:t>
            </a:r>
            <a:r>
              <a:rPr sz="2400" spc="-10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𝑫[𝒊</a:t>
            </a:r>
            <a:r>
              <a:rPr sz="2400" spc="-10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+ 𝟏]</a:t>
            </a:r>
            <a:r>
              <a:rPr sz="2400" spc="130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&gt;</a:t>
            </a:r>
            <a:r>
              <a:rPr sz="2400" spc="135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 spc="-50">
                <a:solidFill>
                  <a:srgbClr val="FF9200"/>
                </a:solidFill>
                <a:latin typeface="Cambria Math"/>
                <a:cs typeface="Cambria Math"/>
              </a:rPr>
              <a:t>𝟎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𝒊𝒇</a:t>
            </a:r>
            <a:r>
              <a:rPr sz="2400" spc="-1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𝑫[𝒊</a:t>
            </a:r>
            <a:r>
              <a:rPr sz="2400" spc="-1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+ 𝟏]</a:t>
            </a:r>
            <a:r>
              <a:rPr sz="2400" spc="13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≤</a:t>
            </a:r>
            <a:r>
              <a:rPr sz="2400" spc="13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 spc="-50">
                <a:solidFill>
                  <a:srgbClr val="FFFFFF"/>
                </a:solidFill>
                <a:latin typeface="Cambria Math"/>
                <a:cs typeface="Cambria Math"/>
              </a:rPr>
              <a:t>𝟎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2" name="object 3">
            <a:extLst>
              <a:ext uri="{FF2B5EF4-FFF2-40B4-BE49-F238E27FC236}">
                <a16:creationId xmlns:a16="http://schemas.microsoft.com/office/drawing/2014/main" id="{09A95FA8-5265-C14C-A0C9-B8D6935704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4440" y="171164"/>
            <a:ext cx="250444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562225" y="1377314"/>
            <a:ext cx="7449820" cy="792480"/>
            <a:chOff x="2562225" y="1377314"/>
            <a:chExt cx="7449820" cy="792480"/>
          </a:xfrm>
        </p:grpSpPr>
        <p:sp>
          <p:nvSpPr>
            <p:cNvPr id="3" name="object 3"/>
            <p:cNvSpPr/>
            <p:nvPr/>
          </p:nvSpPr>
          <p:spPr>
            <a:xfrm>
              <a:off x="2562225" y="1377314"/>
              <a:ext cx="7449820" cy="792480"/>
            </a:xfrm>
            <a:custGeom>
              <a:avLst/>
              <a:gdLst/>
              <a:ahLst/>
              <a:cxnLst/>
              <a:rect l="l" t="t" r="r" b="b"/>
              <a:pathLst>
                <a:path w="7449820" h="792480">
                  <a:moveTo>
                    <a:pt x="7449820" y="0"/>
                  </a:moveTo>
                  <a:lnTo>
                    <a:pt x="0" y="0"/>
                  </a:lnTo>
                  <a:lnTo>
                    <a:pt x="0" y="792479"/>
                  </a:lnTo>
                  <a:lnTo>
                    <a:pt x="7449820" y="792479"/>
                  </a:lnTo>
                  <a:lnTo>
                    <a:pt x="744982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000622" y="1773554"/>
              <a:ext cx="573405" cy="396240"/>
            </a:xfrm>
            <a:custGeom>
              <a:avLst/>
              <a:gdLst/>
              <a:ahLst/>
              <a:cxnLst/>
              <a:rect l="l" t="t" r="r" b="b"/>
              <a:pathLst>
                <a:path w="573404" h="396239">
                  <a:moveTo>
                    <a:pt x="573062" y="0"/>
                  </a:moveTo>
                  <a:lnTo>
                    <a:pt x="0" y="0"/>
                  </a:lnTo>
                  <a:lnTo>
                    <a:pt x="0" y="396239"/>
                  </a:lnTo>
                  <a:lnTo>
                    <a:pt x="573062" y="396239"/>
                  </a:lnTo>
                  <a:lnTo>
                    <a:pt x="573062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555875" y="1370964"/>
          <a:ext cx="7446008" cy="791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2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222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222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2152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2152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222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152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17272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555875" y="2537079"/>
          <a:ext cx="7446008" cy="791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2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25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555875" y="4638675"/>
          <a:ext cx="7446008" cy="791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2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215265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215265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172720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08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171450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08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1969516" y="1723135"/>
            <a:ext cx="277495" cy="1557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𝑿</a:t>
            </a:r>
            <a:endParaRPr sz="24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endParaRPr sz="24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50">
              <a:latin typeface="Cambria Math"/>
              <a:cs typeface="Cambria Math"/>
            </a:endParaRPr>
          </a:p>
          <a:p>
            <a:pPr marL="35560">
              <a:lnSpc>
                <a:spcPct val="100000"/>
              </a:lnSpc>
              <a:spcBef>
                <a:spcPts val="5"/>
              </a:spcBef>
            </a:pPr>
            <a:r>
              <a:rPr sz="2400" spc="-50">
                <a:latin typeface="Cambria Math"/>
                <a:cs typeface="Cambria Math"/>
              </a:rPr>
              <a:t>𝑫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106667" y="2939033"/>
            <a:ext cx="396240" cy="386715"/>
          </a:xfrm>
          <a:custGeom>
            <a:avLst/>
            <a:gdLst/>
            <a:ahLst/>
            <a:cxnLst/>
            <a:rect l="l" t="t" r="r" b="b"/>
            <a:pathLst>
              <a:path w="396240" h="386714">
                <a:moveTo>
                  <a:pt x="0" y="64388"/>
                </a:moveTo>
                <a:lnTo>
                  <a:pt x="5060" y="39326"/>
                </a:lnTo>
                <a:lnTo>
                  <a:pt x="18859" y="18859"/>
                </a:lnTo>
                <a:lnTo>
                  <a:pt x="39326" y="5060"/>
                </a:lnTo>
                <a:lnTo>
                  <a:pt x="64389" y="0"/>
                </a:lnTo>
                <a:lnTo>
                  <a:pt x="331851" y="0"/>
                </a:lnTo>
                <a:lnTo>
                  <a:pt x="356913" y="5060"/>
                </a:lnTo>
                <a:lnTo>
                  <a:pt x="377380" y="18859"/>
                </a:lnTo>
                <a:lnTo>
                  <a:pt x="391179" y="39326"/>
                </a:lnTo>
                <a:lnTo>
                  <a:pt x="396239" y="64388"/>
                </a:lnTo>
                <a:lnTo>
                  <a:pt x="396239" y="321944"/>
                </a:lnTo>
                <a:lnTo>
                  <a:pt x="391179" y="347007"/>
                </a:lnTo>
                <a:lnTo>
                  <a:pt x="377380" y="367474"/>
                </a:lnTo>
                <a:lnTo>
                  <a:pt x="356913" y="381273"/>
                </a:lnTo>
                <a:lnTo>
                  <a:pt x="331851" y="386333"/>
                </a:lnTo>
                <a:lnTo>
                  <a:pt x="64389" y="386333"/>
                </a:lnTo>
                <a:lnTo>
                  <a:pt x="39326" y="381273"/>
                </a:lnTo>
                <a:lnTo>
                  <a:pt x="18859" y="367474"/>
                </a:lnTo>
                <a:lnTo>
                  <a:pt x="5060" y="347007"/>
                </a:lnTo>
                <a:lnTo>
                  <a:pt x="0" y="321944"/>
                </a:lnTo>
                <a:lnTo>
                  <a:pt x="0" y="64388"/>
                </a:lnTo>
                <a:close/>
              </a:path>
            </a:pathLst>
          </a:custGeom>
          <a:ln w="44450">
            <a:solidFill>
              <a:srgbClr val="006FC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840229" y="4991100"/>
            <a:ext cx="5594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>
                <a:latin typeface="Cambria Math"/>
                <a:cs typeface="Cambria Math"/>
              </a:rPr>
              <a:t>𝑹𝒆𝒄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106667" y="1741932"/>
            <a:ext cx="396240" cy="387350"/>
          </a:xfrm>
          <a:custGeom>
            <a:avLst/>
            <a:gdLst/>
            <a:ahLst/>
            <a:cxnLst/>
            <a:rect l="l" t="t" r="r" b="b"/>
            <a:pathLst>
              <a:path w="396240" h="387350">
                <a:moveTo>
                  <a:pt x="0" y="64515"/>
                </a:moveTo>
                <a:lnTo>
                  <a:pt x="5062" y="39379"/>
                </a:lnTo>
                <a:lnTo>
                  <a:pt x="18875" y="18875"/>
                </a:lnTo>
                <a:lnTo>
                  <a:pt x="39379" y="5062"/>
                </a:lnTo>
                <a:lnTo>
                  <a:pt x="64516" y="0"/>
                </a:lnTo>
                <a:lnTo>
                  <a:pt x="331724" y="0"/>
                </a:lnTo>
                <a:lnTo>
                  <a:pt x="356860" y="5062"/>
                </a:lnTo>
                <a:lnTo>
                  <a:pt x="377364" y="18875"/>
                </a:lnTo>
                <a:lnTo>
                  <a:pt x="391177" y="39379"/>
                </a:lnTo>
                <a:lnTo>
                  <a:pt x="396239" y="64515"/>
                </a:lnTo>
                <a:lnTo>
                  <a:pt x="396239" y="322579"/>
                </a:lnTo>
                <a:lnTo>
                  <a:pt x="391177" y="347716"/>
                </a:lnTo>
                <a:lnTo>
                  <a:pt x="377364" y="368220"/>
                </a:lnTo>
                <a:lnTo>
                  <a:pt x="356860" y="382033"/>
                </a:lnTo>
                <a:lnTo>
                  <a:pt x="331724" y="387095"/>
                </a:lnTo>
                <a:lnTo>
                  <a:pt x="64516" y="387095"/>
                </a:lnTo>
                <a:lnTo>
                  <a:pt x="39379" y="382033"/>
                </a:lnTo>
                <a:lnTo>
                  <a:pt x="18875" y="368220"/>
                </a:lnTo>
                <a:lnTo>
                  <a:pt x="5062" y="347716"/>
                </a:lnTo>
                <a:lnTo>
                  <a:pt x="0" y="322579"/>
                </a:lnTo>
                <a:lnTo>
                  <a:pt x="0" y="64515"/>
                </a:lnTo>
                <a:close/>
              </a:path>
            </a:pathLst>
          </a:custGeom>
          <a:ln w="44449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106667" y="5051297"/>
            <a:ext cx="396240" cy="386715"/>
          </a:xfrm>
          <a:custGeom>
            <a:avLst/>
            <a:gdLst/>
            <a:ahLst/>
            <a:cxnLst/>
            <a:rect l="l" t="t" r="r" b="b"/>
            <a:pathLst>
              <a:path w="396240" h="386714">
                <a:moveTo>
                  <a:pt x="0" y="64388"/>
                </a:moveTo>
                <a:lnTo>
                  <a:pt x="5060" y="39326"/>
                </a:lnTo>
                <a:lnTo>
                  <a:pt x="18859" y="18859"/>
                </a:lnTo>
                <a:lnTo>
                  <a:pt x="39326" y="5060"/>
                </a:lnTo>
                <a:lnTo>
                  <a:pt x="64389" y="0"/>
                </a:lnTo>
                <a:lnTo>
                  <a:pt x="331851" y="0"/>
                </a:lnTo>
                <a:lnTo>
                  <a:pt x="356913" y="5060"/>
                </a:lnTo>
                <a:lnTo>
                  <a:pt x="377380" y="18859"/>
                </a:lnTo>
                <a:lnTo>
                  <a:pt x="391179" y="39326"/>
                </a:lnTo>
                <a:lnTo>
                  <a:pt x="396239" y="64388"/>
                </a:lnTo>
                <a:lnTo>
                  <a:pt x="396239" y="321944"/>
                </a:lnTo>
                <a:lnTo>
                  <a:pt x="391179" y="347007"/>
                </a:lnTo>
                <a:lnTo>
                  <a:pt x="377380" y="367474"/>
                </a:lnTo>
                <a:lnTo>
                  <a:pt x="356913" y="381273"/>
                </a:lnTo>
                <a:lnTo>
                  <a:pt x="331851" y="386333"/>
                </a:lnTo>
                <a:lnTo>
                  <a:pt x="64389" y="386333"/>
                </a:lnTo>
                <a:lnTo>
                  <a:pt x="39326" y="381273"/>
                </a:lnTo>
                <a:lnTo>
                  <a:pt x="18859" y="367474"/>
                </a:lnTo>
                <a:lnTo>
                  <a:pt x="5060" y="347007"/>
                </a:lnTo>
                <a:lnTo>
                  <a:pt x="0" y="321944"/>
                </a:lnTo>
                <a:lnTo>
                  <a:pt x="0" y="64388"/>
                </a:lnTo>
                <a:close/>
              </a:path>
            </a:pathLst>
          </a:custGeom>
          <a:ln w="44450">
            <a:solidFill>
              <a:srgbClr val="006FC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652259" y="2939033"/>
            <a:ext cx="396240" cy="386715"/>
          </a:xfrm>
          <a:custGeom>
            <a:avLst/>
            <a:gdLst/>
            <a:ahLst/>
            <a:cxnLst/>
            <a:rect l="l" t="t" r="r" b="b"/>
            <a:pathLst>
              <a:path w="396240" h="386714">
                <a:moveTo>
                  <a:pt x="0" y="64388"/>
                </a:moveTo>
                <a:lnTo>
                  <a:pt x="5060" y="39326"/>
                </a:lnTo>
                <a:lnTo>
                  <a:pt x="18859" y="18859"/>
                </a:lnTo>
                <a:lnTo>
                  <a:pt x="39326" y="5060"/>
                </a:lnTo>
                <a:lnTo>
                  <a:pt x="64389" y="0"/>
                </a:lnTo>
                <a:lnTo>
                  <a:pt x="331850" y="0"/>
                </a:lnTo>
                <a:lnTo>
                  <a:pt x="356913" y="5060"/>
                </a:lnTo>
                <a:lnTo>
                  <a:pt x="377380" y="18859"/>
                </a:lnTo>
                <a:lnTo>
                  <a:pt x="391179" y="39326"/>
                </a:lnTo>
                <a:lnTo>
                  <a:pt x="396240" y="64388"/>
                </a:lnTo>
                <a:lnTo>
                  <a:pt x="396240" y="321944"/>
                </a:lnTo>
                <a:lnTo>
                  <a:pt x="391179" y="347007"/>
                </a:lnTo>
                <a:lnTo>
                  <a:pt x="377380" y="367474"/>
                </a:lnTo>
                <a:lnTo>
                  <a:pt x="356913" y="381273"/>
                </a:lnTo>
                <a:lnTo>
                  <a:pt x="331850" y="386333"/>
                </a:lnTo>
                <a:lnTo>
                  <a:pt x="64389" y="386333"/>
                </a:lnTo>
                <a:lnTo>
                  <a:pt x="39326" y="381273"/>
                </a:lnTo>
                <a:lnTo>
                  <a:pt x="18859" y="367474"/>
                </a:lnTo>
                <a:lnTo>
                  <a:pt x="5060" y="347007"/>
                </a:lnTo>
                <a:lnTo>
                  <a:pt x="0" y="321944"/>
                </a:lnTo>
                <a:lnTo>
                  <a:pt x="0" y="64388"/>
                </a:lnTo>
                <a:close/>
              </a:path>
            </a:pathLst>
          </a:custGeom>
          <a:ln w="4445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165860" y="3379851"/>
            <a:ext cx="5824220" cy="1094105"/>
          </a:xfrm>
          <a:custGeom>
            <a:avLst/>
            <a:gdLst/>
            <a:ahLst/>
            <a:cxnLst/>
            <a:rect l="l" t="t" r="r" b="b"/>
            <a:pathLst>
              <a:path w="5824220" h="1094104">
                <a:moveTo>
                  <a:pt x="5074539" y="0"/>
                </a:moveTo>
                <a:lnTo>
                  <a:pt x="3397250" y="262509"/>
                </a:lnTo>
                <a:lnTo>
                  <a:pt x="0" y="262509"/>
                </a:lnTo>
                <a:lnTo>
                  <a:pt x="0" y="1093851"/>
                </a:lnTo>
                <a:lnTo>
                  <a:pt x="5823966" y="1093851"/>
                </a:lnTo>
                <a:lnTo>
                  <a:pt x="5823966" y="262509"/>
                </a:lnTo>
                <a:lnTo>
                  <a:pt x="4853305" y="262509"/>
                </a:lnTo>
                <a:lnTo>
                  <a:pt x="5074539" y="0"/>
                </a:lnTo>
                <a:close/>
              </a:path>
            </a:pathLst>
          </a:custGeom>
          <a:solidFill>
            <a:srgbClr val="083C8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238758" y="3850385"/>
            <a:ext cx="11290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Cambria Math"/>
                <a:cs typeface="Cambria Math"/>
              </a:rPr>
              <a:t>𝑫[𝒊]</a:t>
            </a:r>
            <a:r>
              <a:rPr sz="2400" spc="114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endParaRPr sz="2400" dirty="0">
              <a:latin typeface="Cambria Math"/>
              <a:cs typeface="Cambria Math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599055" y="3735069"/>
            <a:ext cx="258445" cy="283210"/>
          </a:xfrm>
          <a:custGeom>
            <a:avLst/>
            <a:gdLst/>
            <a:ahLst/>
            <a:cxnLst/>
            <a:rect l="l" t="t" r="r" b="b"/>
            <a:pathLst>
              <a:path w="258444" h="28321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1780"/>
                </a:lnTo>
                <a:lnTo>
                  <a:pt x="0" y="283210"/>
                </a:lnTo>
                <a:lnTo>
                  <a:pt x="66421" y="283210"/>
                </a:lnTo>
                <a:lnTo>
                  <a:pt x="66421" y="271780"/>
                </a:lnTo>
                <a:lnTo>
                  <a:pt x="24765" y="271780"/>
                </a:lnTo>
                <a:lnTo>
                  <a:pt x="24765" y="1143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  <a:path w="258444" h="283210">
                <a:moveTo>
                  <a:pt x="258318" y="0"/>
                </a:moveTo>
                <a:lnTo>
                  <a:pt x="191897" y="0"/>
                </a:lnTo>
                <a:lnTo>
                  <a:pt x="191897" y="11430"/>
                </a:lnTo>
                <a:lnTo>
                  <a:pt x="233680" y="11430"/>
                </a:lnTo>
                <a:lnTo>
                  <a:pt x="233680" y="271780"/>
                </a:lnTo>
                <a:lnTo>
                  <a:pt x="191897" y="271780"/>
                </a:lnTo>
                <a:lnTo>
                  <a:pt x="191897" y="283210"/>
                </a:lnTo>
                <a:lnTo>
                  <a:pt x="258318" y="283210"/>
                </a:lnTo>
                <a:lnTo>
                  <a:pt x="258318" y="271780"/>
                </a:lnTo>
                <a:lnTo>
                  <a:pt x="258318" y="11430"/>
                </a:lnTo>
                <a:lnTo>
                  <a:pt x="258318" y="0"/>
                </a:lnTo>
                <a:close/>
              </a:path>
            </a:pathLst>
          </a:custGeom>
          <a:solidFill>
            <a:srgbClr val="FF9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341626" y="3646170"/>
            <a:ext cx="20872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17220" algn="l"/>
              </a:tabLst>
            </a:pPr>
            <a:r>
              <a:rPr sz="2400" dirty="0">
                <a:solidFill>
                  <a:srgbClr val="FF9200"/>
                </a:solidFill>
                <a:latin typeface="Cambria Math"/>
                <a:cs typeface="Cambria Math"/>
              </a:rPr>
              <a:t>𝑿</a:t>
            </a:r>
            <a:r>
              <a:rPr sz="2400" spc="305" dirty="0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FF9200"/>
                </a:solidFill>
                <a:latin typeface="Cambria Math"/>
                <a:cs typeface="Cambria Math"/>
              </a:rPr>
              <a:t>𝒊</a:t>
            </a:r>
            <a:r>
              <a:rPr sz="2400" dirty="0">
                <a:solidFill>
                  <a:srgbClr val="FF9200"/>
                </a:solidFill>
                <a:latin typeface="Cambria Math"/>
                <a:cs typeface="Cambria Math"/>
              </a:rPr>
              <a:t>	+</a:t>
            </a:r>
            <a:r>
              <a:rPr sz="2400" spc="-5" dirty="0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9200"/>
                </a:solidFill>
                <a:latin typeface="Cambria Math"/>
                <a:cs typeface="Cambria Math"/>
              </a:rPr>
              <a:t>𝑫[𝒊</a:t>
            </a:r>
            <a:r>
              <a:rPr sz="2400" spc="-10" dirty="0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9200"/>
                </a:solidFill>
                <a:latin typeface="Cambria Math"/>
                <a:cs typeface="Cambria Math"/>
              </a:rPr>
              <a:t>+ </a:t>
            </a:r>
            <a:r>
              <a:rPr sz="2400" spc="-25" dirty="0">
                <a:solidFill>
                  <a:srgbClr val="FF9200"/>
                </a:solidFill>
                <a:latin typeface="Cambria Math"/>
                <a:cs typeface="Cambria Math"/>
              </a:rPr>
              <a:t>𝟏],</a:t>
            </a:r>
            <a:endParaRPr sz="2400" dirty="0"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329813" y="4130039"/>
            <a:ext cx="258445" cy="283210"/>
          </a:xfrm>
          <a:custGeom>
            <a:avLst/>
            <a:gdLst/>
            <a:ahLst/>
            <a:cxnLst/>
            <a:rect l="l" t="t" r="r" b="b"/>
            <a:pathLst>
              <a:path w="258445" h="28321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1780"/>
                </a:lnTo>
                <a:lnTo>
                  <a:pt x="0" y="283210"/>
                </a:lnTo>
                <a:lnTo>
                  <a:pt x="66421" y="283210"/>
                </a:lnTo>
                <a:lnTo>
                  <a:pt x="66421" y="271780"/>
                </a:lnTo>
                <a:lnTo>
                  <a:pt x="24765" y="271780"/>
                </a:lnTo>
                <a:lnTo>
                  <a:pt x="24765" y="1143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  <a:path w="258445" h="283210">
                <a:moveTo>
                  <a:pt x="258318" y="0"/>
                </a:moveTo>
                <a:lnTo>
                  <a:pt x="191897" y="0"/>
                </a:lnTo>
                <a:lnTo>
                  <a:pt x="191897" y="11430"/>
                </a:lnTo>
                <a:lnTo>
                  <a:pt x="233680" y="11430"/>
                </a:lnTo>
                <a:lnTo>
                  <a:pt x="233680" y="271780"/>
                </a:lnTo>
                <a:lnTo>
                  <a:pt x="191897" y="271780"/>
                </a:lnTo>
                <a:lnTo>
                  <a:pt x="191897" y="283210"/>
                </a:lnTo>
                <a:lnTo>
                  <a:pt x="258318" y="283210"/>
                </a:lnTo>
                <a:lnTo>
                  <a:pt x="258318" y="271780"/>
                </a:lnTo>
                <a:lnTo>
                  <a:pt x="258318" y="11430"/>
                </a:lnTo>
                <a:lnTo>
                  <a:pt x="25831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072383" y="4040885"/>
            <a:ext cx="6254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𝑿</a:t>
            </a:r>
            <a:r>
              <a:rPr sz="2400" spc="30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𝒊</a:t>
            </a:r>
            <a:r>
              <a:rPr sz="2400" spc="30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 spc="-50">
                <a:solidFill>
                  <a:srgbClr val="FFFFFF"/>
                </a:solidFill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706873" y="3617214"/>
            <a:ext cx="2056130" cy="81534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𝒊𝒇</a:t>
            </a:r>
            <a:r>
              <a:rPr sz="2400" spc="-10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𝑫[𝒊</a:t>
            </a:r>
            <a:r>
              <a:rPr sz="2400" spc="-10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+</a:t>
            </a:r>
            <a:r>
              <a:rPr sz="2400" spc="-5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𝟏]</a:t>
            </a:r>
            <a:r>
              <a:rPr sz="2400" spc="130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&gt;</a:t>
            </a:r>
            <a:r>
              <a:rPr sz="2400" spc="135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 spc="-50">
                <a:solidFill>
                  <a:srgbClr val="FF9200"/>
                </a:solidFill>
                <a:latin typeface="Cambria Math"/>
                <a:cs typeface="Cambria Math"/>
              </a:rPr>
              <a:t>𝟎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𝒊𝒇</a:t>
            </a:r>
            <a:r>
              <a:rPr sz="2400" spc="-1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𝑫[𝒊</a:t>
            </a:r>
            <a:r>
              <a:rPr sz="2400" spc="-1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+</a:t>
            </a:r>
            <a:r>
              <a:rPr sz="2400" spc="-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𝟏]</a:t>
            </a:r>
            <a:r>
              <a:rPr sz="2400" spc="13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≤</a:t>
            </a:r>
            <a:r>
              <a:rPr sz="2400" spc="13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 spc="-50">
                <a:solidFill>
                  <a:srgbClr val="FFFFFF"/>
                </a:solidFill>
                <a:latin typeface="Cambria Math"/>
                <a:cs typeface="Cambria Math"/>
              </a:rPr>
              <a:t>𝟎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2" name="object 3">
            <a:extLst>
              <a:ext uri="{FF2B5EF4-FFF2-40B4-BE49-F238E27FC236}">
                <a16:creationId xmlns:a16="http://schemas.microsoft.com/office/drawing/2014/main" id="{ACECDE58-49DA-8344-979F-38F5707D53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4440" y="171164"/>
            <a:ext cx="250444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562225" y="1377314"/>
            <a:ext cx="7449820" cy="792480"/>
            <a:chOff x="2562225" y="1377314"/>
            <a:chExt cx="7449820" cy="792480"/>
          </a:xfrm>
        </p:grpSpPr>
        <p:sp>
          <p:nvSpPr>
            <p:cNvPr id="3" name="object 3"/>
            <p:cNvSpPr/>
            <p:nvPr/>
          </p:nvSpPr>
          <p:spPr>
            <a:xfrm>
              <a:off x="2562225" y="1377314"/>
              <a:ext cx="7449820" cy="792480"/>
            </a:xfrm>
            <a:custGeom>
              <a:avLst/>
              <a:gdLst/>
              <a:ahLst/>
              <a:cxnLst/>
              <a:rect l="l" t="t" r="r" b="b"/>
              <a:pathLst>
                <a:path w="7449820" h="792480">
                  <a:moveTo>
                    <a:pt x="7449820" y="0"/>
                  </a:moveTo>
                  <a:lnTo>
                    <a:pt x="0" y="0"/>
                  </a:lnTo>
                  <a:lnTo>
                    <a:pt x="0" y="792479"/>
                  </a:lnTo>
                  <a:lnTo>
                    <a:pt x="7449820" y="792479"/>
                  </a:lnTo>
                  <a:lnTo>
                    <a:pt x="744982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427472" y="1773554"/>
              <a:ext cx="573405" cy="396240"/>
            </a:xfrm>
            <a:custGeom>
              <a:avLst/>
              <a:gdLst/>
              <a:ahLst/>
              <a:cxnLst/>
              <a:rect l="l" t="t" r="r" b="b"/>
              <a:pathLst>
                <a:path w="573404" h="396239">
                  <a:moveTo>
                    <a:pt x="573062" y="0"/>
                  </a:moveTo>
                  <a:lnTo>
                    <a:pt x="0" y="0"/>
                  </a:lnTo>
                  <a:lnTo>
                    <a:pt x="0" y="396239"/>
                  </a:lnTo>
                  <a:lnTo>
                    <a:pt x="573062" y="396239"/>
                  </a:lnTo>
                  <a:lnTo>
                    <a:pt x="573062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555875" y="1370964"/>
          <a:ext cx="7446008" cy="791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2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222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222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2152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2152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222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2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17272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555875" y="2537079"/>
          <a:ext cx="7446008" cy="791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2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23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25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555875" y="4638675"/>
          <a:ext cx="7446008" cy="791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2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215265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215265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172720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08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171450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08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1969516" y="1723135"/>
            <a:ext cx="277495" cy="1557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𝑿</a:t>
            </a:r>
            <a:endParaRPr sz="24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endParaRPr sz="24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50">
              <a:latin typeface="Cambria Math"/>
              <a:cs typeface="Cambria Math"/>
            </a:endParaRPr>
          </a:p>
          <a:p>
            <a:pPr marL="35560">
              <a:lnSpc>
                <a:spcPct val="100000"/>
              </a:lnSpc>
              <a:spcBef>
                <a:spcPts val="5"/>
              </a:spcBef>
            </a:pPr>
            <a:r>
              <a:rPr sz="2400" spc="-50">
                <a:latin typeface="Cambria Math"/>
                <a:cs typeface="Cambria Math"/>
              </a:rPr>
              <a:t>𝑫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527547" y="2939033"/>
            <a:ext cx="396240" cy="386715"/>
          </a:xfrm>
          <a:custGeom>
            <a:avLst/>
            <a:gdLst/>
            <a:ahLst/>
            <a:cxnLst/>
            <a:rect l="l" t="t" r="r" b="b"/>
            <a:pathLst>
              <a:path w="396239" h="386714">
                <a:moveTo>
                  <a:pt x="0" y="64388"/>
                </a:moveTo>
                <a:lnTo>
                  <a:pt x="5060" y="39326"/>
                </a:lnTo>
                <a:lnTo>
                  <a:pt x="18859" y="18859"/>
                </a:lnTo>
                <a:lnTo>
                  <a:pt x="39326" y="5060"/>
                </a:lnTo>
                <a:lnTo>
                  <a:pt x="64388" y="0"/>
                </a:lnTo>
                <a:lnTo>
                  <a:pt x="331850" y="0"/>
                </a:lnTo>
                <a:lnTo>
                  <a:pt x="356913" y="5060"/>
                </a:lnTo>
                <a:lnTo>
                  <a:pt x="377380" y="18859"/>
                </a:lnTo>
                <a:lnTo>
                  <a:pt x="391179" y="39326"/>
                </a:lnTo>
                <a:lnTo>
                  <a:pt x="396239" y="64388"/>
                </a:lnTo>
                <a:lnTo>
                  <a:pt x="396239" y="321944"/>
                </a:lnTo>
                <a:lnTo>
                  <a:pt x="391179" y="347007"/>
                </a:lnTo>
                <a:lnTo>
                  <a:pt x="377380" y="367474"/>
                </a:lnTo>
                <a:lnTo>
                  <a:pt x="356913" y="381273"/>
                </a:lnTo>
                <a:lnTo>
                  <a:pt x="331850" y="386333"/>
                </a:lnTo>
                <a:lnTo>
                  <a:pt x="64388" y="386333"/>
                </a:lnTo>
                <a:lnTo>
                  <a:pt x="39326" y="381273"/>
                </a:lnTo>
                <a:lnTo>
                  <a:pt x="18859" y="367474"/>
                </a:lnTo>
                <a:lnTo>
                  <a:pt x="5060" y="347007"/>
                </a:lnTo>
                <a:lnTo>
                  <a:pt x="0" y="321944"/>
                </a:lnTo>
                <a:lnTo>
                  <a:pt x="0" y="64388"/>
                </a:lnTo>
                <a:close/>
              </a:path>
            </a:pathLst>
          </a:custGeom>
          <a:ln w="44450">
            <a:solidFill>
              <a:srgbClr val="006FC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840229" y="4991100"/>
            <a:ext cx="5594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>
                <a:latin typeface="Cambria Math"/>
                <a:cs typeface="Cambria Math"/>
              </a:rPr>
              <a:t>𝑹𝒆𝒄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527547" y="1741932"/>
            <a:ext cx="396240" cy="387350"/>
          </a:xfrm>
          <a:custGeom>
            <a:avLst/>
            <a:gdLst/>
            <a:ahLst/>
            <a:cxnLst/>
            <a:rect l="l" t="t" r="r" b="b"/>
            <a:pathLst>
              <a:path w="396239" h="387350">
                <a:moveTo>
                  <a:pt x="0" y="64515"/>
                </a:moveTo>
                <a:lnTo>
                  <a:pt x="5062" y="39379"/>
                </a:lnTo>
                <a:lnTo>
                  <a:pt x="18875" y="18875"/>
                </a:lnTo>
                <a:lnTo>
                  <a:pt x="39379" y="5062"/>
                </a:lnTo>
                <a:lnTo>
                  <a:pt x="64515" y="0"/>
                </a:lnTo>
                <a:lnTo>
                  <a:pt x="331724" y="0"/>
                </a:lnTo>
                <a:lnTo>
                  <a:pt x="356860" y="5062"/>
                </a:lnTo>
                <a:lnTo>
                  <a:pt x="377364" y="18875"/>
                </a:lnTo>
                <a:lnTo>
                  <a:pt x="391177" y="39379"/>
                </a:lnTo>
                <a:lnTo>
                  <a:pt x="396239" y="64515"/>
                </a:lnTo>
                <a:lnTo>
                  <a:pt x="396239" y="322579"/>
                </a:lnTo>
                <a:lnTo>
                  <a:pt x="391177" y="347716"/>
                </a:lnTo>
                <a:lnTo>
                  <a:pt x="377364" y="368220"/>
                </a:lnTo>
                <a:lnTo>
                  <a:pt x="356860" y="382033"/>
                </a:lnTo>
                <a:lnTo>
                  <a:pt x="331724" y="387095"/>
                </a:lnTo>
                <a:lnTo>
                  <a:pt x="64515" y="387095"/>
                </a:lnTo>
                <a:lnTo>
                  <a:pt x="39379" y="382033"/>
                </a:lnTo>
                <a:lnTo>
                  <a:pt x="18875" y="368220"/>
                </a:lnTo>
                <a:lnTo>
                  <a:pt x="5062" y="347716"/>
                </a:lnTo>
                <a:lnTo>
                  <a:pt x="0" y="322579"/>
                </a:lnTo>
                <a:lnTo>
                  <a:pt x="0" y="64515"/>
                </a:lnTo>
                <a:close/>
              </a:path>
            </a:pathLst>
          </a:custGeom>
          <a:ln w="44449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527547" y="5051297"/>
            <a:ext cx="396240" cy="386715"/>
          </a:xfrm>
          <a:custGeom>
            <a:avLst/>
            <a:gdLst/>
            <a:ahLst/>
            <a:cxnLst/>
            <a:rect l="l" t="t" r="r" b="b"/>
            <a:pathLst>
              <a:path w="396239" h="386714">
                <a:moveTo>
                  <a:pt x="0" y="64388"/>
                </a:moveTo>
                <a:lnTo>
                  <a:pt x="5060" y="39326"/>
                </a:lnTo>
                <a:lnTo>
                  <a:pt x="18859" y="18859"/>
                </a:lnTo>
                <a:lnTo>
                  <a:pt x="39326" y="5060"/>
                </a:lnTo>
                <a:lnTo>
                  <a:pt x="64388" y="0"/>
                </a:lnTo>
                <a:lnTo>
                  <a:pt x="331850" y="0"/>
                </a:lnTo>
                <a:lnTo>
                  <a:pt x="356913" y="5060"/>
                </a:lnTo>
                <a:lnTo>
                  <a:pt x="377380" y="18859"/>
                </a:lnTo>
                <a:lnTo>
                  <a:pt x="391179" y="39326"/>
                </a:lnTo>
                <a:lnTo>
                  <a:pt x="396239" y="64388"/>
                </a:lnTo>
                <a:lnTo>
                  <a:pt x="396239" y="321944"/>
                </a:lnTo>
                <a:lnTo>
                  <a:pt x="391179" y="347007"/>
                </a:lnTo>
                <a:lnTo>
                  <a:pt x="377380" y="367474"/>
                </a:lnTo>
                <a:lnTo>
                  <a:pt x="356913" y="381273"/>
                </a:lnTo>
                <a:lnTo>
                  <a:pt x="331850" y="386333"/>
                </a:lnTo>
                <a:lnTo>
                  <a:pt x="64388" y="386333"/>
                </a:lnTo>
                <a:lnTo>
                  <a:pt x="39326" y="381273"/>
                </a:lnTo>
                <a:lnTo>
                  <a:pt x="18859" y="367474"/>
                </a:lnTo>
                <a:lnTo>
                  <a:pt x="5060" y="347007"/>
                </a:lnTo>
                <a:lnTo>
                  <a:pt x="0" y="321944"/>
                </a:lnTo>
                <a:lnTo>
                  <a:pt x="0" y="64388"/>
                </a:lnTo>
                <a:close/>
              </a:path>
            </a:pathLst>
          </a:custGeom>
          <a:ln w="44450">
            <a:solidFill>
              <a:srgbClr val="006FC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073140" y="2939033"/>
            <a:ext cx="396240" cy="386715"/>
          </a:xfrm>
          <a:custGeom>
            <a:avLst/>
            <a:gdLst/>
            <a:ahLst/>
            <a:cxnLst/>
            <a:rect l="l" t="t" r="r" b="b"/>
            <a:pathLst>
              <a:path w="396239" h="386714">
                <a:moveTo>
                  <a:pt x="0" y="64388"/>
                </a:moveTo>
                <a:lnTo>
                  <a:pt x="5060" y="39326"/>
                </a:lnTo>
                <a:lnTo>
                  <a:pt x="18859" y="18859"/>
                </a:lnTo>
                <a:lnTo>
                  <a:pt x="39326" y="5060"/>
                </a:lnTo>
                <a:lnTo>
                  <a:pt x="64388" y="0"/>
                </a:lnTo>
                <a:lnTo>
                  <a:pt x="331850" y="0"/>
                </a:lnTo>
                <a:lnTo>
                  <a:pt x="356913" y="5060"/>
                </a:lnTo>
                <a:lnTo>
                  <a:pt x="377380" y="18859"/>
                </a:lnTo>
                <a:lnTo>
                  <a:pt x="391179" y="39326"/>
                </a:lnTo>
                <a:lnTo>
                  <a:pt x="396239" y="64388"/>
                </a:lnTo>
                <a:lnTo>
                  <a:pt x="396239" y="321944"/>
                </a:lnTo>
                <a:lnTo>
                  <a:pt x="391179" y="347007"/>
                </a:lnTo>
                <a:lnTo>
                  <a:pt x="377380" y="367474"/>
                </a:lnTo>
                <a:lnTo>
                  <a:pt x="356913" y="381273"/>
                </a:lnTo>
                <a:lnTo>
                  <a:pt x="331850" y="386333"/>
                </a:lnTo>
                <a:lnTo>
                  <a:pt x="64388" y="386333"/>
                </a:lnTo>
                <a:lnTo>
                  <a:pt x="39326" y="381273"/>
                </a:lnTo>
                <a:lnTo>
                  <a:pt x="18859" y="367474"/>
                </a:lnTo>
                <a:lnTo>
                  <a:pt x="5060" y="347007"/>
                </a:lnTo>
                <a:lnTo>
                  <a:pt x="0" y="321944"/>
                </a:lnTo>
                <a:lnTo>
                  <a:pt x="0" y="64388"/>
                </a:lnTo>
                <a:close/>
              </a:path>
            </a:pathLst>
          </a:custGeom>
          <a:ln w="4445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01801" y="3379851"/>
            <a:ext cx="5824220" cy="1094105"/>
          </a:xfrm>
          <a:custGeom>
            <a:avLst/>
            <a:gdLst/>
            <a:ahLst/>
            <a:cxnLst/>
            <a:rect l="l" t="t" r="r" b="b"/>
            <a:pathLst>
              <a:path w="5824220" h="1094104">
                <a:moveTo>
                  <a:pt x="5074539" y="0"/>
                </a:moveTo>
                <a:lnTo>
                  <a:pt x="3397250" y="262509"/>
                </a:lnTo>
                <a:lnTo>
                  <a:pt x="0" y="262509"/>
                </a:lnTo>
                <a:lnTo>
                  <a:pt x="0" y="1093851"/>
                </a:lnTo>
                <a:lnTo>
                  <a:pt x="5823966" y="1093851"/>
                </a:lnTo>
                <a:lnTo>
                  <a:pt x="5823966" y="262509"/>
                </a:lnTo>
                <a:lnTo>
                  <a:pt x="4853305" y="262509"/>
                </a:lnTo>
                <a:lnTo>
                  <a:pt x="5074539" y="0"/>
                </a:lnTo>
                <a:close/>
              </a:path>
            </a:pathLst>
          </a:custGeom>
          <a:solidFill>
            <a:srgbClr val="083C8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774700" y="3850385"/>
            <a:ext cx="11283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Cambria Math"/>
                <a:cs typeface="Cambria Math"/>
              </a:rPr>
              <a:t>𝑫[𝒊]</a:t>
            </a:r>
            <a:r>
              <a:rPr sz="2400" spc="114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endParaRPr sz="2400" dirty="0">
              <a:latin typeface="Cambria Math"/>
              <a:cs typeface="Cambria Math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134870" y="3735069"/>
            <a:ext cx="258445" cy="283210"/>
          </a:xfrm>
          <a:custGeom>
            <a:avLst/>
            <a:gdLst/>
            <a:ahLst/>
            <a:cxnLst/>
            <a:rect l="l" t="t" r="r" b="b"/>
            <a:pathLst>
              <a:path w="258444" h="28321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1780"/>
                </a:lnTo>
                <a:lnTo>
                  <a:pt x="0" y="283210"/>
                </a:lnTo>
                <a:lnTo>
                  <a:pt x="66421" y="283210"/>
                </a:lnTo>
                <a:lnTo>
                  <a:pt x="66421" y="271780"/>
                </a:lnTo>
                <a:lnTo>
                  <a:pt x="24638" y="271780"/>
                </a:lnTo>
                <a:lnTo>
                  <a:pt x="24638" y="1143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  <a:path w="258444" h="283210">
                <a:moveTo>
                  <a:pt x="258318" y="0"/>
                </a:moveTo>
                <a:lnTo>
                  <a:pt x="191897" y="0"/>
                </a:lnTo>
                <a:lnTo>
                  <a:pt x="191897" y="11430"/>
                </a:lnTo>
                <a:lnTo>
                  <a:pt x="233553" y="11430"/>
                </a:lnTo>
                <a:lnTo>
                  <a:pt x="233553" y="271780"/>
                </a:lnTo>
                <a:lnTo>
                  <a:pt x="191897" y="271780"/>
                </a:lnTo>
                <a:lnTo>
                  <a:pt x="191897" y="283210"/>
                </a:lnTo>
                <a:lnTo>
                  <a:pt x="258318" y="283210"/>
                </a:lnTo>
                <a:lnTo>
                  <a:pt x="258318" y="271780"/>
                </a:lnTo>
                <a:lnTo>
                  <a:pt x="258318" y="11430"/>
                </a:lnTo>
                <a:lnTo>
                  <a:pt x="258318" y="0"/>
                </a:lnTo>
                <a:close/>
              </a:path>
            </a:pathLst>
          </a:custGeom>
          <a:solidFill>
            <a:srgbClr val="FF9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877314" y="3646170"/>
            <a:ext cx="20872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17220" algn="l"/>
              </a:tabLst>
            </a:pP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𝑿</a:t>
            </a:r>
            <a:r>
              <a:rPr sz="2400" spc="305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 spc="-50">
                <a:solidFill>
                  <a:srgbClr val="FF9200"/>
                </a:solidFill>
                <a:latin typeface="Cambria Math"/>
                <a:cs typeface="Cambria Math"/>
              </a:rPr>
              <a:t>𝒊</a:t>
            </a: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	+</a:t>
            </a:r>
            <a:r>
              <a:rPr sz="2400" spc="-5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𝑫[𝒊</a:t>
            </a:r>
            <a:r>
              <a:rPr sz="2400" spc="-10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+ </a:t>
            </a:r>
            <a:r>
              <a:rPr sz="2400" spc="-25">
                <a:solidFill>
                  <a:srgbClr val="FF9200"/>
                </a:solidFill>
                <a:latin typeface="Cambria Math"/>
                <a:cs typeface="Cambria Math"/>
              </a:rPr>
              <a:t>𝟏],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865628" y="4130039"/>
            <a:ext cx="258445" cy="283210"/>
          </a:xfrm>
          <a:custGeom>
            <a:avLst/>
            <a:gdLst/>
            <a:ahLst/>
            <a:cxnLst/>
            <a:rect l="l" t="t" r="r" b="b"/>
            <a:pathLst>
              <a:path w="258444" h="28321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1780"/>
                </a:lnTo>
                <a:lnTo>
                  <a:pt x="0" y="283210"/>
                </a:lnTo>
                <a:lnTo>
                  <a:pt x="66421" y="283210"/>
                </a:lnTo>
                <a:lnTo>
                  <a:pt x="66421" y="271780"/>
                </a:lnTo>
                <a:lnTo>
                  <a:pt x="24638" y="271780"/>
                </a:lnTo>
                <a:lnTo>
                  <a:pt x="24638" y="1143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  <a:path w="258444" h="283210">
                <a:moveTo>
                  <a:pt x="258318" y="0"/>
                </a:moveTo>
                <a:lnTo>
                  <a:pt x="191897" y="0"/>
                </a:lnTo>
                <a:lnTo>
                  <a:pt x="191897" y="11430"/>
                </a:lnTo>
                <a:lnTo>
                  <a:pt x="233553" y="11430"/>
                </a:lnTo>
                <a:lnTo>
                  <a:pt x="233553" y="271780"/>
                </a:lnTo>
                <a:lnTo>
                  <a:pt x="191897" y="271780"/>
                </a:lnTo>
                <a:lnTo>
                  <a:pt x="191897" y="283210"/>
                </a:lnTo>
                <a:lnTo>
                  <a:pt x="258318" y="283210"/>
                </a:lnTo>
                <a:lnTo>
                  <a:pt x="258318" y="271780"/>
                </a:lnTo>
                <a:lnTo>
                  <a:pt x="258318" y="11430"/>
                </a:lnTo>
                <a:lnTo>
                  <a:pt x="25831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2608072" y="4040885"/>
            <a:ext cx="6254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𝑿</a:t>
            </a:r>
            <a:r>
              <a:rPr sz="2400" spc="30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𝒊</a:t>
            </a:r>
            <a:r>
              <a:rPr sz="2400" spc="30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 spc="-50">
                <a:solidFill>
                  <a:srgbClr val="FFFFFF"/>
                </a:solidFill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242561" y="3617214"/>
            <a:ext cx="2056130" cy="81534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𝒊𝒇</a:t>
            </a:r>
            <a:r>
              <a:rPr sz="2400" spc="-15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𝑫[𝒊</a:t>
            </a:r>
            <a:r>
              <a:rPr sz="2400" spc="-10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+</a:t>
            </a:r>
            <a:r>
              <a:rPr sz="2400" spc="-5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𝟏]</a:t>
            </a:r>
            <a:r>
              <a:rPr sz="2400" spc="130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&gt;</a:t>
            </a:r>
            <a:r>
              <a:rPr sz="2400" spc="135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 spc="-50">
                <a:solidFill>
                  <a:srgbClr val="FF9200"/>
                </a:solidFill>
                <a:latin typeface="Cambria Math"/>
                <a:cs typeface="Cambria Math"/>
              </a:rPr>
              <a:t>𝟎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𝒊𝒇</a:t>
            </a:r>
            <a:r>
              <a:rPr sz="2400" spc="-1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𝑫[𝒊</a:t>
            </a:r>
            <a:r>
              <a:rPr sz="2400" spc="-1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+</a:t>
            </a:r>
            <a:r>
              <a:rPr sz="2400" spc="-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𝟏]</a:t>
            </a:r>
            <a:r>
              <a:rPr sz="2400" spc="13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≤</a:t>
            </a:r>
            <a:r>
              <a:rPr sz="2400" spc="13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 spc="-50">
                <a:solidFill>
                  <a:srgbClr val="FFFFFF"/>
                </a:solidFill>
                <a:latin typeface="Cambria Math"/>
                <a:cs typeface="Cambria Math"/>
              </a:rPr>
              <a:t>𝟎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2" name="object 3">
            <a:extLst>
              <a:ext uri="{FF2B5EF4-FFF2-40B4-BE49-F238E27FC236}">
                <a16:creationId xmlns:a16="http://schemas.microsoft.com/office/drawing/2014/main" id="{BF16F2A2-8415-F140-82A0-344DBDD2C8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4440" y="171164"/>
            <a:ext cx="250444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562225" y="1377314"/>
            <a:ext cx="7449820" cy="792480"/>
            <a:chOff x="2562225" y="1377314"/>
            <a:chExt cx="7449820" cy="792480"/>
          </a:xfrm>
        </p:grpSpPr>
        <p:sp>
          <p:nvSpPr>
            <p:cNvPr id="3" name="object 3"/>
            <p:cNvSpPr/>
            <p:nvPr/>
          </p:nvSpPr>
          <p:spPr>
            <a:xfrm>
              <a:off x="2562225" y="1377314"/>
              <a:ext cx="7449820" cy="792480"/>
            </a:xfrm>
            <a:custGeom>
              <a:avLst/>
              <a:gdLst/>
              <a:ahLst/>
              <a:cxnLst/>
              <a:rect l="l" t="t" r="r" b="b"/>
              <a:pathLst>
                <a:path w="7449820" h="792480">
                  <a:moveTo>
                    <a:pt x="7449820" y="0"/>
                  </a:moveTo>
                  <a:lnTo>
                    <a:pt x="0" y="0"/>
                  </a:lnTo>
                  <a:lnTo>
                    <a:pt x="0" y="792479"/>
                  </a:lnTo>
                  <a:lnTo>
                    <a:pt x="7449820" y="792479"/>
                  </a:lnTo>
                  <a:lnTo>
                    <a:pt x="744982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854448" y="1773554"/>
              <a:ext cx="573405" cy="396240"/>
            </a:xfrm>
            <a:custGeom>
              <a:avLst/>
              <a:gdLst/>
              <a:ahLst/>
              <a:cxnLst/>
              <a:rect l="l" t="t" r="r" b="b"/>
              <a:pathLst>
                <a:path w="573404" h="396239">
                  <a:moveTo>
                    <a:pt x="573062" y="0"/>
                  </a:moveTo>
                  <a:lnTo>
                    <a:pt x="0" y="0"/>
                  </a:lnTo>
                  <a:lnTo>
                    <a:pt x="0" y="396239"/>
                  </a:lnTo>
                  <a:lnTo>
                    <a:pt x="573062" y="396239"/>
                  </a:lnTo>
                  <a:lnTo>
                    <a:pt x="573062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555875" y="1370964"/>
          <a:ext cx="7446008" cy="791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2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222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222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2152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2152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222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152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17272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555875" y="2537079"/>
          <a:ext cx="7446008" cy="791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2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28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23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25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555875" y="4638675"/>
          <a:ext cx="7446008" cy="791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2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215265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215265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08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172720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08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171450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08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1969516" y="1723135"/>
            <a:ext cx="277495" cy="1557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𝑿</a:t>
            </a:r>
            <a:endParaRPr sz="24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endParaRPr sz="24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50">
              <a:latin typeface="Cambria Math"/>
              <a:cs typeface="Cambria Math"/>
            </a:endParaRPr>
          </a:p>
          <a:p>
            <a:pPr marL="35560">
              <a:lnSpc>
                <a:spcPct val="100000"/>
              </a:lnSpc>
              <a:spcBef>
                <a:spcPts val="5"/>
              </a:spcBef>
            </a:pPr>
            <a:r>
              <a:rPr sz="2400" spc="-50">
                <a:latin typeface="Cambria Math"/>
                <a:cs typeface="Cambria Math"/>
              </a:rPr>
              <a:t>𝑫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948428" y="2939033"/>
            <a:ext cx="396240" cy="386715"/>
          </a:xfrm>
          <a:custGeom>
            <a:avLst/>
            <a:gdLst/>
            <a:ahLst/>
            <a:cxnLst/>
            <a:rect l="l" t="t" r="r" b="b"/>
            <a:pathLst>
              <a:path w="396239" h="386714">
                <a:moveTo>
                  <a:pt x="0" y="64388"/>
                </a:moveTo>
                <a:lnTo>
                  <a:pt x="5060" y="39326"/>
                </a:lnTo>
                <a:lnTo>
                  <a:pt x="18859" y="18859"/>
                </a:lnTo>
                <a:lnTo>
                  <a:pt x="39326" y="5060"/>
                </a:lnTo>
                <a:lnTo>
                  <a:pt x="64388" y="0"/>
                </a:lnTo>
                <a:lnTo>
                  <a:pt x="331850" y="0"/>
                </a:lnTo>
                <a:lnTo>
                  <a:pt x="356913" y="5060"/>
                </a:lnTo>
                <a:lnTo>
                  <a:pt x="377380" y="18859"/>
                </a:lnTo>
                <a:lnTo>
                  <a:pt x="391179" y="39326"/>
                </a:lnTo>
                <a:lnTo>
                  <a:pt x="396239" y="64388"/>
                </a:lnTo>
                <a:lnTo>
                  <a:pt x="396239" y="321944"/>
                </a:lnTo>
                <a:lnTo>
                  <a:pt x="391179" y="347007"/>
                </a:lnTo>
                <a:lnTo>
                  <a:pt x="377380" y="367474"/>
                </a:lnTo>
                <a:lnTo>
                  <a:pt x="356913" y="381273"/>
                </a:lnTo>
                <a:lnTo>
                  <a:pt x="331850" y="386333"/>
                </a:lnTo>
                <a:lnTo>
                  <a:pt x="64388" y="386333"/>
                </a:lnTo>
                <a:lnTo>
                  <a:pt x="39326" y="381273"/>
                </a:lnTo>
                <a:lnTo>
                  <a:pt x="18859" y="367474"/>
                </a:lnTo>
                <a:lnTo>
                  <a:pt x="5060" y="347007"/>
                </a:lnTo>
                <a:lnTo>
                  <a:pt x="0" y="321944"/>
                </a:lnTo>
                <a:lnTo>
                  <a:pt x="0" y="64388"/>
                </a:lnTo>
                <a:close/>
              </a:path>
            </a:pathLst>
          </a:custGeom>
          <a:ln w="44450">
            <a:solidFill>
              <a:srgbClr val="006FC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840229" y="4991100"/>
            <a:ext cx="5594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>
                <a:latin typeface="Cambria Math"/>
                <a:cs typeface="Cambria Math"/>
              </a:rPr>
              <a:t>𝑹𝒆𝒄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948428" y="1741932"/>
            <a:ext cx="396240" cy="387350"/>
          </a:xfrm>
          <a:custGeom>
            <a:avLst/>
            <a:gdLst/>
            <a:ahLst/>
            <a:cxnLst/>
            <a:rect l="l" t="t" r="r" b="b"/>
            <a:pathLst>
              <a:path w="396239" h="387350">
                <a:moveTo>
                  <a:pt x="0" y="64515"/>
                </a:moveTo>
                <a:lnTo>
                  <a:pt x="5062" y="39379"/>
                </a:lnTo>
                <a:lnTo>
                  <a:pt x="18875" y="18875"/>
                </a:lnTo>
                <a:lnTo>
                  <a:pt x="39379" y="5062"/>
                </a:lnTo>
                <a:lnTo>
                  <a:pt x="64516" y="0"/>
                </a:lnTo>
                <a:lnTo>
                  <a:pt x="331724" y="0"/>
                </a:lnTo>
                <a:lnTo>
                  <a:pt x="356860" y="5062"/>
                </a:lnTo>
                <a:lnTo>
                  <a:pt x="377364" y="18875"/>
                </a:lnTo>
                <a:lnTo>
                  <a:pt x="391177" y="39379"/>
                </a:lnTo>
                <a:lnTo>
                  <a:pt x="396239" y="64515"/>
                </a:lnTo>
                <a:lnTo>
                  <a:pt x="396239" y="322579"/>
                </a:lnTo>
                <a:lnTo>
                  <a:pt x="391177" y="347716"/>
                </a:lnTo>
                <a:lnTo>
                  <a:pt x="377364" y="368220"/>
                </a:lnTo>
                <a:lnTo>
                  <a:pt x="356860" y="382033"/>
                </a:lnTo>
                <a:lnTo>
                  <a:pt x="331724" y="387095"/>
                </a:lnTo>
                <a:lnTo>
                  <a:pt x="64516" y="387095"/>
                </a:lnTo>
                <a:lnTo>
                  <a:pt x="39379" y="382033"/>
                </a:lnTo>
                <a:lnTo>
                  <a:pt x="18875" y="368220"/>
                </a:lnTo>
                <a:lnTo>
                  <a:pt x="5062" y="347716"/>
                </a:lnTo>
                <a:lnTo>
                  <a:pt x="0" y="322579"/>
                </a:lnTo>
                <a:lnTo>
                  <a:pt x="0" y="64515"/>
                </a:lnTo>
                <a:close/>
              </a:path>
            </a:pathLst>
          </a:custGeom>
          <a:ln w="44449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948428" y="5051297"/>
            <a:ext cx="396240" cy="386715"/>
          </a:xfrm>
          <a:custGeom>
            <a:avLst/>
            <a:gdLst/>
            <a:ahLst/>
            <a:cxnLst/>
            <a:rect l="l" t="t" r="r" b="b"/>
            <a:pathLst>
              <a:path w="396239" h="386714">
                <a:moveTo>
                  <a:pt x="0" y="64388"/>
                </a:moveTo>
                <a:lnTo>
                  <a:pt x="5060" y="39326"/>
                </a:lnTo>
                <a:lnTo>
                  <a:pt x="18859" y="18859"/>
                </a:lnTo>
                <a:lnTo>
                  <a:pt x="39326" y="5060"/>
                </a:lnTo>
                <a:lnTo>
                  <a:pt x="64388" y="0"/>
                </a:lnTo>
                <a:lnTo>
                  <a:pt x="331850" y="0"/>
                </a:lnTo>
                <a:lnTo>
                  <a:pt x="356913" y="5060"/>
                </a:lnTo>
                <a:lnTo>
                  <a:pt x="377380" y="18859"/>
                </a:lnTo>
                <a:lnTo>
                  <a:pt x="391179" y="39326"/>
                </a:lnTo>
                <a:lnTo>
                  <a:pt x="396239" y="64388"/>
                </a:lnTo>
                <a:lnTo>
                  <a:pt x="396239" y="321944"/>
                </a:lnTo>
                <a:lnTo>
                  <a:pt x="391179" y="347007"/>
                </a:lnTo>
                <a:lnTo>
                  <a:pt x="377380" y="367474"/>
                </a:lnTo>
                <a:lnTo>
                  <a:pt x="356913" y="381273"/>
                </a:lnTo>
                <a:lnTo>
                  <a:pt x="331850" y="386333"/>
                </a:lnTo>
                <a:lnTo>
                  <a:pt x="64388" y="386333"/>
                </a:lnTo>
                <a:lnTo>
                  <a:pt x="39326" y="381273"/>
                </a:lnTo>
                <a:lnTo>
                  <a:pt x="18859" y="367474"/>
                </a:lnTo>
                <a:lnTo>
                  <a:pt x="5060" y="347007"/>
                </a:lnTo>
                <a:lnTo>
                  <a:pt x="0" y="321944"/>
                </a:lnTo>
                <a:lnTo>
                  <a:pt x="0" y="64388"/>
                </a:lnTo>
                <a:close/>
              </a:path>
            </a:pathLst>
          </a:custGeom>
          <a:ln w="44450">
            <a:solidFill>
              <a:srgbClr val="006FC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494020" y="2939033"/>
            <a:ext cx="396240" cy="386715"/>
          </a:xfrm>
          <a:custGeom>
            <a:avLst/>
            <a:gdLst/>
            <a:ahLst/>
            <a:cxnLst/>
            <a:rect l="l" t="t" r="r" b="b"/>
            <a:pathLst>
              <a:path w="396239" h="386714">
                <a:moveTo>
                  <a:pt x="0" y="64388"/>
                </a:moveTo>
                <a:lnTo>
                  <a:pt x="5060" y="39326"/>
                </a:lnTo>
                <a:lnTo>
                  <a:pt x="18859" y="18859"/>
                </a:lnTo>
                <a:lnTo>
                  <a:pt x="39326" y="5060"/>
                </a:lnTo>
                <a:lnTo>
                  <a:pt x="64388" y="0"/>
                </a:lnTo>
                <a:lnTo>
                  <a:pt x="331850" y="0"/>
                </a:lnTo>
                <a:lnTo>
                  <a:pt x="356913" y="5060"/>
                </a:lnTo>
                <a:lnTo>
                  <a:pt x="377380" y="18859"/>
                </a:lnTo>
                <a:lnTo>
                  <a:pt x="391179" y="39326"/>
                </a:lnTo>
                <a:lnTo>
                  <a:pt x="396239" y="64388"/>
                </a:lnTo>
                <a:lnTo>
                  <a:pt x="396239" y="321944"/>
                </a:lnTo>
                <a:lnTo>
                  <a:pt x="391179" y="347007"/>
                </a:lnTo>
                <a:lnTo>
                  <a:pt x="377380" y="367474"/>
                </a:lnTo>
                <a:lnTo>
                  <a:pt x="356913" y="381273"/>
                </a:lnTo>
                <a:lnTo>
                  <a:pt x="331850" y="386333"/>
                </a:lnTo>
                <a:lnTo>
                  <a:pt x="64388" y="386333"/>
                </a:lnTo>
                <a:lnTo>
                  <a:pt x="39326" y="381273"/>
                </a:lnTo>
                <a:lnTo>
                  <a:pt x="18859" y="367474"/>
                </a:lnTo>
                <a:lnTo>
                  <a:pt x="5060" y="347007"/>
                </a:lnTo>
                <a:lnTo>
                  <a:pt x="0" y="321944"/>
                </a:lnTo>
                <a:lnTo>
                  <a:pt x="0" y="64388"/>
                </a:lnTo>
                <a:close/>
              </a:path>
            </a:pathLst>
          </a:custGeom>
          <a:ln w="4445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81355" y="3379851"/>
            <a:ext cx="5824220" cy="1094105"/>
          </a:xfrm>
          <a:custGeom>
            <a:avLst/>
            <a:gdLst/>
            <a:ahLst/>
            <a:cxnLst/>
            <a:rect l="l" t="t" r="r" b="b"/>
            <a:pathLst>
              <a:path w="5824220" h="1094104">
                <a:moveTo>
                  <a:pt x="5074539" y="0"/>
                </a:moveTo>
                <a:lnTo>
                  <a:pt x="3397250" y="262509"/>
                </a:lnTo>
                <a:lnTo>
                  <a:pt x="0" y="262509"/>
                </a:lnTo>
                <a:lnTo>
                  <a:pt x="0" y="1093851"/>
                </a:lnTo>
                <a:lnTo>
                  <a:pt x="5823966" y="1093851"/>
                </a:lnTo>
                <a:lnTo>
                  <a:pt x="5823966" y="262509"/>
                </a:lnTo>
                <a:lnTo>
                  <a:pt x="4853305" y="262509"/>
                </a:lnTo>
                <a:lnTo>
                  <a:pt x="5074539" y="0"/>
                </a:lnTo>
                <a:close/>
              </a:path>
            </a:pathLst>
          </a:custGeom>
          <a:solidFill>
            <a:srgbClr val="083C8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54000" y="3850385"/>
            <a:ext cx="11283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Cambria Math"/>
                <a:cs typeface="Cambria Math"/>
              </a:rPr>
              <a:t>𝑫[𝒊]</a:t>
            </a:r>
            <a:r>
              <a:rPr sz="2400" spc="114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endParaRPr sz="2400" dirty="0">
              <a:latin typeface="Cambria Math"/>
              <a:cs typeface="Cambria Math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614297" y="3735069"/>
            <a:ext cx="258445" cy="283210"/>
          </a:xfrm>
          <a:custGeom>
            <a:avLst/>
            <a:gdLst/>
            <a:ahLst/>
            <a:cxnLst/>
            <a:rect l="l" t="t" r="r" b="b"/>
            <a:pathLst>
              <a:path w="258444" h="28321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1780"/>
                </a:lnTo>
                <a:lnTo>
                  <a:pt x="0" y="283210"/>
                </a:lnTo>
                <a:lnTo>
                  <a:pt x="66421" y="283210"/>
                </a:lnTo>
                <a:lnTo>
                  <a:pt x="66421" y="271780"/>
                </a:lnTo>
                <a:lnTo>
                  <a:pt x="24765" y="271780"/>
                </a:lnTo>
                <a:lnTo>
                  <a:pt x="24765" y="1143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  <a:path w="258444" h="283210">
                <a:moveTo>
                  <a:pt x="258318" y="0"/>
                </a:moveTo>
                <a:lnTo>
                  <a:pt x="192024" y="0"/>
                </a:lnTo>
                <a:lnTo>
                  <a:pt x="192024" y="11430"/>
                </a:lnTo>
                <a:lnTo>
                  <a:pt x="233680" y="11430"/>
                </a:lnTo>
                <a:lnTo>
                  <a:pt x="233680" y="271780"/>
                </a:lnTo>
                <a:lnTo>
                  <a:pt x="192024" y="271780"/>
                </a:lnTo>
                <a:lnTo>
                  <a:pt x="192024" y="283210"/>
                </a:lnTo>
                <a:lnTo>
                  <a:pt x="258318" y="283210"/>
                </a:lnTo>
                <a:lnTo>
                  <a:pt x="258318" y="271780"/>
                </a:lnTo>
                <a:lnTo>
                  <a:pt x="258318" y="11430"/>
                </a:lnTo>
                <a:lnTo>
                  <a:pt x="258318" y="0"/>
                </a:lnTo>
                <a:close/>
              </a:path>
            </a:pathLst>
          </a:custGeom>
          <a:solidFill>
            <a:srgbClr val="FF9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356613" y="3646170"/>
            <a:ext cx="20872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17855" algn="l"/>
              </a:tabLst>
            </a:pP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𝑿</a:t>
            </a:r>
            <a:r>
              <a:rPr sz="2400" spc="310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 spc="-50">
                <a:solidFill>
                  <a:srgbClr val="FF9200"/>
                </a:solidFill>
                <a:latin typeface="Cambria Math"/>
                <a:cs typeface="Cambria Math"/>
              </a:rPr>
              <a:t>𝒊</a:t>
            </a: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	+</a:t>
            </a:r>
            <a:r>
              <a:rPr sz="2400" spc="-5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𝑫[𝒊</a:t>
            </a:r>
            <a:r>
              <a:rPr sz="2400" spc="-10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+ </a:t>
            </a:r>
            <a:r>
              <a:rPr sz="2400" spc="-25">
                <a:solidFill>
                  <a:srgbClr val="FF9200"/>
                </a:solidFill>
                <a:latin typeface="Cambria Math"/>
                <a:cs typeface="Cambria Math"/>
              </a:rPr>
              <a:t>𝟏],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345055" y="4130039"/>
            <a:ext cx="258445" cy="283210"/>
          </a:xfrm>
          <a:custGeom>
            <a:avLst/>
            <a:gdLst/>
            <a:ahLst/>
            <a:cxnLst/>
            <a:rect l="l" t="t" r="r" b="b"/>
            <a:pathLst>
              <a:path w="258444" h="28321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1780"/>
                </a:lnTo>
                <a:lnTo>
                  <a:pt x="0" y="283210"/>
                </a:lnTo>
                <a:lnTo>
                  <a:pt x="66421" y="283210"/>
                </a:lnTo>
                <a:lnTo>
                  <a:pt x="66421" y="271780"/>
                </a:lnTo>
                <a:lnTo>
                  <a:pt x="24765" y="271780"/>
                </a:lnTo>
                <a:lnTo>
                  <a:pt x="24765" y="1143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  <a:path w="258444" h="283210">
                <a:moveTo>
                  <a:pt x="258318" y="0"/>
                </a:moveTo>
                <a:lnTo>
                  <a:pt x="192024" y="0"/>
                </a:lnTo>
                <a:lnTo>
                  <a:pt x="192024" y="11430"/>
                </a:lnTo>
                <a:lnTo>
                  <a:pt x="233680" y="11430"/>
                </a:lnTo>
                <a:lnTo>
                  <a:pt x="233680" y="271780"/>
                </a:lnTo>
                <a:lnTo>
                  <a:pt x="192024" y="271780"/>
                </a:lnTo>
                <a:lnTo>
                  <a:pt x="192024" y="283210"/>
                </a:lnTo>
                <a:lnTo>
                  <a:pt x="258318" y="283210"/>
                </a:lnTo>
                <a:lnTo>
                  <a:pt x="258318" y="271780"/>
                </a:lnTo>
                <a:lnTo>
                  <a:pt x="258318" y="11430"/>
                </a:lnTo>
                <a:lnTo>
                  <a:pt x="25831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2087626" y="4040885"/>
            <a:ext cx="6254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𝑿</a:t>
            </a:r>
            <a:r>
              <a:rPr sz="2400" spc="30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𝒊</a:t>
            </a:r>
            <a:r>
              <a:rPr sz="2400" spc="30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 spc="-50">
                <a:solidFill>
                  <a:srgbClr val="FFFFFF"/>
                </a:solidFill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722115" y="3617214"/>
            <a:ext cx="2056130" cy="81534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𝒊𝒇</a:t>
            </a:r>
            <a:r>
              <a:rPr sz="2400" spc="-10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𝑫[𝒊</a:t>
            </a:r>
            <a:r>
              <a:rPr sz="2400" spc="-10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+</a:t>
            </a:r>
            <a:r>
              <a:rPr sz="2400" spc="-5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𝟏]</a:t>
            </a:r>
            <a:r>
              <a:rPr sz="2400" spc="130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&gt;</a:t>
            </a:r>
            <a:r>
              <a:rPr sz="2400" spc="140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 spc="-50">
                <a:solidFill>
                  <a:srgbClr val="FF9200"/>
                </a:solidFill>
                <a:latin typeface="Cambria Math"/>
                <a:cs typeface="Cambria Math"/>
              </a:rPr>
              <a:t>𝟎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𝒊𝒇</a:t>
            </a:r>
            <a:r>
              <a:rPr sz="2400" spc="-1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𝑫[𝒊</a:t>
            </a:r>
            <a:r>
              <a:rPr sz="2400" spc="-1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+</a:t>
            </a:r>
            <a:r>
              <a:rPr sz="2400" spc="-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𝟏]</a:t>
            </a:r>
            <a:r>
              <a:rPr sz="2400" spc="13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≤</a:t>
            </a:r>
            <a:r>
              <a:rPr sz="2400" spc="14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 spc="-50">
                <a:solidFill>
                  <a:srgbClr val="FFFFFF"/>
                </a:solidFill>
                <a:latin typeface="Cambria Math"/>
                <a:cs typeface="Cambria Math"/>
              </a:rPr>
              <a:t>𝟎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2" name="object 3">
            <a:extLst>
              <a:ext uri="{FF2B5EF4-FFF2-40B4-BE49-F238E27FC236}">
                <a16:creationId xmlns:a16="http://schemas.microsoft.com/office/drawing/2014/main" id="{A44A24BB-A2A8-FE41-97A2-EA08900E7F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4440" y="171164"/>
            <a:ext cx="250444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562225" y="1377314"/>
            <a:ext cx="7449820" cy="792480"/>
            <a:chOff x="2562225" y="1377314"/>
            <a:chExt cx="7449820" cy="792480"/>
          </a:xfrm>
        </p:grpSpPr>
        <p:sp>
          <p:nvSpPr>
            <p:cNvPr id="3" name="object 3"/>
            <p:cNvSpPr/>
            <p:nvPr/>
          </p:nvSpPr>
          <p:spPr>
            <a:xfrm>
              <a:off x="2562225" y="1377314"/>
              <a:ext cx="7449820" cy="792480"/>
            </a:xfrm>
            <a:custGeom>
              <a:avLst/>
              <a:gdLst/>
              <a:ahLst/>
              <a:cxnLst/>
              <a:rect l="l" t="t" r="r" b="b"/>
              <a:pathLst>
                <a:path w="7449820" h="792480">
                  <a:moveTo>
                    <a:pt x="7449820" y="0"/>
                  </a:moveTo>
                  <a:lnTo>
                    <a:pt x="0" y="0"/>
                  </a:lnTo>
                  <a:lnTo>
                    <a:pt x="0" y="792479"/>
                  </a:lnTo>
                  <a:lnTo>
                    <a:pt x="7449820" y="792479"/>
                  </a:lnTo>
                  <a:lnTo>
                    <a:pt x="744982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281423" y="1773554"/>
              <a:ext cx="573405" cy="396240"/>
            </a:xfrm>
            <a:custGeom>
              <a:avLst/>
              <a:gdLst/>
              <a:ahLst/>
              <a:cxnLst/>
              <a:rect l="l" t="t" r="r" b="b"/>
              <a:pathLst>
                <a:path w="573404" h="396239">
                  <a:moveTo>
                    <a:pt x="573062" y="0"/>
                  </a:moveTo>
                  <a:lnTo>
                    <a:pt x="0" y="0"/>
                  </a:lnTo>
                  <a:lnTo>
                    <a:pt x="0" y="396239"/>
                  </a:lnTo>
                  <a:lnTo>
                    <a:pt x="573062" y="396239"/>
                  </a:lnTo>
                  <a:lnTo>
                    <a:pt x="573062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555875" y="1370964"/>
          <a:ext cx="7446008" cy="791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2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222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222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2152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2152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2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152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17272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555875" y="2537079"/>
          <a:ext cx="7446008" cy="791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2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32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28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23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25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555875" y="4638675"/>
          <a:ext cx="7446008" cy="791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2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215265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215265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08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08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172720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08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171450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08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1969516" y="1723135"/>
            <a:ext cx="277495" cy="1557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𝑿</a:t>
            </a:r>
            <a:endParaRPr sz="24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endParaRPr sz="24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50">
              <a:latin typeface="Cambria Math"/>
              <a:cs typeface="Cambria Math"/>
            </a:endParaRPr>
          </a:p>
          <a:p>
            <a:pPr marL="35560">
              <a:lnSpc>
                <a:spcPct val="100000"/>
              </a:lnSpc>
              <a:spcBef>
                <a:spcPts val="5"/>
              </a:spcBef>
            </a:pPr>
            <a:r>
              <a:rPr sz="2400" spc="-50">
                <a:latin typeface="Cambria Math"/>
                <a:cs typeface="Cambria Math"/>
              </a:rPr>
              <a:t>𝑫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399788" y="2939033"/>
            <a:ext cx="396240" cy="386715"/>
          </a:xfrm>
          <a:custGeom>
            <a:avLst/>
            <a:gdLst/>
            <a:ahLst/>
            <a:cxnLst/>
            <a:rect l="l" t="t" r="r" b="b"/>
            <a:pathLst>
              <a:path w="396239" h="386714">
                <a:moveTo>
                  <a:pt x="0" y="64388"/>
                </a:moveTo>
                <a:lnTo>
                  <a:pt x="5060" y="39326"/>
                </a:lnTo>
                <a:lnTo>
                  <a:pt x="18859" y="18859"/>
                </a:lnTo>
                <a:lnTo>
                  <a:pt x="39326" y="5060"/>
                </a:lnTo>
                <a:lnTo>
                  <a:pt x="64388" y="0"/>
                </a:lnTo>
                <a:lnTo>
                  <a:pt x="331850" y="0"/>
                </a:lnTo>
                <a:lnTo>
                  <a:pt x="356913" y="5060"/>
                </a:lnTo>
                <a:lnTo>
                  <a:pt x="377380" y="18859"/>
                </a:lnTo>
                <a:lnTo>
                  <a:pt x="391179" y="39326"/>
                </a:lnTo>
                <a:lnTo>
                  <a:pt x="396239" y="64388"/>
                </a:lnTo>
                <a:lnTo>
                  <a:pt x="396239" y="321944"/>
                </a:lnTo>
                <a:lnTo>
                  <a:pt x="391179" y="347007"/>
                </a:lnTo>
                <a:lnTo>
                  <a:pt x="377380" y="367474"/>
                </a:lnTo>
                <a:lnTo>
                  <a:pt x="356913" y="381273"/>
                </a:lnTo>
                <a:lnTo>
                  <a:pt x="331850" y="386333"/>
                </a:lnTo>
                <a:lnTo>
                  <a:pt x="64388" y="386333"/>
                </a:lnTo>
                <a:lnTo>
                  <a:pt x="39326" y="381273"/>
                </a:lnTo>
                <a:lnTo>
                  <a:pt x="18859" y="367474"/>
                </a:lnTo>
                <a:lnTo>
                  <a:pt x="5060" y="347007"/>
                </a:lnTo>
                <a:lnTo>
                  <a:pt x="0" y="321944"/>
                </a:lnTo>
                <a:lnTo>
                  <a:pt x="0" y="64388"/>
                </a:lnTo>
                <a:close/>
              </a:path>
            </a:pathLst>
          </a:custGeom>
          <a:ln w="44450">
            <a:solidFill>
              <a:srgbClr val="006FC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840229" y="4991100"/>
            <a:ext cx="5594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>
                <a:latin typeface="Cambria Math"/>
                <a:cs typeface="Cambria Math"/>
              </a:rPr>
              <a:t>𝑹𝒆𝒄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399788" y="1741932"/>
            <a:ext cx="396240" cy="387350"/>
          </a:xfrm>
          <a:custGeom>
            <a:avLst/>
            <a:gdLst/>
            <a:ahLst/>
            <a:cxnLst/>
            <a:rect l="l" t="t" r="r" b="b"/>
            <a:pathLst>
              <a:path w="396239" h="387350">
                <a:moveTo>
                  <a:pt x="0" y="64515"/>
                </a:moveTo>
                <a:lnTo>
                  <a:pt x="5062" y="39379"/>
                </a:lnTo>
                <a:lnTo>
                  <a:pt x="18875" y="18875"/>
                </a:lnTo>
                <a:lnTo>
                  <a:pt x="39379" y="5062"/>
                </a:lnTo>
                <a:lnTo>
                  <a:pt x="64515" y="0"/>
                </a:lnTo>
                <a:lnTo>
                  <a:pt x="331724" y="0"/>
                </a:lnTo>
                <a:lnTo>
                  <a:pt x="356860" y="5062"/>
                </a:lnTo>
                <a:lnTo>
                  <a:pt x="377364" y="18875"/>
                </a:lnTo>
                <a:lnTo>
                  <a:pt x="391177" y="39379"/>
                </a:lnTo>
                <a:lnTo>
                  <a:pt x="396239" y="64515"/>
                </a:lnTo>
                <a:lnTo>
                  <a:pt x="396239" y="322579"/>
                </a:lnTo>
                <a:lnTo>
                  <a:pt x="391177" y="347716"/>
                </a:lnTo>
                <a:lnTo>
                  <a:pt x="377364" y="368220"/>
                </a:lnTo>
                <a:lnTo>
                  <a:pt x="356860" y="382033"/>
                </a:lnTo>
                <a:lnTo>
                  <a:pt x="331724" y="387095"/>
                </a:lnTo>
                <a:lnTo>
                  <a:pt x="64515" y="387095"/>
                </a:lnTo>
                <a:lnTo>
                  <a:pt x="39379" y="382033"/>
                </a:lnTo>
                <a:lnTo>
                  <a:pt x="18875" y="368220"/>
                </a:lnTo>
                <a:lnTo>
                  <a:pt x="5062" y="347716"/>
                </a:lnTo>
                <a:lnTo>
                  <a:pt x="0" y="322579"/>
                </a:lnTo>
                <a:lnTo>
                  <a:pt x="0" y="64515"/>
                </a:lnTo>
                <a:close/>
              </a:path>
            </a:pathLst>
          </a:custGeom>
          <a:ln w="44449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399788" y="5051297"/>
            <a:ext cx="396240" cy="386715"/>
          </a:xfrm>
          <a:custGeom>
            <a:avLst/>
            <a:gdLst/>
            <a:ahLst/>
            <a:cxnLst/>
            <a:rect l="l" t="t" r="r" b="b"/>
            <a:pathLst>
              <a:path w="396239" h="386714">
                <a:moveTo>
                  <a:pt x="0" y="64388"/>
                </a:moveTo>
                <a:lnTo>
                  <a:pt x="5060" y="39326"/>
                </a:lnTo>
                <a:lnTo>
                  <a:pt x="18859" y="18859"/>
                </a:lnTo>
                <a:lnTo>
                  <a:pt x="39326" y="5060"/>
                </a:lnTo>
                <a:lnTo>
                  <a:pt x="64388" y="0"/>
                </a:lnTo>
                <a:lnTo>
                  <a:pt x="331850" y="0"/>
                </a:lnTo>
                <a:lnTo>
                  <a:pt x="356913" y="5060"/>
                </a:lnTo>
                <a:lnTo>
                  <a:pt x="377380" y="18859"/>
                </a:lnTo>
                <a:lnTo>
                  <a:pt x="391179" y="39326"/>
                </a:lnTo>
                <a:lnTo>
                  <a:pt x="396239" y="64388"/>
                </a:lnTo>
                <a:lnTo>
                  <a:pt x="396239" y="321944"/>
                </a:lnTo>
                <a:lnTo>
                  <a:pt x="391179" y="347007"/>
                </a:lnTo>
                <a:lnTo>
                  <a:pt x="377380" y="367474"/>
                </a:lnTo>
                <a:lnTo>
                  <a:pt x="356913" y="381273"/>
                </a:lnTo>
                <a:lnTo>
                  <a:pt x="331850" y="386333"/>
                </a:lnTo>
                <a:lnTo>
                  <a:pt x="64388" y="386333"/>
                </a:lnTo>
                <a:lnTo>
                  <a:pt x="39326" y="381273"/>
                </a:lnTo>
                <a:lnTo>
                  <a:pt x="18859" y="367474"/>
                </a:lnTo>
                <a:lnTo>
                  <a:pt x="5060" y="347007"/>
                </a:lnTo>
                <a:lnTo>
                  <a:pt x="0" y="321944"/>
                </a:lnTo>
                <a:lnTo>
                  <a:pt x="0" y="64388"/>
                </a:lnTo>
                <a:close/>
              </a:path>
            </a:pathLst>
          </a:custGeom>
          <a:ln w="44450">
            <a:solidFill>
              <a:srgbClr val="006FC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945379" y="2939033"/>
            <a:ext cx="396240" cy="386715"/>
          </a:xfrm>
          <a:custGeom>
            <a:avLst/>
            <a:gdLst/>
            <a:ahLst/>
            <a:cxnLst/>
            <a:rect l="l" t="t" r="r" b="b"/>
            <a:pathLst>
              <a:path w="396239" h="386714">
                <a:moveTo>
                  <a:pt x="0" y="64388"/>
                </a:moveTo>
                <a:lnTo>
                  <a:pt x="5060" y="39326"/>
                </a:lnTo>
                <a:lnTo>
                  <a:pt x="18859" y="18859"/>
                </a:lnTo>
                <a:lnTo>
                  <a:pt x="39326" y="5060"/>
                </a:lnTo>
                <a:lnTo>
                  <a:pt x="64389" y="0"/>
                </a:lnTo>
                <a:lnTo>
                  <a:pt x="331850" y="0"/>
                </a:lnTo>
                <a:lnTo>
                  <a:pt x="356913" y="5060"/>
                </a:lnTo>
                <a:lnTo>
                  <a:pt x="377380" y="18859"/>
                </a:lnTo>
                <a:lnTo>
                  <a:pt x="391179" y="39326"/>
                </a:lnTo>
                <a:lnTo>
                  <a:pt x="396240" y="64388"/>
                </a:lnTo>
                <a:lnTo>
                  <a:pt x="396240" y="321944"/>
                </a:lnTo>
                <a:lnTo>
                  <a:pt x="391179" y="347007"/>
                </a:lnTo>
                <a:lnTo>
                  <a:pt x="377380" y="367474"/>
                </a:lnTo>
                <a:lnTo>
                  <a:pt x="356913" y="381273"/>
                </a:lnTo>
                <a:lnTo>
                  <a:pt x="331850" y="386333"/>
                </a:lnTo>
                <a:lnTo>
                  <a:pt x="64389" y="386333"/>
                </a:lnTo>
                <a:lnTo>
                  <a:pt x="39326" y="381273"/>
                </a:lnTo>
                <a:lnTo>
                  <a:pt x="18859" y="367474"/>
                </a:lnTo>
                <a:lnTo>
                  <a:pt x="5060" y="347007"/>
                </a:lnTo>
                <a:lnTo>
                  <a:pt x="0" y="321944"/>
                </a:lnTo>
                <a:lnTo>
                  <a:pt x="0" y="64388"/>
                </a:lnTo>
                <a:close/>
              </a:path>
            </a:pathLst>
          </a:custGeom>
          <a:ln w="4445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571494" y="3422141"/>
            <a:ext cx="5824220" cy="1051560"/>
          </a:xfrm>
          <a:custGeom>
            <a:avLst/>
            <a:gdLst/>
            <a:ahLst/>
            <a:cxnLst/>
            <a:rect l="l" t="t" r="r" b="b"/>
            <a:pathLst>
              <a:path w="5824220" h="1051560">
                <a:moveTo>
                  <a:pt x="938783" y="0"/>
                </a:moveTo>
                <a:lnTo>
                  <a:pt x="970660" y="220218"/>
                </a:lnTo>
                <a:lnTo>
                  <a:pt x="0" y="220218"/>
                </a:lnTo>
                <a:lnTo>
                  <a:pt x="0" y="1051560"/>
                </a:lnTo>
                <a:lnTo>
                  <a:pt x="5823965" y="1051560"/>
                </a:lnTo>
                <a:lnTo>
                  <a:pt x="5823965" y="220218"/>
                </a:lnTo>
                <a:lnTo>
                  <a:pt x="2426589" y="220218"/>
                </a:lnTo>
                <a:lnTo>
                  <a:pt x="938783" y="0"/>
                </a:lnTo>
                <a:close/>
              </a:path>
            </a:pathLst>
          </a:custGeom>
          <a:solidFill>
            <a:srgbClr val="083C8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644646" y="3850385"/>
            <a:ext cx="11283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Cambria Math"/>
                <a:cs typeface="Cambria Math"/>
              </a:rPr>
              <a:t>𝑫[𝒊]</a:t>
            </a:r>
            <a:r>
              <a:rPr sz="2400" spc="114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endParaRPr sz="2400" dirty="0">
              <a:latin typeface="Cambria Math"/>
              <a:cs typeface="Cambria Math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004689" y="3735069"/>
            <a:ext cx="258445" cy="283210"/>
          </a:xfrm>
          <a:custGeom>
            <a:avLst/>
            <a:gdLst/>
            <a:ahLst/>
            <a:cxnLst/>
            <a:rect l="l" t="t" r="r" b="b"/>
            <a:pathLst>
              <a:path w="258445" h="283210">
                <a:moveTo>
                  <a:pt x="66294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1780"/>
                </a:lnTo>
                <a:lnTo>
                  <a:pt x="0" y="283210"/>
                </a:lnTo>
                <a:lnTo>
                  <a:pt x="66294" y="283210"/>
                </a:lnTo>
                <a:lnTo>
                  <a:pt x="66294" y="271780"/>
                </a:lnTo>
                <a:lnTo>
                  <a:pt x="24638" y="271780"/>
                </a:lnTo>
                <a:lnTo>
                  <a:pt x="24638" y="11430"/>
                </a:lnTo>
                <a:lnTo>
                  <a:pt x="66294" y="11430"/>
                </a:lnTo>
                <a:lnTo>
                  <a:pt x="66294" y="0"/>
                </a:lnTo>
                <a:close/>
              </a:path>
              <a:path w="258445" h="283210">
                <a:moveTo>
                  <a:pt x="258318" y="0"/>
                </a:moveTo>
                <a:lnTo>
                  <a:pt x="191897" y="0"/>
                </a:lnTo>
                <a:lnTo>
                  <a:pt x="191897" y="11430"/>
                </a:lnTo>
                <a:lnTo>
                  <a:pt x="233553" y="11430"/>
                </a:lnTo>
                <a:lnTo>
                  <a:pt x="233553" y="271780"/>
                </a:lnTo>
                <a:lnTo>
                  <a:pt x="191897" y="271780"/>
                </a:lnTo>
                <a:lnTo>
                  <a:pt x="191897" y="283210"/>
                </a:lnTo>
                <a:lnTo>
                  <a:pt x="258318" y="283210"/>
                </a:lnTo>
                <a:lnTo>
                  <a:pt x="258318" y="271780"/>
                </a:lnTo>
                <a:lnTo>
                  <a:pt x="258318" y="11430"/>
                </a:lnTo>
                <a:lnTo>
                  <a:pt x="258318" y="0"/>
                </a:lnTo>
                <a:close/>
              </a:path>
            </a:pathLst>
          </a:custGeom>
          <a:solidFill>
            <a:srgbClr val="FF9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747259" y="3646170"/>
            <a:ext cx="20872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17220" algn="l"/>
              </a:tabLst>
            </a:pP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𝑿</a:t>
            </a:r>
            <a:r>
              <a:rPr sz="2400" spc="305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 spc="-50">
                <a:solidFill>
                  <a:srgbClr val="FF9200"/>
                </a:solidFill>
                <a:latin typeface="Cambria Math"/>
                <a:cs typeface="Cambria Math"/>
              </a:rPr>
              <a:t>𝒊</a:t>
            </a: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	+</a:t>
            </a:r>
            <a:r>
              <a:rPr sz="2400" spc="-5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𝑫[𝒊</a:t>
            </a:r>
            <a:r>
              <a:rPr sz="2400" spc="-10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+ </a:t>
            </a:r>
            <a:r>
              <a:rPr sz="2400" spc="-25">
                <a:solidFill>
                  <a:srgbClr val="FF9200"/>
                </a:solidFill>
                <a:latin typeface="Cambria Math"/>
                <a:cs typeface="Cambria Math"/>
              </a:rPr>
              <a:t>𝟏],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735447" y="4130039"/>
            <a:ext cx="258445" cy="283210"/>
          </a:xfrm>
          <a:custGeom>
            <a:avLst/>
            <a:gdLst/>
            <a:ahLst/>
            <a:cxnLst/>
            <a:rect l="l" t="t" r="r" b="b"/>
            <a:pathLst>
              <a:path w="258445" h="283210">
                <a:moveTo>
                  <a:pt x="66294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1780"/>
                </a:lnTo>
                <a:lnTo>
                  <a:pt x="0" y="283210"/>
                </a:lnTo>
                <a:lnTo>
                  <a:pt x="66294" y="283210"/>
                </a:lnTo>
                <a:lnTo>
                  <a:pt x="66294" y="271780"/>
                </a:lnTo>
                <a:lnTo>
                  <a:pt x="24638" y="271780"/>
                </a:lnTo>
                <a:lnTo>
                  <a:pt x="24638" y="11430"/>
                </a:lnTo>
                <a:lnTo>
                  <a:pt x="66294" y="11430"/>
                </a:lnTo>
                <a:lnTo>
                  <a:pt x="66294" y="0"/>
                </a:lnTo>
                <a:close/>
              </a:path>
              <a:path w="258445" h="283210">
                <a:moveTo>
                  <a:pt x="258318" y="0"/>
                </a:moveTo>
                <a:lnTo>
                  <a:pt x="191897" y="0"/>
                </a:lnTo>
                <a:lnTo>
                  <a:pt x="191897" y="11430"/>
                </a:lnTo>
                <a:lnTo>
                  <a:pt x="233553" y="11430"/>
                </a:lnTo>
                <a:lnTo>
                  <a:pt x="233553" y="271780"/>
                </a:lnTo>
                <a:lnTo>
                  <a:pt x="191897" y="271780"/>
                </a:lnTo>
                <a:lnTo>
                  <a:pt x="191897" y="283210"/>
                </a:lnTo>
                <a:lnTo>
                  <a:pt x="258318" y="283210"/>
                </a:lnTo>
                <a:lnTo>
                  <a:pt x="258318" y="271780"/>
                </a:lnTo>
                <a:lnTo>
                  <a:pt x="258318" y="11430"/>
                </a:lnTo>
                <a:lnTo>
                  <a:pt x="25831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478017" y="4040885"/>
            <a:ext cx="6254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𝑿</a:t>
            </a:r>
            <a:r>
              <a:rPr sz="2400" spc="30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𝒊</a:t>
            </a:r>
            <a:r>
              <a:rPr sz="2400" spc="30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 spc="-50">
                <a:solidFill>
                  <a:srgbClr val="FFFFFF"/>
                </a:solidFill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112761" y="3617214"/>
            <a:ext cx="2056130" cy="81534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𝒊𝒇</a:t>
            </a:r>
            <a:r>
              <a:rPr sz="2400" spc="-10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𝑫[𝒊</a:t>
            </a:r>
            <a:r>
              <a:rPr sz="2400" spc="-10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+</a:t>
            </a:r>
            <a:r>
              <a:rPr sz="2400" spc="-5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𝟏]</a:t>
            </a:r>
            <a:r>
              <a:rPr sz="2400" spc="130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&gt;</a:t>
            </a:r>
            <a:r>
              <a:rPr sz="2400" spc="135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 spc="-50">
                <a:solidFill>
                  <a:srgbClr val="FF9200"/>
                </a:solidFill>
                <a:latin typeface="Cambria Math"/>
                <a:cs typeface="Cambria Math"/>
              </a:rPr>
              <a:t>𝟎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𝒊𝒇</a:t>
            </a:r>
            <a:r>
              <a:rPr sz="2400" spc="-1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𝑫[𝒊</a:t>
            </a:r>
            <a:r>
              <a:rPr sz="2400" spc="-1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+</a:t>
            </a:r>
            <a:r>
              <a:rPr sz="2400" spc="-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𝟏]</a:t>
            </a:r>
            <a:r>
              <a:rPr sz="2400" spc="13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≤</a:t>
            </a:r>
            <a:r>
              <a:rPr sz="2400" spc="13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 spc="-50">
                <a:solidFill>
                  <a:srgbClr val="FFFFFF"/>
                </a:solidFill>
                <a:latin typeface="Cambria Math"/>
                <a:cs typeface="Cambria Math"/>
              </a:rPr>
              <a:t>𝟎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2" name="object 3">
            <a:extLst>
              <a:ext uri="{FF2B5EF4-FFF2-40B4-BE49-F238E27FC236}">
                <a16:creationId xmlns:a16="http://schemas.microsoft.com/office/drawing/2014/main" id="{DA787B67-0A8B-B641-814A-BE05D7DA00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4440" y="171164"/>
            <a:ext cx="250444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562225" y="1377314"/>
            <a:ext cx="7449820" cy="792480"/>
            <a:chOff x="2562225" y="1377314"/>
            <a:chExt cx="7449820" cy="792480"/>
          </a:xfrm>
        </p:grpSpPr>
        <p:sp>
          <p:nvSpPr>
            <p:cNvPr id="3" name="object 3"/>
            <p:cNvSpPr/>
            <p:nvPr/>
          </p:nvSpPr>
          <p:spPr>
            <a:xfrm>
              <a:off x="2562225" y="1377314"/>
              <a:ext cx="7449820" cy="792480"/>
            </a:xfrm>
            <a:custGeom>
              <a:avLst/>
              <a:gdLst/>
              <a:ahLst/>
              <a:cxnLst/>
              <a:rect l="l" t="t" r="r" b="b"/>
              <a:pathLst>
                <a:path w="7449820" h="792480">
                  <a:moveTo>
                    <a:pt x="7449820" y="0"/>
                  </a:moveTo>
                  <a:lnTo>
                    <a:pt x="0" y="0"/>
                  </a:lnTo>
                  <a:lnTo>
                    <a:pt x="0" y="792479"/>
                  </a:lnTo>
                  <a:lnTo>
                    <a:pt x="7449820" y="792479"/>
                  </a:lnTo>
                  <a:lnTo>
                    <a:pt x="744982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708272" y="1773554"/>
              <a:ext cx="573405" cy="396240"/>
            </a:xfrm>
            <a:custGeom>
              <a:avLst/>
              <a:gdLst/>
              <a:ahLst/>
              <a:cxnLst/>
              <a:rect l="l" t="t" r="r" b="b"/>
              <a:pathLst>
                <a:path w="573404" h="396239">
                  <a:moveTo>
                    <a:pt x="573062" y="0"/>
                  </a:moveTo>
                  <a:lnTo>
                    <a:pt x="0" y="0"/>
                  </a:lnTo>
                  <a:lnTo>
                    <a:pt x="0" y="396239"/>
                  </a:lnTo>
                  <a:lnTo>
                    <a:pt x="573062" y="396239"/>
                  </a:lnTo>
                  <a:lnTo>
                    <a:pt x="573062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555875" y="1370964"/>
          <a:ext cx="7446008" cy="791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2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222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222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2152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2152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222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152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17272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555875" y="2537079"/>
          <a:ext cx="7446008" cy="791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2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30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32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28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23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25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555875" y="4638675"/>
          <a:ext cx="7446008" cy="791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2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215265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215265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08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08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172720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08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171450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08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1969516" y="1723135"/>
            <a:ext cx="277495" cy="1557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𝑿</a:t>
            </a:r>
            <a:endParaRPr sz="24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endParaRPr sz="24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50">
              <a:latin typeface="Cambria Math"/>
              <a:cs typeface="Cambria Math"/>
            </a:endParaRPr>
          </a:p>
          <a:p>
            <a:pPr marL="35560">
              <a:lnSpc>
                <a:spcPct val="100000"/>
              </a:lnSpc>
              <a:spcBef>
                <a:spcPts val="5"/>
              </a:spcBef>
            </a:pPr>
            <a:r>
              <a:rPr sz="2400" spc="-50">
                <a:latin typeface="Cambria Math"/>
                <a:cs typeface="Cambria Math"/>
              </a:rPr>
              <a:t>𝑫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835908" y="2939033"/>
            <a:ext cx="396240" cy="386715"/>
          </a:xfrm>
          <a:custGeom>
            <a:avLst/>
            <a:gdLst/>
            <a:ahLst/>
            <a:cxnLst/>
            <a:rect l="l" t="t" r="r" b="b"/>
            <a:pathLst>
              <a:path w="396239" h="386714">
                <a:moveTo>
                  <a:pt x="0" y="64388"/>
                </a:moveTo>
                <a:lnTo>
                  <a:pt x="5060" y="39326"/>
                </a:lnTo>
                <a:lnTo>
                  <a:pt x="18859" y="18859"/>
                </a:lnTo>
                <a:lnTo>
                  <a:pt x="39326" y="5060"/>
                </a:lnTo>
                <a:lnTo>
                  <a:pt x="64388" y="0"/>
                </a:lnTo>
                <a:lnTo>
                  <a:pt x="331850" y="0"/>
                </a:lnTo>
                <a:lnTo>
                  <a:pt x="356913" y="5060"/>
                </a:lnTo>
                <a:lnTo>
                  <a:pt x="377380" y="18859"/>
                </a:lnTo>
                <a:lnTo>
                  <a:pt x="391179" y="39326"/>
                </a:lnTo>
                <a:lnTo>
                  <a:pt x="396239" y="64388"/>
                </a:lnTo>
                <a:lnTo>
                  <a:pt x="396239" y="321944"/>
                </a:lnTo>
                <a:lnTo>
                  <a:pt x="391179" y="347007"/>
                </a:lnTo>
                <a:lnTo>
                  <a:pt x="377380" y="367474"/>
                </a:lnTo>
                <a:lnTo>
                  <a:pt x="356913" y="381273"/>
                </a:lnTo>
                <a:lnTo>
                  <a:pt x="331850" y="386333"/>
                </a:lnTo>
                <a:lnTo>
                  <a:pt x="64388" y="386333"/>
                </a:lnTo>
                <a:lnTo>
                  <a:pt x="39326" y="381273"/>
                </a:lnTo>
                <a:lnTo>
                  <a:pt x="18859" y="367474"/>
                </a:lnTo>
                <a:lnTo>
                  <a:pt x="5060" y="347007"/>
                </a:lnTo>
                <a:lnTo>
                  <a:pt x="0" y="321944"/>
                </a:lnTo>
                <a:lnTo>
                  <a:pt x="0" y="64388"/>
                </a:lnTo>
                <a:close/>
              </a:path>
            </a:pathLst>
          </a:custGeom>
          <a:ln w="44450">
            <a:solidFill>
              <a:srgbClr val="006FC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840229" y="4991100"/>
            <a:ext cx="5594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>
                <a:latin typeface="Cambria Math"/>
                <a:cs typeface="Cambria Math"/>
              </a:rPr>
              <a:t>𝑹𝒆𝒄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835908" y="1741932"/>
            <a:ext cx="396240" cy="387350"/>
          </a:xfrm>
          <a:custGeom>
            <a:avLst/>
            <a:gdLst/>
            <a:ahLst/>
            <a:cxnLst/>
            <a:rect l="l" t="t" r="r" b="b"/>
            <a:pathLst>
              <a:path w="396239" h="387350">
                <a:moveTo>
                  <a:pt x="0" y="64515"/>
                </a:moveTo>
                <a:lnTo>
                  <a:pt x="5062" y="39379"/>
                </a:lnTo>
                <a:lnTo>
                  <a:pt x="18875" y="18875"/>
                </a:lnTo>
                <a:lnTo>
                  <a:pt x="39379" y="5062"/>
                </a:lnTo>
                <a:lnTo>
                  <a:pt x="64515" y="0"/>
                </a:lnTo>
                <a:lnTo>
                  <a:pt x="331724" y="0"/>
                </a:lnTo>
                <a:lnTo>
                  <a:pt x="356860" y="5062"/>
                </a:lnTo>
                <a:lnTo>
                  <a:pt x="377364" y="18875"/>
                </a:lnTo>
                <a:lnTo>
                  <a:pt x="391177" y="39379"/>
                </a:lnTo>
                <a:lnTo>
                  <a:pt x="396239" y="64515"/>
                </a:lnTo>
                <a:lnTo>
                  <a:pt x="396239" y="322579"/>
                </a:lnTo>
                <a:lnTo>
                  <a:pt x="391177" y="347716"/>
                </a:lnTo>
                <a:lnTo>
                  <a:pt x="377364" y="368220"/>
                </a:lnTo>
                <a:lnTo>
                  <a:pt x="356860" y="382033"/>
                </a:lnTo>
                <a:lnTo>
                  <a:pt x="331724" y="387095"/>
                </a:lnTo>
                <a:lnTo>
                  <a:pt x="64515" y="387095"/>
                </a:lnTo>
                <a:lnTo>
                  <a:pt x="39379" y="382033"/>
                </a:lnTo>
                <a:lnTo>
                  <a:pt x="18875" y="368220"/>
                </a:lnTo>
                <a:lnTo>
                  <a:pt x="5062" y="347716"/>
                </a:lnTo>
                <a:lnTo>
                  <a:pt x="0" y="322579"/>
                </a:lnTo>
                <a:lnTo>
                  <a:pt x="0" y="64515"/>
                </a:lnTo>
                <a:close/>
              </a:path>
            </a:pathLst>
          </a:custGeom>
          <a:ln w="44449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835908" y="5051297"/>
            <a:ext cx="396240" cy="386715"/>
          </a:xfrm>
          <a:custGeom>
            <a:avLst/>
            <a:gdLst/>
            <a:ahLst/>
            <a:cxnLst/>
            <a:rect l="l" t="t" r="r" b="b"/>
            <a:pathLst>
              <a:path w="396239" h="386714">
                <a:moveTo>
                  <a:pt x="0" y="64388"/>
                </a:moveTo>
                <a:lnTo>
                  <a:pt x="5060" y="39326"/>
                </a:lnTo>
                <a:lnTo>
                  <a:pt x="18859" y="18859"/>
                </a:lnTo>
                <a:lnTo>
                  <a:pt x="39326" y="5060"/>
                </a:lnTo>
                <a:lnTo>
                  <a:pt x="64388" y="0"/>
                </a:lnTo>
                <a:lnTo>
                  <a:pt x="331850" y="0"/>
                </a:lnTo>
                <a:lnTo>
                  <a:pt x="356913" y="5060"/>
                </a:lnTo>
                <a:lnTo>
                  <a:pt x="377380" y="18859"/>
                </a:lnTo>
                <a:lnTo>
                  <a:pt x="391179" y="39326"/>
                </a:lnTo>
                <a:lnTo>
                  <a:pt x="396239" y="64388"/>
                </a:lnTo>
                <a:lnTo>
                  <a:pt x="396239" y="321944"/>
                </a:lnTo>
                <a:lnTo>
                  <a:pt x="391179" y="347007"/>
                </a:lnTo>
                <a:lnTo>
                  <a:pt x="377380" y="367474"/>
                </a:lnTo>
                <a:lnTo>
                  <a:pt x="356913" y="381273"/>
                </a:lnTo>
                <a:lnTo>
                  <a:pt x="331850" y="386333"/>
                </a:lnTo>
                <a:lnTo>
                  <a:pt x="64388" y="386333"/>
                </a:lnTo>
                <a:lnTo>
                  <a:pt x="39326" y="381273"/>
                </a:lnTo>
                <a:lnTo>
                  <a:pt x="18859" y="367474"/>
                </a:lnTo>
                <a:lnTo>
                  <a:pt x="5060" y="347007"/>
                </a:lnTo>
                <a:lnTo>
                  <a:pt x="0" y="321944"/>
                </a:lnTo>
                <a:lnTo>
                  <a:pt x="0" y="64388"/>
                </a:lnTo>
                <a:close/>
              </a:path>
            </a:pathLst>
          </a:custGeom>
          <a:ln w="44450">
            <a:solidFill>
              <a:srgbClr val="006FC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381500" y="2939033"/>
            <a:ext cx="396240" cy="386715"/>
          </a:xfrm>
          <a:custGeom>
            <a:avLst/>
            <a:gdLst/>
            <a:ahLst/>
            <a:cxnLst/>
            <a:rect l="l" t="t" r="r" b="b"/>
            <a:pathLst>
              <a:path w="396239" h="386714">
                <a:moveTo>
                  <a:pt x="0" y="64388"/>
                </a:moveTo>
                <a:lnTo>
                  <a:pt x="5060" y="39326"/>
                </a:lnTo>
                <a:lnTo>
                  <a:pt x="18859" y="18859"/>
                </a:lnTo>
                <a:lnTo>
                  <a:pt x="39326" y="5060"/>
                </a:lnTo>
                <a:lnTo>
                  <a:pt x="64388" y="0"/>
                </a:lnTo>
                <a:lnTo>
                  <a:pt x="331850" y="0"/>
                </a:lnTo>
                <a:lnTo>
                  <a:pt x="356913" y="5060"/>
                </a:lnTo>
                <a:lnTo>
                  <a:pt x="377380" y="18859"/>
                </a:lnTo>
                <a:lnTo>
                  <a:pt x="391179" y="39326"/>
                </a:lnTo>
                <a:lnTo>
                  <a:pt x="396239" y="64388"/>
                </a:lnTo>
                <a:lnTo>
                  <a:pt x="396239" y="321944"/>
                </a:lnTo>
                <a:lnTo>
                  <a:pt x="391179" y="347007"/>
                </a:lnTo>
                <a:lnTo>
                  <a:pt x="377380" y="367474"/>
                </a:lnTo>
                <a:lnTo>
                  <a:pt x="356913" y="381273"/>
                </a:lnTo>
                <a:lnTo>
                  <a:pt x="331850" y="386333"/>
                </a:lnTo>
                <a:lnTo>
                  <a:pt x="64388" y="386333"/>
                </a:lnTo>
                <a:lnTo>
                  <a:pt x="39326" y="381273"/>
                </a:lnTo>
                <a:lnTo>
                  <a:pt x="18859" y="367474"/>
                </a:lnTo>
                <a:lnTo>
                  <a:pt x="5060" y="347007"/>
                </a:lnTo>
                <a:lnTo>
                  <a:pt x="0" y="321944"/>
                </a:lnTo>
                <a:lnTo>
                  <a:pt x="0" y="64388"/>
                </a:lnTo>
                <a:close/>
              </a:path>
            </a:pathLst>
          </a:custGeom>
          <a:ln w="4445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064764" y="3422141"/>
            <a:ext cx="5824220" cy="1051560"/>
          </a:xfrm>
          <a:custGeom>
            <a:avLst/>
            <a:gdLst/>
            <a:ahLst/>
            <a:cxnLst/>
            <a:rect l="l" t="t" r="r" b="b"/>
            <a:pathLst>
              <a:path w="5824220" h="1051560">
                <a:moveTo>
                  <a:pt x="938784" y="0"/>
                </a:moveTo>
                <a:lnTo>
                  <a:pt x="970661" y="220218"/>
                </a:lnTo>
                <a:lnTo>
                  <a:pt x="0" y="220218"/>
                </a:lnTo>
                <a:lnTo>
                  <a:pt x="0" y="1051560"/>
                </a:lnTo>
                <a:lnTo>
                  <a:pt x="5823966" y="1051560"/>
                </a:lnTo>
                <a:lnTo>
                  <a:pt x="5823966" y="220218"/>
                </a:lnTo>
                <a:lnTo>
                  <a:pt x="2426589" y="220218"/>
                </a:lnTo>
                <a:lnTo>
                  <a:pt x="938784" y="0"/>
                </a:lnTo>
                <a:close/>
              </a:path>
            </a:pathLst>
          </a:custGeom>
          <a:solidFill>
            <a:srgbClr val="083C8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138170" y="3850385"/>
            <a:ext cx="11283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Cambria Math"/>
                <a:cs typeface="Cambria Math"/>
              </a:rPr>
              <a:t>𝑫[𝒊]</a:t>
            </a:r>
            <a:r>
              <a:rPr sz="2400" spc="114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endParaRPr sz="2400" dirty="0">
              <a:latin typeface="Cambria Math"/>
              <a:cs typeface="Cambria Math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498213" y="3735069"/>
            <a:ext cx="258445" cy="283210"/>
          </a:xfrm>
          <a:custGeom>
            <a:avLst/>
            <a:gdLst/>
            <a:ahLst/>
            <a:cxnLst/>
            <a:rect l="l" t="t" r="r" b="b"/>
            <a:pathLst>
              <a:path w="258445" h="28321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1780"/>
                </a:lnTo>
                <a:lnTo>
                  <a:pt x="0" y="283210"/>
                </a:lnTo>
                <a:lnTo>
                  <a:pt x="66421" y="283210"/>
                </a:lnTo>
                <a:lnTo>
                  <a:pt x="66421" y="271780"/>
                </a:lnTo>
                <a:lnTo>
                  <a:pt x="24765" y="271780"/>
                </a:lnTo>
                <a:lnTo>
                  <a:pt x="24765" y="1143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  <a:path w="258445" h="283210">
                <a:moveTo>
                  <a:pt x="258318" y="0"/>
                </a:moveTo>
                <a:lnTo>
                  <a:pt x="191897" y="0"/>
                </a:lnTo>
                <a:lnTo>
                  <a:pt x="191897" y="11430"/>
                </a:lnTo>
                <a:lnTo>
                  <a:pt x="233553" y="11430"/>
                </a:lnTo>
                <a:lnTo>
                  <a:pt x="233553" y="271780"/>
                </a:lnTo>
                <a:lnTo>
                  <a:pt x="191897" y="271780"/>
                </a:lnTo>
                <a:lnTo>
                  <a:pt x="191897" y="283210"/>
                </a:lnTo>
                <a:lnTo>
                  <a:pt x="258318" y="283210"/>
                </a:lnTo>
                <a:lnTo>
                  <a:pt x="258318" y="271780"/>
                </a:lnTo>
                <a:lnTo>
                  <a:pt x="258318" y="11430"/>
                </a:lnTo>
                <a:lnTo>
                  <a:pt x="258318" y="0"/>
                </a:lnTo>
                <a:close/>
              </a:path>
            </a:pathLst>
          </a:custGeom>
          <a:solidFill>
            <a:srgbClr val="FF9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240784" y="3646170"/>
            <a:ext cx="20872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17220" algn="l"/>
              </a:tabLst>
            </a:pP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𝑿</a:t>
            </a:r>
            <a:r>
              <a:rPr sz="2400" spc="305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 spc="-50">
                <a:solidFill>
                  <a:srgbClr val="FF9200"/>
                </a:solidFill>
                <a:latin typeface="Cambria Math"/>
                <a:cs typeface="Cambria Math"/>
              </a:rPr>
              <a:t>𝒊</a:t>
            </a: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	+</a:t>
            </a:r>
            <a:r>
              <a:rPr sz="2400" spc="-5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𝑫[𝒊</a:t>
            </a:r>
            <a:r>
              <a:rPr sz="2400" spc="-10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+ </a:t>
            </a:r>
            <a:r>
              <a:rPr sz="2400" spc="-25">
                <a:solidFill>
                  <a:srgbClr val="FF9200"/>
                </a:solidFill>
                <a:latin typeface="Cambria Math"/>
                <a:cs typeface="Cambria Math"/>
              </a:rPr>
              <a:t>𝟏],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228971" y="4130039"/>
            <a:ext cx="258445" cy="283210"/>
          </a:xfrm>
          <a:custGeom>
            <a:avLst/>
            <a:gdLst/>
            <a:ahLst/>
            <a:cxnLst/>
            <a:rect l="l" t="t" r="r" b="b"/>
            <a:pathLst>
              <a:path w="258445" h="28321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1780"/>
                </a:lnTo>
                <a:lnTo>
                  <a:pt x="0" y="283210"/>
                </a:lnTo>
                <a:lnTo>
                  <a:pt x="66421" y="283210"/>
                </a:lnTo>
                <a:lnTo>
                  <a:pt x="66421" y="271780"/>
                </a:lnTo>
                <a:lnTo>
                  <a:pt x="24765" y="271780"/>
                </a:lnTo>
                <a:lnTo>
                  <a:pt x="24765" y="1143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  <a:path w="258445" h="283210">
                <a:moveTo>
                  <a:pt x="258318" y="0"/>
                </a:moveTo>
                <a:lnTo>
                  <a:pt x="191897" y="0"/>
                </a:lnTo>
                <a:lnTo>
                  <a:pt x="191897" y="11430"/>
                </a:lnTo>
                <a:lnTo>
                  <a:pt x="233553" y="11430"/>
                </a:lnTo>
                <a:lnTo>
                  <a:pt x="233553" y="271780"/>
                </a:lnTo>
                <a:lnTo>
                  <a:pt x="191897" y="271780"/>
                </a:lnTo>
                <a:lnTo>
                  <a:pt x="191897" y="283210"/>
                </a:lnTo>
                <a:lnTo>
                  <a:pt x="258318" y="283210"/>
                </a:lnTo>
                <a:lnTo>
                  <a:pt x="258318" y="271780"/>
                </a:lnTo>
                <a:lnTo>
                  <a:pt x="258318" y="11430"/>
                </a:lnTo>
                <a:lnTo>
                  <a:pt x="25831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971541" y="4040885"/>
            <a:ext cx="6254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𝑿</a:t>
            </a:r>
            <a:r>
              <a:rPr sz="2400" spc="30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𝒊</a:t>
            </a:r>
            <a:r>
              <a:rPr sz="2400" spc="30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 spc="-50">
                <a:solidFill>
                  <a:srgbClr val="FFFFFF"/>
                </a:solidFill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606285" y="3617214"/>
            <a:ext cx="2056130" cy="81534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𝒊𝒇</a:t>
            </a:r>
            <a:r>
              <a:rPr sz="2400" spc="-10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𝑫[𝒊</a:t>
            </a:r>
            <a:r>
              <a:rPr sz="2400" spc="-10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+</a:t>
            </a:r>
            <a:r>
              <a:rPr sz="2400" spc="-5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𝟏]</a:t>
            </a:r>
            <a:r>
              <a:rPr sz="2400" spc="130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&gt;</a:t>
            </a:r>
            <a:r>
              <a:rPr sz="2400" spc="135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 spc="-50">
                <a:solidFill>
                  <a:srgbClr val="FF9200"/>
                </a:solidFill>
                <a:latin typeface="Cambria Math"/>
                <a:cs typeface="Cambria Math"/>
              </a:rPr>
              <a:t>𝟎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𝒊𝒇</a:t>
            </a:r>
            <a:r>
              <a:rPr sz="2400" spc="-1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𝑫[𝒊</a:t>
            </a:r>
            <a:r>
              <a:rPr sz="2400" spc="-1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+</a:t>
            </a:r>
            <a:r>
              <a:rPr sz="2400" spc="-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𝟏]</a:t>
            </a:r>
            <a:r>
              <a:rPr sz="2400" spc="13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≤</a:t>
            </a:r>
            <a:r>
              <a:rPr sz="2400" spc="13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 spc="-50">
                <a:solidFill>
                  <a:srgbClr val="FFFFFF"/>
                </a:solidFill>
                <a:latin typeface="Cambria Math"/>
                <a:cs typeface="Cambria Math"/>
              </a:rPr>
              <a:t>𝟎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2" name="object 3">
            <a:extLst>
              <a:ext uri="{FF2B5EF4-FFF2-40B4-BE49-F238E27FC236}">
                <a16:creationId xmlns:a16="http://schemas.microsoft.com/office/drawing/2014/main" id="{7C21573E-A69B-B745-ACF6-4AAF6BEEEF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4440" y="171164"/>
            <a:ext cx="250444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562225" y="1377314"/>
            <a:ext cx="7449820" cy="792480"/>
            <a:chOff x="2562225" y="1377314"/>
            <a:chExt cx="7449820" cy="792480"/>
          </a:xfrm>
        </p:grpSpPr>
        <p:sp>
          <p:nvSpPr>
            <p:cNvPr id="3" name="object 3"/>
            <p:cNvSpPr/>
            <p:nvPr/>
          </p:nvSpPr>
          <p:spPr>
            <a:xfrm>
              <a:off x="2562225" y="1377314"/>
              <a:ext cx="7449820" cy="792480"/>
            </a:xfrm>
            <a:custGeom>
              <a:avLst/>
              <a:gdLst/>
              <a:ahLst/>
              <a:cxnLst/>
              <a:rect l="l" t="t" r="r" b="b"/>
              <a:pathLst>
                <a:path w="7449820" h="792480">
                  <a:moveTo>
                    <a:pt x="7449820" y="0"/>
                  </a:moveTo>
                  <a:lnTo>
                    <a:pt x="0" y="0"/>
                  </a:lnTo>
                  <a:lnTo>
                    <a:pt x="0" y="792479"/>
                  </a:lnTo>
                  <a:lnTo>
                    <a:pt x="7449820" y="792479"/>
                  </a:lnTo>
                  <a:lnTo>
                    <a:pt x="744982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135248" y="1773554"/>
              <a:ext cx="573405" cy="396240"/>
            </a:xfrm>
            <a:custGeom>
              <a:avLst/>
              <a:gdLst/>
              <a:ahLst/>
              <a:cxnLst/>
              <a:rect l="l" t="t" r="r" b="b"/>
              <a:pathLst>
                <a:path w="573404" h="396239">
                  <a:moveTo>
                    <a:pt x="573062" y="0"/>
                  </a:moveTo>
                  <a:lnTo>
                    <a:pt x="0" y="0"/>
                  </a:lnTo>
                  <a:lnTo>
                    <a:pt x="0" y="396239"/>
                  </a:lnTo>
                  <a:lnTo>
                    <a:pt x="573062" y="396239"/>
                  </a:lnTo>
                  <a:lnTo>
                    <a:pt x="573062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555875" y="1370964"/>
          <a:ext cx="7446008" cy="791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2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222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222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2152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2152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222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152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17272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555875" y="2537079"/>
          <a:ext cx="7446008" cy="791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2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31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30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32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28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23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25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555875" y="4638675"/>
          <a:ext cx="7446008" cy="791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2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215265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215265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215265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172720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08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08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172720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08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171450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08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1969516" y="1723135"/>
            <a:ext cx="277495" cy="1557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𝑿</a:t>
            </a:r>
            <a:endParaRPr sz="24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endParaRPr sz="24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50">
              <a:latin typeface="Cambria Math"/>
              <a:cs typeface="Cambria Math"/>
            </a:endParaRPr>
          </a:p>
          <a:p>
            <a:pPr marL="35560">
              <a:lnSpc>
                <a:spcPct val="100000"/>
              </a:lnSpc>
              <a:spcBef>
                <a:spcPts val="5"/>
              </a:spcBef>
            </a:pPr>
            <a:r>
              <a:rPr sz="2400" spc="-50">
                <a:latin typeface="Cambria Math"/>
                <a:cs typeface="Cambria Math"/>
              </a:rPr>
              <a:t>𝑫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226307" y="2939033"/>
            <a:ext cx="396240" cy="386715"/>
          </a:xfrm>
          <a:custGeom>
            <a:avLst/>
            <a:gdLst/>
            <a:ahLst/>
            <a:cxnLst/>
            <a:rect l="l" t="t" r="r" b="b"/>
            <a:pathLst>
              <a:path w="396239" h="386714">
                <a:moveTo>
                  <a:pt x="0" y="64388"/>
                </a:moveTo>
                <a:lnTo>
                  <a:pt x="5060" y="39326"/>
                </a:lnTo>
                <a:lnTo>
                  <a:pt x="18859" y="18859"/>
                </a:lnTo>
                <a:lnTo>
                  <a:pt x="39326" y="5060"/>
                </a:lnTo>
                <a:lnTo>
                  <a:pt x="64389" y="0"/>
                </a:lnTo>
                <a:lnTo>
                  <a:pt x="331851" y="0"/>
                </a:lnTo>
                <a:lnTo>
                  <a:pt x="356913" y="5060"/>
                </a:lnTo>
                <a:lnTo>
                  <a:pt x="377380" y="18859"/>
                </a:lnTo>
                <a:lnTo>
                  <a:pt x="391179" y="39326"/>
                </a:lnTo>
                <a:lnTo>
                  <a:pt x="396240" y="64388"/>
                </a:lnTo>
                <a:lnTo>
                  <a:pt x="396240" y="321944"/>
                </a:lnTo>
                <a:lnTo>
                  <a:pt x="391179" y="347007"/>
                </a:lnTo>
                <a:lnTo>
                  <a:pt x="377380" y="367474"/>
                </a:lnTo>
                <a:lnTo>
                  <a:pt x="356913" y="381273"/>
                </a:lnTo>
                <a:lnTo>
                  <a:pt x="331851" y="386333"/>
                </a:lnTo>
                <a:lnTo>
                  <a:pt x="64389" y="386333"/>
                </a:lnTo>
                <a:lnTo>
                  <a:pt x="39326" y="381273"/>
                </a:lnTo>
                <a:lnTo>
                  <a:pt x="18859" y="367474"/>
                </a:lnTo>
                <a:lnTo>
                  <a:pt x="5060" y="347007"/>
                </a:lnTo>
                <a:lnTo>
                  <a:pt x="0" y="321944"/>
                </a:lnTo>
                <a:lnTo>
                  <a:pt x="0" y="64388"/>
                </a:lnTo>
                <a:close/>
              </a:path>
            </a:pathLst>
          </a:custGeom>
          <a:ln w="44450">
            <a:solidFill>
              <a:srgbClr val="006FC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840229" y="4991100"/>
            <a:ext cx="5594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>
                <a:latin typeface="Cambria Math"/>
                <a:cs typeface="Cambria Math"/>
              </a:rPr>
              <a:t>𝑹𝒆𝒄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226307" y="1741932"/>
            <a:ext cx="396240" cy="387350"/>
          </a:xfrm>
          <a:custGeom>
            <a:avLst/>
            <a:gdLst/>
            <a:ahLst/>
            <a:cxnLst/>
            <a:rect l="l" t="t" r="r" b="b"/>
            <a:pathLst>
              <a:path w="396239" h="387350">
                <a:moveTo>
                  <a:pt x="0" y="64515"/>
                </a:moveTo>
                <a:lnTo>
                  <a:pt x="5062" y="39379"/>
                </a:lnTo>
                <a:lnTo>
                  <a:pt x="18875" y="18875"/>
                </a:lnTo>
                <a:lnTo>
                  <a:pt x="39379" y="5062"/>
                </a:lnTo>
                <a:lnTo>
                  <a:pt x="64516" y="0"/>
                </a:lnTo>
                <a:lnTo>
                  <a:pt x="331724" y="0"/>
                </a:lnTo>
                <a:lnTo>
                  <a:pt x="356860" y="5062"/>
                </a:lnTo>
                <a:lnTo>
                  <a:pt x="377364" y="18875"/>
                </a:lnTo>
                <a:lnTo>
                  <a:pt x="391177" y="39379"/>
                </a:lnTo>
                <a:lnTo>
                  <a:pt x="396240" y="64515"/>
                </a:lnTo>
                <a:lnTo>
                  <a:pt x="396240" y="322579"/>
                </a:lnTo>
                <a:lnTo>
                  <a:pt x="391177" y="347716"/>
                </a:lnTo>
                <a:lnTo>
                  <a:pt x="377364" y="368220"/>
                </a:lnTo>
                <a:lnTo>
                  <a:pt x="356860" y="382033"/>
                </a:lnTo>
                <a:lnTo>
                  <a:pt x="331724" y="387095"/>
                </a:lnTo>
                <a:lnTo>
                  <a:pt x="64516" y="387095"/>
                </a:lnTo>
                <a:lnTo>
                  <a:pt x="39379" y="382033"/>
                </a:lnTo>
                <a:lnTo>
                  <a:pt x="18875" y="368220"/>
                </a:lnTo>
                <a:lnTo>
                  <a:pt x="5062" y="347716"/>
                </a:lnTo>
                <a:lnTo>
                  <a:pt x="0" y="322579"/>
                </a:lnTo>
                <a:lnTo>
                  <a:pt x="0" y="64515"/>
                </a:lnTo>
                <a:close/>
              </a:path>
            </a:pathLst>
          </a:custGeom>
          <a:ln w="4445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226307" y="5051297"/>
            <a:ext cx="396240" cy="386715"/>
          </a:xfrm>
          <a:custGeom>
            <a:avLst/>
            <a:gdLst/>
            <a:ahLst/>
            <a:cxnLst/>
            <a:rect l="l" t="t" r="r" b="b"/>
            <a:pathLst>
              <a:path w="396239" h="386714">
                <a:moveTo>
                  <a:pt x="0" y="64388"/>
                </a:moveTo>
                <a:lnTo>
                  <a:pt x="5060" y="39326"/>
                </a:lnTo>
                <a:lnTo>
                  <a:pt x="18859" y="18859"/>
                </a:lnTo>
                <a:lnTo>
                  <a:pt x="39326" y="5060"/>
                </a:lnTo>
                <a:lnTo>
                  <a:pt x="64389" y="0"/>
                </a:lnTo>
                <a:lnTo>
                  <a:pt x="331851" y="0"/>
                </a:lnTo>
                <a:lnTo>
                  <a:pt x="356913" y="5060"/>
                </a:lnTo>
                <a:lnTo>
                  <a:pt x="377380" y="18859"/>
                </a:lnTo>
                <a:lnTo>
                  <a:pt x="391179" y="39326"/>
                </a:lnTo>
                <a:lnTo>
                  <a:pt x="396240" y="64388"/>
                </a:lnTo>
                <a:lnTo>
                  <a:pt x="396240" y="321944"/>
                </a:lnTo>
                <a:lnTo>
                  <a:pt x="391179" y="347007"/>
                </a:lnTo>
                <a:lnTo>
                  <a:pt x="377380" y="367474"/>
                </a:lnTo>
                <a:lnTo>
                  <a:pt x="356913" y="381273"/>
                </a:lnTo>
                <a:lnTo>
                  <a:pt x="331851" y="386333"/>
                </a:lnTo>
                <a:lnTo>
                  <a:pt x="64389" y="386333"/>
                </a:lnTo>
                <a:lnTo>
                  <a:pt x="39326" y="381273"/>
                </a:lnTo>
                <a:lnTo>
                  <a:pt x="18859" y="367474"/>
                </a:lnTo>
                <a:lnTo>
                  <a:pt x="5060" y="347007"/>
                </a:lnTo>
                <a:lnTo>
                  <a:pt x="0" y="321944"/>
                </a:lnTo>
                <a:lnTo>
                  <a:pt x="0" y="64388"/>
                </a:lnTo>
                <a:close/>
              </a:path>
            </a:pathLst>
          </a:custGeom>
          <a:ln w="44450">
            <a:solidFill>
              <a:srgbClr val="006FC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771900" y="2939033"/>
            <a:ext cx="396240" cy="386715"/>
          </a:xfrm>
          <a:custGeom>
            <a:avLst/>
            <a:gdLst/>
            <a:ahLst/>
            <a:cxnLst/>
            <a:rect l="l" t="t" r="r" b="b"/>
            <a:pathLst>
              <a:path w="396239" h="386714">
                <a:moveTo>
                  <a:pt x="0" y="64388"/>
                </a:moveTo>
                <a:lnTo>
                  <a:pt x="5060" y="39326"/>
                </a:lnTo>
                <a:lnTo>
                  <a:pt x="18859" y="18859"/>
                </a:lnTo>
                <a:lnTo>
                  <a:pt x="39326" y="5060"/>
                </a:lnTo>
                <a:lnTo>
                  <a:pt x="64388" y="0"/>
                </a:lnTo>
                <a:lnTo>
                  <a:pt x="331850" y="0"/>
                </a:lnTo>
                <a:lnTo>
                  <a:pt x="356913" y="5060"/>
                </a:lnTo>
                <a:lnTo>
                  <a:pt x="377380" y="18859"/>
                </a:lnTo>
                <a:lnTo>
                  <a:pt x="391179" y="39326"/>
                </a:lnTo>
                <a:lnTo>
                  <a:pt x="396239" y="64388"/>
                </a:lnTo>
                <a:lnTo>
                  <a:pt x="396239" y="321944"/>
                </a:lnTo>
                <a:lnTo>
                  <a:pt x="391179" y="347007"/>
                </a:lnTo>
                <a:lnTo>
                  <a:pt x="377380" y="367474"/>
                </a:lnTo>
                <a:lnTo>
                  <a:pt x="356913" y="381273"/>
                </a:lnTo>
                <a:lnTo>
                  <a:pt x="331850" y="386333"/>
                </a:lnTo>
                <a:lnTo>
                  <a:pt x="64388" y="386333"/>
                </a:lnTo>
                <a:lnTo>
                  <a:pt x="39326" y="381273"/>
                </a:lnTo>
                <a:lnTo>
                  <a:pt x="18859" y="367474"/>
                </a:lnTo>
                <a:lnTo>
                  <a:pt x="5060" y="347007"/>
                </a:lnTo>
                <a:lnTo>
                  <a:pt x="0" y="321944"/>
                </a:lnTo>
                <a:lnTo>
                  <a:pt x="0" y="64388"/>
                </a:lnTo>
                <a:close/>
              </a:path>
            </a:pathLst>
          </a:custGeom>
          <a:ln w="4445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572511" y="3422141"/>
            <a:ext cx="5824220" cy="1051560"/>
          </a:xfrm>
          <a:custGeom>
            <a:avLst/>
            <a:gdLst/>
            <a:ahLst/>
            <a:cxnLst/>
            <a:rect l="l" t="t" r="r" b="b"/>
            <a:pathLst>
              <a:path w="5824220" h="1051560">
                <a:moveTo>
                  <a:pt x="938784" y="0"/>
                </a:moveTo>
                <a:lnTo>
                  <a:pt x="970661" y="220218"/>
                </a:lnTo>
                <a:lnTo>
                  <a:pt x="0" y="220218"/>
                </a:lnTo>
                <a:lnTo>
                  <a:pt x="0" y="1051560"/>
                </a:lnTo>
                <a:lnTo>
                  <a:pt x="5823966" y="1051560"/>
                </a:lnTo>
                <a:lnTo>
                  <a:pt x="5823966" y="220218"/>
                </a:lnTo>
                <a:lnTo>
                  <a:pt x="2426589" y="220218"/>
                </a:lnTo>
                <a:lnTo>
                  <a:pt x="938784" y="0"/>
                </a:lnTo>
                <a:close/>
              </a:path>
            </a:pathLst>
          </a:custGeom>
          <a:solidFill>
            <a:srgbClr val="083C8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645664" y="3850385"/>
            <a:ext cx="11283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Cambria Math"/>
                <a:cs typeface="Cambria Math"/>
              </a:rPr>
              <a:t>𝑫[𝒊]</a:t>
            </a:r>
            <a:r>
              <a:rPr sz="2400" spc="114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endParaRPr sz="2400" dirty="0">
              <a:latin typeface="Cambria Math"/>
              <a:cs typeface="Cambria Math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005834" y="3735069"/>
            <a:ext cx="258445" cy="283210"/>
          </a:xfrm>
          <a:custGeom>
            <a:avLst/>
            <a:gdLst/>
            <a:ahLst/>
            <a:cxnLst/>
            <a:rect l="l" t="t" r="r" b="b"/>
            <a:pathLst>
              <a:path w="258445" h="28321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1780"/>
                </a:lnTo>
                <a:lnTo>
                  <a:pt x="0" y="283210"/>
                </a:lnTo>
                <a:lnTo>
                  <a:pt x="66421" y="283210"/>
                </a:lnTo>
                <a:lnTo>
                  <a:pt x="66421" y="271780"/>
                </a:lnTo>
                <a:lnTo>
                  <a:pt x="24765" y="271780"/>
                </a:lnTo>
                <a:lnTo>
                  <a:pt x="24765" y="1143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  <a:path w="258445" h="283210">
                <a:moveTo>
                  <a:pt x="258318" y="0"/>
                </a:moveTo>
                <a:lnTo>
                  <a:pt x="191897" y="0"/>
                </a:lnTo>
                <a:lnTo>
                  <a:pt x="191897" y="11430"/>
                </a:lnTo>
                <a:lnTo>
                  <a:pt x="233680" y="11430"/>
                </a:lnTo>
                <a:lnTo>
                  <a:pt x="233680" y="271780"/>
                </a:lnTo>
                <a:lnTo>
                  <a:pt x="191897" y="271780"/>
                </a:lnTo>
                <a:lnTo>
                  <a:pt x="191897" y="283210"/>
                </a:lnTo>
                <a:lnTo>
                  <a:pt x="258318" y="283210"/>
                </a:lnTo>
                <a:lnTo>
                  <a:pt x="258318" y="271780"/>
                </a:lnTo>
                <a:lnTo>
                  <a:pt x="258318" y="11430"/>
                </a:lnTo>
                <a:lnTo>
                  <a:pt x="258318" y="0"/>
                </a:lnTo>
                <a:close/>
              </a:path>
            </a:pathLst>
          </a:custGeom>
          <a:solidFill>
            <a:srgbClr val="FF9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748278" y="3646170"/>
            <a:ext cx="20872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17855" algn="l"/>
              </a:tabLst>
            </a:pP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𝑿</a:t>
            </a:r>
            <a:r>
              <a:rPr sz="2400" spc="310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 spc="-50">
                <a:solidFill>
                  <a:srgbClr val="FF9200"/>
                </a:solidFill>
                <a:latin typeface="Cambria Math"/>
                <a:cs typeface="Cambria Math"/>
              </a:rPr>
              <a:t>𝒊</a:t>
            </a: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	+</a:t>
            </a:r>
            <a:r>
              <a:rPr sz="2400" spc="-5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𝑫[𝒊</a:t>
            </a:r>
            <a:r>
              <a:rPr sz="2400" spc="-10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+ </a:t>
            </a:r>
            <a:r>
              <a:rPr sz="2400" spc="-25">
                <a:solidFill>
                  <a:srgbClr val="FF9200"/>
                </a:solidFill>
                <a:latin typeface="Cambria Math"/>
                <a:cs typeface="Cambria Math"/>
              </a:rPr>
              <a:t>𝟏],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736592" y="4130039"/>
            <a:ext cx="258445" cy="283210"/>
          </a:xfrm>
          <a:custGeom>
            <a:avLst/>
            <a:gdLst/>
            <a:ahLst/>
            <a:cxnLst/>
            <a:rect l="l" t="t" r="r" b="b"/>
            <a:pathLst>
              <a:path w="258445" h="28321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1780"/>
                </a:lnTo>
                <a:lnTo>
                  <a:pt x="0" y="283210"/>
                </a:lnTo>
                <a:lnTo>
                  <a:pt x="66421" y="283210"/>
                </a:lnTo>
                <a:lnTo>
                  <a:pt x="66421" y="271780"/>
                </a:lnTo>
                <a:lnTo>
                  <a:pt x="24765" y="271780"/>
                </a:lnTo>
                <a:lnTo>
                  <a:pt x="24765" y="1143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  <a:path w="258445" h="283210">
                <a:moveTo>
                  <a:pt x="258318" y="0"/>
                </a:moveTo>
                <a:lnTo>
                  <a:pt x="191897" y="0"/>
                </a:lnTo>
                <a:lnTo>
                  <a:pt x="191897" y="11430"/>
                </a:lnTo>
                <a:lnTo>
                  <a:pt x="233680" y="11430"/>
                </a:lnTo>
                <a:lnTo>
                  <a:pt x="233680" y="271780"/>
                </a:lnTo>
                <a:lnTo>
                  <a:pt x="191897" y="271780"/>
                </a:lnTo>
                <a:lnTo>
                  <a:pt x="191897" y="283210"/>
                </a:lnTo>
                <a:lnTo>
                  <a:pt x="258318" y="283210"/>
                </a:lnTo>
                <a:lnTo>
                  <a:pt x="258318" y="271780"/>
                </a:lnTo>
                <a:lnTo>
                  <a:pt x="258318" y="11430"/>
                </a:lnTo>
                <a:lnTo>
                  <a:pt x="25831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479290" y="4040885"/>
            <a:ext cx="6254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𝑿</a:t>
            </a:r>
            <a:r>
              <a:rPr sz="2400" spc="30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𝒊</a:t>
            </a:r>
            <a:r>
              <a:rPr sz="2400" spc="30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 spc="-50">
                <a:solidFill>
                  <a:srgbClr val="FFFFFF"/>
                </a:solidFill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113779" y="3617214"/>
            <a:ext cx="2056130" cy="81534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𝒊𝒇</a:t>
            </a:r>
            <a:r>
              <a:rPr sz="2400" spc="-10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𝑫[𝒊</a:t>
            </a:r>
            <a:r>
              <a:rPr sz="2400" spc="-10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+</a:t>
            </a:r>
            <a:r>
              <a:rPr sz="2400" spc="-5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𝟏]</a:t>
            </a:r>
            <a:r>
              <a:rPr sz="2400" spc="130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9200"/>
                </a:solidFill>
                <a:latin typeface="Cambria Math"/>
                <a:cs typeface="Cambria Math"/>
              </a:rPr>
              <a:t>&gt;</a:t>
            </a:r>
            <a:r>
              <a:rPr sz="2400" spc="140">
                <a:solidFill>
                  <a:srgbClr val="FF9200"/>
                </a:solidFill>
                <a:latin typeface="Cambria Math"/>
                <a:cs typeface="Cambria Math"/>
              </a:rPr>
              <a:t> </a:t>
            </a:r>
            <a:r>
              <a:rPr sz="2400" spc="-50">
                <a:solidFill>
                  <a:srgbClr val="FF9200"/>
                </a:solidFill>
                <a:latin typeface="Cambria Math"/>
                <a:cs typeface="Cambria Math"/>
              </a:rPr>
              <a:t>𝟎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𝒊𝒇</a:t>
            </a:r>
            <a:r>
              <a:rPr sz="2400" spc="-1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𝑫[𝒊</a:t>
            </a:r>
            <a:r>
              <a:rPr sz="2400" spc="-1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+</a:t>
            </a:r>
            <a:r>
              <a:rPr sz="2400" spc="-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𝟏]</a:t>
            </a:r>
            <a:r>
              <a:rPr sz="2400" spc="13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≤</a:t>
            </a:r>
            <a:r>
              <a:rPr sz="2400" spc="14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400" spc="-50">
                <a:solidFill>
                  <a:srgbClr val="FFFFFF"/>
                </a:solidFill>
                <a:latin typeface="Cambria Math"/>
                <a:cs typeface="Cambria Math"/>
              </a:rPr>
              <a:t>𝟎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2" name="object 3">
            <a:extLst>
              <a:ext uri="{FF2B5EF4-FFF2-40B4-BE49-F238E27FC236}">
                <a16:creationId xmlns:a16="http://schemas.microsoft.com/office/drawing/2014/main" id="{481FF6DF-6B27-FC44-92F2-54BE76CF1A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4440" y="171164"/>
            <a:ext cx="250444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555875" y="1370964"/>
          <a:ext cx="7446008" cy="791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2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222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222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2152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2152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222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152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17272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555875" y="2537079"/>
          <a:ext cx="7446008" cy="791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2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31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30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32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28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23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25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555875" y="4638675"/>
          <a:ext cx="7446008" cy="791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2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215265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215265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215265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172720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08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08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172720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08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171450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08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1969516" y="1723135"/>
            <a:ext cx="277495" cy="1557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𝑿</a:t>
            </a:r>
            <a:endParaRPr sz="24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endParaRPr sz="24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50">
              <a:latin typeface="Cambria Math"/>
              <a:cs typeface="Cambria Math"/>
            </a:endParaRPr>
          </a:p>
          <a:p>
            <a:pPr marL="35560">
              <a:lnSpc>
                <a:spcPct val="100000"/>
              </a:lnSpc>
              <a:spcBef>
                <a:spcPts val="5"/>
              </a:spcBef>
            </a:pPr>
            <a:r>
              <a:rPr sz="2400" spc="-50">
                <a:latin typeface="Cambria Math"/>
                <a:cs typeface="Cambria Math"/>
              </a:rPr>
              <a:t>𝑫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40229" y="4991100"/>
            <a:ext cx="5594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>
                <a:latin typeface="Cambria Math"/>
                <a:cs typeface="Cambria Math"/>
              </a:rPr>
              <a:t>𝑹𝒆𝒄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381500" y="2930651"/>
            <a:ext cx="396240" cy="387350"/>
          </a:xfrm>
          <a:custGeom>
            <a:avLst/>
            <a:gdLst/>
            <a:ahLst/>
            <a:cxnLst/>
            <a:rect l="l" t="t" r="r" b="b"/>
            <a:pathLst>
              <a:path w="396239" h="387350">
                <a:moveTo>
                  <a:pt x="0" y="64515"/>
                </a:moveTo>
                <a:lnTo>
                  <a:pt x="5062" y="39379"/>
                </a:lnTo>
                <a:lnTo>
                  <a:pt x="18875" y="18875"/>
                </a:lnTo>
                <a:lnTo>
                  <a:pt x="39379" y="5062"/>
                </a:lnTo>
                <a:lnTo>
                  <a:pt x="64515" y="0"/>
                </a:lnTo>
                <a:lnTo>
                  <a:pt x="331724" y="0"/>
                </a:lnTo>
                <a:lnTo>
                  <a:pt x="356860" y="5062"/>
                </a:lnTo>
                <a:lnTo>
                  <a:pt x="377364" y="18875"/>
                </a:lnTo>
                <a:lnTo>
                  <a:pt x="391177" y="39379"/>
                </a:lnTo>
                <a:lnTo>
                  <a:pt x="396239" y="64515"/>
                </a:lnTo>
                <a:lnTo>
                  <a:pt x="396239" y="322580"/>
                </a:lnTo>
                <a:lnTo>
                  <a:pt x="391177" y="347716"/>
                </a:lnTo>
                <a:lnTo>
                  <a:pt x="377364" y="368220"/>
                </a:lnTo>
                <a:lnTo>
                  <a:pt x="356860" y="382033"/>
                </a:lnTo>
                <a:lnTo>
                  <a:pt x="331724" y="387096"/>
                </a:lnTo>
                <a:lnTo>
                  <a:pt x="64515" y="387096"/>
                </a:lnTo>
                <a:lnTo>
                  <a:pt x="39379" y="382033"/>
                </a:lnTo>
                <a:lnTo>
                  <a:pt x="18875" y="368220"/>
                </a:lnTo>
                <a:lnTo>
                  <a:pt x="5062" y="347716"/>
                </a:lnTo>
                <a:lnTo>
                  <a:pt x="0" y="322580"/>
                </a:lnTo>
                <a:lnTo>
                  <a:pt x="0" y="64515"/>
                </a:lnTo>
                <a:close/>
              </a:path>
            </a:pathLst>
          </a:custGeom>
          <a:ln w="4445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602735" y="3420109"/>
            <a:ext cx="1953895" cy="698500"/>
          </a:xfrm>
          <a:custGeom>
            <a:avLst/>
            <a:gdLst/>
            <a:ahLst/>
            <a:cxnLst/>
            <a:rect l="l" t="t" r="r" b="b"/>
            <a:pathLst>
              <a:path w="1953895" h="698500">
                <a:moveTo>
                  <a:pt x="946530" y="0"/>
                </a:moveTo>
                <a:lnTo>
                  <a:pt x="325627" y="303021"/>
                </a:lnTo>
                <a:lnTo>
                  <a:pt x="0" y="303021"/>
                </a:lnTo>
                <a:lnTo>
                  <a:pt x="0" y="698500"/>
                </a:lnTo>
                <a:lnTo>
                  <a:pt x="1953767" y="698500"/>
                </a:lnTo>
                <a:lnTo>
                  <a:pt x="1953767" y="303021"/>
                </a:lnTo>
                <a:lnTo>
                  <a:pt x="814069" y="303021"/>
                </a:lnTo>
                <a:lnTo>
                  <a:pt x="946530" y="0"/>
                </a:lnTo>
                <a:close/>
              </a:path>
            </a:pathLst>
          </a:custGeom>
          <a:solidFill>
            <a:srgbClr val="083C8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109720" y="3687571"/>
            <a:ext cx="939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>
                <a:solidFill>
                  <a:srgbClr val="FFFFFF"/>
                </a:solidFill>
                <a:latin typeface="PMingLiU"/>
                <a:cs typeface="PMingLiU"/>
              </a:rPr>
              <a:t>最优解</a:t>
            </a:r>
            <a:endParaRPr sz="2400">
              <a:latin typeface="PMingLiU"/>
              <a:cs typeface="PMingLiU"/>
            </a:endParaRPr>
          </a:p>
        </p:txBody>
      </p:sp>
      <p:sp>
        <p:nvSpPr>
          <p:cNvPr id="11" name="object 3">
            <a:extLst>
              <a:ext uri="{FF2B5EF4-FFF2-40B4-BE49-F238E27FC236}">
                <a16:creationId xmlns:a16="http://schemas.microsoft.com/office/drawing/2014/main" id="{467A2E4E-935E-354E-B916-91ABE55C26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4440" y="171164"/>
            <a:ext cx="250444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555875" y="1370964"/>
          <a:ext cx="7446008" cy="791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2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222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222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2152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2152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222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152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17272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555875" y="2537079"/>
          <a:ext cx="7446008" cy="791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2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31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30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32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28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23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25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555875" y="4638675"/>
          <a:ext cx="7446008" cy="791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2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215265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215265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215265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172720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08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08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172720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08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171450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08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1969516" y="1723135"/>
            <a:ext cx="277495" cy="1557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𝑿</a:t>
            </a:r>
            <a:endParaRPr sz="24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endParaRPr sz="24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50">
              <a:latin typeface="Cambria Math"/>
              <a:cs typeface="Cambria Math"/>
            </a:endParaRPr>
          </a:p>
          <a:p>
            <a:pPr marL="35560">
              <a:lnSpc>
                <a:spcPct val="100000"/>
              </a:lnSpc>
              <a:spcBef>
                <a:spcPts val="5"/>
              </a:spcBef>
            </a:pPr>
            <a:r>
              <a:rPr sz="2400" spc="-50">
                <a:latin typeface="Cambria Math"/>
                <a:cs typeface="Cambria Math"/>
              </a:rPr>
              <a:t>𝑫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381500" y="2930651"/>
            <a:ext cx="396240" cy="387350"/>
          </a:xfrm>
          <a:custGeom>
            <a:avLst/>
            <a:gdLst/>
            <a:ahLst/>
            <a:cxnLst/>
            <a:rect l="l" t="t" r="r" b="b"/>
            <a:pathLst>
              <a:path w="396239" h="387350">
                <a:moveTo>
                  <a:pt x="0" y="64515"/>
                </a:moveTo>
                <a:lnTo>
                  <a:pt x="5062" y="39379"/>
                </a:lnTo>
                <a:lnTo>
                  <a:pt x="18875" y="18875"/>
                </a:lnTo>
                <a:lnTo>
                  <a:pt x="39379" y="5062"/>
                </a:lnTo>
                <a:lnTo>
                  <a:pt x="64515" y="0"/>
                </a:lnTo>
                <a:lnTo>
                  <a:pt x="331724" y="0"/>
                </a:lnTo>
                <a:lnTo>
                  <a:pt x="356860" y="5062"/>
                </a:lnTo>
                <a:lnTo>
                  <a:pt x="377364" y="18875"/>
                </a:lnTo>
                <a:lnTo>
                  <a:pt x="391177" y="39379"/>
                </a:lnTo>
                <a:lnTo>
                  <a:pt x="396239" y="64515"/>
                </a:lnTo>
                <a:lnTo>
                  <a:pt x="396239" y="322580"/>
                </a:lnTo>
                <a:lnTo>
                  <a:pt x="391177" y="347716"/>
                </a:lnTo>
                <a:lnTo>
                  <a:pt x="377364" y="368220"/>
                </a:lnTo>
                <a:lnTo>
                  <a:pt x="356860" y="382033"/>
                </a:lnTo>
                <a:lnTo>
                  <a:pt x="331724" y="387096"/>
                </a:lnTo>
                <a:lnTo>
                  <a:pt x="64515" y="387096"/>
                </a:lnTo>
                <a:lnTo>
                  <a:pt x="39379" y="382033"/>
                </a:lnTo>
                <a:lnTo>
                  <a:pt x="18875" y="368220"/>
                </a:lnTo>
                <a:lnTo>
                  <a:pt x="5062" y="347716"/>
                </a:lnTo>
                <a:lnTo>
                  <a:pt x="0" y="322580"/>
                </a:lnTo>
                <a:lnTo>
                  <a:pt x="0" y="64515"/>
                </a:lnTo>
                <a:close/>
              </a:path>
            </a:pathLst>
          </a:custGeom>
          <a:ln w="4445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602735" y="3420109"/>
            <a:ext cx="1953895" cy="698500"/>
          </a:xfrm>
          <a:custGeom>
            <a:avLst/>
            <a:gdLst/>
            <a:ahLst/>
            <a:cxnLst/>
            <a:rect l="l" t="t" r="r" b="b"/>
            <a:pathLst>
              <a:path w="1953895" h="698500">
                <a:moveTo>
                  <a:pt x="946530" y="0"/>
                </a:moveTo>
                <a:lnTo>
                  <a:pt x="325627" y="303021"/>
                </a:lnTo>
                <a:lnTo>
                  <a:pt x="0" y="303021"/>
                </a:lnTo>
                <a:lnTo>
                  <a:pt x="0" y="698500"/>
                </a:lnTo>
                <a:lnTo>
                  <a:pt x="1953767" y="698500"/>
                </a:lnTo>
                <a:lnTo>
                  <a:pt x="1953767" y="303021"/>
                </a:lnTo>
                <a:lnTo>
                  <a:pt x="814069" y="303021"/>
                </a:lnTo>
                <a:lnTo>
                  <a:pt x="946530" y="0"/>
                </a:lnTo>
                <a:close/>
              </a:path>
            </a:pathLst>
          </a:custGeom>
          <a:solidFill>
            <a:srgbClr val="083C8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109720" y="3687571"/>
            <a:ext cx="939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>
                <a:solidFill>
                  <a:srgbClr val="FFFFFF"/>
                </a:solidFill>
                <a:latin typeface="PMingLiU"/>
                <a:cs typeface="PMingLiU"/>
              </a:rPr>
              <a:t>最优解</a:t>
            </a:r>
            <a:endParaRPr sz="2400">
              <a:latin typeface="PMingLiU"/>
              <a:cs typeface="PMingLiU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381500" y="5048250"/>
            <a:ext cx="396240" cy="387350"/>
          </a:xfrm>
          <a:custGeom>
            <a:avLst/>
            <a:gdLst/>
            <a:ahLst/>
            <a:cxnLst/>
            <a:rect l="l" t="t" r="r" b="b"/>
            <a:pathLst>
              <a:path w="396239" h="387350">
                <a:moveTo>
                  <a:pt x="0" y="64516"/>
                </a:moveTo>
                <a:lnTo>
                  <a:pt x="5062" y="39379"/>
                </a:lnTo>
                <a:lnTo>
                  <a:pt x="18875" y="18875"/>
                </a:lnTo>
                <a:lnTo>
                  <a:pt x="39379" y="5062"/>
                </a:lnTo>
                <a:lnTo>
                  <a:pt x="64515" y="0"/>
                </a:lnTo>
                <a:lnTo>
                  <a:pt x="331724" y="0"/>
                </a:lnTo>
                <a:lnTo>
                  <a:pt x="356860" y="5062"/>
                </a:lnTo>
                <a:lnTo>
                  <a:pt x="377364" y="18875"/>
                </a:lnTo>
                <a:lnTo>
                  <a:pt x="391177" y="39379"/>
                </a:lnTo>
                <a:lnTo>
                  <a:pt x="396239" y="64516"/>
                </a:lnTo>
                <a:lnTo>
                  <a:pt x="396239" y="322580"/>
                </a:lnTo>
                <a:lnTo>
                  <a:pt x="391177" y="347716"/>
                </a:lnTo>
                <a:lnTo>
                  <a:pt x="377364" y="368220"/>
                </a:lnTo>
                <a:lnTo>
                  <a:pt x="356860" y="382033"/>
                </a:lnTo>
                <a:lnTo>
                  <a:pt x="331724" y="387096"/>
                </a:lnTo>
                <a:lnTo>
                  <a:pt x="64515" y="387096"/>
                </a:lnTo>
                <a:lnTo>
                  <a:pt x="39379" y="382033"/>
                </a:lnTo>
                <a:lnTo>
                  <a:pt x="18875" y="368220"/>
                </a:lnTo>
                <a:lnTo>
                  <a:pt x="5062" y="347716"/>
                </a:lnTo>
                <a:lnTo>
                  <a:pt x="0" y="322580"/>
                </a:lnTo>
                <a:lnTo>
                  <a:pt x="0" y="64516"/>
                </a:lnTo>
                <a:close/>
              </a:path>
            </a:pathLst>
          </a:custGeom>
          <a:ln w="4445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602735" y="5537708"/>
            <a:ext cx="1953895" cy="698500"/>
          </a:xfrm>
          <a:custGeom>
            <a:avLst/>
            <a:gdLst/>
            <a:ahLst/>
            <a:cxnLst/>
            <a:rect l="l" t="t" r="r" b="b"/>
            <a:pathLst>
              <a:path w="1953895" h="698500">
                <a:moveTo>
                  <a:pt x="946530" y="0"/>
                </a:moveTo>
                <a:lnTo>
                  <a:pt x="325627" y="303021"/>
                </a:lnTo>
                <a:lnTo>
                  <a:pt x="0" y="303021"/>
                </a:lnTo>
                <a:lnTo>
                  <a:pt x="0" y="698499"/>
                </a:lnTo>
                <a:lnTo>
                  <a:pt x="1953767" y="698499"/>
                </a:lnTo>
                <a:lnTo>
                  <a:pt x="1953767" y="303021"/>
                </a:lnTo>
                <a:lnTo>
                  <a:pt x="814069" y="303021"/>
                </a:lnTo>
                <a:lnTo>
                  <a:pt x="946530" y="0"/>
                </a:lnTo>
                <a:close/>
              </a:path>
            </a:pathLst>
          </a:custGeom>
          <a:solidFill>
            <a:srgbClr val="083C8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840229" y="4991100"/>
            <a:ext cx="3361690" cy="1205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>
                <a:latin typeface="Cambria Math"/>
                <a:cs typeface="Cambria Math"/>
              </a:rPr>
              <a:t>𝑹𝒆𝒄</a:t>
            </a:r>
            <a:endParaRPr sz="24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000">
              <a:latin typeface="Cambria Math"/>
              <a:cs typeface="Cambria Math"/>
            </a:endParaRPr>
          </a:p>
          <a:p>
            <a:pPr marL="2129790">
              <a:lnSpc>
                <a:spcPct val="100000"/>
              </a:lnSpc>
              <a:spcBef>
                <a:spcPts val="5"/>
              </a:spcBef>
            </a:pPr>
            <a:r>
              <a:rPr sz="2400" spc="-15">
                <a:solidFill>
                  <a:srgbClr val="FFFFFF"/>
                </a:solidFill>
                <a:latin typeface="PMingLiU"/>
                <a:cs typeface="PMingLiU"/>
              </a:rPr>
              <a:t>终止位置</a:t>
            </a:r>
            <a:endParaRPr sz="2400">
              <a:latin typeface="PMingLiU"/>
              <a:cs typeface="PMingLiU"/>
            </a:endParaRPr>
          </a:p>
        </p:txBody>
      </p:sp>
      <p:sp>
        <p:nvSpPr>
          <p:cNvPr id="13" name="object 3">
            <a:extLst>
              <a:ext uri="{FF2B5EF4-FFF2-40B4-BE49-F238E27FC236}">
                <a16:creationId xmlns:a16="http://schemas.microsoft.com/office/drawing/2014/main" id="{555A8920-BBA7-9B46-9B2D-70770B5318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4440" y="171164"/>
            <a:ext cx="250444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555875" y="1346512"/>
          <a:ext cx="7445371" cy="791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2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6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4019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222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0000"/>
                      </a:solidFill>
                      <a:prstDash val="sysDash"/>
                    </a:lnB>
                    <a:solidFill>
                      <a:srgbClr val="006F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22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0000"/>
                      </a:solidFill>
                      <a:prstDash val="sysDash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0000"/>
                      </a:solidFill>
                      <a:prstDash val="sysDash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2152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0000"/>
                      </a:solidFill>
                      <a:prstDash val="sysDash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0000"/>
                      </a:solidFill>
                      <a:prstDash val="sysDash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2152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0000"/>
                      </a:solidFill>
                      <a:prstDash val="sysDash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0000"/>
                      </a:solidFill>
                      <a:prstDash val="sysDash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0000"/>
                      </a:solidFill>
                      <a:prstDash val="sysDash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0000"/>
                      </a:solidFill>
                      <a:prstDash val="sysDash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0000"/>
                      </a:solidFill>
                      <a:prstDash val="sysDash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98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83829">
                      <a:solidFill>
                        <a:srgbClr val="FF0000"/>
                      </a:solidFill>
                      <a:prstDash val="sysDash"/>
                    </a:lnR>
                    <a:lnT w="76200" cap="flat" cmpd="sng" algn="ctr">
                      <a:solidFill>
                        <a:srgbClr val="FF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4</a:t>
                      </a: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83829">
                      <a:solidFill>
                        <a:srgbClr val="FF0000"/>
                      </a:solidFill>
                      <a:prstDash val="sysDash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76200">
                      <a:solidFill>
                        <a:srgbClr val="FF0000"/>
                      </a:solidFill>
                      <a:prstDash val="sysDash"/>
                    </a:lnT>
                    <a:lnB w="76200">
                      <a:solidFill>
                        <a:srgbClr val="FF0000"/>
                      </a:solidFill>
                      <a:prstDash val="sysDash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2225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76200">
                      <a:solidFill>
                        <a:srgbClr val="FF0000"/>
                      </a:solidFill>
                      <a:prstDash val="sysDash"/>
                    </a:lnT>
                    <a:lnB w="76200">
                      <a:solidFill>
                        <a:srgbClr val="FF0000"/>
                      </a:solidFill>
                      <a:prstDash val="sysDash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76200">
                      <a:solidFill>
                        <a:srgbClr val="FF0000"/>
                      </a:solidFill>
                      <a:prstDash val="sysDash"/>
                    </a:lnT>
                    <a:lnB w="76200">
                      <a:solidFill>
                        <a:srgbClr val="FF0000"/>
                      </a:solidFill>
                      <a:prstDash val="sysDash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15265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76200">
                      <a:solidFill>
                        <a:srgbClr val="FF0000"/>
                      </a:solidFill>
                      <a:prstDash val="sysDash"/>
                    </a:lnT>
                    <a:lnB w="76200">
                      <a:solidFill>
                        <a:srgbClr val="FF0000"/>
                      </a:solidFill>
                      <a:prstDash val="sysDash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76200">
                      <a:solidFill>
                        <a:srgbClr val="FF0000"/>
                      </a:solidFill>
                      <a:prstDash val="sysDash"/>
                    </a:lnT>
                    <a:lnB w="76200">
                      <a:solidFill>
                        <a:srgbClr val="FF0000"/>
                      </a:solidFill>
                      <a:prstDash val="sysDash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172720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76200">
                      <a:solidFill>
                        <a:srgbClr val="FF0000"/>
                      </a:solidFill>
                      <a:prstDash val="sysDash"/>
                    </a:lnT>
                    <a:lnB w="76200">
                      <a:solidFill>
                        <a:srgbClr val="FF0000"/>
                      </a:solidFill>
                      <a:prstDash val="sysDash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76200">
                      <a:solidFill>
                        <a:srgbClr val="FF0000"/>
                      </a:solidFill>
                      <a:prstDash val="sysDash"/>
                    </a:lnT>
                    <a:lnB w="76200">
                      <a:solidFill>
                        <a:srgbClr val="FF0000"/>
                      </a:solidFill>
                      <a:prstDash val="sysDash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76200">
                      <a:solidFill>
                        <a:srgbClr val="FF0000"/>
                      </a:solidFill>
                      <a:prstDash val="sysDash"/>
                    </a:lnT>
                    <a:lnB w="76200">
                      <a:solidFill>
                        <a:srgbClr val="FF0000"/>
                      </a:solidFill>
                      <a:prstDash val="sysDash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90090">
                      <a:solidFill>
                        <a:srgbClr val="FF0000"/>
                      </a:solidFill>
                      <a:prstDash val="sysDash"/>
                    </a:lnR>
                    <a:lnT w="76200">
                      <a:solidFill>
                        <a:srgbClr val="FF0000"/>
                      </a:solidFill>
                      <a:prstDash val="sysDash"/>
                    </a:lnT>
                    <a:lnB w="76200">
                      <a:solidFill>
                        <a:srgbClr val="FF0000"/>
                      </a:solidFill>
                      <a:prstDash val="sysDash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90090">
                      <a:solidFill>
                        <a:srgbClr val="FF0000"/>
                      </a:solidFill>
                      <a:prstDash val="sysDash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76200">
                      <a:solidFill>
                        <a:srgbClr val="FF0000"/>
                      </a:solidFill>
                      <a:prstDash val="sysDash"/>
                    </a:lnT>
                    <a:lnB w="76200">
                      <a:solidFill>
                        <a:srgbClr val="FF0000"/>
                      </a:solidFill>
                      <a:prstDash val="sysDash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555875" y="2537079"/>
          <a:ext cx="7446008" cy="791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2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31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30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32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28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23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25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b="1" spc="-5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555875" y="4638675"/>
          <a:ext cx="7446008" cy="791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2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277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𝒊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215265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215265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R="215265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172720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08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08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172720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08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171450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08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>
                          <a:latin typeface="Times New Roman"/>
                          <a:cs typeface="Times New Roman"/>
                        </a:rPr>
                        <a:t>12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1969516" y="1723135"/>
            <a:ext cx="277495" cy="1557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𝑿</a:t>
            </a:r>
            <a:endParaRPr sz="24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endParaRPr sz="24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50">
              <a:latin typeface="Cambria Math"/>
              <a:cs typeface="Cambria Math"/>
            </a:endParaRPr>
          </a:p>
          <a:p>
            <a:pPr marL="35560">
              <a:lnSpc>
                <a:spcPct val="100000"/>
              </a:lnSpc>
              <a:spcBef>
                <a:spcPts val="5"/>
              </a:spcBef>
            </a:pPr>
            <a:r>
              <a:rPr sz="2400" spc="-50">
                <a:latin typeface="Cambria Math"/>
                <a:cs typeface="Cambria Math"/>
              </a:rPr>
              <a:t>𝑫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40229" y="4991100"/>
            <a:ext cx="5594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>
                <a:latin typeface="Cambria Math"/>
                <a:cs typeface="Cambria Math"/>
              </a:rPr>
              <a:t>𝑹𝒆𝒄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381500" y="2930651"/>
            <a:ext cx="396240" cy="387350"/>
          </a:xfrm>
          <a:custGeom>
            <a:avLst/>
            <a:gdLst/>
            <a:ahLst/>
            <a:cxnLst/>
            <a:rect l="l" t="t" r="r" b="b"/>
            <a:pathLst>
              <a:path w="396239" h="387350">
                <a:moveTo>
                  <a:pt x="0" y="64515"/>
                </a:moveTo>
                <a:lnTo>
                  <a:pt x="5062" y="39379"/>
                </a:lnTo>
                <a:lnTo>
                  <a:pt x="18875" y="18875"/>
                </a:lnTo>
                <a:lnTo>
                  <a:pt x="39379" y="5062"/>
                </a:lnTo>
                <a:lnTo>
                  <a:pt x="64515" y="0"/>
                </a:lnTo>
                <a:lnTo>
                  <a:pt x="331724" y="0"/>
                </a:lnTo>
                <a:lnTo>
                  <a:pt x="356860" y="5062"/>
                </a:lnTo>
                <a:lnTo>
                  <a:pt x="377364" y="18875"/>
                </a:lnTo>
                <a:lnTo>
                  <a:pt x="391177" y="39379"/>
                </a:lnTo>
                <a:lnTo>
                  <a:pt x="396239" y="64515"/>
                </a:lnTo>
                <a:lnTo>
                  <a:pt x="396239" y="322580"/>
                </a:lnTo>
                <a:lnTo>
                  <a:pt x="391177" y="347716"/>
                </a:lnTo>
                <a:lnTo>
                  <a:pt x="377364" y="368220"/>
                </a:lnTo>
                <a:lnTo>
                  <a:pt x="356860" y="382033"/>
                </a:lnTo>
                <a:lnTo>
                  <a:pt x="331724" y="387096"/>
                </a:lnTo>
                <a:lnTo>
                  <a:pt x="64515" y="387096"/>
                </a:lnTo>
                <a:lnTo>
                  <a:pt x="39379" y="382033"/>
                </a:lnTo>
                <a:lnTo>
                  <a:pt x="18875" y="368220"/>
                </a:lnTo>
                <a:lnTo>
                  <a:pt x="5062" y="347716"/>
                </a:lnTo>
                <a:lnTo>
                  <a:pt x="0" y="322580"/>
                </a:lnTo>
                <a:lnTo>
                  <a:pt x="0" y="64515"/>
                </a:lnTo>
                <a:close/>
              </a:path>
            </a:pathLst>
          </a:custGeom>
          <a:ln w="4445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602735" y="3420109"/>
            <a:ext cx="1953895" cy="698500"/>
          </a:xfrm>
          <a:custGeom>
            <a:avLst/>
            <a:gdLst/>
            <a:ahLst/>
            <a:cxnLst/>
            <a:rect l="l" t="t" r="r" b="b"/>
            <a:pathLst>
              <a:path w="1953895" h="698500">
                <a:moveTo>
                  <a:pt x="946530" y="0"/>
                </a:moveTo>
                <a:lnTo>
                  <a:pt x="325627" y="303021"/>
                </a:lnTo>
                <a:lnTo>
                  <a:pt x="0" y="303021"/>
                </a:lnTo>
                <a:lnTo>
                  <a:pt x="0" y="698500"/>
                </a:lnTo>
                <a:lnTo>
                  <a:pt x="1953767" y="698500"/>
                </a:lnTo>
                <a:lnTo>
                  <a:pt x="1953767" y="303021"/>
                </a:lnTo>
                <a:lnTo>
                  <a:pt x="814069" y="303021"/>
                </a:lnTo>
                <a:lnTo>
                  <a:pt x="946530" y="0"/>
                </a:lnTo>
                <a:close/>
              </a:path>
            </a:pathLst>
          </a:custGeom>
          <a:solidFill>
            <a:srgbClr val="083C8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109720" y="3687571"/>
            <a:ext cx="939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>
                <a:solidFill>
                  <a:srgbClr val="FFFFFF"/>
                </a:solidFill>
                <a:latin typeface="PMingLiU"/>
                <a:cs typeface="PMingLiU"/>
              </a:rPr>
              <a:t>最优解</a:t>
            </a:r>
            <a:endParaRPr sz="2400">
              <a:latin typeface="PMingLiU"/>
              <a:cs typeface="PMingLiU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381500" y="5048250"/>
            <a:ext cx="396240" cy="387350"/>
          </a:xfrm>
          <a:custGeom>
            <a:avLst/>
            <a:gdLst/>
            <a:ahLst/>
            <a:cxnLst/>
            <a:rect l="l" t="t" r="r" b="b"/>
            <a:pathLst>
              <a:path w="396239" h="387350">
                <a:moveTo>
                  <a:pt x="0" y="64516"/>
                </a:moveTo>
                <a:lnTo>
                  <a:pt x="5062" y="39379"/>
                </a:lnTo>
                <a:lnTo>
                  <a:pt x="18875" y="18875"/>
                </a:lnTo>
                <a:lnTo>
                  <a:pt x="39379" y="5062"/>
                </a:lnTo>
                <a:lnTo>
                  <a:pt x="64515" y="0"/>
                </a:lnTo>
                <a:lnTo>
                  <a:pt x="331724" y="0"/>
                </a:lnTo>
                <a:lnTo>
                  <a:pt x="356860" y="5062"/>
                </a:lnTo>
                <a:lnTo>
                  <a:pt x="377364" y="18875"/>
                </a:lnTo>
                <a:lnTo>
                  <a:pt x="391177" y="39379"/>
                </a:lnTo>
                <a:lnTo>
                  <a:pt x="396239" y="64516"/>
                </a:lnTo>
                <a:lnTo>
                  <a:pt x="396239" y="322580"/>
                </a:lnTo>
                <a:lnTo>
                  <a:pt x="391177" y="347716"/>
                </a:lnTo>
                <a:lnTo>
                  <a:pt x="377364" y="368220"/>
                </a:lnTo>
                <a:lnTo>
                  <a:pt x="356860" y="382033"/>
                </a:lnTo>
                <a:lnTo>
                  <a:pt x="331724" y="387096"/>
                </a:lnTo>
                <a:lnTo>
                  <a:pt x="64515" y="387096"/>
                </a:lnTo>
                <a:lnTo>
                  <a:pt x="39379" y="382033"/>
                </a:lnTo>
                <a:lnTo>
                  <a:pt x="18875" y="368220"/>
                </a:lnTo>
                <a:lnTo>
                  <a:pt x="5062" y="347716"/>
                </a:lnTo>
                <a:lnTo>
                  <a:pt x="0" y="322580"/>
                </a:lnTo>
                <a:lnTo>
                  <a:pt x="0" y="64516"/>
                </a:lnTo>
                <a:close/>
              </a:path>
            </a:pathLst>
          </a:custGeom>
          <a:ln w="4445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602735" y="5537708"/>
            <a:ext cx="1953895" cy="698500"/>
          </a:xfrm>
          <a:custGeom>
            <a:avLst/>
            <a:gdLst/>
            <a:ahLst/>
            <a:cxnLst/>
            <a:rect l="l" t="t" r="r" b="b"/>
            <a:pathLst>
              <a:path w="1953895" h="698500">
                <a:moveTo>
                  <a:pt x="946530" y="0"/>
                </a:moveTo>
                <a:lnTo>
                  <a:pt x="325627" y="303021"/>
                </a:lnTo>
                <a:lnTo>
                  <a:pt x="0" y="303021"/>
                </a:lnTo>
                <a:lnTo>
                  <a:pt x="0" y="698499"/>
                </a:lnTo>
                <a:lnTo>
                  <a:pt x="1953767" y="698499"/>
                </a:lnTo>
                <a:lnTo>
                  <a:pt x="1953767" y="303021"/>
                </a:lnTo>
                <a:lnTo>
                  <a:pt x="814069" y="303021"/>
                </a:lnTo>
                <a:lnTo>
                  <a:pt x="946530" y="0"/>
                </a:lnTo>
                <a:close/>
              </a:path>
            </a:pathLst>
          </a:custGeom>
          <a:solidFill>
            <a:srgbClr val="083C8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957320" y="5805423"/>
            <a:ext cx="1244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5">
                <a:solidFill>
                  <a:srgbClr val="FFFFFF"/>
                </a:solidFill>
                <a:latin typeface="PMingLiU"/>
                <a:cs typeface="PMingLiU"/>
              </a:rPr>
              <a:t>终止位置</a:t>
            </a:r>
            <a:endParaRPr sz="2400">
              <a:latin typeface="PMingLiU"/>
              <a:cs typeface="PMingLiU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960109" y="5800852"/>
            <a:ext cx="351091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2200" spc="12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2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200" spc="13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200" spc="-10">
                <a:solidFill>
                  <a:srgbClr val="FF0000"/>
                </a:solidFill>
                <a:latin typeface="Cambria Math"/>
                <a:cs typeface="Cambria Math"/>
              </a:rPr>
              <a:t>{𝟒,</a:t>
            </a:r>
            <a:r>
              <a:rPr sz="2200" spc="-12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200">
                <a:solidFill>
                  <a:srgbClr val="FF0000"/>
                </a:solidFill>
                <a:latin typeface="Cambria Math"/>
                <a:cs typeface="Cambria Math"/>
              </a:rPr>
              <a:t>𝟓,</a:t>
            </a:r>
            <a:r>
              <a:rPr sz="2200" spc="-12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200" spc="-10">
                <a:solidFill>
                  <a:srgbClr val="FF0000"/>
                </a:solidFill>
                <a:latin typeface="Cambria Math"/>
                <a:cs typeface="Cambria Math"/>
              </a:rPr>
              <a:t>−𝟐,</a:t>
            </a:r>
            <a:r>
              <a:rPr sz="2200" spc="-12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200" spc="-10">
                <a:solidFill>
                  <a:srgbClr val="FF0000"/>
                </a:solidFill>
                <a:latin typeface="Cambria Math"/>
                <a:cs typeface="Cambria Math"/>
              </a:rPr>
              <a:t>𝟖,</a:t>
            </a:r>
            <a:r>
              <a:rPr sz="2200" spc="-114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200" spc="-10">
                <a:solidFill>
                  <a:srgbClr val="FF0000"/>
                </a:solidFill>
                <a:latin typeface="Cambria Math"/>
                <a:cs typeface="Cambria Math"/>
              </a:rPr>
              <a:t>𝟑,</a:t>
            </a:r>
            <a:r>
              <a:rPr sz="2200" spc="-12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200" spc="-10">
                <a:solidFill>
                  <a:srgbClr val="FF0000"/>
                </a:solidFill>
                <a:latin typeface="Cambria Math"/>
                <a:cs typeface="Cambria Math"/>
              </a:rPr>
              <a:t>−𝟐,</a:t>
            </a:r>
            <a:r>
              <a:rPr sz="2200" spc="-12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200">
                <a:solidFill>
                  <a:srgbClr val="FF0000"/>
                </a:solidFill>
                <a:latin typeface="Cambria Math"/>
                <a:cs typeface="Cambria Math"/>
              </a:rPr>
              <a:t>𝟔,</a:t>
            </a:r>
            <a:r>
              <a:rPr sz="2200" spc="-12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200">
                <a:solidFill>
                  <a:srgbClr val="FF0000"/>
                </a:solidFill>
                <a:latin typeface="Cambria Math"/>
                <a:cs typeface="Cambria Math"/>
              </a:rPr>
              <a:t>𝟑,</a:t>
            </a:r>
            <a:r>
              <a:rPr sz="2200" spc="-12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200" spc="-25">
                <a:solidFill>
                  <a:srgbClr val="FF0000"/>
                </a:solidFill>
                <a:latin typeface="Cambria Math"/>
                <a:cs typeface="Cambria Math"/>
              </a:rPr>
              <a:t>𝟕}</a:t>
            </a:r>
            <a:endParaRPr sz="2200">
              <a:latin typeface="Cambria Math"/>
              <a:cs typeface="Cambria Math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582DD638-7558-644A-AD3B-F358CF37F0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1024" y="1301971"/>
            <a:ext cx="530222" cy="905796"/>
          </a:xfrm>
          <a:prstGeom prst="rect">
            <a:avLst/>
          </a:prstGeom>
        </p:spPr>
      </p:pic>
      <p:sp>
        <p:nvSpPr>
          <p:cNvPr id="15" name="object 3">
            <a:extLst>
              <a:ext uri="{FF2B5EF4-FFF2-40B4-BE49-F238E27FC236}">
                <a16:creationId xmlns:a16="http://schemas.microsoft.com/office/drawing/2014/main" id="{F512008C-AC4B-784A-A2B6-6DF6949BE5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4440" y="171164"/>
            <a:ext cx="250444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8D213DAC-948C-C346-B273-7733ADB01EAE}"/>
              </a:ext>
            </a:extLst>
          </p:cNvPr>
          <p:cNvCxnSpPr>
            <a:cxnSpLocks/>
          </p:cNvCxnSpPr>
          <p:nvPr/>
        </p:nvCxnSpPr>
        <p:spPr>
          <a:xfrm>
            <a:off x="4300152" y="1760206"/>
            <a:ext cx="0" cy="415222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连接符 19">
            <a:extLst>
              <a:ext uri="{FF2B5EF4-FFF2-40B4-BE49-F238E27FC236}">
                <a16:creationId xmlns:a16="http://schemas.microsoft.com/office/drawing/2014/main" id="{F5271837-C276-8249-B980-88289BFF163C}"/>
              </a:ext>
            </a:extLst>
          </p:cNvPr>
          <p:cNvCxnSpPr>
            <a:cxnSpLocks/>
          </p:cNvCxnSpPr>
          <p:nvPr/>
        </p:nvCxnSpPr>
        <p:spPr>
          <a:xfrm>
            <a:off x="4366053" y="1727252"/>
            <a:ext cx="0" cy="415222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84949" y="1475718"/>
            <a:ext cx="8599170" cy="5226050"/>
            <a:chOff x="984949" y="1475718"/>
            <a:chExt cx="8599170" cy="5226050"/>
          </a:xfrm>
        </p:grpSpPr>
        <p:pic>
          <p:nvPicPr>
            <p:cNvPr id="3" name="object 3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984949" y="1475718"/>
              <a:ext cx="8598955" cy="522558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281684" y="2746247"/>
              <a:ext cx="3136900" cy="600075"/>
            </a:xfrm>
            <a:custGeom>
              <a:avLst/>
              <a:gdLst/>
              <a:ahLst/>
              <a:cxnLst/>
              <a:rect l="l" t="t" r="r" b="b"/>
              <a:pathLst>
                <a:path w="3136900" h="600075">
                  <a:moveTo>
                    <a:pt x="0" y="99949"/>
                  </a:moveTo>
                  <a:lnTo>
                    <a:pt x="7848" y="61025"/>
                  </a:lnTo>
                  <a:lnTo>
                    <a:pt x="29257" y="29257"/>
                  </a:lnTo>
                  <a:lnTo>
                    <a:pt x="61025" y="7848"/>
                  </a:lnTo>
                  <a:lnTo>
                    <a:pt x="99949" y="0"/>
                  </a:lnTo>
                  <a:lnTo>
                    <a:pt x="3036442" y="0"/>
                  </a:lnTo>
                  <a:lnTo>
                    <a:pt x="3075366" y="7848"/>
                  </a:lnTo>
                  <a:lnTo>
                    <a:pt x="3107134" y="29257"/>
                  </a:lnTo>
                  <a:lnTo>
                    <a:pt x="3128543" y="61025"/>
                  </a:lnTo>
                  <a:lnTo>
                    <a:pt x="3136391" y="99949"/>
                  </a:lnTo>
                  <a:lnTo>
                    <a:pt x="3136391" y="499744"/>
                  </a:lnTo>
                  <a:lnTo>
                    <a:pt x="3128543" y="538668"/>
                  </a:lnTo>
                  <a:lnTo>
                    <a:pt x="3107134" y="570436"/>
                  </a:lnTo>
                  <a:lnTo>
                    <a:pt x="3075366" y="591845"/>
                  </a:lnTo>
                  <a:lnTo>
                    <a:pt x="3036442" y="599693"/>
                  </a:lnTo>
                  <a:lnTo>
                    <a:pt x="99949" y="599693"/>
                  </a:lnTo>
                  <a:lnTo>
                    <a:pt x="61025" y="591845"/>
                  </a:lnTo>
                  <a:lnTo>
                    <a:pt x="29257" y="570436"/>
                  </a:lnTo>
                  <a:lnTo>
                    <a:pt x="7848" y="538668"/>
                  </a:lnTo>
                  <a:lnTo>
                    <a:pt x="0" y="499744"/>
                  </a:lnTo>
                  <a:lnTo>
                    <a:pt x="0" y="99949"/>
                  </a:lnTo>
                  <a:close/>
                </a:path>
              </a:pathLst>
            </a:custGeom>
            <a:ln w="38099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728980" y="931163"/>
            <a:ext cx="59442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b="1" dirty="0">
                <a:latin typeface="Times New Roman"/>
                <a:cs typeface="Times New Roman"/>
              </a:rPr>
              <a:t>Max-Continuous-</a:t>
            </a:r>
            <a:r>
              <a:rPr sz="2800" b="1" spc="-10" dirty="0">
                <a:latin typeface="Times New Roman"/>
                <a:cs typeface="Times New Roman"/>
              </a:rPr>
              <a:t>Subarray-DP(</a:t>
            </a:r>
            <a:r>
              <a:rPr sz="2800" spc="-10" dirty="0">
                <a:latin typeface="Cambria Math"/>
                <a:cs typeface="Cambria Math"/>
              </a:rPr>
              <a:t>𝑿, </a:t>
            </a:r>
            <a:r>
              <a:rPr sz="2800" spc="-25" dirty="0">
                <a:latin typeface="Cambria Math"/>
                <a:cs typeface="Cambria Math"/>
              </a:rPr>
              <a:t>𝒏</a:t>
            </a:r>
            <a:r>
              <a:rPr sz="2800" b="1" spc="-25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17802" y="119952"/>
            <a:ext cx="5073651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动态规划：伪代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码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18278" y="2746629"/>
            <a:ext cx="1578610" cy="60007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97155" rIns="0" bIns="0" rtlCol="0">
            <a:spAutoFit/>
          </a:bodyPr>
          <a:lstStyle/>
          <a:p>
            <a:pPr marL="368935">
              <a:lnSpc>
                <a:spcPct val="100000"/>
              </a:lnSpc>
              <a:spcBef>
                <a:spcPts val="765"/>
              </a:spcBef>
            </a:pPr>
            <a:r>
              <a:rPr sz="2200" spc="-20">
                <a:latin typeface="PMingLiU"/>
                <a:cs typeface="PMingLiU"/>
              </a:rPr>
              <a:t>初始化</a:t>
            </a:r>
            <a:endParaRPr sz="2200">
              <a:latin typeface="PMingLiU"/>
              <a:cs typeface="PMingLiU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84949" y="1475718"/>
            <a:ext cx="8599170" cy="5226050"/>
            <a:chOff x="984949" y="1475718"/>
            <a:chExt cx="8599170" cy="5226050"/>
          </a:xfrm>
        </p:grpSpPr>
        <p:pic>
          <p:nvPicPr>
            <p:cNvPr id="3" name="object 3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984949" y="1475718"/>
              <a:ext cx="8598955" cy="522558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292352" y="3611117"/>
              <a:ext cx="3717290" cy="351790"/>
            </a:xfrm>
            <a:custGeom>
              <a:avLst/>
              <a:gdLst/>
              <a:ahLst/>
              <a:cxnLst/>
              <a:rect l="l" t="t" r="r" b="b"/>
              <a:pathLst>
                <a:path w="3717290" h="351789">
                  <a:moveTo>
                    <a:pt x="0" y="58546"/>
                  </a:moveTo>
                  <a:lnTo>
                    <a:pt x="4593" y="35736"/>
                  </a:lnTo>
                  <a:lnTo>
                    <a:pt x="17129" y="17129"/>
                  </a:lnTo>
                  <a:lnTo>
                    <a:pt x="35736" y="4593"/>
                  </a:lnTo>
                  <a:lnTo>
                    <a:pt x="58546" y="0"/>
                  </a:lnTo>
                  <a:lnTo>
                    <a:pt x="3658489" y="0"/>
                  </a:lnTo>
                  <a:lnTo>
                    <a:pt x="3681299" y="4593"/>
                  </a:lnTo>
                  <a:lnTo>
                    <a:pt x="3699906" y="17129"/>
                  </a:lnTo>
                  <a:lnTo>
                    <a:pt x="3712442" y="35736"/>
                  </a:lnTo>
                  <a:lnTo>
                    <a:pt x="3717036" y="58546"/>
                  </a:lnTo>
                  <a:lnTo>
                    <a:pt x="3717036" y="292734"/>
                  </a:lnTo>
                  <a:lnTo>
                    <a:pt x="3712442" y="315545"/>
                  </a:lnTo>
                  <a:lnTo>
                    <a:pt x="3699906" y="334152"/>
                  </a:lnTo>
                  <a:lnTo>
                    <a:pt x="3681299" y="346688"/>
                  </a:lnTo>
                  <a:lnTo>
                    <a:pt x="3658489" y="351281"/>
                  </a:lnTo>
                  <a:lnTo>
                    <a:pt x="58546" y="351281"/>
                  </a:lnTo>
                  <a:lnTo>
                    <a:pt x="35736" y="346688"/>
                  </a:lnTo>
                  <a:lnTo>
                    <a:pt x="17129" y="334152"/>
                  </a:lnTo>
                  <a:lnTo>
                    <a:pt x="4593" y="315545"/>
                  </a:lnTo>
                  <a:lnTo>
                    <a:pt x="0" y="292734"/>
                  </a:lnTo>
                  <a:lnTo>
                    <a:pt x="0" y="58546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749300" y="962003"/>
            <a:ext cx="59442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b="1" dirty="0">
                <a:latin typeface="Times New Roman"/>
                <a:cs typeface="Times New Roman"/>
              </a:rPr>
              <a:t>Max-Continuous-</a:t>
            </a:r>
            <a:r>
              <a:rPr sz="2800" b="1" spc="-10" dirty="0">
                <a:latin typeface="Times New Roman"/>
                <a:cs typeface="Times New Roman"/>
              </a:rPr>
              <a:t>Subarray-DP(</a:t>
            </a:r>
            <a:r>
              <a:rPr sz="2800" spc="-10" dirty="0">
                <a:latin typeface="Cambria Math"/>
                <a:cs typeface="Cambria Math"/>
              </a:rPr>
              <a:t>𝑿, </a:t>
            </a:r>
            <a:r>
              <a:rPr sz="2800" spc="-25" dirty="0">
                <a:latin typeface="Cambria Math"/>
                <a:cs typeface="Cambria Math"/>
              </a:rPr>
              <a:t>𝒏</a:t>
            </a:r>
            <a:r>
              <a:rPr sz="2800" b="1" spc="-25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64277" y="3611498"/>
            <a:ext cx="4215765" cy="60007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97155" rIns="0" bIns="0" rtlCol="0">
            <a:spAutoFit/>
          </a:bodyPr>
          <a:lstStyle/>
          <a:p>
            <a:pPr marL="1268730">
              <a:lnSpc>
                <a:spcPct val="100000"/>
              </a:lnSpc>
              <a:spcBef>
                <a:spcPts val="765"/>
              </a:spcBef>
            </a:pPr>
            <a:r>
              <a:rPr sz="2200" spc="-10">
                <a:latin typeface="PMingLiU"/>
                <a:cs typeface="PMingLiU"/>
              </a:rPr>
              <a:t>自底向上计算</a:t>
            </a:r>
            <a:endParaRPr sz="2200">
              <a:latin typeface="PMingLiU"/>
              <a:cs typeface="PMingLiU"/>
            </a:endParaRP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71580A0E-665C-1D4E-8ABC-7F0E11C413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7802" y="119952"/>
            <a:ext cx="5073651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动态规划：伪代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码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84949" y="1475718"/>
            <a:ext cx="8599170" cy="5226050"/>
            <a:chOff x="984949" y="1475718"/>
            <a:chExt cx="8599170" cy="5226050"/>
          </a:xfrm>
        </p:grpSpPr>
        <p:pic>
          <p:nvPicPr>
            <p:cNvPr id="3" name="object 3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984949" y="1475718"/>
              <a:ext cx="8598955" cy="522558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623822" y="3946397"/>
              <a:ext cx="3465195" cy="321310"/>
            </a:xfrm>
            <a:custGeom>
              <a:avLst/>
              <a:gdLst/>
              <a:ahLst/>
              <a:cxnLst/>
              <a:rect l="l" t="t" r="r" b="b"/>
              <a:pathLst>
                <a:path w="3465195" h="321310">
                  <a:moveTo>
                    <a:pt x="0" y="53466"/>
                  </a:moveTo>
                  <a:lnTo>
                    <a:pt x="4192" y="32629"/>
                  </a:lnTo>
                  <a:lnTo>
                    <a:pt x="15636" y="15636"/>
                  </a:lnTo>
                  <a:lnTo>
                    <a:pt x="32629" y="4192"/>
                  </a:lnTo>
                  <a:lnTo>
                    <a:pt x="53466" y="0"/>
                  </a:lnTo>
                  <a:lnTo>
                    <a:pt x="3411347" y="0"/>
                  </a:lnTo>
                  <a:lnTo>
                    <a:pt x="3432184" y="4192"/>
                  </a:lnTo>
                  <a:lnTo>
                    <a:pt x="3449177" y="15636"/>
                  </a:lnTo>
                  <a:lnTo>
                    <a:pt x="3460621" y="32629"/>
                  </a:lnTo>
                  <a:lnTo>
                    <a:pt x="3464814" y="53466"/>
                  </a:lnTo>
                  <a:lnTo>
                    <a:pt x="3464814" y="267334"/>
                  </a:lnTo>
                  <a:lnTo>
                    <a:pt x="3460621" y="288172"/>
                  </a:lnTo>
                  <a:lnTo>
                    <a:pt x="3449177" y="305165"/>
                  </a:lnTo>
                  <a:lnTo>
                    <a:pt x="3432184" y="316609"/>
                  </a:lnTo>
                  <a:lnTo>
                    <a:pt x="3411347" y="320801"/>
                  </a:lnTo>
                  <a:lnTo>
                    <a:pt x="53466" y="320801"/>
                  </a:lnTo>
                  <a:lnTo>
                    <a:pt x="32629" y="316609"/>
                  </a:lnTo>
                  <a:lnTo>
                    <a:pt x="15636" y="305165"/>
                  </a:lnTo>
                  <a:lnTo>
                    <a:pt x="4192" y="288172"/>
                  </a:lnTo>
                  <a:lnTo>
                    <a:pt x="0" y="267334"/>
                  </a:lnTo>
                  <a:lnTo>
                    <a:pt x="0" y="53466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292848" y="4118609"/>
              <a:ext cx="736600" cy="260350"/>
            </a:xfrm>
            <a:custGeom>
              <a:avLst/>
              <a:gdLst/>
              <a:ahLst/>
              <a:cxnLst/>
              <a:rect l="l" t="t" r="r" b="b"/>
              <a:pathLst>
                <a:path w="736600" h="260350">
                  <a:moveTo>
                    <a:pt x="60833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0" y="250190"/>
                  </a:lnTo>
                  <a:lnTo>
                    <a:pt x="0" y="260350"/>
                  </a:lnTo>
                  <a:lnTo>
                    <a:pt x="60833" y="260350"/>
                  </a:lnTo>
                  <a:lnTo>
                    <a:pt x="60833" y="250190"/>
                  </a:lnTo>
                  <a:lnTo>
                    <a:pt x="22606" y="250190"/>
                  </a:lnTo>
                  <a:lnTo>
                    <a:pt x="22606" y="11430"/>
                  </a:lnTo>
                  <a:lnTo>
                    <a:pt x="60833" y="11430"/>
                  </a:lnTo>
                  <a:lnTo>
                    <a:pt x="60833" y="0"/>
                  </a:lnTo>
                  <a:close/>
                </a:path>
                <a:path w="736600" h="260350">
                  <a:moveTo>
                    <a:pt x="736600" y="0"/>
                  </a:moveTo>
                  <a:lnTo>
                    <a:pt x="675767" y="0"/>
                  </a:lnTo>
                  <a:lnTo>
                    <a:pt x="675767" y="11430"/>
                  </a:lnTo>
                  <a:lnTo>
                    <a:pt x="713994" y="11430"/>
                  </a:lnTo>
                  <a:lnTo>
                    <a:pt x="713994" y="250190"/>
                  </a:lnTo>
                  <a:lnTo>
                    <a:pt x="675767" y="250190"/>
                  </a:lnTo>
                  <a:lnTo>
                    <a:pt x="675767" y="260350"/>
                  </a:lnTo>
                  <a:lnTo>
                    <a:pt x="736600" y="260350"/>
                  </a:lnTo>
                  <a:lnTo>
                    <a:pt x="736600" y="250190"/>
                  </a:lnTo>
                  <a:lnTo>
                    <a:pt x="736600" y="11430"/>
                  </a:lnTo>
                  <a:lnTo>
                    <a:pt x="7366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28980" y="961643"/>
            <a:ext cx="59442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b="1" dirty="0">
                <a:latin typeface="Times New Roman"/>
                <a:cs typeface="Times New Roman"/>
              </a:rPr>
              <a:t>Max-Continuous-</a:t>
            </a:r>
            <a:r>
              <a:rPr sz="2800" b="1" spc="-10" dirty="0">
                <a:latin typeface="Times New Roman"/>
                <a:cs typeface="Times New Roman"/>
              </a:rPr>
              <a:t>Subarray-DP(</a:t>
            </a:r>
            <a:r>
              <a:rPr sz="2800" spc="-10" dirty="0">
                <a:latin typeface="Cambria Math"/>
                <a:cs typeface="Cambria Math"/>
              </a:rPr>
              <a:t>𝑿, </a:t>
            </a:r>
            <a:r>
              <a:rPr sz="2800" spc="-25" dirty="0">
                <a:latin typeface="Cambria Math"/>
                <a:cs typeface="Cambria Math"/>
              </a:rPr>
              <a:t>𝒏</a:t>
            </a:r>
            <a:r>
              <a:rPr sz="2800" b="1" spc="-25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23890" y="3946778"/>
            <a:ext cx="4216400" cy="60007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02870" rIns="0" bIns="0" rtlCol="0">
            <a:spAutoFit/>
          </a:bodyPr>
          <a:lstStyle/>
          <a:p>
            <a:pPr marL="848994">
              <a:lnSpc>
                <a:spcPct val="100000"/>
              </a:lnSpc>
              <a:spcBef>
                <a:spcPts val="810"/>
              </a:spcBef>
              <a:tabLst>
                <a:tab pos="2913380" algn="l"/>
              </a:tabLst>
            </a:pPr>
            <a:r>
              <a:rPr sz="2200" spc="-10">
                <a:latin typeface="PMingLiU"/>
                <a:cs typeface="PMingLiU"/>
              </a:rPr>
              <a:t>情况</a:t>
            </a:r>
            <a:r>
              <a:rPr sz="2200" b="1">
                <a:latin typeface="Times New Roman"/>
                <a:cs typeface="Times New Roman"/>
              </a:rPr>
              <a:t>1</a:t>
            </a:r>
            <a:r>
              <a:rPr sz="2200">
                <a:latin typeface="PMingLiU"/>
                <a:cs typeface="PMingLiU"/>
              </a:rPr>
              <a:t>：</a:t>
            </a:r>
            <a:r>
              <a:rPr sz="2200">
                <a:latin typeface="Cambria Math"/>
                <a:cs typeface="Cambria Math"/>
              </a:rPr>
              <a:t>𝑫</a:t>
            </a:r>
            <a:r>
              <a:rPr sz="2200" spc="275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𝒊</a:t>
            </a:r>
            <a:r>
              <a:rPr sz="2200" spc="5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+</a:t>
            </a:r>
            <a:r>
              <a:rPr sz="2200" spc="-5">
                <a:latin typeface="Cambria Math"/>
                <a:cs typeface="Cambria Math"/>
              </a:rPr>
              <a:t> </a:t>
            </a:r>
            <a:r>
              <a:rPr sz="2200" spc="-50">
                <a:latin typeface="Cambria Math"/>
                <a:cs typeface="Cambria Math"/>
              </a:rPr>
              <a:t>𝟏</a:t>
            </a:r>
            <a:r>
              <a:rPr sz="2200">
                <a:latin typeface="Cambria Math"/>
                <a:cs typeface="Cambria Math"/>
              </a:rPr>
              <a:t>	&gt;</a:t>
            </a:r>
            <a:r>
              <a:rPr sz="2200" spc="125">
                <a:latin typeface="Cambria Math"/>
                <a:cs typeface="Cambria Math"/>
              </a:rPr>
              <a:t> </a:t>
            </a:r>
            <a:r>
              <a:rPr sz="2200" spc="-50">
                <a:latin typeface="Cambria Math"/>
                <a:cs typeface="Cambria Math"/>
              </a:rPr>
              <a:t>𝟎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01ADF537-77CD-9241-8406-6EE49E64FA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7802" y="119952"/>
            <a:ext cx="5073651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动态规划：伪代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码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84949" y="1475718"/>
            <a:ext cx="8599170" cy="5226050"/>
            <a:chOff x="984949" y="1475718"/>
            <a:chExt cx="8599170" cy="5226050"/>
          </a:xfrm>
        </p:grpSpPr>
        <p:pic>
          <p:nvPicPr>
            <p:cNvPr id="3" name="object 3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984949" y="1475718"/>
              <a:ext cx="8598955" cy="522558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007869" y="4212335"/>
              <a:ext cx="3131185" cy="599440"/>
            </a:xfrm>
            <a:custGeom>
              <a:avLst/>
              <a:gdLst/>
              <a:ahLst/>
              <a:cxnLst/>
              <a:rect l="l" t="t" r="r" b="b"/>
              <a:pathLst>
                <a:path w="3131185" h="599439">
                  <a:moveTo>
                    <a:pt x="0" y="99821"/>
                  </a:moveTo>
                  <a:lnTo>
                    <a:pt x="7846" y="60971"/>
                  </a:lnTo>
                  <a:lnTo>
                    <a:pt x="29241" y="29241"/>
                  </a:lnTo>
                  <a:lnTo>
                    <a:pt x="60971" y="7846"/>
                  </a:lnTo>
                  <a:lnTo>
                    <a:pt x="99822" y="0"/>
                  </a:lnTo>
                  <a:lnTo>
                    <a:pt x="3031235" y="0"/>
                  </a:lnTo>
                  <a:lnTo>
                    <a:pt x="3070086" y="7846"/>
                  </a:lnTo>
                  <a:lnTo>
                    <a:pt x="3101816" y="29241"/>
                  </a:lnTo>
                  <a:lnTo>
                    <a:pt x="3123211" y="60971"/>
                  </a:lnTo>
                  <a:lnTo>
                    <a:pt x="3131058" y="99821"/>
                  </a:lnTo>
                  <a:lnTo>
                    <a:pt x="3131058" y="499109"/>
                  </a:lnTo>
                  <a:lnTo>
                    <a:pt x="3123211" y="537960"/>
                  </a:lnTo>
                  <a:lnTo>
                    <a:pt x="3101816" y="569690"/>
                  </a:lnTo>
                  <a:lnTo>
                    <a:pt x="3070086" y="591085"/>
                  </a:lnTo>
                  <a:lnTo>
                    <a:pt x="3031235" y="598932"/>
                  </a:lnTo>
                  <a:lnTo>
                    <a:pt x="99822" y="598932"/>
                  </a:lnTo>
                  <a:lnTo>
                    <a:pt x="60971" y="591085"/>
                  </a:lnTo>
                  <a:lnTo>
                    <a:pt x="29241" y="569690"/>
                  </a:lnTo>
                  <a:lnTo>
                    <a:pt x="7846" y="537960"/>
                  </a:lnTo>
                  <a:lnTo>
                    <a:pt x="0" y="499109"/>
                  </a:lnTo>
                  <a:lnTo>
                    <a:pt x="0" y="99821"/>
                  </a:lnTo>
                  <a:close/>
                </a:path>
              </a:pathLst>
            </a:custGeom>
            <a:ln w="38099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739140" y="1002643"/>
            <a:ext cx="59442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b="1" dirty="0">
                <a:latin typeface="Times New Roman"/>
                <a:cs typeface="Times New Roman"/>
              </a:rPr>
              <a:t>Max-Continuous-</a:t>
            </a:r>
            <a:r>
              <a:rPr sz="2800" b="1" spc="-10" dirty="0">
                <a:latin typeface="Times New Roman"/>
                <a:cs typeface="Times New Roman"/>
              </a:rPr>
              <a:t>Subarray-DP(</a:t>
            </a:r>
            <a:r>
              <a:rPr sz="2800" spc="-10" dirty="0">
                <a:latin typeface="Cambria Math"/>
                <a:cs typeface="Cambria Math"/>
              </a:rPr>
              <a:t>𝑿, </a:t>
            </a:r>
            <a:r>
              <a:rPr sz="2800" spc="-25" dirty="0">
                <a:latin typeface="Cambria Math"/>
                <a:cs typeface="Cambria Math"/>
              </a:rPr>
              <a:t>𝒏</a:t>
            </a:r>
            <a:r>
              <a:rPr sz="2800" b="1" spc="-25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48859" y="4212716"/>
            <a:ext cx="3837940" cy="59944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965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60"/>
              </a:spcBef>
            </a:pPr>
            <a:r>
              <a:rPr sz="2200" spc="-5">
                <a:latin typeface="PMingLiU"/>
                <a:cs typeface="PMingLiU"/>
              </a:rPr>
              <a:t>记录子问题结果与决策</a:t>
            </a:r>
            <a:endParaRPr sz="2200">
              <a:latin typeface="PMingLiU"/>
              <a:cs typeface="PMingLiU"/>
            </a:endParaRP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82A995F4-F65B-F345-89EA-4B57B86058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7802" y="119952"/>
            <a:ext cx="5073651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动态规划：伪代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码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84949" y="1475718"/>
            <a:ext cx="8599170" cy="5226050"/>
            <a:chOff x="984949" y="1475718"/>
            <a:chExt cx="8599170" cy="5226050"/>
          </a:xfrm>
        </p:grpSpPr>
        <p:pic>
          <p:nvPicPr>
            <p:cNvPr id="3" name="object 3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984949" y="1475718"/>
              <a:ext cx="8598955" cy="522558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653540" y="5176265"/>
              <a:ext cx="3147060" cy="1143000"/>
            </a:xfrm>
            <a:custGeom>
              <a:avLst/>
              <a:gdLst/>
              <a:ahLst/>
              <a:cxnLst/>
              <a:rect l="l" t="t" r="r" b="b"/>
              <a:pathLst>
                <a:path w="3147060" h="1143000">
                  <a:moveTo>
                    <a:pt x="0" y="190499"/>
                  </a:move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956560" y="0"/>
                  </a:lnTo>
                  <a:lnTo>
                    <a:pt x="3000222" y="5034"/>
                  </a:lnTo>
                  <a:lnTo>
                    <a:pt x="3040313" y="19372"/>
                  </a:lnTo>
                  <a:lnTo>
                    <a:pt x="3075685" y="41867"/>
                  </a:lnTo>
                  <a:lnTo>
                    <a:pt x="3105192" y="71374"/>
                  </a:lnTo>
                  <a:lnTo>
                    <a:pt x="3127687" y="106746"/>
                  </a:lnTo>
                  <a:lnTo>
                    <a:pt x="3142025" y="146837"/>
                  </a:lnTo>
                  <a:lnTo>
                    <a:pt x="3147060" y="190499"/>
                  </a:lnTo>
                  <a:lnTo>
                    <a:pt x="3147060" y="952499"/>
                  </a:lnTo>
                  <a:lnTo>
                    <a:pt x="3142025" y="996178"/>
                  </a:lnTo>
                  <a:lnTo>
                    <a:pt x="3127687" y="1036275"/>
                  </a:lnTo>
                  <a:lnTo>
                    <a:pt x="3105192" y="1071646"/>
                  </a:lnTo>
                  <a:lnTo>
                    <a:pt x="3075685" y="1101148"/>
                  </a:lnTo>
                  <a:lnTo>
                    <a:pt x="3040313" y="1123636"/>
                  </a:lnTo>
                  <a:lnTo>
                    <a:pt x="3000222" y="1137968"/>
                  </a:lnTo>
                  <a:lnTo>
                    <a:pt x="2956560" y="1142999"/>
                  </a:lnTo>
                  <a:lnTo>
                    <a:pt x="190500" y="1142999"/>
                  </a:lnTo>
                  <a:lnTo>
                    <a:pt x="146837" y="1137968"/>
                  </a:lnTo>
                  <a:lnTo>
                    <a:pt x="106746" y="1123636"/>
                  </a:lnTo>
                  <a:lnTo>
                    <a:pt x="71374" y="1101148"/>
                  </a:lnTo>
                  <a:lnTo>
                    <a:pt x="41867" y="1071646"/>
                  </a:lnTo>
                  <a:lnTo>
                    <a:pt x="19372" y="1036275"/>
                  </a:lnTo>
                  <a:lnTo>
                    <a:pt x="5034" y="996178"/>
                  </a:lnTo>
                  <a:lnTo>
                    <a:pt x="0" y="952499"/>
                  </a:lnTo>
                  <a:lnTo>
                    <a:pt x="0" y="190499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162673" y="5349239"/>
              <a:ext cx="735965" cy="260350"/>
            </a:xfrm>
            <a:custGeom>
              <a:avLst/>
              <a:gdLst/>
              <a:ahLst/>
              <a:cxnLst/>
              <a:rect l="l" t="t" r="r" b="b"/>
              <a:pathLst>
                <a:path w="735965" h="260350">
                  <a:moveTo>
                    <a:pt x="60960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0" y="250190"/>
                  </a:lnTo>
                  <a:lnTo>
                    <a:pt x="0" y="260350"/>
                  </a:lnTo>
                  <a:lnTo>
                    <a:pt x="60960" y="260350"/>
                  </a:lnTo>
                  <a:lnTo>
                    <a:pt x="60960" y="250190"/>
                  </a:lnTo>
                  <a:lnTo>
                    <a:pt x="22733" y="250190"/>
                  </a:lnTo>
                  <a:lnTo>
                    <a:pt x="22733" y="11430"/>
                  </a:lnTo>
                  <a:lnTo>
                    <a:pt x="60960" y="11430"/>
                  </a:lnTo>
                  <a:lnTo>
                    <a:pt x="60960" y="0"/>
                  </a:lnTo>
                  <a:close/>
                </a:path>
                <a:path w="735965" h="260350">
                  <a:moveTo>
                    <a:pt x="735965" y="0"/>
                  </a:moveTo>
                  <a:lnTo>
                    <a:pt x="675005" y="0"/>
                  </a:lnTo>
                  <a:lnTo>
                    <a:pt x="675005" y="11430"/>
                  </a:lnTo>
                  <a:lnTo>
                    <a:pt x="713232" y="11430"/>
                  </a:lnTo>
                  <a:lnTo>
                    <a:pt x="713232" y="250190"/>
                  </a:lnTo>
                  <a:lnTo>
                    <a:pt x="675005" y="250190"/>
                  </a:lnTo>
                  <a:lnTo>
                    <a:pt x="675005" y="260350"/>
                  </a:lnTo>
                  <a:lnTo>
                    <a:pt x="735965" y="260350"/>
                  </a:lnTo>
                  <a:lnTo>
                    <a:pt x="735965" y="250190"/>
                  </a:lnTo>
                  <a:lnTo>
                    <a:pt x="735965" y="11430"/>
                  </a:lnTo>
                  <a:lnTo>
                    <a:pt x="73596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18820" y="982323"/>
            <a:ext cx="59442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b="1" dirty="0">
                <a:latin typeface="Times New Roman"/>
                <a:cs typeface="Times New Roman"/>
              </a:rPr>
              <a:t>Max-Continuous-</a:t>
            </a:r>
            <a:r>
              <a:rPr sz="2800" b="1" spc="-10" dirty="0">
                <a:latin typeface="Times New Roman"/>
                <a:cs typeface="Times New Roman"/>
              </a:rPr>
              <a:t>Subarray-DP(</a:t>
            </a:r>
            <a:r>
              <a:rPr sz="2800" spc="-10" dirty="0">
                <a:latin typeface="Cambria Math"/>
                <a:cs typeface="Cambria Math"/>
              </a:rPr>
              <a:t>𝑿, </a:t>
            </a:r>
            <a:r>
              <a:rPr sz="2800" spc="-25" dirty="0">
                <a:latin typeface="Cambria Math"/>
                <a:cs typeface="Cambria Math"/>
              </a:rPr>
              <a:t>𝒏</a:t>
            </a:r>
            <a:r>
              <a:rPr sz="2800" b="1" spc="-25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55489" y="5176646"/>
            <a:ext cx="4215765" cy="59944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041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20"/>
              </a:spcBef>
              <a:tabLst>
                <a:tab pos="2141855" algn="l"/>
              </a:tabLst>
            </a:pPr>
            <a:r>
              <a:rPr sz="2200">
                <a:latin typeface="PMingLiU"/>
                <a:cs typeface="PMingLiU"/>
              </a:rPr>
              <a:t>情况</a:t>
            </a:r>
            <a:r>
              <a:rPr sz="2200" b="1">
                <a:latin typeface="Times New Roman"/>
                <a:cs typeface="Times New Roman"/>
              </a:rPr>
              <a:t>2</a:t>
            </a:r>
            <a:r>
              <a:rPr sz="2200" b="1">
                <a:latin typeface="Microsoft JhengHei"/>
                <a:cs typeface="Microsoft JhengHei"/>
              </a:rPr>
              <a:t>：</a:t>
            </a:r>
            <a:r>
              <a:rPr sz="2200" b="1" spc="65">
                <a:latin typeface="Microsoft JhengHei"/>
                <a:cs typeface="Microsoft JhengHei"/>
              </a:rPr>
              <a:t> </a:t>
            </a:r>
            <a:r>
              <a:rPr sz="2200">
                <a:latin typeface="Cambria Math"/>
                <a:cs typeface="Cambria Math"/>
              </a:rPr>
              <a:t>𝑫</a:t>
            </a:r>
            <a:r>
              <a:rPr sz="2200" spc="275">
                <a:latin typeface="Cambria Math"/>
                <a:cs typeface="Cambria Math"/>
              </a:rPr>
              <a:t> </a:t>
            </a:r>
            <a:r>
              <a:rPr sz="2200">
                <a:latin typeface="Cambria Math"/>
                <a:cs typeface="Cambria Math"/>
              </a:rPr>
              <a:t>𝒊 +</a:t>
            </a:r>
            <a:r>
              <a:rPr sz="2200" spc="-10">
                <a:latin typeface="Cambria Math"/>
                <a:cs typeface="Cambria Math"/>
              </a:rPr>
              <a:t> </a:t>
            </a:r>
            <a:r>
              <a:rPr sz="2200" spc="-50">
                <a:latin typeface="Cambria Math"/>
                <a:cs typeface="Cambria Math"/>
              </a:rPr>
              <a:t>𝟏</a:t>
            </a:r>
            <a:r>
              <a:rPr sz="2200">
                <a:latin typeface="Cambria Math"/>
                <a:cs typeface="Cambria Math"/>
              </a:rPr>
              <a:t>	≤</a:t>
            </a:r>
            <a:r>
              <a:rPr sz="2200" spc="125">
                <a:latin typeface="Cambria Math"/>
                <a:cs typeface="Cambria Math"/>
              </a:rPr>
              <a:t> </a:t>
            </a:r>
            <a:r>
              <a:rPr sz="2200" spc="-50">
                <a:latin typeface="Cambria Math"/>
                <a:cs typeface="Cambria Math"/>
              </a:rPr>
              <a:t>𝟎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66EDA4BB-A9F1-BF42-9858-F262211379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7802" y="119952"/>
            <a:ext cx="5073651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动态规划：伪代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码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8980" y="961643"/>
            <a:ext cx="59442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b="1" dirty="0">
                <a:latin typeface="Times New Roman"/>
                <a:cs typeface="Times New Roman"/>
              </a:rPr>
              <a:t>Max-Continuous-</a:t>
            </a:r>
            <a:r>
              <a:rPr sz="2800" b="1" spc="-10" dirty="0">
                <a:latin typeface="Times New Roman"/>
                <a:cs typeface="Times New Roman"/>
              </a:rPr>
              <a:t>Subarray-DP(</a:t>
            </a:r>
            <a:r>
              <a:rPr sz="2800" spc="-10" dirty="0">
                <a:latin typeface="Cambria Math"/>
                <a:cs typeface="Cambria Math"/>
              </a:rPr>
              <a:t>𝑿, </a:t>
            </a:r>
            <a:r>
              <a:rPr sz="2800" spc="-25" dirty="0">
                <a:latin typeface="Cambria Math"/>
                <a:cs typeface="Cambria Math"/>
              </a:rPr>
              <a:t>𝒏</a:t>
            </a:r>
            <a:r>
              <a:rPr sz="2800" b="1" spc="-25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/>
          <a:stretch>
            <a:fillRect/>
          </a:stretch>
        </p:blipFill>
        <p:spPr>
          <a:xfrm>
            <a:off x="992999" y="1488790"/>
            <a:ext cx="8566121" cy="3108182"/>
          </a:xfrm>
          <a:prstGeom prst="rect">
            <a:avLst/>
          </a:prstGeom>
        </p:spPr>
      </p:pic>
      <p:sp>
        <p:nvSpPr>
          <p:cNvPr id="5" name="object 6">
            <a:extLst>
              <a:ext uri="{FF2B5EF4-FFF2-40B4-BE49-F238E27FC236}">
                <a16:creationId xmlns:a16="http://schemas.microsoft.com/office/drawing/2014/main" id="{182A90F2-66F4-9C4D-A46E-B9AE07C13E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7802" y="119952"/>
            <a:ext cx="5073651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动态规划：伪代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码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47789" y="1281408"/>
            <a:ext cx="8843010" cy="5226050"/>
            <a:chOff x="847789" y="1281408"/>
            <a:chExt cx="8843010" cy="5226050"/>
          </a:xfrm>
        </p:grpSpPr>
        <p:pic>
          <p:nvPicPr>
            <p:cNvPr id="3" name="object 3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847789" y="1281408"/>
              <a:ext cx="8598955" cy="522558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486900" y="3894581"/>
              <a:ext cx="184785" cy="2303780"/>
            </a:xfrm>
            <a:custGeom>
              <a:avLst/>
              <a:gdLst/>
              <a:ahLst/>
              <a:cxnLst/>
              <a:rect l="l" t="t" r="r" b="b"/>
              <a:pathLst>
                <a:path w="184784" h="2303779">
                  <a:moveTo>
                    <a:pt x="0" y="0"/>
                  </a:moveTo>
                  <a:lnTo>
                    <a:pt x="35891" y="1204"/>
                  </a:lnTo>
                  <a:lnTo>
                    <a:pt x="65198" y="4492"/>
                  </a:lnTo>
                  <a:lnTo>
                    <a:pt x="84957" y="9376"/>
                  </a:lnTo>
                  <a:lnTo>
                    <a:pt x="92201" y="15367"/>
                  </a:lnTo>
                  <a:lnTo>
                    <a:pt x="92201" y="1136396"/>
                  </a:lnTo>
                  <a:lnTo>
                    <a:pt x="99446" y="1142386"/>
                  </a:lnTo>
                  <a:lnTo>
                    <a:pt x="119205" y="1147270"/>
                  </a:lnTo>
                  <a:lnTo>
                    <a:pt x="148512" y="1150558"/>
                  </a:lnTo>
                  <a:lnTo>
                    <a:pt x="184403" y="1151763"/>
                  </a:lnTo>
                  <a:lnTo>
                    <a:pt x="148512" y="1152967"/>
                  </a:lnTo>
                  <a:lnTo>
                    <a:pt x="119205" y="1156255"/>
                  </a:lnTo>
                  <a:lnTo>
                    <a:pt x="99446" y="1161139"/>
                  </a:lnTo>
                  <a:lnTo>
                    <a:pt x="92201" y="1167130"/>
                  </a:lnTo>
                  <a:lnTo>
                    <a:pt x="92201" y="2288159"/>
                  </a:lnTo>
                  <a:lnTo>
                    <a:pt x="84957" y="2294139"/>
                  </a:lnTo>
                  <a:lnTo>
                    <a:pt x="65198" y="2299023"/>
                  </a:lnTo>
                  <a:lnTo>
                    <a:pt x="35891" y="2302317"/>
                  </a:lnTo>
                  <a:lnTo>
                    <a:pt x="0" y="2303526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9866630" y="4872482"/>
            <a:ext cx="58674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0">
                <a:solidFill>
                  <a:srgbClr val="FF0000"/>
                </a:solidFill>
                <a:latin typeface="Cambria Math"/>
                <a:cs typeface="Cambria Math"/>
              </a:rPr>
              <a:t>𝑶(𝒏)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21146" y="5906261"/>
            <a:ext cx="3312795" cy="58293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40640" rIns="0" bIns="0" rtlCol="0">
            <a:spAutoFit/>
          </a:bodyPr>
          <a:lstStyle/>
          <a:p>
            <a:pPr marL="195580">
              <a:lnSpc>
                <a:spcPct val="100000"/>
              </a:lnSpc>
              <a:spcBef>
                <a:spcPts val="320"/>
              </a:spcBef>
            </a:pPr>
            <a:r>
              <a:rPr sz="2800" spc="-5">
                <a:solidFill>
                  <a:srgbClr val="FFFFFF"/>
                </a:solidFill>
                <a:latin typeface="PMingLiU"/>
                <a:cs typeface="PMingLiU"/>
              </a:rPr>
              <a:t>时间复杂度：</a:t>
            </a:r>
            <a:r>
              <a:rPr sz="2800" spc="-20">
                <a:solidFill>
                  <a:srgbClr val="FFFFFF"/>
                </a:solidFill>
                <a:latin typeface="Cambria Math"/>
                <a:cs typeface="Cambria Math"/>
              </a:rPr>
              <a:t>𝑶(𝒏)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828D295E-368C-8242-8D25-840B5DBEFF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7802" y="119952"/>
            <a:ext cx="5073651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动态规划：伪代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码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53131;#53131;#177509;#76194;#81515;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21389</TotalTime>
  <Words>7784</Words>
  <Application>Microsoft Macintosh PowerPoint</Application>
  <PresentationFormat>宽屏</PresentationFormat>
  <Paragraphs>3518</Paragraphs>
  <Slides>106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106</vt:i4>
      </vt:variant>
    </vt:vector>
  </HeadingPairs>
  <TitlesOfParts>
    <vt:vector size="119" baseType="lpstr">
      <vt:lpstr>等线</vt:lpstr>
      <vt:lpstr>等线 Light</vt:lpstr>
      <vt:lpstr>方正大标宋简体</vt:lpstr>
      <vt:lpstr>方正清刻本悦宋简体</vt:lpstr>
      <vt:lpstr>SimSun</vt:lpstr>
      <vt:lpstr>Microsoft JhengHei</vt:lpstr>
      <vt:lpstr>PMingLiU</vt:lpstr>
      <vt:lpstr>Times New Roman Regular</vt:lpstr>
      <vt:lpstr>Arial</vt:lpstr>
      <vt:lpstr>Cambria Math</vt:lpstr>
      <vt:lpstr>Times New Roman</vt:lpstr>
      <vt:lpstr>Wingdings</vt:lpstr>
      <vt:lpstr>Office 主题​​</vt:lpstr>
      <vt:lpstr>算法设计与分析</vt:lpstr>
      <vt:lpstr>PowerPoint 演示文稿</vt:lpstr>
      <vt:lpstr>PowerPoint 演示文稿</vt:lpstr>
      <vt:lpstr>动态规划小结</vt:lpstr>
      <vt:lpstr>动态规划：一般步骤</vt:lpstr>
      <vt:lpstr>动态规划：一般步骤</vt:lpstr>
      <vt:lpstr>动态规划：一般步骤</vt:lpstr>
      <vt:lpstr>动态规划：一般步骤</vt:lpstr>
      <vt:lpstr>动态规划：一般步骤</vt:lpstr>
      <vt:lpstr>动态规划：一般步骤</vt:lpstr>
      <vt:lpstr>动态规划：一般步骤</vt:lpstr>
      <vt:lpstr>动态规划：一般步骤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枚举过程分析</vt:lpstr>
      <vt:lpstr>枚举过程分析</vt:lpstr>
      <vt:lpstr>枚举过程分析</vt:lpstr>
      <vt:lpstr>枚举过程分析</vt:lpstr>
      <vt:lpstr>枚举过程分析</vt:lpstr>
      <vt:lpstr>枚举过程分析</vt:lpstr>
      <vt:lpstr>枚举过程分析</vt:lpstr>
      <vt:lpstr>枚举过程分析</vt:lpstr>
      <vt:lpstr>枚举过程分析</vt:lpstr>
      <vt:lpstr>枚举过程分析</vt:lpstr>
      <vt:lpstr>PowerPoint 演示文稿</vt:lpstr>
      <vt:lpstr>PowerPoint 演示文稿</vt:lpstr>
      <vt:lpstr>PowerPoint 演示文稿</vt:lpstr>
      <vt:lpstr>规律观察</vt:lpstr>
      <vt:lpstr>规律观察</vt:lpstr>
      <vt:lpstr>规律观察</vt:lpstr>
      <vt:lpstr>规律观察</vt:lpstr>
      <vt:lpstr>规律观察</vt:lpstr>
      <vt:lpstr>规律描述</vt:lpstr>
      <vt:lpstr>规律证明：情况1</vt:lpstr>
      <vt:lpstr>规律证明：情况1</vt:lpstr>
      <vt:lpstr>规律证明：情况1</vt:lpstr>
      <vt:lpstr>规律证明：情况1</vt:lpstr>
      <vt:lpstr>规律证明：情况1</vt:lpstr>
      <vt:lpstr>规律证明：情况1</vt:lpstr>
      <vt:lpstr>规律证明：情况1</vt:lpstr>
      <vt:lpstr>规律证明：情况2</vt:lpstr>
      <vt:lpstr>规律证明：情况2</vt:lpstr>
      <vt:lpstr>规律证明：情况2</vt:lpstr>
      <vt:lpstr>规律证明：情况2</vt:lpstr>
      <vt:lpstr>规律证明：情况2</vt:lpstr>
      <vt:lpstr>问题结构分析</vt:lpstr>
      <vt:lpstr>递推关系建立：分析最优（子）结构</vt:lpstr>
      <vt:lpstr>PowerPoint 演示文稿</vt:lpstr>
      <vt:lpstr>递推关系建立：构造递推公式</vt:lpstr>
      <vt:lpstr>自底向上计算：确定计算顺序</vt:lpstr>
      <vt:lpstr>自底向上计算：确定计算顺序</vt:lpstr>
      <vt:lpstr>自底向上计算：确定计算顺序</vt:lpstr>
      <vt:lpstr>自底向上计算：确定计算顺序</vt:lpstr>
      <vt:lpstr>自底向上计算：确定计算顺序</vt:lpstr>
      <vt:lpstr>自底向上计算：依次求解问题</vt:lpstr>
      <vt:lpstr>最优方案追踪：记录决策过程</vt:lpstr>
      <vt:lpstr>最优方案追踪：记录决策过程</vt:lpstr>
      <vt:lpstr>最优方案追踪：记录决策过程</vt:lpstr>
      <vt:lpstr>最优方案追踪：记录决策过程</vt:lpstr>
      <vt:lpstr>最优方案追踪：记录决策过程</vt:lpstr>
      <vt:lpstr>最优方案追踪：记录决策过程</vt:lpstr>
      <vt:lpstr>最优方案追踪：记录决策过程</vt:lpstr>
      <vt:lpstr>算法实例</vt:lpstr>
      <vt:lpstr>算法实例</vt:lpstr>
      <vt:lpstr>算法实例</vt:lpstr>
      <vt:lpstr>算法实例</vt:lpstr>
      <vt:lpstr>算法实例</vt:lpstr>
      <vt:lpstr>算法实例</vt:lpstr>
      <vt:lpstr>算法实例</vt:lpstr>
      <vt:lpstr>算法实例</vt:lpstr>
      <vt:lpstr>算法实例</vt:lpstr>
      <vt:lpstr>算法实例</vt:lpstr>
      <vt:lpstr>算法实例</vt:lpstr>
      <vt:lpstr>算法实例</vt:lpstr>
      <vt:lpstr>算法实例</vt:lpstr>
      <vt:lpstr>算法实例</vt:lpstr>
      <vt:lpstr>算法实例</vt:lpstr>
      <vt:lpstr>算法实例</vt:lpstr>
      <vt:lpstr>算法实例</vt:lpstr>
      <vt:lpstr>动态规划：伪代码</vt:lpstr>
      <vt:lpstr>动态规划：伪代码</vt:lpstr>
      <vt:lpstr>动态规划：伪代码</vt:lpstr>
      <vt:lpstr>动态规划：伪代码</vt:lpstr>
      <vt:lpstr>动态规划：伪代码</vt:lpstr>
      <vt:lpstr>动态规划：伪代码</vt:lpstr>
      <vt:lpstr>动态规划：伪代码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赵 浩然</dc:creator>
  <cp:lastModifiedBy>赵 浩然</cp:lastModifiedBy>
  <cp:revision>889</cp:revision>
  <dcterms:created xsi:type="dcterms:W3CDTF">2022-08-31T02:13:47Z</dcterms:created>
  <dcterms:modified xsi:type="dcterms:W3CDTF">2023-05-24T00:56:07Z</dcterms:modified>
</cp:coreProperties>
</file>