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395" r:id="rId2"/>
    <p:sldId id="259" r:id="rId3"/>
    <p:sldId id="258" r:id="rId4"/>
    <p:sldId id="397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5" r:id="rId38"/>
    <p:sldId id="296" r:id="rId39"/>
    <p:sldId id="297" r:id="rId40"/>
    <p:sldId id="298" r:id="rId41"/>
    <p:sldId id="299" r:id="rId42"/>
    <p:sldId id="300" r:id="rId4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655"/>
    <p:restoredTop sz="85650"/>
  </p:normalViewPr>
  <p:slideViewPr>
    <p:cSldViewPr snapToGrid="0" snapToObjects="1">
      <p:cViewPr varScale="1">
        <p:scale>
          <a:sx n="98" d="100"/>
          <a:sy n="98" d="100"/>
        </p:scale>
        <p:origin x="4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A31A9-199E-0040-B421-36D8B674C3C2}" type="datetimeFigureOut">
              <a:rPr kumimoji="1" lang="zh-CN" altLang="en-US" smtClean="0"/>
              <a:t>2023/6/5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91ABD9-FA3A-ED42-B2DF-4A75A1E7DD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0058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6B3782-2C2A-4249-98A3-D66C57BFD1C7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AA5F0-770B-410C-90B7-ECBA0CF9027F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5"/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-3822065" y="-434340"/>
            <a:ext cx="7726680" cy="7726680"/>
          </a:xfrm>
          <a:prstGeom prst="rect">
            <a:avLst/>
          </a:prstGeom>
        </p:spPr>
      </p:pic>
      <p:pic>
        <p:nvPicPr>
          <p:cNvPr id="3" name="图片 2" descr="5"/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8355330" y="-434340"/>
            <a:ext cx="7726680" cy="7726680"/>
          </a:xfrm>
          <a:prstGeom prst="rect">
            <a:avLst/>
          </a:prstGeom>
        </p:spPr>
      </p:pic>
      <p:sp>
        <p:nvSpPr>
          <p:cNvPr id="9" name="任意多边形: 形状 8"/>
          <p:cNvSpPr/>
          <p:nvPr userDrawn="1"/>
        </p:nvSpPr>
        <p:spPr>
          <a:xfrm rot="21413345">
            <a:off x="-107772" y="5889232"/>
            <a:ext cx="12369445" cy="1288985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 userDrawn="1"/>
        </p:nvSpPr>
        <p:spPr>
          <a:xfrm rot="21413345">
            <a:off x="-60722" y="5797965"/>
            <a:ext cx="12335849" cy="147093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 userDrawn="1"/>
        </p:nvSpPr>
        <p:spPr>
          <a:xfrm rot="21413345">
            <a:off x="-101880" y="5734499"/>
            <a:ext cx="12376686" cy="150727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468630" y="64930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300">
                <a:solidFill>
                  <a:schemeClr val="bg2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defRPr>
            </a:lvl1pPr>
          </a:lstStyle>
          <a:p>
            <a:r>
              <a:rPr lang="zh-CN" altLang="en-US" dirty="0"/>
              <a:t>百折不挠</a:t>
            </a:r>
            <a:r>
              <a:rPr lang="en-US" altLang="zh-CN" dirty="0"/>
              <a:t> </a:t>
            </a:r>
            <a:r>
              <a:rPr lang="zh-CN" altLang="en-US" dirty="0"/>
              <a:t>刚毅厚重</a:t>
            </a:r>
            <a:r>
              <a:rPr lang="en-US" altLang="zh-CN" dirty="0"/>
              <a:t> </a:t>
            </a:r>
            <a:r>
              <a:rPr lang="zh-CN" altLang="en-US" dirty="0"/>
              <a:t>勇承重载</a:t>
            </a:r>
          </a:p>
        </p:txBody>
      </p:sp>
    </p:spTree>
    <p:extLst>
      <p:ext uri="{BB962C8B-B14F-4D97-AF65-F5344CB8AC3E}">
        <p14:creationId xmlns:p14="http://schemas.microsoft.com/office/powerpoint/2010/main" val="1930393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C55D43-650A-8A4B-B4D9-196FB2C29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5E4EBA6-65F5-F74A-84A4-1DAA79C9FD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867305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F5F6E5-6A2C-7845-96D1-C3F40C702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972C42-3007-F74B-BAC1-5ECA14414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DA583F-A0A9-184A-920D-99C2970D07D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5">
            <a:extLst>
              <a:ext uri="{FF2B5EF4-FFF2-40B4-BE49-F238E27FC236}">
                <a16:creationId xmlns:a16="http://schemas.microsoft.com/office/drawing/2014/main" id="{59417B76-385F-8F47-9B73-0CC349ACC1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-3822065" y="-434340"/>
            <a:ext cx="7726680" cy="7726680"/>
          </a:xfrm>
          <a:prstGeom prst="rect">
            <a:avLst/>
          </a:prstGeom>
        </p:spPr>
      </p:pic>
      <p:pic>
        <p:nvPicPr>
          <p:cNvPr id="6" name="图片 5" descr="5">
            <a:extLst>
              <a:ext uri="{FF2B5EF4-FFF2-40B4-BE49-F238E27FC236}">
                <a16:creationId xmlns:a16="http://schemas.microsoft.com/office/drawing/2014/main" id="{B1FF307E-882A-204E-8371-C5B671C94F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8355330" y="-434340"/>
            <a:ext cx="7726680" cy="7726680"/>
          </a:xfrm>
          <a:prstGeom prst="rect">
            <a:avLst/>
          </a:prstGeom>
        </p:spPr>
      </p:pic>
      <p:sp>
        <p:nvSpPr>
          <p:cNvPr id="7" name="任意多边形: 形状 8">
            <a:extLst>
              <a:ext uri="{FF2B5EF4-FFF2-40B4-BE49-F238E27FC236}">
                <a16:creationId xmlns:a16="http://schemas.microsoft.com/office/drawing/2014/main" id="{CD9F0C46-2A13-7B45-81EB-EFB03DDF0203}"/>
              </a:ext>
            </a:extLst>
          </p:cNvPr>
          <p:cNvSpPr/>
          <p:nvPr userDrawn="1"/>
        </p:nvSpPr>
        <p:spPr>
          <a:xfrm rot="21413345">
            <a:off x="-107772" y="5889232"/>
            <a:ext cx="12369445" cy="1288985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4DBBE2AB-3342-1A43-B2D9-3B6F8B655CDE}"/>
              </a:ext>
            </a:extLst>
          </p:cNvPr>
          <p:cNvSpPr/>
          <p:nvPr userDrawn="1"/>
        </p:nvSpPr>
        <p:spPr>
          <a:xfrm rot="21413345">
            <a:off x="-60722" y="5797965"/>
            <a:ext cx="12335849" cy="147093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6">
            <a:extLst>
              <a:ext uri="{FF2B5EF4-FFF2-40B4-BE49-F238E27FC236}">
                <a16:creationId xmlns:a16="http://schemas.microsoft.com/office/drawing/2014/main" id="{238E4E78-41CE-BF47-A793-D77629CA3E76}"/>
              </a:ext>
            </a:extLst>
          </p:cNvPr>
          <p:cNvSpPr/>
          <p:nvPr userDrawn="1"/>
        </p:nvSpPr>
        <p:spPr>
          <a:xfrm rot="21413345">
            <a:off x="-101880" y="5734499"/>
            <a:ext cx="12376686" cy="150727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EF31D326-2891-3944-8D5B-E4558A6F15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630" y="64930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300">
                <a:solidFill>
                  <a:schemeClr val="bg2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defRPr>
            </a:lvl1pPr>
          </a:lstStyle>
          <a:p>
            <a:r>
              <a:rPr lang="zh-CN" altLang="en-US" dirty="0"/>
              <a:t>百折不挠</a:t>
            </a:r>
            <a:r>
              <a:rPr lang="en-US" altLang="zh-CN" dirty="0"/>
              <a:t> </a:t>
            </a:r>
            <a:r>
              <a:rPr lang="zh-CN" altLang="en-US" dirty="0"/>
              <a:t>刚毅厚重</a:t>
            </a:r>
            <a:r>
              <a:rPr lang="en-US" altLang="zh-CN" dirty="0"/>
              <a:t> </a:t>
            </a:r>
            <a:r>
              <a:rPr lang="zh-CN" altLang="en-US" dirty="0"/>
              <a:t>勇承重载</a:t>
            </a:r>
          </a:p>
        </p:txBody>
      </p:sp>
    </p:spTree>
    <p:extLst>
      <p:ext uri="{BB962C8B-B14F-4D97-AF65-F5344CB8AC3E}">
        <p14:creationId xmlns:p14="http://schemas.microsoft.com/office/powerpoint/2010/main" val="2746427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7D2F9D-10B2-074B-8179-66513359D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2FD4FF-6442-7D42-B1EE-9A10919FD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44574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C3275C-4BF5-474C-80F4-71D90D9D3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4C7054-56E6-B54D-86C2-B62A7024A4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E159AA6-2DAB-3D4B-968C-0C2209838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906202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2E1A48-F79F-564A-B2C8-EB0F930EF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B51C87-D0E9-8B44-8CAB-1AE71AC39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EDA7B3-E5BE-FC4D-B7BF-2B58A04934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5D6C4BB-9DB3-5143-8B4A-DBAE48BA77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FE585AB-BE90-9748-958F-7AFFC1666F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300348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1C073C-34CE-AC4E-ABB7-C7FC12F3B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93825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3583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379DE3-176F-7442-91F0-E6732C334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9DB349-89E5-AF43-A214-0FF14DB1A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A0DD20-A8C2-9849-809E-627CE58CD8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911671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F92B43-D872-114B-9A28-B00848866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D339AFF-5EFD-7944-A43D-2353E09902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4B25B-91B6-DC42-9D31-70F2E52EA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408073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C22525-0C80-9541-BB3B-BC93FC851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8C1780-5833-6242-ABA7-FD54F283E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793547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81D9FF4-CA80-5F4D-AD5D-F4CDA27A74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123BF3-514A-1149-85D7-971F2301A7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537626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D2C13E-B573-714B-95DA-FE1C7233B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99F250F-66A4-CB44-B444-3B095FB2BB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7F82AD-DCFE-7E4E-BC3B-B8961D0D8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56CDDD-056A-1A4C-95F9-15BE2F0C5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BCE82C-2DD0-3646-86EF-14086348D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21406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1E2E0D-F100-0B4D-BA37-588E52D6E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BA4034-A796-F141-8E93-7D05FA748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1E16C0-D6BE-0D44-807B-EE5C78EB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0FBDA1-4D93-7443-974E-B17BB720E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B5421B-EACC-AE4F-B121-1D692C9CB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7817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60E980-962D-3F44-B0EA-A409EF1DA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A65C97-A96A-6A4D-927E-F838B2F04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2C3D4C-C0E9-CC4A-8470-334D0F88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D69112-64F2-DB41-9DE9-D0C488E2C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4F072F-377D-184E-8A96-A3A16B3BD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428796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A1FDEA-62E9-A94A-B877-2CEE48D6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4BAE09-663E-5246-B2E4-5FB1D3203C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3204E9-1F8D-1441-9E4C-06E8C04E0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1DC6EB-2F6E-0244-93A2-A837744C5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C55E37-181B-A148-966C-4DAF9A1A8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BCD124-A548-0943-8084-CC531D000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63232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C78BAB-2899-214C-BD61-A44AF5D1A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53B725-02FC-B943-BB4C-36416CD16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85D86A-09D3-C44C-B9F4-6E588BD2E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8530A9B-0EB2-7D46-9DBE-21F3FC0226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4191EEA-8572-9B4E-9BBC-22A9CFF172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A4ECD55-32DF-4F4E-87AB-7EA319859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0257D9-AB89-CD48-8EAB-65F0C1A25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892495F-1C7B-FC49-9072-1A1CE7A02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67892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F79860-597F-4B4F-883A-07CEB0213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9DBCFC3-D3A4-C04F-BCEF-DEC58AC20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C8B824B-4892-E447-B7D3-02DD4BE5F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F7D6A84-B6F8-E146-9356-7F8CA2E59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04938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5B2F9ED-98A6-1F40-B60C-87E353539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4693E35-5555-584E-A717-28E84DBBC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FBD873-0F17-9343-9583-D51ABBFA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26514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3F2912-F3DA-C647-9CA0-A29982569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58FE21-107F-0A46-9DCC-01F8EFC19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677B0A-3D49-6F4A-A0BD-178A30EA53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78C4D0-E7BC-7346-A225-616065D0C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455970-7EEC-9F4D-9441-ACCDA32EB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9A71E7-E4C1-0345-916A-B57A481A6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37452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964561-286B-E149-AE7F-1FF412E94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63A84CE-2FA0-6E48-A6C9-C447366AD0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4A75F7-3CD5-0848-9A3B-8CD193287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7D8C3B-237F-1C49-99C1-735A2D853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92BEC2-2425-2742-8386-3ADBB0626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296E39-1419-7E45-BD69-DE0A3C7DC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48094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2AF69E-AF88-B64D-ABDD-04DB5D3E5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F59B29-31C7-A143-8657-8AE1CB8EF2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F5996D-ACFA-8F4D-B912-DF75E3CC1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32A62C-C6DE-D04B-8735-FED3190F3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0D29B5-61B5-B74D-BE03-88925EFB3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67057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50B4B1E-E39D-DD4A-B7F7-1B2FF26C70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80FF54-B8C4-224E-8541-7902A00311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1664AE-D3DB-2A40-ACE1-DBC1E97AE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D85D98-2BB9-784B-8D6D-76BBD0EA2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5E00FF-4311-1C4D-A115-27DB4E71F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687004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接连接符 29"/>
          <p:cNvCxnSpPr/>
          <p:nvPr userDrawn="1"/>
        </p:nvCxnSpPr>
        <p:spPr>
          <a:xfrm flipV="1">
            <a:off x="2784475" y="5851525"/>
            <a:ext cx="0" cy="265430"/>
          </a:xfrm>
          <a:prstGeom prst="line">
            <a:avLst/>
          </a:prstGeom>
          <a:ln w="28575" cap="rnd">
            <a:solidFill>
              <a:srgbClr val="005D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 userDrawn="1"/>
        </p:nvCxnSpPr>
        <p:spPr>
          <a:xfrm flipV="1">
            <a:off x="2861310" y="5899150"/>
            <a:ext cx="0" cy="170180"/>
          </a:xfrm>
          <a:prstGeom prst="line">
            <a:avLst/>
          </a:prstGeom>
          <a:ln w="28575" cap="rnd">
            <a:solidFill>
              <a:srgbClr val="005D96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 userDrawn="1"/>
        </p:nvCxnSpPr>
        <p:spPr>
          <a:xfrm rot="16200000">
            <a:off x="2880995" y="5984240"/>
            <a:ext cx="113665" cy="0"/>
          </a:xfrm>
          <a:prstGeom prst="line">
            <a:avLst/>
          </a:prstGeom>
          <a:ln w="28575" cap="rnd">
            <a:solidFill>
              <a:srgbClr val="005D96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 userDrawn="1"/>
        </p:nvCxnSpPr>
        <p:spPr>
          <a:xfrm rot="10800000" flipH="1" flipV="1">
            <a:off x="9404350" y="5851525"/>
            <a:ext cx="0" cy="265430"/>
          </a:xfrm>
          <a:prstGeom prst="line">
            <a:avLst/>
          </a:prstGeom>
          <a:ln w="28575" cap="rnd">
            <a:solidFill>
              <a:srgbClr val="005D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 userDrawn="1"/>
        </p:nvCxnSpPr>
        <p:spPr>
          <a:xfrm rot="10800000" flipH="1" flipV="1">
            <a:off x="9327515" y="5899150"/>
            <a:ext cx="0" cy="170180"/>
          </a:xfrm>
          <a:prstGeom prst="line">
            <a:avLst/>
          </a:prstGeom>
          <a:ln w="28575" cap="rnd">
            <a:solidFill>
              <a:srgbClr val="005D96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 userDrawn="1"/>
        </p:nvCxnSpPr>
        <p:spPr>
          <a:xfrm rot="5400000" flipH="1">
            <a:off x="9193530" y="5984240"/>
            <a:ext cx="113665" cy="0"/>
          </a:xfrm>
          <a:prstGeom prst="line">
            <a:avLst/>
          </a:prstGeom>
          <a:ln w="28575" cap="rnd">
            <a:solidFill>
              <a:srgbClr val="005D96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图片占位符 12"/>
          <p:cNvSpPr>
            <a:spLocks noGrp="1"/>
          </p:cNvSpPr>
          <p:nvPr>
            <p:ph type="pic" sz="quarter" idx="12"/>
          </p:nvPr>
        </p:nvSpPr>
        <p:spPr>
          <a:xfrm>
            <a:off x="126" y="-5114"/>
            <a:ext cx="12191748" cy="3616817"/>
          </a:xfrm>
        </p:spPr>
      </p:sp>
      <p:sp>
        <p:nvSpPr>
          <p:cNvPr id="40" name="任意多边形: 形状 39"/>
          <p:cNvSpPr/>
          <p:nvPr userDrawn="1"/>
        </p:nvSpPr>
        <p:spPr>
          <a:xfrm>
            <a:off x="0" y="-10810"/>
            <a:ext cx="12192000" cy="3621880"/>
          </a:xfrm>
          <a:custGeom>
            <a:avLst/>
            <a:gdLst>
              <a:gd name="connsiteX0" fmla="*/ 0 w 12192000"/>
              <a:gd name="connsiteY0" fmla="*/ 0 h 3621880"/>
              <a:gd name="connsiteX1" fmla="*/ 12192000 w 12192000"/>
              <a:gd name="connsiteY1" fmla="*/ 0 h 3621880"/>
              <a:gd name="connsiteX2" fmla="*/ 12192000 w 12192000"/>
              <a:gd name="connsiteY2" fmla="*/ 3505120 h 3621880"/>
              <a:gd name="connsiteX3" fmla="*/ 12178164 w 12192000"/>
              <a:gd name="connsiteY3" fmla="*/ 3496691 h 3621880"/>
              <a:gd name="connsiteX4" fmla="*/ 6188598 w 12192000"/>
              <a:gd name="connsiteY4" fmla="*/ 2384382 h 3621880"/>
              <a:gd name="connsiteX5" fmla="*/ 48605 w 12192000"/>
              <a:gd name="connsiteY5" fmla="*/ 3588334 h 3621880"/>
              <a:gd name="connsiteX6" fmla="*/ 0 w 12192000"/>
              <a:gd name="connsiteY6" fmla="*/ 3621880 h 3621880"/>
              <a:gd name="connsiteX7" fmla="*/ 0 w 12192000"/>
              <a:gd name="connsiteY7" fmla="*/ 0 h 362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621880">
                <a:moveTo>
                  <a:pt x="0" y="0"/>
                </a:moveTo>
                <a:lnTo>
                  <a:pt x="12192000" y="0"/>
                </a:lnTo>
                <a:lnTo>
                  <a:pt x="12192000" y="3505120"/>
                </a:lnTo>
                <a:lnTo>
                  <a:pt x="12178164" y="3496691"/>
                </a:lnTo>
                <a:cubicBezTo>
                  <a:pt x="11024675" y="2834150"/>
                  <a:pt x="8774972" y="2384382"/>
                  <a:pt x="6188598" y="2384382"/>
                </a:cubicBezTo>
                <a:cubicBezTo>
                  <a:pt x="3484661" y="2384382"/>
                  <a:pt x="1148698" y="2875967"/>
                  <a:pt x="48605" y="3588334"/>
                </a:cubicBezTo>
                <a:lnTo>
                  <a:pt x="0" y="362188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1" name="任意多边形: 形状 40"/>
          <p:cNvSpPr/>
          <p:nvPr userDrawn="1"/>
        </p:nvSpPr>
        <p:spPr>
          <a:xfrm>
            <a:off x="0" y="-10810"/>
            <a:ext cx="12192000" cy="3621880"/>
          </a:xfrm>
          <a:custGeom>
            <a:avLst/>
            <a:gdLst>
              <a:gd name="connsiteX0" fmla="*/ 0 w 12192000"/>
              <a:gd name="connsiteY0" fmla="*/ 0 h 3621880"/>
              <a:gd name="connsiteX1" fmla="*/ 12192000 w 12192000"/>
              <a:gd name="connsiteY1" fmla="*/ 0 h 3621880"/>
              <a:gd name="connsiteX2" fmla="*/ 12192000 w 12192000"/>
              <a:gd name="connsiteY2" fmla="*/ 3505120 h 3621880"/>
              <a:gd name="connsiteX3" fmla="*/ 12178164 w 12192000"/>
              <a:gd name="connsiteY3" fmla="*/ 3496691 h 3621880"/>
              <a:gd name="connsiteX4" fmla="*/ 6188598 w 12192000"/>
              <a:gd name="connsiteY4" fmla="*/ 2384382 h 3621880"/>
              <a:gd name="connsiteX5" fmla="*/ 48605 w 12192000"/>
              <a:gd name="connsiteY5" fmla="*/ 3588334 h 3621880"/>
              <a:gd name="connsiteX6" fmla="*/ 0 w 12192000"/>
              <a:gd name="connsiteY6" fmla="*/ 3621880 h 3621880"/>
              <a:gd name="connsiteX7" fmla="*/ 0 w 12192000"/>
              <a:gd name="connsiteY7" fmla="*/ 0 h 362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621880">
                <a:moveTo>
                  <a:pt x="0" y="0"/>
                </a:moveTo>
                <a:lnTo>
                  <a:pt x="12192000" y="0"/>
                </a:lnTo>
                <a:lnTo>
                  <a:pt x="12192000" y="3505120"/>
                </a:lnTo>
                <a:lnTo>
                  <a:pt x="12178164" y="3496691"/>
                </a:lnTo>
                <a:cubicBezTo>
                  <a:pt x="11024675" y="2834150"/>
                  <a:pt x="8774972" y="2384382"/>
                  <a:pt x="6188598" y="2384382"/>
                </a:cubicBezTo>
                <a:cubicBezTo>
                  <a:pt x="3484661" y="2384382"/>
                  <a:pt x="1148698" y="2875967"/>
                  <a:pt x="48605" y="3588334"/>
                </a:cubicBezTo>
                <a:lnTo>
                  <a:pt x="0" y="362188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  <a:effectLst>
            <a:outerShdw blurRad="190500" dist="381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2" name="任意多边形: 形状 41"/>
          <p:cNvSpPr/>
          <p:nvPr userDrawn="1"/>
        </p:nvSpPr>
        <p:spPr>
          <a:xfrm>
            <a:off x="-170180" y="-10795"/>
            <a:ext cx="12532360" cy="3841115"/>
          </a:xfrm>
          <a:custGeom>
            <a:avLst/>
            <a:gdLst>
              <a:gd name="connsiteX0" fmla="*/ 0 w 12192000"/>
              <a:gd name="connsiteY0" fmla="*/ 0 h 3621880"/>
              <a:gd name="connsiteX1" fmla="*/ 12192000 w 12192000"/>
              <a:gd name="connsiteY1" fmla="*/ 0 h 3621880"/>
              <a:gd name="connsiteX2" fmla="*/ 12192000 w 12192000"/>
              <a:gd name="connsiteY2" fmla="*/ 3505120 h 3621880"/>
              <a:gd name="connsiteX3" fmla="*/ 12178164 w 12192000"/>
              <a:gd name="connsiteY3" fmla="*/ 3496691 h 3621880"/>
              <a:gd name="connsiteX4" fmla="*/ 6188598 w 12192000"/>
              <a:gd name="connsiteY4" fmla="*/ 2384382 h 3621880"/>
              <a:gd name="connsiteX5" fmla="*/ 48605 w 12192000"/>
              <a:gd name="connsiteY5" fmla="*/ 3588334 h 3621880"/>
              <a:gd name="connsiteX6" fmla="*/ 0 w 12192000"/>
              <a:gd name="connsiteY6" fmla="*/ 3621880 h 3621880"/>
              <a:gd name="connsiteX7" fmla="*/ 0 w 12192000"/>
              <a:gd name="connsiteY7" fmla="*/ 0 h 362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621880">
                <a:moveTo>
                  <a:pt x="0" y="0"/>
                </a:moveTo>
                <a:lnTo>
                  <a:pt x="12192000" y="0"/>
                </a:lnTo>
                <a:lnTo>
                  <a:pt x="12192000" y="3505120"/>
                </a:lnTo>
                <a:lnTo>
                  <a:pt x="12178164" y="3496691"/>
                </a:lnTo>
                <a:cubicBezTo>
                  <a:pt x="11024675" y="2834150"/>
                  <a:pt x="8774972" y="2384382"/>
                  <a:pt x="6188598" y="2384382"/>
                </a:cubicBezTo>
                <a:cubicBezTo>
                  <a:pt x="3484661" y="2384382"/>
                  <a:pt x="1148698" y="2875967"/>
                  <a:pt x="48605" y="3588334"/>
                </a:cubicBezTo>
                <a:lnTo>
                  <a:pt x="0" y="362188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FilmGrain grainSize="5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86" t="-64169" r="586" b="-25181"/>
            </a:stretch>
          </a:blip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19867" y="3935404"/>
            <a:ext cx="6752267" cy="652810"/>
          </a:xfrm>
        </p:spPr>
        <p:txBody>
          <a:bodyPr lIns="0" tIns="0" rIns="0" bIns="0"/>
          <a:lstStyle>
            <a:lvl1pPr>
              <a:defRPr b="1">
                <a:solidFill>
                  <a:srgbClr val="005D96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defRPr>
            </a:lvl1pPr>
          </a:lstStyle>
          <a:p>
            <a:pPr lvl="0"/>
            <a:r>
              <a:rPr lang="zh-CN" altLang="en-US" b="1" dirty="0"/>
              <a:t>青岛理工大学答辩答辩模板</a:t>
            </a:r>
            <a:endParaRPr kumimoji="0" lang="zh-CN" altLang="en-US" sz="8800" b="1" i="0" u="none" strike="noStrike" kern="1200" cap="none" spc="100" normalizeH="0" baseline="0" noProof="0" dirty="0">
              <a:ln>
                <a:noFill/>
              </a:ln>
              <a:effectLst/>
              <a:uLnTx/>
              <a:uFillTx/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sp>
        <p:nvSpPr>
          <p:cNvPr id="37" name="弧形 36"/>
          <p:cNvSpPr/>
          <p:nvPr userDrawn="1"/>
        </p:nvSpPr>
        <p:spPr>
          <a:xfrm>
            <a:off x="-912640" y="2648627"/>
            <a:ext cx="14352607" cy="5450476"/>
          </a:xfrm>
          <a:prstGeom prst="arc">
            <a:avLst>
              <a:gd name="adj1" fmla="val 11562219"/>
              <a:gd name="adj2" fmla="val 20729169"/>
            </a:avLst>
          </a:prstGeom>
          <a:ln w="53975">
            <a:solidFill>
              <a:srgbClr val="005D9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1" hasCustomPrompt="1"/>
          </p:nvPr>
        </p:nvSpPr>
        <p:spPr>
          <a:xfrm>
            <a:off x="515937" y="4657177"/>
            <a:ext cx="11160126" cy="337185"/>
          </a:xfrm>
          <a:prstGeom prst="rect">
            <a:avLst/>
          </a:prstGeom>
        </p:spPr>
        <p:txBody>
          <a:bodyPr vert="horz" wrap="square" lIns="0" tIns="45720" rIns="91440" bIns="45720" anchor="ctr" anchorCtr="0">
            <a:spAutoFit/>
          </a:bodyPr>
          <a:lstStyle>
            <a:lvl1pPr mar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200">
                <a:solidFill>
                  <a:srgbClr val="595959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altLang="zh-CN" dirty="0"/>
              <a:t>Qingdao University of Technology PowerPoint Template</a:t>
            </a:r>
            <a:endParaRPr lang="zh-CN" altLang="en-US" dirty="0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2704260" y="5219564"/>
            <a:ext cx="6783480" cy="99986"/>
            <a:chOff x="628656" y="974915"/>
            <a:chExt cx="11038056" cy="24702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628656" y="975360"/>
              <a:ext cx="8627657" cy="0"/>
            </a:xfrm>
            <a:prstGeom prst="line">
              <a:avLst/>
            </a:prstGeom>
            <a:ln w="19050">
              <a:solidFill>
                <a:srgbClr val="005D96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9233073" y="974915"/>
              <a:ext cx="23240" cy="24702"/>
            </a:xfrm>
            <a:prstGeom prst="line">
              <a:avLst/>
            </a:prstGeom>
            <a:ln w="19050" cap="rnd">
              <a:solidFill>
                <a:srgbClr val="005D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V="1">
              <a:off x="9233070" y="975360"/>
              <a:ext cx="189380" cy="24257"/>
            </a:xfrm>
            <a:prstGeom prst="line">
              <a:avLst/>
            </a:prstGeom>
            <a:ln w="19050" cap="rnd">
              <a:solidFill>
                <a:srgbClr val="005D96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9422450" y="975360"/>
              <a:ext cx="2244262" cy="0"/>
            </a:xfrm>
            <a:prstGeom prst="line">
              <a:avLst/>
            </a:prstGeom>
            <a:ln w="19050">
              <a:solidFill>
                <a:srgbClr val="005D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文本占位符 52"/>
          <p:cNvSpPr>
            <a:spLocks noGrp="1"/>
          </p:cNvSpPr>
          <p:nvPr>
            <p:ph type="body" sz="quarter" idx="13" hasCustomPrompt="1"/>
          </p:nvPr>
        </p:nvSpPr>
        <p:spPr>
          <a:xfrm>
            <a:off x="3979414" y="5821985"/>
            <a:ext cx="1978489" cy="304165"/>
          </a:xfrm>
          <a:prstGeom prst="rect">
            <a:avLst/>
          </a:prstGeom>
        </p:spPr>
        <p:txBody>
          <a:bodyPr vert="horz" wrap="square" lIns="0" tIns="0" rIns="0" bIns="0" anchor="b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spc="0">
                <a:solidFill>
                  <a:srgbClr val="005D96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  <a:sym typeface="方正大标宋简体" panose="02010601030101010101" pitchFamily="2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汇报人：青小理</a:t>
            </a:r>
          </a:p>
        </p:txBody>
      </p:sp>
      <p:sp>
        <p:nvSpPr>
          <p:cNvPr id="44" name="文本占位符 1"/>
          <p:cNvSpPr>
            <a:spLocks noGrp="1"/>
          </p:cNvSpPr>
          <p:nvPr>
            <p:ph type="body" sz="quarter" idx="15" hasCustomPrompt="1"/>
          </p:nvPr>
        </p:nvSpPr>
        <p:spPr>
          <a:xfrm>
            <a:off x="6756211" y="5838317"/>
            <a:ext cx="1849890" cy="287836"/>
          </a:xfrm>
          <a:prstGeom prst="rect">
            <a:avLst/>
          </a:prstGeom>
        </p:spPr>
        <p:txBody>
          <a:bodyPr vert="horz" wrap="square" lIns="0" tIns="0" rIns="0" bIns="0" anchor="b" anchorCtr="0">
            <a:normAutofit/>
          </a:bodyPr>
          <a:lstStyle>
            <a:lvl1pPr mar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spc="0">
                <a:solidFill>
                  <a:srgbClr val="005D96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  <a:sym typeface="方正大标宋简体" panose="02010601030101010101" pitchFamily="2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指导老师：青老师</a:t>
            </a:r>
          </a:p>
        </p:txBody>
      </p:sp>
      <p:sp>
        <p:nvSpPr>
          <p:cNvPr id="17" name="任意多边形: 形状 41"/>
          <p:cNvSpPr/>
          <p:nvPr userDrawn="1"/>
        </p:nvSpPr>
        <p:spPr>
          <a:xfrm>
            <a:off x="-170180" y="-56515"/>
            <a:ext cx="12532360" cy="3908425"/>
          </a:xfrm>
          <a:custGeom>
            <a:avLst/>
            <a:gdLst>
              <a:gd name="connsiteX0" fmla="*/ 0 w 12192000"/>
              <a:gd name="connsiteY0" fmla="*/ 0 h 3621880"/>
              <a:gd name="connsiteX1" fmla="*/ 12192000 w 12192000"/>
              <a:gd name="connsiteY1" fmla="*/ 0 h 3621880"/>
              <a:gd name="connsiteX2" fmla="*/ 12192000 w 12192000"/>
              <a:gd name="connsiteY2" fmla="*/ 3505120 h 3621880"/>
              <a:gd name="connsiteX3" fmla="*/ 12178164 w 12192000"/>
              <a:gd name="connsiteY3" fmla="*/ 3496691 h 3621880"/>
              <a:gd name="connsiteX4" fmla="*/ 6188598 w 12192000"/>
              <a:gd name="connsiteY4" fmla="*/ 2384382 h 3621880"/>
              <a:gd name="connsiteX5" fmla="*/ 48605 w 12192000"/>
              <a:gd name="connsiteY5" fmla="*/ 3588334 h 3621880"/>
              <a:gd name="connsiteX6" fmla="*/ 0 w 12192000"/>
              <a:gd name="connsiteY6" fmla="*/ 3621880 h 3621880"/>
              <a:gd name="connsiteX7" fmla="*/ 0 w 12192000"/>
              <a:gd name="connsiteY7" fmla="*/ 0 h 362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621880">
                <a:moveTo>
                  <a:pt x="0" y="0"/>
                </a:moveTo>
                <a:lnTo>
                  <a:pt x="12192000" y="0"/>
                </a:lnTo>
                <a:lnTo>
                  <a:pt x="12192000" y="3505120"/>
                </a:lnTo>
                <a:lnTo>
                  <a:pt x="12178164" y="3496691"/>
                </a:lnTo>
                <a:cubicBezTo>
                  <a:pt x="11024675" y="2834150"/>
                  <a:pt x="8774972" y="2384382"/>
                  <a:pt x="6188598" y="2384382"/>
                </a:cubicBezTo>
                <a:cubicBezTo>
                  <a:pt x="3484661" y="2384382"/>
                  <a:pt x="1148698" y="2875967"/>
                  <a:pt x="48605" y="3588334"/>
                </a:cubicBezTo>
                <a:lnTo>
                  <a:pt x="0" y="3621880"/>
                </a:lnTo>
                <a:lnTo>
                  <a:pt x="0" y="0"/>
                </a:lnTo>
                <a:close/>
              </a:path>
            </a:pathLst>
          </a:custGeom>
          <a:solidFill>
            <a:srgbClr val="005D96">
              <a:alpha val="69000"/>
            </a:srgb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8" name="文本框 17"/>
          <p:cNvSpPr txBox="1"/>
          <p:nvPr userDrawn="1"/>
        </p:nvSpPr>
        <p:spPr>
          <a:xfrm>
            <a:off x="10196830" y="-135890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pic>
        <p:nvPicPr>
          <p:cNvPr id="19" name="图片 18" descr="青岛理工大学校徽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283835" y="1692910"/>
            <a:ext cx="1783715" cy="1783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3955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5"/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-3822065" y="-434340"/>
            <a:ext cx="7726680" cy="7726680"/>
          </a:xfrm>
          <a:prstGeom prst="rect">
            <a:avLst/>
          </a:prstGeom>
        </p:spPr>
      </p:pic>
      <p:pic>
        <p:nvPicPr>
          <p:cNvPr id="3" name="图片 2" descr="5"/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8355330" y="-434340"/>
            <a:ext cx="7726680" cy="7726680"/>
          </a:xfrm>
          <a:prstGeom prst="rect">
            <a:avLst/>
          </a:prstGeom>
        </p:spPr>
      </p:pic>
      <p:sp>
        <p:nvSpPr>
          <p:cNvPr id="9" name="任意多边形: 形状 8"/>
          <p:cNvSpPr/>
          <p:nvPr userDrawn="1"/>
        </p:nvSpPr>
        <p:spPr>
          <a:xfrm rot="21413345">
            <a:off x="-107772" y="5889232"/>
            <a:ext cx="12369445" cy="1288985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 userDrawn="1"/>
        </p:nvSpPr>
        <p:spPr>
          <a:xfrm rot="21413345">
            <a:off x="-60722" y="5797965"/>
            <a:ext cx="12335849" cy="147093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 userDrawn="1"/>
        </p:nvSpPr>
        <p:spPr>
          <a:xfrm rot="21413345">
            <a:off x="-101880" y="5734499"/>
            <a:ext cx="12376686" cy="150727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468630" y="64930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300">
                <a:solidFill>
                  <a:schemeClr val="bg2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defRPr>
            </a:lvl1pPr>
          </a:lstStyle>
          <a:p>
            <a:r>
              <a:rPr lang="zh-CN" altLang="en-US" dirty="0"/>
              <a:t>百折不挠</a:t>
            </a:r>
            <a:r>
              <a:rPr lang="en-US" altLang="zh-CN" dirty="0"/>
              <a:t> </a:t>
            </a:r>
            <a:r>
              <a:rPr lang="zh-CN" altLang="en-US" dirty="0"/>
              <a:t>刚毅厚重</a:t>
            </a:r>
            <a:r>
              <a:rPr lang="en-US" altLang="zh-CN" dirty="0"/>
              <a:t> </a:t>
            </a:r>
            <a:r>
              <a:rPr lang="zh-CN" altLang="en-US" dirty="0"/>
              <a:t>勇承重载</a:t>
            </a:r>
          </a:p>
        </p:txBody>
      </p:sp>
    </p:spTree>
    <p:extLst>
      <p:ext uri="{BB962C8B-B14F-4D97-AF65-F5344CB8AC3E}">
        <p14:creationId xmlns:p14="http://schemas.microsoft.com/office/powerpoint/2010/main" val="5544574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PMingLiU"/>
                <a:cs typeface="PMingLiU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442452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900015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D2D3ABB-1285-294F-A20A-F30083EB9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1A8907-74D6-0D45-95A8-836E4EC85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17F7AE-BD20-0A4F-80C4-18B0EDB6DE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5CF517-7373-6349-A426-5E433EDE14F4}" type="datetimeFigureOut">
              <a:rPr kumimoji="1" lang="zh-CN" altLang="en-US" smtClean="0"/>
              <a:t>2023/6/5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34DFE5-4086-414D-857D-C32B7481EA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6FCBA4-62E5-7A40-8979-12F1BF0DD7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487543E-91E5-5145-A581-4D7204F32DA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5">
            <a:extLst>
              <a:ext uri="{FF2B5EF4-FFF2-40B4-BE49-F238E27FC236}">
                <a16:creationId xmlns:a16="http://schemas.microsoft.com/office/drawing/2014/main" id="{86770886-93F4-434C-9FE2-AEFDCF90D23E}"/>
              </a:ext>
            </a:extLst>
          </p:cNvPr>
          <p:cNvPicPr>
            <a:picLocks noChangeAspect="1"/>
          </p:cNvPicPr>
          <p:nvPr userDrawn="1"/>
        </p:nvPicPr>
        <p:blipFill>
          <a:blip r:embed="rId29">
            <a:alphaModFix amt="30000"/>
          </a:blip>
          <a:stretch>
            <a:fillRect/>
          </a:stretch>
        </p:blipFill>
        <p:spPr>
          <a:xfrm>
            <a:off x="-3829050" y="-421622"/>
            <a:ext cx="7726680" cy="7726680"/>
          </a:xfrm>
          <a:prstGeom prst="rect">
            <a:avLst/>
          </a:prstGeom>
        </p:spPr>
      </p:pic>
      <p:pic>
        <p:nvPicPr>
          <p:cNvPr id="9" name="图片 8" descr="5">
            <a:extLst>
              <a:ext uri="{FF2B5EF4-FFF2-40B4-BE49-F238E27FC236}">
                <a16:creationId xmlns:a16="http://schemas.microsoft.com/office/drawing/2014/main" id="{33BEC999-C1B9-3948-9008-02B970DB7EAB}"/>
              </a:ext>
            </a:extLst>
          </p:cNvPr>
          <p:cNvPicPr>
            <a:picLocks noChangeAspect="1"/>
          </p:cNvPicPr>
          <p:nvPr userDrawn="1"/>
        </p:nvPicPr>
        <p:blipFill>
          <a:blip r:embed="rId29">
            <a:alphaModFix amt="30000"/>
          </a:blip>
          <a:stretch>
            <a:fillRect/>
          </a:stretch>
        </p:blipFill>
        <p:spPr>
          <a:xfrm>
            <a:off x="8328660" y="-434340"/>
            <a:ext cx="7726680" cy="7726680"/>
          </a:xfrm>
          <a:prstGeom prst="rect">
            <a:avLst/>
          </a:prstGeom>
        </p:spPr>
      </p:pic>
      <p:sp>
        <p:nvSpPr>
          <p:cNvPr id="10" name="任意多边形: 形状 8">
            <a:extLst>
              <a:ext uri="{FF2B5EF4-FFF2-40B4-BE49-F238E27FC236}">
                <a16:creationId xmlns:a16="http://schemas.microsoft.com/office/drawing/2014/main" id="{CF7A9872-9A2D-0544-B95E-53F0A0452969}"/>
              </a:ext>
            </a:extLst>
          </p:cNvPr>
          <p:cNvSpPr/>
          <p:nvPr userDrawn="1"/>
        </p:nvSpPr>
        <p:spPr>
          <a:xfrm rot="21413345">
            <a:off x="-107772" y="5889232"/>
            <a:ext cx="12369445" cy="1288985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任意多边形: 形状 7">
            <a:extLst>
              <a:ext uri="{FF2B5EF4-FFF2-40B4-BE49-F238E27FC236}">
                <a16:creationId xmlns:a16="http://schemas.microsoft.com/office/drawing/2014/main" id="{7990B218-ED19-EA44-9E8D-A10600CCD7A7}"/>
              </a:ext>
            </a:extLst>
          </p:cNvPr>
          <p:cNvSpPr/>
          <p:nvPr userDrawn="1"/>
        </p:nvSpPr>
        <p:spPr>
          <a:xfrm rot="21413345">
            <a:off x="-51285" y="5815216"/>
            <a:ext cx="12335849" cy="147093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任意多边形: 形状 6">
            <a:extLst>
              <a:ext uri="{FF2B5EF4-FFF2-40B4-BE49-F238E27FC236}">
                <a16:creationId xmlns:a16="http://schemas.microsoft.com/office/drawing/2014/main" id="{AF003127-AEDD-8E4C-9F09-DA9AF5FD300F}"/>
              </a:ext>
            </a:extLst>
          </p:cNvPr>
          <p:cNvSpPr/>
          <p:nvPr userDrawn="1"/>
        </p:nvSpPr>
        <p:spPr>
          <a:xfrm rot="21413345">
            <a:off x="-9274" y="5823247"/>
            <a:ext cx="12376686" cy="150727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日期占位符 9">
            <a:extLst>
              <a:ext uri="{FF2B5EF4-FFF2-40B4-BE49-F238E27FC236}">
                <a16:creationId xmlns:a16="http://schemas.microsoft.com/office/drawing/2014/main" id="{25D4FA56-C140-9844-933D-B552570A8775}"/>
              </a:ext>
            </a:extLst>
          </p:cNvPr>
          <p:cNvSpPr txBox="1">
            <a:spLocks/>
          </p:cNvSpPr>
          <p:nvPr userDrawn="1"/>
        </p:nvSpPr>
        <p:spPr>
          <a:xfrm>
            <a:off x="468630" y="64930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 spc="300">
                <a:solidFill>
                  <a:schemeClr val="bg2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百折不挠</a:t>
            </a:r>
            <a:r>
              <a:rPr lang="en-US" altLang="zh-CN"/>
              <a:t> </a:t>
            </a:r>
            <a:r>
              <a:rPr lang="zh-CN" altLang="en-US"/>
              <a:t>刚毅厚重</a:t>
            </a:r>
            <a:r>
              <a:rPr lang="en-US" altLang="zh-CN"/>
              <a:t> </a:t>
            </a:r>
            <a:r>
              <a:rPr lang="zh-CN" altLang="en-US"/>
              <a:t>勇承重载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3BF4C09-9862-DF42-BD08-3AFBEDF9DF09}"/>
              </a:ext>
            </a:extLst>
          </p:cNvPr>
          <p:cNvSpPr/>
          <p:nvPr userDrawn="1"/>
        </p:nvSpPr>
        <p:spPr>
          <a:xfrm>
            <a:off x="762000" y="0"/>
            <a:ext cx="333926" cy="944563"/>
          </a:xfrm>
          <a:prstGeom prst="rect">
            <a:avLst/>
          </a:prstGeom>
          <a:solidFill>
            <a:srgbClr val="005D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pic>
        <p:nvPicPr>
          <p:cNvPr id="15" name="图片 14" descr="青岛理工大学校徽">
            <a:extLst>
              <a:ext uri="{FF2B5EF4-FFF2-40B4-BE49-F238E27FC236}">
                <a16:creationId xmlns:a16="http://schemas.microsoft.com/office/drawing/2014/main" id="{41EA12D9-A451-3B45-A579-CA2846C1C316}"/>
              </a:ext>
            </a:extLst>
          </p:cNvPr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10973435" y="221615"/>
            <a:ext cx="723265" cy="72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865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49" r:id="rId13"/>
    <p:sldLayoutId id="2147483650" r:id="rId14"/>
    <p:sldLayoutId id="2147483651" r:id="rId15"/>
    <p:sldLayoutId id="2147483652" r:id="rId16"/>
    <p:sldLayoutId id="2147483653" r:id="rId17"/>
    <p:sldLayoutId id="2147483654" r:id="rId18"/>
    <p:sldLayoutId id="2147483655" r:id="rId19"/>
    <p:sldLayoutId id="2147483656" r:id="rId20"/>
    <p:sldLayoutId id="2147483657" r:id="rId21"/>
    <p:sldLayoutId id="2147483658" r:id="rId22"/>
    <p:sldLayoutId id="2147483659" r:id="rId23"/>
    <p:sldLayoutId id="2147483660" r:id="rId24"/>
    <p:sldLayoutId id="2147483661" r:id="rId25"/>
    <p:sldLayoutId id="2147483675" r:id="rId26"/>
    <p:sldLayoutId id="2147483676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2719705" y="3857271"/>
            <a:ext cx="7350125" cy="652780"/>
          </a:xfrm>
        </p:spPr>
        <p:txBody>
          <a:bodyPr>
            <a:normAutofit/>
          </a:bodyPr>
          <a:lstStyle/>
          <a:p>
            <a:pPr algn="ctr"/>
            <a:r>
              <a:rPr lang="zh-CN" altLang="en-US" dirty="0"/>
              <a:t>算法设计与分析</a:t>
            </a:r>
            <a:endParaRPr lang="zh-CN" altLang="en-US" dirty="0">
              <a:solidFill>
                <a:srgbClr val="005D96"/>
              </a:solidFill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2704260" y="5219564"/>
            <a:ext cx="6783480" cy="99986"/>
            <a:chOff x="628656" y="974915"/>
            <a:chExt cx="11038056" cy="24702"/>
          </a:xfrm>
        </p:grpSpPr>
        <p:cxnSp>
          <p:nvCxnSpPr>
            <p:cNvPr id="40" name="直接连接符 39"/>
            <p:cNvCxnSpPr/>
            <p:nvPr/>
          </p:nvCxnSpPr>
          <p:spPr>
            <a:xfrm>
              <a:off x="628656" y="975360"/>
              <a:ext cx="8627657" cy="0"/>
            </a:xfrm>
            <a:prstGeom prst="line">
              <a:avLst/>
            </a:prstGeom>
            <a:ln w="19050">
              <a:solidFill>
                <a:srgbClr val="005D96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9233073" y="974915"/>
              <a:ext cx="23240" cy="24702"/>
            </a:xfrm>
            <a:prstGeom prst="line">
              <a:avLst/>
            </a:prstGeom>
            <a:ln w="19050" cap="rnd">
              <a:solidFill>
                <a:srgbClr val="005D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V="1">
              <a:off x="9233070" y="975360"/>
              <a:ext cx="189380" cy="24257"/>
            </a:xfrm>
            <a:prstGeom prst="line">
              <a:avLst/>
            </a:prstGeom>
            <a:ln w="19050" cap="rnd">
              <a:solidFill>
                <a:srgbClr val="005D96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>
              <a:off x="9422450" y="975360"/>
              <a:ext cx="2244262" cy="0"/>
            </a:xfrm>
            <a:prstGeom prst="line">
              <a:avLst/>
            </a:prstGeom>
            <a:ln w="19050">
              <a:solidFill>
                <a:srgbClr val="005D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5" name="直接连接符 94"/>
          <p:cNvCxnSpPr/>
          <p:nvPr/>
        </p:nvCxnSpPr>
        <p:spPr>
          <a:xfrm flipV="1">
            <a:off x="2784475" y="5848350"/>
            <a:ext cx="0" cy="265430"/>
          </a:xfrm>
          <a:prstGeom prst="line">
            <a:avLst/>
          </a:prstGeom>
          <a:ln w="28575" cap="rnd">
            <a:solidFill>
              <a:srgbClr val="005D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 flipV="1">
            <a:off x="2861310" y="5895340"/>
            <a:ext cx="0" cy="170180"/>
          </a:xfrm>
          <a:prstGeom prst="line">
            <a:avLst/>
          </a:prstGeom>
          <a:ln w="28575" cap="rnd">
            <a:solidFill>
              <a:srgbClr val="005D96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 rot="16200000">
            <a:off x="2880995" y="5981065"/>
            <a:ext cx="113665" cy="0"/>
          </a:xfrm>
          <a:prstGeom prst="line">
            <a:avLst/>
          </a:prstGeom>
          <a:ln w="28575" cap="rnd">
            <a:solidFill>
              <a:srgbClr val="005D96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组合 34"/>
          <p:cNvGrpSpPr/>
          <p:nvPr/>
        </p:nvGrpSpPr>
        <p:grpSpPr>
          <a:xfrm>
            <a:off x="3161491" y="5800840"/>
            <a:ext cx="5933868" cy="367111"/>
            <a:chOff x="3517041" y="5800840"/>
            <a:chExt cx="5082917" cy="367111"/>
          </a:xfrm>
        </p:grpSpPr>
        <p:sp>
          <p:nvSpPr>
            <p:cNvPr id="36" name="文本框 35"/>
            <p:cNvSpPr txBox="1"/>
            <p:nvPr/>
          </p:nvSpPr>
          <p:spPr>
            <a:xfrm>
              <a:off x="3826448" y="5856877"/>
              <a:ext cx="2349253" cy="283476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lvl="0" algn="r">
                <a:lnSpc>
                  <a:spcPct val="110000"/>
                </a:lnSpc>
                <a:defRPr/>
              </a:pPr>
              <a:r>
                <a:rPr lang="zh-CN" altLang="en-US" dirty="0">
                  <a:solidFill>
                    <a:srgbClr val="005D96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开课专业班级：软件</a:t>
              </a:r>
              <a:r>
                <a:rPr lang="en-US" altLang="zh-CN" dirty="0">
                  <a:solidFill>
                    <a:srgbClr val="005D96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211-3</a:t>
              </a: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5D96"/>
                  </a:solidFill>
                  <a:effectLst/>
                  <a:uLnTx/>
                  <a:uFillTx/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 </a:t>
              </a: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6830089" y="5810965"/>
              <a:ext cx="1769869" cy="314894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dirty="0">
                  <a:solidFill>
                    <a:srgbClr val="005D96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开课教师：</a:t>
              </a:r>
              <a:r>
                <a:rPr lang="zh-CN" altLang="en-US" sz="2000" dirty="0">
                  <a:solidFill>
                    <a:srgbClr val="005D96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赵浩然</a:t>
              </a:r>
            </a:p>
          </p:txBody>
        </p:sp>
        <p:sp>
          <p:nvSpPr>
            <p:cNvPr id="39" name="graduate_57239"/>
            <p:cNvSpPr>
              <a:spLocks noChangeAspect="1"/>
            </p:cNvSpPr>
            <p:nvPr/>
          </p:nvSpPr>
          <p:spPr bwMode="auto">
            <a:xfrm>
              <a:off x="3517041" y="5800840"/>
              <a:ext cx="247420" cy="360000"/>
            </a:xfrm>
            <a:custGeom>
              <a:avLst/>
              <a:gdLst>
                <a:gd name="connsiteX0" fmla="*/ 142468 w 412043"/>
                <a:gd name="connsiteY0" fmla="*/ 396851 h 599527"/>
                <a:gd name="connsiteX1" fmla="*/ 153964 w 412043"/>
                <a:gd name="connsiteY1" fmla="*/ 405753 h 599527"/>
                <a:gd name="connsiteX2" fmla="*/ 144814 w 412043"/>
                <a:gd name="connsiteY2" fmla="*/ 585910 h 599527"/>
                <a:gd name="connsiteX3" fmla="*/ 135898 w 412043"/>
                <a:gd name="connsiteY3" fmla="*/ 595046 h 599527"/>
                <a:gd name="connsiteX4" fmla="*/ 15768 w 412043"/>
                <a:gd name="connsiteY4" fmla="*/ 599498 h 599527"/>
                <a:gd name="connsiteX5" fmla="*/ 6383 w 412043"/>
                <a:gd name="connsiteY5" fmla="*/ 590127 h 599527"/>
                <a:gd name="connsiteX6" fmla="*/ 142468 w 412043"/>
                <a:gd name="connsiteY6" fmla="*/ 396851 h 599527"/>
                <a:gd name="connsiteX7" fmla="*/ 275305 w 412043"/>
                <a:gd name="connsiteY7" fmla="*/ 271238 h 599527"/>
                <a:gd name="connsiteX8" fmla="*/ 222034 w 412043"/>
                <a:gd name="connsiteY8" fmla="*/ 284828 h 599527"/>
                <a:gd name="connsiteX9" fmla="*/ 158437 w 412043"/>
                <a:gd name="connsiteY9" fmla="*/ 287640 h 599527"/>
                <a:gd name="connsiteX10" fmla="*/ 99299 w 412043"/>
                <a:gd name="connsiteY10" fmla="*/ 277096 h 599527"/>
                <a:gd name="connsiteX11" fmla="*/ 205137 w 412043"/>
                <a:gd name="connsiteY11" fmla="*/ 392382 h 599527"/>
                <a:gd name="connsiteX12" fmla="*/ 312148 w 412043"/>
                <a:gd name="connsiteY12" fmla="*/ 309432 h 599527"/>
                <a:gd name="connsiteX13" fmla="*/ 305108 w 412043"/>
                <a:gd name="connsiteY13" fmla="*/ 310604 h 599527"/>
                <a:gd name="connsiteX14" fmla="*/ 275305 w 412043"/>
                <a:gd name="connsiteY14" fmla="*/ 271238 h 599527"/>
                <a:gd name="connsiteX15" fmla="*/ 93667 w 412043"/>
                <a:gd name="connsiteY15" fmla="*/ 210314 h 599527"/>
                <a:gd name="connsiteX16" fmla="*/ 93667 w 412043"/>
                <a:gd name="connsiteY16" fmla="*/ 212892 h 599527"/>
                <a:gd name="connsiteX17" fmla="*/ 100003 w 412043"/>
                <a:gd name="connsiteY17" fmla="*/ 213595 h 599527"/>
                <a:gd name="connsiteX18" fmla="*/ 93667 w 412043"/>
                <a:gd name="connsiteY18" fmla="*/ 210314 h 599527"/>
                <a:gd name="connsiteX19" fmla="*/ 80202 w 412043"/>
                <a:gd name="connsiteY19" fmla="*/ 186355 h 599527"/>
                <a:gd name="connsiteX20" fmla="*/ 89443 w 412043"/>
                <a:gd name="connsiteY20" fmla="*/ 186413 h 599527"/>
                <a:gd name="connsiteX21" fmla="*/ 269203 w 412043"/>
                <a:gd name="connsiteY21" fmla="*/ 193209 h 599527"/>
                <a:gd name="connsiteX22" fmla="*/ 279059 w 412043"/>
                <a:gd name="connsiteY22" fmla="*/ 193209 h 599527"/>
                <a:gd name="connsiteX23" fmla="*/ 284222 w 412043"/>
                <a:gd name="connsiteY23" fmla="*/ 197661 h 599527"/>
                <a:gd name="connsiteX24" fmla="*/ 288681 w 412043"/>
                <a:gd name="connsiteY24" fmla="*/ 255304 h 599527"/>
                <a:gd name="connsiteX25" fmla="*/ 312383 w 412043"/>
                <a:gd name="connsiteY25" fmla="*/ 289280 h 599527"/>
                <a:gd name="connsiteX26" fmla="*/ 314965 w 412043"/>
                <a:gd name="connsiteY26" fmla="*/ 201175 h 599527"/>
                <a:gd name="connsiteX27" fmla="*/ 330688 w 412043"/>
                <a:gd name="connsiteY27" fmla="*/ 199067 h 599527"/>
                <a:gd name="connsiteX28" fmla="*/ 260051 w 412043"/>
                <a:gd name="connsiteY28" fmla="*/ 401287 h 599527"/>
                <a:gd name="connsiteX29" fmla="*/ 263102 w 412043"/>
                <a:gd name="connsiteY29" fmla="*/ 401990 h 599527"/>
                <a:gd name="connsiteX30" fmla="*/ 401325 w 412043"/>
                <a:gd name="connsiteY30" fmla="*/ 590150 h 599527"/>
                <a:gd name="connsiteX31" fmla="*/ 389591 w 412043"/>
                <a:gd name="connsiteY31" fmla="*/ 599289 h 599527"/>
                <a:gd name="connsiteX32" fmla="*/ 262867 w 412043"/>
                <a:gd name="connsiteY32" fmla="*/ 595071 h 599527"/>
                <a:gd name="connsiteX33" fmla="*/ 253480 w 412043"/>
                <a:gd name="connsiteY33" fmla="*/ 585698 h 599527"/>
                <a:gd name="connsiteX34" fmla="*/ 247144 w 412043"/>
                <a:gd name="connsiteY34" fmla="*/ 414643 h 599527"/>
                <a:gd name="connsiteX35" fmla="*/ 248786 w 412043"/>
                <a:gd name="connsiteY35" fmla="*/ 410660 h 599527"/>
                <a:gd name="connsiteX36" fmla="*/ 251603 w 412043"/>
                <a:gd name="connsiteY36" fmla="*/ 404802 h 599527"/>
                <a:gd name="connsiteX37" fmla="*/ 205137 w 412043"/>
                <a:gd name="connsiteY37" fmla="*/ 410894 h 599527"/>
                <a:gd name="connsiteX38" fmla="*/ 75362 w 412043"/>
                <a:gd name="connsiteY38" fmla="*/ 194380 h 599527"/>
                <a:gd name="connsiteX39" fmla="*/ 80202 w 412043"/>
                <a:gd name="connsiteY39" fmla="*/ 186355 h 599527"/>
                <a:gd name="connsiteX40" fmla="*/ 204675 w 412043"/>
                <a:gd name="connsiteY40" fmla="*/ 1071 h 599527"/>
                <a:gd name="connsiteX41" fmla="*/ 297143 w 412043"/>
                <a:gd name="connsiteY41" fmla="*/ 36212 h 599527"/>
                <a:gd name="connsiteX42" fmla="*/ 407917 w 412043"/>
                <a:gd name="connsiteY42" fmla="*/ 88689 h 599527"/>
                <a:gd name="connsiteX43" fmla="*/ 405335 w 412043"/>
                <a:gd name="connsiteY43" fmla="*/ 105790 h 599527"/>
                <a:gd name="connsiteX44" fmla="*/ 367785 w 412043"/>
                <a:gd name="connsiteY44" fmla="*/ 126172 h 599527"/>
                <a:gd name="connsiteX45" fmla="*/ 313102 w 412043"/>
                <a:gd name="connsiteY45" fmla="*/ 136948 h 599527"/>
                <a:gd name="connsiteX46" fmla="*/ 200216 w 412043"/>
                <a:gd name="connsiteY46" fmla="*/ 93608 h 599527"/>
                <a:gd name="connsiteX47" fmla="*/ 282123 w 412043"/>
                <a:gd name="connsiteY47" fmla="*/ 147256 h 599527"/>
                <a:gd name="connsiteX48" fmla="*/ 285643 w 412043"/>
                <a:gd name="connsiteY48" fmla="*/ 153347 h 599527"/>
                <a:gd name="connsiteX49" fmla="*/ 285174 w 412043"/>
                <a:gd name="connsiteY49" fmla="*/ 165530 h 599527"/>
                <a:gd name="connsiteX50" fmla="*/ 172757 w 412043"/>
                <a:gd name="connsiteY50" fmla="*/ 198328 h 599527"/>
                <a:gd name="connsiteX51" fmla="*/ 8474 w 412043"/>
                <a:gd name="connsiteY51" fmla="*/ 110242 h 599527"/>
                <a:gd name="connsiteX52" fmla="*/ 3310 w 412043"/>
                <a:gd name="connsiteY52" fmla="*/ 97122 h 599527"/>
                <a:gd name="connsiteX53" fmla="*/ 113146 w 412043"/>
                <a:gd name="connsiteY53" fmla="*/ 45114 h 599527"/>
                <a:gd name="connsiteX54" fmla="*/ 204675 w 412043"/>
                <a:gd name="connsiteY54" fmla="*/ 1071 h 599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12043" h="599527">
                  <a:moveTo>
                    <a:pt x="142468" y="396851"/>
                  </a:moveTo>
                  <a:cubicBezTo>
                    <a:pt x="148333" y="395679"/>
                    <a:pt x="153730" y="399662"/>
                    <a:pt x="153964" y="405753"/>
                  </a:cubicBezTo>
                  <a:cubicBezTo>
                    <a:pt x="156545" y="464556"/>
                    <a:pt x="165461" y="529215"/>
                    <a:pt x="144814" y="585910"/>
                  </a:cubicBezTo>
                  <a:cubicBezTo>
                    <a:pt x="145048" y="590595"/>
                    <a:pt x="142233" y="595515"/>
                    <a:pt x="135898" y="595046"/>
                  </a:cubicBezTo>
                  <a:cubicBezTo>
                    <a:pt x="95776" y="591532"/>
                    <a:pt x="55889" y="595046"/>
                    <a:pt x="15768" y="599498"/>
                  </a:cubicBezTo>
                  <a:cubicBezTo>
                    <a:pt x="10606" y="599966"/>
                    <a:pt x="6383" y="594812"/>
                    <a:pt x="6383" y="590127"/>
                  </a:cubicBezTo>
                  <a:cubicBezTo>
                    <a:pt x="5913" y="512348"/>
                    <a:pt x="62224" y="414655"/>
                    <a:pt x="142468" y="396851"/>
                  </a:cubicBezTo>
                  <a:close/>
                  <a:moveTo>
                    <a:pt x="275305" y="271238"/>
                  </a:moveTo>
                  <a:cubicBezTo>
                    <a:pt x="260285" y="280845"/>
                    <a:pt x="239165" y="282251"/>
                    <a:pt x="222034" y="284828"/>
                  </a:cubicBezTo>
                  <a:cubicBezTo>
                    <a:pt x="201148" y="287875"/>
                    <a:pt x="179557" y="289280"/>
                    <a:pt x="158437" y="287640"/>
                  </a:cubicBezTo>
                  <a:cubicBezTo>
                    <a:pt x="143887" y="286469"/>
                    <a:pt x="116899" y="285531"/>
                    <a:pt x="99299" y="277096"/>
                  </a:cubicBezTo>
                  <a:cubicBezTo>
                    <a:pt x="110329" y="336145"/>
                    <a:pt x="139663" y="391679"/>
                    <a:pt x="205137" y="392382"/>
                  </a:cubicBezTo>
                  <a:cubicBezTo>
                    <a:pt x="262163" y="392851"/>
                    <a:pt x="296895" y="356062"/>
                    <a:pt x="312148" y="309432"/>
                  </a:cubicBezTo>
                  <a:cubicBezTo>
                    <a:pt x="310036" y="310135"/>
                    <a:pt x="307690" y="310604"/>
                    <a:pt x="305108" y="310604"/>
                  </a:cubicBezTo>
                  <a:cubicBezTo>
                    <a:pt x="287977" y="310604"/>
                    <a:pt x="279294" y="293030"/>
                    <a:pt x="275305" y="271238"/>
                  </a:cubicBezTo>
                  <a:close/>
                  <a:moveTo>
                    <a:pt x="93667" y="210314"/>
                  </a:moveTo>
                  <a:cubicBezTo>
                    <a:pt x="93667" y="211251"/>
                    <a:pt x="93667" y="212189"/>
                    <a:pt x="93667" y="212892"/>
                  </a:cubicBezTo>
                  <a:cubicBezTo>
                    <a:pt x="95779" y="213126"/>
                    <a:pt x="97891" y="213360"/>
                    <a:pt x="100003" y="213595"/>
                  </a:cubicBezTo>
                  <a:cubicBezTo>
                    <a:pt x="97891" y="212423"/>
                    <a:pt x="95779" y="211486"/>
                    <a:pt x="93667" y="210314"/>
                  </a:cubicBezTo>
                  <a:close/>
                  <a:moveTo>
                    <a:pt x="80202" y="186355"/>
                  </a:moveTo>
                  <a:cubicBezTo>
                    <a:pt x="82872" y="184714"/>
                    <a:pt x="86275" y="184422"/>
                    <a:pt x="89443" y="186413"/>
                  </a:cubicBezTo>
                  <a:cubicBezTo>
                    <a:pt x="144356" y="220156"/>
                    <a:pt x="213820" y="232340"/>
                    <a:pt x="269203" y="193209"/>
                  </a:cubicBezTo>
                  <a:cubicBezTo>
                    <a:pt x="272958" y="190397"/>
                    <a:pt x="276713" y="191100"/>
                    <a:pt x="279059" y="193209"/>
                  </a:cubicBezTo>
                  <a:cubicBezTo>
                    <a:pt x="281641" y="192271"/>
                    <a:pt x="284692" y="194380"/>
                    <a:pt x="284222" y="197661"/>
                  </a:cubicBezTo>
                  <a:cubicBezTo>
                    <a:pt x="281876" y="216172"/>
                    <a:pt x="285630" y="237261"/>
                    <a:pt x="288681" y="255304"/>
                  </a:cubicBezTo>
                  <a:cubicBezTo>
                    <a:pt x="289620" y="261162"/>
                    <a:pt x="304404" y="314587"/>
                    <a:pt x="312383" y="289280"/>
                  </a:cubicBezTo>
                  <a:cubicBezTo>
                    <a:pt x="321301" y="261162"/>
                    <a:pt x="315434" y="229997"/>
                    <a:pt x="314965" y="201175"/>
                  </a:cubicBezTo>
                  <a:cubicBezTo>
                    <a:pt x="314730" y="192037"/>
                    <a:pt x="328341" y="190397"/>
                    <a:pt x="330688" y="199067"/>
                  </a:cubicBezTo>
                  <a:cubicBezTo>
                    <a:pt x="349227" y="270300"/>
                    <a:pt x="328576" y="369887"/>
                    <a:pt x="260051" y="401287"/>
                  </a:cubicBezTo>
                  <a:cubicBezTo>
                    <a:pt x="261224" y="401287"/>
                    <a:pt x="262163" y="401521"/>
                    <a:pt x="263102" y="401990"/>
                  </a:cubicBezTo>
                  <a:cubicBezTo>
                    <a:pt x="332330" y="431983"/>
                    <a:pt x="406018" y="510481"/>
                    <a:pt x="401325" y="590150"/>
                  </a:cubicBezTo>
                  <a:cubicBezTo>
                    <a:pt x="401090" y="596711"/>
                    <a:pt x="395693" y="600226"/>
                    <a:pt x="389591" y="599289"/>
                  </a:cubicBezTo>
                  <a:cubicBezTo>
                    <a:pt x="347584" y="591790"/>
                    <a:pt x="305108" y="600460"/>
                    <a:pt x="262867" y="595071"/>
                  </a:cubicBezTo>
                  <a:cubicBezTo>
                    <a:pt x="257704" y="594368"/>
                    <a:pt x="253480" y="591322"/>
                    <a:pt x="253480" y="585698"/>
                  </a:cubicBezTo>
                  <a:cubicBezTo>
                    <a:pt x="252776" y="529226"/>
                    <a:pt x="239634" y="471115"/>
                    <a:pt x="247144" y="414643"/>
                  </a:cubicBezTo>
                  <a:cubicBezTo>
                    <a:pt x="247378" y="413003"/>
                    <a:pt x="248082" y="411831"/>
                    <a:pt x="248786" y="410660"/>
                  </a:cubicBezTo>
                  <a:cubicBezTo>
                    <a:pt x="249021" y="408551"/>
                    <a:pt x="249960" y="406442"/>
                    <a:pt x="251603" y="404802"/>
                  </a:cubicBezTo>
                  <a:cubicBezTo>
                    <a:pt x="237757" y="409722"/>
                    <a:pt x="222268" y="411831"/>
                    <a:pt x="205137" y="410894"/>
                  </a:cubicBezTo>
                  <a:cubicBezTo>
                    <a:pt x="96248" y="404802"/>
                    <a:pt x="70903" y="284360"/>
                    <a:pt x="75362" y="194380"/>
                  </a:cubicBezTo>
                  <a:cubicBezTo>
                    <a:pt x="75597" y="190983"/>
                    <a:pt x="77533" y="187995"/>
                    <a:pt x="80202" y="186355"/>
                  </a:cubicBezTo>
                  <a:close/>
                  <a:moveTo>
                    <a:pt x="204675" y="1071"/>
                  </a:moveTo>
                  <a:cubicBezTo>
                    <a:pt x="234481" y="-6191"/>
                    <a:pt x="272031" y="25435"/>
                    <a:pt x="297143" y="36212"/>
                  </a:cubicBezTo>
                  <a:cubicBezTo>
                    <a:pt x="334459" y="52142"/>
                    <a:pt x="374121" y="65730"/>
                    <a:pt x="407917" y="88689"/>
                  </a:cubicBezTo>
                  <a:cubicBezTo>
                    <a:pt x="415192" y="93843"/>
                    <a:pt x="411907" y="104150"/>
                    <a:pt x="405335" y="105790"/>
                  </a:cubicBezTo>
                  <a:cubicBezTo>
                    <a:pt x="398295" y="117035"/>
                    <a:pt x="379519" y="122189"/>
                    <a:pt x="367785" y="126172"/>
                  </a:cubicBezTo>
                  <a:cubicBezTo>
                    <a:pt x="351122" y="132029"/>
                    <a:pt x="331173" y="139291"/>
                    <a:pt x="313102" y="136948"/>
                  </a:cubicBezTo>
                  <a:cubicBezTo>
                    <a:pt x="271562" y="131092"/>
                    <a:pt x="243164" y="83769"/>
                    <a:pt x="200216" y="93608"/>
                  </a:cubicBezTo>
                  <a:cubicBezTo>
                    <a:pt x="211481" y="122658"/>
                    <a:pt x="255368" y="139760"/>
                    <a:pt x="282123" y="147256"/>
                  </a:cubicBezTo>
                  <a:cubicBezTo>
                    <a:pt x="285174" y="148193"/>
                    <a:pt x="286113" y="150770"/>
                    <a:pt x="285643" y="153347"/>
                  </a:cubicBezTo>
                  <a:cubicBezTo>
                    <a:pt x="288459" y="156627"/>
                    <a:pt x="289398" y="161547"/>
                    <a:pt x="285174" y="165530"/>
                  </a:cubicBezTo>
                  <a:cubicBezTo>
                    <a:pt x="254899" y="193408"/>
                    <a:pt x="213358" y="214961"/>
                    <a:pt x="172757" y="198328"/>
                  </a:cubicBezTo>
                  <a:cubicBezTo>
                    <a:pt x="115493" y="174666"/>
                    <a:pt x="65738" y="134840"/>
                    <a:pt x="8474" y="110242"/>
                  </a:cubicBezTo>
                  <a:cubicBezTo>
                    <a:pt x="728" y="112584"/>
                    <a:pt x="-3261" y="101339"/>
                    <a:pt x="3310" y="97122"/>
                  </a:cubicBezTo>
                  <a:cubicBezTo>
                    <a:pt x="37341" y="75569"/>
                    <a:pt x="76769" y="61982"/>
                    <a:pt x="113146" y="45114"/>
                  </a:cubicBezTo>
                  <a:cubicBezTo>
                    <a:pt x="142482" y="31526"/>
                    <a:pt x="173226" y="8568"/>
                    <a:pt x="204675" y="1071"/>
                  </a:cubicBezTo>
                  <a:close/>
                </a:path>
              </a:pathLst>
            </a:custGeom>
            <a:solidFill>
              <a:srgbClr val="005D96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solidFill>
                  <a:schemeClr val="accent4"/>
                </a:solidFill>
              </a:endParaRPr>
            </a:p>
          </p:txBody>
        </p:sp>
        <p:sp>
          <p:nvSpPr>
            <p:cNvPr id="45" name="professor_53644"/>
            <p:cNvSpPr>
              <a:spLocks noChangeAspect="1"/>
            </p:cNvSpPr>
            <p:nvPr/>
          </p:nvSpPr>
          <p:spPr bwMode="auto">
            <a:xfrm>
              <a:off x="6601606" y="5807951"/>
              <a:ext cx="254137" cy="360000"/>
            </a:xfrm>
            <a:custGeom>
              <a:avLst/>
              <a:gdLst>
                <a:gd name="connsiteX0" fmla="*/ 274879 w 424808"/>
                <a:gd name="connsiteY0" fmla="*/ 445205 h 601764"/>
                <a:gd name="connsiteX1" fmla="*/ 274879 w 424808"/>
                <a:gd name="connsiteY1" fmla="*/ 470531 h 601764"/>
                <a:gd name="connsiteX2" fmla="*/ 332512 w 424808"/>
                <a:gd name="connsiteY2" fmla="*/ 470531 h 601764"/>
                <a:gd name="connsiteX3" fmla="*/ 332512 w 424808"/>
                <a:gd name="connsiteY3" fmla="*/ 445205 h 601764"/>
                <a:gd name="connsiteX4" fmla="*/ 107051 w 424808"/>
                <a:gd name="connsiteY4" fmla="*/ 280818 h 601764"/>
                <a:gd name="connsiteX5" fmla="*/ 183588 w 424808"/>
                <a:gd name="connsiteY5" fmla="*/ 420340 h 601764"/>
                <a:gd name="connsiteX6" fmla="*/ 191426 w 424808"/>
                <a:gd name="connsiteY6" fmla="*/ 393633 h 601764"/>
                <a:gd name="connsiteX7" fmla="*/ 179899 w 424808"/>
                <a:gd name="connsiteY7" fmla="*/ 369228 h 601764"/>
                <a:gd name="connsiteX8" fmla="*/ 212174 w 424808"/>
                <a:gd name="connsiteY8" fmla="*/ 336074 h 601764"/>
                <a:gd name="connsiteX9" fmla="*/ 244910 w 424808"/>
                <a:gd name="connsiteY9" fmla="*/ 369228 h 601764"/>
                <a:gd name="connsiteX10" fmla="*/ 233383 w 424808"/>
                <a:gd name="connsiteY10" fmla="*/ 393633 h 601764"/>
                <a:gd name="connsiteX11" fmla="*/ 240760 w 424808"/>
                <a:gd name="connsiteY11" fmla="*/ 420340 h 601764"/>
                <a:gd name="connsiteX12" fmla="*/ 317758 w 424808"/>
                <a:gd name="connsiteY12" fmla="*/ 280818 h 601764"/>
                <a:gd name="connsiteX13" fmla="*/ 424726 w 424808"/>
                <a:gd name="connsiteY13" fmla="*/ 513815 h 601764"/>
                <a:gd name="connsiteX14" fmla="*/ 388763 w 424808"/>
                <a:gd name="connsiteY14" fmla="*/ 559861 h 601764"/>
                <a:gd name="connsiteX15" fmla="*/ 347267 w 424808"/>
                <a:gd name="connsiteY15" fmla="*/ 561703 h 601764"/>
                <a:gd name="connsiteX16" fmla="*/ 213557 w 424808"/>
                <a:gd name="connsiteY16" fmla="*/ 601764 h 601764"/>
                <a:gd name="connsiteX17" fmla="*/ 78003 w 424808"/>
                <a:gd name="connsiteY17" fmla="*/ 561703 h 601764"/>
                <a:gd name="connsiteX18" fmla="*/ 36507 w 424808"/>
                <a:gd name="connsiteY18" fmla="*/ 559861 h 601764"/>
                <a:gd name="connsiteX19" fmla="*/ 83 w 424808"/>
                <a:gd name="connsiteY19" fmla="*/ 513815 h 601764"/>
                <a:gd name="connsiteX20" fmla="*/ 107051 w 424808"/>
                <a:gd name="connsiteY20" fmla="*/ 280818 h 601764"/>
                <a:gd name="connsiteX21" fmla="*/ 184977 w 424808"/>
                <a:gd name="connsiteY21" fmla="*/ 152406 h 601764"/>
                <a:gd name="connsiteX22" fmla="*/ 153631 w 424808"/>
                <a:gd name="connsiteY22" fmla="*/ 166680 h 601764"/>
                <a:gd name="connsiteX23" fmla="*/ 153631 w 424808"/>
                <a:gd name="connsiteY23" fmla="*/ 167601 h 601764"/>
                <a:gd name="connsiteX24" fmla="*/ 170226 w 424808"/>
                <a:gd name="connsiteY24" fmla="*/ 184637 h 601764"/>
                <a:gd name="connsiteX25" fmla="*/ 178062 w 424808"/>
                <a:gd name="connsiteY25" fmla="*/ 184637 h 601764"/>
                <a:gd name="connsiteX26" fmla="*/ 195118 w 424808"/>
                <a:gd name="connsiteY26" fmla="*/ 167601 h 601764"/>
                <a:gd name="connsiteX27" fmla="*/ 184977 w 424808"/>
                <a:gd name="connsiteY27" fmla="*/ 152406 h 601764"/>
                <a:gd name="connsiteX28" fmla="*/ 247208 w 424808"/>
                <a:gd name="connsiteY28" fmla="*/ 150564 h 601764"/>
                <a:gd name="connsiteX29" fmla="*/ 230152 w 424808"/>
                <a:gd name="connsiteY29" fmla="*/ 167601 h 601764"/>
                <a:gd name="connsiteX30" fmla="*/ 247208 w 424808"/>
                <a:gd name="connsiteY30" fmla="*/ 184637 h 601764"/>
                <a:gd name="connsiteX31" fmla="*/ 254583 w 424808"/>
                <a:gd name="connsiteY31" fmla="*/ 184637 h 601764"/>
                <a:gd name="connsiteX32" fmla="*/ 271639 w 424808"/>
                <a:gd name="connsiteY32" fmla="*/ 167601 h 601764"/>
                <a:gd name="connsiteX33" fmla="*/ 254583 w 424808"/>
                <a:gd name="connsiteY33" fmla="*/ 150564 h 601764"/>
                <a:gd name="connsiteX34" fmla="*/ 236144 w 424808"/>
                <a:gd name="connsiteY34" fmla="*/ 107283 h 601764"/>
                <a:gd name="connsiteX35" fmla="*/ 196040 w 424808"/>
                <a:gd name="connsiteY35" fmla="*/ 145039 h 601764"/>
                <a:gd name="connsiteX36" fmla="*/ 201572 w 424808"/>
                <a:gd name="connsiteY36" fmla="*/ 150564 h 601764"/>
                <a:gd name="connsiteX37" fmla="*/ 223237 w 424808"/>
                <a:gd name="connsiteY37" fmla="*/ 150564 h 601764"/>
                <a:gd name="connsiteX38" fmla="*/ 247208 w 424808"/>
                <a:gd name="connsiteY38" fmla="*/ 138593 h 601764"/>
                <a:gd name="connsiteX39" fmla="*/ 254583 w 424808"/>
                <a:gd name="connsiteY39" fmla="*/ 138593 h 601764"/>
                <a:gd name="connsiteX40" fmla="*/ 284085 w 424808"/>
                <a:gd name="connsiteY40" fmla="*/ 167601 h 601764"/>
                <a:gd name="connsiteX41" fmla="*/ 254583 w 424808"/>
                <a:gd name="connsiteY41" fmla="*/ 197069 h 601764"/>
                <a:gd name="connsiteX42" fmla="*/ 247208 w 424808"/>
                <a:gd name="connsiteY42" fmla="*/ 197069 h 601764"/>
                <a:gd name="connsiteX43" fmla="*/ 217706 w 424808"/>
                <a:gd name="connsiteY43" fmla="*/ 167601 h 601764"/>
                <a:gd name="connsiteX44" fmla="*/ 218167 w 424808"/>
                <a:gd name="connsiteY44" fmla="*/ 162996 h 601764"/>
                <a:gd name="connsiteX45" fmla="*/ 206642 w 424808"/>
                <a:gd name="connsiteY45" fmla="*/ 162996 h 601764"/>
                <a:gd name="connsiteX46" fmla="*/ 207103 w 424808"/>
                <a:gd name="connsiteY46" fmla="*/ 167601 h 601764"/>
                <a:gd name="connsiteX47" fmla="*/ 178062 w 424808"/>
                <a:gd name="connsiteY47" fmla="*/ 197069 h 601764"/>
                <a:gd name="connsiteX48" fmla="*/ 170226 w 424808"/>
                <a:gd name="connsiteY48" fmla="*/ 197069 h 601764"/>
                <a:gd name="connsiteX49" fmla="*/ 141185 w 424808"/>
                <a:gd name="connsiteY49" fmla="*/ 170363 h 601764"/>
                <a:gd name="connsiteX50" fmla="*/ 119519 w 424808"/>
                <a:gd name="connsiteY50" fmla="*/ 173586 h 601764"/>
                <a:gd name="connsiteX51" fmla="*/ 212635 w 424808"/>
                <a:gd name="connsiteY51" fmla="*/ 280869 h 601764"/>
                <a:gd name="connsiteX52" fmla="*/ 307594 w 424808"/>
                <a:gd name="connsiteY52" fmla="*/ 155629 h 601764"/>
                <a:gd name="connsiteX53" fmla="*/ 236144 w 424808"/>
                <a:gd name="connsiteY53" fmla="*/ 107283 h 601764"/>
                <a:gd name="connsiteX54" fmla="*/ 212635 w 424808"/>
                <a:gd name="connsiteY54" fmla="*/ 0 h 601764"/>
                <a:gd name="connsiteX55" fmla="*/ 340323 w 424808"/>
                <a:gd name="connsiteY55" fmla="*/ 127082 h 601764"/>
                <a:gd name="connsiteX56" fmla="*/ 365215 w 424808"/>
                <a:gd name="connsiteY56" fmla="*/ 175889 h 601764"/>
                <a:gd name="connsiteX57" fmla="*/ 326955 w 424808"/>
                <a:gd name="connsiteY57" fmla="*/ 224695 h 601764"/>
                <a:gd name="connsiteX58" fmla="*/ 212635 w 424808"/>
                <a:gd name="connsiteY58" fmla="*/ 317244 h 601764"/>
                <a:gd name="connsiteX59" fmla="*/ 98315 w 424808"/>
                <a:gd name="connsiteY59" fmla="*/ 224695 h 601764"/>
                <a:gd name="connsiteX60" fmla="*/ 59594 w 424808"/>
                <a:gd name="connsiteY60" fmla="*/ 175889 h 601764"/>
                <a:gd name="connsiteX61" fmla="*/ 84947 w 424808"/>
                <a:gd name="connsiteY61" fmla="*/ 127082 h 601764"/>
                <a:gd name="connsiteX62" fmla="*/ 212635 w 424808"/>
                <a:gd name="connsiteY62" fmla="*/ 0 h 601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424808" h="601764">
                  <a:moveTo>
                    <a:pt x="274879" y="445205"/>
                  </a:moveTo>
                  <a:lnTo>
                    <a:pt x="274879" y="470531"/>
                  </a:lnTo>
                  <a:lnTo>
                    <a:pt x="332512" y="470531"/>
                  </a:lnTo>
                  <a:lnTo>
                    <a:pt x="332512" y="445205"/>
                  </a:lnTo>
                  <a:close/>
                  <a:moveTo>
                    <a:pt x="107051" y="280818"/>
                  </a:moveTo>
                  <a:lnTo>
                    <a:pt x="183588" y="420340"/>
                  </a:lnTo>
                  <a:lnTo>
                    <a:pt x="191426" y="393633"/>
                  </a:lnTo>
                  <a:cubicBezTo>
                    <a:pt x="184510" y="387647"/>
                    <a:pt x="179899" y="378898"/>
                    <a:pt x="179899" y="369228"/>
                  </a:cubicBezTo>
                  <a:cubicBezTo>
                    <a:pt x="179899" y="350809"/>
                    <a:pt x="193731" y="336074"/>
                    <a:pt x="212174" y="336074"/>
                  </a:cubicBezTo>
                  <a:cubicBezTo>
                    <a:pt x="230156" y="336074"/>
                    <a:pt x="244910" y="350809"/>
                    <a:pt x="244910" y="369228"/>
                  </a:cubicBezTo>
                  <a:cubicBezTo>
                    <a:pt x="244910" y="378898"/>
                    <a:pt x="240299" y="387647"/>
                    <a:pt x="233383" y="393633"/>
                  </a:cubicBezTo>
                  <a:lnTo>
                    <a:pt x="240760" y="420340"/>
                  </a:lnTo>
                  <a:lnTo>
                    <a:pt x="317758" y="280818"/>
                  </a:lnTo>
                  <a:cubicBezTo>
                    <a:pt x="367092" y="310288"/>
                    <a:pt x="417810" y="377977"/>
                    <a:pt x="424726" y="513815"/>
                  </a:cubicBezTo>
                  <a:cubicBezTo>
                    <a:pt x="426109" y="537759"/>
                    <a:pt x="409972" y="558480"/>
                    <a:pt x="388763" y="559861"/>
                  </a:cubicBezTo>
                  <a:cubicBezTo>
                    <a:pt x="387840" y="559861"/>
                    <a:pt x="347267" y="561703"/>
                    <a:pt x="347267" y="561703"/>
                  </a:cubicBezTo>
                  <a:cubicBezTo>
                    <a:pt x="322830" y="588410"/>
                    <a:pt x="274879" y="601764"/>
                    <a:pt x="213557" y="601764"/>
                  </a:cubicBezTo>
                  <a:cubicBezTo>
                    <a:pt x="155463" y="601764"/>
                    <a:pt x="103362" y="590713"/>
                    <a:pt x="78003" y="561703"/>
                  </a:cubicBezTo>
                  <a:cubicBezTo>
                    <a:pt x="78003" y="561703"/>
                    <a:pt x="36969" y="559861"/>
                    <a:pt x="36507" y="559861"/>
                  </a:cubicBezTo>
                  <a:cubicBezTo>
                    <a:pt x="14837" y="558480"/>
                    <a:pt x="-1300" y="537759"/>
                    <a:pt x="83" y="513815"/>
                  </a:cubicBezTo>
                  <a:cubicBezTo>
                    <a:pt x="6999" y="377056"/>
                    <a:pt x="57717" y="309827"/>
                    <a:pt x="107051" y="280818"/>
                  </a:cubicBezTo>
                  <a:close/>
                  <a:moveTo>
                    <a:pt x="184977" y="152406"/>
                  </a:moveTo>
                  <a:cubicBezTo>
                    <a:pt x="175758" y="157931"/>
                    <a:pt x="165155" y="162996"/>
                    <a:pt x="153631" y="166680"/>
                  </a:cubicBezTo>
                  <a:cubicBezTo>
                    <a:pt x="153631" y="167140"/>
                    <a:pt x="153631" y="167601"/>
                    <a:pt x="153631" y="167601"/>
                  </a:cubicBezTo>
                  <a:cubicBezTo>
                    <a:pt x="153631" y="176809"/>
                    <a:pt x="161007" y="184637"/>
                    <a:pt x="170226" y="184637"/>
                  </a:cubicBezTo>
                  <a:lnTo>
                    <a:pt x="178062" y="184637"/>
                  </a:lnTo>
                  <a:cubicBezTo>
                    <a:pt x="187282" y="184637"/>
                    <a:pt x="195118" y="176809"/>
                    <a:pt x="195118" y="167601"/>
                  </a:cubicBezTo>
                  <a:cubicBezTo>
                    <a:pt x="195118" y="160694"/>
                    <a:pt x="190969" y="155169"/>
                    <a:pt x="184977" y="152406"/>
                  </a:cubicBezTo>
                  <a:close/>
                  <a:moveTo>
                    <a:pt x="247208" y="150564"/>
                  </a:moveTo>
                  <a:cubicBezTo>
                    <a:pt x="237527" y="150564"/>
                    <a:pt x="230152" y="158392"/>
                    <a:pt x="230152" y="167601"/>
                  </a:cubicBezTo>
                  <a:cubicBezTo>
                    <a:pt x="230152" y="176809"/>
                    <a:pt x="237527" y="184637"/>
                    <a:pt x="247208" y="184637"/>
                  </a:cubicBezTo>
                  <a:lnTo>
                    <a:pt x="254583" y="184637"/>
                  </a:lnTo>
                  <a:cubicBezTo>
                    <a:pt x="263802" y="184637"/>
                    <a:pt x="271639" y="176809"/>
                    <a:pt x="271639" y="167601"/>
                  </a:cubicBezTo>
                  <a:cubicBezTo>
                    <a:pt x="271639" y="158392"/>
                    <a:pt x="263802" y="150564"/>
                    <a:pt x="254583" y="150564"/>
                  </a:cubicBezTo>
                  <a:close/>
                  <a:moveTo>
                    <a:pt x="236144" y="107283"/>
                  </a:moveTo>
                  <a:cubicBezTo>
                    <a:pt x="232457" y="111887"/>
                    <a:pt x="218628" y="129384"/>
                    <a:pt x="196040" y="145039"/>
                  </a:cubicBezTo>
                  <a:cubicBezTo>
                    <a:pt x="198345" y="146420"/>
                    <a:pt x="200189" y="148723"/>
                    <a:pt x="201572" y="150564"/>
                  </a:cubicBezTo>
                  <a:lnTo>
                    <a:pt x="223237" y="150564"/>
                  </a:lnTo>
                  <a:cubicBezTo>
                    <a:pt x="228769" y="143197"/>
                    <a:pt x="237066" y="138593"/>
                    <a:pt x="247208" y="138593"/>
                  </a:cubicBezTo>
                  <a:lnTo>
                    <a:pt x="254583" y="138593"/>
                  </a:lnTo>
                  <a:cubicBezTo>
                    <a:pt x="270717" y="138593"/>
                    <a:pt x="284085" y="151485"/>
                    <a:pt x="284085" y="167601"/>
                  </a:cubicBezTo>
                  <a:cubicBezTo>
                    <a:pt x="284085" y="183716"/>
                    <a:pt x="270717" y="197069"/>
                    <a:pt x="254583" y="197069"/>
                  </a:cubicBezTo>
                  <a:lnTo>
                    <a:pt x="247208" y="197069"/>
                  </a:lnTo>
                  <a:cubicBezTo>
                    <a:pt x="231074" y="197069"/>
                    <a:pt x="217706" y="183716"/>
                    <a:pt x="217706" y="167601"/>
                  </a:cubicBezTo>
                  <a:cubicBezTo>
                    <a:pt x="217706" y="166219"/>
                    <a:pt x="218167" y="164378"/>
                    <a:pt x="218167" y="162996"/>
                  </a:cubicBezTo>
                  <a:lnTo>
                    <a:pt x="206642" y="162996"/>
                  </a:lnTo>
                  <a:cubicBezTo>
                    <a:pt x="207103" y="164378"/>
                    <a:pt x="207103" y="166219"/>
                    <a:pt x="207103" y="167601"/>
                  </a:cubicBezTo>
                  <a:cubicBezTo>
                    <a:pt x="207103" y="183716"/>
                    <a:pt x="194196" y="197069"/>
                    <a:pt x="178062" y="197069"/>
                  </a:cubicBezTo>
                  <a:lnTo>
                    <a:pt x="170226" y="197069"/>
                  </a:lnTo>
                  <a:cubicBezTo>
                    <a:pt x="155014" y="197069"/>
                    <a:pt x="142568" y="185097"/>
                    <a:pt x="141185" y="170363"/>
                  </a:cubicBezTo>
                  <a:cubicBezTo>
                    <a:pt x="134270" y="171745"/>
                    <a:pt x="126895" y="173126"/>
                    <a:pt x="119519" y="173586"/>
                  </a:cubicBezTo>
                  <a:cubicBezTo>
                    <a:pt x="129200" y="235746"/>
                    <a:pt x="163311" y="280869"/>
                    <a:pt x="212635" y="280869"/>
                  </a:cubicBezTo>
                  <a:cubicBezTo>
                    <a:pt x="264724" y="280869"/>
                    <a:pt x="302985" y="228839"/>
                    <a:pt x="307594" y="155629"/>
                  </a:cubicBezTo>
                  <a:cubicBezTo>
                    <a:pt x="260576" y="144579"/>
                    <a:pt x="242598" y="119715"/>
                    <a:pt x="236144" y="107283"/>
                  </a:cubicBezTo>
                  <a:close/>
                  <a:moveTo>
                    <a:pt x="212635" y="0"/>
                  </a:moveTo>
                  <a:cubicBezTo>
                    <a:pt x="313126" y="0"/>
                    <a:pt x="333870" y="55713"/>
                    <a:pt x="340323" y="127082"/>
                  </a:cubicBezTo>
                  <a:cubicBezTo>
                    <a:pt x="359684" y="130305"/>
                    <a:pt x="370286" y="145499"/>
                    <a:pt x="365215" y="175889"/>
                  </a:cubicBezTo>
                  <a:cubicBezTo>
                    <a:pt x="361067" y="201213"/>
                    <a:pt x="349081" y="222854"/>
                    <a:pt x="326955" y="224695"/>
                  </a:cubicBezTo>
                  <a:cubicBezTo>
                    <a:pt x="305290" y="281790"/>
                    <a:pt x="262420" y="317244"/>
                    <a:pt x="212635" y="317244"/>
                  </a:cubicBezTo>
                  <a:cubicBezTo>
                    <a:pt x="160546" y="317244"/>
                    <a:pt x="119980" y="280409"/>
                    <a:pt x="98315" y="224695"/>
                  </a:cubicBezTo>
                  <a:cubicBezTo>
                    <a:pt x="76188" y="222854"/>
                    <a:pt x="64203" y="201213"/>
                    <a:pt x="59594" y="175889"/>
                  </a:cubicBezTo>
                  <a:cubicBezTo>
                    <a:pt x="54523" y="145499"/>
                    <a:pt x="65586" y="130305"/>
                    <a:pt x="84947" y="127082"/>
                  </a:cubicBezTo>
                  <a:cubicBezTo>
                    <a:pt x="91400" y="55713"/>
                    <a:pt x="111222" y="0"/>
                    <a:pt x="212635" y="0"/>
                  </a:cubicBezTo>
                  <a:close/>
                </a:path>
              </a:pathLst>
            </a:custGeom>
            <a:solidFill>
              <a:srgbClr val="005D96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solidFill>
                  <a:schemeClr val="accent4"/>
                </a:solidFill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-114300" y="450215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ADE574F-A14B-EE44-B58F-28595D784A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08922" y="4734940"/>
            <a:ext cx="5881922" cy="337185"/>
          </a:xfrm>
        </p:spPr>
        <p:txBody>
          <a:bodyPr/>
          <a:lstStyle/>
          <a:p>
            <a:r>
              <a:rPr lang="en-US" altLang="zh-CN" b="1" dirty="0">
                <a:solidFill>
                  <a:schemeClr val="tx1"/>
                </a:solidFill>
              </a:rPr>
              <a:t>----</a:t>
            </a:r>
            <a:r>
              <a:rPr lang="zh-CN" altLang="en-US" b="1" dirty="0">
                <a:solidFill>
                  <a:schemeClr val="tx1"/>
                </a:solidFill>
              </a:rPr>
              <a:t> 课程编号：</a:t>
            </a:r>
            <a:r>
              <a:rPr lang="en-US" altLang="zh-CN" b="1" dirty="0">
                <a:solidFill>
                  <a:schemeClr val="tx1"/>
                </a:solidFill>
              </a:rPr>
              <a:t>BK10504150-01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5483860" y="981075"/>
            <a:ext cx="1360805" cy="1334770"/>
          </a:xfrm>
          <a:prstGeom prst="ellipse">
            <a:avLst/>
          </a:prstGeom>
          <a:gradFill>
            <a:gsLst>
              <a:gs pos="0">
                <a:srgbClr val="005D96"/>
              </a:gs>
              <a:gs pos="100000">
                <a:srgbClr val="06253A"/>
              </a:gs>
            </a:gsLst>
            <a:lin ang="13500000" scaled="1"/>
          </a:gradFill>
          <a:ln>
            <a:solidFill>
              <a:srgbClr val="005D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>
                <a:latin typeface="Times New Roman Regular" panose="02020603050405020304" charset="0"/>
                <a:ea typeface="+mj-ea"/>
                <a:cs typeface="Times New Roman Regular" panose="02020603050405020304" charset="0"/>
              </a:rPr>
              <a:t>05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239482" y="2794468"/>
            <a:ext cx="57118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chemeClr val="tx2">
                    <a:lumMod val="50000"/>
                  </a:schemeClr>
                </a:solidFill>
              </a:rPr>
              <a:t>第五章 图的搜索算法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063" y="995804"/>
            <a:ext cx="7423150" cy="99123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数组结构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查询最大值：简单循环搜索所有元素，记录最大值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3063" y="2824604"/>
            <a:ext cx="11080750" cy="143002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图结构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查询相邻顶点：简单循环搜索各顶点关联的边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查询可达顶点：简单循环搜索，不能找到全部可达顶点！是否存在有效算法</a:t>
            </a:r>
            <a:r>
              <a:rPr sz="24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？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54935" y="273413"/>
            <a:ext cx="205524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图的搜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索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55793" y="4268539"/>
            <a:ext cx="4666615" cy="829944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156845" rIns="0" bIns="0" rtlCol="0">
            <a:spAutoFit/>
          </a:bodyPr>
          <a:lstStyle/>
          <a:p>
            <a:pPr marL="375920">
              <a:lnSpc>
                <a:spcPct val="100000"/>
              </a:lnSpc>
              <a:spcBef>
                <a:spcPts val="1235"/>
              </a:spcBef>
            </a:pPr>
            <a:r>
              <a:rPr sz="2800" spc="-5">
                <a:latin typeface="PMingLiU"/>
                <a:cs typeface="PMingLiU"/>
              </a:rPr>
              <a:t>按照什么次序搜索顶点？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55793" y="5157794"/>
            <a:ext cx="4666615" cy="82931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64465" rIns="0" bIns="0" rtlCol="0">
            <a:spAutoFit/>
          </a:bodyPr>
          <a:lstStyle/>
          <a:p>
            <a:pPr marL="1264920">
              <a:lnSpc>
                <a:spcPct val="100000"/>
              </a:lnSpc>
              <a:spcBef>
                <a:spcPts val="1295"/>
              </a:spcBef>
            </a:pPr>
            <a:r>
              <a:rPr sz="2800" spc="-10">
                <a:solidFill>
                  <a:srgbClr val="FFFFFF"/>
                </a:solidFill>
                <a:latin typeface="PMingLiU"/>
                <a:cs typeface="PMingLiU"/>
              </a:rPr>
              <a:t>广度优先搜索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055793" y="6046286"/>
            <a:ext cx="4666615" cy="829944"/>
          </a:xfrm>
          <a:custGeom>
            <a:avLst/>
            <a:gdLst/>
            <a:ahLst/>
            <a:cxnLst/>
            <a:rect l="l" t="t" r="r" b="b"/>
            <a:pathLst>
              <a:path w="4666615" h="829944">
                <a:moveTo>
                  <a:pt x="4666487" y="0"/>
                </a:moveTo>
                <a:lnTo>
                  <a:pt x="0" y="0"/>
                </a:lnTo>
                <a:lnTo>
                  <a:pt x="0" y="829818"/>
                </a:lnTo>
                <a:lnTo>
                  <a:pt x="4666487" y="829818"/>
                </a:lnTo>
                <a:lnTo>
                  <a:pt x="4666487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308285" y="6198384"/>
            <a:ext cx="21609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>
                <a:solidFill>
                  <a:srgbClr val="FFFFFF"/>
                </a:solidFill>
                <a:latin typeface="PMingLiU"/>
                <a:cs typeface="PMingLiU"/>
              </a:rPr>
              <a:t>深度优先搜索</a:t>
            </a:r>
            <a:endParaRPr sz="2800">
              <a:latin typeface="PMingLiU"/>
              <a:cs typeface="PMingLiU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333661"/>
              </p:ext>
            </p:extLst>
          </p:nvPr>
        </p:nvGraphicFramePr>
        <p:xfrm>
          <a:off x="4489712" y="1953796"/>
          <a:ext cx="3349621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spc="15">
                          <a:latin typeface="Cambria Math"/>
                          <a:cs typeface="Cambria Math"/>
                        </a:rPr>
                        <a:t>𝐴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105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0" name="object 10"/>
          <p:cNvGrpSpPr/>
          <p:nvPr/>
        </p:nvGrpSpPr>
        <p:grpSpPr>
          <a:xfrm>
            <a:off x="4967151" y="3237830"/>
            <a:ext cx="2891790" cy="114300"/>
            <a:chOff x="4932426" y="2925314"/>
            <a:chExt cx="2891790" cy="114300"/>
          </a:xfrm>
        </p:grpSpPr>
        <p:sp>
          <p:nvSpPr>
            <p:cNvPr id="11" name="object 11"/>
            <p:cNvSpPr/>
            <p:nvPr/>
          </p:nvSpPr>
          <p:spPr>
            <a:xfrm>
              <a:off x="4932426" y="2982468"/>
              <a:ext cx="2796540" cy="0"/>
            </a:xfrm>
            <a:custGeom>
              <a:avLst/>
              <a:gdLst/>
              <a:ahLst/>
              <a:cxnLst/>
              <a:rect l="l" t="t" r="r" b="b"/>
              <a:pathLst>
                <a:path w="2796540">
                  <a:moveTo>
                    <a:pt x="0" y="0"/>
                  </a:moveTo>
                  <a:lnTo>
                    <a:pt x="2796235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709610" y="2925314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4696640" y="5222844"/>
            <a:ext cx="634365" cy="635000"/>
            <a:chOff x="4661915" y="4910328"/>
            <a:chExt cx="634365" cy="635000"/>
          </a:xfrm>
        </p:grpSpPr>
        <p:sp>
          <p:nvSpPr>
            <p:cNvPr id="14" name="object 14"/>
            <p:cNvSpPr/>
            <p:nvPr/>
          </p:nvSpPr>
          <p:spPr>
            <a:xfrm>
              <a:off x="4680965" y="4929378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297942" y="0"/>
                  </a:moveTo>
                  <a:lnTo>
                    <a:pt x="249613" y="3904"/>
                  </a:lnTo>
                  <a:lnTo>
                    <a:pt x="203767" y="15208"/>
                  </a:lnTo>
                  <a:lnTo>
                    <a:pt x="161018" y="33298"/>
                  </a:lnTo>
                  <a:lnTo>
                    <a:pt x="121979" y="57559"/>
                  </a:lnTo>
                  <a:lnTo>
                    <a:pt x="87263" y="87377"/>
                  </a:lnTo>
                  <a:lnTo>
                    <a:pt x="57484" y="122138"/>
                  </a:lnTo>
                  <a:lnTo>
                    <a:pt x="33254" y="161227"/>
                  </a:lnTo>
                  <a:lnTo>
                    <a:pt x="15188" y="204030"/>
                  </a:lnTo>
                  <a:lnTo>
                    <a:pt x="3899" y="249933"/>
                  </a:lnTo>
                  <a:lnTo>
                    <a:pt x="0" y="298323"/>
                  </a:lnTo>
                  <a:lnTo>
                    <a:pt x="3899" y="346712"/>
                  </a:lnTo>
                  <a:lnTo>
                    <a:pt x="15188" y="392615"/>
                  </a:lnTo>
                  <a:lnTo>
                    <a:pt x="33254" y="435418"/>
                  </a:lnTo>
                  <a:lnTo>
                    <a:pt x="57484" y="474507"/>
                  </a:lnTo>
                  <a:lnTo>
                    <a:pt x="87263" y="509268"/>
                  </a:lnTo>
                  <a:lnTo>
                    <a:pt x="121979" y="539086"/>
                  </a:lnTo>
                  <a:lnTo>
                    <a:pt x="161018" y="563347"/>
                  </a:lnTo>
                  <a:lnTo>
                    <a:pt x="203767" y="581437"/>
                  </a:lnTo>
                  <a:lnTo>
                    <a:pt x="249613" y="592741"/>
                  </a:lnTo>
                  <a:lnTo>
                    <a:pt x="297942" y="596646"/>
                  </a:lnTo>
                  <a:lnTo>
                    <a:pt x="346270" y="592741"/>
                  </a:lnTo>
                  <a:lnTo>
                    <a:pt x="392116" y="581437"/>
                  </a:lnTo>
                  <a:lnTo>
                    <a:pt x="434865" y="563347"/>
                  </a:lnTo>
                  <a:lnTo>
                    <a:pt x="473904" y="539086"/>
                  </a:lnTo>
                  <a:lnTo>
                    <a:pt x="508620" y="509268"/>
                  </a:lnTo>
                  <a:lnTo>
                    <a:pt x="538399" y="474507"/>
                  </a:lnTo>
                  <a:lnTo>
                    <a:pt x="562629" y="435418"/>
                  </a:lnTo>
                  <a:lnTo>
                    <a:pt x="580695" y="392615"/>
                  </a:lnTo>
                  <a:lnTo>
                    <a:pt x="591984" y="346712"/>
                  </a:lnTo>
                  <a:lnTo>
                    <a:pt x="595884" y="298323"/>
                  </a:lnTo>
                  <a:lnTo>
                    <a:pt x="591984" y="249933"/>
                  </a:lnTo>
                  <a:lnTo>
                    <a:pt x="580695" y="204030"/>
                  </a:lnTo>
                  <a:lnTo>
                    <a:pt x="562629" y="161227"/>
                  </a:lnTo>
                  <a:lnTo>
                    <a:pt x="538399" y="122138"/>
                  </a:lnTo>
                  <a:lnTo>
                    <a:pt x="508620" y="87377"/>
                  </a:lnTo>
                  <a:lnTo>
                    <a:pt x="473904" y="57559"/>
                  </a:lnTo>
                  <a:lnTo>
                    <a:pt x="434865" y="33298"/>
                  </a:lnTo>
                  <a:lnTo>
                    <a:pt x="392116" y="15208"/>
                  </a:lnTo>
                  <a:lnTo>
                    <a:pt x="346270" y="3904"/>
                  </a:lnTo>
                  <a:lnTo>
                    <a:pt x="29794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80965" y="4929378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0" y="298323"/>
                  </a:moveTo>
                  <a:lnTo>
                    <a:pt x="3899" y="249933"/>
                  </a:lnTo>
                  <a:lnTo>
                    <a:pt x="15188" y="204030"/>
                  </a:lnTo>
                  <a:lnTo>
                    <a:pt x="33254" y="161227"/>
                  </a:lnTo>
                  <a:lnTo>
                    <a:pt x="57484" y="122138"/>
                  </a:lnTo>
                  <a:lnTo>
                    <a:pt x="87263" y="87377"/>
                  </a:lnTo>
                  <a:lnTo>
                    <a:pt x="121979" y="57559"/>
                  </a:lnTo>
                  <a:lnTo>
                    <a:pt x="161018" y="33298"/>
                  </a:lnTo>
                  <a:lnTo>
                    <a:pt x="203767" y="15208"/>
                  </a:lnTo>
                  <a:lnTo>
                    <a:pt x="249613" y="3904"/>
                  </a:lnTo>
                  <a:lnTo>
                    <a:pt x="297942" y="0"/>
                  </a:lnTo>
                  <a:lnTo>
                    <a:pt x="346270" y="3904"/>
                  </a:lnTo>
                  <a:lnTo>
                    <a:pt x="392116" y="15208"/>
                  </a:lnTo>
                  <a:lnTo>
                    <a:pt x="434865" y="33298"/>
                  </a:lnTo>
                  <a:lnTo>
                    <a:pt x="473904" y="57559"/>
                  </a:lnTo>
                  <a:lnTo>
                    <a:pt x="508620" y="87377"/>
                  </a:lnTo>
                  <a:lnTo>
                    <a:pt x="538399" y="122138"/>
                  </a:lnTo>
                  <a:lnTo>
                    <a:pt x="562629" y="161227"/>
                  </a:lnTo>
                  <a:lnTo>
                    <a:pt x="580695" y="204030"/>
                  </a:lnTo>
                  <a:lnTo>
                    <a:pt x="591984" y="249933"/>
                  </a:lnTo>
                  <a:lnTo>
                    <a:pt x="595884" y="298323"/>
                  </a:lnTo>
                  <a:lnTo>
                    <a:pt x="591984" y="346712"/>
                  </a:lnTo>
                  <a:lnTo>
                    <a:pt x="580695" y="392615"/>
                  </a:lnTo>
                  <a:lnTo>
                    <a:pt x="562629" y="435418"/>
                  </a:lnTo>
                  <a:lnTo>
                    <a:pt x="538399" y="474507"/>
                  </a:lnTo>
                  <a:lnTo>
                    <a:pt x="508620" y="509268"/>
                  </a:lnTo>
                  <a:lnTo>
                    <a:pt x="473904" y="539086"/>
                  </a:lnTo>
                  <a:lnTo>
                    <a:pt x="434865" y="563347"/>
                  </a:lnTo>
                  <a:lnTo>
                    <a:pt x="392116" y="581437"/>
                  </a:lnTo>
                  <a:lnTo>
                    <a:pt x="346270" y="592741"/>
                  </a:lnTo>
                  <a:lnTo>
                    <a:pt x="297942" y="596646"/>
                  </a:lnTo>
                  <a:lnTo>
                    <a:pt x="249613" y="592741"/>
                  </a:lnTo>
                  <a:lnTo>
                    <a:pt x="203767" y="581437"/>
                  </a:lnTo>
                  <a:lnTo>
                    <a:pt x="161018" y="563347"/>
                  </a:lnTo>
                  <a:lnTo>
                    <a:pt x="121979" y="539086"/>
                  </a:lnTo>
                  <a:lnTo>
                    <a:pt x="87263" y="509268"/>
                  </a:lnTo>
                  <a:lnTo>
                    <a:pt x="57484" y="474507"/>
                  </a:lnTo>
                  <a:lnTo>
                    <a:pt x="33254" y="435418"/>
                  </a:lnTo>
                  <a:lnTo>
                    <a:pt x="15188" y="392615"/>
                  </a:lnTo>
                  <a:lnTo>
                    <a:pt x="3899" y="346712"/>
                  </a:lnTo>
                  <a:lnTo>
                    <a:pt x="0" y="298323"/>
                  </a:lnTo>
                  <a:close/>
                </a:path>
              </a:pathLst>
            </a:custGeom>
            <a:ln w="38099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859764" y="5334005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95">
                <a:latin typeface="Cambria Math"/>
                <a:cs typeface="Cambria Math"/>
              </a:rPr>
              <a:t>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215307" y="6063330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4">
                <a:moveTo>
                  <a:pt x="0" y="297942"/>
                </a:moveTo>
                <a:lnTo>
                  <a:pt x="3899" y="249613"/>
                </a:lnTo>
                <a:lnTo>
                  <a:pt x="15188" y="203767"/>
                </a:lnTo>
                <a:lnTo>
                  <a:pt x="33254" y="161018"/>
                </a:lnTo>
                <a:lnTo>
                  <a:pt x="57484" y="121979"/>
                </a:lnTo>
                <a:lnTo>
                  <a:pt x="87263" y="87263"/>
                </a:lnTo>
                <a:lnTo>
                  <a:pt x="121979" y="57484"/>
                </a:lnTo>
                <a:lnTo>
                  <a:pt x="161018" y="33254"/>
                </a:lnTo>
                <a:lnTo>
                  <a:pt x="203767" y="15188"/>
                </a:lnTo>
                <a:lnTo>
                  <a:pt x="249613" y="3899"/>
                </a:lnTo>
                <a:lnTo>
                  <a:pt x="297942" y="0"/>
                </a:lnTo>
                <a:lnTo>
                  <a:pt x="346270" y="3899"/>
                </a:lnTo>
                <a:lnTo>
                  <a:pt x="392116" y="15188"/>
                </a:lnTo>
                <a:lnTo>
                  <a:pt x="434865" y="33254"/>
                </a:lnTo>
                <a:lnTo>
                  <a:pt x="473904" y="57484"/>
                </a:lnTo>
                <a:lnTo>
                  <a:pt x="508620" y="87263"/>
                </a:lnTo>
                <a:lnTo>
                  <a:pt x="538399" y="121979"/>
                </a:lnTo>
                <a:lnTo>
                  <a:pt x="562629" y="161018"/>
                </a:lnTo>
                <a:lnTo>
                  <a:pt x="580695" y="203767"/>
                </a:lnTo>
                <a:lnTo>
                  <a:pt x="591984" y="249613"/>
                </a:lnTo>
                <a:lnTo>
                  <a:pt x="595884" y="297942"/>
                </a:lnTo>
                <a:lnTo>
                  <a:pt x="591984" y="346270"/>
                </a:lnTo>
                <a:lnTo>
                  <a:pt x="580695" y="392116"/>
                </a:lnTo>
                <a:lnTo>
                  <a:pt x="562629" y="434865"/>
                </a:lnTo>
                <a:lnTo>
                  <a:pt x="538399" y="473904"/>
                </a:lnTo>
                <a:lnTo>
                  <a:pt x="508620" y="508620"/>
                </a:lnTo>
                <a:lnTo>
                  <a:pt x="473904" y="538399"/>
                </a:lnTo>
                <a:lnTo>
                  <a:pt x="434865" y="562629"/>
                </a:lnTo>
                <a:lnTo>
                  <a:pt x="392116" y="580695"/>
                </a:lnTo>
                <a:lnTo>
                  <a:pt x="346270" y="591984"/>
                </a:lnTo>
                <a:lnTo>
                  <a:pt x="297942" y="595884"/>
                </a:lnTo>
                <a:lnTo>
                  <a:pt x="249613" y="591984"/>
                </a:lnTo>
                <a:lnTo>
                  <a:pt x="203767" y="580695"/>
                </a:lnTo>
                <a:lnTo>
                  <a:pt x="161018" y="562629"/>
                </a:lnTo>
                <a:lnTo>
                  <a:pt x="121979" y="538399"/>
                </a:lnTo>
                <a:lnTo>
                  <a:pt x="87263" y="508620"/>
                </a:lnTo>
                <a:lnTo>
                  <a:pt x="57484" y="473904"/>
                </a:lnTo>
                <a:lnTo>
                  <a:pt x="33254" y="434865"/>
                </a:lnTo>
                <a:lnTo>
                  <a:pt x="15188" y="392116"/>
                </a:lnTo>
                <a:lnTo>
                  <a:pt x="3899" y="34627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406019" y="6155062"/>
            <a:ext cx="139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75">
                <a:latin typeface="Cambria Math"/>
                <a:cs typeface="Cambria Math"/>
              </a:rPr>
              <a:t>𝑖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764459" y="5731860"/>
            <a:ext cx="1557655" cy="946785"/>
            <a:chOff x="4729734" y="5419344"/>
            <a:chExt cx="1557655" cy="946785"/>
          </a:xfrm>
        </p:grpSpPr>
        <p:sp>
          <p:nvSpPr>
            <p:cNvPr id="20" name="object 20"/>
            <p:cNvSpPr/>
            <p:nvPr/>
          </p:nvSpPr>
          <p:spPr>
            <a:xfrm>
              <a:off x="5189982" y="5438394"/>
              <a:ext cx="1078865" cy="400050"/>
            </a:xfrm>
            <a:custGeom>
              <a:avLst/>
              <a:gdLst/>
              <a:ahLst/>
              <a:cxnLst/>
              <a:rect l="l" t="t" r="r" b="b"/>
              <a:pathLst>
                <a:path w="1078864" h="400050">
                  <a:moveTo>
                    <a:pt x="0" y="0"/>
                  </a:moveTo>
                  <a:lnTo>
                    <a:pt x="1078268" y="39958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748784" y="5750814"/>
              <a:ext cx="596900" cy="596265"/>
            </a:xfrm>
            <a:custGeom>
              <a:avLst/>
              <a:gdLst/>
              <a:ahLst/>
              <a:cxnLst/>
              <a:rect l="l" t="t" r="r" b="b"/>
              <a:pathLst>
                <a:path w="596900" h="596264">
                  <a:moveTo>
                    <a:pt x="0" y="297942"/>
                  </a:moveTo>
                  <a:lnTo>
                    <a:pt x="3904" y="249613"/>
                  </a:lnTo>
                  <a:lnTo>
                    <a:pt x="15208" y="203767"/>
                  </a:lnTo>
                  <a:lnTo>
                    <a:pt x="33298" y="161018"/>
                  </a:lnTo>
                  <a:lnTo>
                    <a:pt x="57559" y="121979"/>
                  </a:lnTo>
                  <a:lnTo>
                    <a:pt x="87377" y="87263"/>
                  </a:lnTo>
                  <a:lnTo>
                    <a:pt x="122138" y="57484"/>
                  </a:lnTo>
                  <a:lnTo>
                    <a:pt x="161227" y="33254"/>
                  </a:lnTo>
                  <a:lnTo>
                    <a:pt x="204030" y="15188"/>
                  </a:lnTo>
                  <a:lnTo>
                    <a:pt x="249933" y="3899"/>
                  </a:lnTo>
                  <a:lnTo>
                    <a:pt x="298323" y="0"/>
                  </a:lnTo>
                  <a:lnTo>
                    <a:pt x="346712" y="3899"/>
                  </a:lnTo>
                  <a:lnTo>
                    <a:pt x="392615" y="15188"/>
                  </a:lnTo>
                  <a:lnTo>
                    <a:pt x="435418" y="33254"/>
                  </a:lnTo>
                  <a:lnTo>
                    <a:pt x="474507" y="57484"/>
                  </a:lnTo>
                  <a:lnTo>
                    <a:pt x="509268" y="87263"/>
                  </a:lnTo>
                  <a:lnTo>
                    <a:pt x="539086" y="121979"/>
                  </a:lnTo>
                  <a:lnTo>
                    <a:pt x="563347" y="161018"/>
                  </a:lnTo>
                  <a:lnTo>
                    <a:pt x="581437" y="203767"/>
                  </a:lnTo>
                  <a:lnTo>
                    <a:pt x="592741" y="249613"/>
                  </a:lnTo>
                  <a:lnTo>
                    <a:pt x="596646" y="297942"/>
                  </a:lnTo>
                  <a:lnTo>
                    <a:pt x="592741" y="346270"/>
                  </a:lnTo>
                  <a:lnTo>
                    <a:pt x="581437" y="392116"/>
                  </a:lnTo>
                  <a:lnTo>
                    <a:pt x="563347" y="434865"/>
                  </a:lnTo>
                  <a:lnTo>
                    <a:pt x="539086" y="473904"/>
                  </a:lnTo>
                  <a:lnTo>
                    <a:pt x="509268" y="508620"/>
                  </a:lnTo>
                  <a:lnTo>
                    <a:pt x="474507" y="538399"/>
                  </a:lnTo>
                  <a:lnTo>
                    <a:pt x="435418" y="562629"/>
                  </a:lnTo>
                  <a:lnTo>
                    <a:pt x="392615" y="580695"/>
                  </a:lnTo>
                  <a:lnTo>
                    <a:pt x="346712" y="591984"/>
                  </a:lnTo>
                  <a:lnTo>
                    <a:pt x="298323" y="595884"/>
                  </a:lnTo>
                  <a:lnTo>
                    <a:pt x="249933" y="591984"/>
                  </a:lnTo>
                  <a:lnTo>
                    <a:pt x="204030" y="580695"/>
                  </a:lnTo>
                  <a:lnTo>
                    <a:pt x="161227" y="562629"/>
                  </a:lnTo>
                  <a:lnTo>
                    <a:pt x="122138" y="538399"/>
                  </a:lnTo>
                  <a:lnTo>
                    <a:pt x="87377" y="508620"/>
                  </a:lnTo>
                  <a:lnTo>
                    <a:pt x="57559" y="473904"/>
                  </a:lnTo>
                  <a:lnTo>
                    <a:pt x="33298" y="434865"/>
                  </a:lnTo>
                  <a:lnTo>
                    <a:pt x="15208" y="392116"/>
                  </a:lnTo>
                  <a:lnTo>
                    <a:pt x="3904" y="346270"/>
                  </a:lnTo>
                  <a:lnTo>
                    <a:pt x="0" y="29794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934842" y="6155062"/>
            <a:ext cx="218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85">
                <a:latin typeface="Cambria Math"/>
                <a:cs typeface="Cambria Math"/>
              </a:rPr>
              <a:t>ℎ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333422" y="5819494"/>
            <a:ext cx="1767839" cy="859155"/>
            <a:chOff x="3298697" y="5506978"/>
            <a:chExt cx="1767839" cy="859155"/>
          </a:xfrm>
        </p:grpSpPr>
        <p:sp>
          <p:nvSpPr>
            <p:cNvPr id="24" name="object 24"/>
            <p:cNvSpPr/>
            <p:nvPr/>
          </p:nvSpPr>
          <p:spPr>
            <a:xfrm>
              <a:off x="4978909" y="5526028"/>
              <a:ext cx="68580" cy="225425"/>
            </a:xfrm>
            <a:custGeom>
              <a:avLst/>
              <a:gdLst/>
              <a:ahLst/>
              <a:cxnLst/>
              <a:rect l="l" t="t" r="r" b="b"/>
              <a:pathLst>
                <a:path w="68579" h="225425">
                  <a:moveTo>
                    <a:pt x="68186" y="224993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317747" y="5750813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0" y="297942"/>
                  </a:moveTo>
                  <a:lnTo>
                    <a:pt x="3899" y="249613"/>
                  </a:lnTo>
                  <a:lnTo>
                    <a:pt x="15188" y="203767"/>
                  </a:lnTo>
                  <a:lnTo>
                    <a:pt x="33254" y="161018"/>
                  </a:lnTo>
                  <a:lnTo>
                    <a:pt x="57484" y="121979"/>
                  </a:lnTo>
                  <a:lnTo>
                    <a:pt x="87263" y="87263"/>
                  </a:lnTo>
                  <a:lnTo>
                    <a:pt x="121979" y="57484"/>
                  </a:lnTo>
                  <a:lnTo>
                    <a:pt x="161018" y="33254"/>
                  </a:lnTo>
                  <a:lnTo>
                    <a:pt x="203767" y="15188"/>
                  </a:lnTo>
                  <a:lnTo>
                    <a:pt x="249613" y="3899"/>
                  </a:lnTo>
                  <a:lnTo>
                    <a:pt x="297942" y="0"/>
                  </a:lnTo>
                  <a:lnTo>
                    <a:pt x="346270" y="3899"/>
                  </a:lnTo>
                  <a:lnTo>
                    <a:pt x="392116" y="15188"/>
                  </a:lnTo>
                  <a:lnTo>
                    <a:pt x="434865" y="33254"/>
                  </a:lnTo>
                  <a:lnTo>
                    <a:pt x="473904" y="57484"/>
                  </a:lnTo>
                  <a:lnTo>
                    <a:pt x="508620" y="87263"/>
                  </a:lnTo>
                  <a:lnTo>
                    <a:pt x="538399" y="121979"/>
                  </a:lnTo>
                  <a:lnTo>
                    <a:pt x="562629" y="161018"/>
                  </a:lnTo>
                  <a:lnTo>
                    <a:pt x="580695" y="203767"/>
                  </a:lnTo>
                  <a:lnTo>
                    <a:pt x="591984" y="249613"/>
                  </a:lnTo>
                  <a:lnTo>
                    <a:pt x="595884" y="297942"/>
                  </a:lnTo>
                  <a:lnTo>
                    <a:pt x="591984" y="346270"/>
                  </a:lnTo>
                  <a:lnTo>
                    <a:pt x="580695" y="392116"/>
                  </a:lnTo>
                  <a:lnTo>
                    <a:pt x="562629" y="434865"/>
                  </a:lnTo>
                  <a:lnTo>
                    <a:pt x="538399" y="473904"/>
                  </a:lnTo>
                  <a:lnTo>
                    <a:pt x="508620" y="508620"/>
                  </a:lnTo>
                  <a:lnTo>
                    <a:pt x="473904" y="538399"/>
                  </a:lnTo>
                  <a:lnTo>
                    <a:pt x="434865" y="562629"/>
                  </a:lnTo>
                  <a:lnTo>
                    <a:pt x="392116" y="580695"/>
                  </a:lnTo>
                  <a:lnTo>
                    <a:pt x="346270" y="591984"/>
                  </a:lnTo>
                  <a:lnTo>
                    <a:pt x="297942" y="595884"/>
                  </a:lnTo>
                  <a:lnTo>
                    <a:pt x="249613" y="591984"/>
                  </a:lnTo>
                  <a:lnTo>
                    <a:pt x="203767" y="580695"/>
                  </a:lnTo>
                  <a:lnTo>
                    <a:pt x="161018" y="562629"/>
                  </a:lnTo>
                  <a:lnTo>
                    <a:pt x="121979" y="538399"/>
                  </a:lnTo>
                  <a:lnTo>
                    <a:pt x="87263" y="508620"/>
                  </a:lnTo>
                  <a:lnTo>
                    <a:pt x="57484" y="473904"/>
                  </a:lnTo>
                  <a:lnTo>
                    <a:pt x="33254" y="434865"/>
                  </a:lnTo>
                  <a:lnTo>
                    <a:pt x="15188" y="392116"/>
                  </a:lnTo>
                  <a:lnTo>
                    <a:pt x="3899" y="346270"/>
                  </a:lnTo>
                  <a:lnTo>
                    <a:pt x="0" y="29794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506337" y="6155062"/>
            <a:ext cx="21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05">
                <a:latin typeface="Cambria Math"/>
                <a:cs typeface="Cambria Math"/>
              </a:rPr>
              <a:t>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920675" y="6063330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2"/>
                </a:moveTo>
                <a:lnTo>
                  <a:pt x="3899" y="249613"/>
                </a:lnTo>
                <a:lnTo>
                  <a:pt x="15188" y="203767"/>
                </a:lnTo>
                <a:lnTo>
                  <a:pt x="33254" y="161018"/>
                </a:lnTo>
                <a:lnTo>
                  <a:pt x="57484" y="121979"/>
                </a:lnTo>
                <a:lnTo>
                  <a:pt x="87263" y="87263"/>
                </a:lnTo>
                <a:lnTo>
                  <a:pt x="121979" y="57484"/>
                </a:lnTo>
                <a:lnTo>
                  <a:pt x="161018" y="33254"/>
                </a:lnTo>
                <a:lnTo>
                  <a:pt x="203767" y="15188"/>
                </a:lnTo>
                <a:lnTo>
                  <a:pt x="249613" y="3899"/>
                </a:lnTo>
                <a:lnTo>
                  <a:pt x="297942" y="0"/>
                </a:lnTo>
                <a:lnTo>
                  <a:pt x="346270" y="3899"/>
                </a:lnTo>
                <a:lnTo>
                  <a:pt x="392116" y="15188"/>
                </a:lnTo>
                <a:lnTo>
                  <a:pt x="434865" y="33254"/>
                </a:lnTo>
                <a:lnTo>
                  <a:pt x="473904" y="57484"/>
                </a:lnTo>
                <a:lnTo>
                  <a:pt x="508620" y="87263"/>
                </a:lnTo>
                <a:lnTo>
                  <a:pt x="538399" y="121979"/>
                </a:lnTo>
                <a:lnTo>
                  <a:pt x="562629" y="161018"/>
                </a:lnTo>
                <a:lnTo>
                  <a:pt x="580695" y="203767"/>
                </a:lnTo>
                <a:lnTo>
                  <a:pt x="591984" y="249613"/>
                </a:lnTo>
                <a:lnTo>
                  <a:pt x="595884" y="297942"/>
                </a:lnTo>
                <a:lnTo>
                  <a:pt x="591984" y="346270"/>
                </a:lnTo>
                <a:lnTo>
                  <a:pt x="580695" y="392116"/>
                </a:lnTo>
                <a:lnTo>
                  <a:pt x="562629" y="434865"/>
                </a:lnTo>
                <a:lnTo>
                  <a:pt x="538399" y="473904"/>
                </a:lnTo>
                <a:lnTo>
                  <a:pt x="508620" y="508620"/>
                </a:lnTo>
                <a:lnTo>
                  <a:pt x="473904" y="538399"/>
                </a:lnTo>
                <a:lnTo>
                  <a:pt x="434865" y="562629"/>
                </a:lnTo>
                <a:lnTo>
                  <a:pt x="392116" y="580695"/>
                </a:lnTo>
                <a:lnTo>
                  <a:pt x="346270" y="591984"/>
                </a:lnTo>
                <a:lnTo>
                  <a:pt x="297942" y="595884"/>
                </a:lnTo>
                <a:lnTo>
                  <a:pt x="249613" y="591984"/>
                </a:lnTo>
                <a:lnTo>
                  <a:pt x="203767" y="580695"/>
                </a:lnTo>
                <a:lnTo>
                  <a:pt x="161018" y="562629"/>
                </a:lnTo>
                <a:lnTo>
                  <a:pt x="121979" y="538399"/>
                </a:lnTo>
                <a:lnTo>
                  <a:pt x="87263" y="508620"/>
                </a:lnTo>
                <a:lnTo>
                  <a:pt x="57484" y="473904"/>
                </a:lnTo>
                <a:lnTo>
                  <a:pt x="33254" y="434865"/>
                </a:lnTo>
                <a:lnTo>
                  <a:pt x="15188" y="392116"/>
                </a:lnTo>
                <a:lnTo>
                  <a:pt x="3899" y="34627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090786" y="6155062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45">
                <a:latin typeface="Cambria Math"/>
                <a:cs typeface="Cambria Math"/>
              </a:rPr>
              <a:t>𝑐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410641" y="5222844"/>
            <a:ext cx="1983105" cy="946785"/>
            <a:chOff x="2375916" y="4910328"/>
            <a:chExt cx="1983105" cy="946785"/>
          </a:xfrm>
        </p:grpSpPr>
        <p:sp>
          <p:nvSpPr>
            <p:cNvPr id="30" name="object 30"/>
            <p:cNvSpPr/>
            <p:nvPr/>
          </p:nvSpPr>
          <p:spPr>
            <a:xfrm>
              <a:off x="3314696" y="5438390"/>
              <a:ext cx="301625" cy="312420"/>
            </a:xfrm>
            <a:custGeom>
              <a:avLst/>
              <a:gdLst/>
              <a:ahLst/>
              <a:cxnLst/>
              <a:rect l="l" t="t" r="r" b="b"/>
              <a:pathLst>
                <a:path w="301625" h="312420">
                  <a:moveTo>
                    <a:pt x="301104" y="312293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742944" y="4929378"/>
              <a:ext cx="596900" cy="596900"/>
            </a:xfrm>
            <a:custGeom>
              <a:avLst/>
              <a:gdLst/>
              <a:ahLst/>
              <a:cxnLst/>
              <a:rect l="l" t="t" r="r" b="b"/>
              <a:pathLst>
                <a:path w="596900" h="596900">
                  <a:moveTo>
                    <a:pt x="298323" y="0"/>
                  </a:moveTo>
                  <a:lnTo>
                    <a:pt x="249933" y="3904"/>
                  </a:lnTo>
                  <a:lnTo>
                    <a:pt x="204030" y="15208"/>
                  </a:lnTo>
                  <a:lnTo>
                    <a:pt x="161227" y="33298"/>
                  </a:lnTo>
                  <a:lnTo>
                    <a:pt x="122138" y="57559"/>
                  </a:lnTo>
                  <a:lnTo>
                    <a:pt x="87377" y="87377"/>
                  </a:lnTo>
                  <a:lnTo>
                    <a:pt x="57559" y="122138"/>
                  </a:lnTo>
                  <a:lnTo>
                    <a:pt x="33298" y="161227"/>
                  </a:lnTo>
                  <a:lnTo>
                    <a:pt x="15208" y="204030"/>
                  </a:lnTo>
                  <a:lnTo>
                    <a:pt x="3904" y="249933"/>
                  </a:lnTo>
                  <a:lnTo>
                    <a:pt x="0" y="298323"/>
                  </a:lnTo>
                  <a:lnTo>
                    <a:pt x="3904" y="346712"/>
                  </a:lnTo>
                  <a:lnTo>
                    <a:pt x="15208" y="392615"/>
                  </a:lnTo>
                  <a:lnTo>
                    <a:pt x="33298" y="435418"/>
                  </a:lnTo>
                  <a:lnTo>
                    <a:pt x="57559" y="474507"/>
                  </a:lnTo>
                  <a:lnTo>
                    <a:pt x="87377" y="509268"/>
                  </a:lnTo>
                  <a:lnTo>
                    <a:pt x="122138" y="539086"/>
                  </a:lnTo>
                  <a:lnTo>
                    <a:pt x="161227" y="563347"/>
                  </a:lnTo>
                  <a:lnTo>
                    <a:pt x="204030" y="581437"/>
                  </a:lnTo>
                  <a:lnTo>
                    <a:pt x="249933" y="592741"/>
                  </a:lnTo>
                  <a:lnTo>
                    <a:pt x="298323" y="596646"/>
                  </a:lnTo>
                  <a:lnTo>
                    <a:pt x="346712" y="592741"/>
                  </a:lnTo>
                  <a:lnTo>
                    <a:pt x="392615" y="581437"/>
                  </a:lnTo>
                  <a:lnTo>
                    <a:pt x="435418" y="563347"/>
                  </a:lnTo>
                  <a:lnTo>
                    <a:pt x="474507" y="539086"/>
                  </a:lnTo>
                  <a:lnTo>
                    <a:pt x="509268" y="509268"/>
                  </a:lnTo>
                  <a:lnTo>
                    <a:pt x="539086" y="474507"/>
                  </a:lnTo>
                  <a:lnTo>
                    <a:pt x="563347" y="435418"/>
                  </a:lnTo>
                  <a:lnTo>
                    <a:pt x="581437" y="392615"/>
                  </a:lnTo>
                  <a:lnTo>
                    <a:pt x="592741" y="346712"/>
                  </a:lnTo>
                  <a:lnTo>
                    <a:pt x="596646" y="298323"/>
                  </a:lnTo>
                  <a:lnTo>
                    <a:pt x="592741" y="249933"/>
                  </a:lnTo>
                  <a:lnTo>
                    <a:pt x="581437" y="204030"/>
                  </a:lnTo>
                  <a:lnTo>
                    <a:pt x="563347" y="161227"/>
                  </a:lnTo>
                  <a:lnTo>
                    <a:pt x="539086" y="122138"/>
                  </a:lnTo>
                  <a:lnTo>
                    <a:pt x="509268" y="87377"/>
                  </a:lnTo>
                  <a:lnTo>
                    <a:pt x="474507" y="57559"/>
                  </a:lnTo>
                  <a:lnTo>
                    <a:pt x="435418" y="33298"/>
                  </a:lnTo>
                  <a:lnTo>
                    <a:pt x="392615" y="15208"/>
                  </a:lnTo>
                  <a:lnTo>
                    <a:pt x="346712" y="3904"/>
                  </a:lnTo>
                  <a:lnTo>
                    <a:pt x="29832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742944" y="4929378"/>
              <a:ext cx="596900" cy="596900"/>
            </a:xfrm>
            <a:custGeom>
              <a:avLst/>
              <a:gdLst/>
              <a:ahLst/>
              <a:cxnLst/>
              <a:rect l="l" t="t" r="r" b="b"/>
              <a:pathLst>
                <a:path w="596900" h="596900">
                  <a:moveTo>
                    <a:pt x="0" y="298323"/>
                  </a:moveTo>
                  <a:lnTo>
                    <a:pt x="3904" y="249933"/>
                  </a:lnTo>
                  <a:lnTo>
                    <a:pt x="15208" y="204030"/>
                  </a:lnTo>
                  <a:lnTo>
                    <a:pt x="33298" y="161227"/>
                  </a:lnTo>
                  <a:lnTo>
                    <a:pt x="57559" y="122138"/>
                  </a:lnTo>
                  <a:lnTo>
                    <a:pt x="87377" y="87377"/>
                  </a:lnTo>
                  <a:lnTo>
                    <a:pt x="122138" y="57559"/>
                  </a:lnTo>
                  <a:lnTo>
                    <a:pt x="161227" y="33298"/>
                  </a:lnTo>
                  <a:lnTo>
                    <a:pt x="204030" y="15208"/>
                  </a:lnTo>
                  <a:lnTo>
                    <a:pt x="249933" y="3904"/>
                  </a:lnTo>
                  <a:lnTo>
                    <a:pt x="298323" y="0"/>
                  </a:lnTo>
                  <a:lnTo>
                    <a:pt x="346712" y="3904"/>
                  </a:lnTo>
                  <a:lnTo>
                    <a:pt x="392615" y="15208"/>
                  </a:lnTo>
                  <a:lnTo>
                    <a:pt x="435418" y="33298"/>
                  </a:lnTo>
                  <a:lnTo>
                    <a:pt x="474507" y="57559"/>
                  </a:lnTo>
                  <a:lnTo>
                    <a:pt x="509268" y="87377"/>
                  </a:lnTo>
                  <a:lnTo>
                    <a:pt x="539086" y="122138"/>
                  </a:lnTo>
                  <a:lnTo>
                    <a:pt x="563347" y="161227"/>
                  </a:lnTo>
                  <a:lnTo>
                    <a:pt x="581437" y="204030"/>
                  </a:lnTo>
                  <a:lnTo>
                    <a:pt x="592741" y="249933"/>
                  </a:lnTo>
                  <a:lnTo>
                    <a:pt x="596646" y="298323"/>
                  </a:lnTo>
                  <a:lnTo>
                    <a:pt x="592741" y="346712"/>
                  </a:lnTo>
                  <a:lnTo>
                    <a:pt x="581437" y="392615"/>
                  </a:lnTo>
                  <a:lnTo>
                    <a:pt x="563347" y="435418"/>
                  </a:lnTo>
                  <a:lnTo>
                    <a:pt x="539086" y="474507"/>
                  </a:lnTo>
                  <a:lnTo>
                    <a:pt x="509268" y="509268"/>
                  </a:lnTo>
                  <a:lnTo>
                    <a:pt x="474507" y="539086"/>
                  </a:lnTo>
                  <a:lnTo>
                    <a:pt x="435418" y="563347"/>
                  </a:lnTo>
                  <a:lnTo>
                    <a:pt x="392615" y="581437"/>
                  </a:lnTo>
                  <a:lnTo>
                    <a:pt x="346712" y="592741"/>
                  </a:lnTo>
                  <a:lnTo>
                    <a:pt x="298323" y="596646"/>
                  </a:lnTo>
                  <a:lnTo>
                    <a:pt x="249933" y="592741"/>
                  </a:lnTo>
                  <a:lnTo>
                    <a:pt x="204030" y="581437"/>
                  </a:lnTo>
                  <a:lnTo>
                    <a:pt x="161227" y="563347"/>
                  </a:lnTo>
                  <a:lnTo>
                    <a:pt x="122138" y="539086"/>
                  </a:lnTo>
                  <a:lnTo>
                    <a:pt x="87377" y="509268"/>
                  </a:lnTo>
                  <a:lnTo>
                    <a:pt x="57559" y="474507"/>
                  </a:lnTo>
                  <a:lnTo>
                    <a:pt x="33298" y="435418"/>
                  </a:lnTo>
                  <a:lnTo>
                    <a:pt x="15208" y="392615"/>
                  </a:lnTo>
                  <a:lnTo>
                    <a:pt x="3904" y="346712"/>
                  </a:lnTo>
                  <a:lnTo>
                    <a:pt x="0" y="298323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394966" y="5438394"/>
              <a:ext cx="498475" cy="400050"/>
            </a:xfrm>
            <a:custGeom>
              <a:avLst/>
              <a:gdLst/>
              <a:ahLst/>
              <a:cxnLst/>
              <a:rect l="l" t="t" r="r" b="b"/>
              <a:pathLst>
                <a:path w="498475" h="400050">
                  <a:moveTo>
                    <a:pt x="0" y="399580"/>
                  </a:moveTo>
                  <a:lnTo>
                    <a:pt x="498233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939687" y="5334005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𝑓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821358" y="4819745"/>
            <a:ext cx="2010410" cy="1038225"/>
            <a:chOff x="2786633" y="4507229"/>
            <a:chExt cx="2010410" cy="1038225"/>
          </a:xfrm>
        </p:grpSpPr>
        <p:sp>
          <p:nvSpPr>
            <p:cNvPr id="36" name="object 36"/>
            <p:cNvSpPr/>
            <p:nvPr/>
          </p:nvSpPr>
          <p:spPr>
            <a:xfrm>
              <a:off x="3275451" y="4535804"/>
              <a:ext cx="555625" cy="517525"/>
            </a:xfrm>
            <a:custGeom>
              <a:avLst/>
              <a:gdLst/>
              <a:ahLst/>
              <a:cxnLst/>
              <a:rect l="l" t="t" r="r" b="b"/>
              <a:pathLst>
                <a:path w="555625" h="517525">
                  <a:moveTo>
                    <a:pt x="555586" y="0"/>
                  </a:moveTo>
                  <a:lnTo>
                    <a:pt x="0" y="517004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 flipH="1">
              <a:off x="4042030" y="4623434"/>
              <a:ext cx="0" cy="307340"/>
            </a:xfrm>
            <a:custGeom>
              <a:avLst/>
              <a:gdLst/>
              <a:ahLst/>
              <a:cxnLst/>
              <a:rect l="l" t="t" r="r" b="b"/>
              <a:pathLst>
                <a:path h="307339">
                  <a:moveTo>
                    <a:pt x="0" y="0"/>
                  </a:moveTo>
                  <a:lnTo>
                    <a:pt x="0" y="306870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252341" y="4535804"/>
              <a:ext cx="516255" cy="481965"/>
            </a:xfrm>
            <a:custGeom>
              <a:avLst/>
              <a:gdLst/>
              <a:ahLst/>
              <a:cxnLst/>
              <a:rect l="l" t="t" r="r" b="b"/>
              <a:pathLst>
                <a:path w="516254" h="481964">
                  <a:moveTo>
                    <a:pt x="0" y="0"/>
                  </a:moveTo>
                  <a:lnTo>
                    <a:pt x="516128" y="481457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805683" y="4929377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297942" y="0"/>
                  </a:moveTo>
                  <a:lnTo>
                    <a:pt x="249613" y="3904"/>
                  </a:lnTo>
                  <a:lnTo>
                    <a:pt x="203767" y="15208"/>
                  </a:lnTo>
                  <a:lnTo>
                    <a:pt x="161018" y="33298"/>
                  </a:lnTo>
                  <a:lnTo>
                    <a:pt x="121979" y="57559"/>
                  </a:lnTo>
                  <a:lnTo>
                    <a:pt x="87263" y="87377"/>
                  </a:lnTo>
                  <a:lnTo>
                    <a:pt x="57484" y="122138"/>
                  </a:lnTo>
                  <a:lnTo>
                    <a:pt x="33254" y="161227"/>
                  </a:lnTo>
                  <a:lnTo>
                    <a:pt x="15188" y="204030"/>
                  </a:lnTo>
                  <a:lnTo>
                    <a:pt x="3899" y="249933"/>
                  </a:lnTo>
                  <a:lnTo>
                    <a:pt x="0" y="298323"/>
                  </a:lnTo>
                  <a:lnTo>
                    <a:pt x="3899" y="346712"/>
                  </a:lnTo>
                  <a:lnTo>
                    <a:pt x="15188" y="392615"/>
                  </a:lnTo>
                  <a:lnTo>
                    <a:pt x="33254" y="435418"/>
                  </a:lnTo>
                  <a:lnTo>
                    <a:pt x="57484" y="474507"/>
                  </a:lnTo>
                  <a:lnTo>
                    <a:pt x="87263" y="509268"/>
                  </a:lnTo>
                  <a:lnTo>
                    <a:pt x="121979" y="539086"/>
                  </a:lnTo>
                  <a:lnTo>
                    <a:pt x="161018" y="563347"/>
                  </a:lnTo>
                  <a:lnTo>
                    <a:pt x="203767" y="581437"/>
                  </a:lnTo>
                  <a:lnTo>
                    <a:pt x="249613" y="592741"/>
                  </a:lnTo>
                  <a:lnTo>
                    <a:pt x="297942" y="596646"/>
                  </a:lnTo>
                  <a:lnTo>
                    <a:pt x="346270" y="592741"/>
                  </a:lnTo>
                  <a:lnTo>
                    <a:pt x="392116" y="581437"/>
                  </a:lnTo>
                  <a:lnTo>
                    <a:pt x="434865" y="563347"/>
                  </a:lnTo>
                  <a:lnTo>
                    <a:pt x="473904" y="539086"/>
                  </a:lnTo>
                  <a:lnTo>
                    <a:pt x="508620" y="509268"/>
                  </a:lnTo>
                  <a:lnTo>
                    <a:pt x="538399" y="474507"/>
                  </a:lnTo>
                  <a:lnTo>
                    <a:pt x="562629" y="435418"/>
                  </a:lnTo>
                  <a:lnTo>
                    <a:pt x="580695" y="392615"/>
                  </a:lnTo>
                  <a:lnTo>
                    <a:pt x="591984" y="346712"/>
                  </a:lnTo>
                  <a:lnTo>
                    <a:pt x="595884" y="298323"/>
                  </a:lnTo>
                  <a:lnTo>
                    <a:pt x="591984" y="249933"/>
                  </a:lnTo>
                  <a:lnTo>
                    <a:pt x="580695" y="204030"/>
                  </a:lnTo>
                  <a:lnTo>
                    <a:pt x="562629" y="161227"/>
                  </a:lnTo>
                  <a:lnTo>
                    <a:pt x="538399" y="122138"/>
                  </a:lnTo>
                  <a:lnTo>
                    <a:pt x="508620" y="87377"/>
                  </a:lnTo>
                  <a:lnTo>
                    <a:pt x="473904" y="57559"/>
                  </a:lnTo>
                  <a:lnTo>
                    <a:pt x="434865" y="33298"/>
                  </a:lnTo>
                  <a:lnTo>
                    <a:pt x="392116" y="15208"/>
                  </a:lnTo>
                  <a:lnTo>
                    <a:pt x="346270" y="3904"/>
                  </a:lnTo>
                  <a:lnTo>
                    <a:pt x="29794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805683" y="4929377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0" y="298323"/>
                  </a:moveTo>
                  <a:lnTo>
                    <a:pt x="3899" y="249933"/>
                  </a:lnTo>
                  <a:lnTo>
                    <a:pt x="15188" y="204030"/>
                  </a:lnTo>
                  <a:lnTo>
                    <a:pt x="33254" y="161227"/>
                  </a:lnTo>
                  <a:lnTo>
                    <a:pt x="57484" y="122138"/>
                  </a:lnTo>
                  <a:lnTo>
                    <a:pt x="87263" y="87377"/>
                  </a:lnTo>
                  <a:lnTo>
                    <a:pt x="121979" y="57559"/>
                  </a:lnTo>
                  <a:lnTo>
                    <a:pt x="161018" y="33298"/>
                  </a:lnTo>
                  <a:lnTo>
                    <a:pt x="203767" y="15208"/>
                  </a:lnTo>
                  <a:lnTo>
                    <a:pt x="249613" y="3904"/>
                  </a:lnTo>
                  <a:lnTo>
                    <a:pt x="297942" y="0"/>
                  </a:lnTo>
                  <a:lnTo>
                    <a:pt x="346270" y="3904"/>
                  </a:lnTo>
                  <a:lnTo>
                    <a:pt x="392116" y="15208"/>
                  </a:lnTo>
                  <a:lnTo>
                    <a:pt x="434865" y="33298"/>
                  </a:lnTo>
                  <a:lnTo>
                    <a:pt x="473904" y="57559"/>
                  </a:lnTo>
                  <a:lnTo>
                    <a:pt x="508620" y="87377"/>
                  </a:lnTo>
                  <a:lnTo>
                    <a:pt x="538399" y="122138"/>
                  </a:lnTo>
                  <a:lnTo>
                    <a:pt x="562629" y="161227"/>
                  </a:lnTo>
                  <a:lnTo>
                    <a:pt x="580695" y="204030"/>
                  </a:lnTo>
                  <a:lnTo>
                    <a:pt x="591984" y="249933"/>
                  </a:lnTo>
                  <a:lnTo>
                    <a:pt x="595884" y="298323"/>
                  </a:lnTo>
                  <a:lnTo>
                    <a:pt x="591984" y="346712"/>
                  </a:lnTo>
                  <a:lnTo>
                    <a:pt x="580695" y="392615"/>
                  </a:lnTo>
                  <a:lnTo>
                    <a:pt x="562629" y="435418"/>
                  </a:lnTo>
                  <a:lnTo>
                    <a:pt x="538399" y="474507"/>
                  </a:lnTo>
                  <a:lnTo>
                    <a:pt x="508620" y="509268"/>
                  </a:lnTo>
                  <a:lnTo>
                    <a:pt x="473904" y="539086"/>
                  </a:lnTo>
                  <a:lnTo>
                    <a:pt x="434865" y="563347"/>
                  </a:lnTo>
                  <a:lnTo>
                    <a:pt x="392116" y="581437"/>
                  </a:lnTo>
                  <a:lnTo>
                    <a:pt x="346270" y="592741"/>
                  </a:lnTo>
                  <a:lnTo>
                    <a:pt x="297942" y="596646"/>
                  </a:lnTo>
                  <a:lnTo>
                    <a:pt x="249613" y="592741"/>
                  </a:lnTo>
                  <a:lnTo>
                    <a:pt x="203767" y="581437"/>
                  </a:lnTo>
                  <a:lnTo>
                    <a:pt x="161018" y="563347"/>
                  </a:lnTo>
                  <a:lnTo>
                    <a:pt x="121979" y="539086"/>
                  </a:lnTo>
                  <a:lnTo>
                    <a:pt x="87263" y="509268"/>
                  </a:lnTo>
                  <a:lnTo>
                    <a:pt x="57484" y="474507"/>
                  </a:lnTo>
                  <a:lnTo>
                    <a:pt x="33254" y="435418"/>
                  </a:lnTo>
                  <a:lnTo>
                    <a:pt x="15188" y="392615"/>
                  </a:lnTo>
                  <a:lnTo>
                    <a:pt x="3899" y="346712"/>
                  </a:lnTo>
                  <a:lnTo>
                    <a:pt x="0" y="298323"/>
                  </a:lnTo>
                  <a:close/>
                </a:path>
              </a:pathLst>
            </a:custGeom>
            <a:ln w="38099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2989132" y="5334005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00">
                <a:latin typeface="Cambria Math"/>
                <a:cs typeface="Cambria Math"/>
              </a:rPr>
              <a:t>𝑑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758619" y="4319874"/>
            <a:ext cx="635000" cy="635000"/>
            <a:chOff x="3723894" y="4007358"/>
            <a:chExt cx="635000" cy="635000"/>
          </a:xfrm>
        </p:grpSpPr>
        <p:sp>
          <p:nvSpPr>
            <p:cNvPr id="43" name="object 43"/>
            <p:cNvSpPr/>
            <p:nvPr/>
          </p:nvSpPr>
          <p:spPr>
            <a:xfrm>
              <a:off x="3742944" y="4026408"/>
              <a:ext cx="596900" cy="596900"/>
            </a:xfrm>
            <a:custGeom>
              <a:avLst/>
              <a:gdLst/>
              <a:ahLst/>
              <a:cxnLst/>
              <a:rect l="l" t="t" r="r" b="b"/>
              <a:pathLst>
                <a:path w="596900" h="596900">
                  <a:moveTo>
                    <a:pt x="298323" y="0"/>
                  </a:moveTo>
                  <a:lnTo>
                    <a:pt x="249933" y="3904"/>
                  </a:lnTo>
                  <a:lnTo>
                    <a:pt x="204030" y="15208"/>
                  </a:lnTo>
                  <a:lnTo>
                    <a:pt x="161227" y="33298"/>
                  </a:lnTo>
                  <a:lnTo>
                    <a:pt x="122138" y="57559"/>
                  </a:lnTo>
                  <a:lnTo>
                    <a:pt x="87377" y="87377"/>
                  </a:lnTo>
                  <a:lnTo>
                    <a:pt x="57559" y="122138"/>
                  </a:lnTo>
                  <a:lnTo>
                    <a:pt x="33298" y="161227"/>
                  </a:lnTo>
                  <a:lnTo>
                    <a:pt x="15208" y="204030"/>
                  </a:lnTo>
                  <a:lnTo>
                    <a:pt x="3904" y="249933"/>
                  </a:lnTo>
                  <a:lnTo>
                    <a:pt x="0" y="298323"/>
                  </a:lnTo>
                  <a:lnTo>
                    <a:pt x="3904" y="346712"/>
                  </a:lnTo>
                  <a:lnTo>
                    <a:pt x="15208" y="392615"/>
                  </a:lnTo>
                  <a:lnTo>
                    <a:pt x="33298" y="435418"/>
                  </a:lnTo>
                  <a:lnTo>
                    <a:pt x="57559" y="474507"/>
                  </a:lnTo>
                  <a:lnTo>
                    <a:pt x="87377" y="509268"/>
                  </a:lnTo>
                  <a:lnTo>
                    <a:pt x="122138" y="539086"/>
                  </a:lnTo>
                  <a:lnTo>
                    <a:pt x="161227" y="563347"/>
                  </a:lnTo>
                  <a:lnTo>
                    <a:pt x="204030" y="581437"/>
                  </a:lnTo>
                  <a:lnTo>
                    <a:pt x="249933" y="592741"/>
                  </a:lnTo>
                  <a:lnTo>
                    <a:pt x="298323" y="596646"/>
                  </a:lnTo>
                  <a:lnTo>
                    <a:pt x="346712" y="592741"/>
                  </a:lnTo>
                  <a:lnTo>
                    <a:pt x="392615" y="581437"/>
                  </a:lnTo>
                  <a:lnTo>
                    <a:pt x="435418" y="563347"/>
                  </a:lnTo>
                  <a:lnTo>
                    <a:pt x="474507" y="539086"/>
                  </a:lnTo>
                  <a:lnTo>
                    <a:pt x="509268" y="509268"/>
                  </a:lnTo>
                  <a:lnTo>
                    <a:pt x="539086" y="474507"/>
                  </a:lnTo>
                  <a:lnTo>
                    <a:pt x="563347" y="435418"/>
                  </a:lnTo>
                  <a:lnTo>
                    <a:pt x="581437" y="392615"/>
                  </a:lnTo>
                  <a:lnTo>
                    <a:pt x="592741" y="346712"/>
                  </a:lnTo>
                  <a:lnTo>
                    <a:pt x="596646" y="298323"/>
                  </a:lnTo>
                  <a:lnTo>
                    <a:pt x="592741" y="249933"/>
                  </a:lnTo>
                  <a:lnTo>
                    <a:pt x="581437" y="204030"/>
                  </a:lnTo>
                  <a:lnTo>
                    <a:pt x="563347" y="161227"/>
                  </a:lnTo>
                  <a:lnTo>
                    <a:pt x="539086" y="122138"/>
                  </a:lnTo>
                  <a:lnTo>
                    <a:pt x="509268" y="87377"/>
                  </a:lnTo>
                  <a:lnTo>
                    <a:pt x="474507" y="57559"/>
                  </a:lnTo>
                  <a:lnTo>
                    <a:pt x="435418" y="33298"/>
                  </a:lnTo>
                  <a:lnTo>
                    <a:pt x="392615" y="15208"/>
                  </a:lnTo>
                  <a:lnTo>
                    <a:pt x="346712" y="3904"/>
                  </a:lnTo>
                  <a:lnTo>
                    <a:pt x="298323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742944" y="4026408"/>
              <a:ext cx="596900" cy="596900"/>
            </a:xfrm>
            <a:custGeom>
              <a:avLst/>
              <a:gdLst/>
              <a:ahLst/>
              <a:cxnLst/>
              <a:rect l="l" t="t" r="r" b="b"/>
              <a:pathLst>
                <a:path w="596900" h="596900">
                  <a:moveTo>
                    <a:pt x="0" y="298323"/>
                  </a:moveTo>
                  <a:lnTo>
                    <a:pt x="3904" y="249933"/>
                  </a:lnTo>
                  <a:lnTo>
                    <a:pt x="15208" y="204030"/>
                  </a:lnTo>
                  <a:lnTo>
                    <a:pt x="33298" y="161227"/>
                  </a:lnTo>
                  <a:lnTo>
                    <a:pt x="57559" y="122138"/>
                  </a:lnTo>
                  <a:lnTo>
                    <a:pt x="87377" y="87377"/>
                  </a:lnTo>
                  <a:lnTo>
                    <a:pt x="122138" y="57559"/>
                  </a:lnTo>
                  <a:lnTo>
                    <a:pt x="161227" y="33298"/>
                  </a:lnTo>
                  <a:lnTo>
                    <a:pt x="204030" y="15208"/>
                  </a:lnTo>
                  <a:lnTo>
                    <a:pt x="249933" y="3904"/>
                  </a:lnTo>
                  <a:lnTo>
                    <a:pt x="298323" y="0"/>
                  </a:lnTo>
                  <a:lnTo>
                    <a:pt x="346712" y="3904"/>
                  </a:lnTo>
                  <a:lnTo>
                    <a:pt x="392615" y="15208"/>
                  </a:lnTo>
                  <a:lnTo>
                    <a:pt x="435418" y="33298"/>
                  </a:lnTo>
                  <a:lnTo>
                    <a:pt x="474507" y="57559"/>
                  </a:lnTo>
                  <a:lnTo>
                    <a:pt x="509268" y="87377"/>
                  </a:lnTo>
                  <a:lnTo>
                    <a:pt x="539086" y="122138"/>
                  </a:lnTo>
                  <a:lnTo>
                    <a:pt x="563347" y="161227"/>
                  </a:lnTo>
                  <a:lnTo>
                    <a:pt x="581437" y="204030"/>
                  </a:lnTo>
                  <a:lnTo>
                    <a:pt x="592741" y="249933"/>
                  </a:lnTo>
                  <a:lnTo>
                    <a:pt x="596646" y="298323"/>
                  </a:lnTo>
                  <a:lnTo>
                    <a:pt x="592741" y="346712"/>
                  </a:lnTo>
                  <a:lnTo>
                    <a:pt x="581437" y="392615"/>
                  </a:lnTo>
                  <a:lnTo>
                    <a:pt x="563347" y="435418"/>
                  </a:lnTo>
                  <a:lnTo>
                    <a:pt x="539086" y="474507"/>
                  </a:lnTo>
                  <a:lnTo>
                    <a:pt x="509268" y="509268"/>
                  </a:lnTo>
                  <a:lnTo>
                    <a:pt x="474507" y="539086"/>
                  </a:lnTo>
                  <a:lnTo>
                    <a:pt x="435418" y="563347"/>
                  </a:lnTo>
                  <a:lnTo>
                    <a:pt x="392615" y="581437"/>
                  </a:lnTo>
                  <a:lnTo>
                    <a:pt x="346712" y="592741"/>
                  </a:lnTo>
                  <a:lnTo>
                    <a:pt x="298323" y="596646"/>
                  </a:lnTo>
                  <a:lnTo>
                    <a:pt x="249933" y="592741"/>
                  </a:lnTo>
                  <a:lnTo>
                    <a:pt x="204030" y="581437"/>
                  </a:lnTo>
                  <a:lnTo>
                    <a:pt x="161227" y="563347"/>
                  </a:lnTo>
                  <a:lnTo>
                    <a:pt x="122138" y="539086"/>
                  </a:lnTo>
                  <a:lnTo>
                    <a:pt x="87377" y="509268"/>
                  </a:lnTo>
                  <a:lnTo>
                    <a:pt x="57559" y="474507"/>
                  </a:lnTo>
                  <a:lnTo>
                    <a:pt x="33298" y="435418"/>
                  </a:lnTo>
                  <a:lnTo>
                    <a:pt x="15208" y="392615"/>
                  </a:lnTo>
                  <a:lnTo>
                    <a:pt x="3904" y="346712"/>
                  </a:lnTo>
                  <a:lnTo>
                    <a:pt x="0" y="298323"/>
                  </a:lnTo>
                  <a:close/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3930577" y="4431075"/>
            <a:ext cx="215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95">
                <a:latin typeface="Cambria Math"/>
                <a:cs typeface="Cambria Math"/>
              </a:rPr>
              <a:t>𝑎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7788" y="995805"/>
            <a:ext cx="7423150" cy="99123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数组结构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查询最大值：简单循环搜索所有元素，记录最大值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7788" y="2824605"/>
            <a:ext cx="11080750" cy="143002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图结构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查询相邻顶点：简单循环搜索各顶点关联的边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查询可达顶点：简单循环搜索，不能找到全部可达顶点！是否存在有效算法</a:t>
            </a:r>
            <a:r>
              <a:rPr sz="24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？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90518" y="4268540"/>
            <a:ext cx="4666615" cy="829944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156845" rIns="0" bIns="0" rtlCol="0">
            <a:spAutoFit/>
          </a:bodyPr>
          <a:lstStyle/>
          <a:p>
            <a:pPr marL="375920">
              <a:lnSpc>
                <a:spcPct val="100000"/>
              </a:lnSpc>
              <a:spcBef>
                <a:spcPts val="1235"/>
              </a:spcBef>
            </a:pPr>
            <a:r>
              <a:rPr sz="2800" spc="-5">
                <a:latin typeface="PMingLiU"/>
                <a:cs typeface="PMingLiU"/>
              </a:rPr>
              <a:t>按照什么次序搜索顶点？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90518" y="5157795"/>
            <a:ext cx="4666615" cy="82931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164465" rIns="0" bIns="0" rtlCol="0">
            <a:spAutoFit/>
          </a:bodyPr>
          <a:lstStyle/>
          <a:p>
            <a:pPr marL="1264920">
              <a:lnSpc>
                <a:spcPct val="100000"/>
              </a:lnSpc>
              <a:spcBef>
                <a:spcPts val="1295"/>
              </a:spcBef>
            </a:pPr>
            <a:r>
              <a:rPr sz="2800" spc="-10">
                <a:solidFill>
                  <a:srgbClr val="FFFFFF"/>
                </a:solidFill>
                <a:latin typeface="PMingLiU"/>
                <a:cs typeface="PMingLiU"/>
              </a:rPr>
              <a:t>广度优先搜索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090518" y="6046287"/>
            <a:ext cx="4666615" cy="829944"/>
          </a:xfrm>
          <a:custGeom>
            <a:avLst/>
            <a:gdLst/>
            <a:ahLst/>
            <a:cxnLst/>
            <a:rect l="l" t="t" r="r" b="b"/>
            <a:pathLst>
              <a:path w="4666615" h="829944">
                <a:moveTo>
                  <a:pt x="4666487" y="0"/>
                </a:moveTo>
                <a:lnTo>
                  <a:pt x="0" y="0"/>
                </a:lnTo>
                <a:lnTo>
                  <a:pt x="0" y="829818"/>
                </a:lnTo>
                <a:lnTo>
                  <a:pt x="4666487" y="829818"/>
                </a:lnTo>
                <a:lnTo>
                  <a:pt x="4666487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343010" y="6198385"/>
            <a:ext cx="21609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>
                <a:solidFill>
                  <a:srgbClr val="FFFFFF"/>
                </a:solidFill>
                <a:latin typeface="PMingLiU"/>
                <a:cs typeface="PMingLiU"/>
              </a:rPr>
              <a:t>深度优先搜索</a:t>
            </a:r>
            <a:endParaRPr sz="2800">
              <a:latin typeface="PMingLiU"/>
              <a:cs typeface="PMingLiU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080899"/>
              </p:ext>
            </p:extLst>
          </p:nvPr>
        </p:nvGraphicFramePr>
        <p:xfrm>
          <a:off x="4524437" y="2069547"/>
          <a:ext cx="3349621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3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spc="15">
                          <a:latin typeface="Cambria Math"/>
                          <a:cs typeface="Cambria Math"/>
                        </a:rPr>
                        <a:t>𝐴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105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5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0" name="object 10"/>
          <p:cNvGrpSpPr/>
          <p:nvPr/>
        </p:nvGrpSpPr>
        <p:grpSpPr>
          <a:xfrm>
            <a:off x="5001876" y="3237831"/>
            <a:ext cx="2891790" cy="114300"/>
            <a:chOff x="4932426" y="2925314"/>
            <a:chExt cx="2891790" cy="114300"/>
          </a:xfrm>
        </p:grpSpPr>
        <p:sp>
          <p:nvSpPr>
            <p:cNvPr id="11" name="object 11"/>
            <p:cNvSpPr/>
            <p:nvPr/>
          </p:nvSpPr>
          <p:spPr>
            <a:xfrm>
              <a:off x="4932426" y="2982468"/>
              <a:ext cx="2796540" cy="0"/>
            </a:xfrm>
            <a:custGeom>
              <a:avLst/>
              <a:gdLst/>
              <a:ahLst/>
              <a:cxnLst/>
              <a:rect l="l" t="t" r="r" b="b"/>
              <a:pathLst>
                <a:path w="2796540">
                  <a:moveTo>
                    <a:pt x="0" y="0"/>
                  </a:moveTo>
                  <a:lnTo>
                    <a:pt x="2796235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709610" y="2925314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4731365" y="5222845"/>
            <a:ext cx="634365" cy="635000"/>
            <a:chOff x="4661915" y="4910328"/>
            <a:chExt cx="634365" cy="635000"/>
          </a:xfrm>
        </p:grpSpPr>
        <p:sp>
          <p:nvSpPr>
            <p:cNvPr id="14" name="object 14"/>
            <p:cNvSpPr/>
            <p:nvPr/>
          </p:nvSpPr>
          <p:spPr>
            <a:xfrm>
              <a:off x="4680965" y="4929378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297942" y="0"/>
                  </a:moveTo>
                  <a:lnTo>
                    <a:pt x="249613" y="3904"/>
                  </a:lnTo>
                  <a:lnTo>
                    <a:pt x="203767" y="15208"/>
                  </a:lnTo>
                  <a:lnTo>
                    <a:pt x="161018" y="33298"/>
                  </a:lnTo>
                  <a:lnTo>
                    <a:pt x="121979" y="57559"/>
                  </a:lnTo>
                  <a:lnTo>
                    <a:pt x="87263" y="87377"/>
                  </a:lnTo>
                  <a:lnTo>
                    <a:pt x="57484" y="122138"/>
                  </a:lnTo>
                  <a:lnTo>
                    <a:pt x="33254" y="161227"/>
                  </a:lnTo>
                  <a:lnTo>
                    <a:pt x="15188" y="204030"/>
                  </a:lnTo>
                  <a:lnTo>
                    <a:pt x="3899" y="249933"/>
                  </a:lnTo>
                  <a:lnTo>
                    <a:pt x="0" y="298323"/>
                  </a:lnTo>
                  <a:lnTo>
                    <a:pt x="3899" y="346712"/>
                  </a:lnTo>
                  <a:lnTo>
                    <a:pt x="15188" y="392615"/>
                  </a:lnTo>
                  <a:lnTo>
                    <a:pt x="33254" y="435418"/>
                  </a:lnTo>
                  <a:lnTo>
                    <a:pt x="57484" y="474507"/>
                  </a:lnTo>
                  <a:lnTo>
                    <a:pt x="87263" y="509268"/>
                  </a:lnTo>
                  <a:lnTo>
                    <a:pt x="121979" y="539086"/>
                  </a:lnTo>
                  <a:lnTo>
                    <a:pt x="161018" y="563347"/>
                  </a:lnTo>
                  <a:lnTo>
                    <a:pt x="203767" y="581437"/>
                  </a:lnTo>
                  <a:lnTo>
                    <a:pt x="249613" y="592741"/>
                  </a:lnTo>
                  <a:lnTo>
                    <a:pt x="297942" y="596646"/>
                  </a:lnTo>
                  <a:lnTo>
                    <a:pt x="346270" y="592741"/>
                  </a:lnTo>
                  <a:lnTo>
                    <a:pt x="392116" y="581437"/>
                  </a:lnTo>
                  <a:lnTo>
                    <a:pt x="434865" y="563347"/>
                  </a:lnTo>
                  <a:lnTo>
                    <a:pt x="473904" y="539086"/>
                  </a:lnTo>
                  <a:lnTo>
                    <a:pt x="508620" y="509268"/>
                  </a:lnTo>
                  <a:lnTo>
                    <a:pt x="538399" y="474507"/>
                  </a:lnTo>
                  <a:lnTo>
                    <a:pt x="562629" y="435418"/>
                  </a:lnTo>
                  <a:lnTo>
                    <a:pt x="580695" y="392615"/>
                  </a:lnTo>
                  <a:lnTo>
                    <a:pt x="591984" y="346712"/>
                  </a:lnTo>
                  <a:lnTo>
                    <a:pt x="595884" y="298323"/>
                  </a:lnTo>
                  <a:lnTo>
                    <a:pt x="591984" y="249933"/>
                  </a:lnTo>
                  <a:lnTo>
                    <a:pt x="580695" y="204030"/>
                  </a:lnTo>
                  <a:lnTo>
                    <a:pt x="562629" y="161227"/>
                  </a:lnTo>
                  <a:lnTo>
                    <a:pt x="538399" y="122138"/>
                  </a:lnTo>
                  <a:lnTo>
                    <a:pt x="508620" y="87377"/>
                  </a:lnTo>
                  <a:lnTo>
                    <a:pt x="473904" y="57559"/>
                  </a:lnTo>
                  <a:lnTo>
                    <a:pt x="434865" y="33298"/>
                  </a:lnTo>
                  <a:lnTo>
                    <a:pt x="392116" y="15208"/>
                  </a:lnTo>
                  <a:lnTo>
                    <a:pt x="346270" y="3904"/>
                  </a:lnTo>
                  <a:lnTo>
                    <a:pt x="29794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80965" y="4929378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0" y="298323"/>
                  </a:moveTo>
                  <a:lnTo>
                    <a:pt x="3899" y="249933"/>
                  </a:lnTo>
                  <a:lnTo>
                    <a:pt x="15188" y="204030"/>
                  </a:lnTo>
                  <a:lnTo>
                    <a:pt x="33254" y="161227"/>
                  </a:lnTo>
                  <a:lnTo>
                    <a:pt x="57484" y="122138"/>
                  </a:lnTo>
                  <a:lnTo>
                    <a:pt x="87263" y="87377"/>
                  </a:lnTo>
                  <a:lnTo>
                    <a:pt x="121979" y="57559"/>
                  </a:lnTo>
                  <a:lnTo>
                    <a:pt x="161018" y="33298"/>
                  </a:lnTo>
                  <a:lnTo>
                    <a:pt x="203767" y="15208"/>
                  </a:lnTo>
                  <a:lnTo>
                    <a:pt x="249613" y="3904"/>
                  </a:lnTo>
                  <a:lnTo>
                    <a:pt x="297942" y="0"/>
                  </a:lnTo>
                  <a:lnTo>
                    <a:pt x="346270" y="3904"/>
                  </a:lnTo>
                  <a:lnTo>
                    <a:pt x="392116" y="15208"/>
                  </a:lnTo>
                  <a:lnTo>
                    <a:pt x="434865" y="33298"/>
                  </a:lnTo>
                  <a:lnTo>
                    <a:pt x="473904" y="57559"/>
                  </a:lnTo>
                  <a:lnTo>
                    <a:pt x="508620" y="87377"/>
                  </a:lnTo>
                  <a:lnTo>
                    <a:pt x="538399" y="122138"/>
                  </a:lnTo>
                  <a:lnTo>
                    <a:pt x="562629" y="161227"/>
                  </a:lnTo>
                  <a:lnTo>
                    <a:pt x="580695" y="204030"/>
                  </a:lnTo>
                  <a:lnTo>
                    <a:pt x="591984" y="249933"/>
                  </a:lnTo>
                  <a:lnTo>
                    <a:pt x="595884" y="298323"/>
                  </a:lnTo>
                  <a:lnTo>
                    <a:pt x="591984" y="346712"/>
                  </a:lnTo>
                  <a:lnTo>
                    <a:pt x="580695" y="392615"/>
                  </a:lnTo>
                  <a:lnTo>
                    <a:pt x="562629" y="435418"/>
                  </a:lnTo>
                  <a:lnTo>
                    <a:pt x="538399" y="474507"/>
                  </a:lnTo>
                  <a:lnTo>
                    <a:pt x="508620" y="509268"/>
                  </a:lnTo>
                  <a:lnTo>
                    <a:pt x="473904" y="539086"/>
                  </a:lnTo>
                  <a:lnTo>
                    <a:pt x="434865" y="563347"/>
                  </a:lnTo>
                  <a:lnTo>
                    <a:pt x="392116" y="581437"/>
                  </a:lnTo>
                  <a:lnTo>
                    <a:pt x="346270" y="592741"/>
                  </a:lnTo>
                  <a:lnTo>
                    <a:pt x="297942" y="596646"/>
                  </a:lnTo>
                  <a:lnTo>
                    <a:pt x="249613" y="592741"/>
                  </a:lnTo>
                  <a:lnTo>
                    <a:pt x="203767" y="581437"/>
                  </a:lnTo>
                  <a:lnTo>
                    <a:pt x="161018" y="563347"/>
                  </a:lnTo>
                  <a:lnTo>
                    <a:pt x="121979" y="539086"/>
                  </a:lnTo>
                  <a:lnTo>
                    <a:pt x="87263" y="509268"/>
                  </a:lnTo>
                  <a:lnTo>
                    <a:pt x="57484" y="474507"/>
                  </a:lnTo>
                  <a:lnTo>
                    <a:pt x="33254" y="435418"/>
                  </a:lnTo>
                  <a:lnTo>
                    <a:pt x="15188" y="392615"/>
                  </a:lnTo>
                  <a:lnTo>
                    <a:pt x="3899" y="346712"/>
                  </a:lnTo>
                  <a:lnTo>
                    <a:pt x="0" y="298323"/>
                  </a:lnTo>
                  <a:close/>
                </a:path>
              </a:pathLst>
            </a:custGeom>
            <a:ln w="38099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894489" y="5334006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95">
                <a:latin typeface="Cambria Math"/>
                <a:cs typeface="Cambria Math"/>
              </a:rPr>
              <a:t>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250032" y="6063331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4">
                <a:moveTo>
                  <a:pt x="0" y="297942"/>
                </a:moveTo>
                <a:lnTo>
                  <a:pt x="3899" y="249613"/>
                </a:lnTo>
                <a:lnTo>
                  <a:pt x="15188" y="203767"/>
                </a:lnTo>
                <a:lnTo>
                  <a:pt x="33254" y="161018"/>
                </a:lnTo>
                <a:lnTo>
                  <a:pt x="57484" y="121979"/>
                </a:lnTo>
                <a:lnTo>
                  <a:pt x="87263" y="87263"/>
                </a:lnTo>
                <a:lnTo>
                  <a:pt x="121979" y="57484"/>
                </a:lnTo>
                <a:lnTo>
                  <a:pt x="161018" y="33254"/>
                </a:lnTo>
                <a:lnTo>
                  <a:pt x="203767" y="15188"/>
                </a:lnTo>
                <a:lnTo>
                  <a:pt x="249613" y="3899"/>
                </a:lnTo>
                <a:lnTo>
                  <a:pt x="297942" y="0"/>
                </a:lnTo>
                <a:lnTo>
                  <a:pt x="346270" y="3899"/>
                </a:lnTo>
                <a:lnTo>
                  <a:pt x="392116" y="15188"/>
                </a:lnTo>
                <a:lnTo>
                  <a:pt x="434865" y="33254"/>
                </a:lnTo>
                <a:lnTo>
                  <a:pt x="473904" y="57484"/>
                </a:lnTo>
                <a:lnTo>
                  <a:pt x="508620" y="87263"/>
                </a:lnTo>
                <a:lnTo>
                  <a:pt x="538399" y="121979"/>
                </a:lnTo>
                <a:lnTo>
                  <a:pt x="562629" y="161018"/>
                </a:lnTo>
                <a:lnTo>
                  <a:pt x="580695" y="203767"/>
                </a:lnTo>
                <a:lnTo>
                  <a:pt x="591984" y="249613"/>
                </a:lnTo>
                <a:lnTo>
                  <a:pt x="595884" y="297942"/>
                </a:lnTo>
                <a:lnTo>
                  <a:pt x="591984" y="346270"/>
                </a:lnTo>
                <a:lnTo>
                  <a:pt x="580695" y="392116"/>
                </a:lnTo>
                <a:lnTo>
                  <a:pt x="562629" y="434865"/>
                </a:lnTo>
                <a:lnTo>
                  <a:pt x="538399" y="473904"/>
                </a:lnTo>
                <a:lnTo>
                  <a:pt x="508620" y="508620"/>
                </a:lnTo>
                <a:lnTo>
                  <a:pt x="473904" y="538399"/>
                </a:lnTo>
                <a:lnTo>
                  <a:pt x="434865" y="562629"/>
                </a:lnTo>
                <a:lnTo>
                  <a:pt x="392116" y="580695"/>
                </a:lnTo>
                <a:lnTo>
                  <a:pt x="346270" y="591984"/>
                </a:lnTo>
                <a:lnTo>
                  <a:pt x="297942" y="595884"/>
                </a:lnTo>
                <a:lnTo>
                  <a:pt x="249613" y="591984"/>
                </a:lnTo>
                <a:lnTo>
                  <a:pt x="203767" y="580695"/>
                </a:lnTo>
                <a:lnTo>
                  <a:pt x="161018" y="562629"/>
                </a:lnTo>
                <a:lnTo>
                  <a:pt x="121979" y="538399"/>
                </a:lnTo>
                <a:lnTo>
                  <a:pt x="87263" y="508620"/>
                </a:lnTo>
                <a:lnTo>
                  <a:pt x="57484" y="473904"/>
                </a:lnTo>
                <a:lnTo>
                  <a:pt x="33254" y="434865"/>
                </a:lnTo>
                <a:lnTo>
                  <a:pt x="15188" y="392116"/>
                </a:lnTo>
                <a:lnTo>
                  <a:pt x="3899" y="34627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440744" y="6155063"/>
            <a:ext cx="139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75">
                <a:latin typeface="Cambria Math"/>
                <a:cs typeface="Cambria Math"/>
              </a:rPr>
              <a:t>𝑖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799184" y="5731861"/>
            <a:ext cx="1557655" cy="946785"/>
            <a:chOff x="4729734" y="5419344"/>
            <a:chExt cx="1557655" cy="946785"/>
          </a:xfrm>
        </p:grpSpPr>
        <p:sp>
          <p:nvSpPr>
            <p:cNvPr id="20" name="object 20"/>
            <p:cNvSpPr/>
            <p:nvPr/>
          </p:nvSpPr>
          <p:spPr>
            <a:xfrm>
              <a:off x="5189982" y="5438394"/>
              <a:ext cx="1078865" cy="400050"/>
            </a:xfrm>
            <a:custGeom>
              <a:avLst/>
              <a:gdLst/>
              <a:ahLst/>
              <a:cxnLst/>
              <a:rect l="l" t="t" r="r" b="b"/>
              <a:pathLst>
                <a:path w="1078864" h="400050">
                  <a:moveTo>
                    <a:pt x="0" y="0"/>
                  </a:moveTo>
                  <a:lnTo>
                    <a:pt x="1078268" y="39958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748784" y="5750814"/>
              <a:ext cx="596900" cy="596265"/>
            </a:xfrm>
            <a:custGeom>
              <a:avLst/>
              <a:gdLst/>
              <a:ahLst/>
              <a:cxnLst/>
              <a:rect l="l" t="t" r="r" b="b"/>
              <a:pathLst>
                <a:path w="596900" h="596264">
                  <a:moveTo>
                    <a:pt x="0" y="297942"/>
                  </a:moveTo>
                  <a:lnTo>
                    <a:pt x="3904" y="249613"/>
                  </a:lnTo>
                  <a:lnTo>
                    <a:pt x="15208" y="203767"/>
                  </a:lnTo>
                  <a:lnTo>
                    <a:pt x="33298" y="161018"/>
                  </a:lnTo>
                  <a:lnTo>
                    <a:pt x="57559" y="121979"/>
                  </a:lnTo>
                  <a:lnTo>
                    <a:pt x="87377" y="87263"/>
                  </a:lnTo>
                  <a:lnTo>
                    <a:pt x="122138" y="57484"/>
                  </a:lnTo>
                  <a:lnTo>
                    <a:pt x="161227" y="33254"/>
                  </a:lnTo>
                  <a:lnTo>
                    <a:pt x="204030" y="15188"/>
                  </a:lnTo>
                  <a:lnTo>
                    <a:pt x="249933" y="3899"/>
                  </a:lnTo>
                  <a:lnTo>
                    <a:pt x="298323" y="0"/>
                  </a:lnTo>
                  <a:lnTo>
                    <a:pt x="346712" y="3899"/>
                  </a:lnTo>
                  <a:lnTo>
                    <a:pt x="392615" y="15188"/>
                  </a:lnTo>
                  <a:lnTo>
                    <a:pt x="435418" y="33254"/>
                  </a:lnTo>
                  <a:lnTo>
                    <a:pt x="474507" y="57484"/>
                  </a:lnTo>
                  <a:lnTo>
                    <a:pt x="509268" y="87263"/>
                  </a:lnTo>
                  <a:lnTo>
                    <a:pt x="539086" y="121979"/>
                  </a:lnTo>
                  <a:lnTo>
                    <a:pt x="563347" y="161018"/>
                  </a:lnTo>
                  <a:lnTo>
                    <a:pt x="581437" y="203767"/>
                  </a:lnTo>
                  <a:lnTo>
                    <a:pt x="592741" y="249613"/>
                  </a:lnTo>
                  <a:lnTo>
                    <a:pt x="596646" y="297942"/>
                  </a:lnTo>
                  <a:lnTo>
                    <a:pt x="592741" y="346270"/>
                  </a:lnTo>
                  <a:lnTo>
                    <a:pt x="581437" y="392116"/>
                  </a:lnTo>
                  <a:lnTo>
                    <a:pt x="563347" y="434865"/>
                  </a:lnTo>
                  <a:lnTo>
                    <a:pt x="539086" y="473904"/>
                  </a:lnTo>
                  <a:lnTo>
                    <a:pt x="509268" y="508620"/>
                  </a:lnTo>
                  <a:lnTo>
                    <a:pt x="474507" y="538399"/>
                  </a:lnTo>
                  <a:lnTo>
                    <a:pt x="435418" y="562629"/>
                  </a:lnTo>
                  <a:lnTo>
                    <a:pt x="392615" y="580695"/>
                  </a:lnTo>
                  <a:lnTo>
                    <a:pt x="346712" y="591984"/>
                  </a:lnTo>
                  <a:lnTo>
                    <a:pt x="298323" y="595884"/>
                  </a:lnTo>
                  <a:lnTo>
                    <a:pt x="249933" y="591984"/>
                  </a:lnTo>
                  <a:lnTo>
                    <a:pt x="204030" y="580695"/>
                  </a:lnTo>
                  <a:lnTo>
                    <a:pt x="161227" y="562629"/>
                  </a:lnTo>
                  <a:lnTo>
                    <a:pt x="122138" y="538399"/>
                  </a:lnTo>
                  <a:lnTo>
                    <a:pt x="87377" y="508620"/>
                  </a:lnTo>
                  <a:lnTo>
                    <a:pt x="57559" y="473904"/>
                  </a:lnTo>
                  <a:lnTo>
                    <a:pt x="33298" y="434865"/>
                  </a:lnTo>
                  <a:lnTo>
                    <a:pt x="15208" y="392116"/>
                  </a:lnTo>
                  <a:lnTo>
                    <a:pt x="3904" y="346270"/>
                  </a:lnTo>
                  <a:lnTo>
                    <a:pt x="0" y="29794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969567" y="6155063"/>
            <a:ext cx="218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85">
                <a:latin typeface="Cambria Math"/>
                <a:cs typeface="Cambria Math"/>
              </a:rPr>
              <a:t>ℎ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368147" y="5819495"/>
            <a:ext cx="1767839" cy="859155"/>
            <a:chOff x="3298697" y="5506978"/>
            <a:chExt cx="1767839" cy="859155"/>
          </a:xfrm>
        </p:grpSpPr>
        <p:sp>
          <p:nvSpPr>
            <p:cNvPr id="24" name="object 24"/>
            <p:cNvSpPr/>
            <p:nvPr/>
          </p:nvSpPr>
          <p:spPr>
            <a:xfrm>
              <a:off x="4978909" y="5526028"/>
              <a:ext cx="68580" cy="225425"/>
            </a:xfrm>
            <a:custGeom>
              <a:avLst/>
              <a:gdLst/>
              <a:ahLst/>
              <a:cxnLst/>
              <a:rect l="l" t="t" r="r" b="b"/>
              <a:pathLst>
                <a:path w="68579" h="225425">
                  <a:moveTo>
                    <a:pt x="68186" y="224993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317747" y="5750813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0" y="297942"/>
                  </a:moveTo>
                  <a:lnTo>
                    <a:pt x="3899" y="249613"/>
                  </a:lnTo>
                  <a:lnTo>
                    <a:pt x="15188" y="203767"/>
                  </a:lnTo>
                  <a:lnTo>
                    <a:pt x="33254" y="161018"/>
                  </a:lnTo>
                  <a:lnTo>
                    <a:pt x="57484" y="121979"/>
                  </a:lnTo>
                  <a:lnTo>
                    <a:pt x="87263" y="87263"/>
                  </a:lnTo>
                  <a:lnTo>
                    <a:pt x="121979" y="57484"/>
                  </a:lnTo>
                  <a:lnTo>
                    <a:pt x="161018" y="33254"/>
                  </a:lnTo>
                  <a:lnTo>
                    <a:pt x="203767" y="15188"/>
                  </a:lnTo>
                  <a:lnTo>
                    <a:pt x="249613" y="3899"/>
                  </a:lnTo>
                  <a:lnTo>
                    <a:pt x="297942" y="0"/>
                  </a:lnTo>
                  <a:lnTo>
                    <a:pt x="346270" y="3899"/>
                  </a:lnTo>
                  <a:lnTo>
                    <a:pt x="392116" y="15188"/>
                  </a:lnTo>
                  <a:lnTo>
                    <a:pt x="434865" y="33254"/>
                  </a:lnTo>
                  <a:lnTo>
                    <a:pt x="473904" y="57484"/>
                  </a:lnTo>
                  <a:lnTo>
                    <a:pt x="508620" y="87263"/>
                  </a:lnTo>
                  <a:lnTo>
                    <a:pt x="538399" y="121979"/>
                  </a:lnTo>
                  <a:lnTo>
                    <a:pt x="562629" y="161018"/>
                  </a:lnTo>
                  <a:lnTo>
                    <a:pt x="580695" y="203767"/>
                  </a:lnTo>
                  <a:lnTo>
                    <a:pt x="591984" y="249613"/>
                  </a:lnTo>
                  <a:lnTo>
                    <a:pt x="595884" y="297942"/>
                  </a:lnTo>
                  <a:lnTo>
                    <a:pt x="591984" y="346270"/>
                  </a:lnTo>
                  <a:lnTo>
                    <a:pt x="580695" y="392116"/>
                  </a:lnTo>
                  <a:lnTo>
                    <a:pt x="562629" y="434865"/>
                  </a:lnTo>
                  <a:lnTo>
                    <a:pt x="538399" y="473904"/>
                  </a:lnTo>
                  <a:lnTo>
                    <a:pt x="508620" y="508620"/>
                  </a:lnTo>
                  <a:lnTo>
                    <a:pt x="473904" y="538399"/>
                  </a:lnTo>
                  <a:lnTo>
                    <a:pt x="434865" y="562629"/>
                  </a:lnTo>
                  <a:lnTo>
                    <a:pt x="392116" y="580695"/>
                  </a:lnTo>
                  <a:lnTo>
                    <a:pt x="346270" y="591984"/>
                  </a:lnTo>
                  <a:lnTo>
                    <a:pt x="297942" y="595884"/>
                  </a:lnTo>
                  <a:lnTo>
                    <a:pt x="249613" y="591984"/>
                  </a:lnTo>
                  <a:lnTo>
                    <a:pt x="203767" y="580695"/>
                  </a:lnTo>
                  <a:lnTo>
                    <a:pt x="161018" y="562629"/>
                  </a:lnTo>
                  <a:lnTo>
                    <a:pt x="121979" y="538399"/>
                  </a:lnTo>
                  <a:lnTo>
                    <a:pt x="87263" y="508620"/>
                  </a:lnTo>
                  <a:lnTo>
                    <a:pt x="57484" y="473904"/>
                  </a:lnTo>
                  <a:lnTo>
                    <a:pt x="33254" y="434865"/>
                  </a:lnTo>
                  <a:lnTo>
                    <a:pt x="15188" y="392116"/>
                  </a:lnTo>
                  <a:lnTo>
                    <a:pt x="3899" y="346270"/>
                  </a:lnTo>
                  <a:lnTo>
                    <a:pt x="0" y="29794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541062" y="6155063"/>
            <a:ext cx="21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05">
                <a:latin typeface="Cambria Math"/>
                <a:cs typeface="Cambria Math"/>
              </a:rPr>
              <a:t>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955400" y="6063331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2"/>
                </a:moveTo>
                <a:lnTo>
                  <a:pt x="3899" y="249613"/>
                </a:lnTo>
                <a:lnTo>
                  <a:pt x="15188" y="203767"/>
                </a:lnTo>
                <a:lnTo>
                  <a:pt x="33254" y="161018"/>
                </a:lnTo>
                <a:lnTo>
                  <a:pt x="57484" y="121979"/>
                </a:lnTo>
                <a:lnTo>
                  <a:pt x="87263" y="87263"/>
                </a:lnTo>
                <a:lnTo>
                  <a:pt x="121979" y="57484"/>
                </a:lnTo>
                <a:lnTo>
                  <a:pt x="161018" y="33254"/>
                </a:lnTo>
                <a:lnTo>
                  <a:pt x="203767" y="15188"/>
                </a:lnTo>
                <a:lnTo>
                  <a:pt x="249613" y="3899"/>
                </a:lnTo>
                <a:lnTo>
                  <a:pt x="297942" y="0"/>
                </a:lnTo>
                <a:lnTo>
                  <a:pt x="346270" y="3899"/>
                </a:lnTo>
                <a:lnTo>
                  <a:pt x="392116" y="15188"/>
                </a:lnTo>
                <a:lnTo>
                  <a:pt x="434865" y="33254"/>
                </a:lnTo>
                <a:lnTo>
                  <a:pt x="473904" y="57484"/>
                </a:lnTo>
                <a:lnTo>
                  <a:pt x="508620" y="87263"/>
                </a:lnTo>
                <a:lnTo>
                  <a:pt x="538399" y="121979"/>
                </a:lnTo>
                <a:lnTo>
                  <a:pt x="562629" y="161018"/>
                </a:lnTo>
                <a:lnTo>
                  <a:pt x="580695" y="203767"/>
                </a:lnTo>
                <a:lnTo>
                  <a:pt x="591984" y="249613"/>
                </a:lnTo>
                <a:lnTo>
                  <a:pt x="595884" y="297942"/>
                </a:lnTo>
                <a:lnTo>
                  <a:pt x="591984" y="346270"/>
                </a:lnTo>
                <a:lnTo>
                  <a:pt x="580695" y="392116"/>
                </a:lnTo>
                <a:lnTo>
                  <a:pt x="562629" y="434865"/>
                </a:lnTo>
                <a:lnTo>
                  <a:pt x="538399" y="473904"/>
                </a:lnTo>
                <a:lnTo>
                  <a:pt x="508620" y="508620"/>
                </a:lnTo>
                <a:lnTo>
                  <a:pt x="473904" y="538399"/>
                </a:lnTo>
                <a:lnTo>
                  <a:pt x="434865" y="562629"/>
                </a:lnTo>
                <a:lnTo>
                  <a:pt x="392116" y="580695"/>
                </a:lnTo>
                <a:lnTo>
                  <a:pt x="346270" y="591984"/>
                </a:lnTo>
                <a:lnTo>
                  <a:pt x="297942" y="595884"/>
                </a:lnTo>
                <a:lnTo>
                  <a:pt x="249613" y="591984"/>
                </a:lnTo>
                <a:lnTo>
                  <a:pt x="203767" y="580695"/>
                </a:lnTo>
                <a:lnTo>
                  <a:pt x="161018" y="562629"/>
                </a:lnTo>
                <a:lnTo>
                  <a:pt x="121979" y="538399"/>
                </a:lnTo>
                <a:lnTo>
                  <a:pt x="87263" y="508620"/>
                </a:lnTo>
                <a:lnTo>
                  <a:pt x="57484" y="473904"/>
                </a:lnTo>
                <a:lnTo>
                  <a:pt x="33254" y="434865"/>
                </a:lnTo>
                <a:lnTo>
                  <a:pt x="15188" y="392116"/>
                </a:lnTo>
                <a:lnTo>
                  <a:pt x="3899" y="34627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125511" y="6155063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45">
                <a:latin typeface="Cambria Math"/>
                <a:cs typeface="Cambria Math"/>
              </a:rPr>
              <a:t>𝑐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445366" y="5222845"/>
            <a:ext cx="1983105" cy="946785"/>
            <a:chOff x="2375916" y="4910328"/>
            <a:chExt cx="1983105" cy="946785"/>
          </a:xfrm>
        </p:grpSpPr>
        <p:sp>
          <p:nvSpPr>
            <p:cNvPr id="30" name="object 30"/>
            <p:cNvSpPr/>
            <p:nvPr/>
          </p:nvSpPr>
          <p:spPr>
            <a:xfrm>
              <a:off x="3314696" y="5438390"/>
              <a:ext cx="301625" cy="312420"/>
            </a:xfrm>
            <a:custGeom>
              <a:avLst/>
              <a:gdLst/>
              <a:ahLst/>
              <a:cxnLst/>
              <a:rect l="l" t="t" r="r" b="b"/>
              <a:pathLst>
                <a:path w="301625" h="312420">
                  <a:moveTo>
                    <a:pt x="301104" y="312293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742944" y="4929378"/>
              <a:ext cx="596900" cy="596900"/>
            </a:xfrm>
            <a:custGeom>
              <a:avLst/>
              <a:gdLst/>
              <a:ahLst/>
              <a:cxnLst/>
              <a:rect l="l" t="t" r="r" b="b"/>
              <a:pathLst>
                <a:path w="596900" h="596900">
                  <a:moveTo>
                    <a:pt x="298323" y="0"/>
                  </a:moveTo>
                  <a:lnTo>
                    <a:pt x="249933" y="3904"/>
                  </a:lnTo>
                  <a:lnTo>
                    <a:pt x="204030" y="15208"/>
                  </a:lnTo>
                  <a:lnTo>
                    <a:pt x="161227" y="33298"/>
                  </a:lnTo>
                  <a:lnTo>
                    <a:pt x="122138" y="57559"/>
                  </a:lnTo>
                  <a:lnTo>
                    <a:pt x="87377" y="87377"/>
                  </a:lnTo>
                  <a:lnTo>
                    <a:pt x="57559" y="122138"/>
                  </a:lnTo>
                  <a:lnTo>
                    <a:pt x="33298" y="161227"/>
                  </a:lnTo>
                  <a:lnTo>
                    <a:pt x="15208" y="204030"/>
                  </a:lnTo>
                  <a:lnTo>
                    <a:pt x="3904" y="249933"/>
                  </a:lnTo>
                  <a:lnTo>
                    <a:pt x="0" y="298323"/>
                  </a:lnTo>
                  <a:lnTo>
                    <a:pt x="3904" y="346712"/>
                  </a:lnTo>
                  <a:lnTo>
                    <a:pt x="15208" y="392615"/>
                  </a:lnTo>
                  <a:lnTo>
                    <a:pt x="33298" y="435418"/>
                  </a:lnTo>
                  <a:lnTo>
                    <a:pt x="57559" y="474507"/>
                  </a:lnTo>
                  <a:lnTo>
                    <a:pt x="87377" y="509268"/>
                  </a:lnTo>
                  <a:lnTo>
                    <a:pt x="122138" y="539086"/>
                  </a:lnTo>
                  <a:lnTo>
                    <a:pt x="161227" y="563347"/>
                  </a:lnTo>
                  <a:lnTo>
                    <a:pt x="204030" y="581437"/>
                  </a:lnTo>
                  <a:lnTo>
                    <a:pt x="249933" y="592741"/>
                  </a:lnTo>
                  <a:lnTo>
                    <a:pt x="298323" y="596646"/>
                  </a:lnTo>
                  <a:lnTo>
                    <a:pt x="346712" y="592741"/>
                  </a:lnTo>
                  <a:lnTo>
                    <a:pt x="392615" y="581437"/>
                  </a:lnTo>
                  <a:lnTo>
                    <a:pt x="435418" y="563347"/>
                  </a:lnTo>
                  <a:lnTo>
                    <a:pt x="474507" y="539086"/>
                  </a:lnTo>
                  <a:lnTo>
                    <a:pt x="509268" y="509268"/>
                  </a:lnTo>
                  <a:lnTo>
                    <a:pt x="539086" y="474507"/>
                  </a:lnTo>
                  <a:lnTo>
                    <a:pt x="563347" y="435418"/>
                  </a:lnTo>
                  <a:lnTo>
                    <a:pt x="581437" y="392615"/>
                  </a:lnTo>
                  <a:lnTo>
                    <a:pt x="592741" y="346712"/>
                  </a:lnTo>
                  <a:lnTo>
                    <a:pt x="596646" y="298323"/>
                  </a:lnTo>
                  <a:lnTo>
                    <a:pt x="592741" y="249933"/>
                  </a:lnTo>
                  <a:lnTo>
                    <a:pt x="581437" y="204030"/>
                  </a:lnTo>
                  <a:lnTo>
                    <a:pt x="563347" y="161227"/>
                  </a:lnTo>
                  <a:lnTo>
                    <a:pt x="539086" y="122138"/>
                  </a:lnTo>
                  <a:lnTo>
                    <a:pt x="509268" y="87377"/>
                  </a:lnTo>
                  <a:lnTo>
                    <a:pt x="474507" y="57559"/>
                  </a:lnTo>
                  <a:lnTo>
                    <a:pt x="435418" y="33298"/>
                  </a:lnTo>
                  <a:lnTo>
                    <a:pt x="392615" y="15208"/>
                  </a:lnTo>
                  <a:lnTo>
                    <a:pt x="346712" y="3904"/>
                  </a:lnTo>
                  <a:lnTo>
                    <a:pt x="29832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742944" y="4929378"/>
              <a:ext cx="596900" cy="596900"/>
            </a:xfrm>
            <a:custGeom>
              <a:avLst/>
              <a:gdLst/>
              <a:ahLst/>
              <a:cxnLst/>
              <a:rect l="l" t="t" r="r" b="b"/>
              <a:pathLst>
                <a:path w="596900" h="596900">
                  <a:moveTo>
                    <a:pt x="0" y="298323"/>
                  </a:moveTo>
                  <a:lnTo>
                    <a:pt x="3904" y="249933"/>
                  </a:lnTo>
                  <a:lnTo>
                    <a:pt x="15208" y="204030"/>
                  </a:lnTo>
                  <a:lnTo>
                    <a:pt x="33298" y="161227"/>
                  </a:lnTo>
                  <a:lnTo>
                    <a:pt x="57559" y="122138"/>
                  </a:lnTo>
                  <a:lnTo>
                    <a:pt x="87377" y="87377"/>
                  </a:lnTo>
                  <a:lnTo>
                    <a:pt x="122138" y="57559"/>
                  </a:lnTo>
                  <a:lnTo>
                    <a:pt x="161227" y="33298"/>
                  </a:lnTo>
                  <a:lnTo>
                    <a:pt x="204030" y="15208"/>
                  </a:lnTo>
                  <a:lnTo>
                    <a:pt x="249933" y="3904"/>
                  </a:lnTo>
                  <a:lnTo>
                    <a:pt x="298323" y="0"/>
                  </a:lnTo>
                  <a:lnTo>
                    <a:pt x="346712" y="3904"/>
                  </a:lnTo>
                  <a:lnTo>
                    <a:pt x="392615" y="15208"/>
                  </a:lnTo>
                  <a:lnTo>
                    <a:pt x="435418" y="33298"/>
                  </a:lnTo>
                  <a:lnTo>
                    <a:pt x="474507" y="57559"/>
                  </a:lnTo>
                  <a:lnTo>
                    <a:pt x="509268" y="87377"/>
                  </a:lnTo>
                  <a:lnTo>
                    <a:pt x="539086" y="122138"/>
                  </a:lnTo>
                  <a:lnTo>
                    <a:pt x="563347" y="161227"/>
                  </a:lnTo>
                  <a:lnTo>
                    <a:pt x="581437" y="204030"/>
                  </a:lnTo>
                  <a:lnTo>
                    <a:pt x="592741" y="249933"/>
                  </a:lnTo>
                  <a:lnTo>
                    <a:pt x="596646" y="298323"/>
                  </a:lnTo>
                  <a:lnTo>
                    <a:pt x="592741" y="346712"/>
                  </a:lnTo>
                  <a:lnTo>
                    <a:pt x="581437" y="392615"/>
                  </a:lnTo>
                  <a:lnTo>
                    <a:pt x="563347" y="435418"/>
                  </a:lnTo>
                  <a:lnTo>
                    <a:pt x="539086" y="474507"/>
                  </a:lnTo>
                  <a:lnTo>
                    <a:pt x="509268" y="509268"/>
                  </a:lnTo>
                  <a:lnTo>
                    <a:pt x="474507" y="539086"/>
                  </a:lnTo>
                  <a:lnTo>
                    <a:pt x="435418" y="563347"/>
                  </a:lnTo>
                  <a:lnTo>
                    <a:pt x="392615" y="581437"/>
                  </a:lnTo>
                  <a:lnTo>
                    <a:pt x="346712" y="592741"/>
                  </a:lnTo>
                  <a:lnTo>
                    <a:pt x="298323" y="596646"/>
                  </a:lnTo>
                  <a:lnTo>
                    <a:pt x="249933" y="592741"/>
                  </a:lnTo>
                  <a:lnTo>
                    <a:pt x="204030" y="581437"/>
                  </a:lnTo>
                  <a:lnTo>
                    <a:pt x="161227" y="563347"/>
                  </a:lnTo>
                  <a:lnTo>
                    <a:pt x="122138" y="539086"/>
                  </a:lnTo>
                  <a:lnTo>
                    <a:pt x="87377" y="509268"/>
                  </a:lnTo>
                  <a:lnTo>
                    <a:pt x="57559" y="474507"/>
                  </a:lnTo>
                  <a:lnTo>
                    <a:pt x="33298" y="435418"/>
                  </a:lnTo>
                  <a:lnTo>
                    <a:pt x="15208" y="392615"/>
                  </a:lnTo>
                  <a:lnTo>
                    <a:pt x="3904" y="346712"/>
                  </a:lnTo>
                  <a:lnTo>
                    <a:pt x="0" y="298323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394966" y="5438394"/>
              <a:ext cx="498475" cy="400050"/>
            </a:xfrm>
            <a:custGeom>
              <a:avLst/>
              <a:gdLst/>
              <a:ahLst/>
              <a:cxnLst/>
              <a:rect l="l" t="t" r="r" b="b"/>
              <a:pathLst>
                <a:path w="498475" h="400050">
                  <a:moveTo>
                    <a:pt x="0" y="399580"/>
                  </a:moveTo>
                  <a:lnTo>
                    <a:pt x="498233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974412" y="5334006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𝑓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856083" y="4819746"/>
            <a:ext cx="2010410" cy="1038225"/>
            <a:chOff x="2786633" y="4507229"/>
            <a:chExt cx="2010410" cy="1038225"/>
          </a:xfrm>
        </p:grpSpPr>
        <p:sp>
          <p:nvSpPr>
            <p:cNvPr id="36" name="object 36"/>
            <p:cNvSpPr/>
            <p:nvPr/>
          </p:nvSpPr>
          <p:spPr>
            <a:xfrm>
              <a:off x="3275451" y="4535804"/>
              <a:ext cx="555625" cy="517525"/>
            </a:xfrm>
            <a:custGeom>
              <a:avLst/>
              <a:gdLst/>
              <a:ahLst/>
              <a:cxnLst/>
              <a:rect l="l" t="t" r="r" b="b"/>
              <a:pathLst>
                <a:path w="555625" h="517525">
                  <a:moveTo>
                    <a:pt x="555586" y="0"/>
                  </a:moveTo>
                  <a:lnTo>
                    <a:pt x="0" y="517004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 flipH="1">
              <a:off x="4042030" y="4623434"/>
              <a:ext cx="0" cy="307340"/>
            </a:xfrm>
            <a:custGeom>
              <a:avLst/>
              <a:gdLst/>
              <a:ahLst/>
              <a:cxnLst/>
              <a:rect l="l" t="t" r="r" b="b"/>
              <a:pathLst>
                <a:path h="307339">
                  <a:moveTo>
                    <a:pt x="0" y="0"/>
                  </a:moveTo>
                  <a:lnTo>
                    <a:pt x="0" y="306870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252341" y="4535804"/>
              <a:ext cx="516255" cy="481965"/>
            </a:xfrm>
            <a:custGeom>
              <a:avLst/>
              <a:gdLst/>
              <a:ahLst/>
              <a:cxnLst/>
              <a:rect l="l" t="t" r="r" b="b"/>
              <a:pathLst>
                <a:path w="516254" h="481964">
                  <a:moveTo>
                    <a:pt x="0" y="0"/>
                  </a:moveTo>
                  <a:lnTo>
                    <a:pt x="516128" y="481457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805683" y="4929377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297942" y="0"/>
                  </a:moveTo>
                  <a:lnTo>
                    <a:pt x="249613" y="3904"/>
                  </a:lnTo>
                  <a:lnTo>
                    <a:pt x="203767" y="15208"/>
                  </a:lnTo>
                  <a:lnTo>
                    <a:pt x="161018" y="33298"/>
                  </a:lnTo>
                  <a:lnTo>
                    <a:pt x="121979" y="57559"/>
                  </a:lnTo>
                  <a:lnTo>
                    <a:pt x="87263" y="87377"/>
                  </a:lnTo>
                  <a:lnTo>
                    <a:pt x="57484" y="122138"/>
                  </a:lnTo>
                  <a:lnTo>
                    <a:pt x="33254" y="161227"/>
                  </a:lnTo>
                  <a:lnTo>
                    <a:pt x="15188" y="204030"/>
                  </a:lnTo>
                  <a:lnTo>
                    <a:pt x="3899" y="249933"/>
                  </a:lnTo>
                  <a:lnTo>
                    <a:pt x="0" y="298323"/>
                  </a:lnTo>
                  <a:lnTo>
                    <a:pt x="3899" y="346712"/>
                  </a:lnTo>
                  <a:lnTo>
                    <a:pt x="15188" y="392615"/>
                  </a:lnTo>
                  <a:lnTo>
                    <a:pt x="33254" y="435418"/>
                  </a:lnTo>
                  <a:lnTo>
                    <a:pt x="57484" y="474507"/>
                  </a:lnTo>
                  <a:lnTo>
                    <a:pt x="87263" y="509268"/>
                  </a:lnTo>
                  <a:lnTo>
                    <a:pt x="121979" y="539086"/>
                  </a:lnTo>
                  <a:lnTo>
                    <a:pt x="161018" y="563347"/>
                  </a:lnTo>
                  <a:lnTo>
                    <a:pt x="203767" y="581437"/>
                  </a:lnTo>
                  <a:lnTo>
                    <a:pt x="249613" y="592741"/>
                  </a:lnTo>
                  <a:lnTo>
                    <a:pt x="297942" y="596646"/>
                  </a:lnTo>
                  <a:lnTo>
                    <a:pt x="346270" y="592741"/>
                  </a:lnTo>
                  <a:lnTo>
                    <a:pt x="392116" y="581437"/>
                  </a:lnTo>
                  <a:lnTo>
                    <a:pt x="434865" y="563347"/>
                  </a:lnTo>
                  <a:lnTo>
                    <a:pt x="473904" y="539086"/>
                  </a:lnTo>
                  <a:lnTo>
                    <a:pt x="508620" y="509268"/>
                  </a:lnTo>
                  <a:lnTo>
                    <a:pt x="538399" y="474507"/>
                  </a:lnTo>
                  <a:lnTo>
                    <a:pt x="562629" y="435418"/>
                  </a:lnTo>
                  <a:lnTo>
                    <a:pt x="580695" y="392615"/>
                  </a:lnTo>
                  <a:lnTo>
                    <a:pt x="591984" y="346712"/>
                  </a:lnTo>
                  <a:lnTo>
                    <a:pt x="595884" y="298323"/>
                  </a:lnTo>
                  <a:lnTo>
                    <a:pt x="591984" y="249933"/>
                  </a:lnTo>
                  <a:lnTo>
                    <a:pt x="580695" y="204030"/>
                  </a:lnTo>
                  <a:lnTo>
                    <a:pt x="562629" y="161227"/>
                  </a:lnTo>
                  <a:lnTo>
                    <a:pt x="538399" y="122138"/>
                  </a:lnTo>
                  <a:lnTo>
                    <a:pt x="508620" y="87377"/>
                  </a:lnTo>
                  <a:lnTo>
                    <a:pt x="473904" y="57559"/>
                  </a:lnTo>
                  <a:lnTo>
                    <a:pt x="434865" y="33298"/>
                  </a:lnTo>
                  <a:lnTo>
                    <a:pt x="392116" y="15208"/>
                  </a:lnTo>
                  <a:lnTo>
                    <a:pt x="346270" y="3904"/>
                  </a:lnTo>
                  <a:lnTo>
                    <a:pt x="29794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805683" y="4929377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0" y="298323"/>
                  </a:moveTo>
                  <a:lnTo>
                    <a:pt x="3899" y="249933"/>
                  </a:lnTo>
                  <a:lnTo>
                    <a:pt x="15188" y="204030"/>
                  </a:lnTo>
                  <a:lnTo>
                    <a:pt x="33254" y="161227"/>
                  </a:lnTo>
                  <a:lnTo>
                    <a:pt x="57484" y="122138"/>
                  </a:lnTo>
                  <a:lnTo>
                    <a:pt x="87263" y="87377"/>
                  </a:lnTo>
                  <a:lnTo>
                    <a:pt x="121979" y="57559"/>
                  </a:lnTo>
                  <a:lnTo>
                    <a:pt x="161018" y="33298"/>
                  </a:lnTo>
                  <a:lnTo>
                    <a:pt x="203767" y="15208"/>
                  </a:lnTo>
                  <a:lnTo>
                    <a:pt x="249613" y="3904"/>
                  </a:lnTo>
                  <a:lnTo>
                    <a:pt x="297942" y="0"/>
                  </a:lnTo>
                  <a:lnTo>
                    <a:pt x="346270" y="3904"/>
                  </a:lnTo>
                  <a:lnTo>
                    <a:pt x="392116" y="15208"/>
                  </a:lnTo>
                  <a:lnTo>
                    <a:pt x="434865" y="33298"/>
                  </a:lnTo>
                  <a:lnTo>
                    <a:pt x="473904" y="57559"/>
                  </a:lnTo>
                  <a:lnTo>
                    <a:pt x="508620" y="87377"/>
                  </a:lnTo>
                  <a:lnTo>
                    <a:pt x="538399" y="122138"/>
                  </a:lnTo>
                  <a:lnTo>
                    <a:pt x="562629" y="161227"/>
                  </a:lnTo>
                  <a:lnTo>
                    <a:pt x="580695" y="204030"/>
                  </a:lnTo>
                  <a:lnTo>
                    <a:pt x="591984" y="249933"/>
                  </a:lnTo>
                  <a:lnTo>
                    <a:pt x="595884" y="298323"/>
                  </a:lnTo>
                  <a:lnTo>
                    <a:pt x="591984" y="346712"/>
                  </a:lnTo>
                  <a:lnTo>
                    <a:pt x="580695" y="392615"/>
                  </a:lnTo>
                  <a:lnTo>
                    <a:pt x="562629" y="435418"/>
                  </a:lnTo>
                  <a:lnTo>
                    <a:pt x="538399" y="474507"/>
                  </a:lnTo>
                  <a:lnTo>
                    <a:pt x="508620" y="509268"/>
                  </a:lnTo>
                  <a:lnTo>
                    <a:pt x="473904" y="539086"/>
                  </a:lnTo>
                  <a:lnTo>
                    <a:pt x="434865" y="563347"/>
                  </a:lnTo>
                  <a:lnTo>
                    <a:pt x="392116" y="581437"/>
                  </a:lnTo>
                  <a:lnTo>
                    <a:pt x="346270" y="592741"/>
                  </a:lnTo>
                  <a:lnTo>
                    <a:pt x="297942" y="596646"/>
                  </a:lnTo>
                  <a:lnTo>
                    <a:pt x="249613" y="592741"/>
                  </a:lnTo>
                  <a:lnTo>
                    <a:pt x="203767" y="581437"/>
                  </a:lnTo>
                  <a:lnTo>
                    <a:pt x="161018" y="563347"/>
                  </a:lnTo>
                  <a:lnTo>
                    <a:pt x="121979" y="539086"/>
                  </a:lnTo>
                  <a:lnTo>
                    <a:pt x="87263" y="509268"/>
                  </a:lnTo>
                  <a:lnTo>
                    <a:pt x="57484" y="474507"/>
                  </a:lnTo>
                  <a:lnTo>
                    <a:pt x="33254" y="435418"/>
                  </a:lnTo>
                  <a:lnTo>
                    <a:pt x="15188" y="392615"/>
                  </a:lnTo>
                  <a:lnTo>
                    <a:pt x="3899" y="346712"/>
                  </a:lnTo>
                  <a:lnTo>
                    <a:pt x="0" y="298323"/>
                  </a:lnTo>
                  <a:close/>
                </a:path>
              </a:pathLst>
            </a:custGeom>
            <a:ln w="38099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3023857" y="5334006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00">
                <a:latin typeface="Cambria Math"/>
                <a:cs typeface="Cambria Math"/>
              </a:rPr>
              <a:t>𝑑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793344" y="4319875"/>
            <a:ext cx="635000" cy="635000"/>
            <a:chOff x="3723894" y="4007358"/>
            <a:chExt cx="635000" cy="635000"/>
          </a:xfrm>
        </p:grpSpPr>
        <p:sp>
          <p:nvSpPr>
            <p:cNvPr id="43" name="object 43"/>
            <p:cNvSpPr/>
            <p:nvPr/>
          </p:nvSpPr>
          <p:spPr>
            <a:xfrm>
              <a:off x="3742944" y="4026408"/>
              <a:ext cx="596900" cy="596900"/>
            </a:xfrm>
            <a:custGeom>
              <a:avLst/>
              <a:gdLst/>
              <a:ahLst/>
              <a:cxnLst/>
              <a:rect l="l" t="t" r="r" b="b"/>
              <a:pathLst>
                <a:path w="596900" h="596900">
                  <a:moveTo>
                    <a:pt x="298323" y="0"/>
                  </a:moveTo>
                  <a:lnTo>
                    <a:pt x="249933" y="3904"/>
                  </a:lnTo>
                  <a:lnTo>
                    <a:pt x="204030" y="15208"/>
                  </a:lnTo>
                  <a:lnTo>
                    <a:pt x="161227" y="33298"/>
                  </a:lnTo>
                  <a:lnTo>
                    <a:pt x="122138" y="57559"/>
                  </a:lnTo>
                  <a:lnTo>
                    <a:pt x="87377" y="87377"/>
                  </a:lnTo>
                  <a:lnTo>
                    <a:pt x="57559" y="122138"/>
                  </a:lnTo>
                  <a:lnTo>
                    <a:pt x="33298" y="161227"/>
                  </a:lnTo>
                  <a:lnTo>
                    <a:pt x="15208" y="204030"/>
                  </a:lnTo>
                  <a:lnTo>
                    <a:pt x="3904" y="249933"/>
                  </a:lnTo>
                  <a:lnTo>
                    <a:pt x="0" y="298323"/>
                  </a:lnTo>
                  <a:lnTo>
                    <a:pt x="3904" y="346712"/>
                  </a:lnTo>
                  <a:lnTo>
                    <a:pt x="15208" y="392615"/>
                  </a:lnTo>
                  <a:lnTo>
                    <a:pt x="33298" y="435418"/>
                  </a:lnTo>
                  <a:lnTo>
                    <a:pt x="57559" y="474507"/>
                  </a:lnTo>
                  <a:lnTo>
                    <a:pt x="87377" y="509268"/>
                  </a:lnTo>
                  <a:lnTo>
                    <a:pt x="122138" y="539086"/>
                  </a:lnTo>
                  <a:lnTo>
                    <a:pt x="161227" y="563347"/>
                  </a:lnTo>
                  <a:lnTo>
                    <a:pt x="204030" y="581437"/>
                  </a:lnTo>
                  <a:lnTo>
                    <a:pt x="249933" y="592741"/>
                  </a:lnTo>
                  <a:lnTo>
                    <a:pt x="298323" y="596646"/>
                  </a:lnTo>
                  <a:lnTo>
                    <a:pt x="346712" y="592741"/>
                  </a:lnTo>
                  <a:lnTo>
                    <a:pt x="392615" y="581437"/>
                  </a:lnTo>
                  <a:lnTo>
                    <a:pt x="435418" y="563347"/>
                  </a:lnTo>
                  <a:lnTo>
                    <a:pt x="474507" y="539086"/>
                  </a:lnTo>
                  <a:lnTo>
                    <a:pt x="509268" y="509268"/>
                  </a:lnTo>
                  <a:lnTo>
                    <a:pt x="539086" y="474507"/>
                  </a:lnTo>
                  <a:lnTo>
                    <a:pt x="563347" y="435418"/>
                  </a:lnTo>
                  <a:lnTo>
                    <a:pt x="581437" y="392615"/>
                  </a:lnTo>
                  <a:lnTo>
                    <a:pt x="592741" y="346712"/>
                  </a:lnTo>
                  <a:lnTo>
                    <a:pt x="596646" y="298323"/>
                  </a:lnTo>
                  <a:lnTo>
                    <a:pt x="592741" y="249933"/>
                  </a:lnTo>
                  <a:lnTo>
                    <a:pt x="581437" y="204030"/>
                  </a:lnTo>
                  <a:lnTo>
                    <a:pt x="563347" y="161227"/>
                  </a:lnTo>
                  <a:lnTo>
                    <a:pt x="539086" y="122138"/>
                  </a:lnTo>
                  <a:lnTo>
                    <a:pt x="509268" y="87377"/>
                  </a:lnTo>
                  <a:lnTo>
                    <a:pt x="474507" y="57559"/>
                  </a:lnTo>
                  <a:lnTo>
                    <a:pt x="435418" y="33298"/>
                  </a:lnTo>
                  <a:lnTo>
                    <a:pt x="392615" y="15208"/>
                  </a:lnTo>
                  <a:lnTo>
                    <a:pt x="346712" y="3904"/>
                  </a:lnTo>
                  <a:lnTo>
                    <a:pt x="298323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742944" y="4026408"/>
              <a:ext cx="596900" cy="596900"/>
            </a:xfrm>
            <a:custGeom>
              <a:avLst/>
              <a:gdLst/>
              <a:ahLst/>
              <a:cxnLst/>
              <a:rect l="l" t="t" r="r" b="b"/>
              <a:pathLst>
                <a:path w="596900" h="596900">
                  <a:moveTo>
                    <a:pt x="0" y="298323"/>
                  </a:moveTo>
                  <a:lnTo>
                    <a:pt x="3904" y="249933"/>
                  </a:lnTo>
                  <a:lnTo>
                    <a:pt x="15208" y="204030"/>
                  </a:lnTo>
                  <a:lnTo>
                    <a:pt x="33298" y="161227"/>
                  </a:lnTo>
                  <a:lnTo>
                    <a:pt x="57559" y="122138"/>
                  </a:lnTo>
                  <a:lnTo>
                    <a:pt x="87377" y="87377"/>
                  </a:lnTo>
                  <a:lnTo>
                    <a:pt x="122138" y="57559"/>
                  </a:lnTo>
                  <a:lnTo>
                    <a:pt x="161227" y="33298"/>
                  </a:lnTo>
                  <a:lnTo>
                    <a:pt x="204030" y="15208"/>
                  </a:lnTo>
                  <a:lnTo>
                    <a:pt x="249933" y="3904"/>
                  </a:lnTo>
                  <a:lnTo>
                    <a:pt x="298323" y="0"/>
                  </a:lnTo>
                  <a:lnTo>
                    <a:pt x="346712" y="3904"/>
                  </a:lnTo>
                  <a:lnTo>
                    <a:pt x="392615" y="15208"/>
                  </a:lnTo>
                  <a:lnTo>
                    <a:pt x="435418" y="33298"/>
                  </a:lnTo>
                  <a:lnTo>
                    <a:pt x="474507" y="57559"/>
                  </a:lnTo>
                  <a:lnTo>
                    <a:pt x="509268" y="87377"/>
                  </a:lnTo>
                  <a:lnTo>
                    <a:pt x="539086" y="122138"/>
                  </a:lnTo>
                  <a:lnTo>
                    <a:pt x="563347" y="161227"/>
                  </a:lnTo>
                  <a:lnTo>
                    <a:pt x="581437" y="204030"/>
                  </a:lnTo>
                  <a:lnTo>
                    <a:pt x="592741" y="249933"/>
                  </a:lnTo>
                  <a:lnTo>
                    <a:pt x="596646" y="298323"/>
                  </a:lnTo>
                  <a:lnTo>
                    <a:pt x="592741" y="346712"/>
                  </a:lnTo>
                  <a:lnTo>
                    <a:pt x="581437" y="392615"/>
                  </a:lnTo>
                  <a:lnTo>
                    <a:pt x="563347" y="435418"/>
                  </a:lnTo>
                  <a:lnTo>
                    <a:pt x="539086" y="474507"/>
                  </a:lnTo>
                  <a:lnTo>
                    <a:pt x="509268" y="509268"/>
                  </a:lnTo>
                  <a:lnTo>
                    <a:pt x="474507" y="539086"/>
                  </a:lnTo>
                  <a:lnTo>
                    <a:pt x="435418" y="563347"/>
                  </a:lnTo>
                  <a:lnTo>
                    <a:pt x="392615" y="581437"/>
                  </a:lnTo>
                  <a:lnTo>
                    <a:pt x="346712" y="592741"/>
                  </a:lnTo>
                  <a:lnTo>
                    <a:pt x="298323" y="596646"/>
                  </a:lnTo>
                  <a:lnTo>
                    <a:pt x="249933" y="592741"/>
                  </a:lnTo>
                  <a:lnTo>
                    <a:pt x="204030" y="581437"/>
                  </a:lnTo>
                  <a:lnTo>
                    <a:pt x="161227" y="563347"/>
                  </a:lnTo>
                  <a:lnTo>
                    <a:pt x="122138" y="539086"/>
                  </a:lnTo>
                  <a:lnTo>
                    <a:pt x="87377" y="509268"/>
                  </a:lnTo>
                  <a:lnTo>
                    <a:pt x="57559" y="474507"/>
                  </a:lnTo>
                  <a:lnTo>
                    <a:pt x="33298" y="435418"/>
                  </a:lnTo>
                  <a:lnTo>
                    <a:pt x="15208" y="392615"/>
                  </a:lnTo>
                  <a:lnTo>
                    <a:pt x="3904" y="346712"/>
                  </a:lnTo>
                  <a:lnTo>
                    <a:pt x="0" y="298323"/>
                  </a:lnTo>
                  <a:close/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3965302" y="4431076"/>
            <a:ext cx="215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95">
                <a:latin typeface="Cambria Math"/>
                <a:cs typeface="Cambria Math"/>
              </a:rPr>
              <a:t>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8" name="object 4">
            <a:extLst>
              <a:ext uri="{FF2B5EF4-FFF2-40B4-BE49-F238E27FC236}">
                <a16:creationId xmlns:a16="http://schemas.microsoft.com/office/drawing/2014/main" id="{0F39FD68-BC43-B14A-B13E-7F55EFB870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54935" y="273413"/>
            <a:ext cx="205524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图的搜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索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7788" y="1142661"/>
            <a:ext cx="14363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20" dirty="0" err="1">
                <a:latin typeface="PMingLiU"/>
                <a:cs typeface="PMingLiU"/>
              </a:rPr>
              <a:t>走迷宫</a:t>
            </a:r>
            <a:endParaRPr sz="2800" dirty="0">
              <a:latin typeface="PMingLiU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66464" y="210162"/>
            <a:ext cx="221751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算法思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想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711952" y="1617726"/>
            <a:ext cx="5135245" cy="4530090"/>
            <a:chOff x="5711952" y="1617726"/>
            <a:chExt cx="5135245" cy="4530090"/>
          </a:xfrm>
        </p:grpSpPr>
        <p:pic>
          <p:nvPicPr>
            <p:cNvPr id="5" name="object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6031991" y="1617726"/>
              <a:ext cx="4530089" cy="453008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711952" y="3248405"/>
              <a:ext cx="5135245" cy="2771775"/>
            </a:xfrm>
            <a:custGeom>
              <a:avLst/>
              <a:gdLst/>
              <a:ahLst/>
              <a:cxnLst/>
              <a:rect l="l" t="t" r="r" b="b"/>
              <a:pathLst>
                <a:path w="5135245" h="2771775">
                  <a:moveTo>
                    <a:pt x="313182" y="216408"/>
                  </a:moveTo>
                  <a:lnTo>
                    <a:pt x="156591" y="0"/>
                  </a:lnTo>
                  <a:lnTo>
                    <a:pt x="156591" y="108204"/>
                  </a:lnTo>
                  <a:lnTo>
                    <a:pt x="0" y="108204"/>
                  </a:lnTo>
                  <a:lnTo>
                    <a:pt x="0" y="324612"/>
                  </a:lnTo>
                  <a:lnTo>
                    <a:pt x="156591" y="324612"/>
                  </a:lnTo>
                  <a:lnTo>
                    <a:pt x="156591" y="432816"/>
                  </a:lnTo>
                  <a:lnTo>
                    <a:pt x="313182" y="216408"/>
                  </a:lnTo>
                  <a:close/>
                </a:path>
                <a:path w="5135245" h="2771775">
                  <a:moveTo>
                    <a:pt x="5135118" y="2554986"/>
                  </a:moveTo>
                  <a:lnTo>
                    <a:pt x="4978527" y="2338578"/>
                  </a:lnTo>
                  <a:lnTo>
                    <a:pt x="4978527" y="2446782"/>
                  </a:lnTo>
                  <a:lnTo>
                    <a:pt x="4821936" y="2446782"/>
                  </a:lnTo>
                  <a:lnTo>
                    <a:pt x="4821936" y="2663190"/>
                  </a:lnTo>
                  <a:lnTo>
                    <a:pt x="4978527" y="2663190"/>
                  </a:lnTo>
                  <a:lnTo>
                    <a:pt x="4978527" y="2771394"/>
                  </a:lnTo>
                  <a:lnTo>
                    <a:pt x="5135118" y="2554986"/>
                  </a:lnTo>
                  <a:close/>
                </a:path>
              </a:pathLst>
            </a:custGeom>
            <a:solidFill>
              <a:srgbClr val="FF9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966865" y="3243680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>
                <a:latin typeface="PMingLiU"/>
                <a:cs typeface="PMingLiU"/>
              </a:rPr>
              <a:t>入口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44680" y="5595471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>
                <a:latin typeface="PMingLiU"/>
                <a:cs typeface="PMingLiU"/>
              </a:rPr>
              <a:t>出口</a:t>
            </a:r>
            <a:endParaRPr sz="2400">
              <a:latin typeface="PMingLiU"/>
              <a:cs typeface="PMingLiU"/>
            </a:endParaRPr>
          </a:p>
        </p:txBody>
      </p:sp>
      <p:pic>
        <p:nvPicPr>
          <p:cNvPr id="9" name="object 9"/>
          <p:cNvPicPr/>
          <p:nvPr/>
        </p:nvPicPr>
        <p:blipFill>
          <a:blip r:embed="rId3"/>
          <a:stretch>
            <a:fillRect/>
          </a:stretch>
        </p:blipFill>
        <p:spPr>
          <a:xfrm>
            <a:off x="1104138" y="1754123"/>
            <a:ext cx="3440429" cy="345109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08303" y="5452871"/>
            <a:ext cx="4530090" cy="652780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1047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25"/>
              </a:spcBef>
            </a:pPr>
            <a:r>
              <a:rPr sz="2400" spc="-5">
                <a:latin typeface="PMingLiU"/>
                <a:cs typeface="PMingLiU"/>
              </a:rPr>
              <a:t>问题：如何走出迷宫？</a:t>
            </a:r>
            <a:endParaRPr sz="2400">
              <a:latin typeface="PMingLiU"/>
              <a:cs typeface="PMingLiU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8923" y="1030529"/>
            <a:ext cx="4070350" cy="99123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PMingLiU"/>
                <a:cs typeface="PMingLiU"/>
              </a:rPr>
              <a:t>算法步骤</a:t>
            </a:r>
            <a:endParaRPr sz="2800" dirty="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 err="1">
                <a:latin typeface="PMingLiU"/>
                <a:cs typeface="PMingLiU"/>
              </a:rPr>
              <a:t>分叉时，任选一条边深入</a:t>
            </a:r>
            <a:endParaRPr sz="2400" dirty="0">
              <a:latin typeface="PMingLiU"/>
              <a:cs typeface="PMingLiU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44974" y="3726179"/>
            <a:ext cx="2702560" cy="2654935"/>
          </a:xfrm>
          <a:custGeom>
            <a:avLst/>
            <a:gdLst/>
            <a:ahLst/>
            <a:cxnLst/>
            <a:rect l="l" t="t" r="r" b="b"/>
            <a:pathLst>
              <a:path w="2702559" h="2654935">
                <a:moveTo>
                  <a:pt x="1362456" y="1406652"/>
                </a:moveTo>
                <a:lnTo>
                  <a:pt x="1133856" y="1406652"/>
                </a:lnTo>
                <a:lnTo>
                  <a:pt x="228600" y="1406652"/>
                </a:lnTo>
                <a:lnTo>
                  <a:pt x="228600" y="0"/>
                </a:lnTo>
                <a:lnTo>
                  <a:pt x="0" y="0"/>
                </a:lnTo>
                <a:lnTo>
                  <a:pt x="0" y="1635252"/>
                </a:lnTo>
                <a:lnTo>
                  <a:pt x="114300" y="1635252"/>
                </a:lnTo>
                <a:lnTo>
                  <a:pt x="228600" y="1635252"/>
                </a:lnTo>
                <a:lnTo>
                  <a:pt x="1133856" y="1635252"/>
                </a:lnTo>
                <a:lnTo>
                  <a:pt x="1133856" y="2654808"/>
                </a:lnTo>
                <a:lnTo>
                  <a:pt x="1362456" y="2654808"/>
                </a:lnTo>
                <a:lnTo>
                  <a:pt x="1362456" y="1635252"/>
                </a:lnTo>
                <a:lnTo>
                  <a:pt x="1362456" y="1406652"/>
                </a:lnTo>
                <a:close/>
              </a:path>
              <a:path w="2702559" h="2654935">
                <a:moveTo>
                  <a:pt x="2702052" y="1019556"/>
                </a:moveTo>
                <a:lnTo>
                  <a:pt x="2655570" y="1019556"/>
                </a:lnTo>
                <a:lnTo>
                  <a:pt x="2520696" y="1019556"/>
                </a:lnTo>
                <a:lnTo>
                  <a:pt x="1796796" y="1019556"/>
                </a:lnTo>
                <a:lnTo>
                  <a:pt x="662178" y="1019556"/>
                </a:lnTo>
                <a:lnTo>
                  <a:pt x="662178" y="0"/>
                </a:lnTo>
                <a:lnTo>
                  <a:pt x="433578" y="0"/>
                </a:lnTo>
                <a:lnTo>
                  <a:pt x="433578" y="1248156"/>
                </a:lnTo>
                <a:lnTo>
                  <a:pt x="547878" y="1248156"/>
                </a:lnTo>
                <a:lnTo>
                  <a:pt x="662178" y="1248156"/>
                </a:lnTo>
                <a:lnTo>
                  <a:pt x="1796796" y="1248156"/>
                </a:lnTo>
                <a:lnTo>
                  <a:pt x="2520696" y="1248156"/>
                </a:lnTo>
                <a:lnTo>
                  <a:pt x="2520696" y="1406652"/>
                </a:lnTo>
                <a:lnTo>
                  <a:pt x="1781556" y="1406652"/>
                </a:lnTo>
                <a:lnTo>
                  <a:pt x="1623822" y="1406652"/>
                </a:lnTo>
                <a:lnTo>
                  <a:pt x="1552956" y="1406652"/>
                </a:lnTo>
                <a:lnTo>
                  <a:pt x="1552956" y="2654808"/>
                </a:lnTo>
                <a:lnTo>
                  <a:pt x="1781556" y="2654808"/>
                </a:lnTo>
                <a:lnTo>
                  <a:pt x="1781556" y="1635252"/>
                </a:lnTo>
                <a:lnTo>
                  <a:pt x="2520696" y="1635252"/>
                </a:lnTo>
                <a:lnTo>
                  <a:pt x="2655570" y="1635252"/>
                </a:lnTo>
                <a:lnTo>
                  <a:pt x="2702052" y="1635252"/>
                </a:lnTo>
                <a:lnTo>
                  <a:pt x="2702052" y="1019556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195741" y="3231186"/>
            <a:ext cx="1327150" cy="1535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>
                <a:latin typeface="PMingLiU"/>
                <a:cs typeface="PMingLiU"/>
              </a:rPr>
              <a:t>入口</a:t>
            </a:r>
            <a:endParaRPr sz="2400">
              <a:latin typeface="PMingLiU"/>
              <a:cs typeface="PMingLiU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3650">
              <a:latin typeface="PMingLiU"/>
              <a:cs typeface="PMingLiU"/>
            </a:endParaRPr>
          </a:p>
          <a:p>
            <a:pPr marR="5080" algn="r">
              <a:lnSpc>
                <a:spcPct val="100000"/>
              </a:lnSpc>
            </a:pPr>
            <a:r>
              <a:rPr sz="3200" b="1" spc="-5">
                <a:solidFill>
                  <a:srgbClr val="FF0000"/>
                </a:solidFill>
                <a:latin typeface="Microsoft JhengHei"/>
                <a:cs typeface="Microsoft JhengHei"/>
              </a:rPr>
              <a:t>？</a:t>
            </a:r>
            <a:endParaRPr sz="3200">
              <a:latin typeface="Microsoft JhengHei"/>
              <a:cs typeface="Microsoft JhengHe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59273" y="3310890"/>
            <a:ext cx="319405" cy="231775"/>
          </a:xfrm>
          <a:custGeom>
            <a:avLst/>
            <a:gdLst/>
            <a:ahLst/>
            <a:cxnLst/>
            <a:rect l="l" t="t" r="r" b="b"/>
            <a:pathLst>
              <a:path w="319404" h="231775">
                <a:moveTo>
                  <a:pt x="239458" y="0"/>
                </a:moveTo>
                <a:lnTo>
                  <a:pt x="79819" y="0"/>
                </a:lnTo>
                <a:lnTo>
                  <a:pt x="79819" y="115824"/>
                </a:lnTo>
                <a:lnTo>
                  <a:pt x="0" y="115824"/>
                </a:lnTo>
                <a:lnTo>
                  <a:pt x="159639" y="231648"/>
                </a:lnTo>
                <a:lnTo>
                  <a:pt x="319278" y="115824"/>
                </a:lnTo>
                <a:lnTo>
                  <a:pt x="239458" y="115824"/>
                </a:lnTo>
                <a:lnTo>
                  <a:pt x="239458" y="0"/>
                </a:lnTo>
                <a:close/>
              </a:path>
            </a:pathLst>
          </a:custGeom>
          <a:solidFill>
            <a:srgbClr val="FF9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34278" y="6500621"/>
            <a:ext cx="319405" cy="231775"/>
          </a:xfrm>
          <a:custGeom>
            <a:avLst/>
            <a:gdLst/>
            <a:ahLst/>
            <a:cxnLst/>
            <a:rect l="l" t="t" r="r" b="b"/>
            <a:pathLst>
              <a:path w="319404" h="231775">
                <a:moveTo>
                  <a:pt x="239458" y="0"/>
                </a:moveTo>
                <a:lnTo>
                  <a:pt x="79819" y="0"/>
                </a:lnTo>
                <a:lnTo>
                  <a:pt x="79819" y="115823"/>
                </a:lnTo>
                <a:lnTo>
                  <a:pt x="0" y="115823"/>
                </a:lnTo>
                <a:lnTo>
                  <a:pt x="159639" y="231647"/>
                </a:lnTo>
                <a:lnTo>
                  <a:pt x="319278" y="115823"/>
                </a:lnTo>
                <a:lnTo>
                  <a:pt x="239458" y="115823"/>
                </a:lnTo>
                <a:lnTo>
                  <a:pt x="239458" y="0"/>
                </a:lnTo>
                <a:close/>
              </a:path>
            </a:pathLst>
          </a:custGeom>
          <a:solidFill>
            <a:srgbClr val="FF9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5046853" y="3683634"/>
            <a:ext cx="1200785" cy="1434465"/>
            <a:chOff x="5046853" y="3683634"/>
            <a:chExt cx="1200785" cy="1434465"/>
          </a:xfrm>
        </p:grpSpPr>
        <p:sp>
          <p:nvSpPr>
            <p:cNvPr id="9" name="object 9"/>
            <p:cNvSpPr/>
            <p:nvPr/>
          </p:nvSpPr>
          <p:spPr>
            <a:xfrm>
              <a:off x="5072253" y="3709034"/>
              <a:ext cx="1048385" cy="1332230"/>
            </a:xfrm>
            <a:custGeom>
              <a:avLst/>
              <a:gdLst/>
              <a:ahLst/>
              <a:cxnLst/>
              <a:rect l="l" t="t" r="r" b="b"/>
              <a:pathLst>
                <a:path w="1048385" h="1332229">
                  <a:moveTo>
                    <a:pt x="0" y="0"/>
                  </a:moveTo>
                  <a:lnTo>
                    <a:pt x="0" y="1332026"/>
                  </a:lnTo>
                  <a:lnTo>
                    <a:pt x="1048308" y="1332026"/>
                  </a:lnTo>
                </a:path>
              </a:pathLst>
            </a:custGeom>
            <a:ln w="508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92540" y="4965781"/>
              <a:ext cx="154940" cy="152400"/>
            </a:xfrm>
            <a:custGeom>
              <a:avLst/>
              <a:gdLst/>
              <a:ahLst/>
              <a:cxnLst/>
              <a:rect l="l" t="t" r="r" b="b"/>
              <a:pathLst>
                <a:path w="154939" h="152400">
                  <a:moveTo>
                    <a:pt x="0" y="0"/>
                  </a:moveTo>
                  <a:lnTo>
                    <a:pt x="5270" y="152311"/>
                  </a:lnTo>
                  <a:lnTo>
                    <a:pt x="154940" y="708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432619" y="6408564"/>
            <a:ext cx="635000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5"/>
              </a:lnSpc>
            </a:pPr>
            <a:r>
              <a:rPr sz="2400" spc="-25">
                <a:latin typeface="PMingLiU"/>
                <a:cs typeface="PMingLiU"/>
              </a:rPr>
              <a:t>出口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14" name="object 3">
            <a:extLst>
              <a:ext uri="{FF2B5EF4-FFF2-40B4-BE49-F238E27FC236}">
                <a16:creationId xmlns:a16="http://schemas.microsoft.com/office/drawing/2014/main" id="{9264E4E8-817B-1748-899E-44081D418C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6464" y="210162"/>
            <a:ext cx="221751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算法思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想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8923" y="1074103"/>
            <a:ext cx="4070350" cy="143002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PMingLiU"/>
                <a:cs typeface="PMingLiU"/>
              </a:rPr>
              <a:t>算法步骤</a:t>
            </a:r>
            <a:endParaRPr sz="2800" dirty="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 err="1">
                <a:latin typeface="PMingLiU"/>
                <a:cs typeface="PMingLiU"/>
              </a:rPr>
              <a:t>分叉时，任选一条边深入</a:t>
            </a:r>
            <a:endParaRPr sz="2400" dirty="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 err="1">
                <a:latin typeface="PMingLiU"/>
                <a:cs typeface="PMingLiU"/>
              </a:rPr>
              <a:t>无边时，后退一步找新边</a:t>
            </a:r>
            <a:endParaRPr sz="2400" dirty="0">
              <a:latin typeface="PMingLiU"/>
              <a:cs typeface="PMingLiU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744973" y="3683634"/>
            <a:ext cx="3157220" cy="2697480"/>
            <a:chOff x="4744973" y="3683634"/>
            <a:chExt cx="3157220" cy="2697480"/>
          </a:xfrm>
        </p:grpSpPr>
        <p:sp>
          <p:nvSpPr>
            <p:cNvPr id="5" name="object 5"/>
            <p:cNvSpPr/>
            <p:nvPr/>
          </p:nvSpPr>
          <p:spPr>
            <a:xfrm>
              <a:off x="4744974" y="3726179"/>
              <a:ext cx="2702560" cy="2654935"/>
            </a:xfrm>
            <a:custGeom>
              <a:avLst/>
              <a:gdLst/>
              <a:ahLst/>
              <a:cxnLst/>
              <a:rect l="l" t="t" r="r" b="b"/>
              <a:pathLst>
                <a:path w="2702559" h="2654935">
                  <a:moveTo>
                    <a:pt x="1362456" y="1406652"/>
                  </a:moveTo>
                  <a:lnTo>
                    <a:pt x="1133856" y="1406652"/>
                  </a:lnTo>
                  <a:lnTo>
                    <a:pt x="228600" y="1406652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1635252"/>
                  </a:lnTo>
                  <a:lnTo>
                    <a:pt x="114300" y="1635252"/>
                  </a:lnTo>
                  <a:lnTo>
                    <a:pt x="228600" y="1635252"/>
                  </a:lnTo>
                  <a:lnTo>
                    <a:pt x="1133856" y="1635252"/>
                  </a:lnTo>
                  <a:lnTo>
                    <a:pt x="1133856" y="2654808"/>
                  </a:lnTo>
                  <a:lnTo>
                    <a:pt x="1362456" y="2654808"/>
                  </a:lnTo>
                  <a:lnTo>
                    <a:pt x="1362456" y="1635252"/>
                  </a:lnTo>
                  <a:lnTo>
                    <a:pt x="1362456" y="1406652"/>
                  </a:lnTo>
                  <a:close/>
                </a:path>
                <a:path w="2702559" h="2654935">
                  <a:moveTo>
                    <a:pt x="2702052" y="1019556"/>
                  </a:moveTo>
                  <a:lnTo>
                    <a:pt x="2655570" y="1019556"/>
                  </a:lnTo>
                  <a:lnTo>
                    <a:pt x="2520696" y="1019556"/>
                  </a:lnTo>
                  <a:lnTo>
                    <a:pt x="1796796" y="1019556"/>
                  </a:lnTo>
                  <a:lnTo>
                    <a:pt x="662178" y="1019556"/>
                  </a:lnTo>
                  <a:lnTo>
                    <a:pt x="662178" y="0"/>
                  </a:lnTo>
                  <a:lnTo>
                    <a:pt x="433578" y="0"/>
                  </a:lnTo>
                  <a:lnTo>
                    <a:pt x="433578" y="1248156"/>
                  </a:lnTo>
                  <a:lnTo>
                    <a:pt x="547878" y="1248156"/>
                  </a:lnTo>
                  <a:lnTo>
                    <a:pt x="662178" y="1248156"/>
                  </a:lnTo>
                  <a:lnTo>
                    <a:pt x="1796796" y="1248156"/>
                  </a:lnTo>
                  <a:lnTo>
                    <a:pt x="2520696" y="1248156"/>
                  </a:lnTo>
                  <a:lnTo>
                    <a:pt x="2520696" y="1406652"/>
                  </a:lnTo>
                  <a:lnTo>
                    <a:pt x="1781556" y="1406652"/>
                  </a:lnTo>
                  <a:lnTo>
                    <a:pt x="1623822" y="1406652"/>
                  </a:lnTo>
                  <a:lnTo>
                    <a:pt x="1552956" y="1406652"/>
                  </a:lnTo>
                  <a:lnTo>
                    <a:pt x="1552956" y="2654808"/>
                  </a:lnTo>
                  <a:lnTo>
                    <a:pt x="1781556" y="2654808"/>
                  </a:lnTo>
                  <a:lnTo>
                    <a:pt x="1781556" y="1635252"/>
                  </a:lnTo>
                  <a:lnTo>
                    <a:pt x="2520696" y="1635252"/>
                  </a:lnTo>
                  <a:lnTo>
                    <a:pt x="2655570" y="1635252"/>
                  </a:lnTo>
                  <a:lnTo>
                    <a:pt x="2702052" y="1635252"/>
                  </a:lnTo>
                  <a:lnTo>
                    <a:pt x="2702052" y="1019556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72252" y="3709034"/>
              <a:ext cx="1048385" cy="1332230"/>
            </a:xfrm>
            <a:custGeom>
              <a:avLst/>
              <a:gdLst/>
              <a:ahLst/>
              <a:cxnLst/>
              <a:rect l="l" t="t" r="r" b="b"/>
              <a:pathLst>
                <a:path w="1048385" h="1332229">
                  <a:moveTo>
                    <a:pt x="0" y="0"/>
                  </a:moveTo>
                  <a:lnTo>
                    <a:pt x="0" y="1332026"/>
                  </a:lnTo>
                  <a:lnTo>
                    <a:pt x="1048308" y="1332026"/>
                  </a:lnTo>
                </a:path>
              </a:pathLst>
            </a:custGeom>
            <a:ln w="508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92540" y="4965781"/>
              <a:ext cx="154940" cy="152400"/>
            </a:xfrm>
            <a:custGeom>
              <a:avLst/>
              <a:gdLst/>
              <a:ahLst/>
              <a:cxnLst/>
              <a:rect l="l" t="t" r="r" b="b"/>
              <a:pathLst>
                <a:path w="154939" h="152400">
                  <a:moveTo>
                    <a:pt x="0" y="0"/>
                  </a:moveTo>
                  <a:lnTo>
                    <a:pt x="5270" y="152311"/>
                  </a:lnTo>
                  <a:lnTo>
                    <a:pt x="154940" y="708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447128" y="4819727"/>
              <a:ext cx="454659" cy="454659"/>
            </a:xfrm>
            <a:custGeom>
              <a:avLst/>
              <a:gdLst/>
              <a:ahLst/>
              <a:cxnLst/>
              <a:rect l="l" t="t" r="r" b="b"/>
              <a:pathLst>
                <a:path w="454659" h="454659">
                  <a:moveTo>
                    <a:pt x="399894" y="454271"/>
                  </a:moveTo>
                  <a:lnTo>
                    <a:pt x="227227" y="281671"/>
                  </a:lnTo>
                  <a:lnTo>
                    <a:pt x="54560" y="454271"/>
                  </a:lnTo>
                  <a:lnTo>
                    <a:pt x="0" y="399732"/>
                  </a:lnTo>
                  <a:lnTo>
                    <a:pt x="172667" y="227132"/>
                  </a:lnTo>
                  <a:lnTo>
                    <a:pt x="0" y="54532"/>
                  </a:lnTo>
                  <a:lnTo>
                    <a:pt x="54560" y="0"/>
                  </a:lnTo>
                  <a:lnTo>
                    <a:pt x="227227" y="172599"/>
                  </a:lnTo>
                  <a:lnTo>
                    <a:pt x="399894" y="0"/>
                  </a:lnTo>
                  <a:lnTo>
                    <a:pt x="454461" y="54532"/>
                  </a:lnTo>
                  <a:lnTo>
                    <a:pt x="281787" y="227132"/>
                  </a:lnTo>
                  <a:lnTo>
                    <a:pt x="454461" y="399732"/>
                  </a:lnTo>
                  <a:lnTo>
                    <a:pt x="399894" y="45427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64757" y="4433315"/>
              <a:ext cx="1130935" cy="560070"/>
            </a:xfrm>
            <a:custGeom>
              <a:avLst/>
              <a:gdLst/>
              <a:ahLst/>
              <a:cxnLst/>
              <a:rect l="l" t="t" r="r" b="b"/>
              <a:pathLst>
                <a:path w="1130934" h="560070">
                  <a:moveTo>
                    <a:pt x="1049085" y="47167"/>
                  </a:moveTo>
                  <a:lnTo>
                    <a:pt x="914298" y="47167"/>
                  </a:lnTo>
                  <a:lnTo>
                    <a:pt x="959315" y="53216"/>
                  </a:lnTo>
                  <a:lnTo>
                    <a:pt x="999767" y="70288"/>
                  </a:lnTo>
                  <a:lnTo>
                    <a:pt x="1034040" y="96767"/>
                  </a:lnTo>
                  <a:lnTo>
                    <a:pt x="1060519" y="131040"/>
                  </a:lnTo>
                  <a:lnTo>
                    <a:pt x="1077591" y="171492"/>
                  </a:lnTo>
                  <a:lnTo>
                    <a:pt x="1083640" y="216509"/>
                  </a:lnTo>
                  <a:lnTo>
                    <a:pt x="1083640" y="560069"/>
                  </a:lnTo>
                  <a:lnTo>
                    <a:pt x="1130808" y="560069"/>
                  </a:lnTo>
                  <a:lnTo>
                    <a:pt x="1130808" y="216509"/>
                  </a:lnTo>
                  <a:lnTo>
                    <a:pt x="1125089" y="166867"/>
                  </a:lnTo>
                  <a:lnTo>
                    <a:pt x="1108800" y="121296"/>
                  </a:lnTo>
                  <a:lnTo>
                    <a:pt x="1083241" y="81095"/>
                  </a:lnTo>
                  <a:lnTo>
                    <a:pt x="1049712" y="47566"/>
                  </a:lnTo>
                  <a:lnTo>
                    <a:pt x="1049085" y="47167"/>
                  </a:lnTo>
                  <a:close/>
                </a:path>
                <a:path w="1130934" h="560070">
                  <a:moveTo>
                    <a:pt x="280035" y="216509"/>
                  </a:moveTo>
                  <a:lnTo>
                    <a:pt x="0" y="216509"/>
                  </a:lnTo>
                  <a:lnTo>
                    <a:pt x="140017" y="464032"/>
                  </a:lnTo>
                  <a:lnTo>
                    <a:pt x="280035" y="216509"/>
                  </a:lnTo>
                  <a:close/>
                </a:path>
                <a:path w="1130934" h="560070">
                  <a:moveTo>
                    <a:pt x="914298" y="0"/>
                  </a:moveTo>
                  <a:lnTo>
                    <a:pt x="332943" y="0"/>
                  </a:lnTo>
                  <a:lnTo>
                    <a:pt x="283296" y="5718"/>
                  </a:lnTo>
                  <a:lnTo>
                    <a:pt x="237724" y="22007"/>
                  </a:lnTo>
                  <a:lnTo>
                    <a:pt x="197524" y="47566"/>
                  </a:lnTo>
                  <a:lnTo>
                    <a:pt x="163995" y="81095"/>
                  </a:lnTo>
                  <a:lnTo>
                    <a:pt x="138438" y="121296"/>
                  </a:lnTo>
                  <a:lnTo>
                    <a:pt x="122151" y="166867"/>
                  </a:lnTo>
                  <a:lnTo>
                    <a:pt x="116433" y="216509"/>
                  </a:lnTo>
                  <a:lnTo>
                    <a:pt x="163601" y="216509"/>
                  </a:lnTo>
                  <a:lnTo>
                    <a:pt x="169650" y="171492"/>
                  </a:lnTo>
                  <a:lnTo>
                    <a:pt x="186721" y="131040"/>
                  </a:lnTo>
                  <a:lnTo>
                    <a:pt x="213201" y="96767"/>
                  </a:lnTo>
                  <a:lnTo>
                    <a:pt x="247474" y="70288"/>
                  </a:lnTo>
                  <a:lnTo>
                    <a:pt x="287926" y="53216"/>
                  </a:lnTo>
                  <a:lnTo>
                    <a:pt x="332943" y="47167"/>
                  </a:lnTo>
                  <a:lnTo>
                    <a:pt x="1049085" y="47167"/>
                  </a:lnTo>
                  <a:lnTo>
                    <a:pt x="1009511" y="22007"/>
                  </a:lnTo>
                  <a:lnTo>
                    <a:pt x="963940" y="5718"/>
                  </a:lnTo>
                  <a:lnTo>
                    <a:pt x="914298" y="0"/>
                  </a:lnTo>
                  <a:close/>
                </a:path>
              </a:pathLst>
            </a:custGeom>
            <a:solidFill>
              <a:srgbClr val="FF9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6067043" y="4939283"/>
              <a:ext cx="207263" cy="20726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274688" y="5033390"/>
              <a:ext cx="770255" cy="0"/>
            </a:xfrm>
            <a:custGeom>
              <a:avLst/>
              <a:gdLst/>
              <a:ahLst/>
              <a:cxnLst/>
              <a:rect l="l" t="t" r="r" b="b"/>
              <a:pathLst>
                <a:path w="770254">
                  <a:moveTo>
                    <a:pt x="0" y="0"/>
                  </a:moveTo>
                  <a:lnTo>
                    <a:pt x="770191" y="0"/>
                  </a:lnTo>
                </a:path>
              </a:pathLst>
            </a:custGeom>
            <a:ln w="508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019472" y="4957197"/>
              <a:ext cx="153035" cy="152400"/>
            </a:xfrm>
            <a:custGeom>
              <a:avLst/>
              <a:gdLst/>
              <a:ahLst/>
              <a:cxnLst/>
              <a:rect l="l" t="t" r="r" b="b"/>
              <a:pathLst>
                <a:path w="153034" h="152400">
                  <a:moveTo>
                    <a:pt x="0" y="0"/>
                  </a:moveTo>
                  <a:lnTo>
                    <a:pt x="12" y="152399"/>
                  </a:lnTo>
                  <a:lnTo>
                    <a:pt x="152412" y="761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195741" y="3231186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>
                <a:latin typeface="PMingLiU"/>
                <a:cs typeface="PMingLiU"/>
              </a:rPr>
              <a:t>入口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859273" y="3310890"/>
            <a:ext cx="319405" cy="231775"/>
          </a:xfrm>
          <a:custGeom>
            <a:avLst/>
            <a:gdLst/>
            <a:ahLst/>
            <a:cxnLst/>
            <a:rect l="l" t="t" r="r" b="b"/>
            <a:pathLst>
              <a:path w="319404" h="231775">
                <a:moveTo>
                  <a:pt x="239458" y="0"/>
                </a:moveTo>
                <a:lnTo>
                  <a:pt x="79819" y="0"/>
                </a:lnTo>
                <a:lnTo>
                  <a:pt x="79819" y="115824"/>
                </a:lnTo>
                <a:lnTo>
                  <a:pt x="0" y="115824"/>
                </a:lnTo>
                <a:lnTo>
                  <a:pt x="159639" y="231648"/>
                </a:lnTo>
                <a:lnTo>
                  <a:pt x="319278" y="115824"/>
                </a:lnTo>
                <a:lnTo>
                  <a:pt x="239458" y="115824"/>
                </a:lnTo>
                <a:lnTo>
                  <a:pt x="239458" y="0"/>
                </a:lnTo>
                <a:close/>
              </a:path>
            </a:pathLst>
          </a:custGeom>
          <a:solidFill>
            <a:srgbClr val="FF9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034278" y="6500621"/>
            <a:ext cx="319405" cy="231775"/>
          </a:xfrm>
          <a:custGeom>
            <a:avLst/>
            <a:gdLst/>
            <a:ahLst/>
            <a:cxnLst/>
            <a:rect l="l" t="t" r="r" b="b"/>
            <a:pathLst>
              <a:path w="319404" h="231775">
                <a:moveTo>
                  <a:pt x="239458" y="0"/>
                </a:moveTo>
                <a:lnTo>
                  <a:pt x="79819" y="0"/>
                </a:lnTo>
                <a:lnTo>
                  <a:pt x="79819" y="115823"/>
                </a:lnTo>
                <a:lnTo>
                  <a:pt x="0" y="115823"/>
                </a:lnTo>
                <a:lnTo>
                  <a:pt x="159639" y="231647"/>
                </a:lnTo>
                <a:lnTo>
                  <a:pt x="319278" y="115823"/>
                </a:lnTo>
                <a:lnTo>
                  <a:pt x="239458" y="115823"/>
                </a:lnTo>
                <a:lnTo>
                  <a:pt x="239458" y="0"/>
                </a:lnTo>
                <a:close/>
              </a:path>
            </a:pathLst>
          </a:custGeom>
          <a:solidFill>
            <a:srgbClr val="FF9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432619" y="6408564"/>
            <a:ext cx="635000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5"/>
              </a:lnSpc>
            </a:pPr>
            <a:r>
              <a:rPr sz="2400" spc="-25">
                <a:latin typeface="PMingLiU"/>
                <a:cs typeface="PMingLiU"/>
              </a:rPr>
              <a:t>出口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19" name="object 3">
            <a:extLst>
              <a:ext uri="{FF2B5EF4-FFF2-40B4-BE49-F238E27FC236}">
                <a16:creationId xmlns:a16="http://schemas.microsoft.com/office/drawing/2014/main" id="{A1C1BE96-CA39-E243-971B-9CA93D6BE3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6464" y="210162"/>
            <a:ext cx="221751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算法思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想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7788" y="1180649"/>
            <a:ext cx="5142865" cy="2246128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PMingLiU"/>
                <a:cs typeface="PMingLiU"/>
              </a:rPr>
              <a:t>算法步骤</a:t>
            </a:r>
            <a:endParaRPr sz="2800" dirty="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 err="1">
                <a:latin typeface="PMingLiU"/>
                <a:cs typeface="PMingLiU"/>
              </a:rPr>
              <a:t>分叉时，任选一条边深入</a:t>
            </a:r>
            <a:endParaRPr sz="2400" dirty="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 err="1">
                <a:latin typeface="PMingLiU"/>
                <a:cs typeface="PMingLiU"/>
              </a:rPr>
              <a:t>无边时，后退一步找新边</a:t>
            </a:r>
            <a:endParaRPr sz="2400" dirty="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 err="1">
                <a:latin typeface="PMingLiU"/>
                <a:cs typeface="PMingLiU"/>
              </a:rPr>
              <a:t>找到边，从新边继续深入</a:t>
            </a:r>
            <a:endParaRPr sz="3950" dirty="0">
              <a:latin typeface="PMingLiU"/>
              <a:cs typeface="PMingLiU"/>
            </a:endParaRPr>
          </a:p>
          <a:p>
            <a:pPr marR="5080" algn="r">
              <a:lnSpc>
                <a:spcPct val="100000"/>
              </a:lnSpc>
            </a:pPr>
            <a:r>
              <a:rPr sz="2400" spc="-25" dirty="0" err="1">
                <a:latin typeface="PMingLiU"/>
                <a:cs typeface="PMingLiU"/>
              </a:rPr>
              <a:t>入口</a:t>
            </a:r>
            <a:endParaRPr sz="2400" dirty="0">
              <a:latin typeface="PMingLiU"/>
              <a:cs typeface="PMingLiU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744973" y="3683634"/>
            <a:ext cx="3157220" cy="2697480"/>
            <a:chOff x="4744973" y="3683634"/>
            <a:chExt cx="3157220" cy="2697480"/>
          </a:xfrm>
        </p:grpSpPr>
        <p:sp>
          <p:nvSpPr>
            <p:cNvPr id="5" name="object 5"/>
            <p:cNvSpPr/>
            <p:nvPr/>
          </p:nvSpPr>
          <p:spPr>
            <a:xfrm>
              <a:off x="4744974" y="3726179"/>
              <a:ext cx="2702560" cy="2654935"/>
            </a:xfrm>
            <a:custGeom>
              <a:avLst/>
              <a:gdLst/>
              <a:ahLst/>
              <a:cxnLst/>
              <a:rect l="l" t="t" r="r" b="b"/>
              <a:pathLst>
                <a:path w="2702559" h="2654935">
                  <a:moveTo>
                    <a:pt x="1362456" y="1406652"/>
                  </a:moveTo>
                  <a:lnTo>
                    <a:pt x="1133856" y="1406652"/>
                  </a:lnTo>
                  <a:lnTo>
                    <a:pt x="228600" y="1406652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1635252"/>
                  </a:lnTo>
                  <a:lnTo>
                    <a:pt x="114300" y="1635252"/>
                  </a:lnTo>
                  <a:lnTo>
                    <a:pt x="228600" y="1635252"/>
                  </a:lnTo>
                  <a:lnTo>
                    <a:pt x="1133856" y="1635252"/>
                  </a:lnTo>
                  <a:lnTo>
                    <a:pt x="1133856" y="2654808"/>
                  </a:lnTo>
                  <a:lnTo>
                    <a:pt x="1362456" y="2654808"/>
                  </a:lnTo>
                  <a:lnTo>
                    <a:pt x="1362456" y="1635252"/>
                  </a:lnTo>
                  <a:lnTo>
                    <a:pt x="1362456" y="1406652"/>
                  </a:lnTo>
                  <a:close/>
                </a:path>
                <a:path w="2702559" h="2654935">
                  <a:moveTo>
                    <a:pt x="2702052" y="1019556"/>
                  </a:moveTo>
                  <a:lnTo>
                    <a:pt x="2655570" y="1019556"/>
                  </a:lnTo>
                  <a:lnTo>
                    <a:pt x="2520696" y="1019556"/>
                  </a:lnTo>
                  <a:lnTo>
                    <a:pt x="1796796" y="1019556"/>
                  </a:lnTo>
                  <a:lnTo>
                    <a:pt x="662178" y="1019556"/>
                  </a:lnTo>
                  <a:lnTo>
                    <a:pt x="662178" y="0"/>
                  </a:lnTo>
                  <a:lnTo>
                    <a:pt x="433578" y="0"/>
                  </a:lnTo>
                  <a:lnTo>
                    <a:pt x="433578" y="1248156"/>
                  </a:lnTo>
                  <a:lnTo>
                    <a:pt x="547878" y="1248156"/>
                  </a:lnTo>
                  <a:lnTo>
                    <a:pt x="662178" y="1248156"/>
                  </a:lnTo>
                  <a:lnTo>
                    <a:pt x="1796796" y="1248156"/>
                  </a:lnTo>
                  <a:lnTo>
                    <a:pt x="2520696" y="1248156"/>
                  </a:lnTo>
                  <a:lnTo>
                    <a:pt x="2520696" y="1406652"/>
                  </a:lnTo>
                  <a:lnTo>
                    <a:pt x="1781556" y="1406652"/>
                  </a:lnTo>
                  <a:lnTo>
                    <a:pt x="1623822" y="1406652"/>
                  </a:lnTo>
                  <a:lnTo>
                    <a:pt x="1552956" y="1406652"/>
                  </a:lnTo>
                  <a:lnTo>
                    <a:pt x="1552956" y="2654808"/>
                  </a:lnTo>
                  <a:lnTo>
                    <a:pt x="1781556" y="2654808"/>
                  </a:lnTo>
                  <a:lnTo>
                    <a:pt x="1781556" y="1635252"/>
                  </a:lnTo>
                  <a:lnTo>
                    <a:pt x="2520696" y="1635252"/>
                  </a:lnTo>
                  <a:lnTo>
                    <a:pt x="2655570" y="1635252"/>
                  </a:lnTo>
                  <a:lnTo>
                    <a:pt x="2702052" y="1635252"/>
                  </a:lnTo>
                  <a:lnTo>
                    <a:pt x="2702052" y="1019556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72252" y="3709034"/>
              <a:ext cx="1048385" cy="1332230"/>
            </a:xfrm>
            <a:custGeom>
              <a:avLst/>
              <a:gdLst/>
              <a:ahLst/>
              <a:cxnLst/>
              <a:rect l="l" t="t" r="r" b="b"/>
              <a:pathLst>
                <a:path w="1048385" h="1332229">
                  <a:moveTo>
                    <a:pt x="0" y="0"/>
                  </a:moveTo>
                  <a:lnTo>
                    <a:pt x="0" y="1332026"/>
                  </a:lnTo>
                  <a:lnTo>
                    <a:pt x="1048308" y="1332026"/>
                  </a:lnTo>
                </a:path>
              </a:pathLst>
            </a:custGeom>
            <a:ln w="508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92540" y="4965781"/>
              <a:ext cx="154940" cy="152400"/>
            </a:xfrm>
            <a:custGeom>
              <a:avLst/>
              <a:gdLst/>
              <a:ahLst/>
              <a:cxnLst/>
              <a:rect l="l" t="t" r="r" b="b"/>
              <a:pathLst>
                <a:path w="154939" h="152400">
                  <a:moveTo>
                    <a:pt x="0" y="0"/>
                  </a:moveTo>
                  <a:lnTo>
                    <a:pt x="5270" y="152311"/>
                  </a:lnTo>
                  <a:lnTo>
                    <a:pt x="154940" y="708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447128" y="4819727"/>
              <a:ext cx="454659" cy="454659"/>
            </a:xfrm>
            <a:custGeom>
              <a:avLst/>
              <a:gdLst/>
              <a:ahLst/>
              <a:cxnLst/>
              <a:rect l="l" t="t" r="r" b="b"/>
              <a:pathLst>
                <a:path w="454659" h="454659">
                  <a:moveTo>
                    <a:pt x="399894" y="454271"/>
                  </a:moveTo>
                  <a:lnTo>
                    <a:pt x="227227" y="281671"/>
                  </a:lnTo>
                  <a:lnTo>
                    <a:pt x="54560" y="454271"/>
                  </a:lnTo>
                  <a:lnTo>
                    <a:pt x="0" y="399732"/>
                  </a:lnTo>
                  <a:lnTo>
                    <a:pt x="172667" y="227132"/>
                  </a:lnTo>
                  <a:lnTo>
                    <a:pt x="0" y="54532"/>
                  </a:lnTo>
                  <a:lnTo>
                    <a:pt x="54560" y="0"/>
                  </a:lnTo>
                  <a:lnTo>
                    <a:pt x="227227" y="172599"/>
                  </a:lnTo>
                  <a:lnTo>
                    <a:pt x="399894" y="0"/>
                  </a:lnTo>
                  <a:lnTo>
                    <a:pt x="454461" y="54532"/>
                  </a:lnTo>
                  <a:lnTo>
                    <a:pt x="281787" y="227132"/>
                  </a:lnTo>
                  <a:lnTo>
                    <a:pt x="454461" y="399732"/>
                  </a:lnTo>
                  <a:lnTo>
                    <a:pt x="399894" y="45427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64757" y="4433315"/>
              <a:ext cx="1130935" cy="560070"/>
            </a:xfrm>
            <a:custGeom>
              <a:avLst/>
              <a:gdLst/>
              <a:ahLst/>
              <a:cxnLst/>
              <a:rect l="l" t="t" r="r" b="b"/>
              <a:pathLst>
                <a:path w="1130934" h="560070">
                  <a:moveTo>
                    <a:pt x="1049085" y="47167"/>
                  </a:moveTo>
                  <a:lnTo>
                    <a:pt x="914298" y="47167"/>
                  </a:lnTo>
                  <a:lnTo>
                    <a:pt x="959315" y="53216"/>
                  </a:lnTo>
                  <a:lnTo>
                    <a:pt x="999767" y="70288"/>
                  </a:lnTo>
                  <a:lnTo>
                    <a:pt x="1034040" y="96767"/>
                  </a:lnTo>
                  <a:lnTo>
                    <a:pt x="1060519" y="131040"/>
                  </a:lnTo>
                  <a:lnTo>
                    <a:pt x="1077591" y="171492"/>
                  </a:lnTo>
                  <a:lnTo>
                    <a:pt x="1083640" y="216509"/>
                  </a:lnTo>
                  <a:lnTo>
                    <a:pt x="1083640" y="560069"/>
                  </a:lnTo>
                  <a:lnTo>
                    <a:pt x="1130808" y="560069"/>
                  </a:lnTo>
                  <a:lnTo>
                    <a:pt x="1130808" y="216509"/>
                  </a:lnTo>
                  <a:lnTo>
                    <a:pt x="1125089" y="166867"/>
                  </a:lnTo>
                  <a:lnTo>
                    <a:pt x="1108800" y="121296"/>
                  </a:lnTo>
                  <a:lnTo>
                    <a:pt x="1083241" y="81095"/>
                  </a:lnTo>
                  <a:lnTo>
                    <a:pt x="1049712" y="47566"/>
                  </a:lnTo>
                  <a:lnTo>
                    <a:pt x="1049085" y="47167"/>
                  </a:lnTo>
                  <a:close/>
                </a:path>
                <a:path w="1130934" h="560070">
                  <a:moveTo>
                    <a:pt x="280035" y="216509"/>
                  </a:moveTo>
                  <a:lnTo>
                    <a:pt x="0" y="216509"/>
                  </a:lnTo>
                  <a:lnTo>
                    <a:pt x="140017" y="464032"/>
                  </a:lnTo>
                  <a:lnTo>
                    <a:pt x="280035" y="216509"/>
                  </a:lnTo>
                  <a:close/>
                </a:path>
                <a:path w="1130934" h="560070">
                  <a:moveTo>
                    <a:pt x="914298" y="0"/>
                  </a:moveTo>
                  <a:lnTo>
                    <a:pt x="332943" y="0"/>
                  </a:lnTo>
                  <a:lnTo>
                    <a:pt x="283296" y="5718"/>
                  </a:lnTo>
                  <a:lnTo>
                    <a:pt x="237724" y="22007"/>
                  </a:lnTo>
                  <a:lnTo>
                    <a:pt x="197524" y="47566"/>
                  </a:lnTo>
                  <a:lnTo>
                    <a:pt x="163995" y="81095"/>
                  </a:lnTo>
                  <a:lnTo>
                    <a:pt x="138438" y="121296"/>
                  </a:lnTo>
                  <a:lnTo>
                    <a:pt x="122151" y="166867"/>
                  </a:lnTo>
                  <a:lnTo>
                    <a:pt x="116433" y="216509"/>
                  </a:lnTo>
                  <a:lnTo>
                    <a:pt x="163601" y="216509"/>
                  </a:lnTo>
                  <a:lnTo>
                    <a:pt x="169650" y="171492"/>
                  </a:lnTo>
                  <a:lnTo>
                    <a:pt x="186721" y="131040"/>
                  </a:lnTo>
                  <a:lnTo>
                    <a:pt x="213201" y="96767"/>
                  </a:lnTo>
                  <a:lnTo>
                    <a:pt x="247474" y="70288"/>
                  </a:lnTo>
                  <a:lnTo>
                    <a:pt x="287926" y="53216"/>
                  </a:lnTo>
                  <a:lnTo>
                    <a:pt x="332943" y="47167"/>
                  </a:lnTo>
                  <a:lnTo>
                    <a:pt x="1049085" y="47167"/>
                  </a:lnTo>
                  <a:lnTo>
                    <a:pt x="1009511" y="22007"/>
                  </a:lnTo>
                  <a:lnTo>
                    <a:pt x="963940" y="5718"/>
                  </a:lnTo>
                  <a:lnTo>
                    <a:pt x="914298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6067043" y="4939283"/>
              <a:ext cx="207263" cy="20726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274688" y="5033390"/>
              <a:ext cx="770255" cy="0"/>
            </a:xfrm>
            <a:custGeom>
              <a:avLst/>
              <a:gdLst/>
              <a:ahLst/>
              <a:cxnLst/>
              <a:rect l="l" t="t" r="r" b="b"/>
              <a:pathLst>
                <a:path w="770254">
                  <a:moveTo>
                    <a:pt x="0" y="0"/>
                  </a:moveTo>
                  <a:lnTo>
                    <a:pt x="770191" y="0"/>
                  </a:lnTo>
                </a:path>
              </a:pathLst>
            </a:custGeom>
            <a:ln w="5080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019472" y="4957197"/>
              <a:ext cx="153035" cy="152400"/>
            </a:xfrm>
            <a:custGeom>
              <a:avLst/>
              <a:gdLst/>
              <a:ahLst/>
              <a:cxnLst/>
              <a:rect l="l" t="t" r="r" b="b"/>
              <a:pathLst>
                <a:path w="153034" h="152400">
                  <a:moveTo>
                    <a:pt x="0" y="0"/>
                  </a:moveTo>
                  <a:lnTo>
                    <a:pt x="12" y="152399"/>
                  </a:lnTo>
                  <a:lnTo>
                    <a:pt x="152412" y="761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 flipH="1">
              <a:off x="6192394" y="5153786"/>
              <a:ext cx="0" cy="1085850"/>
            </a:xfrm>
            <a:custGeom>
              <a:avLst/>
              <a:gdLst/>
              <a:ahLst/>
              <a:cxnLst/>
              <a:rect l="l" t="t" r="r" b="b"/>
              <a:pathLst>
                <a:path h="1085850">
                  <a:moveTo>
                    <a:pt x="0" y="0"/>
                  </a:moveTo>
                  <a:lnTo>
                    <a:pt x="0" y="1085735"/>
                  </a:lnTo>
                </a:path>
              </a:pathLst>
            </a:custGeom>
            <a:ln w="508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16186" y="6214116"/>
              <a:ext cx="152400" cy="153035"/>
            </a:xfrm>
            <a:custGeom>
              <a:avLst/>
              <a:gdLst/>
              <a:ahLst/>
              <a:cxnLst/>
              <a:rect l="l" t="t" r="r" b="b"/>
              <a:pathLst>
                <a:path w="152400" h="153035">
                  <a:moveTo>
                    <a:pt x="152400" y="0"/>
                  </a:moveTo>
                  <a:lnTo>
                    <a:pt x="0" y="12"/>
                  </a:lnTo>
                  <a:lnTo>
                    <a:pt x="76212" y="152412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9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4859273" y="3310890"/>
            <a:ext cx="319405" cy="231775"/>
          </a:xfrm>
          <a:custGeom>
            <a:avLst/>
            <a:gdLst/>
            <a:ahLst/>
            <a:cxnLst/>
            <a:rect l="l" t="t" r="r" b="b"/>
            <a:pathLst>
              <a:path w="319404" h="231775">
                <a:moveTo>
                  <a:pt x="239458" y="0"/>
                </a:moveTo>
                <a:lnTo>
                  <a:pt x="79819" y="0"/>
                </a:lnTo>
                <a:lnTo>
                  <a:pt x="79819" y="115824"/>
                </a:lnTo>
                <a:lnTo>
                  <a:pt x="0" y="115824"/>
                </a:lnTo>
                <a:lnTo>
                  <a:pt x="159639" y="231648"/>
                </a:lnTo>
                <a:lnTo>
                  <a:pt x="319278" y="115824"/>
                </a:lnTo>
                <a:lnTo>
                  <a:pt x="239458" y="115824"/>
                </a:lnTo>
                <a:lnTo>
                  <a:pt x="239458" y="0"/>
                </a:lnTo>
                <a:close/>
              </a:path>
            </a:pathLst>
          </a:custGeom>
          <a:solidFill>
            <a:srgbClr val="FF9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034278" y="6500621"/>
            <a:ext cx="319405" cy="231775"/>
          </a:xfrm>
          <a:custGeom>
            <a:avLst/>
            <a:gdLst/>
            <a:ahLst/>
            <a:cxnLst/>
            <a:rect l="l" t="t" r="r" b="b"/>
            <a:pathLst>
              <a:path w="319404" h="231775">
                <a:moveTo>
                  <a:pt x="239458" y="0"/>
                </a:moveTo>
                <a:lnTo>
                  <a:pt x="79819" y="0"/>
                </a:lnTo>
                <a:lnTo>
                  <a:pt x="79819" y="115823"/>
                </a:lnTo>
                <a:lnTo>
                  <a:pt x="0" y="115823"/>
                </a:lnTo>
                <a:lnTo>
                  <a:pt x="159639" y="231647"/>
                </a:lnTo>
                <a:lnTo>
                  <a:pt x="319278" y="115823"/>
                </a:lnTo>
                <a:lnTo>
                  <a:pt x="239458" y="115823"/>
                </a:lnTo>
                <a:lnTo>
                  <a:pt x="239458" y="0"/>
                </a:lnTo>
                <a:close/>
              </a:path>
            </a:pathLst>
          </a:custGeom>
          <a:solidFill>
            <a:srgbClr val="FF9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432619" y="6408564"/>
            <a:ext cx="635000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5"/>
              </a:lnSpc>
            </a:pPr>
            <a:r>
              <a:rPr sz="2400" spc="-25">
                <a:latin typeface="PMingLiU"/>
                <a:cs typeface="PMingLiU"/>
              </a:rPr>
              <a:t>出口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9B64BE47-FC85-734E-9E63-08870476F6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6464" y="210162"/>
            <a:ext cx="221751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算法思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想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1490" y="1069896"/>
            <a:ext cx="25038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>
                <a:latin typeface="PMingLiU"/>
                <a:cs typeface="PMingLiU"/>
              </a:rPr>
              <a:t>广度优先搜索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99490" y="1069896"/>
            <a:ext cx="25038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>
                <a:latin typeface="PMingLiU"/>
                <a:cs typeface="PMingLiU"/>
              </a:rPr>
              <a:t>深度优先搜索</a:t>
            </a:r>
            <a:endParaRPr sz="2800">
              <a:latin typeface="PMingLiU"/>
              <a:cs typeface="PMingLiU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231135" y="2647188"/>
            <a:ext cx="470534" cy="470534"/>
            <a:chOff x="2231135" y="2647188"/>
            <a:chExt cx="470534" cy="470534"/>
          </a:xfrm>
        </p:grpSpPr>
        <p:sp>
          <p:nvSpPr>
            <p:cNvPr id="6" name="object 6"/>
            <p:cNvSpPr/>
            <p:nvPr/>
          </p:nvSpPr>
          <p:spPr>
            <a:xfrm>
              <a:off x="2250185" y="266623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6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3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6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50185" y="266623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6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6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3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383128" y="2691752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604010" y="3456432"/>
            <a:ext cx="431800" cy="432434"/>
          </a:xfrm>
          <a:custGeom>
            <a:avLst/>
            <a:gdLst/>
            <a:ahLst/>
            <a:cxnLst/>
            <a:rect l="l" t="t" r="r" b="b"/>
            <a:pathLst>
              <a:path w="431800" h="432434">
                <a:moveTo>
                  <a:pt x="0" y="216027"/>
                </a:moveTo>
                <a:lnTo>
                  <a:pt x="5695" y="166495"/>
                </a:lnTo>
                <a:lnTo>
                  <a:pt x="21918" y="121025"/>
                </a:lnTo>
                <a:lnTo>
                  <a:pt x="47374" y="80915"/>
                </a:lnTo>
                <a:lnTo>
                  <a:pt x="80769" y="47460"/>
                </a:lnTo>
                <a:lnTo>
                  <a:pt x="120809" y="21958"/>
                </a:lnTo>
                <a:lnTo>
                  <a:pt x="166199" y="5705"/>
                </a:lnTo>
                <a:lnTo>
                  <a:pt x="215646" y="0"/>
                </a:lnTo>
                <a:lnTo>
                  <a:pt x="265092" y="5705"/>
                </a:lnTo>
                <a:lnTo>
                  <a:pt x="310482" y="21958"/>
                </a:lnTo>
                <a:lnTo>
                  <a:pt x="350522" y="47460"/>
                </a:lnTo>
                <a:lnTo>
                  <a:pt x="383917" y="80915"/>
                </a:lnTo>
                <a:lnTo>
                  <a:pt x="409373" y="121025"/>
                </a:lnTo>
                <a:lnTo>
                  <a:pt x="425596" y="166495"/>
                </a:lnTo>
                <a:lnTo>
                  <a:pt x="431292" y="216027"/>
                </a:lnTo>
                <a:lnTo>
                  <a:pt x="425596" y="265558"/>
                </a:lnTo>
                <a:lnTo>
                  <a:pt x="409373" y="311028"/>
                </a:lnTo>
                <a:lnTo>
                  <a:pt x="383917" y="351138"/>
                </a:lnTo>
                <a:lnTo>
                  <a:pt x="350522" y="384593"/>
                </a:lnTo>
                <a:lnTo>
                  <a:pt x="310482" y="410095"/>
                </a:lnTo>
                <a:lnTo>
                  <a:pt x="265092" y="426348"/>
                </a:lnTo>
                <a:lnTo>
                  <a:pt x="215646" y="432054"/>
                </a:lnTo>
                <a:lnTo>
                  <a:pt x="166199" y="426348"/>
                </a:lnTo>
                <a:lnTo>
                  <a:pt x="120809" y="410095"/>
                </a:lnTo>
                <a:lnTo>
                  <a:pt x="80769" y="384593"/>
                </a:lnTo>
                <a:lnTo>
                  <a:pt x="47374" y="351138"/>
                </a:lnTo>
                <a:lnTo>
                  <a:pt x="21918" y="311028"/>
                </a:lnTo>
                <a:lnTo>
                  <a:pt x="5695" y="265558"/>
                </a:lnTo>
                <a:lnTo>
                  <a:pt x="0" y="216027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736656" y="3482319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latin typeface="Times New Roman"/>
                <a:cs typeface="Times New Roman"/>
              </a:rPr>
              <a:t>2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84325" y="4254246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0" y="216026"/>
                </a:moveTo>
                <a:lnTo>
                  <a:pt x="5705" y="166495"/>
                </a:lnTo>
                <a:lnTo>
                  <a:pt x="21958" y="121025"/>
                </a:lnTo>
                <a:lnTo>
                  <a:pt x="47460" y="80915"/>
                </a:lnTo>
                <a:lnTo>
                  <a:pt x="80915" y="47460"/>
                </a:lnTo>
                <a:lnTo>
                  <a:pt x="121025" y="21958"/>
                </a:lnTo>
                <a:lnTo>
                  <a:pt x="166495" y="5705"/>
                </a:lnTo>
                <a:lnTo>
                  <a:pt x="216027" y="0"/>
                </a:lnTo>
                <a:lnTo>
                  <a:pt x="265558" y="5705"/>
                </a:lnTo>
                <a:lnTo>
                  <a:pt x="311028" y="21958"/>
                </a:lnTo>
                <a:lnTo>
                  <a:pt x="351138" y="47460"/>
                </a:lnTo>
                <a:lnTo>
                  <a:pt x="384593" y="80915"/>
                </a:lnTo>
                <a:lnTo>
                  <a:pt x="410095" y="121025"/>
                </a:lnTo>
                <a:lnTo>
                  <a:pt x="426348" y="166495"/>
                </a:lnTo>
                <a:lnTo>
                  <a:pt x="432054" y="216026"/>
                </a:lnTo>
                <a:lnTo>
                  <a:pt x="426348" y="265558"/>
                </a:lnTo>
                <a:lnTo>
                  <a:pt x="410095" y="311028"/>
                </a:lnTo>
                <a:lnTo>
                  <a:pt x="384593" y="351138"/>
                </a:lnTo>
                <a:lnTo>
                  <a:pt x="351138" y="384593"/>
                </a:lnTo>
                <a:lnTo>
                  <a:pt x="311028" y="410095"/>
                </a:lnTo>
                <a:lnTo>
                  <a:pt x="265558" y="426348"/>
                </a:lnTo>
                <a:lnTo>
                  <a:pt x="216027" y="432053"/>
                </a:lnTo>
                <a:lnTo>
                  <a:pt x="166495" y="426348"/>
                </a:lnTo>
                <a:lnTo>
                  <a:pt x="121025" y="410095"/>
                </a:lnTo>
                <a:lnTo>
                  <a:pt x="80915" y="384593"/>
                </a:lnTo>
                <a:lnTo>
                  <a:pt x="47460" y="351138"/>
                </a:lnTo>
                <a:lnTo>
                  <a:pt x="21958" y="311028"/>
                </a:lnTo>
                <a:lnTo>
                  <a:pt x="5705" y="265558"/>
                </a:lnTo>
                <a:lnTo>
                  <a:pt x="0" y="216026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17185" y="4280202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latin typeface="Times New Roman"/>
                <a:cs typeface="Times New Roman"/>
              </a:rPr>
              <a:t>4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916935" y="3462528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0" y="216027"/>
                </a:moveTo>
                <a:lnTo>
                  <a:pt x="5705" y="166495"/>
                </a:lnTo>
                <a:lnTo>
                  <a:pt x="21958" y="121025"/>
                </a:lnTo>
                <a:lnTo>
                  <a:pt x="47460" y="80915"/>
                </a:lnTo>
                <a:lnTo>
                  <a:pt x="80915" y="47460"/>
                </a:lnTo>
                <a:lnTo>
                  <a:pt x="121025" y="21958"/>
                </a:lnTo>
                <a:lnTo>
                  <a:pt x="166495" y="5705"/>
                </a:lnTo>
                <a:lnTo>
                  <a:pt x="216027" y="0"/>
                </a:lnTo>
                <a:lnTo>
                  <a:pt x="265558" y="5705"/>
                </a:lnTo>
                <a:lnTo>
                  <a:pt x="311028" y="21958"/>
                </a:lnTo>
                <a:lnTo>
                  <a:pt x="351138" y="47460"/>
                </a:lnTo>
                <a:lnTo>
                  <a:pt x="384593" y="80915"/>
                </a:lnTo>
                <a:lnTo>
                  <a:pt x="410095" y="121025"/>
                </a:lnTo>
                <a:lnTo>
                  <a:pt x="426348" y="166495"/>
                </a:lnTo>
                <a:lnTo>
                  <a:pt x="432054" y="216027"/>
                </a:lnTo>
                <a:lnTo>
                  <a:pt x="426348" y="265558"/>
                </a:lnTo>
                <a:lnTo>
                  <a:pt x="410095" y="311028"/>
                </a:lnTo>
                <a:lnTo>
                  <a:pt x="384593" y="351138"/>
                </a:lnTo>
                <a:lnTo>
                  <a:pt x="351138" y="384593"/>
                </a:lnTo>
                <a:lnTo>
                  <a:pt x="311028" y="410095"/>
                </a:lnTo>
                <a:lnTo>
                  <a:pt x="265558" y="426348"/>
                </a:lnTo>
                <a:lnTo>
                  <a:pt x="216027" y="432054"/>
                </a:lnTo>
                <a:lnTo>
                  <a:pt x="166495" y="426348"/>
                </a:lnTo>
                <a:lnTo>
                  <a:pt x="121025" y="410095"/>
                </a:lnTo>
                <a:lnTo>
                  <a:pt x="80915" y="384593"/>
                </a:lnTo>
                <a:lnTo>
                  <a:pt x="47460" y="351138"/>
                </a:lnTo>
                <a:lnTo>
                  <a:pt x="21958" y="311028"/>
                </a:lnTo>
                <a:lnTo>
                  <a:pt x="5705" y="265558"/>
                </a:lnTo>
                <a:lnTo>
                  <a:pt x="0" y="216027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050015" y="3488201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latin typeface="Times New Roman"/>
                <a:cs typeface="Times New Roman"/>
              </a:rPr>
              <a:t>3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061210" y="4254246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0" y="216026"/>
                </a:moveTo>
                <a:lnTo>
                  <a:pt x="5705" y="166495"/>
                </a:lnTo>
                <a:lnTo>
                  <a:pt x="21958" y="121025"/>
                </a:lnTo>
                <a:lnTo>
                  <a:pt x="47460" y="80915"/>
                </a:lnTo>
                <a:lnTo>
                  <a:pt x="80915" y="47460"/>
                </a:lnTo>
                <a:lnTo>
                  <a:pt x="121025" y="21958"/>
                </a:lnTo>
                <a:lnTo>
                  <a:pt x="166495" y="5705"/>
                </a:lnTo>
                <a:lnTo>
                  <a:pt x="216027" y="0"/>
                </a:lnTo>
                <a:lnTo>
                  <a:pt x="265558" y="5705"/>
                </a:lnTo>
                <a:lnTo>
                  <a:pt x="311028" y="21958"/>
                </a:lnTo>
                <a:lnTo>
                  <a:pt x="351138" y="47460"/>
                </a:lnTo>
                <a:lnTo>
                  <a:pt x="384593" y="80915"/>
                </a:lnTo>
                <a:lnTo>
                  <a:pt x="410095" y="121025"/>
                </a:lnTo>
                <a:lnTo>
                  <a:pt x="426348" y="166495"/>
                </a:lnTo>
                <a:lnTo>
                  <a:pt x="432054" y="216026"/>
                </a:lnTo>
                <a:lnTo>
                  <a:pt x="426348" y="265558"/>
                </a:lnTo>
                <a:lnTo>
                  <a:pt x="410095" y="311028"/>
                </a:lnTo>
                <a:lnTo>
                  <a:pt x="384593" y="351138"/>
                </a:lnTo>
                <a:lnTo>
                  <a:pt x="351138" y="384593"/>
                </a:lnTo>
                <a:lnTo>
                  <a:pt x="311028" y="410095"/>
                </a:lnTo>
                <a:lnTo>
                  <a:pt x="265558" y="426348"/>
                </a:lnTo>
                <a:lnTo>
                  <a:pt x="216027" y="432053"/>
                </a:lnTo>
                <a:lnTo>
                  <a:pt x="166495" y="426348"/>
                </a:lnTo>
                <a:lnTo>
                  <a:pt x="121025" y="410095"/>
                </a:lnTo>
                <a:lnTo>
                  <a:pt x="80915" y="384593"/>
                </a:lnTo>
                <a:lnTo>
                  <a:pt x="47460" y="351138"/>
                </a:lnTo>
                <a:lnTo>
                  <a:pt x="21958" y="311028"/>
                </a:lnTo>
                <a:lnTo>
                  <a:pt x="5705" y="265558"/>
                </a:lnTo>
                <a:lnTo>
                  <a:pt x="0" y="216026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194104" y="4280202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latin typeface="Times New Roman"/>
                <a:cs typeface="Times New Roman"/>
              </a:rPr>
              <a:t>5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119999" y="3015995"/>
            <a:ext cx="2696845" cy="1257935"/>
            <a:chOff x="1119999" y="3015995"/>
            <a:chExt cx="2696845" cy="1257935"/>
          </a:xfrm>
        </p:grpSpPr>
        <p:sp>
          <p:nvSpPr>
            <p:cNvPr id="18" name="object 18"/>
            <p:cNvSpPr/>
            <p:nvPr/>
          </p:nvSpPr>
          <p:spPr>
            <a:xfrm>
              <a:off x="1972050" y="3035045"/>
              <a:ext cx="341630" cy="485140"/>
            </a:xfrm>
            <a:custGeom>
              <a:avLst/>
              <a:gdLst/>
              <a:ahLst/>
              <a:cxnLst/>
              <a:rect l="l" t="t" r="r" b="b"/>
              <a:pathLst>
                <a:path w="341630" h="485139">
                  <a:moveTo>
                    <a:pt x="341007" y="0"/>
                  </a:moveTo>
                  <a:lnTo>
                    <a:pt x="0" y="48510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99969" y="3825239"/>
              <a:ext cx="367030" cy="429259"/>
            </a:xfrm>
            <a:custGeom>
              <a:avLst/>
              <a:gdLst/>
              <a:ahLst/>
              <a:cxnLst/>
              <a:rect l="l" t="t" r="r" b="b"/>
              <a:pathLst>
                <a:path w="367030" h="429259">
                  <a:moveTo>
                    <a:pt x="366737" y="0"/>
                  </a:moveTo>
                  <a:lnTo>
                    <a:pt x="0" y="429145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972056" y="3825239"/>
              <a:ext cx="304800" cy="429259"/>
            </a:xfrm>
            <a:custGeom>
              <a:avLst/>
              <a:gdLst/>
              <a:ahLst/>
              <a:cxnLst/>
              <a:rect l="l" t="t" r="r" b="b"/>
              <a:pathLst>
                <a:path w="304800" h="429259">
                  <a:moveTo>
                    <a:pt x="0" y="0"/>
                  </a:moveTo>
                  <a:lnTo>
                    <a:pt x="304711" y="42914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618994" y="3035045"/>
              <a:ext cx="361950" cy="491490"/>
            </a:xfrm>
            <a:custGeom>
              <a:avLst/>
              <a:gdLst/>
              <a:ahLst/>
              <a:cxnLst/>
              <a:rect l="l" t="t" r="r" b="b"/>
              <a:pathLst>
                <a:path w="361950" h="491489">
                  <a:moveTo>
                    <a:pt x="0" y="0"/>
                  </a:moveTo>
                  <a:lnTo>
                    <a:pt x="361416" y="49098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139049" y="3100656"/>
              <a:ext cx="2658745" cy="227329"/>
            </a:xfrm>
            <a:custGeom>
              <a:avLst/>
              <a:gdLst/>
              <a:ahLst/>
              <a:cxnLst/>
              <a:rect l="l" t="t" r="r" b="b"/>
              <a:pathLst>
                <a:path w="2658745" h="227328">
                  <a:moveTo>
                    <a:pt x="2658554" y="40614"/>
                  </a:moveTo>
                  <a:lnTo>
                    <a:pt x="2604285" y="64857"/>
                  </a:lnTo>
                  <a:lnTo>
                    <a:pt x="2541931" y="87611"/>
                  </a:lnTo>
                  <a:lnTo>
                    <a:pt x="2472053" y="108828"/>
                  </a:lnTo>
                  <a:lnTo>
                    <a:pt x="2434467" y="118845"/>
                  </a:lnTo>
                  <a:lnTo>
                    <a:pt x="2395212" y="128459"/>
                  </a:lnTo>
                  <a:lnTo>
                    <a:pt x="2354356" y="137666"/>
                  </a:lnTo>
                  <a:lnTo>
                    <a:pt x="2311970" y="146458"/>
                  </a:lnTo>
                  <a:lnTo>
                    <a:pt x="2268124" y="154831"/>
                  </a:lnTo>
                  <a:lnTo>
                    <a:pt x="2222888" y="162777"/>
                  </a:lnTo>
                  <a:lnTo>
                    <a:pt x="2176332" y="170290"/>
                  </a:lnTo>
                  <a:lnTo>
                    <a:pt x="2128527" y="177366"/>
                  </a:lnTo>
                  <a:lnTo>
                    <a:pt x="2079542" y="183998"/>
                  </a:lnTo>
                  <a:lnTo>
                    <a:pt x="2029448" y="190179"/>
                  </a:lnTo>
                  <a:lnTo>
                    <a:pt x="1978315" y="195905"/>
                  </a:lnTo>
                  <a:lnTo>
                    <a:pt x="1926213" y="201168"/>
                  </a:lnTo>
                  <a:lnTo>
                    <a:pt x="1873213" y="205963"/>
                  </a:lnTo>
                  <a:lnTo>
                    <a:pt x="1819384" y="210285"/>
                  </a:lnTo>
                  <a:lnTo>
                    <a:pt x="1764796" y="214126"/>
                  </a:lnTo>
                  <a:lnTo>
                    <a:pt x="1709521" y="217481"/>
                  </a:lnTo>
                  <a:lnTo>
                    <a:pt x="1653627" y="220344"/>
                  </a:lnTo>
                  <a:lnTo>
                    <a:pt x="1597185" y="222709"/>
                  </a:lnTo>
                  <a:lnTo>
                    <a:pt x="1540266" y="224570"/>
                  </a:lnTo>
                  <a:lnTo>
                    <a:pt x="1482939" y="225921"/>
                  </a:lnTo>
                  <a:lnTo>
                    <a:pt x="1425274" y="226756"/>
                  </a:lnTo>
                  <a:lnTo>
                    <a:pt x="1367342" y="227069"/>
                  </a:lnTo>
                  <a:lnTo>
                    <a:pt x="1309213" y="226855"/>
                  </a:lnTo>
                  <a:lnTo>
                    <a:pt x="1250957" y="226106"/>
                  </a:lnTo>
                  <a:lnTo>
                    <a:pt x="1192645" y="224817"/>
                  </a:lnTo>
                  <a:lnTo>
                    <a:pt x="1134345" y="222983"/>
                  </a:lnTo>
                  <a:lnTo>
                    <a:pt x="1076129" y="220597"/>
                  </a:lnTo>
                  <a:lnTo>
                    <a:pt x="1018067" y="217652"/>
                  </a:lnTo>
                  <a:lnTo>
                    <a:pt x="960229" y="214144"/>
                  </a:lnTo>
                  <a:lnTo>
                    <a:pt x="902684" y="210066"/>
                  </a:lnTo>
                  <a:lnTo>
                    <a:pt x="845504" y="205413"/>
                  </a:lnTo>
                  <a:lnTo>
                    <a:pt x="788758" y="200177"/>
                  </a:lnTo>
                  <a:lnTo>
                    <a:pt x="717856" y="192715"/>
                  </a:lnTo>
                  <a:lnTo>
                    <a:pt x="649302" y="184444"/>
                  </a:lnTo>
                  <a:lnTo>
                    <a:pt x="583209" y="175394"/>
                  </a:lnTo>
                  <a:lnTo>
                    <a:pt x="519691" y="165593"/>
                  </a:lnTo>
                  <a:lnTo>
                    <a:pt x="458864" y="155072"/>
                  </a:lnTo>
                  <a:lnTo>
                    <a:pt x="400841" y="143857"/>
                  </a:lnTo>
                  <a:lnTo>
                    <a:pt x="345737" y="131979"/>
                  </a:lnTo>
                  <a:lnTo>
                    <a:pt x="293666" y="119467"/>
                  </a:lnTo>
                  <a:lnTo>
                    <a:pt x="244743" y="106349"/>
                  </a:lnTo>
                  <a:lnTo>
                    <a:pt x="199080" y="92654"/>
                  </a:lnTo>
                  <a:lnTo>
                    <a:pt x="156794" y="78412"/>
                  </a:lnTo>
                  <a:lnTo>
                    <a:pt x="117998" y="63651"/>
                  </a:lnTo>
                  <a:lnTo>
                    <a:pt x="82806" y="48400"/>
                  </a:lnTo>
                  <a:lnTo>
                    <a:pt x="23692" y="16546"/>
                  </a:lnTo>
                  <a:lnTo>
                    <a:pt x="0" y="0"/>
                  </a:lnTo>
                </a:path>
              </a:pathLst>
            </a:custGeom>
            <a:ln w="38099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3">
            <a:extLst>
              <a:ext uri="{FF2B5EF4-FFF2-40B4-BE49-F238E27FC236}">
                <a16:creationId xmlns:a16="http://schemas.microsoft.com/office/drawing/2014/main" id="{78912AF7-2BA1-F541-9FB8-D0CE0CF4FD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6464" y="210162"/>
            <a:ext cx="221751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算法思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想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1084202"/>
            <a:ext cx="25038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>
                <a:latin typeface="PMingLiU"/>
                <a:cs typeface="PMingLiU"/>
              </a:rPr>
              <a:t>广度优先搜索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52540" y="1084202"/>
            <a:ext cx="25038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>
                <a:latin typeface="PMingLiU"/>
                <a:cs typeface="PMingLiU"/>
              </a:rPr>
              <a:t>深度优先搜索</a:t>
            </a:r>
            <a:endParaRPr sz="2800">
              <a:latin typeface="PMingLiU"/>
              <a:cs typeface="PMingLiU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231135" y="2647188"/>
            <a:ext cx="470534" cy="470534"/>
            <a:chOff x="2231135" y="2647188"/>
            <a:chExt cx="470534" cy="470534"/>
          </a:xfrm>
        </p:grpSpPr>
        <p:sp>
          <p:nvSpPr>
            <p:cNvPr id="6" name="object 6"/>
            <p:cNvSpPr/>
            <p:nvPr/>
          </p:nvSpPr>
          <p:spPr>
            <a:xfrm>
              <a:off x="2250185" y="266623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6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3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6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50185" y="266623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6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6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3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383128" y="2691752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584960" y="3437382"/>
            <a:ext cx="469900" cy="470534"/>
            <a:chOff x="1584960" y="3437382"/>
            <a:chExt cx="469900" cy="470534"/>
          </a:xfrm>
        </p:grpSpPr>
        <p:sp>
          <p:nvSpPr>
            <p:cNvPr id="10" name="object 10"/>
            <p:cNvSpPr/>
            <p:nvPr/>
          </p:nvSpPr>
          <p:spPr>
            <a:xfrm>
              <a:off x="1604010" y="3456432"/>
              <a:ext cx="431800" cy="432434"/>
            </a:xfrm>
            <a:custGeom>
              <a:avLst/>
              <a:gdLst/>
              <a:ahLst/>
              <a:cxnLst/>
              <a:rect l="l" t="t" r="r" b="b"/>
              <a:pathLst>
                <a:path w="431800" h="432434">
                  <a:moveTo>
                    <a:pt x="215646" y="0"/>
                  </a:moveTo>
                  <a:lnTo>
                    <a:pt x="166199" y="5705"/>
                  </a:lnTo>
                  <a:lnTo>
                    <a:pt x="120809" y="21958"/>
                  </a:lnTo>
                  <a:lnTo>
                    <a:pt x="80769" y="47460"/>
                  </a:lnTo>
                  <a:lnTo>
                    <a:pt x="47374" y="80915"/>
                  </a:lnTo>
                  <a:lnTo>
                    <a:pt x="21918" y="121025"/>
                  </a:lnTo>
                  <a:lnTo>
                    <a:pt x="5695" y="166495"/>
                  </a:lnTo>
                  <a:lnTo>
                    <a:pt x="0" y="216027"/>
                  </a:lnTo>
                  <a:lnTo>
                    <a:pt x="5695" y="265558"/>
                  </a:lnTo>
                  <a:lnTo>
                    <a:pt x="21918" y="311028"/>
                  </a:lnTo>
                  <a:lnTo>
                    <a:pt x="47374" y="351138"/>
                  </a:lnTo>
                  <a:lnTo>
                    <a:pt x="80769" y="384593"/>
                  </a:lnTo>
                  <a:lnTo>
                    <a:pt x="120809" y="410095"/>
                  </a:lnTo>
                  <a:lnTo>
                    <a:pt x="166199" y="426348"/>
                  </a:lnTo>
                  <a:lnTo>
                    <a:pt x="215646" y="432054"/>
                  </a:lnTo>
                  <a:lnTo>
                    <a:pt x="265092" y="426348"/>
                  </a:lnTo>
                  <a:lnTo>
                    <a:pt x="310482" y="410095"/>
                  </a:lnTo>
                  <a:lnTo>
                    <a:pt x="350522" y="384593"/>
                  </a:lnTo>
                  <a:lnTo>
                    <a:pt x="383917" y="351138"/>
                  </a:lnTo>
                  <a:lnTo>
                    <a:pt x="409373" y="311028"/>
                  </a:lnTo>
                  <a:lnTo>
                    <a:pt x="425596" y="265558"/>
                  </a:lnTo>
                  <a:lnTo>
                    <a:pt x="431292" y="216027"/>
                  </a:lnTo>
                  <a:lnTo>
                    <a:pt x="425596" y="166495"/>
                  </a:lnTo>
                  <a:lnTo>
                    <a:pt x="409373" y="121025"/>
                  </a:lnTo>
                  <a:lnTo>
                    <a:pt x="383917" y="80915"/>
                  </a:lnTo>
                  <a:lnTo>
                    <a:pt x="350522" y="47460"/>
                  </a:lnTo>
                  <a:lnTo>
                    <a:pt x="310482" y="21958"/>
                  </a:lnTo>
                  <a:lnTo>
                    <a:pt x="265092" y="5705"/>
                  </a:lnTo>
                  <a:lnTo>
                    <a:pt x="215646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04010" y="3456432"/>
              <a:ext cx="431800" cy="432434"/>
            </a:xfrm>
            <a:custGeom>
              <a:avLst/>
              <a:gdLst/>
              <a:ahLst/>
              <a:cxnLst/>
              <a:rect l="l" t="t" r="r" b="b"/>
              <a:pathLst>
                <a:path w="431800" h="432434">
                  <a:moveTo>
                    <a:pt x="0" y="216027"/>
                  </a:moveTo>
                  <a:lnTo>
                    <a:pt x="5695" y="166495"/>
                  </a:lnTo>
                  <a:lnTo>
                    <a:pt x="21918" y="121025"/>
                  </a:lnTo>
                  <a:lnTo>
                    <a:pt x="47374" y="80915"/>
                  </a:lnTo>
                  <a:lnTo>
                    <a:pt x="80769" y="47460"/>
                  </a:lnTo>
                  <a:lnTo>
                    <a:pt x="120809" y="21958"/>
                  </a:lnTo>
                  <a:lnTo>
                    <a:pt x="166199" y="5705"/>
                  </a:lnTo>
                  <a:lnTo>
                    <a:pt x="215646" y="0"/>
                  </a:lnTo>
                  <a:lnTo>
                    <a:pt x="265092" y="5705"/>
                  </a:lnTo>
                  <a:lnTo>
                    <a:pt x="310482" y="21958"/>
                  </a:lnTo>
                  <a:lnTo>
                    <a:pt x="350522" y="47460"/>
                  </a:lnTo>
                  <a:lnTo>
                    <a:pt x="383917" y="80915"/>
                  </a:lnTo>
                  <a:lnTo>
                    <a:pt x="409373" y="121025"/>
                  </a:lnTo>
                  <a:lnTo>
                    <a:pt x="425596" y="166495"/>
                  </a:lnTo>
                  <a:lnTo>
                    <a:pt x="431292" y="216027"/>
                  </a:lnTo>
                  <a:lnTo>
                    <a:pt x="425596" y="265558"/>
                  </a:lnTo>
                  <a:lnTo>
                    <a:pt x="409373" y="311028"/>
                  </a:lnTo>
                  <a:lnTo>
                    <a:pt x="383917" y="351138"/>
                  </a:lnTo>
                  <a:lnTo>
                    <a:pt x="350522" y="384593"/>
                  </a:lnTo>
                  <a:lnTo>
                    <a:pt x="310482" y="410095"/>
                  </a:lnTo>
                  <a:lnTo>
                    <a:pt x="265092" y="426348"/>
                  </a:lnTo>
                  <a:lnTo>
                    <a:pt x="215646" y="432054"/>
                  </a:lnTo>
                  <a:lnTo>
                    <a:pt x="166199" y="426348"/>
                  </a:lnTo>
                  <a:lnTo>
                    <a:pt x="120809" y="410095"/>
                  </a:lnTo>
                  <a:lnTo>
                    <a:pt x="80769" y="384593"/>
                  </a:lnTo>
                  <a:lnTo>
                    <a:pt x="47374" y="351138"/>
                  </a:lnTo>
                  <a:lnTo>
                    <a:pt x="21918" y="311028"/>
                  </a:lnTo>
                  <a:lnTo>
                    <a:pt x="5695" y="265558"/>
                  </a:lnTo>
                  <a:lnTo>
                    <a:pt x="0" y="216027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736656" y="3482319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latin typeface="Times New Roman"/>
                <a:cs typeface="Times New Roman"/>
              </a:rPr>
              <a:t>2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84325" y="4254246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0" y="216026"/>
                </a:moveTo>
                <a:lnTo>
                  <a:pt x="5705" y="166495"/>
                </a:lnTo>
                <a:lnTo>
                  <a:pt x="21958" y="121025"/>
                </a:lnTo>
                <a:lnTo>
                  <a:pt x="47460" y="80915"/>
                </a:lnTo>
                <a:lnTo>
                  <a:pt x="80915" y="47460"/>
                </a:lnTo>
                <a:lnTo>
                  <a:pt x="121025" y="21958"/>
                </a:lnTo>
                <a:lnTo>
                  <a:pt x="166495" y="5705"/>
                </a:lnTo>
                <a:lnTo>
                  <a:pt x="216027" y="0"/>
                </a:lnTo>
                <a:lnTo>
                  <a:pt x="265558" y="5705"/>
                </a:lnTo>
                <a:lnTo>
                  <a:pt x="311028" y="21958"/>
                </a:lnTo>
                <a:lnTo>
                  <a:pt x="351138" y="47460"/>
                </a:lnTo>
                <a:lnTo>
                  <a:pt x="384593" y="80915"/>
                </a:lnTo>
                <a:lnTo>
                  <a:pt x="410095" y="121025"/>
                </a:lnTo>
                <a:lnTo>
                  <a:pt x="426348" y="166495"/>
                </a:lnTo>
                <a:lnTo>
                  <a:pt x="432054" y="216026"/>
                </a:lnTo>
                <a:lnTo>
                  <a:pt x="426348" y="265558"/>
                </a:lnTo>
                <a:lnTo>
                  <a:pt x="410095" y="311028"/>
                </a:lnTo>
                <a:lnTo>
                  <a:pt x="384593" y="351138"/>
                </a:lnTo>
                <a:lnTo>
                  <a:pt x="351138" y="384593"/>
                </a:lnTo>
                <a:lnTo>
                  <a:pt x="311028" y="410095"/>
                </a:lnTo>
                <a:lnTo>
                  <a:pt x="265558" y="426348"/>
                </a:lnTo>
                <a:lnTo>
                  <a:pt x="216027" y="432053"/>
                </a:lnTo>
                <a:lnTo>
                  <a:pt x="166495" y="426348"/>
                </a:lnTo>
                <a:lnTo>
                  <a:pt x="121025" y="410095"/>
                </a:lnTo>
                <a:lnTo>
                  <a:pt x="80915" y="384593"/>
                </a:lnTo>
                <a:lnTo>
                  <a:pt x="47460" y="351138"/>
                </a:lnTo>
                <a:lnTo>
                  <a:pt x="21958" y="311028"/>
                </a:lnTo>
                <a:lnTo>
                  <a:pt x="5705" y="265558"/>
                </a:lnTo>
                <a:lnTo>
                  <a:pt x="0" y="216026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217185" y="4280202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latin typeface="Times New Roman"/>
                <a:cs typeface="Times New Roman"/>
              </a:rPr>
              <a:t>4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897885" y="3443478"/>
            <a:ext cx="470534" cy="470534"/>
            <a:chOff x="2897885" y="3443478"/>
            <a:chExt cx="470534" cy="470534"/>
          </a:xfrm>
        </p:grpSpPr>
        <p:sp>
          <p:nvSpPr>
            <p:cNvPr id="16" name="object 16"/>
            <p:cNvSpPr/>
            <p:nvPr/>
          </p:nvSpPr>
          <p:spPr>
            <a:xfrm>
              <a:off x="2916935" y="346252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7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4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7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916935" y="346252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7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7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4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7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050015" y="3488201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latin typeface="Times New Roman"/>
                <a:cs typeface="Times New Roman"/>
              </a:rPr>
              <a:t>3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061210" y="4254246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0" y="216026"/>
                </a:moveTo>
                <a:lnTo>
                  <a:pt x="5705" y="166495"/>
                </a:lnTo>
                <a:lnTo>
                  <a:pt x="21958" y="121025"/>
                </a:lnTo>
                <a:lnTo>
                  <a:pt x="47460" y="80915"/>
                </a:lnTo>
                <a:lnTo>
                  <a:pt x="80915" y="47460"/>
                </a:lnTo>
                <a:lnTo>
                  <a:pt x="121025" y="21958"/>
                </a:lnTo>
                <a:lnTo>
                  <a:pt x="166495" y="5705"/>
                </a:lnTo>
                <a:lnTo>
                  <a:pt x="216027" y="0"/>
                </a:lnTo>
                <a:lnTo>
                  <a:pt x="265558" y="5705"/>
                </a:lnTo>
                <a:lnTo>
                  <a:pt x="311028" y="21958"/>
                </a:lnTo>
                <a:lnTo>
                  <a:pt x="351138" y="47460"/>
                </a:lnTo>
                <a:lnTo>
                  <a:pt x="384593" y="80915"/>
                </a:lnTo>
                <a:lnTo>
                  <a:pt x="410095" y="121025"/>
                </a:lnTo>
                <a:lnTo>
                  <a:pt x="426348" y="166495"/>
                </a:lnTo>
                <a:lnTo>
                  <a:pt x="432054" y="216026"/>
                </a:lnTo>
                <a:lnTo>
                  <a:pt x="426348" y="265558"/>
                </a:lnTo>
                <a:lnTo>
                  <a:pt x="410095" y="311028"/>
                </a:lnTo>
                <a:lnTo>
                  <a:pt x="384593" y="351138"/>
                </a:lnTo>
                <a:lnTo>
                  <a:pt x="351138" y="384593"/>
                </a:lnTo>
                <a:lnTo>
                  <a:pt x="311028" y="410095"/>
                </a:lnTo>
                <a:lnTo>
                  <a:pt x="265558" y="426348"/>
                </a:lnTo>
                <a:lnTo>
                  <a:pt x="216027" y="432053"/>
                </a:lnTo>
                <a:lnTo>
                  <a:pt x="166495" y="426348"/>
                </a:lnTo>
                <a:lnTo>
                  <a:pt x="121025" y="410095"/>
                </a:lnTo>
                <a:lnTo>
                  <a:pt x="80915" y="384593"/>
                </a:lnTo>
                <a:lnTo>
                  <a:pt x="47460" y="351138"/>
                </a:lnTo>
                <a:lnTo>
                  <a:pt x="21958" y="311028"/>
                </a:lnTo>
                <a:lnTo>
                  <a:pt x="5705" y="265558"/>
                </a:lnTo>
                <a:lnTo>
                  <a:pt x="0" y="216026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194104" y="4280202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latin typeface="Times New Roman"/>
                <a:cs typeface="Times New Roman"/>
              </a:rPr>
              <a:t>5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119999" y="3015995"/>
            <a:ext cx="2696845" cy="1257935"/>
            <a:chOff x="1119999" y="3015995"/>
            <a:chExt cx="2696845" cy="1257935"/>
          </a:xfrm>
        </p:grpSpPr>
        <p:sp>
          <p:nvSpPr>
            <p:cNvPr id="22" name="object 22"/>
            <p:cNvSpPr/>
            <p:nvPr/>
          </p:nvSpPr>
          <p:spPr>
            <a:xfrm>
              <a:off x="1972050" y="3035045"/>
              <a:ext cx="341630" cy="485140"/>
            </a:xfrm>
            <a:custGeom>
              <a:avLst/>
              <a:gdLst/>
              <a:ahLst/>
              <a:cxnLst/>
              <a:rect l="l" t="t" r="r" b="b"/>
              <a:pathLst>
                <a:path w="341630" h="485139">
                  <a:moveTo>
                    <a:pt x="341007" y="0"/>
                  </a:moveTo>
                  <a:lnTo>
                    <a:pt x="0" y="48510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299969" y="3825239"/>
              <a:ext cx="367030" cy="429259"/>
            </a:xfrm>
            <a:custGeom>
              <a:avLst/>
              <a:gdLst/>
              <a:ahLst/>
              <a:cxnLst/>
              <a:rect l="l" t="t" r="r" b="b"/>
              <a:pathLst>
                <a:path w="367030" h="429259">
                  <a:moveTo>
                    <a:pt x="366737" y="0"/>
                  </a:moveTo>
                  <a:lnTo>
                    <a:pt x="0" y="429145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972056" y="3825239"/>
              <a:ext cx="304800" cy="429259"/>
            </a:xfrm>
            <a:custGeom>
              <a:avLst/>
              <a:gdLst/>
              <a:ahLst/>
              <a:cxnLst/>
              <a:rect l="l" t="t" r="r" b="b"/>
              <a:pathLst>
                <a:path w="304800" h="429259">
                  <a:moveTo>
                    <a:pt x="0" y="0"/>
                  </a:moveTo>
                  <a:lnTo>
                    <a:pt x="304711" y="42914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618994" y="3035045"/>
              <a:ext cx="361950" cy="491490"/>
            </a:xfrm>
            <a:custGeom>
              <a:avLst/>
              <a:gdLst/>
              <a:ahLst/>
              <a:cxnLst/>
              <a:rect l="l" t="t" r="r" b="b"/>
              <a:pathLst>
                <a:path w="361950" h="491489">
                  <a:moveTo>
                    <a:pt x="0" y="0"/>
                  </a:moveTo>
                  <a:lnTo>
                    <a:pt x="361416" y="49098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139049" y="3828366"/>
              <a:ext cx="2658745" cy="227329"/>
            </a:xfrm>
            <a:custGeom>
              <a:avLst/>
              <a:gdLst/>
              <a:ahLst/>
              <a:cxnLst/>
              <a:rect l="l" t="t" r="r" b="b"/>
              <a:pathLst>
                <a:path w="2658745" h="227328">
                  <a:moveTo>
                    <a:pt x="2658554" y="40614"/>
                  </a:moveTo>
                  <a:lnTo>
                    <a:pt x="2604285" y="64857"/>
                  </a:lnTo>
                  <a:lnTo>
                    <a:pt x="2541931" y="87611"/>
                  </a:lnTo>
                  <a:lnTo>
                    <a:pt x="2472053" y="108828"/>
                  </a:lnTo>
                  <a:lnTo>
                    <a:pt x="2434467" y="118845"/>
                  </a:lnTo>
                  <a:lnTo>
                    <a:pt x="2395212" y="128459"/>
                  </a:lnTo>
                  <a:lnTo>
                    <a:pt x="2354356" y="137666"/>
                  </a:lnTo>
                  <a:lnTo>
                    <a:pt x="2311970" y="146458"/>
                  </a:lnTo>
                  <a:lnTo>
                    <a:pt x="2268124" y="154831"/>
                  </a:lnTo>
                  <a:lnTo>
                    <a:pt x="2222888" y="162777"/>
                  </a:lnTo>
                  <a:lnTo>
                    <a:pt x="2176332" y="170290"/>
                  </a:lnTo>
                  <a:lnTo>
                    <a:pt x="2128527" y="177366"/>
                  </a:lnTo>
                  <a:lnTo>
                    <a:pt x="2079542" y="183998"/>
                  </a:lnTo>
                  <a:lnTo>
                    <a:pt x="2029448" y="190179"/>
                  </a:lnTo>
                  <a:lnTo>
                    <a:pt x="1978315" y="195905"/>
                  </a:lnTo>
                  <a:lnTo>
                    <a:pt x="1926213" y="201168"/>
                  </a:lnTo>
                  <a:lnTo>
                    <a:pt x="1873213" y="205963"/>
                  </a:lnTo>
                  <a:lnTo>
                    <a:pt x="1819384" y="210285"/>
                  </a:lnTo>
                  <a:lnTo>
                    <a:pt x="1764796" y="214126"/>
                  </a:lnTo>
                  <a:lnTo>
                    <a:pt x="1709521" y="217481"/>
                  </a:lnTo>
                  <a:lnTo>
                    <a:pt x="1653627" y="220344"/>
                  </a:lnTo>
                  <a:lnTo>
                    <a:pt x="1597185" y="222709"/>
                  </a:lnTo>
                  <a:lnTo>
                    <a:pt x="1540266" y="224570"/>
                  </a:lnTo>
                  <a:lnTo>
                    <a:pt x="1482939" y="225921"/>
                  </a:lnTo>
                  <a:lnTo>
                    <a:pt x="1425274" y="226756"/>
                  </a:lnTo>
                  <a:lnTo>
                    <a:pt x="1367342" y="227069"/>
                  </a:lnTo>
                  <a:lnTo>
                    <a:pt x="1309213" y="226855"/>
                  </a:lnTo>
                  <a:lnTo>
                    <a:pt x="1250957" y="226106"/>
                  </a:lnTo>
                  <a:lnTo>
                    <a:pt x="1192645" y="224817"/>
                  </a:lnTo>
                  <a:lnTo>
                    <a:pt x="1134345" y="222983"/>
                  </a:lnTo>
                  <a:lnTo>
                    <a:pt x="1076129" y="220597"/>
                  </a:lnTo>
                  <a:lnTo>
                    <a:pt x="1018067" y="217652"/>
                  </a:lnTo>
                  <a:lnTo>
                    <a:pt x="960229" y="214144"/>
                  </a:lnTo>
                  <a:lnTo>
                    <a:pt x="902684" y="210066"/>
                  </a:lnTo>
                  <a:lnTo>
                    <a:pt x="845504" y="205413"/>
                  </a:lnTo>
                  <a:lnTo>
                    <a:pt x="788758" y="200177"/>
                  </a:lnTo>
                  <a:lnTo>
                    <a:pt x="717856" y="192715"/>
                  </a:lnTo>
                  <a:lnTo>
                    <a:pt x="649302" y="184444"/>
                  </a:lnTo>
                  <a:lnTo>
                    <a:pt x="583209" y="175394"/>
                  </a:lnTo>
                  <a:lnTo>
                    <a:pt x="519691" y="165593"/>
                  </a:lnTo>
                  <a:lnTo>
                    <a:pt x="458864" y="155072"/>
                  </a:lnTo>
                  <a:lnTo>
                    <a:pt x="400841" y="143857"/>
                  </a:lnTo>
                  <a:lnTo>
                    <a:pt x="345737" y="131979"/>
                  </a:lnTo>
                  <a:lnTo>
                    <a:pt x="293666" y="119467"/>
                  </a:lnTo>
                  <a:lnTo>
                    <a:pt x="244743" y="106349"/>
                  </a:lnTo>
                  <a:lnTo>
                    <a:pt x="199080" y="92654"/>
                  </a:lnTo>
                  <a:lnTo>
                    <a:pt x="156794" y="78412"/>
                  </a:lnTo>
                  <a:lnTo>
                    <a:pt x="117998" y="63651"/>
                  </a:lnTo>
                  <a:lnTo>
                    <a:pt x="82806" y="48400"/>
                  </a:lnTo>
                  <a:lnTo>
                    <a:pt x="23692" y="16546"/>
                  </a:lnTo>
                  <a:lnTo>
                    <a:pt x="0" y="0"/>
                  </a:lnTo>
                </a:path>
              </a:pathLst>
            </a:custGeom>
            <a:ln w="38099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3">
            <a:extLst>
              <a:ext uri="{FF2B5EF4-FFF2-40B4-BE49-F238E27FC236}">
                <a16:creationId xmlns:a16="http://schemas.microsoft.com/office/drawing/2014/main" id="{CE14A26C-5066-1145-A598-44AC3D4814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6464" y="210162"/>
            <a:ext cx="221751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算法思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想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1084202"/>
            <a:ext cx="25038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>
                <a:latin typeface="PMingLiU"/>
                <a:cs typeface="PMingLiU"/>
              </a:rPr>
              <a:t>广度优先搜索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52540" y="1084202"/>
            <a:ext cx="25038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>
                <a:latin typeface="PMingLiU"/>
                <a:cs typeface="PMingLiU"/>
              </a:rPr>
              <a:t>深度优先搜索</a:t>
            </a:r>
            <a:endParaRPr sz="2800">
              <a:latin typeface="PMingLiU"/>
              <a:cs typeface="PMingLiU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231135" y="2647188"/>
            <a:ext cx="470534" cy="470534"/>
            <a:chOff x="2231135" y="2647188"/>
            <a:chExt cx="470534" cy="470534"/>
          </a:xfrm>
        </p:grpSpPr>
        <p:sp>
          <p:nvSpPr>
            <p:cNvPr id="6" name="object 6"/>
            <p:cNvSpPr/>
            <p:nvPr/>
          </p:nvSpPr>
          <p:spPr>
            <a:xfrm>
              <a:off x="2250185" y="266623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6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3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6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50185" y="266623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6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6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3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383128" y="2691752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584960" y="3437382"/>
            <a:ext cx="469900" cy="470534"/>
            <a:chOff x="1584960" y="3437382"/>
            <a:chExt cx="469900" cy="470534"/>
          </a:xfrm>
        </p:grpSpPr>
        <p:sp>
          <p:nvSpPr>
            <p:cNvPr id="10" name="object 10"/>
            <p:cNvSpPr/>
            <p:nvPr/>
          </p:nvSpPr>
          <p:spPr>
            <a:xfrm>
              <a:off x="1604010" y="3456432"/>
              <a:ext cx="431800" cy="432434"/>
            </a:xfrm>
            <a:custGeom>
              <a:avLst/>
              <a:gdLst/>
              <a:ahLst/>
              <a:cxnLst/>
              <a:rect l="l" t="t" r="r" b="b"/>
              <a:pathLst>
                <a:path w="431800" h="432434">
                  <a:moveTo>
                    <a:pt x="215646" y="0"/>
                  </a:moveTo>
                  <a:lnTo>
                    <a:pt x="166199" y="5705"/>
                  </a:lnTo>
                  <a:lnTo>
                    <a:pt x="120809" y="21958"/>
                  </a:lnTo>
                  <a:lnTo>
                    <a:pt x="80769" y="47460"/>
                  </a:lnTo>
                  <a:lnTo>
                    <a:pt x="47374" y="80915"/>
                  </a:lnTo>
                  <a:lnTo>
                    <a:pt x="21918" y="121025"/>
                  </a:lnTo>
                  <a:lnTo>
                    <a:pt x="5695" y="166495"/>
                  </a:lnTo>
                  <a:lnTo>
                    <a:pt x="0" y="216027"/>
                  </a:lnTo>
                  <a:lnTo>
                    <a:pt x="5695" y="265558"/>
                  </a:lnTo>
                  <a:lnTo>
                    <a:pt x="21918" y="311028"/>
                  </a:lnTo>
                  <a:lnTo>
                    <a:pt x="47374" y="351138"/>
                  </a:lnTo>
                  <a:lnTo>
                    <a:pt x="80769" y="384593"/>
                  </a:lnTo>
                  <a:lnTo>
                    <a:pt x="120809" y="410095"/>
                  </a:lnTo>
                  <a:lnTo>
                    <a:pt x="166199" y="426348"/>
                  </a:lnTo>
                  <a:lnTo>
                    <a:pt x="215646" y="432054"/>
                  </a:lnTo>
                  <a:lnTo>
                    <a:pt x="265092" y="426348"/>
                  </a:lnTo>
                  <a:lnTo>
                    <a:pt x="310482" y="410095"/>
                  </a:lnTo>
                  <a:lnTo>
                    <a:pt x="350522" y="384593"/>
                  </a:lnTo>
                  <a:lnTo>
                    <a:pt x="383917" y="351138"/>
                  </a:lnTo>
                  <a:lnTo>
                    <a:pt x="409373" y="311028"/>
                  </a:lnTo>
                  <a:lnTo>
                    <a:pt x="425596" y="265558"/>
                  </a:lnTo>
                  <a:lnTo>
                    <a:pt x="431292" y="216027"/>
                  </a:lnTo>
                  <a:lnTo>
                    <a:pt x="425596" y="166495"/>
                  </a:lnTo>
                  <a:lnTo>
                    <a:pt x="409373" y="121025"/>
                  </a:lnTo>
                  <a:lnTo>
                    <a:pt x="383917" y="80915"/>
                  </a:lnTo>
                  <a:lnTo>
                    <a:pt x="350522" y="47460"/>
                  </a:lnTo>
                  <a:lnTo>
                    <a:pt x="310482" y="21958"/>
                  </a:lnTo>
                  <a:lnTo>
                    <a:pt x="265092" y="5705"/>
                  </a:lnTo>
                  <a:lnTo>
                    <a:pt x="2156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04010" y="3456432"/>
              <a:ext cx="431800" cy="432434"/>
            </a:xfrm>
            <a:custGeom>
              <a:avLst/>
              <a:gdLst/>
              <a:ahLst/>
              <a:cxnLst/>
              <a:rect l="l" t="t" r="r" b="b"/>
              <a:pathLst>
                <a:path w="431800" h="432434">
                  <a:moveTo>
                    <a:pt x="0" y="216027"/>
                  </a:moveTo>
                  <a:lnTo>
                    <a:pt x="5695" y="166495"/>
                  </a:lnTo>
                  <a:lnTo>
                    <a:pt x="21918" y="121025"/>
                  </a:lnTo>
                  <a:lnTo>
                    <a:pt x="47374" y="80915"/>
                  </a:lnTo>
                  <a:lnTo>
                    <a:pt x="80769" y="47460"/>
                  </a:lnTo>
                  <a:lnTo>
                    <a:pt x="120809" y="21958"/>
                  </a:lnTo>
                  <a:lnTo>
                    <a:pt x="166199" y="5705"/>
                  </a:lnTo>
                  <a:lnTo>
                    <a:pt x="215646" y="0"/>
                  </a:lnTo>
                  <a:lnTo>
                    <a:pt x="265092" y="5705"/>
                  </a:lnTo>
                  <a:lnTo>
                    <a:pt x="310482" y="21958"/>
                  </a:lnTo>
                  <a:lnTo>
                    <a:pt x="350522" y="47460"/>
                  </a:lnTo>
                  <a:lnTo>
                    <a:pt x="383917" y="80915"/>
                  </a:lnTo>
                  <a:lnTo>
                    <a:pt x="409373" y="121025"/>
                  </a:lnTo>
                  <a:lnTo>
                    <a:pt x="425596" y="166495"/>
                  </a:lnTo>
                  <a:lnTo>
                    <a:pt x="431292" y="216027"/>
                  </a:lnTo>
                  <a:lnTo>
                    <a:pt x="425596" y="265558"/>
                  </a:lnTo>
                  <a:lnTo>
                    <a:pt x="409373" y="311028"/>
                  </a:lnTo>
                  <a:lnTo>
                    <a:pt x="383917" y="351138"/>
                  </a:lnTo>
                  <a:lnTo>
                    <a:pt x="350522" y="384593"/>
                  </a:lnTo>
                  <a:lnTo>
                    <a:pt x="310482" y="410095"/>
                  </a:lnTo>
                  <a:lnTo>
                    <a:pt x="265092" y="426348"/>
                  </a:lnTo>
                  <a:lnTo>
                    <a:pt x="215646" y="432054"/>
                  </a:lnTo>
                  <a:lnTo>
                    <a:pt x="166199" y="426348"/>
                  </a:lnTo>
                  <a:lnTo>
                    <a:pt x="120809" y="410095"/>
                  </a:lnTo>
                  <a:lnTo>
                    <a:pt x="80769" y="384593"/>
                  </a:lnTo>
                  <a:lnTo>
                    <a:pt x="47374" y="351138"/>
                  </a:lnTo>
                  <a:lnTo>
                    <a:pt x="21918" y="311028"/>
                  </a:lnTo>
                  <a:lnTo>
                    <a:pt x="5695" y="265558"/>
                  </a:lnTo>
                  <a:lnTo>
                    <a:pt x="0" y="216027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736656" y="3482319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065275" y="4235196"/>
            <a:ext cx="470534" cy="470534"/>
            <a:chOff x="1065275" y="4235196"/>
            <a:chExt cx="470534" cy="470534"/>
          </a:xfrm>
        </p:grpSpPr>
        <p:sp>
          <p:nvSpPr>
            <p:cNvPr id="14" name="object 14"/>
            <p:cNvSpPr/>
            <p:nvPr/>
          </p:nvSpPr>
          <p:spPr>
            <a:xfrm>
              <a:off x="1084325" y="4254246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6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3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6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84325" y="4254246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6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6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3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217185" y="4280202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latin typeface="Times New Roman"/>
                <a:cs typeface="Times New Roman"/>
              </a:rPr>
              <a:t>4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897885" y="3443478"/>
            <a:ext cx="470534" cy="470534"/>
            <a:chOff x="2897885" y="3443478"/>
            <a:chExt cx="470534" cy="470534"/>
          </a:xfrm>
        </p:grpSpPr>
        <p:sp>
          <p:nvSpPr>
            <p:cNvPr id="18" name="object 18"/>
            <p:cNvSpPr/>
            <p:nvPr/>
          </p:nvSpPr>
          <p:spPr>
            <a:xfrm>
              <a:off x="2916935" y="346252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7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4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7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16935" y="346252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7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7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4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7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050015" y="3488201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042160" y="4235196"/>
            <a:ext cx="470534" cy="470534"/>
            <a:chOff x="2042160" y="4235196"/>
            <a:chExt cx="470534" cy="470534"/>
          </a:xfrm>
        </p:grpSpPr>
        <p:sp>
          <p:nvSpPr>
            <p:cNvPr id="22" name="object 22"/>
            <p:cNvSpPr/>
            <p:nvPr/>
          </p:nvSpPr>
          <p:spPr>
            <a:xfrm>
              <a:off x="2061210" y="4254246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6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3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6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061210" y="4254246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6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6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3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194104" y="4280202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latin typeface="Times New Roman"/>
                <a:cs typeface="Times New Roman"/>
              </a:rPr>
              <a:t>5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119999" y="3015995"/>
            <a:ext cx="2696845" cy="1917700"/>
            <a:chOff x="1119999" y="3015995"/>
            <a:chExt cx="2696845" cy="1917700"/>
          </a:xfrm>
        </p:grpSpPr>
        <p:sp>
          <p:nvSpPr>
            <p:cNvPr id="26" name="object 26"/>
            <p:cNvSpPr/>
            <p:nvPr/>
          </p:nvSpPr>
          <p:spPr>
            <a:xfrm>
              <a:off x="1972050" y="3035045"/>
              <a:ext cx="341630" cy="485140"/>
            </a:xfrm>
            <a:custGeom>
              <a:avLst/>
              <a:gdLst/>
              <a:ahLst/>
              <a:cxnLst/>
              <a:rect l="l" t="t" r="r" b="b"/>
              <a:pathLst>
                <a:path w="341630" h="485139">
                  <a:moveTo>
                    <a:pt x="341007" y="0"/>
                  </a:moveTo>
                  <a:lnTo>
                    <a:pt x="0" y="48510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99969" y="3825239"/>
              <a:ext cx="367030" cy="429259"/>
            </a:xfrm>
            <a:custGeom>
              <a:avLst/>
              <a:gdLst/>
              <a:ahLst/>
              <a:cxnLst/>
              <a:rect l="l" t="t" r="r" b="b"/>
              <a:pathLst>
                <a:path w="367030" h="429259">
                  <a:moveTo>
                    <a:pt x="366737" y="0"/>
                  </a:moveTo>
                  <a:lnTo>
                    <a:pt x="0" y="429145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72056" y="3825239"/>
              <a:ext cx="304800" cy="429259"/>
            </a:xfrm>
            <a:custGeom>
              <a:avLst/>
              <a:gdLst/>
              <a:ahLst/>
              <a:cxnLst/>
              <a:rect l="l" t="t" r="r" b="b"/>
              <a:pathLst>
                <a:path w="304800" h="429259">
                  <a:moveTo>
                    <a:pt x="0" y="0"/>
                  </a:moveTo>
                  <a:lnTo>
                    <a:pt x="304711" y="42914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618994" y="3035045"/>
              <a:ext cx="361950" cy="491490"/>
            </a:xfrm>
            <a:custGeom>
              <a:avLst/>
              <a:gdLst/>
              <a:ahLst/>
              <a:cxnLst/>
              <a:rect l="l" t="t" r="r" b="b"/>
              <a:pathLst>
                <a:path w="361950" h="491489">
                  <a:moveTo>
                    <a:pt x="0" y="0"/>
                  </a:moveTo>
                  <a:lnTo>
                    <a:pt x="361416" y="49098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139049" y="4687140"/>
              <a:ext cx="2658745" cy="227329"/>
            </a:xfrm>
            <a:custGeom>
              <a:avLst/>
              <a:gdLst/>
              <a:ahLst/>
              <a:cxnLst/>
              <a:rect l="l" t="t" r="r" b="b"/>
              <a:pathLst>
                <a:path w="2658745" h="227328">
                  <a:moveTo>
                    <a:pt x="2658554" y="40614"/>
                  </a:moveTo>
                  <a:lnTo>
                    <a:pt x="2604285" y="64857"/>
                  </a:lnTo>
                  <a:lnTo>
                    <a:pt x="2541931" y="87611"/>
                  </a:lnTo>
                  <a:lnTo>
                    <a:pt x="2472053" y="108828"/>
                  </a:lnTo>
                  <a:lnTo>
                    <a:pt x="2434467" y="118845"/>
                  </a:lnTo>
                  <a:lnTo>
                    <a:pt x="2395212" y="128459"/>
                  </a:lnTo>
                  <a:lnTo>
                    <a:pt x="2354356" y="137666"/>
                  </a:lnTo>
                  <a:lnTo>
                    <a:pt x="2311970" y="146458"/>
                  </a:lnTo>
                  <a:lnTo>
                    <a:pt x="2268124" y="154831"/>
                  </a:lnTo>
                  <a:lnTo>
                    <a:pt x="2222888" y="162777"/>
                  </a:lnTo>
                  <a:lnTo>
                    <a:pt x="2176332" y="170290"/>
                  </a:lnTo>
                  <a:lnTo>
                    <a:pt x="2128527" y="177366"/>
                  </a:lnTo>
                  <a:lnTo>
                    <a:pt x="2079542" y="183998"/>
                  </a:lnTo>
                  <a:lnTo>
                    <a:pt x="2029448" y="190179"/>
                  </a:lnTo>
                  <a:lnTo>
                    <a:pt x="1978315" y="195905"/>
                  </a:lnTo>
                  <a:lnTo>
                    <a:pt x="1926213" y="201168"/>
                  </a:lnTo>
                  <a:lnTo>
                    <a:pt x="1873213" y="205963"/>
                  </a:lnTo>
                  <a:lnTo>
                    <a:pt x="1819384" y="210285"/>
                  </a:lnTo>
                  <a:lnTo>
                    <a:pt x="1764796" y="214126"/>
                  </a:lnTo>
                  <a:lnTo>
                    <a:pt x="1709521" y="217481"/>
                  </a:lnTo>
                  <a:lnTo>
                    <a:pt x="1653627" y="220344"/>
                  </a:lnTo>
                  <a:lnTo>
                    <a:pt x="1597185" y="222709"/>
                  </a:lnTo>
                  <a:lnTo>
                    <a:pt x="1540266" y="224570"/>
                  </a:lnTo>
                  <a:lnTo>
                    <a:pt x="1482939" y="225921"/>
                  </a:lnTo>
                  <a:lnTo>
                    <a:pt x="1425274" y="226756"/>
                  </a:lnTo>
                  <a:lnTo>
                    <a:pt x="1367342" y="227069"/>
                  </a:lnTo>
                  <a:lnTo>
                    <a:pt x="1309213" y="226855"/>
                  </a:lnTo>
                  <a:lnTo>
                    <a:pt x="1250957" y="226106"/>
                  </a:lnTo>
                  <a:lnTo>
                    <a:pt x="1192645" y="224817"/>
                  </a:lnTo>
                  <a:lnTo>
                    <a:pt x="1134345" y="222983"/>
                  </a:lnTo>
                  <a:lnTo>
                    <a:pt x="1076129" y="220597"/>
                  </a:lnTo>
                  <a:lnTo>
                    <a:pt x="1018067" y="217652"/>
                  </a:lnTo>
                  <a:lnTo>
                    <a:pt x="960229" y="214144"/>
                  </a:lnTo>
                  <a:lnTo>
                    <a:pt x="902684" y="210066"/>
                  </a:lnTo>
                  <a:lnTo>
                    <a:pt x="845504" y="205413"/>
                  </a:lnTo>
                  <a:lnTo>
                    <a:pt x="788758" y="200177"/>
                  </a:lnTo>
                  <a:lnTo>
                    <a:pt x="717856" y="192715"/>
                  </a:lnTo>
                  <a:lnTo>
                    <a:pt x="649302" y="184444"/>
                  </a:lnTo>
                  <a:lnTo>
                    <a:pt x="583209" y="175394"/>
                  </a:lnTo>
                  <a:lnTo>
                    <a:pt x="519691" y="165593"/>
                  </a:lnTo>
                  <a:lnTo>
                    <a:pt x="458864" y="155072"/>
                  </a:lnTo>
                  <a:lnTo>
                    <a:pt x="400841" y="143857"/>
                  </a:lnTo>
                  <a:lnTo>
                    <a:pt x="345737" y="131979"/>
                  </a:lnTo>
                  <a:lnTo>
                    <a:pt x="293666" y="119467"/>
                  </a:lnTo>
                  <a:lnTo>
                    <a:pt x="244743" y="106349"/>
                  </a:lnTo>
                  <a:lnTo>
                    <a:pt x="199080" y="92654"/>
                  </a:lnTo>
                  <a:lnTo>
                    <a:pt x="156794" y="78412"/>
                  </a:lnTo>
                  <a:lnTo>
                    <a:pt x="117998" y="63651"/>
                  </a:lnTo>
                  <a:lnTo>
                    <a:pt x="82806" y="48400"/>
                  </a:lnTo>
                  <a:lnTo>
                    <a:pt x="23692" y="16546"/>
                  </a:lnTo>
                  <a:lnTo>
                    <a:pt x="0" y="0"/>
                  </a:lnTo>
                </a:path>
              </a:pathLst>
            </a:custGeom>
            <a:ln w="38099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">
            <a:extLst>
              <a:ext uri="{FF2B5EF4-FFF2-40B4-BE49-F238E27FC236}">
                <a16:creationId xmlns:a16="http://schemas.microsoft.com/office/drawing/2014/main" id="{C31518FF-C924-534D-9FC2-1B02D41068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6464" y="210162"/>
            <a:ext cx="221751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算法思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想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1185802"/>
            <a:ext cx="25038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>
                <a:latin typeface="PMingLiU"/>
                <a:cs typeface="PMingLiU"/>
              </a:rPr>
              <a:t>广度优先搜索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52540" y="1185802"/>
            <a:ext cx="25038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>
                <a:latin typeface="PMingLiU"/>
                <a:cs typeface="PMingLiU"/>
              </a:rPr>
              <a:t>深度优先搜索</a:t>
            </a:r>
            <a:endParaRPr sz="2800">
              <a:latin typeface="PMingLiU"/>
              <a:cs typeface="PMingLiU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231135" y="2647188"/>
            <a:ext cx="470534" cy="470534"/>
            <a:chOff x="2231135" y="2647188"/>
            <a:chExt cx="470534" cy="470534"/>
          </a:xfrm>
        </p:grpSpPr>
        <p:sp>
          <p:nvSpPr>
            <p:cNvPr id="6" name="object 6"/>
            <p:cNvSpPr/>
            <p:nvPr/>
          </p:nvSpPr>
          <p:spPr>
            <a:xfrm>
              <a:off x="2250185" y="266623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6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3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6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50185" y="266623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6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6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3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383128" y="2691752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584960" y="3437382"/>
            <a:ext cx="469900" cy="470534"/>
            <a:chOff x="1584960" y="3437382"/>
            <a:chExt cx="469900" cy="470534"/>
          </a:xfrm>
        </p:grpSpPr>
        <p:sp>
          <p:nvSpPr>
            <p:cNvPr id="10" name="object 10"/>
            <p:cNvSpPr/>
            <p:nvPr/>
          </p:nvSpPr>
          <p:spPr>
            <a:xfrm>
              <a:off x="1604010" y="3456432"/>
              <a:ext cx="431800" cy="432434"/>
            </a:xfrm>
            <a:custGeom>
              <a:avLst/>
              <a:gdLst/>
              <a:ahLst/>
              <a:cxnLst/>
              <a:rect l="l" t="t" r="r" b="b"/>
              <a:pathLst>
                <a:path w="431800" h="432434">
                  <a:moveTo>
                    <a:pt x="215646" y="0"/>
                  </a:moveTo>
                  <a:lnTo>
                    <a:pt x="166199" y="5705"/>
                  </a:lnTo>
                  <a:lnTo>
                    <a:pt x="120809" y="21958"/>
                  </a:lnTo>
                  <a:lnTo>
                    <a:pt x="80769" y="47460"/>
                  </a:lnTo>
                  <a:lnTo>
                    <a:pt x="47374" y="80915"/>
                  </a:lnTo>
                  <a:lnTo>
                    <a:pt x="21918" y="121025"/>
                  </a:lnTo>
                  <a:lnTo>
                    <a:pt x="5695" y="166495"/>
                  </a:lnTo>
                  <a:lnTo>
                    <a:pt x="0" y="216027"/>
                  </a:lnTo>
                  <a:lnTo>
                    <a:pt x="5695" y="265558"/>
                  </a:lnTo>
                  <a:lnTo>
                    <a:pt x="21918" y="311028"/>
                  </a:lnTo>
                  <a:lnTo>
                    <a:pt x="47374" y="351138"/>
                  </a:lnTo>
                  <a:lnTo>
                    <a:pt x="80769" y="384593"/>
                  </a:lnTo>
                  <a:lnTo>
                    <a:pt x="120809" y="410095"/>
                  </a:lnTo>
                  <a:lnTo>
                    <a:pt x="166199" y="426348"/>
                  </a:lnTo>
                  <a:lnTo>
                    <a:pt x="215646" y="432054"/>
                  </a:lnTo>
                  <a:lnTo>
                    <a:pt x="265092" y="426348"/>
                  </a:lnTo>
                  <a:lnTo>
                    <a:pt x="310482" y="410095"/>
                  </a:lnTo>
                  <a:lnTo>
                    <a:pt x="350522" y="384593"/>
                  </a:lnTo>
                  <a:lnTo>
                    <a:pt x="383917" y="351138"/>
                  </a:lnTo>
                  <a:lnTo>
                    <a:pt x="409373" y="311028"/>
                  </a:lnTo>
                  <a:lnTo>
                    <a:pt x="425596" y="265558"/>
                  </a:lnTo>
                  <a:lnTo>
                    <a:pt x="431292" y="216027"/>
                  </a:lnTo>
                  <a:lnTo>
                    <a:pt x="425596" y="166495"/>
                  </a:lnTo>
                  <a:lnTo>
                    <a:pt x="409373" y="121025"/>
                  </a:lnTo>
                  <a:lnTo>
                    <a:pt x="383917" y="80915"/>
                  </a:lnTo>
                  <a:lnTo>
                    <a:pt x="350522" y="47460"/>
                  </a:lnTo>
                  <a:lnTo>
                    <a:pt x="310482" y="21958"/>
                  </a:lnTo>
                  <a:lnTo>
                    <a:pt x="265092" y="5705"/>
                  </a:lnTo>
                  <a:lnTo>
                    <a:pt x="2156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04010" y="3456432"/>
              <a:ext cx="431800" cy="432434"/>
            </a:xfrm>
            <a:custGeom>
              <a:avLst/>
              <a:gdLst/>
              <a:ahLst/>
              <a:cxnLst/>
              <a:rect l="l" t="t" r="r" b="b"/>
              <a:pathLst>
                <a:path w="431800" h="432434">
                  <a:moveTo>
                    <a:pt x="0" y="216027"/>
                  </a:moveTo>
                  <a:lnTo>
                    <a:pt x="5695" y="166495"/>
                  </a:lnTo>
                  <a:lnTo>
                    <a:pt x="21918" y="121025"/>
                  </a:lnTo>
                  <a:lnTo>
                    <a:pt x="47374" y="80915"/>
                  </a:lnTo>
                  <a:lnTo>
                    <a:pt x="80769" y="47460"/>
                  </a:lnTo>
                  <a:lnTo>
                    <a:pt x="120809" y="21958"/>
                  </a:lnTo>
                  <a:lnTo>
                    <a:pt x="166199" y="5705"/>
                  </a:lnTo>
                  <a:lnTo>
                    <a:pt x="215646" y="0"/>
                  </a:lnTo>
                  <a:lnTo>
                    <a:pt x="265092" y="5705"/>
                  </a:lnTo>
                  <a:lnTo>
                    <a:pt x="310482" y="21958"/>
                  </a:lnTo>
                  <a:lnTo>
                    <a:pt x="350522" y="47460"/>
                  </a:lnTo>
                  <a:lnTo>
                    <a:pt x="383917" y="80915"/>
                  </a:lnTo>
                  <a:lnTo>
                    <a:pt x="409373" y="121025"/>
                  </a:lnTo>
                  <a:lnTo>
                    <a:pt x="425596" y="166495"/>
                  </a:lnTo>
                  <a:lnTo>
                    <a:pt x="431292" y="216027"/>
                  </a:lnTo>
                  <a:lnTo>
                    <a:pt x="425596" y="265558"/>
                  </a:lnTo>
                  <a:lnTo>
                    <a:pt x="409373" y="311028"/>
                  </a:lnTo>
                  <a:lnTo>
                    <a:pt x="383917" y="351138"/>
                  </a:lnTo>
                  <a:lnTo>
                    <a:pt x="350522" y="384593"/>
                  </a:lnTo>
                  <a:lnTo>
                    <a:pt x="310482" y="410095"/>
                  </a:lnTo>
                  <a:lnTo>
                    <a:pt x="265092" y="426348"/>
                  </a:lnTo>
                  <a:lnTo>
                    <a:pt x="215646" y="432054"/>
                  </a:lnTo>
                  <a:lnTo>
                    <a:pt x="166199" y="426348"/>
                  </a:lnTo>
                  <a:lnTo>
                    <a:pt x="120809" y="410095"/>
                  </a:lnTo>
                  <a:lnTo>
                    <a:pt x="80769" y="384593"/>
                  </a:lnTo>
                  <a:lnTo>
                    <a:pt x="47374" y="351138"/>
                  </a:lnTo>
                  <a:lnTo>
                    <a:pt x="21918" y="311028"/>
                  </a:lnTo>
                  <a:lnTo>
                    <a:pt x="5695" y="265558"/>
                  </a:lnTo>
                  <a:lnTo>
                    <a:pt x="0" y="216027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736656" y="3482319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065275" y="4235196"/>
            <a:ext cx="470534" cy="470534"/>
            <a:chOff x="1065275" y="4235196"/>
            <a:chExt cx="470534" cy="470534"/>
          </a:xfrm>
        </p:grpSpPr>
        <p:sp>
          <p:nvSpPr>
            <p:cNvPr id="14" name="object 14"/>
            <p:cNvSpPr/>
            <p:nvPr/>
          </p:nvSpPr>
          <p:spPr>
            <a:xfrm>
              <a:off x="1084325" y="4254246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6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3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6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84325" y="4254246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6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6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3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217185" y="4280202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897885" y="3443478"/>
            <a:ext cx="470534" cy="470534"/>
            <a:chOff x="2897885" y="3443478"/>
            <a:chExt cx="470534" cy="470534"/>
          </a:xfrm>
        </p:grpSpPr>
        <p:sp>
          <p:nvSpPr>
            <p:cNvPr id="18" name="object 18"/>
            <p:cNvSpPr/>
            <p:nvPr/>
          </p:nvSpPr>
          <p:spPr>
            <a:xfrm>
              <a:off x="2916935" y="346252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7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4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7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16935" y="346252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7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7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4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7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050015" y="3488201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042160" y="4235196"/>
            <a:ext cx="470534" cy="470534"/>
            <a:chOff x="2042160" y="4235196"/>
            <a:chExt cx="470534" cy="470534"/>
          </a:xfrm>
        </p:grpSpPr>
        <p:sp>
          <p:nvSpPr>
            <p:cNvPr id="22" name="object 22"/>
            <p:cNvSpPr/>
            <p:nvPr/>
          </p:nvSpPr>
          <p:spPr>
            <a:xfrm>
              <a:off x="2061210" y="4254246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6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3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6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061210" y="4254246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6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6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3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194104" y="4280202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280919" y="3015995"/>
            <a:ext cx="1718945" cy="1257935"/>
            <a:chOff x="1280919" y="3015995"/>
            <a:chExt cx="1718945" cy="1257935"/>
          </a:xfrm>
        </p:grpSpPr>
        <p:sp>
          <p:nvSpPr>
            <p:cNvPr id="26" name="object 26"/>
            <p:cNvSpPr/>
            <p:nvPr/>
          </p:nvSpPr>
          <p:spPr>
            <a:xfrm>
              <a:off x="1972050" y="3035045"/>
              <a:ext cx="341630" cy="485140"/>
            </a:xfrm>
            <a:custGeom>
              <a:avLst/>
              <a:gdLst/>
              <a:ahLst/>
              <a:cxnLst/>
              <a:rect l="l" t="t" r="r" b="b"/>
              <a:pathLst>
                <a:path w="341630" h="485139">
                  <a:moveTo>
                    <a:pt x="341007" y="0"/>
                  </a:moveTo>
                  <a:lnTo>
                    <a:pt x="0" y="48510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99969" y="3825239"/>
              <a:ext cx="367030" cy="429259"/>
            </a:xfrm>
            <a:custGeom>
              <a:avLst/>
              <a:gdLst/>
              <a:ahLst/>
              <a:cxnLst/>
              <a:rect l="l" t="t" r="r" b="b"/>
              <a:pathLst>
                <a:path w="367030" h="429259">
                  <a:moveTo>
                    <a:pt x="366737" y="0"/>
                  </a:moveTo>
                  <a:lnTo>
                    <a:pt x="0" y="429145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72056" y="3825239"/>
              <a:ext cx="304800" cy="429259"/>
            </a:xfrm>
            <a:custGeom>
              <a:avLst/>
              <a:gdLst/>
              <a:ahLst/>
              <a:cxnLst/>
              <a:rect l="l" t="t" r="r" b="b"/>
              <a:pathLst>
                <a:path w="304800" h="429259">
                  <a:moveTo>
                    <a:pt x="0" y="0"/>
                  </a:moveTo>
                  <a:lnTo>
                    <a:pt x="304711" y="42914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618994" y="3035045"/>
              <a:ext cx="361950" cy="491490"/>
            </a:xfrm>
            <a:custGeom>
              <a:avLst/>
              <a:gdLst/>
              <a:ahLst/>
              <a:cxnLst/>
              <a:rect l="l" t="t" r="r" b="b"/>
              <a:pathLst>
                <a:path w="361950" h="491489">
                  <a:moveTo>
                    <a:pt x="0" y="0"/>
                  </a:moveTo>
                  <a:lnTo>
                    <a:pt x="361416" y="49098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">
            <a:extLst>
              <a:ext uri="{FF2B5EF4-FFF2-40B4-BE49-F238E27FC236}">
                <a16:creationId xmlns:a16="http://schemas.microsoft.com/office/drawing/2014/main" id="{751ABC13-583F-934A-A589-B49B130070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6464" y="210162"/>
            <a:ext cx="221751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算法思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想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1135002"/>
            <a:ext cx="25038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>
                <a:latin typeface="PMingLiU"/>
                <a:cs typeface="PMingLiU"/>
              </a:rPr>
              <a:t>广度优先搜索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52540" y="1135002"/>
            <a:ext cx="25038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>
                <a:latin typeface="PMingLiU"/>
                <a:cs typeface="PMingLiU"/>
              </a:rPr>
              <a:t>深度优先搜索</a:t>
            </a:r>
            <a:endParaRPr sz="2800">
              <a:latin typeface="PMingLiU"/>
              <a:cs typeface="PMingLiU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231135" y="2647188"/>
            <a:ext cx="470534" cy="470534"/>
            <a:chOff x="2231135" y="2647188"/>
            <a:chExt cx="470534" cy="470534"/>
          </a:xfrm>
        </p:grpSpPr>
        <p:sp>
          <p:nvSpPr>
            <p:cNvPr id="6" name="object 6"/>
            <p:cNvSpPr/>
            <p:nvPr/>
          </p:nvSpPr>
          <p:spPr>
            <a:xfrm>
              <a:off x="2250185" y="266623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6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3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6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50185" y="266623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6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6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3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383128" y="2691752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584960" y="3437382"/>
            <a:ext cx="469900" cy="470534"/>
            <a:chOff x="1584960" y="3437382"/>
            <a:chExt cx="469900" cy="470534"/>
          </a:xfrm>
        </p:grpSpPr>
        <p:sp>
          <p:nvSpPr>
            <p:cNvPr id="10" name="object 10"/>
            <p:cNvSpPr/>
            <p:nvPr/>
          </p:nvSpPr>
          <p:spPr>
            <a:xfrm>
              <a:off x="1604010" y="3456432"/>
              <a:ext cx="431800" cy="432434"/>
            </a:xfrm>
            <a:custGeom>
              <a:avLst/>
              <a:gdLst/>
              <a:ahLst/>
              <a:cxnLst/>
              <a:rect l="l" t="t" r="r" b="b"/>
              <a:pathLst>
                <a:path w="431800" h="432434">
                  <a:moveTo>
                    <a:pt x="215646" y="0"/>
                  </a:moveTo>
                  <a:lnTo>
                    <a:pt x="166199" y="5705"/>
                  </a:lnTo>
                  <a:lnTo>
                    <a:pt x="120809" y="21958"/>
                  </a:lnTo>
                  <a:lnTo>
                    <a:pt x="80769" y="47460"/>
                  </a:lnTo>
                  <a:lnTo>
                    <a:pt x="47374" y="80915"/>
                  </a:lnTo>
                  <a:lnTo>
                    <a:pt x="21918" y="121025"/>
                  </a:lnTo>
                  <a:lnTo>
                    <a:pt x="5695" y="166495"/>
                  </a:lnTo>
                  <a:lnTo>
                    <a:pt x="0" y="216027"/>
                  </a:lnTo>
                  <a:lnTo>
                    <a:pt x="5695" y="265558"/>
                  </a:lnTo>
                  <a:lnTo>
                    <a:pt x="21918" y="311028"/>
                  </a:lnTo>
                  <a:lnTo>
                    <a:pt x="47374" y="351138"/>
                  </a:lnTo>
                  <a:lnTo>
                    <a:pt x="80769" y="384593"/>
                  </a:lnTo>
                  <a:lnTo>
                    <a:pt x="120809" y="410095"/>
                  </a:lnTo>
                  <a:lnTo>
                    <a:pt x="166199" y="426348"/>
                  </a:lnTo>
                  <a:lnTo>
                    <a:pt x="215646" y="432054"/>
                  </a:lnTo>
                  <a:lnTo>
                    <a:pt x="265092" y="426348"/>
                  </a:lnTo>
                  <a:lnTo>
                    <a:pt x="310482" y="410095"/>
                  </a:lnTo>
                  <a:lnTo>
                    <a:pt x="350522" y="384593"/>
                  </a:lnTo>
                  <a:lnTo>
                    <a:pt x="383917" y="351138"/>
                  </a:lnTo>
                  <a:lnTo>
                    <a:pt x="409373" y="311028"/>
                  </a:lnTo>
                  <a:lnTo>
                    <a:pt x="425596" y="265558"/>
                  </a:lnTo>
                  <a:lnTo>
                    <a:pt x="431292" y="216027"/>
                  </a:lnTo>
                  <a:lnTo>
                    <a:pt x="425596" y="166495"/>
                  </a:lnTo>
                  <a:lnTo>
                    <a:pt x="409373" y="121025"/>
                  </a:lnTo>
                  <a:lnTo>
                    <a:pt x="383917" y="80915"/>
                  </a:lnTo>
                  <a:lnTo>
                    <a:pt x="350522" y="47460"/>
                  </a:lnTo>
                  <a:lnTo>
                    <a:pt x="310482" y="21958"/>
                  </a:lnTo>
                  <a:lnTo>
                    <a:pt x="265092" y="5705"/>
                  </a:lnTo>
                  <a:lnTo>
                    <a:pt x="2156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04010" y="3456432"/>
              <a:ext cx="431800" cy="432434"/>
            </a:xfrm>
            <a:custGeom>
              <a:avLst/>
              <a:gdLst/>
              <a:ahLst/>
              <a:cxnLst/>
              <a:rect l="l" t="t" r="r" b="b"/>
              <a:pathLst>
                <a:path w="431800" h="432434">
                  <a:moveTo>
                    <a:pt x="0" y="216027"/>
                  </a:moveTo>
                  <a:lnTo>
                    <a:pt x="5695" y="166495"/>
                  </a:lnTo>
                  <a:lnTo>
                    <a:pt x="21918" y="121025"/>
                  </a:lnTo>
                  <a:lnTo>
                    <a:pt x="47374" y="80915"/>
                  </a:lnTo>
                  <a:lnTo>
                    <a:pt x="80769" y="47460"/>
                  </a:lnTo>
                  <a:lnTo>
                    <a:pt x="120809" y="21958"/>
                  </a:lnTo>
                  <a:lnTo>
                    <a:pt x="166199" y="5705"/>
                  </a:lnTo>
                  <a:lnTo>
                    <a:pt x="215646" y="0"/>
                  </a:lnTo>
                  <a:lnTo>
                    <a:pt x="265092" y="5705"/>
                  </a:lnTo>
                  <a:lnTo>
                    <a:pt x="310482" y="21958"/>
                  </a:lnTo>
                  <a:lnTo>
                    <a:pt x="350522" y="47460"/>
                  </a:lnTo>
                  <a:lnTo>
                    <a:pt x="383917" y="80915"/>
                  </a:lnTo>
                  <a:lnTo>
                    <a:pt x="409373" y="121025"/>
                  </a:lnTo>
                  <a:lnTo>
                    <a:pt x="425596" y="166495"/>
                  </a:lnTo>
                  <a:lnTo>
                    <a:pt x="431292" y="216027"/>
                  </a:lnTo>
                  <a:lnTo>
                    <a:pt x="425596" y="265558"/>
                  </a:lnTo>
                  <a:lnTo>
                    <a:pt x="409373" y="311028"/>
                  </a:lnTo>
                  <a:lnTo>
                    <a:pt x="383917" y="351138"/>
                  </a:lnTo>
                  <a:lnTo>
                    <a:pt x="350522" y="384593"/>
                  </a:lnTo>
                  <a:lnTo>
                    <a:pt x="310482" y="410095"/>
                  </a:lnTo>
                  <a:lnTo>
                    <a:pt x="265092" y="426348"/>
                  </a:lnTo>
                  <a:lnTo>
                    <a:pt x="215646" y="432054"/>
                  </a:lnTo>
                  <a:lnTo>
                    <a:pt x="166199" y="426348"/>
                  </a:lnTo>
                  <a:lnTo>
                    <a:pt x="120809" y="410095"/>
                  </a:lnTo>
                  <a:lnTo>
                    <a:pt x="80769" y="384593"/>
                  </a:lnTo>
                  <a:lnTo>
                    <a:pt x="47374" y="351138"/>
                  </a:lnTo>
                  <a:lnTo>
                    <a:pt x="21918" y="311028"/>
                  </a:lnTo>
                  <a:lnTo>
                    <a:pt x="5695" y="265558"/>
                  </a:lnTo>
                  <a:lnTo>
                    <a:pt x="0" y="216027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736656" y="3482319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065275" y="4235196"/>
            <a:ext cx="470534" cy="470534"/>
            <a:chOff x="1065275" y="4235196"/>
            <a:chExt cx="470534" cy="470534"/>
          </a:xfrm>
        </p:grpSpPr>
        <p:sp>
          <p:nvSpPr>
            <p:cNvPr id="14" name="object 14"/>
            <p:cNvSpPr/>
            <p:nvPr/>
          </p:nvSpPr>
          <p:spPr>
            <a:xfrm>
              <a:off x="1084325" y="4254246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6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3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6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84325" y="4254246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6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6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3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217185" y="4280202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897885" y="3443478"/>
            <a:ext cx="470534" cy="470534"/>
            <a:chOff x="2897885" y="3443478"/>
            <a:chExt cx="470534" cy="470534"/>
          </a:xfrm>
        </p:grpSpPr>
        <p:sp>
          <p:nvSpPr>
            <p:cNvPr id="18" name="object 18"/>
            <p:cNvSpPr/>
            <p:nvPr/>
          </p:nvSpPr>
          <p:spPr>
            <a:xfrm>
              <a:off x="2916935" y="346252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7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4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7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16935" y="346252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7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7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4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7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050015" y="3488201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042160" y="4235196"/>
            <a:ext cx="470534" cy="470534"/>
            <a:chOff x="2042160" y="4235196"/>
            <a:chExt cx="470534" cy="470534"/>
          </a:xfrm>
        </p:grpSpPr>
        <p:sp>
          <p:nvSpPr>
            <p:cNvPr id="22" name="object 22"/>
            <p:cNvSpPr/>
            <p:nvPr/>
          </p:nvSpPr>
          <p:spPr>
            <a:xfrm>
              <a:off x="2061210" y="4254246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6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3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6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061210" y="4254246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6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6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3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194104" y="4280202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280919" y="3015995"/>
            <a:ext cx="1718945" cy="1257935"/>
            <a:chOff x="1280919" y="3015995"/>
            <a:chExt cx="1718945" cy="1257935"/>
          </a:xfrm>
        </p:grpSpPr>
        <p:sp>
          <p:nvSpPr>
            <p:cNvPr id="26" name="object 26"/>
            <p:cNvSpPr/>
            <p:nvPr/>
          </p:nvSpPr>
          <p:spPr>
            <a:xfrm>
              <a:off x="1972050" y="3035045"/>
              <a:ext cx="341630" cy="485140"/>
            </a:xfrm>
            <a:custGeom>
              <a:avLst/>
              <a:gdLst/>
              <a:ahLst/>
              <a:cxnLst/>
              <a:rect l="l" t="t" r="r" b="b"/>
              <a:pathLst>
                <a:path w="341630" h="485139">
                  <a:moveTo>
                    <a:pt x="341007" y="0"/>
                  </a:moveTo>
                  <a:lnTo>
                    <a:pt x="0" y="48510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99969" y="3825239"/>
              <a:ext cx="367030" cy="429259"/>
            </a:xfrm>
            <a:custGeom>
              <a:avLst/>
              <a:gdLst/>
              <a:ahLst/>
              <a:cxnLst/>
              <a:rect l="l" t="t" r="r" b="b"/>
              <a:pathLst>
                <a:path w="367030" h="429259">
                  <a:moveTo>
                    <a:pt x="366737" y="0"/>
                  </a:moveTo>
                  <a:lnTo>
                    <a:pt x="0" y="429145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72056" y="3825239"/>
              <a:ext cx="304800" cy="429259"/>
            </a:xfrm>
            <a:custGeom>
              <a:avLst/>
              <a:gdLst/>
              <a:ahLst/>
              <a:cxnLst/>
              <a:rect l="l" t="t" r="r" b="b"/>
              <a:pathLst>
                <a:path w="304800" h="429259">
                  <a:moveTo>
                    <a:pt x="0" y="0"/>
                  </a:moveTo>
                  <a:lnTo>
                    <a:pt x="304711" y="42914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618994" y="3035045"/>
              <a:ext cx="361950" cy="491490"/>
            </a:xfrm>
            <a:custGeom>
              <a:avLst/>
              <a:gdLst/>
              <a:ahLst/>
              <a:cxnLst/>
              <a:rect l="l" t="t" r="r" b="b"/>
              <a:pathLst>
                <a:path w="361950" h="491489">
                  <a:moveTo>
                    <a:pt x="0" y="0"/>
                  </a:moveTo>
                  <a:lnTo>
                    <a:pt x="361416" y="49098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7297673" y="2668523"/>
            <a:ext cx="1117600" cy="1261110"/>
            <a:chOff x="7297673" y="2668523"/>
            <a:chExt cx="1117600" cy="1261110"/>
          </a:xfrm>
        </p:grpSpPr>
        <p:sp>
          <p:nvSpPr>
            <p:cNvPr id="31" name="object 31"/>
            <p:cNvSpPr/>
            <p:nvPr/>
          </p:nvSpPr>
          <p:spPr>
            <a:xfrm>
              <a:off x="7963661" y="2687573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6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3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6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963661" y="2687573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6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6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3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316723" y="3478529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7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7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4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7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450097" y="3504089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latin typeface="Times New Roman"/>
                <a:cs typeface="Times New Roman"/>
              </a:rPr>
              <a:t>2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797802" y="4276344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0" y="216026"/>
                </a:moveTo>
                <a:lnTo>
                  <a:pt x="5705" y="166495"/>
                </a:lnTo>
                <a:lnTo>
                  <a:pt x="21958" y="121025"/>
                </a:lnTo>
                <a:lnTo>
                  <a:pt x="47460" y="80915"/>
                </a:lnTo>
                <a:lnTo>
                  <a:pt x="80915" y="47460"/>
                </a:lnTo>
                <a:lnTo>
                  <a:pt x="121025" y="21958"/>
                </a:lnTo>
                <a:lnTo>
                  <a:pt x="166495" y="5705"/>
                </a:lnTo>
                <a:lnTo>
                  <a:pt x="216027" y="0"/>
                </a:lnTo>
                <a:lnTo>
                  <a:pt x="265558" y="5705"/>
                </a:lnTo>
                <a:lnTo>
                  <a:pt x="311028" y="21958"/>
                </a:lnTo>
                <a:lnTo>
                  <a:pt x="351138" y="47460"/>
                </a:lnTo>
                <a:lnTo>
                  <a:pt x="384593" y="80915"/>
                </a:lnTo>
                <a:lnTo>
                  <a:pt x="410095" y="121025"/>
                </a:lnTo>
                <a:lnTo>
                  <a:pt x="426348" y="166495"/>
                </a:lnTo>
                <a:lnTo>
                  <a:pt x="432054" y="216026"/>
                </a:lnTo>
                <a:lnTo>
                  <a:pt x="426348" y="265558"/>
                </a:lnTo>
                <a:lnTo>
                  <a:pt x="410095" y="311028"/>
                </a:lnTo>
                <a:lnTo>
                  <a:pt x="384593" y="351138"/>
                </a:lnTo>
                <a:lnTo>
                  <a:pt x="351138" y="384593"/>
                </a:lnTo>
                <a:lnTo>
                  <a:pt x="311028" y="410095"/>
                </a:lnTo>
                <a:lnTo>
                  <a:pt x="265558" y="426348"/>
                </a:lnTo>
                <a:lnTo>
                  <a:pt x="216027" y="432053"/>
                </a:lnTo>
                <a:lnTo>
                  <a:pt x="166495" y="426348"/>
                </a:lnTo>
                <a:lnTo>
                  <a:pt x="121025" y="410095"/>
                </a:lnTo>
                <a:lnTo>
                  <a:pt x="80915" y="384593"/>
                </a:lnTo>
                <a:lnTo>
                  <a:pt x="47460" y="351138"/>
                </a:lnTo>
                <a:lnTo>
                  <a:pt x="21958" y="311028"/>
                </a:lnTo>
                <a:lnTo>
                  <a:pt x="5705" y="265558"/>
                </a:lnTo>
                <a:lnTo>
                  <a:pt x="0" y="216026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6930627" y="4301972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latin typeface="Times New Roman"/>
                <a:cs typeface="Times New Roman"/>
              </a:rPr>
              <a:t>4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8630411" y="3483864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0" y="216027"/>
                </a:moveTo>
                <a:lnTo>
                  <a:pt x="5705" y="166495"/>
                </a:lnTo>
                <a:lnTo>
                  <a:pt x="21958" y="121025"/>
                </a:lnTo>
                <a:lnTo>
                  <a:pt x="47460" y="80915"/>
                </a:lnTo>
                <a:lnTo>
                  <a:pt x="80915" y="47460"/>
                </a:lnTo>
                <a:lnTo>
                  <a:pt x="121025" y="21958"/>
                </a:lnTo>
                <a:lnTo>
                  <a:pt x="166495" y="5705"/>
                </a:lnTo>
                <a:lnTo>
                  <a:pt x="216027" y="0"/>
                </a:lnTo>
                <a:lnTo>
                  <a:pt x="265558" y="5705"/>
                </a:lnTo>
                <a:lnTo>
                  <a:pt x="311028" y="21958"/>
                </a:lnTo>
                <a:lnTo>
                  <a:pt x="351138" y="47460"/>
                </a:lnTo>
                <a:lnTo>
                  <a:pt x="384593" y="80915"/>
                </a:lnTo>
                <a:lnTo>
                  <a:pt x="410095" y="121025"/>
                </a:lnTo>
                <a:lnTo>
                  <a:pt x="426348" y="166495"/>
                </a:lnTo>
                <a:lnTo>
                  <a:pt x="432054" y="216027"/>
                </a:lnTo>
                <a:lnTo>
                  <a:pt x="426348" y="265558"/>
                </a:lnTo>
                <a:lnTo>
                  <a:pt x="410095" y="311028"/>
                </a:lnTo>
                <a:lnTo>
                  <a:pt x="384593" y="351138"/>
                </a:lnTo>
                <a:lnTo>
                  <a:pt x="351138" y="384593"/>
                </a:lnTo>
                <a:lnTo>
                  <a:pt x="311028" y="410095"/>
                </a:lnTo>
                <a:lnTo>
                  <a:pt x="265558" y="426348"/>
                </a:lnTo>
                <a:lnTo>
                  <a:pt x="216027" y="432054"/>
                </a:lnTo>
                <a:lnTo>
                  <a:pt x="166495" y="426348"/>
                </a:lnTo>
                <a:lnTo>
                  <a:pt x="121025" y="410095"/>
                </a:lnTo>
                <a:lnTo>
                  <a:pt x="80915" y="384593"/>
                </a:lnTo>
                <a:lnTo>
                  <a:pt x="47460" y="351138"/>
                </a:lnTo>
                <a:lnTo>
                  <a:pt x="21958" y="311028"/>
                </a:lnTo>
                <a:lnTo>
                  <a:pt x="5705" y="265558"/>
                </a:lnTo>
                <a:lnTo>
                  <a:pt x="0" y="216027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8096570" y="2713522"/>
            <a:ext cx="832485" cy="1157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15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2200" b="1">
                <a:latin typeface="Times New Roman"/>
                <a:cs typeface="Times New Roman"/>
              </a:rPr>
              <a:t>3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774685" y="4276344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0" y="216026"/>
                </a:moveTo>
                <a:lnTo>
                  <a:pt x="5705" y="166495"/>
                </a:lnTo>
                <a:lnTo>
                  <a:pt x="21958" y="121025"/>
                </a:lnTo>
                <a:lnTo>
                  <a:pt x="47460" y="80915"/>
                </a:lnTo>
                <a:lnTo>
                  <a:pt x="80915" y="47460"/>
                </a:lnTo>
                <a:lnTo>
                  <a:pt x="121025" y="21958"/>
                </a:lnTo>
                <a:lnTo>
                  <a:pt x="166495" y="5705"/>
                </a:lnTo>
                <a:lnTo>
                  <a:pt x="216027" y="0"/>
                </a:lnTo>
                <a:lnTo>
                  <a:pt x="265558" y="5705"/>
                </a:lnTo>
                <a:lnTo>
                  <a:pt x="311028" y="21958"/>
                </a:lnTo>
                <a:lnTo>
                  <a:pt x="351138" y="47460"/>
                </a:lnTo>
                <a:lnTo>
                  <a:pt x="384593" y="80915"/>
                </a:lnTo>
                <a:lnTo>
                  <a:pt x="410095" y="121025"/>
                </a:lnTo>
                <a:lnTo>
                  <a:pt x="426348" y="166495"/>
                </a:lnTo>
                <a:lnTo>
                  <a:pt x="432054" y="216026"/>
                </a:lnTo>
                <a:lnTo>
                  <a:pt x="426348" y="265558"/>
                </a:lnTo>
                <a:lnTo>
                  <a:pt x="410095" y="311028"/>
                </a:lnTo>
                <a:lnTo>
                  <a:pt x="384593" y="351138"/>
                </a:lnTo>
                <a:lnTo>
                  <a:pt x="351138" y="384593"/>
                </a:lnTo>
                <a:lnTo>
                  <a:pt x="311028" y="410095"/>
                </a:lnTo>
                <a:lnTo>
                  <a:pt x="265558" y="426348"/>
                </a:lnTo>
                <a:lnTo>
                  <a:pt x="216027" y="432053"/>
                </a:lnTo>
                <a:lnTo>
                  <a:pt x="166495" y="426348"/>
                </a:lnTo>
                <a:lnTo>
                  <a:pt x="121025" y="410095"/>
                </a:lnTo>
                <a:lnTo>
                  <a:pt x="80915" y="384593"/>
                </a:lnTo>
                <a:lnTo>
                  <a:pt x="47460" y="351138"/>
                </a:lnTo>
                <a:lnTo>
                  <a:pt x="21958" y="311028"/>
                </a:lnTo>
                <a:lnTo>
                  <a:pt x="5705" y="265558"/>
                </a:lnTo>
                <a:lnTo>
                  <a:pt x="0" y="216026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7907546" y="4301972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latin typeface="Times New Roman"/>
                <a:cs typeface="Times New Roman"/>
              </a:rPr>
              <a:t>5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994397" y="3037332"/>
            <a:ext cx="1718945" cy="1258570"/>
            <a:chOff x="6994397" y="3037332"/>
            <a:chExt cx="1718945" cy="1258570"/>
          </a:xfrm>
        </p:grpSpPr>
        <p:sp>
          <p:nvSpPr>
            <p:cNvPr id="42" name="object 42"/>
            <p:cNvSpPr/>
            <p:nvPr/>
          </p:nvSpPr>
          <p:spPr>
            <a:xfrm>
              <a:off x="7685526" y="3056382"/>
              <a:ext cx="341630" cy="485140"/>
            </a:xfrm>
            <a:custGeom>
              <a:avLst/>
              <a:gdLst/>
              <a:ahLst/>
              <a:cxnLst/>
              <a:rect l="l" t="t" r="r" b="b"/>
              <a:pathLst>
                <a:path w="341629" h="485139">
                  <a:moveTo>
                    <a:pt x="341007" y="0"/>
                  </a:moveTo>
                  <a:lnTo>
                    <a:pt x="0" y="48510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013447" y="3847338"/>
              <a:ext cx="367030" cy="429259"/>
            </a:xfrm>
            <a:custGeom>
              <a:avLst/>
              <a:gdLst/>
              <a:ahLst/>
              <a:cxnLst/>
              <a:rect l="l" t="t" r="r" b="b"/>
              <a:pathLst>
                <a:path w="367029" h="429259">
                  <a:moveTo>
                    <a:pt x="366737" y="0"/>
                  </a:moveTo>
                  <a:lnTo>
                    <a:pt x="0" y="429145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685532" y="3847338"/>
              <a:ext cx="304800" cy="429259"/>
            </a:xfrm>
            <a:custGeom>
              <a:avLst/>
              <a:gdLst/>
              <a:ahLst/>
              <a:cxnLst/>
              <a:rect l="l" t="t" r="r" b="b"/>
              <a:pathLst>
                <a:path w="304800" h="429259">
                  <a:moveTo>
                    <a:pt x="0" y="0"/>
                  </a:moveTo>
                  <a:lnTo>
                    <a:pt x="304711" y="42914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332470" y="3056382"/>
              <a:ext cx="361950" cy="491490"/>
            </a:xfrm>
            <a:custGeom>
              <a:avLst/>
              <a:gdLst/>
              <a:ahLst/>
              <a:cxnLst/>
              <a:rect l="l" t="t" r="r" b="b"/>
              <a:pathLst>
                <a:path w="361950" h="491489">
                  <a:moveTo>
                    <a:pt x="0" y="0"/>
                  </a:moveTo>
                  <a:lnTo>
                    <a:pt x="361416" y="49098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3">
            <a:extLst>
              <a:ext uri="{FF2B5EF4-FFF2-40B4-BE49-F238E27FC236}">
                <a16:creationId xmlns:a16="http://schemas.microsoft.com/office/drawing/2014/main" id="{C6044F5B-5238-F149-8E29-339075CE44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6464" y="210162"/>
            <a:ext cx="221751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算法思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想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9140" y="1084202"/>
            <a:ext cx="25038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>
                <a:latin typeface="PMingLiU"/>
                <a:cs typeface="PMingLiU"/>
              </a:rPr>
              <a:t>广度优先搜索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27140" y="1084202"/>
            <a:ext cx="25038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>
                <a:latin typeface="PMingLiU"/>
                <a:cs typeface="PMingLiU"/>
              </a:rPr>
              <a:t>深度优先搜索</a:t>
            </a:r>
            <a:endParaRPr sz="2800">
              <a:latin typeface="PMingLiU"/>
              <a:cs typeface="PMingLiU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231135" y="2647188"/>
            <a:ext cx="470534" cy="470534"/>
            <a:chOff x="2231135" y="2647188"/>
            <a:chExt cx="470534" cy="470534"/>
          </a:xfrm>
        </p:grpSpPr>
        <p:sp>
          <p:nvSpPr>
            <p:cNvPr id="6" name="object 6"/>
            <p:cNvSpPr/>
            <p:nvPr/>
          </p:nvSpPr>
          <p:spPr>
            <a:xfrm>
              <a:off x="2250185" y="266623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6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3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6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50185" y="266623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6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6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3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383128" y="2691752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584960" y="3437382"/>
            <a:ext cx="469900" cy="470534"/>
            <a:chOff x="1584960" y="3437382"/>
            <a:chExt cx="469900" cy="470534"/>
          </a:xfrm>
        </p:grpSpPr>
        <p:sp>
          <p:nvSpPr>
            <p:cNvPr id="10" name="object 10"/>
            <p:cNvSpPr/>
            <p:nvPr/>
          </p:nvSpPr>
          <p:spPr>
            <a:xfrm>
              <a:off x="1604010" y="3456432"/>
              <a:ext cx="431800" cy="432434"/>
            </a:xfrm>
            <a:custGeom>
              <a:avLst/>
              <a:gdLst/>
              <a:ahLst/>
              <a:cxnLst/>
              <a:rect l="l" t="t" r="r" b="b"/>
              <a:pathLst>
                <a:path w="431800" h="432434">
                  <a:moveTo>
                    <a:pt x="215646" y="0"/>
                  </a:moveTo>
                  <a:lnTo>
                    <a:pt x="166199" y="5705"/>
                  </a:lnTo>
                  <a:lnTo>
                    <a:pt x="120809" y="21958"/>
                  </a:lnTo>
                  <a:lnTo>
                    <a:pt x="80769" y="47460"/>
                  </a:lnTo>
                  <a:lnTo>
                    <a:pt x="47374" y="80915"/>
                  </a:lnTo>
                  <a:lnTo>
                    <a:pt x="21918" y="121025"/>
                  </a:lnTo>
                  <a:lnTo>
                    <a:pt x="5695" y="166495"/>
                  </a:lnTo>
                  <a:lnTo>
                    <a:pt x="0" y="216027"/>
                  </a:lnTo>
                  <a:lnTo>
                    <a:pt x="5695" y="265558"/>
                  </a:lnTo>
                  <a:lnTo>
                    <a:pt x="21918" y="311028"/>
                  </a:lnTo>
                  <a:lnTo>
                    <a:pt x="47374" y="351138"/>
                  </a:lnTo>
                  <a:lnTo>
                    <a:pt x="80769" y="384593"/>
                  </a:lnTo>
                  <a:lnTo>
                    <a:pt x="120809" y="410095"/>
                  </a:lnTo>
                  <a:lnTo>
                    <a:pt x="166199" y="426348"/>
                  </a:lnTo>
                  <a:lnTo>
                    <a:pt x="215646" y="432054"/>
                  </a:lnTo>
                  <a:lnTo>
                    <a:pt x="265092" y="426348"/>
                  </a:lnTo>
                  <a:lnTo>
                    <a:pt x="310482" y="410095"/>
                  </a:lnTo>
                  <a:lnTo>
                    <a:pt x="350522" y="384593"/>
                  </a:lnTo>
                  <a:lnTo>
                    <a:pt x="383917" y="351138"/>
                  </a:lnTo>
                  <a:lnTo>
                    <a:pt x="409373" y="311028"/>
                  </a:lnTo>
                  <a:lnTo>
                    <a:pt x="425596" y="265558"/>
                  </a:lnTo>
                  <a:lnTo>
                    <a:pt x="431292" y="216027"/>
                  </a:lnTo>
                  <a:lnTo>
                    <a:pt x="425596" y="166495"/>
                  </a:lnTo>
                  <a:lnTo>
                    <a:pt x="409373" y="121025"/>
                  </a:lnTo>
                  <a:lnTo>
                    <a:pt x="383917" y="80915"/>
                  </a:lnTo>
                  <a:lnTo>
                    <a:pt x="350522" y="47460"/>
                  </a:lnTo>
                  <a:lnTo>
                    <a:pt x="310482" y="21958"/>
                  </a:lnTo>
                  <a:lnTo>
                    <a:pt x="265092" y="5705"/>
                  </a:lnTo>
                  <a:lnTo>
                    <a:pt x="2156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04010" y="3456432"/>
              <a:ext cx="431800" cy="432434"/>
            </a:xfrm>
            <a:custGeom>
              <a:avLst/>
              <a:gdLst/>
              <a:ahLst/>
              <a:cxnLst/>
              <a:rect l="l" t="t" r="r" b="b"/>
              <a:pathLst>
                <a:path w="431800" h="432434">
                  <a:moveTo>
                    <a:pt x="0" y="216027"/>
                  </a:moveTo>
                  <a:lnTo>
                    <a:pt x="5695" y="166495"/>
                  </a:lnTo>
                  <a:lnTo>
                    <a:pt x="21918" y="121025"/>
                  </a:lnTo>
                  <a:lnTo>
                    <a:pt x="47374" y="80915"/>
                  </a:lnTo>
                  <a:lnTo>
                    <a:pt x="80769" y="47460"/>
                  </a:lnTo>
                  <a:lnTo>
                    <a:pt x="120809" y="21958"/>
                  </a:lnTo>
                  <a:lnTo>
                    <a:pt x="166199" y="5705"/>
                  </a:lnTo>
                  <a:lnTo>
                    <a:pt x="215646" y="0"/>
                  </a:lnTo>
                  <a:lnTo>
                    <a:pt x="265092" y="5705"/>
                  </a:lnTo>
                  <a:lnTo>
                    <a:pt x="310482" y="21958"/>
                  </a:lnTo>
                  <a:lnTo>
                    <a:pt x="350522" y="47460"/>
                  </a:lnTo>
                  <a:lnTo>
                    <a:pt x="383917" y="80915"/>
                  </a:lnTo>
                  <a:lnTo>
                    <a:pt x="409373" y="121025"/>
                  </a:lnTo>
                  <a:lnTo>
                    <a:pt x="425596" y="166495"/>
                  </a:lnTo>
                  <a:lnTo>
                    <a:pt x="431292" y="216027"/>
                  </a:lnTo>
                  <a:lnTo>
                    <a:pt x="425596" y="265558"/>
                  </a:lnTo>
                  <a:lnTo>
                    <a:pt x="409373" y="311028"/>
                  </a:lnTo>
                  <a:lnTo>
                    <a:pt x="383917" y="351138"/>
                  </a:lnTo>
                  <a:lnTo>
                    <a:pt x="350522" y="384593"/>
                  </a:lnTo>
                  <a:lnTo>
                    <a:pt x="310482" y="410095"/>
                  </a:lnTo>
                  <a:lnTo>
                    <a:pt x="265092" y="426348"/>
                  </a:lnTo>
                  <a:lnTo>
                    <a:pt x="215646" y="432054"/>
                  </a:lnTo>
                  <a:lnTo>
                    <a:pt x="166199" y="426348"/>
                  </a:lnTo>
                  <a:lnTo>
                    <a:pt x="120809" y="410095"/>
                  </a:lnTo>
                  <a:lnTo>
                    <a:pt x="80769" y="384593"/>
                  </a:lnTo>
                  <a:lnTo>
                    <a:pt x="47374" y="351138"/>
                  </a:lnTo>
                  <a:lnTo>
                    <a:pt x="21918" y="311028"/>
                  </a:lnTo>
                  <a:lnTo>
                    <a:pt x="5695" y="265558"/>
                  </a:lnTo>
                  <a:lnTo>
                    <a:pt x="0" y="216027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736656" y="3482319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065275" y="4235196"/>
            <a:ext cx="470534" cy="470534"/>
            <a:chOff x="1065275" y="4235196"/>
            <a:chExt cx="470534" cy="470534"/>
          </a:xfrm>
        </p:grpSpPr>
        <p:sp>
          <p:nvSpPr>
            <p:cNvPr id="14" name="object 14"/>
            <p:cNvSpPr/>
            <p:nvPr/>
          </p:nvSpPr>
          <p:spPr>
            <a:xfrm>
              <a:off x="1084325" y="4254246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6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3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6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84325" y="4254246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6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6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3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217185" y="4280202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897885" y="3443478"/>
            <a:ext cx="470534" cy="470534"/>
            <a:chOff x="2897885" y="3443478"/>
            <a:chExt cx="470534" cy="470534"/>
          </a:xfrm>
        </p:grpSpPr>
        <p:sp>
          <p:nvSpPr>
            <p:cNvPr id="18" name="object 18"/>
            <p:cNvSpPr/>
            <p:nvPr/>
          </p:nvSpPr>
          <p:spPr>
            <a:xfrm>
              <a:off x="2916935" y="346252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7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4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7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16935" y="346252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7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7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4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7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050015" y="3488201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042160" y="4235196"/>
            <a:ext cx="470534" cy="470534"/>
            <a:chOff x="2042160" y="4235196"/>
            <a:chExt cx="470534" cy="470534"/>
          </a:xfrm>
        </p:grpSpPr>
        <p:sp>
          <p:nvSpPr>
            <p:cNvPr id="22" name="object 22"/>
            <p:cNvSpPr/>
            <p:nvPr/>
          </p:nvSpPr>
          <p:spPr>
            <a:xfrm>
              <a:off x="2061210" y="4254246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6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3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6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061210" y="4254246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6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6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3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194104" y="4280202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280919" y="3015995"/>
            <a:ext cx="1718945" cy="1257935"/>
            <a:chOff x="1280919" y="3015995"/>
            <a:chExt cx="1718945" cy="1257935"/>
          </a:xfrm>
        </p:grpSpPr>
        <p:sp>
          <p:nvSpPr>
            <p:cNvPr id="26" name="object 26"/>
            <p:cNvSpPr/>
            <p:nvPr/>
          </p:nvSpPr>
          <p:spPr>
            <a:xfrm>
              <a:off x="1972050" y="3035045"/>
              <a:ext cx="341630" cy="485140"/>
            </a:xfrm>
            <a:custGeom>
              <a:avLst/>
              <a:gdLst/>
              <a:ahLst/>
              <a:cxnLst/>
              <a:rect l="l" t="t" r="r" b="b"/>
              <a:pathLst>
                <a:path w="341630" h="485139">
                  <a:moveTo>
                    <a:pt x="341007" y="0"/>
                  </a:moveTo>
                  <a:lnTo>
                    <a:pt x="0" y="48510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99969" y="3825239"/>
              <a:ext cx="367030" cy="429259"/>
            </a:xfrm>
            <a:custGeom>
              <a:avLst/>
              <a:gdLst/>
              <a:ahLst/>
              <a:cxnLst/>
              <a:rect l="l" t="t" r="r" b="b"/>
              <a:pathLst>
                <a:path w="367030" h="429259">
                  <a:moveTo>
                    <a:pt x="366737" y="0"/>
                  </a:moveTo>
                  <a:lnTo>
                    <a:pt x="0" y="429145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72056" y="3825239"/>
              <a:ext cx="304800" cy="429259"/>
            </a:xfrm>
            <a:custGeom>
              <a:avLst/>
              <a:gdLst/>
              <a:ahLst/>
              <a:cxnLst/>
              <a:rect l="l" t="t" r="r" b="b"/>
              <a:pathLst>
                <a:path w="304800" h="429259">
                  <a:moveTo>
                    <a:pt x="0" y="0"/>
                  </a:moveTo>
                  <a:lnTo>
                    <a:pt x="304711" y="42914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618994" y="3035045"/>
              <a:ext cx="361950" cy="491490"/>
            </a:xfrm>
            <a:custGeom>
              <a:avLst/>
              <a:gdLst/>
              <a:ahLst/>
              <a:cxnLst/>
              <a:rect l="l" t="t" r="r" b="b"/>
              <a:pathLst>
                <a:path w="361950" h="491489">
                  <a:moveTo>
                    <a:pt x="0" y="0"/>
                  </a:moveTo>
                  <a:lnTo>
                    <a:pt x="361416" y="49098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7297673" y="2668523"/>
            <a:ext cx="1117600" cy="1261110"/>
            <a:chOff x="7297673" y="2668523"/>
            <a:chExt cx="1117600" cy="1261110"/>
          </a:xfrm>
        </p:grpSpPr>
        <p:sp>
          <p:nvSpPr>
            <p:cNvPr id="31" name="object 31"/>
            <p:cNvSpPr/>
            <p:nvPr/>
          </p:nvSpPr>
          <p:spPr>
            <a:xfrm>
              <a:off x="7963661" y="2687573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6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3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6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963661" y="2687573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6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6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3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316723" y="3478529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7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4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7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316723" y="3478529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7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7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4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7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7450097" y="3504089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latin typeface="Times New Roman"/>
                <a:cs typeface="Times New Roman"/>
              </a:rPr>
              <a:t>2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778752" y="4257294"/>
            <a:ext cx="470534" cy="470534"/>
            <a:chOff x="6778752" y="4257294"/>
            <a:chExt cx="470534" cy="470534"/>
          </a:xfrm>
        </p:grpSpPr>
        <p:sp>
          <p:nvSpPr>
            <p:cNvPr id="37" name="object 37"/>
            <p:cNvSpPr/>
            <p:nvPr/>
          </p:nvSpPr>
          <p:spPr>
            <a:xfrm>
              <a:off x="6797802" y="4276344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6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3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6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797802" y="4276344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6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6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3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930627" y="4301972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latin typeface="Times New Roman"/>
                <a:cs typeface="Times New Roman"/>
              </a:rPr>
              <a:t>4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8630411" y="3483864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0" y="216027"/>
                </a:moveTo>
                <a:lnTo>
                  <a:pt x="5705" y="166495"/>
                </a:lnTo>
                <a:lnTo>
                  <a:pt x="21958" y="121025"/>
                </a:lnTo>
                <a:lnTo>
                  <a:pt x="47460" y="80915"/>
                </a:lnTo>
                <a:lnTo>
                  <a:pt x="80915" y="47460"/>
                </a:lnTo>
                <a:lnTo>
                  <a:pt x="121025" y="21958"/>
                </a:lnTo>
                <a:lnTo>
                  <a:pt x="166495" y="5705"/>
                </a:lnTo>
                <a:lnTo>
                  <a:pt x="216027" y="0"/>
                </a:lnTo>
                <a:lnTo>
                  <a:pt x="265558" y="5705"/>
                </a:lnTo>
                <a:lnTo>
                  <a:pt x="311028" y="21958"/>
                </a:lnTo>
                <a:lnTo>
                  <a:pt x="351138" y="47460"/>
                </a:lnTo>
                <a:lnTo>
                  <a:pt x="384593" y="80915"/>
                </a:lnTo>
                <a:lnTo>
                  <a:pt x="410095" y="121025"/>
                </a:lnTo>
                <a:lnTo>
                  <a:pt x="426348" y="166495"/>
                </a:lnTo>
                <a:lnTo>
                  <a:pt x="432054" y="216027"/>
                </a:lnTo>
                <a:lnTo>
                  <a:pt x="426348" y="265558"/>
                </a:lnTo>
                <a:lnTo>
                  <a:pt x="410095" y="311028"/>
                </a:lnTo>
                <a:lnTo>
                  <a:pt x="384593" y="351138"/>
                </a:lnTo>
                <a:lnTo>
                  <a:pt x="351138" y="384593"/>
                </a:lnTo>
                <a:lnTo>
                  <a:pt x="311028" y="410095"/>
                </a:lnTo>
                <a:lnTo>
                  <a:pt x="265558" y="426348"/>
                </a:lnTo>
                <a:lnTo>
                  <a:pt x="216027" y="432054"/>
                </a:lnTo>
                <a:lnTo>
                  <a:pt x="166495" y="426348"/>
                </a:lnTo>
                <a:lnTo>
                  <a:pt x="121025" y="410095"/>
                </a:lnTo>
                <a:lnTo>
                  <a:pt x="80915" y="384593"/>
                </a:lnTo>
                <a:lnTo>
                  <a:pt x="47460" y="351138"/>
                </a:lnTo>
                <a:lnTo>
                  <a:pt x="21958" y="311028"/>
                </a:lnTo>
                <a:lnTo>
                  <a:pt x="5705" y="265558"/>
                </a:lnTo>
                <a:lnTo>
                  <a:pt x="0" y="216027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8096570" y="2713522"/>
            <a:ext cx="832485" cy="1157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15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2200" b="1">
                <a:latin typeface="Times New Roman"/>
                <a:cs typeface="Times New Roman"/>
              </a:rPr>
              <a:t>3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774685" y="4276344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0" y="216026"/>
                </a:moveTo>
                <a:lnTo>
                  <a:pt x="5705" y="166495"/>
                </a:lnTo>
                <a:lnTo>
                  <a:pt x="21958" y="121025"/>
                </a:lnTo>
                <a:lnTo>
                  <a:pt x="47460" y="80915"/>
                </a:lnTo>
                <a:lnTo>
                  <a:pt x="80915" y="47460"/>
                </a:lnTo>
                <a:lnTo>
                  <a:pt x="121025" y="21958"/>
                </a:lnTo>
                <a:lnTo>
                  <a:pt x="166495" y="5705"/>
                </a:lnTo>
                <a:lnTo>
                  <a:pt x="216027" y="0"/>
                </a:lnTo>
                <a:lnTo>
                  <a:pt x="265558" y="5705"/>
                </a:lnTo>
                <a:lnTo>
                  <a:pt x="311028" y="21958"/>
                </a:lnTo>
                <a:lnTo>
                  <a:pt x="351138" y="47460"/>
                </a:lnTo>
                <a:lnTo>
                  <a:pt x="384593" y="80915"/>
                </a:lnTo>
                <a:lnTo>
                  <a:pt x="410095" y="121025"/>
                </a:lnTo>
                <a:lnTo>
                  <a:pt x="426348" y="166495"/>
                </a:lnTo>
                <a:lnTo>
                  <a:pt x="432054" y="216026"/>
                </a:lnTo>
                <a:lnTo>
                  <a:pt x="426348" y="265558"/>
                </a:lnTo>
                <a:lnTo>
                  <a:pt x="410095" y="311028"/>
                </a:lnTo>
                <a:lnTo>
                  <a:pt x="384593" y="351138"/>
                </a:lnTo>
                <a:lnTo>
                  <a:pt x="351138" y="384593"/>
                </a:lnTo>
                <a:lnTo>
                  <a:pt x="311028" y="410095"/>
                </a:lnTo>
                <a:lnTo>
                  <a:pt x="265558" y="426348"/>
                </a:lnTo>
                <a:lnTo>
                  <a:pt x="216027" y="432053"/>
                </a:lnTo>
                <a:lnTo>
                  <a:pt x="166495" y="426348"/>
                </a:lnTo>
                <a:lnTo>
                  <a:pt x="121025" y="410095"/>
                </a:lnTo>
                <a:lnTo>
                  <a:pt x="80915" y="384593"/>
                </a:lnTo>
                <a:lnTo>
                  <a:pt x="47460" y="351138"/>
                </a:lnTo>
                <a:lnTo>
                  <a:pt x="21958" y="311028"/>
                </a:lnTo>
                <a:lnTo>
                  <a:pt x="5705" y="265558"/>
                </a:lnTo>
                <a:lnTo>
                  <a:pt x="0" y="216026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7907546" y="4301972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latin typeface="Times New Roman"/>
                <a:cs typeface="Times New Roman"/>
              </a:rPr>
              <a:t>5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6419084" y="2668523"/>
            <a:ext cx="2294255" cy="1627505"/>
            <a:chOff x="6419084" y="2668523"/>
            <a:chExt cx="2294255" cy="1627505"/>
          </a:xfrm>
        </p:grpSpPr>
        <p:sp>
          <p:nvSpPr>
            <p:cNvPr id="45" name="object 45"/>
            <p:cNvSpPr/>
            <p:nvPr/>
          </p:nvSpPr>
          <p:spPr>
            <a:xfrm>
              <a:off x="7685525" y="3056381"/>
              <a:ext cx="341630" cy="485140"/>
            </a:xfrm>
            <a:custGeom>
              <a:avLst/>
              <a:gdLst/>
              <a:ahLst/>
              <a:cxnLst/>
              <a:rect l="l" t="t" r="r" b="b"/>
              <a:pathLst>
                <a:path w="341629" h="485139">
                  <a:moveTo>
                    <a:pt x="341007" y="0"/>
                  </a:moveTo>
                  <a:lnTo>
                    <a:pt x="0" y="48510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013446" y="3847337"/>
              <a:ext cx="367030" cy="429259"/>
            </a:xfrm>
            <a:custGeom>
              <a:avLst/>
              <a:gdLst/>
              <a:ahLst/>
              <a:cxnLst/>
              <a:rect l="l" t="t" r="r" b="b"/>
              <a:pathLst>
                <a:path w="367029" h="429259">
                  <a:moveTo>
                    <a:pt x="366737" y="0"/>
                  </a:moveTo>
                  <a:lnTo>
                    <a:pt x="0" y="429145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685531" y="3847337"/>
              <a:ext cx="304800" cy="429259"/>
            </a:xfrm>
            <a:custGeom>
              <a:avLst/>
              <a:gdLst/>
              <a:ahLst/>
              <a:cxnLst/>
              <a:rect l="l" t="t" r="r" b="b"/>
              <a:pathLst>
                <a:path w="304800" h="429259">
                  <a:moveTo>
                    <a:pt x="0" y="0"/>
                  </a:moveTo>
                  <a:lnTo>
                    <a:pt x="304711" y="42914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332469" y="3056381"/>
              <a:ext cx="361950" cy="491490"/>
            </a:xfrm>
            <a:custGeom>
              <a:avLst/>
              <a:gdLst/>
              <a:ahLst/>
              <a:cxnLst/>
              <a:rect l="l" t="t" r="r" b="b"/>
              <a:pathLst>
                <a:path w="361950" h="491489">
                  <a:moveTo>
                    <a:pt x="0" y="0"/>
                  </a:moveTo>
                  <a:lnTo>
                    <a:pt x="361416" y="49098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481396" y="2687573"/>
              <a:ext cx="1292860" cy="1494790"/>
            </a:xfrm>
            <a:custGeom>
              <a:avLst/>
              <a:gdLst/>
              <a:ahLst/>
              <a:cxnLst/>
              <a:rect l="l" t="t" r="r" b="b"/>
              <a:pathLst>
                <a:path w="1292859" h="1494789">
                  <a:moveTo>
                    <a:pt x="1292771" y="0"/>
                  </a:moveTo>
                  <a:lnTo>
                    <a:pt x="0" y="1494637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419084" y="4130415"/>
              <a:ext cx="118110" cy="124460"/>
            </a:xfrm>
            <a:custGeom>
              <a:avLst/>
              <a:gdLst/>
              <a:ahLst/>
              <a:cxnLst/>
              <a:rect l="l" t="t" r="r" b="b"/>
              <a:pathLst>
                <a:path w="118109" h="124460">
                  <a:moveTo>
                    <a:pt x="31546" y="0"/>
                  </a:moveTo>
                  <a:lnTo>
                    <a:pt x="0" y="123837"/>
                  </a:lnTo>
                  <a:lnTo>
                    <a:pt x="117995" y="74764"/>
                  </a:lnTo>
                  <a:lnTo>
                    <a:pt x="3154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3">
            <a:extLst>
              <a:ext uri="{FF2B5EF4-FFF2-40B4-BE49-F238E27FC236}">
                <a16:creationId xmlns:a16="http://schemas.microsoft.com/office/drawing/2014/main" id="{A154C97D-05A3-1D4F-95D2-D41097A975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6464" y="210162"/>
            <a:ext cx="221751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算法思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想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1135002"/>
            <a:ext cx="25038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>
                <a:latin typeface="PMingLiU"/>
                <a:cs typeface="PMingLiU"/>
              </a:rPr>
              <a:t>广度优先搜索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52540" y="1135002"/>
            <a:ext cx="25038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>
                <a:latin typeface="PMingLiU"/>
                <a:cs typeface="PMingLiU"/>
              </a:rPr>
              <a:t>深度优先搜索</a:t>
            </a:r>
            <a:endParaRPr sz="2800">
              <a:latin typeface="PMingLiU"/>
              <a:cs typeface="PMingLiU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231135" y="2647188"/>
            <a:ext cx="470534" cy="470534"/>
            <a:chOff x="2231135" y="2647188"/>
            <a:chExt cx="470534" cy="470534"/>
          </a:xfrm>
        </p:grpSpPr>
        <p:sp>
          <p:nvSpPr>
            <p:cNvPr id="6" name="object 6"/>
            <p:cNvSpPr/>
            <p:nvPr/>
          </p:nvSpPr>
          <p:spPr>
            <a:xfrm>
              <a:off x="2250185" y="266623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6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3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6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50185" y="266623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6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6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3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383128" y="2691752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584960" y="3437382"/>
            <a:ext cx="469900" cy="470534"/>
            <a:chOff x="1584960" y="3437382"/>
            <a:chExt cx="469900" cy="470534"/>
          </a:xfrm>
        </p:grpSpPr>
        <p:sp>
          <p:nvSpPr>
            <p:cNvPr id="10" name="object 10"/>
            <p:cNvSpPr/>
            <p:nvPr/>
          </p:nvSpPr>
          <p:spPr>
            <a:xfrm>
              <a:off x="1604010" y="3456432"/>
              <a:ext cx="431800" cy="432434"/>
            </a:xfrm>
            <a:custGeom>
              <a:avLst/>
              <a:gdLst/>
              <a:ahLst/>
              <a:cxnLst/>
              <a:rect l="l" t="t" r="r" b="b"/>
              <a:pathLst>
                <a:path w="431800" h="432434">
                  <a:moveTo>
                    <a:pt x="215646" y="0"/>
                  </a:moveTo>
                  <a:lnTo>
                    <a:pt x="166199" y="5705"/>
                  </a:lnTo>
                  <a:lnTo>
                    <a:pt x="120809" y="21958"/>
                  </a:lnTo>
                  <a:lnTo>
                    <a:pt x="80769" y="47460"/>
                  </a:lnTo>
                  <a:lnTo>
                    <a:pt x="47374" y="80915"/>
                  </a:lnTo>
                  <a:lnTo>
                    <a:pt x="21918" y="121025"/>
                  </a:lnTo>
                  <a:lnTo>
                    <a:pt x="5695" y="166495"/>
                  </a:lnTo>
                  <a:lnTo>
                    <a:pt x="0" y="216027"/>
                  </a:lnTo>
                  <a:lnTo>
                    <a:pt x="5695" y="265558"/>
                  </a:lnTo>
                  <a:lnTo>
                    <a:pt x="21918" y="311028"/>
                  </a:lnTo>
                  <a:lnTo>
                    <a:pt x="47374" y="351138"/>
                  </a:lnTo>
                  <a:lnTo>
                    <a:pt x="80769" y="384593"/>
                  </a:lnTo>
                  <a:lnTo>
                    <a:pt x="120809" y="410095"/>
                  </a:lnTo>
                  <a:lnTo>
                    <a:pt x="166199" y="426348"/>
                  </a:lnTo>
                  <a:lnTo>
                    <a:pt x="215646" y="432054"/>
                  </a:lnTo>
                  <a:lnTo>
                    <a:pt x="265092" y="426348"/>
                  </a:lnTo>
                  <a:lnTo>
                    <a:pt x="310482" y="410095"/>
                  </a:lnTo>
                  <a:lnTo>
                    <a:pt x="350522" y="384593"/>
                  </a:lnTo>
                  <a:lnTo>
                    <a:pt x="383917" y="351138"/>
                  </a:lnTo>
                  <a:lnTo>
                    <a:pt x="409373" y="311028"/>
                  </a:lnTo>
                  <a:lnTo>
                    <a:pt x="425596" y="265558"/>
                  </a:lnTo>
                  <a:lnTo>
                    <a:pt x="431292" y="216027"/>
                  </a:lnTo>
                  <a:lnTo>
                    <a:pt x="425596" y="166495"/>
                  </a:lnTo>
                  <a:lnTo>
                    <a:pt x="409373" y="121025"/>
                  </a:lnTo>
                  <a:lnTo>
                    <a:pt x="383917" y="80915"/>
                  </a:lnTo>
                  <a:lnTo>
                    <a:pt x="350522" y="47460"/>
                  </a:lnTo>
                  <a:lnTo>
                    <a:pt x="310482" y="21958"/>
                  </a:lnTo>
                  <a:lnTo>
                    <a:pt x="265092" y="5705"/>
                  </a:lnTo>
                  <a:lnTo>
                    <a:pt x="2156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04010" y="3456432"/>
              <a:ext cx="431800" cy="432434"/>
            </a:xfrm>
            <a:custGeom>
              <a:avLst/>
              <a:gdLst/>
              <a:ahLst/>
              <a:cxnLst/>
              <a:rect l="l" t="t" r="r" b="b"/>
              <a:pathLst>
                <a:path w="431800" h="432434">
                  <a:moveTo>
                    <a:pt x="0" y="216027"/>
                  </a:moveTo>
                  <a:lnTo>
                    <a:pt x="5695" y="166495"/>
                  </a:lnTo>
                  <a:lnTo>
                    <a:pt x="21918" y="121025"/>
                  </a:lnTo>
                  <a:lnTo>
                    <a:pt x="47374" y="80915"/>
                  </a:lnTo>
                  <a:lnTo>
                    <a:pt x="80769" y="47460"/>
                  </a:lnTo>
                  <a:lnTo>
                    <a:pt x="120809" y="21958"/>
                  </a:lnTo>
                  <a:lnTo>
                    <a:pt x="166199" y="5705"/>
                  </a:lnTo>
                  <a:lnTo>
                    <a:pt x="215646" y="0"/>
                  </a:lnTo>
                  <a:lnTo>
                    <a:pt x="265092" y="5705"/>
                  </a:lnTo>
                  <a:lnTo>
                    <a:pt x="310482" y="21958"/>
                  </a:lnTo>
                  <a:lnTo>
                    <a:pt x="350522" y="47460"/>
                  </a:lnTo>
                  <a:lnTo>
                    <a:pt x="383917" y="80915"/>
                  </a:lnTo>
                  <a:lnTo>
                    <a:pt x="409373" y="121025"/>
                  </a:lnTo>
                  <a:lnTo>
                    <a:pt x="425596" y="166495"/>
                  </a:lnTo>
                  <a:lnTo>
                    <a:pt x="431292" y="216027"/>
                  </a:lnTo>
                  <a:lnTo>
                    <a:pt x="425596" y="265558"/>
                  </a:lnTo>
                  <a:lnTo>
                    <a:pt x="409373" y="311028"/>
                  </a:lnTo>
                  <a:lnTo>
                    <a:pt x="383917" y="351138"/>
                  </a:lnTo>
                  <a:lnTo>
                    <a:pt x="350522" y="384593"/>
                  </a:lnTo>
                  <a:lnTo>
                    <a:pt x="310482" y="410095"/>
                  </a:lnTo>
                  <a:lnTo>
                    <a:pt x="265092" y="426348"/>
                  </a:lnTo>
                  <a:lnTo>
                    <a:pt x="215646" y="432054"/>
                  </a:lnTo>
                  <a:lnTo>
                    <a:pt x="166199" y="426348"/>
                  </a:lnTo>
                  <a:lnTo>
                    <a:pt x="120809" y="410095"/>
                  </a:lnTo>
                  <a:lnTo>
                    <a:pt x="80769" y="384593"/>
                  </a:lnTo>
                  <a:lnTo>
                    <a:pt x="47374" y="351138"/>
                  </a:lnTo>
                  <a:lnTo>
                    <a:pt x="21918" y="311028"/>
                  </a:lnTo>
                  <a:lnTo>
                    <a:pt x="5695" y="265558"/>
                  </a:lnTo>
                  <a:lnTo>
                    <a:pt x="0" y="216027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736656" y="3482319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065275" y="4235196"/>
            <a:ext cx="470534" cy="470534"/>
            <a:chOff x="1065275" y="4235196"/>
            <a:chExt cx="470534" cy="470534"/>
          </a:xfrm>
        </p:grpSpPr>
        <p:sp>
          <p:nvSpPr>
            <p:cNvPr id="14" name="object 14"/>
            <p:cNvSpPr/>
            <p:nvPr/>
          </p:nvSpPr>
          <p:spPr>
            <a:xfrm>
              <a:off x="1084325" y="4254246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6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3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6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84325" y="4254246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6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6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3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217185" y="4280202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897885" y="3443478"/>
            <a:ext cx="470534" cy="470534"/>
            <a:chOff x="2897885" y="3443478"/>
            <a:chExt cx="470534" cy="470534"/>
          </a:xfrm>
        </p:grpSpPr>
        <p:sp>
          <p:nvSpPr>
            <p:cNvPr id="18" name="object 18"/>
            <p:cNvSpPr/>
            <p:nvPr/>
          </p:nvSpPr>
          <p:spPr>
            <a:xfrm>
              <a:off x="2916935" y="346252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7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4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7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16935" y="346252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7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7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4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7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050015" y="3488201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042160" y="4235196"/>
            <a:ext cx="470534" cy="470534"/>
            <a:chOff x="2042160" y="4235196"/>
            <a:chExt cx="470534" cy="470534"/>
          </a:xfrm>
        </p:grpSpPr>
        <p:sp>
          <p:nvSpPr>
            <p:cNvPr id="22" name="object 22"/>
            <p:cNvSpPr/>
            <p:nvPr/>
          </p:nvSpPr>
          <p:spPr>
            <a:xfrm>
              <a:off x="2061210" y="4254246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6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3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6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061210" y="4254246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6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6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3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194104" y="4280202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280919" y="3015995"/>
            <a:ext cx="1718945" cy="1257935"/>
            <a:chOff x="1280919" y="3015995"/>
            <a:chExt cx="1718945" cy="1257935"/>
          </a:xfrm>
        </p:grpSpPr>
        <p:sp>
          <p:nvSpPr>
            <p:cNvPr id="26" name="object 26"/>
            <p:cNvSpPr/>
            <p:nvPr/>
          </p:nvSpPr>
          <p:spPr>
            <a:xfrm>
              <a:off x="1972050" y="3035045"/>
              <a:ext cx="341630" cy="485140"/>
            </a:xfrm>
            <a:custGeom>
              <a:avLst/>
              <a:gdLst/>
              <a:ahLst/>
              <a:cxnLst/>
              <a:rect l="l" t="t" r="r" b="b"/>
              <a:pathLst>
                <a:path w="341630" h="485139">
                  <a:moveTo>
                    <a:pt x="341007" y="0"/>
                  </a:moveTo>
                  <a:lnTo>
                    <a:pt x="0" y="48510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99969" y="3825239"/>
              <a:ext cx="367030" cy="429259"/>
            </a:xfrm>
            <a:custGeom>
              <a:avLst/>
              <a:gdLst/>
              <a:ahLst/>
              <a:cxnLst/>
              <a:rect l="l" t="t" r="r" b="b"/>
              <a:pathLst>
                <a:path w="367030" h="429259">
                  <a:moveTo>
                    <a:pt x="366737" y="0"/>
                  </a:moveTo>
                  <a:lnTo>
                    <a:pt x="0" y="429145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72056" y="3825239"/>
              <a:ext cx="304800" cy="429259"/>
            </a:xfrm>
            <a:custGeom>
              <a:avLst/>
              <a:gdLst/>
              <a:ahLst/>
              <a:cxnLst/>
              <a:rect l="l" t="t" r="r" b="b"/>
              <a:pathLst>
                <a:path w="304800" h="429259">
                  <a:moveTo>
                    <a:pt x="0" y="0"/>
                  </a:moveTo>
                  <a:lnTo>
                    <a:pt x="304711" y="42914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618994" y="3035045"/>
              <a:ext cx="361950" cy="491490"/>
            </a:xfrm>
            <a:custGeom>
              <a:avLst/>
              <a:gdLst/>
              <a:ahLst/>
              <a:cxnLst/>
              <a:rect l="l" t="t" r="r" b="b"/>
              <a:pathLst>
                <a:path w="361950" h="491489">
                  <a:moveTo>
                    <a:pt x="0" y="0"/>
                  </a:moveTo>
                  <a:lnTo>
                    <a:pt x="361416" y="49098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7297673" y="2668523"/>
            <a:ext cx="1117600" cy="1261110"/>
            <a:chOff x="7297673" y="2668523"/>
            <a:chExt cx="1117600" cy="1261110"/>
          </a:xfrm>
        </p:grpSpPr>
        <p:sp>
          <p:nvSpPr>
            <p:cNvPr id="31" name="object 31"/>
            <p:cNvSpPr/>
            <p:nvPr/>
          </p:nvSpPr>
          <p:spPr>
            <a:xfrm>
              <a:off x="7963661" y="2687573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6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3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6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963661" y="2687573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6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6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3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316723" y="3478529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7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4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7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316723" y="3478529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7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7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4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7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7450097" y="3504089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latin typeface="Times New Roman"/>
                <a:cs typeface="Times New Roman"/>
              </a:rPr>
              <a:t>2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778752" y="4257294"/>
            <a:ext cx="470534" cy="470534"/>
            <a:chOff x="6778752" y="4257294"/>
            <a:chExt cx="470534" cy="470534"/>
          </a:xfrm>
        </p:grpSpPr>
        <p:sp>
          <p:nvSpPr>
            <p:cNvPr id="37" name="object 37"/>
            <p:cNvSpPr/>
            <p:nvPr/>
          </p:nvSpPr>
          <p:spPr>
            <a:xfrm>
              <a:off x="6797802" y="4276344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6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3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6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797802" y="4276344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6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6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3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930627" y="4301972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8630411" y="3483864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0" y="216027"/>
                </a:moveTo>
                <a:lnTo>
                  <a:pt x="5705" y="166495"/>
                </a:lnTo>
                <a:lnTo>
                  <a:pt x="21958" y="121025"/>
                </a:lnTo>
                <a:lnTo>
                  <a:pt x="47460" y="80915"/>
                </a:lnTo>
                <a:lnTo>
                  <a:pt x="80915" y="47460"/>
                </a:lnTo>
                <a:lnTo>
                  <a:pt x="121025" y="21958"/>
                </a:lnTo>
                <a:lnTo>
                  <a:pt x="166495" y="5705"/>
                </a:lnTo>
                <a:lnTo>
                  <a:pt x="216027" y="0"/>
                </a:lnTo>
                <a:lnTo>
                  <a:pt x="265558" y="5705"/>
                </a:lnTo>
                <a:lnTo>
                  <a:pt x="311028" y="21958"/>
                </a:lnTo>
                <a:lnTo>
                  <a:pt x="351138" y="47460"/>
                </a:lnTo>
                <a:lnTo>
                  <a:pt x="384593" y="80915"/>
                </a:lnTo>
                <a:lnTo>
                  <a:pt x="410095" y="121025"/>
                </a:lnTo>
                <a:lnTo>
                  <a:pt x="426348" y="166495"/>
                </a:lnTo>
                <a:lnTo>
                  <a:pt x="432054" y="216027"/>
                </a:lnTo>
                <a:lnTo>
                  <a:pt x="426348" y="265558"/>
                </a:lnTo>
                <a:lnTo>
                  <a:pt x="410095" y="311028"/>
                </a:lnTo>
                <a:lnTo>
                  <a:pt x="384593" y="351138"/>
                </a:lnTo>
                <a:lnTo>
                  <a:pt x="351138" y="384593"/>
                </a:lnTo>
                <a:lnTo>
                  <a:pt x="311028" y="410095"/>
                </a:lnTo>
                <a:lnTo>
                  <a:pt x="265558" y="426348"/>
                </a:lnTo>
                <a:lnTo>
                  <a:pt x="216027" y="432054"/>
                </a:lnTo>
                <a:lnTo>
                  <a:pt x="166495" y="426348"/>
                </a:lnTo>
                <a:lnTo>
                  <a:pt x="121025" y="410095"/>
                </a:lnTo>
                <a:lnTo>
                  <a:pt x="80915" y="384593"/>
                </a:lnTo>
                <a:lnTo>
                  <a:pt x="47460" y="351138"/>
                </a:lnTo>
                <a:lnTo>
                  <a:pt x="21958" y="311028"/>
                </a:lnTo>
                <a:lnTo>
                  <a:pt x="5705" y="265558"/>
                </a:lnTo>
                <a:lnTo>
                  <a:pt x="0" y="216027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8096570" y="2713522"/>
            <a:ext cx="832485" cy="1157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15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2200" b="1">
                <a:latin typeface="Times New Roman"/>
                <a:cs typeface="Times New Roman"/>
              </a:rPr>
              <a:t>3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7755635" y="4257294"/>
            <a:ext cx="470534" cy="470534"/>
            <a:chOff x="7755635" y="4257294"/>
            <a:chExt cx="470534" cy="470534"/>
          </a:xfrm>
        </p:grpSpPr>
        <p:sp>
          <p:nvSpPr>
            <p:cNvPr id="43" name="object 43"/>
            <p:cNvSpPr/>
            <p:nvPr/>
          </p:nvSpPr>
          <p:spPr>
            <a:xfrm>
              <a:off x="7774685" y="4276344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6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3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6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774685" y="4276344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6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6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3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7907546" y="4301972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latin typeface="Times New Roman"/>
                <a:cs typeface="Times New Roman"/>
              </a:rPr>
              <a:t>5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6994397" y="2590800"/>
            <a:ext cx="1718945" cy="2085975"/>
            <a:chOff x="6994397" y="2590800"/>
            <a:chExt cx="1718945" cy="2085975"/>
          </a:xfrm>
        </p:grpSpPr>
        <p:sp>
          <p:nvSpPr>
            <p:cNvPr id="47" name="object 47"/>
            <p:cNvSpPr/>
            <p:nvPr/>
          </p:nvSpPr>
          <p:spPr>
            <a:xfrm>
              <a:off x="7685526" y="3056381"/>
              <a:ext cx="341630" cy="485140"/>
            </a:xfrm>
            <a:custGeom>
              <a:avLst/>
              <a:gdLst/>
              <a:ahLst/>
              <a:cxnLst/>
              <a:rect l="l" t="t" r="r" b="b"/>
              <a:pathLst>
                <a:path w="341629" h="485139">
                  <a:moveTo>
                    <a:pt x="341007" y="0"/>
                  </a:moveTo>
                  <a:lnTo>
                    <a:pt x="0" y="48510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013447" y="3847338"/>
              <a:ext cx="367030" cy="429259"/>
            </a:xfrm>
            <a:custGeom>
              <a:avLst/>
              <a:gdLst/>
              <a:ahLst/>
              <a:cxnLst/>
              <a:rect l="l" t="t" r="r" b="b"/>
              <a:pathLst>
                <a:path w="367029" h="429259">
                  <a:moveTo>
                    <a:pt x="366737" y="0"/>
                  </a:moveTo>
                  <a:lnTo>
                    <a:pt x="0" y="429145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685532" y="3847338"/>
              <a:ext cx="304800" cy="429259"/>
            </a:xfrm>
            <a:custGeom>
              <a:avLst/>
              <a:gdLst/>
              <a:ahLst/>
              <a:cxnLst/>
              <a:rect l="l" t="t" r="r" b="b"/>
              <a:pathLst>
                <a:path w="304800" h="429259">
                  <a:moveTo>
                    <a:pt x="0" y="0"/>
                  </a:moveTo>
                  <a:lnTo>
                    <a:pt x="304711" y="42914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332470" y="3056381"/>
              <a:ext cx="361950" cy="491490"/>
            </a:xfrm>
            <a:custGeom>
              <a:avLst/>
              <a:gdLst/>
              <a:ahLst/>
              <a:cxnLst/>
              <a:rect l="l" t="t" r="r" b="b"/>
              <a:pathLst>
                <a:path w="361950" h="491489">
                  <a:moveTo>
                    <a:pt x="0" y="0"/>
                  </a:moveTo>
                  <a:lnTo>
                    <a:pt x="361416" y="49098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193421" y="2609850"/>
              <a:ext cx="581025" cy="709930"/>
            </a:xfrm>
            <a:custGeom>
              <a:avLst/>
              <a:gdLst/>
              <a:ahLst/>
              <a:cxnLst/>
              <a:rect l="l" t="t" r="r" b="b"/>
              <a:pathLst>
                <a:path w="581025" h="709929">
                  <a:moveTo>
                    <a:pt x="580910" y="0"/>
                  </a:moveTo>
                  <a:lnTo>
                    <a:pt x="0" y="709637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133087" y="3268543"/>
              <a:ext cx="116839" cy="125095"/>
            </a:xfrm>
            <a:custGeom>
              <a:avLst/>
              <a:gdLst/>
              <a:ahLst/>
              <a:cxnLst/>
              <a:rect l="l" t="t" r="r" b="b"/>
              <a:pathLst>
                <a:path w="116839" h="125095">
                  <a:moveTo>
                    <a:pt x="28168" y="0"/>
                  </a:moveTo>
                  <a:lnTo>
                    <a:pt x="0" y="124650"/>
                  </a:lnTo>
                  <a:lnTo>
                    <a:pt x="116611" y="72402"/>
                  </a:lnTo>
                  <a:lnTo>
                    <a:pt x="281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123938" y="3839717"/>
              <a:ext cx="585470" cy="761365"/>
            </a:xfrm>
            <a:custGeom>
              <a:avLst/>
              <a:gdLst/>
              <a:ahLst/>
              <a:cxnLst/>
              <a:rect l="l" t="t" r="r" b="b"/>
              <a:pathLst>
                <a:path w="585470" h="761364">
                  <a:moveTo>
                    <a:pt x="0" y="0"/>
                  </a:moveTo>
                  <a:lnTo>
                    <a:pt x="585393" y="761022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652424" y="4550797"/>
              <a:ext cx="115570" cy="125730"/>
            </a:xfrm>
            <a:custGeom>
              <a:avLst/>
              <a:gdLst/>
              <a:ahLst/>
              <a:cxnLst/>
              <a:rect l="l" t="t" r="r" b="b"/>
              <a:pathLst>
                <a:path w="115570" h="125729">
                  <a:moveTo>
                    <a:pt x="90601" y="0"/>
                  </a:moveTo>
                  <a:lnTo>
                    <a:pt x="0" y="69684"/>
                  </a:lnTo>
                  <a:lnTo>
                    <a:pt x="114985" y="125437"/>
                  </a:lnTo>
                  <a:lnTo>
                    <a:pt x="9060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3">
            <a:extLst>
              <a:ext uri="{FF2B5EF4-FFF2-40B4-BE49-F238E27FC236}">
                <a16:creationId xmlns:a16="http://schemas.microsoft.com/office/drawing/2014/main" id="{40BCF774-4787-7E42-BFE2-026138D4EA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6464" y="210162"/>
            <a:ext cx="221751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算法思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想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7240" y="1135002"/>
            <a:ext cx="25038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>
                <a:latin typeface="PMingLiU"/>
                <a:cs typeface="PMingLiU"/>
              </a:rPr>
              <a:t>广度优先搜索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65240" y="1135002"/>
            <a:ext cx="25038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>
                <a:latin typeface="PMingLiU"/>
                <a:cs typeface="PMingLiU"/>
              </a:rPr>
              <a:t>深度优先搜索</a:t>
            </a:r>
            <a:endParaRPr sz="2800">
              <a:latin typeface="PMingLiU"/>
              <a:cs typeface="PMingLiU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231135" y="2647188"/>
            <a:ext cx="470534" cy="470534"/>
            <a:chOff x="2231135" y="2647188"/>
            <a:chExt cx="470534" cy="470534"/>
          </a:xfrm>
        </p:grpSpPr>
        <p:sp>
          <p:nvSpPr>
            <p:cNvPr id="6" name="object 6"/>
            <p:cNvSpPr/>
            <p:nvPr/>
          </p:nvSpPr>
          <p:spPr>
            <a:xfrm>
              <a:off x="2250185" y="266623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6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3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6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50185" y="266623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6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6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3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383128" y="2691752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584960" y="3437382"/>
            <a:ext cx="469900" cy="470534"/>
            <a:chOff x="1584960" y="3437382"/>
            <a:chExt cx="469900" cy="470534"/>
          </a:xfrm>
        </p:grpSpPr>
        <p:sp>
          <p:nvSpPr>
            <p:cNvPr id="10" name="object 10"/>
            <p:cNvSpPr/>
            <p:nvPr/>
          </p:nvSpPr>
          <p:spPr>
            <a:xfrm>
              <a:off x="1604010" y="3456432"/>
              <a:ext cx="431800" cy="432434"/>
            </a:xfrm>
            <a:custGeom>
              <a:avLst/>
              <a:gdLst/>
              <a:ahLst/>
              <a:cxnLst/>
              <a:rect l="l" t="t" r="r" b="b"/>
              <a:pathLst>
                <a:path w="431800" h="432434">
                  <a:moveTo>
                    <a:pt x="215646" y="0"/>
                  </a:moveTo>
                  <a:lnTo>
                    <a:pt x="166199" y="5705"/>
                  </a:lnTo>
                  <a:lnTo>
                    <a:pt x="120809" y="21958"/>
                  </a:lnTo>
                  <a:lnTo>
                    <a:pt x="80769" y="47460"/>
                  </a:lnTo>
                  <a:lnTo>
                    <a:pt x="47374" y="80915"/>
                  </a:lnTo>
                  <a:lnTo>
                    <a:pt x="21918" y="121025"/>
                  </a:lnTo>
                  <a:lnTo>
                    <a:pt x="5695" y="166495"/>
                  </a:lnTo>
                  <a:lnTo>
                    <a:pt x="0" y="216027"/>
                  </a:lnTo>
                  <a:lnTo>
                    <a:pt x="5695" y="265558"/>
                  </a:lnTo>
                  <a:lnTo>
                    <a:pt x="21918" y="311028"/>
                  </a:lnTo>
                  <a:lnTo>
                    <a:pt x="47374" y="351138"/>
                  </a:lnTo>
                  <a:lnTo>
                    <a:pt x="80769" y="384593"/>
                  </a:lnTo>
                  <a:lnTo>
                    <a:pt x="120809" y="410095"/>
                  </a:lnTo>
                  <a:lnTo>
                    <a:pt x="166199" y="426348"/>
                  </a:lnTo>
                  <a:lnTo>
                    <a:pt x="215646" y="432054"/>
                  </a:lnTo>
                  <a:lnTo>
                    <a:pt x="265092" y="426348"/>
                  </a:lnTo>
                  <a:lnTo>
                    <a:pt x="310482" y="410095"/>
                  </a:lnTo>
                  <a:lnTo>
                    <a:pt x="350522" y="384593"/>
                  </a:lnTo>
                  <a:lnTo>
                    <a:pt x="383917" y="351138"/>
                  </a:lnTo>
                  <a:lnTo>
                    <a:pt x="409373" y="311028"/>
                  </a:lnTo>
                  <a:lnTo>
                    <a:pt x="425596" y="265558"/>
                  </a:lnTo>
                  <a:lnTo>
                    <a:pt x="431292" y="216027"/>
                  </a:lnTo>
                  <a:lnTo>
                    <a:pt x="425596" y="166495"/>
                  </a:lnTo>
                  <a:lnTo>
                    <a:pt x="409373" y="121025"/>
                  </a:lnTo>
                  <a:lnTo>
                    <a:pt x="383917" y="80915"/>
                  </a:lnTo>
                  <a:lnTo>
                    <a:pt x="350522" y="47460"/>
                  </a:lnTo>
                  <a:lnTo>
                    <a:pt x="310482" y="21958"/>
                  </a:lnTo>
                  <a:lnTo>
                    <a:pt x="265092" y="5705"/>
                  </a:lnTo>
                  <a:lnTo>
                    <a:pt x="2156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04010" y="3456432"/>
              <a:ext cx="431800" cy="432434"/>
            </a:xfrm>
            <a:custGeom>
              <a:avLst/>
              <a:gdLst/>
              <a:ahLst/>
              <a:cxnLst/>
              <a:rect l="l" t="t" r="r" b="b"/>
              <a:pathLst>
                <a:path w="431800" h="432434">
                  <a:moveTo>
                    <a:pt x="0" y="216027"/>
                  </a:moveTo>
                  <a:lnTo>
                    <a:pt x="5695" y="166495"/>
                  </a:lnTo>
                  <a:lnTo>
                    <a:pt x="21918" y="121025"/>
                  </a:lnTo>
                  <a:lnTo>
                    <a:pt x="47374" y="80915"/>
                  </a:lnTo>
                  <a:lnTo>
                    <a:pt x="80769" y="47460"/>
                  </a:lnTo>
                  <a:lnTo>
                    <a:pt x="120809" y="21958"/>
                  </a:lnTo>
                  <a:lnTo>
                    <a:pt x="166199" y="5705"/>
                  </a:lnTo>
                  <a:lnTo>
                    <a:pt x="215646" y="0"/>
                  </a:lnTo>
                  <a:lnTo>
                    <a:pt x="265092" y="5705"/>
                  </a:lnTo>
                  <a:lnTo>
                    <a:pt x="310482" y="21958"/>
                  </a:lnTo>
                  <a:lnTo>
                    <a:pt x="350522" y="47460"/>
                  </a:lnTo>
                  <a:lnTo>
                    <a:pt x="383917" y="80915"/>
                  </a:lnTo>
                  <a:lnTo>
                    <a:pt x="409373" y="121025"/>
                  </a:lnTo>
                  <a:lnTo>
                    <a:pt x="425596" y="166495"/>
                  </a:lnTo>
                  <a:lnTo>
                    <a:pt x="431292" y="216027"/>
                  </a:lnTo>
                  <a:lnTo>
                    <a:pt x="425596" y="265558"/>
                  </a:lnTo>
                  <a:lnTo>
                    <a:pt x="409373" y="311028"/>
                  </a:lnTo>
                  <a:lnTo>
                    <a:pt x="383917" y="351138"/>
                  </a:lnTo>
                  <a:lnTo>
                    <a:pt x="350522" y="384593"/>
                  </a:lnTo>
                  <a:lnTo>
                    <a:pt x="310482" y="410095"/>
                  </a:lnTo>
                  <a:lnTo>
                    <a:pt x="265092" y="426348"/>
                  </a:lnTo>
                  <a:lnTo>
                    <a:pt x="215646" y="432054"/>
                  </a:lnTo>
                  <a:lnTo>
                    <a:pt x="166199" y="426348"/>
                  </a:lnTo>
                  <a:lnTo>
                    <a:pt x="120809" y="410095"/>
                  </a:lnTo>
                  <a:lnTo>
                    <a:pt x="80769" y="384593"/>
                  </a:lnTo>
                  <a:lnTo>
                    <a:pt x="47374" y="351138"/>
                  </a:lnTo>
                  <a:lnTo>
                    <a:pt x="21918" y="311028"/>
                  </a:lnTo>
                  <a:lnTo>
                    <a:pt x="5695" y="265558"/>
                  </a:lnTo>
                  <a:lnTo>
                    <a:pt x="0" y="216027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736656" y="3482319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065275" y="4235196"/>
            <a:ext cx="470534" cy="470534"/>
            <a:chOff x="1065275" y="4235196"/>
            <a:chExt cx="470534" cy="470534"/>
          </a:xfrm>
        </p:grpSpPr>
        <p:sp>
          <p:nvSpPr>
            <p:cNvPr id="14" name="object 14"/>
            <p:cNvSpPr/>
            <p:nvPr/>
          </p:nvSpPr>
          <p:spPr>
            <a:xfrm>
              <a:off x="1084325" y="4254246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6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3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6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84325" y="4254246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6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6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3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217185" y="4280202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897885" y="3443478"/>
            <a:ext cx="470534" cy="470534"/>
            <a:chOff x="2897885" y="3443478"/>
            <a:chExt cx="470534" cy="470534"/>
          </a:xfrm>
        </p:grpSpPr>
        <p:sp>
          <p:nvSpPr>
            <p:cNvPr id="18" name="object 18"/>
            <p:cNvSpPr/>
            <p:nvPr/>
          </p:nvSpPr>
          <p:spPr>
            <a:xfrm>
              <a:off x="2916935" y="346252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7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4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7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16935" y="346252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7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7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4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7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050015" y="3488201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042160" y="4235196"/>
            <a:ext cx="470534" cy="470534"/>
            <a:chOff x="2042160" y="4235196"/>
            <a:chExt cx="470534" cy="470534"/>
          </a:xfrm>
        </p:grpSpPr>
        <p:sp>
          <p:nvSpPr>
            <p:cNvPr id="22" name="object 22"/>
            <p:cNvSpPr/>
            <p:nvPr/>
          </p:nvSpPr>
          <p:spPr>
            <a:xfrm>
              <a:off x="2061210" y="4254246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6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3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6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061210" y="4254246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6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6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3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194104" y="4280202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280919" y="3015995"/>
            <a:ext cx="1718945" cy="1257935"/>
            <a:chOff x="1280919" y="3015995"/>
            <a:chExt cx="1718945" cy="1257935"/>
          </a:xfrm>
        </p:grpSpPr>
        <p:sp>
          <p:nvSpPr>
            <p:cNvPr id="26" name="object 26"/>
            <p:cNvSpPr/>
            <p:nvPr/>
          </p:nvSpPr>
          <p:spPr>
            <a:xfrm>
              <a:off x="1972050" y="3035045"/>
              <a:ext cx="341630" cy="485140"/>
            </a:xfrm>
            <a:custGeom>
              <a:avLst/>
              <a:gdLst/>
              <a:ahLst/>
              <a:cxnLst/>
              <a:rect l="l" t="t" r="r" b="b"/>
              <a:pathLst>
                <a:path w="341630" h="485139">
                  <a:moveTo>
                    <a:pt x="341007" y="0"/>
                  </a:moveTo>
                  <a:lnTo>
                    <a:pt x="0" y="48510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99969" y="3825239"/>
              <a:ext cx="367030" cy="429259"/>
            </a:xfrm>
            <a:custGeom>
              <a:avLst/>
              <a:gdLst/>
              <a:ahLst/>
              <a:cxnLst/>
              <a:rect l="l" t="t" r="r" b="b"/>
              <a:pathLst>
                <a:path w="367030" h="429259">
                  <a:moveTo>
                    <a:pt x="366737" y="0"/>
                  </a:moveTo>
                  <a:lnTo>
                    <a:pt x="0" y="429145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72056" y="3825239"/>
              <a:ext cx="304800" cy="429259"/>
            </a:xfrm>
            <a:custGeom>
              <a:avLst/>
              <a:gdLst/>
              <a:ahLst/>
              <a:cxnLst/>
              <a:rect l="l" t="t" r="r" b="b"/>
              <a:pathLst>
                <a:path w="304800" h="429259">
                  <a:moveTo>
                    <a:pt x="0" y="0"/>
                  </a:moveTo>
                  <a:lnTo>
                    <a:pt x="304711" y="42914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618994" y="3035045"/>
              <a:ext cx="361950" cy="491490"/>
            </a:xfrm>
            <a:custGeom>
              <a:avLst/>
              <a:gdLst/>
              <a:ahLst/>
              <a:cxnLst/>
              <a:rect l="l" t="t" r="r" b="b"/>
              <a:pathLst>
                <a:path w="361950" h="491489">
                  <a:moveTo>
                    <a:pt x="0" y="0"/>
                  </a:moveTo>
                  <a:lnTo>
                    <a:pt x="361416" y="49098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7297673" y="2668523"/>
            <a:ext cx="1117600" cy="1261110"/>
            <a:chOff x="7297673" y="2668523"/>
            <a:chExt cx="1117600" cy="1261110"/>
          </a:xfrm>
        </p:grpSpPr>
        <p:sp>
          <p:nvSpPr>
            <p:cNvPr id="31" name="object 31"/>
            <p:cNvSpPr/>
            <p:nvPr/>
          </p:nvSpPr>
          <p:spPr>
            <a:xfrm>
              <a:off x="7963661" y="2687573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6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3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6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963661" y="2687573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6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6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3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316723" y="3478529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7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4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7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316723" y="3478529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7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7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4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7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7450097" y="3504089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778752" y="4257294"/>
            <a:ext cx="470534" cy="470534"/>
            <a:chOff x="6778752" y="4257294"/>
            <a:chExt cx="470534" cy="470534"/>
          </a:xfrm>
        </p:grpSpPr>
        <p:sp>
          <p:nvSpPr>
            <p:cNvPr id="37" name="object 37"/>
            <p:cNvSpPr/>
            <p:nvPr/>
          </p:nvSpPr>
          <p:spPr>
            <a:xfrm>
              <a:off x="6797802" y="4276344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6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3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6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797802" y="4276344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6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6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3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930627" y="4301972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8611361" y="3464814"/>
            <a:ext cx="470534" cy="470534"/>
            <a:chOff x="8611361" y="3464814"/>
            <a:chExt cx="470534" cy="470534"/>
          </a:xfrm>
        </p:grpSpPr>
        <p:sp>
          <p:nvSpPr>
            <p:cNvPr id="41" name="object 41"/>
            <p:cNvSpPr/>
            <p:nvPr/>
          </p:nvSpPr>
          <p:spPr>
            <a:xfrm>
              <a:off x="8630411" y="3483864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7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4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7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630411" y="3483864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7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7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4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7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8096570" y="2713522"/>
            <a:ext cx="832485" cy="1157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15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2200" b="1">
                <a:latin typeface="Times New Roman"/>
                <a:cs typeface="Times New Roman"/>
              </a:rPr>
              <a:t>3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7755635" y="4257294"/>
            <a:ext cx="470534" cy="470534"/>
            <a:chOff x="7755635" y="4257294"/>
            <a:chExt cx="470534" cy="470534"/>
          </a:xfrm>
        </p:grpSpPr>
        <p:sp>
          <p:nvSpPr>
            <p:cNvPr id="45" name="object 45"/>
            <p:cNvSpPr/>
            <p:nvPr/>
          </p:nvSpPr>
          <p:spPr>
            <a:xfrm>
              <a:off x="7774685" y="4276344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6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3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6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774685" y="4276344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6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6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3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7907546" y="4301972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6994397" y="2703576"/>
            <a:ext cx="2243455" cy="1592580"/>
            <a:chOff x="6994397" y="2703576"/>
            <a:chExt cx="2243455" cy="1592580"/>
          </a:xfrm>
        </p:grpSpPr>
        <p:sp>
          <p:nvSpPr>
            <p:cNvPr id="49" name="object 49"/>
            <p:cNvSpPr/>
            <p:nvPr/>
          </p:nvSpPr>
          <p:spPr>
            <a:xfrm>
              <a:off x="7685526" y="3056382"/>
              <a:ext cx="341630" cy="485140"/>
            </a:xfrm>
            <a:custGeom>
              <a:avLst/>
              <a:gdLst/>
              <a:ahLst/>
              <a:cxnLst/>
              <a:rect l="l" t="t" r="r" b="b"/>
              <a:pathLst>
                <a:path w="341629" h="485139">
                  <a:moveTo>
                    <a:pt x="341007" y="0"/>
                  </a:moveTo>
                  <a:lnTo>
                    <a:pt x="0" y="48510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013447" y="3847338"/>
              <a:ext cx="367030" cy="429259"/>
            </a:xfrm>
            <a:custGeom>
              <a:avLst/>
              <a:gdLst/>
              <a:ahLst/>
              <a:cxnLst/>
              <a:rect l="l" t="t" r="r" b="b"/>
              <a:pathLst>
                <a:path w="367029" h="429259">
                  <a:moveTo>
                    <a:pt x="366737" y="0"/>
                  </a:moveTo>
                  <a:lnTo>
                    <a:pt x="0" y="429145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685532" y="3847338"/>
              <a:ext cx="304800" cy="429259"/>
            </a:xfrm>
            <a:custGeom>
              <a:avLst/>
              <a:gdLst/>
              <a:ahLst/>
              <a:cxnLst/>
              <a:rect l="l" t="t" r="r" b="b"/>
              <a:pathLst>
                <a:path w="304800" h="429259">
                  <a:moveTo>
                    <a:pt x="0" y="0"/>
                  </a:moveTo>
                  <a:lnTo>
                    <a:pt x="304711" y="42914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332470" y="3056382"/>
              <a:ext cx="361950" cy="491490"/>
            </a:xfrm>
            <a:custGeom>
              <a:avLst/>
              <a:gdLst/>
              <a:ahLst/>
              <a:cxnLst/>
              <a:rect l="l" t="t" r="r" b="b"/>
              <a:pathLst>
                <a:path w="361950" h="491489">
                  <a:moveTo>
                    <a:pt x="0" y="0"/>
                  </a:moveTo>
                  <a:lnTo>
                    <a:pt x="361416" y="49098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561832" y="2722626"/>
              <a:ext cx="615315" cy="746125"/>
            </a:xfrm>
            <a:custGeom>
              <a:avLst/>
              <a:gdLst/>
              <a:ahLst/>
              <a:cxnLst/>
              <a:rect l="l" t="t" r="r" b="b"/>
              <a:pathLst>
                <a:path w="615315" h="746125">
                  <a:moveTo>
                    <a:pt x="0" y="0"/>
                  </a:moveTo>
                  <a:lnTo>
                    <a:pt x="614908" y="74554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9120530" y="3417109"/>
              <a:ext cx="116839" cy="125095"/>
            </a:xfrm>
            <a:custGeom>
              <a:avLst/>
              <a:gdLst/>
              <a:ahLst/>
              <a:cxnLst/>
              <a:rect l="l" t="t" r="r" b="b"/>
              <a:pathLst>
                <a:path w="116839" h="125095">
                  <a:moveTo>
                    <a:pt x="88176" y="0"/>
                  </a:moveTo>
                  <a:lnTo>
                    <a:pt x="0" y="72720"/>
                  </a:lnTo>
                  <a:lnTo>
                    <a:pt x="116801" y="124548"/>
                  </a:lnTo>
                  <a:lnTo>
                    <a:pt x="8817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3">
            <a:extLst>
              <a:ext uri="{FF2B5EF4-FFF2-40B4-BE49-F238E27FC236}">
                <a16:creationId xmlns:a16="http://schemas.microsoft.com/office/drawing/2014/main" id="{113F8BAB-08FD-FD49-A0A7-6E5E8075DF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6464" y="210162"/>
            <a:ext cx="221751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算法思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想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7240" y="1033402"/>
            <a:ext cx="25038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>
                <a:latin typeface="PMingLiU"/>
                <a:cs typeface="PMingLiU"/>
              </a:rPr>
              <a:t>广度优先搜索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65240" y="1033402"/>
            <a:ext cx="25038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>
                <a:latin typeface="PMingLiU"/>
                <a:cs typeface="PMingLiU"/>
              </a:rPr>
              <a:t>深度优先搜索</a:t>
            </a:r>
            <a:endParaRPr sz="2800">
              <a:latin typeface="PMingLiU"/>
              <a:cs typeface="PMingLiU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231135" y="2647188"/>
            <a:ext cx="470534" cy="470534"/>
            <a:chOff x="2231135" y="2647188"/>
            <a:chExt cx="470534" cy="470534"/>
          </a:xfrm>
        </p:grpSpPr>
        <p:sp>
          <p:nvSpPr>
            <p:cNvPr id="6" name="object 6"/>
            <p:cNvSpPr/>
            <p:nvPr/>
          </p:nvSpPr>
          <p:spPr>
            <a:xfrm>
              <a:off x="2250185" y="266623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6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3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6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50185" y="266623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6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6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3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383128" y="2691752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584960" y="3437382"/>
            <a:ext cx="469900" cy="470534"/>
            <a:chOff x="1584960" y="3437382"/>
            <a:chExt cx="469900" cy="470534"/>
          </a:xfrm>
        </p:grpSpPr>
        <p:sp>
          <p:nvSpPr>
            <p:cNvPr id="10" name="object 10"/>
            <p:cNvSpPr/>
            <p:nvPr/>
          </p:nvSpPr>
          <p:spPr>
            <a:xfrm>
              <a:off x="1604010" y="3456432"/>
              <a:ext cx="431800" cy="432434"/>
            </a:xfrm>
            <a:custGeom>
              <a:avLst/>
              <a:gdLst/>
              <a:ahLst/>
              <a:cxnLst/>
              <a:rect l="l" t="t" r="r" b="b"/>
              <a:pathLst>
                <a:path w="431800" h="432434">
                  <a:moveTo>
                    <a:pt x="215646" y="0"/>
                  </a:moveTo>
                  <a:lnTo>
                    <a:pt x="166199" y="5705"/>
                  </a:lnTo>
                  <a:lnTo>
                    <a:pt x="120809" y="21958"/>
                  </a:lnTo>
                  <a:lnTo>
                    <a:pt x="80769" y="47460"/>
                  </a:lnTo>
                  <a:lnTo>
                    <a:pt x="47374" y="80915"/>
                  </a:lnTo>
                  <a:lnTo>
                    <a:pt x="21918" y="121025"/>
                  </a:lnTo>
                  <a:lnTo>
                    <a:pt x="5695" y="166495"/>
                  </a:lnTo>
                  <a:lnTo>
                    <a:pt x="0" y="216027"/>
                  </a:lnTo>
                  <a:lnTo>
                    <a:pt x="5695" y="265558"/>
                  </a:lnTo>
                  <a:lnTo>
                    <a:pt x="21918" y="311028"/>
                  </a:lnTo>
                  <a:lnTo>
                    <a:pt x="47374" y="351138"/>
                  </a:lnTo>
                  <a:lnTo>
                    <a:pt x="80769" y="384593"/>
                  </a:lnTo>
                  <a:lnTo>
                    <a:pt x="120809" y="410095"/>
                  </a:lnTo>
                  <a:lnTo>
                    <a:pt x="166199" y="426348"/>
                  </a:lnTo>
                  <a:lnTo>
                    <a:pt x="215646" y="432054"/>
                  </a:lnTo>
                  <a:lnTo>
                    <a:pt x="265092" y="426348"/>
                  </a:lnTo>
                  <a:lnTo>
                    <a:pt x="310482" y="410095"/>
                  </a:lnTo>
                  <a:lnTo>
                    <a:pt x="350522" y="384593"/>
                  </a:lnTo>
                  <a:lnTo>
                    <a:pt x="383917" y="351138"/>
                  </a:lnTo>
                  <a:lnTo>
                    <a:pt x="409373" y="311028"/>
                  </a:lnTo>
                  <a:lnTo>
                    <a:pt x="425596" y="265558"/>
                  </a:lnTo>
                  <a:lnTo>
                    <a:pt x="431292" y="216027"/>
                  </a:lnTo>
                  <a:lnTo>
                    <a:pt x="425596" y="166495"/>
                  </a:lnTo>
                  <a:lnTo>
                    <a:pt x="409373" y="121025"/>
                  </a:lnTo>
                  <a:lnTo>
                    <a:pt x="383917" y="80915"/>
                  </a:lnTo>
                  <a:lnTo>
                    <a:pt x="350522" y="47460"/>
                  </a:lnTo>
                  <a:lnTo>
                    <a:pt x="310482" y="21958"/>
                  </a:lnTo>
                  <a:lnTo>
                    <a:pt x="265092" y="5705"/>
                  </a:lnTo>
                  <a:lnTo>
                    <a:pt x="2156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04010" y="3456432"/>
              <a:ext cx="431800" cy="432434"/>
            </a:xfrm>
            <a:custGeom>
              <a:avLst/>
              <a:gdLst/>
              <a:ahLst/>
              <a:cxnLst/>
              <a:rect l="l" t="t" r="r" b="b"/>
              <a:pathLst>
                <a:path w="431800" h="432434">
                  <a:moveTo>
                    <a:pt x="0" y="216027"/>
                  </a:moveTo>
                  <a:lnTo>
                    <a:pt x="5695" y="166495"/>
                  </a:lnTo>
                  <a:lnTo>
                    <a:pt x="21918" y="121025"/>
                  </a:lnTo>
                  <a:lnTo>
                    <a:pt x="47374" y="80915"/>
                  </a:lnTo>
                  <a:lnTo>
                    <a:pt x="80769" y="47460"/>
                  </a:lnTo>
                  <a:lnTo>
                    <a:pt x="120809" y="21958"/>
                  </a:lnTo>
                  <a:lnTo>
                    <a:pt x="166199" y="5705"/>
                  </a:lnTo>
                  <a:lnTo>
                    <a:pt x="215646" y="0"/>
                  </a:lnTo>
                  <a:lnTo>
                    <a:pt x="265092" y="5705"/>
                  </a:lnTo>
                  <a:lnTo>
                    <a:pt x="310482" y="21958"/>
                  </a:lnTo>
                  <a:lnTo>
                    <a:pt x="350522" y="47460"/>
                  </a:lnTo>
                  <a:lnTo>
                    <a:pt x="383917" y="80915"/>
                  </a:lnTo>
                  <a:lnTo>
                    <a:pt x="409373" y="121025"/>
                  </a:lnTo>
                  <a:lnTo>
                    <a:pt x="425596" y="166495"/>
                  </a:lnTo>
                  <a:lnTo>
                    <a:pt x="431292" y="216027"/>
                  </a:lnTo>
                  <a:lnTo>
                    <a:pt x="425596" y="265558"/>
                  </a:lnTo>
                  <a:lnTo>
                    <a:pt x="409373" y="311028"/>
                  </a:lnTo>
                  <a:lnTo>
                    <a:pt x="383917" y="351138"/>
                  </a:lnTo>
                  <a:lnTo>
                    <a:pt x="350522" y="384593"/>
                  </a:lnTo>
                  <a:lnTo>
                    <a:pt x="310482" y="410095"/>
                  </a:lnTo>
                  <a:lnTo>
                    <a:pt x="265092" y="426348"/>
                  </a:lnTo>
                  <a:lnTo>
                    <a:pt x="215646" y="432054"/>
                  </a:lnTo>
                  <a:lnTo>
                    <a:pt x="166199" y="426348"/>
                  </a:lnTo>
                  <a:lnTo>
                    <a:pt x="120809" y="410095"/>
                  </a:lnTo>
                  <a:lnTo>
                    <a:pt x="80769" y="384593"/>
                  </a:lnTo>
                  <a:lnTo>
                    <a:pt x="47374" y="351138"/>
                  </a:lnTo>
                  <a:lnTo>
                    <a:pt x="21918" y="311028"/>
                  </a:lnTo>
                  <a:lnTo>
                    <a:pt x="5695" y="265558"/>
                  </a:lnTo>
                  <a:lnTo>
                    <a:pt x="0" y="216027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736656" y="3482319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065275" y="4235196"/>
            <a:ext cx="470534" cy="470534"/>
            <a:chOff x="1065275" y="4235196"/>
            <a:chExt cx="470534" cy="470534"/>
          </a:xfrm>
        </p:grpSpPr>
        <p:sp>
          <p:nvSpPr>
            <p:cNvPr id="14" name="object 14"/>
            <p:cNvSpPr/>
            <p:nvPr/>
          </p:nvSpPr>
          <p:spPr>
            <a:xfrm>
              <a:off x="1084325" y="4254246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6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3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6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84325" y="4254246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6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6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3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217185" y="4280202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897885" y="3443478"/>
            <a:ext cx="470534" cy="470534"/>
            <a:chOff x="2897885" y="3443478"/>
            <a:chExt cx="470534" cy="470534"/>
          </a:xfrm>
        </p:grpSpPr>
        <p:sp>
          <p:nvSpPr>
            <p:cNvPr id="18" name="object 18"/>
            <p:cNvSpPr/>
            <p:nvPr/>
          </p:nvSpPr>
          <p:spPr>
            <a:xfrm>
              <a:off x="2916935" y="346252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7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4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7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16935" y="346252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7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7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4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7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050015" y="3488201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042160" y="4235196"/>
            <a:ext cx="470534" cy="470534"/>
            <a:chOff x="2042160" y="4235196"/>
            <a:chExt cx="470534" cy="470534"/>
          </a:xfrm>
        </p:grpSpPr>
        <p:sp>
          <p:nvSpPr>
            <p:cNvPr id="22" name="object 22"/>
            <p:cNvSpPr/>
            <p:nvPr/>
          </p:nvSpPr>
          <p:spPr>
            <a:xfrm>
              <a:off x="2061210" y="4254246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6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3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6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061210" y="4254246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6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6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3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194104" y="4280202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280919" y="3015995"/>
            <a:ext cx="1718945" cy="1257935"/>
            <a:chOff x="1280919" y="3015995"/>
            <a:chExt cx="1718945" cy="1257935"/>
          </a:xfrm>
        </p:grpSpPr>
        <p:sp>
          <p:nvSpPr>
            <p:cNvPr id="26" name="object 26"/>
            <p:cNvSpPr/>
            <p:nvPr/>
          </p:nvSpPr>
          <p:spPr>
            <a:xfrm>
              <a:off x="1972050" y="3035045"/>
              <a:ext cx="341630" cy="485140"/>
            </a:xfrm>
            <a:custGeom>
              <a:avLst/>
              <a:gdLst/>
              <a:ahLst/>
              <a:cxnLst/>
              <a:rect l="l" t="t" r="r" b="b"/>
              <a:pathLst>
                <a:path w="341630" h="485139">
                  <a:moveTo>
                    <a:pt x="341007" y="0"/>
                  </a:moveTo>
                  <a:lnTo>
                    <a:pt x="0" y="48510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99969" y="3825239"/>
              <a:ext cx="367030" cy="429259"/>
            </a:xfrm>
            <a:custGeom>
              <a:avLst/>
              <a:gdLst/>
              <a:ahLst/>
              <a:cxnLst/>
              <a:rect l="l" t="t" r="r" b="b"/>
              <a:pathLst>
                <a:path w="367030" h="429259">
                  <a:moveTo>
                    <a:pt x="366737" y="0"/>
                  </a:moveTo>
                  <a:lnTo>
                    <a:pt x="0" y="429145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72056" y="3825239"/>
              <a:ext cx="304800" cy="429259"/>
            </a:xfrm>
            <a:custGeom>
              <a:avLst/>
              <a:gdLst/>
              <a:ahLst/>
              <a:cxnLst/>
              <a:rect l="l" t="t" r="r" b="b"/>
              <a:pathLst>
                <a:path w="304800" h="429259">
                  <a:moveTo>
                    <a:pt x="0" y="0"/>
                  </a:moveTo>
                  <a:lnTo>
                    <a:pt x="304711" y="42914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618994" y="3035045"/>
              <a:ext cx="361950" cy="491490"/>
            </a:xfrm>
            <a:custGeom>
              <a:avLst/>
              <a:gdLst/>
              <a:ahLst/>
              <a:cxnLst/>
              <a:rect l="l" t="t" r="r" b="b"/>
              <a:pathLst>
                <a:path w="361950" h="491489">
                  <a:moveTo>
                    <a:pt x="0" y="0"/>
                  </a:moveTo>
                  <a:lnTo>
                    <a:pt x="361416" y="49098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7297673" y="2668523"/>
            <a:ext cx="1117600" cy="1261110"/>
            <a:chOff x="7297673" y="2668523"/>
            <a:chExt cx="1117600" cy="1261110"/>
          </a:xfrm>
        </p:grpSpPr>
        <p:sp>
          <p:nvSpPr>
            <p:cNvPr id="31" name="object 31"/>
            <p:cNvSpPr/>
            <p:nvPr/>
          </p:nvSpPr>
          <p:spPr>
            <a:xfrm>
              <a:off x="7963661" y="2687573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6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3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6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963661" y="2687573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6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6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3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316723" y="3478529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7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4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7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316723" y="3478529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7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7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4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7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7450097" y="3504089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778752" y="4257294"/>
            <a:ext cx="470534" cy="470534"/>
            <a:chOff x="6778752" y="4257294"/>
            <a:chExt cx="470534" cy="470534"/>
          </a:xfrm>
        </p:grpSpPr>
        <p:sp>
          <p:nvSpPr>
            <p:cNvPr id="37" name="object 37"/>
            <p:cNvSpPr/>
            <p:nvPr/>
          </p:nvSpPr>
          <p:spPr>
            <a:xfrm>
              <a:off x="6797802" y="4276344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6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3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6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797802" y="4276344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6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6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3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930627" y="4301972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8611361" y="3464814"/>
            <a:ext cx="470534" cy="470534"/>
            <a:chOff x="8611361" y="3464814"/>
            <a:chExt cx="470534" cy="470534"/>
          </a:xfrm>
        </p:grpSpPr>
        <p:sp>
          <p:nvSpPr>
            <p:cNvPr id="41" name="object 41"/>
            <p:cNvSpPr/>
            <p:nvPr/>
          </p:nvSpPr>
          <p:spPr>
            <a:xfrm>
              <a:off x="8630411" y="3483864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7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4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7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630411" y="3483864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7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7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4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7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8096570" y="2713522"/>
            <a:ext cx="832485" cy="1157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15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7755635" y="4257294"/>
            <a:ext cx="470534" cy="470534"/>
            <a:chOff x="7755635" y="4257294"/>
            <a:chExt cx="470534" cy="470534"/>
          </a:xfrm>
        </p:grpSpPr>
        <p:sp>
          <p:nvSpPr>
            <p:cNvPr id="45" name="object 45"/>
            <p:cNvSpPr/>
            <p:nvPr/>
          </p:nvSpPr>
          <p:spPr>
            <a:xfrm>
              <a:off x="7774685" y="4276344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6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3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6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774685" y="4276344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6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6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3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7907546" y="4301972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6994397" y="3037332"/>
            <a:ext cx="1718945" cy="1258570"/>
            <a:chOff x="6994397" y="3037332"/>
            <a:chExt cx="1718945" cy="1258570"/>
          </a:xfrm>
        </p:grpSpPr>
        <p:sp>
          <p:nvSpPr>
            <p:cNvPr id="49" name="object 49"/>
            <p:cNvSpPr/>
            <p:nvPr/>
          </p:nvSpPr>
          <p:spPr>
            <a:xfrm>
              <a:off x="7685526" y="3056382"/>
              <a:ext cx="341630" cy="485140"/>
            </a:xfrm>
            <a:custGeom>
              <a:avLst/>
              <a:gdLst/>
              <a:ahLst/>
              <a:cxnLst/>
              <a:rect l="l" t="t" r="r" b="b"/>
              <a:pathLst>
                <a:path w="341629" h="485139">
                  <a:moveTo>
                    <a:pt x="341007" y="0"/>
                  </a:moveTo>
                  <a:lnTo>
                    <a:pt x="0" y="48510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013447" y="3847338"/>
              <a:ext cx="367030" cy="429259"/>
            </a:xfrm>
            <a:custGeom>
              <a:avLst/>
              <a:gdLst/>
              <a:ahLst/>
              <a:cxnLst/>
              <a:rect l="l" t="t" r="r" b="b"/>
              <a:pathLst>
                <a:path w="367029" h="429259">
                  <a:moveTo>
                    <a:pt x="366737" y="0"/>
                  </a:moveTo>
                  <a:lnTo>
                    <a:pt x="0" y="429145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685532" y="3847338"/>
              <a:ext cx="304800" cy="429259"/>
            </a:xfrm>
            <a:custGeom>
              <a:avLst/>
              <a:gdLst/>
              <a:ahLst/>
              <a:cxnLst/>
              <a:rect l="l" t="t" r="r" b="b"/>
              <a:pathLst>
                <a:path w="304800" h="429259">
                  <a:moveTo>
                    <a:pt x="0" y="0"/>
                  </a:moveTo>
                  <a:lnTo>
                    <a:pt x="304711" y="42914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332470" y="3056382"/>
              <a:ext cx="361950" cy="491490"/>
            </a:xfrm>
            <a:custGeom>
              <a:avLst/>
              <a:gdLst/>
              <a:ahLst/>
              <a:cxnLst/>
              <a:rect l="l" t="t" r="r" b="b"/>
              <a:pathLst>
                <a:path w="361950" h="491489">
                  <a:moveTo>
                    <a:pt x="0" y="0"/>
                  </a:moveTo>
                  <a:lnTo>
                    <a:pt x="361416" y="49098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3">
            <a:extLst>
              <a:ext uri="{FF2B5EF4-FFF2-40B4-BE49-F238E27FC236}">
                <a16:creationId xmlns:a16="http://schemas.microsoft.com/office/drawing/2014/main" id="{77BBE6E2-92C1-5147-9A4C-32C406808D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6464" y="210162"/>
            <a:ext cx="221751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算法思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想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9423" y="1034033"/>
            <a:ext cx="4070350" cy="186880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PMingLiU"/>
                <a:cs typeface="PMingLiU"/>
              </a:rPr>
              <a:t>算法步骤</a:t>
            </a:r>
            <a:endParaRPr sz="2800" dirty="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 err="1">
                <a:latin typeface="PMingLiU"/>
                <a:cs typeface="PMingLiU"/>
              </a:rPr>
              <a:t>分叉时，任选一条边深入</a:t>
            </a:r>
            <a:endParaRPr sz="2400" dirty="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 err="1">
                <a:latin typeface="PMingLiU"/>
                <a:cs typeface="PMingLiU"/>
              </a:rPr>
              <a:t>无边时，后退一步找新边</a:t>
            </a:r>
            <a:endParaRPr sz="2400" dirty="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 err="1">
                <a:latin typeface="PMingLiU"/>
                <a:cs typeface="PMingLiU"/>
              </a:rPr>
              <a:t>找到边，从新边继续深入</a:t>
            </a:r>
            <a:endParaRPr sz="2400" dirty="0">
              <a:latin typeface="PMingLiU"/>
              <a:cs typeface="PMingLiU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78752" y="1449323"/>
            <a:ext cx="2702560" cy="2655570"/>
          </a:xfrm>
          <a:custGeom>
            <a:avLst/>
            <a:gdLst/>
            <a:ahLst/>
            <a:cxnLst/>
            <a:rect l="l" t="t" r="r" b="b"/>
            <a:pathLst>
              <a:path w="2702559" h="2655570">
                <a:moveTo>
                  <a:pt x="1363218" y="1406652"/>
                </a:moveTo>
                <a:lnTo>
                  <a:pt x="1134618" y="1406652"/>
                </a:lnTo>
                <a:lnTo>
                  <a:pt x="228600" y="1406652"/>
                </a:lnTo>
                <a:lnTo>
                  <a:pt x="228600" y="0"/>
                </a:lnTo>
                <a:lnTo>
                  <a:pt x="0" y="0"/>
                </a:lnTo>
                <a:lnTo>
                  <a:pt x="0" y="1635252"/>
                </a:lnTo>
                <a:lnTo>
                  <a:pt x="114300" y="1635252"/>
                </a:lnTo>
                <a:lnTo>
                  <a:pt x="228600" y="1635252"/>
                </a:lnTo>
                <a:lnTo>
                  <a:pt x="1134618" y="1635252"/>
                </a:lnTo>
                <a:lnTo>
                  <a:pt x="1134618" y="2655570"/>
                </a:lnTo>
                <a:lnTo>
                  <a:pt x="1363218" y="2655570"/>
                </a:lnTo>
                <a:lnTo>
                  <a:pt x="1363218" y="1635252"/>
                </a:lnTo>
                <a:lnTo>
                  <a:pt x="1363218" y="1406652"/>
                </a:lnTo>
                <a:close/>
              </a:path>
              <a:path w="2702559" h="2655570">
                <a:moveTo>
                  <a:pt x="2702052" y="1020318"/>
                </a:moveTo>
                <a:lnTo>
                  <a:pt x="2655570" y="1020318"/>
                </a:lnTo>
                <a:lnTo>
                  <a:pt x="2520696" y="1020318"/>
                </a:lnTo>
                <a:lnTo>
                  <a:pt x="1796796" y="1020318"/>
                </a:lnTo>
                <a:lnTo>
                  <a:pt x="662940" y="1020318"/>
                </a:lnTo>
                <a:lnTo>
                  <a:pt x="662940" y="0"/>
                </a:lnTo>
                <a:lnTo>
                  <a:pt x="434340" y="0"/>
                </a:lnTo>
                <a:lnTo>
                  <a:pt x="434340" y="1248918"/>
                </a:lnTo>
                <a:lnTo>
                  <a:pt x="548640" y="1248918"/>
                </a:lnTo>
                <a:lnTo>
                  <a:pt x="662940" y="1248918"/>
                </a:lnTo>
                <a:lnTo>
                  <a:pt x="1796796" y="1248918"/>
                </a:lnTo>
                <a:lnTo>
                  <a:pt x="2520696" y="1248918"/>
                </a:lnTo>
                <a:lnTo>
                  <a:pt x="2520696" y="1406652"/>
                </a:lnTo>
                <a:lnTo>
                  <a:pt x="1782318" y="1406652"/>
                </a:lnTo>
                <a:lnTo>
                  <a:pt x="1623822" y="1406652"/>
                </a:lnTo>
                <a:lnTo>
                  <a:pt x="1553718" y="1406652"/>
                </a:lnTo>
                <a:lnTo>
                  <a:pt x="1553718" y="2655570"/>
                </a:lnTo>
                <a:lnTo>
                  <a:pt x="1782318" y="2655570"/>
                </a:lnTo>
                <a:lnTo>
                  <a:pt x="1782318" y="1635252"/>
                </a:lnTo>
                <a:lnTo>
                  <a:pt x="2520696" y="1635252"/>
                </a:lnTo>
                <a:lnTo>
                  <a:pt x="2655570" y="1635252"/>
                </a:lnTo>
                <a:lnTo>
                  <a:pt x="2702052" y="1635252"/>
                </a:lnTo>
                <a:lnTo>
                  <a:pt x="2702052" y="1020318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29816" y="954516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>
                <a:latin typeface="PMingLiU"/>
                <a:cs typeface="PMingLiU"/>
              </a:rPr>
              <a:t>入口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66694" y="4099748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>
                <a:latin typeface="PMingLiU"/>
                <a:cs typeface="PMingLiU"/>
              </a:rPr>
              <a:t>出口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893052" y="1034033"/>
            <a:ext cx="320040" cy="231775"/>
          </a:xfrm>
          <a:custGeom>
            <a:avLst/>
            <a:gdLst/>
            <a:ahLst/>
            <a:cxnLst/>
            <a:rect l="l" t="t" r="r" b="b"/>
            <a:pathLst>
              <a:path w="320040" h="231775">
                <a:moveTo>
                  <a:pt x="240029" y="0"/>
                </a:moveTo>
                <a:lnTo>
                  <a:pt x="80010" y="0"/>
                </a:lnTo>
                <a:lnTo>
                  <a:pt x="80010" y="115824"/>
                </a:lnTo>
                <a:lnTo>
                  <a:pt x="0" y="115824"/>
                </a:lnTo>
                <a:lnTo>
                  <a:pt x="160020" y="231648"/>
                </a:lnTo>
                <a:lnTo>
                  <a:pt x="320040" y="115824"/>
                </a:lnTo>
                <a:lnTo>
                  <a:pt x="240029" y="115824"/>
                </a:lnTo>
                <a:lnTo>
                  <a:pt x="240029" y="0"/>
                </a:lnTo>
                <a:close/>
              </a:path>
            </a:pathLst>
          </a:custGeom>
          <a:solidFill>
            <a:srgbClr val="FF9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068818" y="4223765"/>
            <a:ext cx="319405" cy="231775"/>
          </a:xfrm>
          <a:custGeom>
            <a:avLst/>
            <a:gdLst/>
            <a:ahLst/>
            <a:cxnLst/>
            <a:rect l="l" t="t" r="r" b="b"/>
            <a:pathLst>
              <a:path w="319404" h="231775">
                <a:moveTo>
                  <a:pt x="239458" y="0"/>
                </a:moveTo>
                <a:lnTo>
                  <a:pt x="79819" y="0"/>
                </a:lnTo>
                <a:lnTo>
                  <a:pt x="79819" y="115824"/>
                </a:lnTo>
                <a:lnTo>
                  <a:pt x="0" y="115824"/>
                </a:lnTo>
                <a:lnTo>
                  <a:pt x="159639" y="231648"/>
                </a:lnTo>
                <a:lnTo>
                  <a:pt x="319278" y="115824"/>
                </a:lnTo>
                <a:lnTo>
                  <a:pt x="239458" y="115824"/>
                </a:lnTo>
                <a:lnTo>
                  <a:pt x="239458" y="0"/>
                </a:lnTo>
                <a:close/>
              </a:path>
            </a:pathLst>
          </a:custGeom>
          <a:solidFill>
            <a:srgbClr val="FF9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7080631" y="1406778"/>
            <a:ext cx="2854960" cy="2683510"/>
            <a:chOff x="7080631" y="1406778"/>
            <a:chExt cx="2854960" cy="2683510"/>
          </a:xfrm>
        </p:grpSpPr>
        <p:sp>
          <p:nvSpPr>
            <p:cNvPr id="10" name="object 10"/>
            <p:cNvSpPr/>
            <p:nvPr/>
          </p:nvSpPr>
          <p:spPr>
            <a:xfrm>
              <a:off x="7106031" y="1432178"/>
              <a:ext cx="1048385" cy="1332230"/>
            </a:xfrm>
            <a:custGeom>
              <a:avLst/>
              <a:gdLst/>
              <a:ahLst/>
              <a:cxnLst/>
              <a:rect l="l" t="t" r="r" b="b"/>
              <a:pathLst>
                <a:path w="1048384" h="1332230">
                  <a:moveTo>
                    <a:pt x="0" y="0"/>
                  </a:moveTo>
                  <a:lnTo>
                    <a:pt x="0" y="1332026"/>
                  </a:lnTo>
                  <a:lnTo>
                    <a:pt x="1048308" y="1332026"/>
                  </a:lnTo>
                </a:path>
              </a:pathLst>
            </a:custGeom>
            <a:ln w="508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126318" y="2688925"/>
              <a:ext cx="154940" cy="152400"/>
            </a:xfrm>
            <a:custGeom>
              <a:avLst/>
              <a:gdLst/>
              <a:ahLst/>
              <a:cxnLst/>
              <a:rect l="l" t="t" r="r" b="b"/>
              <a:pathLst>
                <a:path w="154940" h="152400">
                  <a:moveTo>
                    <a:pt x="0" y="0"/>
                  </a:moveTo>
                  <a:lnTo>
                    <a:pt x="5270" y="152311"/>
                  </a:lnTo>
                  <a:lnTo>
                    <a:pt x="154939" y="708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480905" y="2542870"/>
              <a:ext cx="454659" cy="454659"/>
            </a:xfrm>
            <a:custGeom>
              <a:avLst/>
              <a:gdLst/>
              <a:ahLst/>
              <a:cxnLst/>
              <a:rect l="l" t="t" r="r" b="b"/>
              <a:pathLst>
                <a:path w="454659" h="454659">
                  <a:moveTo>
                    <a:pt x="399894" y="454278"/>
                  </a:moveTo>
                  <a:lnTo>
                    <a:pt x="227227" y="281678"/>
                  </a:lnTo>
                  <a:lnTo>
                    <a:pt x="54560" y="454278"/>
                  </a:lnTo>
                  <a:lnTo>
                    <a:pt x="0" y="399738"/>
                  </a:lnTo>
                  <a:lnTo>
                    <a:pt x="172667" y="227139"/>
                  </a:lnTo>
                  <a:lnTo>
                    <a:pt x="0" y="54532"/>
                  </a:lnTo>
                  <a:lnTo>
                    <a:pt x="54560" y="0"/>
                  </a:lnTo>
                  <a:lnTo>
                    <a:pt x="227227" y="172599"/>
                  </a:lnTo>
                  <a:lnTo>
                    <a:pt x="399894" y="0"/>
                  </a:lnTo>
                  <a:lnTo>
                    <a:pt x="454461" y="54532"/>
                  </a:lnTo>
                  <a:lnTo>
                    <a:pt x="281787" y="227139"/>
                  </a:lnTo>
                  <a:lnTo>
                    <a:pt x="454461" y="399738"/>
                  </a:lnTo>
                  <a:lnTo>
                    <a:pt x="399894" y="45427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099298" y="2156459"/>
              <a:ext cx="1130300" cy="560070"/>
            </a:xfrm>
            <a:custGeom>
              <a:avLst/>
              <a:gdLst/>
              <a:ahLst/>
              <a:cxnLst/>
              <a:rect l="l" t="t" r="r" b="b"/>
              <a:pathLst>
                <a:path w="1130300" h="560069">
                  <a:moveTo>
                    <a:pt x="1048323" y="47167"/>
                  </a:moveTo>
                  <a:lnTo>
                    <a:pt x="913536" y="47167"/>
                  </a:lnTo>
                  <a:lnTo>
                    <a:pt x="958553" y="53216"/>
                  </a:lnTo>
                  <a:lnTo>
                    <a:pt x="999005" y="70288"/>
                  </a:lnTo>
                  <a:lnTo>
                    <a:pt x="1033278" y="96767"/>
                  </a:lnTo>
                  <a:lnTo>
                    <a:pt x="1059757" y="131040"/>
                  </a:lnTo>
                  <a:lnTo>
                    <a:pt x="1076829" y="171492"/>
                  </a:lnTo>
                  <a:lnTo>
                    <a:pt x="1082878" y="216509"/>
                  </a:lnTo>
                  <a:lnTo>
                    <a:pt x="1082878" y="560070"/>
                  </a:lnTo>
                  <a:lnTo>
                    <a:pt x="1130046" y="560070"/>
                  </a:lnTo>
                  <a:lnTo>
                    <a:pt x="1130046" y="216509"/>
                  </a:lnTo>
                  <a:lnTo>
                    <a:pt x="1124327" y="166867"/>
                  </a:lnTo>
                  <a:lnTo>
                    <a:pt x="1108038" y="121296"/>
                  </a:lnTo>
                  <a:lnTo>
                    <a:pt x="1082479" y="81095"/>
                  </a:lnTo>
                  <a:lnTo>
                    <a:pt x="1048950" y="47566"/>
                  </a:lnTo>
                  <a:lnTo>
                    <a:pt x="1048323" y="47167"/>
                  </a:lnTo>
                  <a:close/>
                </a:path>
                <a:path w="1130300" h="560069">
                  <a:moveTo>
                    <a:pt x="280035" y="216509"/>
                  </a:moveTo>
                  <a:lnTo>
                    <a:pt x="0" y="216509"/>
                  </a:lnTo>
                  <a:lnTo>
                    <a:pt x="140017" y="464032"/>
                  </a:lnTo>
                  <a:lnTo>
                    <a:pt x="280035" y="216509"/>
                  </a:lnTo>
                  <a:close/>
                </a:path>
                <a:path w="1130300" h="560069">
                  <a:moveTo>
                    <a:pt x="913536" y="0"/>
                  </a:moveTo>
                  <a:lnTo>
                    <a:pt x="332943" y="0"/>
                  </a:lnTo>
                  <a:lnTo>
                    <a:pt x="283300" y="5718"/>
                  </a:lnTo>
                  <a:lnTo>
                    <a:pt x="237729" y="22007"/>
                  </a:lnTo>
                  <a:lnTo>
                    <a:pt x="197529" y="47566"/>
                  </a:lnTo>
                  <a:lnTo>
                    <a:pt x="163999" y="81095"/>
                  </a:lnTo>
                  <a:lnTo>
                    <a:pt x="138440" y="121296"/>
                  </a:lnTo>
                  <a:lnTo>
                    <a:pt x="122152" y="166867"/>
                  </a:lnTo>
                  <a:lnTo>
                    <a:pt x="116433" y="216509"/>
                  </a:lnTo>
                  <a:lnTo>
                    <a:pt x="163601" y="216509"/>
                  </a:lnTo>
                  <a:lnTo>
                    <a:pt x="169650" y="171492"/>
                  </a:lnTo>
                  <a:lnTo>
                    <a:pt x="186721" y="131040"/>
                  </a:lnTo>
                  <a:lnTo>
                    <a:pt x="213201" y="96767"/>
                  </a:lnTo>
                  <a:lnTo>
                    <a:pt x="247474" y="70288"/>
                  </a:lnTo>
                  <a:lnTo>
                    <a:pt x="287926" y="53216"/>
                  </a:lnTo>
                  <a:lnTo>
                    <a:pt x="332943" y="47167"/>
                  </a:lnTo>
                  <a:lnTo>
                    <a:pt x="1048323" y="47167"/>
                  </a:lnTo>
                  <a:lnTo>
                    <a:pt x="1008749" y="22007"/>
                  </a:lnTo>
                  <a:lnTo>
                    <a:pt x="963178" y="5718"/>
                  </a:lnTo>
                  <a:lnTo>
                    <a:pt x="913536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8101584" y="2662427"/>
              <a:ext cx="207264" cy="20802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309229" y="2756534"/>
              <a:ext cx="770255" cy="0"/>
            </a:xfrm>
            <a:custGeom>
              <a:avLst/>
              <a:gdLst/>
              <a:ahLst/>
              <a:cxnLst/>
              <a:rect l="l" t="t" r="r" b="b"/>
              <a:pathLst>
                <a:path w="770254">
                  <a:moveTo>
                    <a:pt x="0" y="0"/>
                  </a:moveTo>
                  <a:lnTo>
                    <a:pt x="770191" y="0"/>
                  </a:lnTo>
                </a:path>
              </a:pathLst>
            </a:custGeom>
            <a:ln w="5080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054011" y="2680341"/>
              <a:ext cx="153035" cy="152400"/>
            </a:xfrm>
            <a:custGeom>
              <a:avLst/>
              <a:gdLst/>
              <a:ahLst/>
              <a:cxnLst/>
              <a:rect l="l" t="t" r="r" b="b"/>
              <a:pathLst>
                <a:path w="153034" h="152400">
                  <a:moveTo>
                    <a:pt x="0" y="0"/>
                  </a:moveTo>
                  <a:lnTo>
                    <a:pt x="12" y="152400"/>
                  </a:lnTo>
                  <a:lnTo>
                    <a:pt x="152412" y="761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 flipH="1">
              <a:off x="8226933" y="2876930"/>
              <a:ext cx="0" cy="1085850"/>
            </a:xfrm>
            <a:custGeom>
              <a:avLst/>
              <a:gdLst/>
              <a:ahLst/>
              <a:cxnLst/>
              <a:rect l="l" t="t" r="r" b="b"/>
              <a:pathLst>
                <a:path h="1085850">
                  <a:moveTo>
                    <a:pt x="0" y="0"/>
                  </a:moveTo>
                  <a:lnTo>
                    <a:pt x="0" y="1085735"/>
                  </a:lnTo>
                </a:path>
              </a:pathLst>
            </a:custGeom>
            <a:ln w="508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150725" y="3937260"/>
              <a:ext cx="152400" cy="153035"/>
            </a:xfrm>
            <a:custGeom>
              <a:avLst/>
              <a:gdLst/>
              <a:ahLst/>
              <a:cxnLst/>
              <a:rect l="l" t="t" r="r" b="b"/>
              <a:pathLst>
                <a:path w="152400" h="153035">
                  <a:moveTo>
                    <a:pt x="152400" y="0"/>
                  </a:moveTo>
                  <a:lnTo>
                    <a:pt x="0" y="12"/>
                  </a:lnTo>
                  <a:lnTo>
                    <a:pt x="76212" y="152412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9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3">
            <a:extLst>
              <a:ext uri="{FF2B5EF4-FFF2-40B4-BE49-F238E27FC236}">
                <a16:creationId xmlns:a16="http://schemas.microsoft.com/office/drawing/2014/main" id="{0868355D-D2E8-314C-9295-A2C7F1AB2A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6464" y="210162"/>
            <a:ext cx="221751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算法思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想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1710" y="963936"/>
            <a:ext cx="4070350" cy="186880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PMingLiU"/>
                <a:cs typeface="PMingLiU"/>
              </a:rPr>
              <a:t>算法步骤</a:t>
            </a:r>
            <a:endParaRPr sz="2800" dirty="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 err="1">
                <a:latin typeface="PMingLiU"/>
                <a:cs typeface="PMingLiU"/>
              </a:rPr>
              <a:t>分叉时，任选一条边深入</a:t>
            </a:r>
            <a:endParaRPr sz="2400" dirty="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 err="1">
                <a:latin typeface="PMingLiU"/>
                <a:cs typeface="PMingLiU"/>
              </a:rPr>
              <a:t>无边时，后退一步找新边</a:t>
            </a:r>
            <a:endParaRPr sz="2400" dirty="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 err="1">
                <a:latin typeface="PMingLiU"/>
                <a:cs typeface="PMingLiU"/>
              </a:rPr>
              <a:t>找到边，从新边继续深入</a:t>
            </a:r>
            <a:endParaRPr sz="2400" dirty="0">
              <a:latin typeface="PMingLiU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51710" y="3008958"/>
            <a:ext cx="10515600" cy="3563796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pc="-15" dirty="0" err="1"/>
              <a:t>辅助数组</a:t>
            </a:r>
            <a:endParaRPr spc="-15" dirty="0"/>
          </a:p>
          <a:p>
            <a:pPr marL="704215" lvl="1" indent="-347980">
              <a:lnSpc>
                <a:spcPct val="100000"/>
              </a:lnSpc>
              <a:spcBef>
                <a:spcPts val="6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𝒄𝒐𝒍𝒐𝒓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表示顶点状态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1000125" lvl="2" indent="-295275">
              <a:lnSpc>
                <a:spcPct val="100000"/>
              </a:lnSpc>
              <a:spcBef>
                <a:spcPts val="550"/>
              </a:spcBef>
              <a:buClr>
                <a:srgbClr val="EB91D7"/>
              </a:buClr>
              <a:buSzPct val="70454"/>
              <a:buChar char="o"/>
              <a:tabLst>
                <a:tab pos="1000125" algn="l"/>
                <a:tab pos="1000760" algn="l"/>
              </a:tabLst>
            </a:pPr>
            <a:r>
              <a:rPr lang="zh-CN" altLang="en-US" sz="22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𝑾𝒉𝒊𝒕𝒆</a:t>
            </a:r>
            <a:r>
              <a:rPr lang="zh-CN" altLang="en-US" sz="22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：白色顶点</a:t>
            </a:r>
            <a:r>
              <a:rPr lang="zh-CN" altLang="en-US" sz="22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𝒖</a:t>
            </a:r>
            <a:r>
              <a:rPr lang="zh-CN" altLang="en-US" sz="22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尚未被发现</a:t>
            </a:r>
            <a:endParaRPr lang="zh-CN" altLang="en-US" sz="2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1000125" lvl="2" indent="-295275">
              <a:lnSpc>
                <a:spcPct val="100000"/>
              </a:lnSpc>
              <a:spcBef>
                <a:spcPts val="525"/>
              </a:spcBef>
              <a:buClr>
                <a:srgbClr val="EB91D7"/>
              </a:buClr>
              <a:buSzPct val="70454"/>
              <a:buChar char="o"/>
              <a:tabLst>
                <a:tab pos="1000125" algn="l"/>
                <a:tab pos="1000760" algn="l"/>
              </a:tabLst>
            </a:pPr>
            <a:r>
              <a:rPr lang="zh-CN" altLang="en-US" sz="22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𝑩𝒍𝒂𝒄𝒌</a:t>
            </a:r>
            <a:r>
              <a:rPr lang="zh-CN" altLang="en-US" sz="22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：黑色顶点</a:t>
            </a:r>
            <a:r>
              <a:rPr lang="zh-CN" altLang="en-US" sz="22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𝒖</a:t>
            </a:r>
            <a:r>
              <a:rPr lang="zh-CN" altLang="en-US" sz="22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已被处理</a:t>
            </a:r>
            <a:endParaRPr lang="zh-CN" altLang="en-US" sz="2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1000125" lvl="2" indent="-295275">
              <a:lnSpc>
                <a:spcPct val="100000"/>
              </a:lnSpc>
              <a:spcBef>
                <a:spcPts val="530"/>
              </a:spcBef>
              <a:buClr>
                <a:srgbClr val="EB91D7"/>
              </a:buClr>
              <a:buSzPct val="70454"/>
              <a:buChar char="o"/>
              <a:tabLst>
                <a:tab pos="1000125" algn="l"/>
                <a:tab pos="1000760" algn="l"/>
              </a:tabLst>
            </a:pPr>
            <a:r>
              <a:rPr lang="zh-CN" altLang="en-US" sz="22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𝑮𝒓𝒂𝒚</a:t>
            </a:r>
            <a:r>
              <a:rPr lang="zh-CN" altLang="en-US" sz="22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：正在处理，尚未完成</a:t>
            </a:r>
            <a:endParaRPr lang="zh-CN" altLang="en-US" sz="2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5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𝒑𝒓𝒆𝒅</a:t>
            </a:r>
            <a:r>
              <a:rPr lang="zh-CN" altLang="en-US" sz="24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：顶点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𝒖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由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𝒑𝒓𝒆𝒅</a:t>
            </a:r>
            <a:r>
              <a:rPr lang="en-US" altLang="zh-CN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[𝒖]</a:t>
            </a:r>
            <a:r>
              <a:rPr lang="zh-CN" altLang="en-US" sz="2400" spc="-2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发现</a:t>
            </a:r>
            <a:endParaRPr lang="en-US" sz="2400" spc="75" dirty="0">
              <a:solidFill>
                <a:srgbClr val="FF0000"/>
              </a:solidFill>
              <a:latin typeface="Cambria Math"/>
              <a:cs typeface="Cambria Math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75" dirty="0">
                <a:solidFill>
                  <a:srgbClr val="FF0000"/>
                </a:solidFill>
                <a:latin typeface="Cambria Math"/>
                <a:cs typeface="Cambria Math"/>
              </a:rPr>
              <a:t>𝑑</a:t>
            </a:r>
            <a:r>
              <a:rPr sz="2400" dirty="0">
                <a:solidFill>
                  <a:srgbClr val="FF0000"/>
                </a:solidFill>
                <a:latin typeface="PMingLiU"/>
                <a:cs typeface="PMingLiU"/>
              </a:rPr>
              <a:t>：</a:t>
            </a:r>
            <a:r>
              <a:rPr sz="2400" dirty="0" err="1">
                <a:solidFill>
                  <a:srgbClr val="FF0000"/>
                </a:solidFill>
                <a:latin typeface="PMingLiU"/>
                <a:cs typeface="PMingLiU"/>
              </a:rPr>
              <a:t>顶点发现时刻（变成灰色的时刻</a:t>
            </a:r>
            <a:r>
              <a:rPr sz="2400" spc="-50" dirty="0">
                <a:solidFill>
                  <a:srgbClr val="FF0000"/>
                </a:solidFill>
                <a:latin typeface="PMingLiU"/>
                <a:cs typeface="PMingLiU"/>
              </a:rPr>
              <a:t>）</a:t>
            </a:r>
            <a:endParaRPr sz="2400" dirty="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𝑓</a:t>
            </a:r>
            <a:r>
              <a:rPr sz="2400" dirty="0">
                <a:solidFill>
                  <a:srgbClr val="FF0000"/>
                </a:solidFill>
                <a:latin typeface="PMingLiU"/>
                <a:cs typeface="PMingLiU"/>
              </a:rPr>
              <a:t>：</a:t>
            </a:r>
            <a:r>
              <a:rPr sz="2400" dirty="0" err="1">
                <a:solidFill>
                  <a:srgbClr val="FF0000"/>
                </a:solidFill>
                <a:latin typeface="PMingLiU"/>
                <a:cs typeface="PMingLiU"/>
              </a:rPr>
              <a:t>顶点完成时刻（变成黑色的时刻</a:t>
            </a:r>
            <a:r>
              <a:rPr sz="2400" spc="-50" dirty="0">
                <a:solidFill>
                  <a:srgbClr val="FF0000"/>
                </a:solidFill>
                <a:latin typeface="PMingLiU"/>
                <a:cs typeface="PMingLiU"/>
              </a:rPr>
              <a:t>）</a:t>
            </a:r>
            <a:endParaRPr sz="2400" dirty="0">
              <a:latin typeface="PMingLiU"/>
              <a:cs typeface="PMingLiU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778752" y="1449323"/>
            <a:ext cx="2702560" cy="2655570"/>
          </a:xfrm>
          <a:custGeom>
            <a:avLst/>
            <a:gdLst/>
            <a:ahLst/>
            <a:cxnLst/>
            <a:rect l="l" t="t" r="r" b="b"/>
            <a:pathLst>
              <a:path w="2702559" h="2655570">
                <a:moveTo>
                  <a:pt x="1363218" y="1406652"/>
                </a:moveTo>
                <a:lnTo>
                  <a:pt x="1134618" y="1406652"/>
                </a:lnTo>
                <a:lnTo>
                  <a:pt x="228600" y="1406652"/>
                </a:lnTo>
                <a:lnTo>
                  <a:pt x="228600" y="0"/>
                </a:lnTo>
                <a:lnTo>
                  <a:pt x="0" y="0"/>
                </a:lnTo>
                <a:lnTo>
                  <a:pt x="0" y="1635252"/>
                </a:lnTo>
                <a:lnTo>
                  <a:pt x="114300" y="1635252"/>
                </a:lnTo>
                <a:lnTo>
                  <a:pt x="228600" y="1635252"/>
                </a:lnTo>
                <a:lnTo>
                  <a:pt x="1134618" y="1635252"/>
                </a:lnTo>
                <a:lnTo>
                  <a:pt x="1134618" y="2655570"/>
                </a:lnTo>
                <a:lnTo>
                  <a:pt x="1363218" y="2655570"/>
                </a:lnTo>
                <a:lnTo>
                  <a:pt x="1363218" y="1635252"/>
                </a:lnTo>
                <a:lnTo>
                  <a:pt x="1363218" y="1406652"/>
                </a:lnTo>
                <a:close/>
              </a:path>
              <a:path w="2702559" h="2655570">
                <a:moveTo>
                  <a:pt x="2702052" y="1020318"/>
                </a:moveTo>
                <a:lnTo>
                  <a:pt x="2655570" y="1020318"/>
                </a:lnTo>
                <a:lnTo>
                  <a:pt x="2520696" y="1020318"/>
                </a:lnTo>
                <a:lnTo>
                  <a:pt x="1796796" y="1020318"/>
                </a:lnTo>
                <a:lnTo>
                  <a:pt x="662940" y="1020318"/>
                </a:lnTo>
                <a:lnTo>
                  <a:pt x="662940" y="0"/>
                </a:lnTo>
                <a:lnTo>
                  <a:pt x="434340" y="0"/>
                </a:lnTo>
                <a:lnTo>
                  <a:pt x="434340" y="1248918"/>
                </a:lnTo>
                <a:lnTo>
                  <a:pt x="548640" y="1248918"/>
                </a:lnTo>
                <a:lnTo>
                  <a:pt x="662940" y="1248918"/>
                </a:lnTo>
                <a:lnTo>
                  <a:pt x="1796796" y="1248918"/>
                </a:lnTo>
                <a:lnTo>
                  <a:pt x="2520696" y="1248918"/>
                </a:lnTo>
                <a:lnTo>
                  <a:pt x="2520696" y="1406652"/>
                </a:lnTo>
                <a:lnTo>
                  <a:pt x="1782318" y="1406652"/>
                </a:lnTo>
                <a:lnTo>
                  <a:pt x="1623822" y="1406652"/>
                </a:lnTo>
                <a:lnTo>
                  <a:pt x="1553718" y="1406652"/>
                </a:lnTo>
                <a:lnTo>
                  <a:pt x="1553718" y="2655570"/>
                </a:lnTo>
                <a:lnTo>
                  <a:pt x="1782318" y="2655570"/>
                </a:lnTo>
                <a:lnTo>
                  <a:pt x="1782318" y="1635252"/>
                </a:lnTo>
                <a:lnTo>
                  <a:pt x="2520696" y="1635252"/>
                </a:lnTo>
                <a:lnTo>
                  <a:pt x="2655570" y="1635252"/>
                </a:lnTo>
                <a:lnTo>
                  <a:pt x="2702052" y="1635252"/>
                </a:lnTo>
                <a:lnTo>
                  <a:pt x="2702052" y="1020318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29816" y="954516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>
                <a:latin typeface="PMingLiU"/>
                <a:cs typeface="PMingLiU"/>
              </a:rPr>
              <a:t>入口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66694" y="4099748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>
                <a:latin typeface="PMingLiU"/>
                <a:cs typeface="PMingLiU"/>
              </a:rPr>
              <a:t>出口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893052" y="1034033"/>
            <a:ext cx="320040" cy="231775"/>
          </a:xfrm>
          <a:custGeom>
            <a:avLst/>
            <a:gdLst/>
            <a:ahLst/>
            <a:cxnLst/>
            <a:rect l="l" t="t" r="r" b="b"/>
            <a:pathLst>
              <a:path w="320040" h="231775">
                <a:moveTo>
                  <a:pt x="240029" y="0"/>
                </a:moveTo>
                <a:lnTo>
                  <a:pt x="80010" y="0"/>
                </a:lnTo>
                <a:lnTo>
                  <a:pt x="80010" y="115824"/>
                </a:lnTo>
                <a:lnTo>
                  <a:pt x="0" y="115824"/>
                </a:lnTo>
                <a:lnTo>
                  <a:pt x="160020" y="231648"/>
                </a:lnTo>
                <a:lnTo>
                  <a:pt x="320040" y="115824"/>
                </a:lnTo>
                <a:lnTo>
                  <a:pt x="240029" y="115824"/>
                </a:lnTo>
                <a:lnTo>
                  <a:pt x="240029" y="0"/>
                </a:lnTo>
                <a:close/>
              </a:path>
            </a:pathLst>
          </a:custGeom>
          <a:solidFill>
            <a:srgbClr val="FF9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068818" y="4223765"/>
            <a:ext cx="319405" cy="231775"/>
          </a:xfrm>
          <a:custGeom>
            <a:avLst/>
            <a:gdLst/>
            <a:ahLst/>
            <a:cxnLst/>
            <a:rect l="l" t="t" r="r" b="b"/>
            <a:pathLst>
              <a:path w="319404" h="231775">
                <a:moveTo>
                  <a:pt x="239458" y="0"/>
                </a:moveTo>
                <a:lnTo>
                  <a:pt x="79819" y="0"/>
                </a:lnTo>
                <a:lnTo>
                  <a:pt x="79819" y="115824"/>
                </a:lnTo>
                <a:lnTo>
                  <a:pt x="0" y="115824"/>
                </a:lnTo>
                <a:lnTo>
                  <a:pt x="159639" y="231648"/>
                </a:lnTo>
                <a:lnTo>
                  <a:pt x="319278" y="115824"/>
                </a:lnTo>
                <a:lnTo>
                  <a:pt x="239458" y="115824"/>
                </a:lnTo>
                <a:lnTo>
                  <a:pt x="239458" y="0"/>
                </a:lnTo>
                <a:close/>
              </a:path>
            </a:pathLst>
          </a:custGeom>
          <a:solidFill>
            <a:srgbClr val="FF9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7080631" y="1406778"/>
            <a:ext cx="2854960" cy="2683510"/>
            <a:chOff x="7080631" y="1406778"/>
            <a:chExt cx="2854960" cy="2683510"/>
          </a:xfrm>
        </p:grpSpPr>
        <p:sp>
          <p:nvSpPr>
            <p:cNvPr id="11" name="object 11"/>
            <p:cNvSpPr/>
            <p:nvPr/>
          </p:nvSpPr>
          <p:spPr>
            <a:xfrm>
              <a:off x="7106031" y="1432178"/>
              <a:ext cx="1048385" cy="1332230"/>
            </a:xfrm>
            <a:custGeom>
              <a:avLst/>
              <a:gdLst/>
              <a:ahLst/>
              <a:cxnLst/>
              <a:rect l="l" t="t" r="r" b="b"/>
              <a:pathLst>
                <a:path w="1048384" h="1332230">
                  <a:moveTo>
                    <a:pt x="0" y="0"/>
                  </a:moveTo>
                  <a:lnTo>
                    <a:pt x="0" y="1332026"/>
                  </a:lnTo>
                  <a:lnTo>
                    <a:pt x="1048308" y="1332026"/>
                  </a:lnTo>
                </a:path>
              </a:pathLst>
            </a:custGeom>
            <a:ln w="508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126318" y="2688925"/>
              <a:ext cx="154940" cy="152400"/>
            </a:xfrm>
            <a:custGeom>
              <a:avLst/>
              <a:gdLst/>
              <a:ahLst/>
              <a:cxnLst/>
              <a:rect l="l" t="t" r="r" b="b"/>
              <a:pathLst>
                <a:path w="154940" h="152400">
                  <a:moveTo>
                    <a:pt x="0" y="0"/>
                  </a:moveTo>
                  <a:lnTo>
                    <a:pt x="5270" y="152311"/>
                  </a:lnTo>
                  <a:lnTo>
                    <a:pt x="154939" y="708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480905" y="2542870"/>
              <a:ext cx="454659" cy="454659"/>
            </a:xfrm>
            <a:custGeom>
              <a:avLst/>
              <a:gdLst/>
              <a:ahLst/>
              <a:cxnLst/>
              <a:rect l="l" t="t" r="r" b="b"/>
              <a:pathLst>
                <a:path w="454659" h="454659">
                  <a:moveTo>
                    <a:pt x="399894" y="454278"/>
                  </a:moveTo>
                  <a:lnTo>
                    <a:pt x="227227" y="281678"/>
                  </a:lnTo>
                  <a:lnTo>
                    <a:pt x="54560" y="454278"/>
                  </a:lnTo>
                  <a:lnTo>
                    <a:pt x="0" y="399738"/>
                  </a:lnTo>
                  <a:lnTo>
                    <a:pt x="172667" y="227139"/>
                  </a:lnTo>
                  <a:lnTo>
                    <a:pt x="0" y="54532"/>
                  </a:lnTo>
                  <a:lnTo>
                    <a:pt x="54560" y="0"/>
                  </a:lnTo>
                  <a:lnTo>
                    <a:pt x="227227" y="172599"/>
                  </a:lnTo>
                  <a:lnTo>
                    <a:pt x="399894" y="0"/>
                  </a:lnTo>
                  <a:lnTo>
                    <a:pt x="454461" y="54532"/>
                  </a:lnTo>
                  <a:lnTo>
                    <a:pt x="281787" y="227139"/>
                  </a:lnTo>
                  <a:lnTo>
                    <a:pt x="454461" y="399738"/>
                  </a:lnTo>
                  <a:lnTo>
                    <a:pt x="399894" y="45427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099298" y="2156459"/>
              <a:ext cx="1130300" cy="560070"/>
            </a:xfrm>
            <a:custGeom>
              <a:avLst/>
              <a:gdLst/>
              <a:ahLst/>
              <a:cxnLst/>
              <a:rect l="l" t="t" r="r" b="b"/>
              <a:pathLst>
                <a:path w="1130300" h="560069">
                  <a:moveTo>
                    <a:pt x="1048323" y="47167"/>
                  </a:moveTo>
                  <a:lnTo>
                    <a:pt x="913536" y="47167"/>
                  </a:lnTo>
                  <a:lnTo>
                    <a:pt x="958553" y="53216"/>
                  </a:lnTo>
                  <a:lnTo>
                    <a:pt x="999005" y="70288"/>
                  </a:lnTo>
                  <a:lnTo>
                    <a:pt x="1033278" y="96767"/>
                  </a:lnTo>
                  <a:lnTo>
                    <a:pt x="1059757" y="131040"/>
                  </a:lnTo>
                  <a:lnTo>
                    <a:pt x="1076829" y="171492"/>
                  </a:lnTo>
                  <a:lnTo>
                    <a:pt x="1082878" y="216509"/>
                  </a:lnTo>
                  <a:lnTo>
                    <a:pt x="1082878" y="560070"/>
                  </a:lnTo>
                  <a:lnTo>
                    <a:pt x="1130046" y="560070"/>
                  </a:lnTo>
                  <a:lnTo>
                    <a:pt x="1130046" y="216509"/>
                  </a:lnTo>
                  <a:lnTo>
                    <a:pt x="1124327" y="166867"/>
                  </a:lnTo>
                  <a:lnTo>
                    <a:pt x="1108038" y="121296"/>
                  </a:lnTo>
                  <a:lnTo>
                    <a:pt x="1082479" y="81095"/>
                  </a:lnTo>
                  <a:lnTo>
                    <a:pt x="1048950" y="47566"/>
                  </a:lnTo>
                  <a:lnTo>
                    <a:pt x="1048323" y="47167"/>
                  </a:lnTo>
                  <a:close/>
                </a:path>
                <a:path w="1130300" h="560069">
                  <a:moveTo>
                    <a:pt x="280035" y="216509"/>
                  </a:moveTo>
                  <a:lnTo>
                    <a:pt x="0" y="216509"/>
                  </a:lnTo>
                  <a:lnTo>
                    <a:pt x="140017" y="464032"/>
                  </a:lnTo>
                  <a:lnTo>
                    <a:pt x="280035" y="216509"/>
                  </a:lnTo>
                  <a:close/>
                </a:path>
                <a:path w="1130300" h="560069">
                  <a:moveTo>
                    <a:pt x="913536" y="0"/>
                  </a:moveTo>
                  <a:lnTo>
                    <a:pt x="332943" y="0"/>
                  </a:lnTo>
                  <a:lnTo>
                    <a:pt x="283300" y="5718"/>
                  </a:lnTo>
                  <a:lnTo>
                    <a:pt x="237729" y="22007"/>
                  </a:lnTo>
                  <a:lnTo>
                    <a:pt x="197529" y="47566"/>
                  </a:lnTo>
                  <a:lnTo>
                    <a:pt x="163999" y="81095"/>
                  </a:lnTo>
                  <a:lnTo>
                    <a:pt x="138440" y="121296"/>
                  </a:lnTo>
                  <a:lnTo>
                    <a:pt x="122152" y="166867"/>
                  </a:lnTo>
                  <a:lnTo>
                    <a:pt x="116433" y="216509"/>
                  </a:lnTo>
                  <a:lnTo>
                    <a:pt x="163601" y="216509"/>
                  </a:lnTo>
                  <a:lnTo>
                    <a:pt x="169650" y="171492"/>
                  </a:lnTo>
                  <a:lnTo>
                    <a:pt x="186721" y="131040"/>
                  </a:lnTo>
                  <a:lnTo>
                    <a:pt x="213201" y="96767"/>
                  </a:lnTo>
                  <a:lnTo>
                    <a:pt x="247474" y="70288"/>
                  </a:lnTo>
                  <a:lnTo>
                    <a:pt x="287926" y="53216"/>
                  </a:lnTo>
                  <a:lnTo>
                    <a:pt x="332943" y="47167"/>
                  </a:lnTo>
                  <a:lnTo>
                    <a:pt x="1048323" y="47167"/>
                  </a:lnTo>
                  <a:lnTo>
                    <a:pt x="1008749" y="22007"/>
                  </a:lnTo>
                  <a:lnTo>
                    <a:pt x="963178" y="5718"/>
                  </a:lnTo>
                  <a:lnTo>
                    <a:pt x="913536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8101584" y="2662427"/>
              <a:ext cx="207264" cy="20802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309229" y="2756534"/>
              <a:ext cx="770255" cy="0"/>
            </a:xfrm>
            <a:custGeom>
              <a:avLst/>
              <a:gdLst/>
              <a:ahLst/>
              <a:cxnLst/>
              <a:rect l="l" t="t" r="r" b="b"/>
              <a:pathLst>
                <a:path w="770254">
                  <a:moveTo>
                    <a:pt x="0" y="0"/>
                  </a:moveTo>
                  <a:lnTo>
                    <a:pt x="770191" y="0"/>
                  </a:lnTo>
                </a:path>
              </a:pathLst>
            </a:custGeom>
            <a:ln w="5080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054011" y="2680341"/>
              <a:ext cx="153035" cy="152400"/>
            </a:xfrm>
            <a:custGeom>
              <a:avLst/>
              <a:gdLst/>
              <a:ahLst/>
              <a:cxnLst/>
              <a:rect l="l" t="t" r="r" b="b"/>
              <a:pathLst>
                <a:path w="153034" h="152400">
                  <a:moveTo>
                    <a:pt x="0" y="0"/>
                  </a:moveTo>
                  <a:lnTo>
                    <a:pt x="12" y="152400"/>
                  </a:lnTo>
                  <a:lnTo>
                    <a:pt x="152412" y="761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 flipH="1">
              <a:off x="8226933" y="2876930"/>
              <a:ext cx="0" cy="1085850"/>
            </a:xfrm>
            <a:custGeom>
              <a:avLst/>
              <a:gdLst/>
              <a:ahLst/>
              <a:cxnLst/>
              <a:rect l="l" t="t" r="r" b="b"/>
              <a:pathLst>
                <a:path h="1085850">
                  <a:moveTo>
                    <a:pt x="0" y="0"/>
                  </a:moveTo>
                  <a:lnTo>
                    <a:pt x="0" y="1085735"/>
                  </a:lnTo>
                </a:path>
              </a:pathLst>
            </a:custGeom>
            <a:ln w="508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150725" y="3937260"/>
              <a:ext cx="152400" cy="153035"/>
            </a:xfrm>
            <a:custGeom>
              <a:avLst/>
              <a:gdLst/>
              <a:ahLst/>
              <a:cxnLst/>
              <a:rect l="l" t="t" r="r" b="b"/>
              <a:pathLst>
                <a:path w="152400" h="153035">
                  <a:moveTo>
                    <a:pt x="152400" y="0"/>
                  </a:moveTo>
                  <a:lnTo>
                    <a:pt x="0" y="12"/>
                  </a:lnTo>
                  <a:lnTo>
                    <a:pt x="76212" y="152412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9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3">
            <a:extLst>
              <a:ext uri="{FF2B5EF4-FFF2-40B4-BE49-F238E27FC236}">
                <a16:creationId xmlns:a16="http://schemas.microsoft.com/office/drawing/2014/main" id="{64210EB5-604C-5C49-8642-69697803E9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6464" y="210162"/>
            <a:ext cx="221751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算法思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想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/>
              <a:t>算法实</a:t>
            </a:r>
            <a:r>
              <a:rPr spc="-50"/>
              <a:t>例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73145" y="3976878"/>
            <a:ext cx="6322060" cy="2573655"/>
            <a:chOff x="3073145" y="3976878"/>
            <a:chExt cx="6322060" cy="2573655"/>
          </a:xfrm>
        </p:grpSpPr>
        <p:sp>
          <p:nvSpPr>
            <p:cNvPr id="4" name="object 4"/>
            <p:cNvSpPr/>
            <p:nvPr/>
          </p:nvSpPr>
          <p:spPr>
            <a:xfrm>
              <a:off x="3092195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0" y="423291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1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2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92195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90">
                  <a:moveTo>
                    <a:pt x="0" y="423290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0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1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 flipH="1">
              <a:off x="3515105" y="4842510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0"/>
                  </a:moveTo>
                  <a:lnTo>
                    <a:pt x="0" y="84179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04231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0" y="423291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1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2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38777" y="4466844"/>
              <a:ext cx="966469" cy="0"/>
            </a:xfrm>
            <a:custGeom>
              <a:avLst/>
              <a:gdLst/>
              <a:ahLst/>
              <a:cxnLst/>
              <a:rect l="l" t="t" r="r" b="b"/>
              <a:pathLst>
                <a:path w="966469">
                  <a:moveTo>
                    <a:pt x="0" y="0"/>
                  </a:moveTo>
                  <a:lnTo>
                    <a:pt x="965885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04231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90">
                  <a:moveTo>
                    <a:pt x="0" y="423290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0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1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 flipH="1">
              <a:off x="5327903" y="4842515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84179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17030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89">
                  <a:moveTo>
                    <a:pt x="0" y="423291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1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2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17030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90">
                  <a:moveTo>
                    <a:pt x="0" y="423290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0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1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627369" y="4719068"/>
              <a:ext cx="1214120" cy="1090295"/>
            </a:xfrm>
            <a:custGeom>
              <a:avLst/>
              <a:gdLst/>
              <a:ahLst/>
              <a:cxnLst/>
              <a:rect l="l" t="t" r="r" b="b"/>
              <a:pathLst>
                <a:path w="1214120" h="1090295">
                  <a:moveTo>
                    <a:pt x="0" y="1089748"/>
                  </a:moveTo>
                  <a:lnTo>
                    <a:pt x="121384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50813" y="6108192"/>
              <a:ext cx="966469" cy="0"/>
            </a:xfrm>
            <a:custGeom>
              <a:avLst/>
              <a:gdLst/>
              <a:ahLst/>
              <a:cxnLst/>
              <a:rect l="l" t="t" r="r" b="b"/>
              <a:pathLst>
                <a:path w="966469">
                  <a:moveTo>
                    <a:pt x="0" y="0"/>
                  </a:moveTo>
                  <a:lnTo>
                    <a:pt x="965885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529066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89">
                  <a:moveTo>
                    <a:pt x="0" y="423291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1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2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563611" y="4466844"/>
              <a:ext cx="966469" cy="0"/>
            </a:xfrm>
            <a:custGeom>
              <a:avLst/>
              <a:gdLst/>
              <a:ahLst/>
              <a:cxnLst/>
              <a:rect l="l" t="t" r="r" b="b"/>
              <a:pathLst>
                <a:path w="966469">
                  <a:moveTo>
                    <a:pt x="965885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529066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90">
                  <a:moveTo>
                    <a:pt x="0" y="423290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0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1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439403" y="4719066"/>
              <a:ext cx="1214120" cy="1090295"/>
            </a:xfrm>
            <a:custGeom>
              <a:avLst/>
              <a:gdLst/>
              <a:ahLst/>
              <a:cxnLst/>
              <a:rect l="l" t="t" r="r" b="b"/>
              <a:pathLst>
                <a:path w="1214120" h="1090295">
                  <a:moveTo>
                    <a:pt x="1213840" y="0"/>
                  </a:moveTo>
                  <a:lnTo>
                    <a:pt x="0" y="108974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 flipH="1">
              <a:off x="8952737" y="4842515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84179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563611" y="6108192"/>
              <a:ext cx="966469" cy="0"/>
            </a:xfrm>
            <a:custGeom>
              <a:avLst/>
              <a:gdLst/>
              <a:ahLst/>
              <a:cxnLst/>
              <a:rect l="l" t="t" r="r" b="b"/>
              <a:pathLst>
                <a:path w="966469">
                  <a:moveTo>
                    <a:pt x="0" y="0"/>
                  </a:moveTo>
                  <a:lnTo>
                    <a:pt x="965885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 flipH="1">
              <a:off x="7139939" y="4842515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84179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239672" y="352482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414497" y="352482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64847" y="352482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890022" y="352482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674701" y="788581"/>
          <a:ext cx="8316593" cy="25907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𝑉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86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14">
                          <a:latin typeface="Cambria Math"/>
                          <a:cs typeface="Cambria Math"/>
                        </a:rPr>
                        <a:t>𝑐𝑜𝑙𝑜𝑟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228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4267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40">
                          <a:latin typeface="Cambria Math"/>
                          <a:cs typeface="Cambria Math"/>
                        </a:rPr>
                        <a:t>𝑝𝑟𝑒𝑑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7241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8191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25">
                          <a:latin typeface="Cambria Math"/>
                          <a:cs typeface="Cambria Math"/>
                        </a:rPr>
                        <a:t>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812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object 27"/>
          <p:cNvSpPr/>
          <p:nvPr/>
        </p:nvSpPr>
        <p:spPr>
          <a:xfrm>
            <a:off x="697991" y="3516629"/>
            <a:ext cx="2167890" cy="1125855"/>
          </a:xfrm>
          <a:custGeom>
            <a:avLst/>
            <a:gdLst/>
            <a:ahLst/>
            <a:cxnLst/>
            <a:rect l="l" t="t" r="r" b="b"/>
            <a:pathLst>
              <a:path w="2167890" h="1125854">
                <a:moveTo>
                  <a:pt x="2167890" y="0"/>
                </a:moveTo>
                <a:lnTo>
                  <a:pt x="0" y="0"/>
                </a:lnTo>
                <a:lnTo>
                  <a:pt x="0" y="679704"/>
                </a:lnTo>
                <a:lnTo>
                  <a:pt x="1264602" y="679704"/>
                </a:lnTo>
                <a:lnTo>
                  <a:pt x="2121890" y="1125778"/>
                </a:lnTo>
                <a:lnTo>
                  <a:pt x="1806575" y="679704"/>
                </a:lnTo>
                <a:lnTo>
                  <a:pt x="2167890" y="679704"/>
                </a:lnTo>
                <a:lnTo>
                  <a:pt x="2167890" y="0"/>
                </a:lnTo>
                <a:close/>
              </a:path>
            </a:pathLst>
          </a:custGeom>
          <a:solidFill>
            <a:srgbClr val="0151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057655" y="3585426"/>
            <a:ext cx="14490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5">
                <a:solidFill>
                  <a:srgbClr val="FFFFFF"/>
                </a:solidFill>
                <a:latin typeface="PMingLiU"/>
                <a:cs typeface="PMingLiU"/>
              </a:rPr>
              <a:t>搜索源点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384879" y="6505153"/>
            <a:ext cx="203835" cy="419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55"/>
              </a:lnSpc>
            </a:pPr>
            <a:r>
              <a:rPr sz="2800" b="1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209970" y="6505153"/>
            <a:ext cx="203835" cy="419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55"/>
              </a:lnSpc>
            </a:pPr>
            <a:r>
              <a:rPr sz="2800" b="1"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035063" y="6505153"/>
            <a:ext cx="203835" cy="419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55"/>
              </a:lnSpc>
            </a:pPr>
            <a:r>
              <a:rPr sz="2800" b="1"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860155" y="6505153"/>
            <a:ext cx="203835" cy="419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55"/>
              </a:lnSpc>
            </a:pPr>
            <a:r>
              <a:rPr sz="2800" b="1"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299777" y="820331"/>
            <a:ext cx="118935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110" dirty="0">
                <a:latin typeface="Cambria Math"/>
                <a:cs typeface="Cambria Math"/>
              </a:rPr>
              <a:t>𝑡𝑖𝑚𝑒</a:t>
            </a:r>
            <a:r>
              <a:rPr sz="2200" spc="125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=</a:t>
            </a:r>
            <a:r>
              <a:rPr lang="zh-CN" altLang="en-US" sz="2200" dirty="0">
                <a:latin typeface="Cambria Math"/>
                <a:cs typeface="Cambria Math"/>
              </a:rPr>
              <a:t> </a:t>
            </a:r>
            <a:r>
              <a:rPr lang="en-US" altLang="zh-CN" sz="2200" dirty="0">
                <a:latin typeface="Cambria Math"/>
                <a:cs typeface="Cambria Math"/>
              </a:rPr>
              <a:t>0</a:t>
            </a:r>
            <a:endParaRPr sz="2200" dirty="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/>
              <a:t>算法实</a:t>
            </a:r>
            <a:r>
              <a:rPr spc="-50"/>
              <a:t>例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73145" y="3976878"/>
            <a:ext cx="6322060" cy="2573655"/>
            <a:chOff x="3073145" y="3976878"/>
            <a:chExt cx="6322060" cy="2573655"/>
          </a:xfrm>
        </p:grpSpPr>
        <p:sp>
          <p:nvSpPr>
            <p:cNvPr id="4" name="object 4"/>
            <p:cNvSpPr/>
            <p:nvPr/>
          </p:nvSpPr>
          <p:spPr>
            <a:xfrm>
              <a:off x="3092195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423291" y="0"/>
                  </a:moveTo>
                  <a:lnTo>
                    <a:pt x="373925" y="2847"/>
                  </a:lnTo>
                  <a:lnTo>
                    <a:pt x="326232" y="11179"/>
                  </a:lnTo>
                  <a:lnTo>
                    <a:pt x="280530" y="24676"/>
                  </a:lnTo>
                  <a:lnTo>
                    <a:pt x="237136" y="43023"/>
                  </a:lnTo>
                  <a:lnTo>
                    <a:pt x="196367" y="65900"/>
                  </a:lnTo>
                  <a:lnTo>
                    <a:pt x="158542" y="92990"/>
                  </a:lnTo>
                  <a:lnTo>
                    <a:pt x="123977" y="123977"/>
                  </a:lnTo>
                  <a:lnTo>
                    <a:pt x="92990" y="158542"/>
                  </a:lnTo>
                  <a:lnTo>
                    <a:pt x="65900" y="196367"/>
                  </a:lnTo>
                  <a:lnTo>
                    <a:pt x="43023" y="237136"/>
                  </a:lnTo>
                  <a:lnTo>
                    <a:pt x="24676" y="280530"/>
                  </a:lnTo>
                  <a:lnTo>
                    <a:pt x="11179" y="326232"/>
                  </a:lnTo>
                  <a:lnTo>
                    <a:pt x="2847" y="373925"/>
                  </a:lnTo>
                  <a:lnTo>
                    <a:pt x="0" y="423291"/>
                  </a:lnTo>
                  <a:lnTo>
                    <a:pt x="2847" y="472656"/>
                  </a:lnTo>
                  <a:lnTo>
                    <a:pt x="11179" y="520349"/>
                  </a:lnTo>
                  <a:lnTo>
                    <a:pt x="24676" y="566051"/>
                  </a:lnTo>
                  <a:lnTo>
                    <a:pt x="43023" y="609445"/>
                  </a:lnTo>
                  <a:lnTo>
                    <a:pt x="65900" y="650214"/>
                  </a:lnTo>
                  <a:lnTo>
                    <a:pt x="92990" y="688039"/>
                  </a:lnTo>
                  <a:lnTo>
                    <a:pt x="123977" y="722604"/>
                  </a:lnTo>
                  <a:lnTo>
                    <a:pt x="158542" y="753591"/>
                  </a:lnTo>
                  <a:lnTo>
                    <a:pt x="196367" y="780681"/>
                  </a:lnTo>
                  <a:lnTo>
                    <a:pt x="237136" y="803558"/>
                  </a:lnTo>
                  <a:lnTo>
                    <a:pt x="280530" y="821905"/>
                  </a:lnTo>
                  <a:lnTo>
                    <a:pt x="326232" y="835402"/>
                  </a:lnTo>
                  <a:lnTo>
                    <a:pt x="373925" y="843734"/>
                  </a:lnTo>
                  <a:lnTo>
                    <a:pt x="423291" y="846582"/>
                  </a:lnTo>
                  <a:lnTo>
                    <a:pt x="472656" y="843734"/>
                  </a:lnTo>
                  <a:lnTo>
                    <a:pt x="520349" y="835402"/>
                  </a:lnTo>
                  <a:lnTo>
                    <a:pt x="566051" y="821905"/>
                  </a:lnTo>
                  <a:lnTo>
                    <a:pt x="609445" y="803558"/>
                  </a:lnTo>
                  <a:lnTo>
                    <a:pt x="650214" y="780681"/>
                  </a:lnTo>
                  <a:lnTo>
                    <a:pt x="688039" y="753591"/>
                  </a:lnTo>
                  <a:lnTo>
                    <a:pt x="722604" y="722604"/>
                  </a:lnTo>
                  <a:lnTo>
                    <a:pt x="753591" y="688039"/>
                  </a:lnTo>
                  <a:lnTo>
                    <a:pt x="780681" y="650214"/>
                  </a:lnTo>
                  <a:lnTo>
                    <a:pt x="803558" y="609445"/>
                  </a:lnTo>
                  <a:lnTo>
                    <a:pt x="821905" y="566051"/>
                  </a:lnTo>
                  <a:lnTo>
                    <a:pt x="835402" y="520349"/>
                  </a:lnTo>
                  <a:lnTo>
                    <a:pt x="843734" y="472656"/>
                  </a:lnTo>
                  <a:lnTo>
                    <a:pt x="846582" y="423291"/>
                  </a:lnTo>
                  <a:lnTo>
                    <a:pt x="843734" y="373925"/>
                  </a:lnTo>
                  <a:lnTo>
                    <a:pt x="835402" y="326232"/>
                  </a:lnTo>
                  <a:lnTo>
                    <a:pt x="821905" y="280530"/>
                  </a:lnTo>
                  <a:lnTo>
                    <a:pt x="803558" y="237136"/>
                  </a:lnTo>
                  <a:lnTo>
                    <a:pt x="780681" y="196367"/>
                  </a:lnTo>
                  <a:lnTo>
                    <a:pt x="753591" y="158542"/>
                  </a:lnTo>
                  <a:lnTo>
                    <a:pt x="722604" y="123977"/>
                  </a:lnTo>
                  <a:lnTo>
                    <a:pt x="688039" y="92990"/>
                  </a:lnTo>
                  <a:lnTo>
                    <a:pt x="650214" y="65900"/>
                  </a:lnTo>
                  <a:lnTo>
                    <a:pt x="609445" y="43023"/>
                  </a:lnTo>
                  <a:lnTo>
                    <a:pt x="566051" y="24676"/>
                  </a:lnTo>
                  <a:lnTo>
                    <a:pt x="520349" y="11179"/>
                  </a:lnTo>
                  <a:lnTo>
                    <a:pt x="472656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92195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0" y="423291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1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2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92195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90">
                  <a:moveTo>
                    <a:pt x="0" y="423290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0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1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 flipH="1">
              <a:off x="3515105" y="4842510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0"/>
                  </a:moveTo>
                  <a:lnTo>
                    <a:pt x="0" y="84179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04231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0" y="423291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1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2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38777" y="4466844"/>
              <a:ext cx="966469" cy="0"/>
            </a:xfrm>
            <a:custGeom>
              <a:avLst/>
              <a:gdLst/>
              <a:ahLst/>
              <a:cxnLst/>
              <a:rect l="l" t="t" r="r" b="b"/>
              <a:pathLst>
                <a:path w="966469">
                  <a:moveTo>
                    <a:pt x="0" y="0"/>
                  </a:moveTo>
                  <a:lnTo>
                    <a:pt x="965885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904231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90">
                  <a:moveTo>
                    <a:pt x="0" y="423290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0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1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 flipH="1">
              <a:off x="5327903" y="4842515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84179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17030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89">
                  <a:moveTo>
                    <a:pt x="0" y="423291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1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2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717030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90">
                  <a:moveTo>
                    <a:pt x="0" y="423290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0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1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27369" y="4719068"/>
              <a:ext cx="1214120" cy="1090295"/>
            </a:xfrm>
            <a:custGeom>
              <a:avLst/>
              <a:gdLst/>
              <a:ahLst/>
              <a:cxnLst/>
              <a:rect l="l" t="t" r="r" b="b"/>
              <a:pathLst>
                <a:path w="1214120" h="1090295">
                  <a:moveTo>
                    <a:pt x="0" y="1089748"/>
                  </a:moveTo>
                  <a:lnTo>
                    <a:pt x="121384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50813" y="6108192"/>
              <a:ext cx="966469" cy="0"/>
            </a:xfrm>
            <a:custGeom>
              <a:avLst/>
              <a:gdLst/>
              <a:ahLst/>
              <a:cxnLst/>
              <a:rect l="l" t="t" r="r" b="b"/>
              <a:pathLst>
                <a:path w="966469">
                  <a:moveTo>
                    <a:pt x="0" y="0"/>
                  </a:moveTo>
                  <a:lnTo>
                    <a:pt x="965885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529066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89">
                  <a:moveTo>
                    <a:pt x="0" y="423291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1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2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563611" y="4466844"/>
              <a:ext cx="966469" cy="0"/>
            </a:xfrm>
            <a:custGeom>
              <a:avLst/>
              <a:gdLst/>
              <a:ahLst/>
              <a:cxnLst/>
              <a:rect l="l" t="t" r="r" b="b"/>
              <a:pathLst>
                <a:path w="966469">
                  <a:moveTo>
                    <a:pt x="965885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529066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90">
                  <a:moveTo>
                    <a:pt x="0" y="423290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0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1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439403" y="4719066"/>
              <a:ext cx="1214120" cy="1090295"/>
            </a:xfrm>
            <a:custGeom>
              <a:avLst/>
              <a:gdLst/>
              <a:ahLst/>
              <a:cxnLst/>
              <a:rect l="l" t="t" r="r" b="b"/>
              <a:pathLst>
                <a:path w="1214120" h="1090295">
                  <a:moveTo>
                    <a:pt x="1213840" y="0"/>
                  </a:moveTo>
                  <a:lnTo>
                    <a:pt x="0" y="108974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 flipH="1">
              <a:off x="8952737" y="4842515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84179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563611" y="6108192"/>
              <a:ext cx="966469" cy="0"/>
            </a:xfrm>
            <a:custGeom>
              <a:avLst/>
              <a:gdLst/>
              <a:ahLst/>
              <a:cxnLst/>
              <a:rect l="l" t="t" r="r" b="b"/>
              <a:pathLst>
                <a:path w="966469">
                  <a:moveTo>
                    <a:pt x="0" y="0"/>
                  </a:moveTo>
                  <a:lnTo>
                    <a:pt x="965885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 flipH="1">
              <a:off x="7139939" y="4842515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84179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239672" y="352482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93100" y="3524825"/>
            <a:ext cx="445770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985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sz="2200" b="1" spc="-25">
                <a:latin typeface="Times New Roman"/>
                <a:cs typeface="Times New Roman"/>
              </a:rPr>
              <a:t>1/X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064847" y="352482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890022" y="352482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 flipH="1">
            <a:off x="2459368" y="788581"/>
            <a:ext cx="0" cy="2604770"/>
          </a:xfrm>
          <a:custGeom>
            <a:avLst/>
            <a:gdLst/>
            <a:ahLst/>
            <a:cxnLst/>
            <a:rect l="l" t="t" r="r" b="b"/>
            <a:pathLst>
              <a:path h="2604770">
                <a:moveTo>
                  <a:pt x="0" y="0"/>
                </a:moveTo>
                <a:lnTo>
                  <a:pt x="0" y="2604744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 flipH="1">
            <a:off x="681051" y="788581"/>
            <a:ext cx="0" cy="2604770"/>
          </a:xfrm>
          <a:custGeom>
            <a:avLst/>
            <a:gdLst/>
            <a:ahLst/>
            <a:cxnLst/>
            <a:rect l="l" t="t" r="r" b="b"/>
            <a:pathLst>
              <a:path h="2604770">
                <a:moveTo>
                  <a:pt x="0" y="0"/>
                </a:moveTo>
                <a:lnTo>
                  <a:pt x="0" y="2604744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674700" y="788581"/>
          <a:ext cx="8311512" cy="25907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5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𝑉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0160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86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14">
                          <a:latin typeface="Cambria Math"/>
                          <a:cs typeface="Cambria Math"/>
                        </a:rPr>
                        <a:t>𝑐𝑜𝑙𝑜𝑟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727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228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4267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40">
                          <a:latin typeface="Cambria Math"/>
                          <a:cs typeface="Cambria Math"/>
                        </a:rPr>
                        <a:t>𝑝𝑟𝑒𝑑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822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7241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25">
                          <a:latin typeface="Cambria Math"/>
                          <a:cs typeface="Cambria Math"/>
                        </a:rPr>
                        <a:t>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0033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59">
                <a:tc gridSpan="2">
                  <a:txBody>
                    <a:bodyPr/>
                    <a:lstStyle/>
                    <a:p>
                      <a:pPr marL="7435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" name="object 30"/>
          <p:cNvSpPr txBox="1"/>
          <p:nvPr/>
        </p:nvSpPr>
        <p:spPr>
          <a:xfrm>
            <a:off x="9299777" y="820331"/>
            <a:ext cx="118935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110">
                <a:latin typeface="Cambria Math"/>
                <a:cs typeface="Cambria Math"/>
              </a:rPr>
              <a:t>𝑡𝑖𝑚𝑒</a:t>
            </a:r>
            <a:r>
              <a:rPr sz="2200" spc="1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4">
                <a:latin typeface="Cambria Math"/>
                <a:cs typeface="Cambria Math"/>
              </a:rPr>
              <a:t> </a:t>
            </a:r>
            <a:r>
              <a:rPr sz="2200" spc="45">
                <a:solidFill>
                  <a:srgbClr val="FF0000"/>
                </a:solidFill>
                <a:latin typeface="Cambria Math"/>
                <a:cs typeface="Cambria Math"/>
              </a:rPr>
              <a:t>1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59841" y="2898787"/>
            <a:ext cx="2875915" cy="1139825"/>
          </a:xfrm>
          <a:custGeom>
            <a:avLst/>
            <a:gdLst/>
            <a:ahLst/>
            <a:cxnLst/>
            <a:rect l="l" t="t" r="r" b="b"/>
            <a:pathLst>
              <a:path w="2875915" h="1139825">
                <a:moveTo>
                  <a:pt x="2570086" y="0"/>
                </a:moveTo>
                <a:lnTo>
                  <a:pt x="1677543" y="674992"/>
                </a:lnTo>
                <a:lnTo>
                  <a:pt x="0" y="674992"/>
                </a:lnTo>
                <a:lnTo>
                  <a:pt x="0" y="1139812"/>
                </a:lnTo>
                <a:lnTo>
                  <a:pt x="2875788" y="1139812"/>
                </a:lnTo>
                <a:lnTo>
                  <a:pt x="2875788" y="674992"/>
                </a:lnTo>
                <a:lnTo>
                  <a:pt x="2396490" y="674992"/>
                </a:lnTo>
                <a:lnTo>
                  <a:pt x="2570086" y="0"/>
                </a:lnTo>
                <a:close/>
              </a:path>
            </a:pathLst>
          </a:custGeom>
          <a:solidFill>
            <a:srgbClr val="07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915687" y="3596957"/>
            <a:ext cx="156400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>
                <a:solidFill>
                  <a:srgbClr val="FFFFFF"/>
                </a:solidFill>
                <a:latin typeface="PMingLiU"/>
                <a:cs typeface="PMingLiU"/>
              </a:rPr>
              <a:t>发现时刻为</a:t>
            </a:r>
            <a:r>
              <a:rPr sz="2200" b="1" spc="-5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384879" y="6505153"/>
            <a:ext cx="203835" cy="419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55"/>
              </a:lnSpc>
            </a:pPr>
            <a:r>
              <a:rPr sz="2800" b="1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209970" y="6505153"/>
            <a:ext cx="203835" cy="419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55"/>
              </a:lnSpc>
            </a:pPr>
            <a:r>
              <a:rPr sz="2800" b="1"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035063" y="6505153"/>
            <a:ext cx="203835" cy="419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55"/>
              </a:lnSpc>
            </a:pPr>
            <a:r>
              <a:rPr sz="2800" b="1"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860155" y="6505153"/>
            <a:ext cx="203835" cy="419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55"/>
              </a:lnSpc>
            </a:pPr>
            <a:r>
              <a:rPr sz="2800" b="1"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/>
              <a:t>算法实</a:t>
            </a:r>
            <a:r>
              <a:rPr spc="-50"/>
              <a:t>例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73145" y="3976878"/>
            <a:ext cx="6322060" cy="2573655"/>
            <a:chOff x="3073145" y="3976878"/>
            <a:chExt cx="6322060" cy="2573655"/>
          </a:xfrm>
        </p:grpSpPr>
        <p:sp>
          <p:nvSpPr>
            <p:cNvPr id="4" name="object 4"/>
            <p:cNvSpPr/>
            <p:nvPr/>
          </p:nvSpPr>
          <p:spPr>
            <a:xfrm>
              <a:off x="3092195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423291" y="0"/>
                  </a:moveTo>
                  <a:lnTo>
                    <a:pt x="373925" y="2847"/>
                  </a:lnTo>
                  <a:lnTo>
                    <a:pt x="326232" y="11179"/>
                  </a:lnTo>
                  <a:lnTo>
                    <a:pt x="280530" y="24676"/>
                  </a:lnTo>
                  <a:lnTo>
                    <a:pt x="237136" y="43023"/>
                  </a:lnTo>
                  <a:lnTo>
                    <a:pt x="196367" y="65900"/>
                  </a:lnTo>
                  <a:lnTo>
                    <a:pt x="158542" y="92990"/>
                  </a:lnTo>
                  <a:lnTo>
                    <a:pt x="123977" y="123977"/>
                  </a:lnTo>
                  <a:lnTo>
                    <a:pt x="92990" y="158542"/>
                  </a:lnTo>
                  <a:lnTo>
                    <a:pt x="65900" y="196367"/>
                  </a:lnTo>
                  <a:lnTo>
                    <a:pt x="43023" y="237136"/>
                  </a:lnTo>
                  <a:lnTo>
                    <a:pt x="24676" y="280530"/>
                  </a:lnTo>
                  <a:lnTo>
                    <a:pt x="11179" y="326232"/>
                  </a:lnTo>
                  <a:lnTo>
                    <a:pt x="2847" y="373925"/>
                  </a:lnTo>
                  <a:lnTo>
                    <a:pt x="0" y="423291"/>
                  </a:lnTo>
                  <a:lnTo>
                    <a:pt x="2847" y="472656"/>
                  </a:lnTo>
                  <a:lnTo>
                    <a:pt x="11179" y="520349"/>
                  </a:lnTo>
                  <a:lnTo>
                    <a:pt x="24676" y="566051"/>
                  </a:lnTo>
                  <a:lnTo>
                    <a:pt x="43023" y="609445"/>
                  </a:lnTo>
                  <a:lnTo>
                    <a:pt x="65900" y="650214"/>
                  </a:lnTo>
                  <a:lnTo>
                    <a:pt x="92990" y="688039"/>
                  </a:lnTo>
                  <a:lnTo>
                    <a:pt x="123977" y="722604"/>
                  </a:lnTo>
                  <a:lnTo>
                    <a:pt x="158542" y="753591"/>
                  </a:lnTo>
                  <a:lnTo>
                    <a:pt x="196367" y="780681"/>
                  </a:lnTo>
                  <a:lnTo>
                    <a:pt x="237136" y="803558"/>
                  </a:lnTo>
                  <a:lnTo>
                    <a:pt x="280530" y="821905"/>
                  </a:lnTo>
                  <a:lnTo>
                    <a:pt x="326232" y="835402"/>
                  </a:lnTo>
                  <a:lnTo>
                    <a:pt x="373925" y="843734"/>
                  </a:lnTo>
                  <a:lnTo>
                    <a:pt x="423291" y="846582"/>
                  </a:lnTo>
                  <a:lnTo>
                    <a:pt x="472656" y="843734"/>
                  </a:lnTo>
                  <a:lnTo>
                    <a:pt x="520349" y="835402"/>
                  </a:lnTo>
                  <a:lnTo>
                    <a:pt x="566051" y="821905"/>
                  </a:lnTo>
                  <a:lnTo>
                    <a:pt x="609445" y="803558"/>
                  </a:lnTo>
                  <a:lnTo>
                    <a:pt x="650214" y="780681"/>
                  </a:lnTo>
                  <a:lnTo>
                    <a:pt x="688039" y="753591"/>
                  </a:lnTo>
                  <a:lnTo>
                    <a:pt x="722604" y="722604"/>
                  </a:lnTo>
                  <a:lnTo>
                    <a:pt x="753591" y="688039"/>
                  </a:lnTo>
                  <a:lnTo>
                    <a:pt x="780681" y="650214"/>
                  </a:lnTo>
                  <a:lnTo>
                    <a:pt x="803558" y="609445"/>
                  </a:lnTo>
                  <a:lnTo>
                    <a:pt x="821905" y="566051"/>
                  </a:lnTo>
                  <a:lnTo>
                    <a:pt x="835402" y="520349"/>
                  </a:lnTo>
                  <a:lnTo>
                    <a:pt x="843734" y="472656"/>
                  </a:lnTo>
                  <a:lnTo>
                    <a:pt x="846582" y="423291"/>
                  </a:lnTo>
                  <a:lnTo>
                    <a:pt x="843734" y="373925"/>
                  </a:lnTo>
                  <a:lnTo>
                    <a:pt x="835402" y="326232"/>
                  </a:lnTo>
                  <a:lnTo>
                    <a:pt x="821905" y="280530"/>
                  </a:lnTo>
                  <a:lnTo>
                    <a:pt x="803558" y="237136"/>
                  </a:lnTo>
                  <a:lnTo>
                    <a:pt x="780681" y="196367"/>
                  </a:lnTo>
                  <a:lnTo>
                    <a:pt x="753591" y="158542"/>
                  </a:lnTo>
                  <a:lnTo>
                    <a:pt x="722604" y="123977"/>
                  </a:lnTo>
                  <a:lnTo>
                    <a:pt x="688039" y="92990"/>
                  </a:lnTo>
                  <a:lnTo>
                    <a:pt x="650214" y="65900"/>
                  </a:lnTo>
                  <a:lnTo>
                    <a:pt x="609445" y="43023"/>
                  </a:lnTo>
                  <a:lnTo>
                    <a:pt x="566051" y="24676"/>
                  </a:lnTo>
                  <a:lnTo>
                    <a:pt x="520349" y="11179"/>
                  </a:lnTo>
                  <a:lnTo>
                    <a:pt x="472656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92195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0" y="423291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1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2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92195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90">
                  <a:moveTo>
                    <a:pt x="0" y="423290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0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1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 flipH="1">
              <a:off x="3515105" y="4842510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0"/>
                  </a:moveTo>
                  <a:lnTo>
                    <a:pt x="0" y="84179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04231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423291" y="0"/>
                  </a:moveTo>
                  <a:lnTo>
                    <a:pt x="373925" y="2847"/>
                  </a:lnTo>
                  <a:lnTo>
                    <a:pt x="326232" y="11179"/>
                  </a:lnTo>
                  <a:lnTo>
                    <a:pt x="280530" y="24676"/>
                  </a:lnTo>
                  <a:lnTo>
                    <a:pt x="237136" y="43023"/>
                  </a:lnTo>
                  <a:lnTo>
                    <a:pt x="196367" y="65900"/>
                  </a:lnTo>
                  <a:lnTo>
                    <a:pt x="158542" y="92990"/>
                  </a:lnTo>
                  <a:lnTo>
                    <a:pt x="123977" y="123977"/>
                  </a:lnTo>
                  <a:lnTo>
                    <a:pt x="92990" y="158542"/>
                  </a:lnTo>
                  <a:lnTo>
                    <a:pt x="65900" y="196367"/>
                  </a:lnTo>
                  <a:lnTo>
                    <a:pt x="43023" y="237136"/>
                  </a:lnTo>
                  <a:lnTo>
                    <a:pt x="24676" y="280530"/>
                  </a:lnTo>
                  <a:lnTo>
                    <a:pt x="11179" y="326232"/>
                  </a:lnTo>
                  <a:lnTo>
                    <a:pt x="2847" y="373925"/>
                  </a:lnTo>
                  <a:lnTo>
                    <a:pt x="0" y="423291"/>
                  </a:lnTo>
                  <a:lnTo>
                    <a:pt x="2847" y="472656"/>
                  </a:lnTo>
                  <a:lnTo>
                    <a:pt x="11179" y="520349"/>
                  </a:lnTo>
                  <a:lnTo>
                    <a:pt x="24676" y="566051"/>
                  </a:lnTo>
                  <a:lnTo>
                    <a:pt x="43023" y="609445"/>
                  </a:lnTo>
                  <a:lnTo>
                    <a:pt x="65900" y="650214"/>
                  </a:lnTo>
                  <a:lnTo>
                    <a:pt x="92990" y="688039"/>
                  </a:lnTo>
                  <a:lnTo>
                    <a:pt x="123977" y="722604"/>
                  </a:lnTo>
                  <a:lnTo>
                    <a:pt x="158542" y="753591"/>
                  </a:lnTo>
                  <a:lnTo>
                    <a:pt x="196367" y="780681"/>
                  </a:lnTo>
                  <a:lnTo>
                    <a:pt x="237136" y="803558"/>
                  </a:lnTo>
                  <a:lnTo>
                    <a:pt x="280530" y="821905"/>
                  </a:lnTo>
                  <a:lnTo>
                    <a:pt x="326232" y="835402"/>
                  </a:lnTo>
                  <a:lnTo>
                    <a:pt x="373925" y="843734"/>
                  </a:lnTo>
                  <a:lnTo>
                    <a:pt x="423291" y="846582"/>
                  </a:lnTo>
                  <a:lnTo>
                    <a:pt x="472656" y="843734"/>
                  </a:lnTo>
                  <a:lnTo>
                    <a:pt x="520349" y="835402"/>
                  </a:lnTo>
                  <a:lnTo>
                    <a:pt x="566051" y="821905"/>
                  </a:lnTo>
                  <a:lnTo>
                    <a:pt x="609445" y="803558"/>
                  </a:lnTo>
                  <a:lnTo>
                    <a:pt x="650214" y="780681"/>
                  </a:lnTo>
                  <a:lnTo>
                    <a:pt x="688039" y="753591"/>
                  </a:lnTo>
                  <a:lnTo>
                    <a:pt x="722604" y="722604"/>
                  </a:lnTo>
                  <a:lnTo>
                    <a:pt x="753591" y="688039"/>
                  </a:lnTo>
                  <a:lnTo>
                    <a:pt x="780681" y="650214"/>
                  </a:lnTo>
                  <a:lnTo>
                    <a:pt x="803558" y="609445"/>
                  </a:lnTo>
                  <a:lnTo>
                    <a:pt x="821905" y="566051"/>
                  </a:lnTo>
                  <a:lnTo>
                    <a:pt x="835402" y="520349"/>
                  </a:lnTo>
                  <a:lnTo>
                    <a:pt x="843734" y="472656"/>
                  </a:lnTo>
                  <a:lnTo>
                    <a:pt x="846582" y="423291"/>
                  </a:lnTo>
                  <a:lnTo>
                    <a:pt x="843734" y="373925"/>
                  </a:lnTo>
                  <a:lnTo>
                    <a:pt x="835402" y="326232"/>
                  </a:lnTo>
                  <a:lnTo>
                    <a:pt x="821905" y="280530"/>
                  </a:lnTo>
                  <a:lnTo>
                    <a:pt x="803558" y="237136"/>
                  </a:lnTo>
                  <a:lnTo>
                    <a:pt x="780681" y="196367"/>
                  </a:lnTo>
                  <a:lnTo>
                    <a:pt x="753591" y="158542"/>
                  </a:lnTo>
                  <a:lnTo>
                    <a:pt x="722604" y="123977"/>
                  </a:lnTo>
                  <a:lnTo>
                    <a:pt x="688039" y="92990"/>
                  </a:lnTo>
                  <a:lnTo>
                    <a:pt x="650214" y="65900"/>
                  </a:lnTo>
                  <a:lnTo>
                    <a:pt x="609445" y="43023"/>
                  </a:lnTo>
                  <a:lnTo>
                    <a:pt x="566051" y="24676"/>
                  </a:lnTo>
                  <a:lnTo>
                    <a:pt x="520349" y="11179"/>
                  </a:lnTo>
                  <a:lnTo>
                    <a:pt x="472656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04231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0" y="423291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1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2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38777" y="4466844"/>
              <a:ext cx="966469" cy="0"/>
            </a:xfrm>
            <a:custGeom>
              <a:avLst/>
              <a:gdLst/>
              <a:ahLst/>
              <a:cxnLst/>
              <a:rect l="l" t="t" r="r" b="b"/>
              <a:pathLst>
                <a:path w="966469">
                  <a:moveTo>
                    <a:pt x="0" y="0"/>
                  </a:moveTo>
                  <a:lnTo>
                    <a:pt x="965885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04231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90">
                  <a:moveTo>
                    <a:pt x="0" y="423290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0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1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 flipH="1">
              <a:off x="5327903" y="4842515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84179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717030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89">
                  <a:moveTo>
                    <a:pt x="0" y="423291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1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2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717030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90">
                  <a:moveTo>
                    <a:pt x="0" y="423290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0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1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627369" y="4719068"/>
              <a:ext cx="1214120" cy="1090295"/>
            </a:xfrm>
            <a:custGeom>
              <a:avLst/>
              <a:gdLst/>
              <a:ahLst/>
              <a:cxnLst/>
              <a:rect l="l" t="t" r="r" b="b"/>
              <a:pathLst>
                <a:path w="1214120" h="1090295">
                  <a:moveTo>
                    <a:pt x="0" y="1089748"/>
                  </a:moveTo>
                  <a:lnTo>
                    <a:pt x="121384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750813" y="6108192"/>
              <a:ext cx="966469" cy="0"/>
            </a:xfrm>
            <a:custGeom>
              <a:avLst/>
              <a:gdLst/>
              <a:ahLst/>
              <a:cxnLst/>
              <a:rect l="l" t="t" r="r" b="b"/>
              <a:pathLst>
                <a:path w="966469">
                  <a:moveTo>
                    <a:pt x="0" y="0"/>
                  </a:moveTo>
                  <a:lnTo>
                    <a:pt x="965885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529066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89">
                  <a:moveTo>
                    <a:pt x="0" y="423291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1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2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563611" y="4466844"/>
              <a:ext cx="966469" cy="0"/>
            </a:xfrm>
            <a:custGeom>
              <a:avLst/>
              <a:gdLst/>
              <a:ahLst/>
              <a:cxnLst/>
              <a:rect l="l" t="t" r="r" b="b"/>
              <a:pathLst>
                <a:path w="966469">
                  <a:moveTo>
                    <a:pt x="965885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529066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90">
                  <a:moveTo>
                    <a:pt x="0" y="423290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0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1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439403" y="4719066"/>
              <a:ext cx="1214120" cy="1090295"/>
            </a:xfrm>
            <a:custGeom>
              <a:avLst/>
              <a:gdLst/>
              <a:ahLst/>
              <a:cxnLst/>
              <a:rect l="l" t="t" r="r" b="b"/>
              <a:pathLst>
                <a:path w="1214120" h="1090295">
                  <a:moveTo>
                    <a:pt x="1213840" y="0"/>
                  </a:moveTo>
                  <a:lnTo>
                    <a:pt x="0" y="108974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 flipH="1">
              <a:off x="8952737" y="4842515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84179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563611" y="6108192"/>
              <a:ext cx="966469" cy="0"/>
            </a:xfrm>
            <a:custGeom>
              <a:avLst/>
              <a:gdLst/>
              <a:ahLst/>
              <a:cxnLst/>
              <a:rect l="l" t="t" r="r" b="b"/>
              <a:pathLst>
                <a:path w="966469">
                  <a:moveTo>
                    <a:pt x="0" y="0"/>
                  </a:moveTo>
                  <a:lnTo>
                    <a:pt x="965885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 flipH="1">
              <a:off x="7139939" y="4842515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84179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105544" y="3524825"/>
            <a:ext cx="445770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685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sz="2200" b="1" spc="-25">
                <a:latin typeface="Times New Roman"/>
                <a:cs typeface="Times New Roman"/>
              </a:rPr>
              <a:t>2/X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293100" y="3524825"/>
            <a:ext cx="445770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985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sz="2200" b="1" spc="-25">
                <a:latin typeface="Times New Roman"/>
                <a:cs typeface="Times New Roman"/>
              </a:rPr>
              <a:t>1/X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064847" y="352482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890022" y="352482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 flipH="1">
            <a:off x="2459368" y="788581"/>
            <a:ext cx="0" cy="2604770"/>
          </a:xfrm>
          <a:custGeom>
            <a:avLst/>
            <a:gdLst/>
            <a:ahLst/>
            <a:cxnLst/>
            <a:rect l="l" t="t" r="r" b="b"/>
            <a:pathLst>
              <a:path h="2604770">
                <a:moveTo>
                  <a:pt x="0" y="0"/>
                </a:moveTo>
                <a:lnTo>
                  <a:pt x="0" y="2604744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 flipH="1">
            <a:off x="3276099" y="788581"/>
            <a:ext cx="0" cy="2604770"/>
          </a:xfrm>
          <a:custGeom>
            <a:avLst/>
            <a:gdLst/>
            <a:ahLst/>
            <a:cxnLst/>
            <a:rect l="l" t="t" r="r" b="b"/>
            <a:pathLst>
              <a:path h="2604770">
                <a:moveTo>
                  <a:pt x="0" y="0"/>
                </a:moveTo>
                <a:lnTo>
                  <a:pt x="0" y="2604744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 flipH="1">
            <a:off x="681051" y="788581"/>
            <a:ext cx="0" cy="2604770"/>
          </a:xfrm>
          <a:custGeom>
            <a:avLst/>
            <a:gdLst/>
            <a:ahLst/>
            <a:cxnLst/>
            <a:rect l="l" t="t" r="r" b="b"/>
            <a:pathLst>
              <a:path h="2604770">
                <a:moveTo>
                  <a:pt x="0" y="0"/>
                </a:moveTo>
                <a:lnTo>
                  <a:pt x="0" y="2604744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674700" y="788581"/>
          <a:ext cx="8315960" cy="25907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5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𝑉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0160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86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14">
                          <a:latin typeface="Cambria Math"/>
                          <a:cs typeface="Cambria Math"/>
                        </a:rPr>
                        <a:t>𝑐𝑜𝑙𝑜𝑟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727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228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4267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40">
                          <a:latin typeface="Cambria Math"/>
                          <a:cs typeface="Cambria Math"/>
                        </a:rPr>
                        <a:t>𝑝𝑟𝑒𝑑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822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7241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25">
                          <a:latin typeface="Cambria Math"/>
                          <a:cs typeface="Cambria Math"/>
                        </a:rPr>
                        <a:t>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0033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59">
                <a:tc gridSpan="3">
                  <a:txBody>
                    <a:bodyPr/>
                    <a:lstStyle/>
                    <a:p>
                      <a:pPr marL="7435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" name="object 32"/>
          <p:cNvSpPr txBox="1"/>
          <p:nvPr/>
        </p:nvSpPr>
        <p:spPr>
          <a:xfrm>
            <a:off x="9299777" y="820331"/>
            <a:ext cx="118935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110" dirty="0">
                <a:latin typeface="Cambria Math"/>
                <a:cs typeface="Cambria Math"/>
              </a:rPr>
              <a:t>𝑡𝑖𝑚𝑒</a:t>
            </a:r>
            <a:r>
              <a:rPr sz="2200" spc="125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=</a:t>
            </a:r>
            <a:r>
              <a:rPr sz="2200" spc="114" dirty="0">
                <a:latin typeface="Cambria Math"/>
                <a:cs typeface="Cambria Math"/>
              </a:rPr>
              <a:t> </a:t>
            </a:r>
            <a:r>
              <a:rPr sz="2200" spc="-685" dirty="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endParaRPr sz="2200" dirty="0">
              <a:latin typeface="Cambria Math"/>
              <a:cs typeface="Cambria Math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59841" y="2786367"/>
            <a:ext cx="3442970" cy="1252855"/>
          </a:xfrm>
          <a:custGeom>
            <a:avLst/>
            <a:gdLst/>
            <a:ahLst/>
            <a:cxnLst/>
            <a:rect l="l" t="t" r="r" b="b"/>
            <a:pathLst>
              <a:path w="3442970" h="1252854">
                <a:moveTo>
                  <a:pt x="3442487" y="0"/>
                </a:moveTo>
                <a:lnTo>
                  <a:pt x="1677543" y="787412"/>
                </a:lnTo>
                <a:lnTo>
                  <a:pt x="0" y="787412"/>
                </a:lnTo>
                <a:lnTo>
                  <a:pt x="0" y="1252232"/>
                </a:lnTo>
                <a:lnTo>
                  <a:pt x="2875788" y="1252232"/>
                </a:lnTo>
                <a:lnTo>
                  <a:pt x="2875788" y="787412"/>
                </a:lnTo>
                <a:lnTo>
                  <a:pt x="2396490" y="787412"/>
                </a:lnTo>
                <a:lnTo>
                  <a:pt x="3442487" y="0"/>
                </a:lnTo>
                <a:close/>
              </a:path>
            </a:pathLst>
          </a:custGeom>
          <a:solidFill>
            <a:srgbClr val="07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915687" y="3596957"/>
            <a:ext cx="156400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>
                <a:solidFill>
                  <a:srgbClr val="FFFFFF"/>
                </a:solidFill>
                <a:latin typeface="PMingLiU"/>
                <a:cs typeface="PMingLiU"/>
              </a:rPr>
              <a:t>发现时刻为</a:t>
            </a:r>
            <a:r>
              <a:rPr sz="2200" b="1" spc="-5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384879" y="6505153"/>
            <a:ext cx="203835" cy="419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55"/>
              </a:lnSpc>
            </a:pPr>
            <a:r>
              <a:rPr sz="2800" b="1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209970" y="6505153"/>
            <a:ext cx="203835" cy="419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55"/>
              </a:lnSpc>
            </a:pPr>
            <a:r>
              <a:rPr sz="2800" b="1"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035063" y="6505153"/>
            <a:ext cx="203835" cy="419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55"/>
              </a:lnSpc>
            </a:pPr>
            <a:r>
              <a:rPr sz="2800" b="1"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860155" y="6505153"/>
            <a:ext cx="203835" cy="419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55"/>
              </a:lnSpc>
            </a:pPr>
            <a:r>
              <a:rPr sz="2800" b="1"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/>
              <a:t>算法实</a:t>
            </a:r>
            <a:r>
              <a:rPr spc="-50"/>
              <a:t>例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73145" y="3976878"/>
            <a:ext cx="6322060" cy="2573655"/>
            <a:chOff x="3073145" y="3976878"/>
            <a:chExt cx="6322060" cy="2573655"/>
          </a:xfrm>
        </p:grpSpPr>
        <p:sp>
          <p:nvSpPr>
            <p:cNvPr id="4" name="object 4"/>
            <p:cNvSpPr/>
            <p:nvPr/>
          </p:nvSpPr>
          <p:spPr>
            <a:xfrm>
              <a:off x="3092195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423291" y="0"/>
                  </a:moveTo>
                  <a:lnTo>
                    <a:pt x="373925" y="2847"/>
                  </a:lnTo>
                  <a:lnTo>
                    <a:pt x="326232" y="11179"/>
                  </a:lnTo>
                  <a:lnTo>
                    <a:pt x="280530" y="24676"/>
                  </a:lnTo>
                  <a:lnTo>
                    <a:pt x="237136" y="43023"/>
                  </a:lnTo>
                  <a:lnTo>
                    <a:pt x="196367" y="65900"/>
                  </a:lnTo>
                  <a:lnTo>
                    <a:pt x="158542" y="92990"/>
                  </a:lnTo>
                  <a:lnTo>
                    <a:pt x="123977" y="123977"/>
                  </a:lnTo>
                  <a:lnTo>
                    <a:pt x="92990" y="158542"/>
                  </a:lnTo>
                  <a:lnTo>
                    <a:pt x="65900" y="196367"/>
                  </a:lnTo>
                  <a:lnTo>
                    <a:pt x="43023" y="237136"/>
                  </a:lnTo>
                  <a:lnTo>
                    <a:pt x="24676" y="280530"/>
                  </a:lnTo>
                  <a:lnTo>
                    <a:pt x="11179" y="326232"/>
                  </a:lnTo>
                  <a:lnTo>
                    <a:pt x="2847" y="373925"/>
                  </a:lnTo>
                  <a:lnTo>
                    <a:pt x="0" y="423291"/>
                  </a:lnTo>
                  <a:lnTo>
                    <a:pt x="2847" y="472656"/>
                  </a:lnTo>
                  <a:lnTo>
                    <a:pt x="11179" y="520349"/>
                  </a:lnTo>
                  <a:lnTo>
                    <a:pt x="24676" y="566051"/>
                  </a:lnTo>
                  <a:lnTo>
                    <a:pt x="43023" y="609445"/>
                  </a:lnTo>
                  <a:lnTo>
                    <a:pt x="65900" y="650214"/>
                  </a:lnTo>
                  <a:lnTo>
                    <a:pt x="92990" y="688039"/>
                  </a:lnTo>
                  <a:lnTo>
                    <a:pt x="123977" y="722604"/>
                  </a:lnTo>
                  <a:lnTo>
                    <a:pt x="158542" y="753591"/>
                  </a:lnTo>
                  <a:lnTo>
                    <a:pt x="196367" y="780681"/>
                  </a:lnTo>
                  <a:lnTo>
                    <a:pt x="237136" y="803558"/>
                  </a:lnTo>
                  <a:lnTo>
                    <a:pt x="280530" y="821905"/>
                  </a:lnTo>
                  <a:lnTo>
                    <a:pt x="326232" y="835402"/>
                  </a:lnTo>
                  <a:lnTo>
                    <a:pt x="373925" y="843734"/>
                  </a:lnTo>
                  <a:lnTo>
                    <a:pt x="423291" y="846582"/>
                  </a:lnTo>
                  <a:lnTo>
                    <a:pt x="472656" y="843734"/>
                  </a:lnTo>
                  <a:lnTo>
                    <a:pt x="520349" y="835402"/>
                  </a:lnTo>
                  <a:lnTo>
                    <a:pt x="566051" y="821905"/>
                  </a:lnTo>
                  <a:lnTo>
                    <a:pt x="609445" y="803558"/>
                  </a:lnTo>
                  <a:lnTo>
                    <a:pt x="650214" y="780681"/>
                  </a:lnTo>
                  <a:lnTo>
                    <a:pt x="688039" y="753591"/>
                  </a:lnTo>
                  <a:lnTo>
                    <a:pt x="722604" y="722604"/>
                  </a:lnTo>
                  <a:lnTo>
                    <a:pt x="753591" y="688039"/>
                  </a:lnTo>
                  <a:lnTo>
                    <a:pt x="780681" y="650214"/>
                  </a:lnTo>
                  <a:lnTo>
                    <a:pt x="803558" y="609445"/>
                  </a:lnTo>
                  <a:lnTo>
                    <a:pt x="821905" y="566051"/>
                  </a:lnTo>
                  <a:lnTo>
                    <a:pt x="835402" y="520349"/>
                  </a:lnTo>
                  <a:lnTo>
                    <a:pt x="843734" y="472656"/>
                  </a:lnTo>
                  <a:lnTo>
                    <a:pt x="846582" y="423291"/>
                  </a:lnTo>
                  <a:lnTo>
                    <a:pt x="843734" y="373925"/>
                  </a:lnTo>
                  <a:lnTo>
                    <a:pt x="835402" y="326232"/>
                  </a:lnTo>
                  <a:lnTo>
                    <a:pt x="821905" y="280530"/>
                  </a:lnTo>
                  <a:lnTo>
                    <a:pt x="803558" y="237136"/>
                  </a:lnTo>
                  <a:lnTo>
                    <a:pt x="780681" y="196367"/>
                  </a:lnTo>
                  <a:lnTo>
                    <a:pt x="753591" y="158542"/>
                  </a:lnTo>
                  <a:lnTo>
                    <a:pt x="722604" y="123977"/>
                  </a:lnTo>
                  <a:lnTo>
                    <a:pt x="688039" y="92990"/>
                  </a:lnTo>
                  <a:lnTo>
                    <a:pt x="650214" y="65900"/>
                  </a:lnTo>
                  <a:lnTo>
                    <a:pt x="609445" y="43023"/>
                  </a:lnTo>
                  <a:lnTo>
                    <a:pt x="566051" y="24676"/>
                  </a:lnTo>
                  <a:lnTo>
                    <a:pt x="520349" y="11179"/>
                  </a:lnTo>
                  <a:lnTo>
                    <a:pt x="472656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92195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0" y="423291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1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2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92195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90">
                  <a:moveTo>
                    <a:pt x="0" y="423290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0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1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 flipH="1">
              <a:off x="3515105" y="4842510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0"/>
                  </a:moveTo>
                  <a:lnTo>
                    <a:pt x="0" y="84179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04231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423291" y="0"/>
                  </a:moveTo>
                  <a:lnTo>
                    <a:pt x="373925" y="2847"/>
                  </a:lnTo>
                  <a:lnTo>
                    <a:pt x="326232" y="11179"/>
                  </a:lnTo>
                  <a:lnTo>
                    <a:pt x="280530" y="24676"/>
                  </a:lnTo>
                  <a:lnTo>
                    <a:pt x="237136" y="43023"/>
                  </a:lnTo>
                  <a:lnTo>
                    <a:pt x="196367" y="65900"/>
                  </a:lnTo>
                  <a:lnTo>
                    <a:pt x="158542" y="92990"/>
                  </a:lnTo>
                  <a:lnTo>
                    <a:pt x="123977" y="123977"/>
                  </a:lnTo>
                  <a:lnTo>
                    <a:pt x="92990" y="158542"/>
                  </a:lnTo>
                  <a:lnTo>
                    <a:pt x="65900" y="196367"/>
                  </a:lnTo>
                  <a:lnTo>
                    <a:pt x="43023" y="237136"/>
                  </a:lnTo>
                  <a:lnTo>
                    <a:pt x="24676" y="280530"/>
                  </a:lnTo>
                  <a:lnTo>
                    <a:pt x="11179" y="326232"/>
                  </a:lnTo>
                  <a:lnTo>
                    <a:pt x="2847" y="373925"/>
                  </a:lnTo>
                  <a:lnTo>
                    <a:pt x="0" y="423291"/>
                  </a:lnTo>
                  <a:lnTo>
                    <a:pt x="2847" y="472656"/>
                  </a:lnTo>
                  <a:lnTo>
                    <a:pt x="11179" y="520349"/>
                  </a:lnTo>
                  <a:lnTo>
                    <a:pt x="24676" y="566051"/>
                  </a:lnTo>
                  <a:lnTo>
                    <a:pt x="43023" y="609445"/>
                  </a:lnTo>
                  <a:lnTo>
                    <a:pt x="65900" y="650214"/>
                  </a:lnTo>
                  <a:lnTo>
                    <a:pt x="92990" y="688039"/>
                  </a:lnTo>
                  <a:lnTo>
                    <a:pt x="123977" y="722604"/>
                  </a:lnTo>
                  <a:lnTo>
                    <a:pt x="158542" y="753591"/>
                  </a:lnTo>
                  <a:lnTo>
                    <a:pt x="196367" y="780681"/>
                  </a:lnTo>
                  <a:lnTo>
                    <a:pt x="237136" y="803558"/>
                  </a:lnTo>
                  <a:lnTo>
                    <a:pt x="280530" y="821905"/>
                  </a:lnTo>
                  <a:lnTo>
                    <a:pt x="326232" y="835402"/>
                  </a:lnTo>
                  <a:lnTo>
                    <a:pt x="373925" y="843734"/>
                  </a:lnTo>
                  <a:lnTo>
                    <a:pt x="423291" y="846582"/>
                  </a:lnTo>
                  <a:lnTo>
                    <a:pt x="472656" y="843734"/>
                  </a:lnTo>
                  <a:lnTo>
                    <a:pt x="520349" y="835402"/>
                  </a:lnTo>
                  <a:lnTo>
                    <a:pt x="566051" y="821905"/>
                  </a:lnTo>
                  <a:lnTo>
                    <a:pt x="609445" y="803558"/>
                  </a:lnTo>
                  <a:lnTo>
                    <a:pt x="650214" y="780681"/>
                  </a:lnTo>
                  <a:lnTo>
                    <a:pt x="688039" y="753591"/>
                  </a:lnTo>
                  <a:lnTo>
                    <a:pt x="722604" y="722604"/>
                  </a:lnTo>
                  <a:lnTo>
                    <a:pt x="753591" y="688039"/>
                  </a:lnTo>
                  <a:lnTo>
                    <a:pt x="780681" y="650214"/>
                  </a:lnTo>
                  <a:lnTo>
                    <a:pt x="803558" y="609445"/>
                  </a:lnTo>
                  <a:lnTo>
                    <a:pt x="821905" y="566051"/>
                  </a:lnTo>
                  <a:lnTo>
                    <a:pt x="835402" y="520349"/>
                  </a:lnTo>
                  <a:lnTo>
                    <a:pt x="843734" y="472656"/>
                  </a:lnTo>
                  <a:lnTo>
                    <a:pt x="846582" y="423291"/>
                  </a:lnTo>
                  <a:lnTo>
                    <a:pt x="843734" y="373925"/>
                  </a:lnTo>
                  <a:lnTo>
                    <a:pt x="835402" y="326232"/>
                  </a:lnTo>
                  <a:lnTo>
                    <a:pt x="821905" y="280530"/>
                  </a:lnTo>
                  <a:lnTo>
                    <a:pt x="803558" y="237136"/>
                  </a:lnTo>
                  <a:lnTo>
                    <a:pt x="780681" y="196367"/>
                  </a:lnTo>
                  <a:lnTo>
                    <a:pt x="753591" y="158542"/>
                  </a:lnTo>
                  <a:lnTo>
                    <a:pt x="722604" y="123977"/>
                  </a:lnTo>
                  <a:lnTo>
                    <a:pt x="688039" y="92990"/>
                  </a:lnTo>
                  <a:lnTo>
                    <a:pt x="650214" y="65900"/>
                  </a:lnTo>
                  <a:lnTo>
                    <a:pt x="609445" y="43023"/>
                  </a:lnTo>
                  <a:lnTo>
                    <a:pt x="566051" y="24676"/>
                  </a:lnTo>
                  <a:lnTo>
                    <a:pt x="520349" y="11179"/>
                  </a:lnTo>
                  <a:lnTo>
                    <a:pt x="472656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04231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0" y="423291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1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2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38777" y="4466844"/>
              <a:ext cx="966469" cy="0"/>
            </a:xfrm>
            <a:custGeom>
              <a:avLst/>
              <a:gdLst/>
              <a:ahLst/>
              <a:cxnLst/>
              <a:rect l="l" t="t" r="r" b="b"/>
              <a:pathLst>
                <a:path w="966469">
                  <a:moveTo>
                    <a:pt x="0" y="0"/>
                  </a:moveTo>
                  <a:lnTo>
                    <a:pt x="965885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04231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90">
                  <a:moveTo>
                    <a:pt x="423291" y="0"/>
                  </a:moveTo>
                  <a:lnTo>
                    <a:pt x="373925" y="2847"/>
                  </a:lnTo>
                  <a:lnTo>
                    <a:pt x="326232" y="11179"/>
                  </a:lnTo>
                  <a:lnTo>
                    <a:pt x="280530" y="24676"/>
                  </a:lnTo>
                  <a:lnTo>
                    <a:pt x="237136" y="43023"/>
                  </a:lnTo>
                  <a:lnTo>
                    <a:pt x="196367" y="65900"/>
                  </a:lnTo>
                  <a:lnTo>
                    <a:pt x="158542" y="92990"/>
                  </a:lnTo>
                  <a:lnTo>
                    <a:pt x="123977" y="123977"/>
                  </a:lnTo>
                  <a:lnTo>
                    <a:pt x="92990" y="158542"/>
                  </a:lnTo>
                  <a:lnTo>
                    <a:pt x="65900" y="196367"/>
                  </a:lnTo>
                  <a:lnTo>
                    <a:pt x="43023" y="237136"/>
                  </a:lnTo>
                  <a:lnTo>
                    <a:pt x="24676" y="280530"/>
                  </a:lnTo>
                  <a:lnTo>
                    <a:pt x="11179" y="326232"/>
                  </a:lnTo>
                  <a:lnTo>
                    <a:pt x="2847" y="373925"/>
                  </a:lnTo>
                  <a:lnTo>
                    <a:pt x="0" y="423290"/>
                  </a:lnTo>
                  <a:lnTo>
                    <a:pt x="2847" y="472656"/>
                  </a:lnTo>
                  <a:lnTo>
                    <a:pt x="11179" y="520349"/>
                  </a:lnTo>
                  <a:lnTo>
                    <a:pt x="24676" y="566051"/>
                  </a:lnTo>
                  <a:lnTo>
                    <a:pt x="43023" y="609445"/>
                  </a:lnTo>
                  <a:lnTo>
                    <a:pt x="65900" y="650214"/>
                  </a:lnTo>
                  <a:lnTo>
                    <a:pt x="92990" y="688039"/>
                  </a:lnTo>
                  <a:lnTo>
                    <a:pt x="123977" y="722604"/>
                  </a:lnTo>
                  <a:lnTo>
                    <a:pt x="158542" y="753591"/>
                  </a:lnTo>
                  <a:lnTo>
                    <a:pt x="196367" y="780681"/>
                  </a:lnTo>
                  <a:lnTo>
                    <a:pt x="237136" y="803558"/>
                  </a:lnTo>
                  <a:lnTo>
                    <a:pt x="280530" y="821905"/>
                  </a:lnTo>
                  <a:lnTo>
                    <a:pt x="326232" y="835402"/>
                  </a:lnTo>
                  <a:lnTo>
                    <a:pt x="373925" y="843734"/>
                  </a:lnTo>
                  <a:lnTo>
                    <a:pt x="423291" y="846581"/>
                  </a:lnTo>
                  <a:lnTo>
                    <a:pt x="472656" y="843734"/>
                  </a:lnTo>
                  <a:lnTo>
                    <a:pt x="520349" y="835402"/>
                  </a:lnTo>
                  <a:lnTo>
                    <a:pt x="566051" y="821905"/>
                  </a:lnTo>
                  <a:lnTo>
                    <a:pt x="609445" y="803558"/>
                  </a:lnTo>
                  <a:lnTo>
                    <a:pt x="650214" y="780681"/>
                  </a:lnTo>
                  <a:lnTo>
                    <a:pt x="688039" y="753591"/>
                  </a:lnTo>
                  <a:lnTo>
                    <a:pt x="722604" y="722604"/>
                  </a:lnTo>
                  <a:lnTo>
                    <a:pt x="753591" y="688039"/>
                  </a:lnTo>
                  <a:lnTo>
                    <a:pt x="780681" y="650214"/>
                  </a:lnTo>
                  <a:lnTo>
                    <a:pt x="803558" y="609445"/>
                  </a:lnTo>
                  <a:lnTo>
                    <a:pt x="821905" y="566051"/>
                  </a:lnTo>
                  <a:lnTo>
                    <a:pt x="835402" y="520349"/>
                  </a:lnTo>
                  <a:lnTo>
                    <a:pt x="843734" y="472656"/>
                  </a:lnTo>
                  <a:lnTo>
                    <a:pt x="846582" y="423290"/>
                  </a:lnTo>
                  <a:lnTo>
                    <a:pt x="843734" y="373925"/>
                  </a:lnTo>
                  <a:lnTo>
                    <a:pt x="835402" y="326232"/>
                  </a:lnTo>
                  <a:lnTo>
                    <a:pt x="821905" y="280530"/>
                  </a:lnTo>
                  <a:lnTo>
                    <a:pt x="803558" y="237136"/>
                  </a:lnTo>
                  <a:lnTo>
                    <a:pt x="780681" y="196367"/>
                  </a:lnTo>
                  <a:lnTo>
                    <a:pt x="753591" y="158542"/>
                  </a:lnTo>
                  <a:lnTo>
                    <a:pt x="722604" y="123977"/>
                  </a:lnTo>
                  <a:lnTo>
                    <a:pt x="688039" y="92990"/>
                  </a:lnTo>
                  <a:lnTo>
                    <a:pt x="650214" y="65900"/>
                  </a:lnTo>
                  <a:lnTo>
                    <a:pt x="609445" y="43023"/>
                  </a:lnTo>
                  <a:lnTo>
                    <a:pt x="566051" y="24676"/>
                  </a:lnTo>
                  <a:lnTo>
                    <a:pt x="520349" y="11179"/>
                  </a:lnTo>
                  <a:lnTo>
                    <a:pt x="472656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04231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90">
                  <a:moveTo>
                    <a:pt x="0" y="423290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0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1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 flipH="1">
              <a:off x="5327903" y="4842515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84179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717030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89">
                  <a:moveTo>
                    <a:pt x="0" y="423291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1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2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717030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90">
                  <a:moveTo>
                    <a:pt x="0" y="423290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0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1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627369" y="4719068"/>
              <a:ext cx="1214120" cy="1090295"/>
            </a:xfrm>
            <a:custGeom>
              <a:avLst/>
              <a:gdLst/>
              <a:ahLst/>
              <a:cxnLst/>
              <a:rect l="l" t="t" r="r" b="b"/>
              <a:pathLst>
                <a:path w="1214120" h="1090295">
                  <a:moveTo>
                    <a:pt x="0" y="1089748"/>
                  </a:moveTo>
                  <a:lnTo>
                    <a:pt x="121384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750813" y="6108192"/>
              <a:ext cx="966469" cy="0"/>
            </a:xfrm>
            <a:custGeom>
              <a:avLst/>
              <a:gdLst/>
              <a:ahLst/>
              <a:cxnLst/>
              <a:rect l="l" t="t" r="r" b="b"/>
              <a:pathLst>
                <a:path w="966469">
                  <a:moveTo>
                    <a:pt x="0" y="0"/>
                  </a:moveTo>
                  <a:lnTo>
                    <a:pt x="965885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529066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89">
                  <a:moveTo>
                    <a:pt x="0" y="423291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1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2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563611" y="4466844"/>
              <a:ext cx="966469" cy="0"/>
            </a:xfrm>
            <a:custGeom>
              <a:avLst/>
              <a:gdLst/>
              <a:ahLst/>
              <a:cxnLst/>
              <a:rect l="l" t="t" r="r" b="b"/>
              <a:pathLst>
                <a:path w="966469">
                  <a:moveTo>
                    <a:pt x="965885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529066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90">
                  <a:moveTo>
                    <a:pt x="0" y="423290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0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1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439403" y="4719066"/>
              <a:ext cx="1214120" cy="1090295"/>
            </a:xfrm>
            <a:custGeom>
              <a:avLst/>
              <a:gdLst/>
              <a:ahLst/>
              <a:cxnLst/>
              <a:rect l="l" t="t" r="r" b="b"/>
              <a:pathLst>
                <a:path w="1214120" h="1090295">
                  <a:moveTo>
                    <a:pt x="1213840" y="0"/>
                  </a:moveTo>
                  <a:lnTo>
                    <a:pt x="0" y="108974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 flipH="1">
              <a:off x="8952737" y="4842515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84179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563611" y="6108192"/>
              <a:ext cx="966469" cy="0"/>
            </a:xfrm>
            <a:custGeom>
              <a:avLst/>
              <a:gdLst/>
              <a:ahLst/>
              <a:cxnLst/>
              <a:rect l="l" t="t" r="r" b="b"/>
              <a:pathLst>
                <a:path w="966469">
                  <a:moveTo>
                    <a:pt x="0" y="0"/>
                  </a:moveTo>
                  <a:lnTo>
                    <a:pt x="965885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 flipH="1">
              <a:off x="7139939" y="4842515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84179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105544" y="3524825"/>
            <a:ext cx="445770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685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sz="2200" b="1" spc="-25">
                <a:latin typeface="Times New Roman"/>
                <a:cs typeface="Times New Roman"/>
              </a:rPr>
              <a:t>2/X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105544" y="5948023"/>
            <a:ext cx="445770" cy="976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00"/>
              </a:lnSpc>
            </a:pPr>
            <a:r>
              <a:rPr sz="2200" b="1" spc="-25">
                <a:latin typeface="Times New Roman"/>
                <a:cs typeface="Times New Roman"/>
              </a:rPr>
              <a:t>3/X</a:t>
            </a:r>
            <a:endParaRPr sz="2200">
              <a:latin typeface="Times New Roman"/>
              <a:cs typeface="Times New Roman"/>
            </a:endParaRPr>
          </a:p>
          <a:p>
            <a:pPr marL="116839">
              <a:lnSpc>
                <a:spcPct val="100000"/>
              </a:lnSpc>
              <a:spcBef>
                <a:spcPts val="1680"/>
              </a:spcBef>
            </a:pPr>
            <a:r>
              <a:rPr sz="2800" b="1"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384879" y="6505153"/>
            <a:ext cx="203835" cy="419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55"/>
              </a:lnSpc>
            </a:pPr>
            <a:r>
              <a:rPr sz="2800" b="1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035063" y="6505153"/>
            <a:ext cx="203835" cy="419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55"/>
              </a:lnSpc>
            </a:pPr>
            <a:r>
              <a:rPr sz="2800" b="1"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860155" y="6505153"/>
            <a:ext cx="203835" cy="419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55"/>
              </a:lnSpc>
            </a:pPr>
            <a:r>
              <a:rPr sz="2800" b="1"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293100" y="3524825"/>
            <a:ext cx="445770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985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sz="2200" b="1" spc="-25">
                <a:latin typeface="Times New Roman"/>
                <a:cs typeface="Times New Roman"/>
              </a:rPr>
              <a:t>1/X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64847" y="352482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890022" y="352482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674701" y="788581"/>
          <a:ext cx="8316593" cy="25907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𝑉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86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14">
                          <a:latin typeface="Cambria Math"/>
                          <a:cs typeface="Cambria Math"/>
                        </a:rPr>
                        <a:t>𝑐𝑜𝑙𝑜𝑟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692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228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4267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40">
                          <a:latin typeface="Cambria Math"/>
                          <a:cs typeface="Cambria Math"/>
                        </a:rPr>
                        <a:t>𝑝𝑟𝑒𝑑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7241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8191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25">
                          <a:latin typeface="Cambria Math"/>
                          <a:cs typeface="Cambria Math"/>
                        </a:rPr>
                        <a:t>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812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" name="object 30"/>
          <p:cNvSpPr txBox="1"/>
          <p:nvPr/>
        </p:nvSpPr>
        <p:spPr>
          <a:xfrm>
            <a:off x="9299777" y="820331"/>
            <a:ext cx="118935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110" dirty="0">
                <a:latin typeface="Cambria Math"/>
                <a:cs typeface="Cambria Math"/>
              </a:rPr>
              <a:t>𝑡𝑖𝑚𝑒</a:t>
            </a:r>
            <a:r>
              <a:rPr sz="2200" spc="125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=</a:t>
            </a:r>
            <a:r>
              <a:rPr sz="2200" spc="114" dirty="0">
                <a:latin typeface="Cambria Math"/>
                <a:cs typeface="Cambria Math"/>
              </a:rPr>
              <a:t> </a:t>
            </a:r>
            <a:r>
              <a:rPr sz="2200" spc="-685" dirty="0">
                <a:latin typeface="Cambria Math"/>
                <a:cs typeface="Cambria Math"/>
              </a:rPr>
              <a:t>𝟑</a:t>
            </a:r>
            <a:endParaRPr sz="2200" dirty="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/>
              <a:t>算法实</a:t>
            </a:r>
            <a:r>
              <a:rPr spc="-50"/>
              <a:t>例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73145" y="3976878"/>
            <a:ext cx="6322060" cy="2573655"/>
            <a:chOff x="3073145" y="3976878"/>
            <a:chExt cx="6322060" cy="2573655"/>
          </a:xfrm>
        </p:grpSpPr>
        <p:sp>
          <p:nvSpPr>
            <p:cNvPr id="4" name="object 4"/>
            <p:cNvSpPr/>
            <p:nvPr/>
          </p:nvSpPr>
          <p:spPr>
            <a:xfrm>
              <a:off x="3092195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423291" y="0"/>
                  </a:moveTo>
                  <a:lnTo>
                    <a:pt x="373925" y="2847"/>
                  </a:lnTo>
                  <a:lnTo>
                    <a:pt x="326232" y="11179"/>
                  </a:lnTo>
                  <a:lnTo>
                    <a:pt x="280530" y="24676"/>
                  </a:lnTo>
                  <a:lnTo>
                    <a:pt x="237136" y="43023"/>
                  </a:lnTo>
                  <a:lnTo>
                    <a:pt x="196367" y="65900"/>
                  </a:lnTo>
                  <a:lnTo>
                    <a:pt x="158542" y="92990"/>
                  </a:lnTo>
                  <a:lnTo>
                    <a:pt x="123977" y="123977"/>
                  </a:lnTo>
                  <a:lnTo>
                    <a:pt x="92990" y="158542"/>
                  </a:lnTo>
                  <a:lnTo>
                    <a:pt x="65900" y="196367"/>
                  </a:lnTo>
                  <a:lnTo>
                    <a:pt x="43023" y="237136"/>
                  </a:lnTo>
                  <a:lnTo>
                    <a:pt x="24676" y="280530"/>
                  </a:lnTo>
                  <a:lnTo>
                    <a:pt x="11179" y="326232"/>
                  </a:lnTo>
                  <a:lnTo>
                    <a:pt x="2847" y="373925"/>
                  </a:lnTo>
                  <a:lnTo>
                    <a:pt x="0" y="423291"/>
                  </a:lnTo>
                  <a:lnTo>
                    <a:pt x="2847" y="472656"/>
                  </a:lnTo>
                  <a:lnTo>
                    <a:pt x="11179" y="520349"/>
                  </a:lnTo>
                  <a:lnTo>
                    <a:pt x="24676" y="566051"/>
                  </a:lnTo>
                  <a:lnTo>
                    <a:pt x="43023" y="609445"/>
                  </a:lnTo>
                  <a:lnTo>
                    <a:pt x="65900" y="650214"/>
                  </a:lnTo>
                  <a:lnTo>
                    <a:pt x="92990" y="688039"/>
                  </a:lnTo>
                  <a:lnTo>
                    <a:pt x="123977" y="722604"/>
                  </a:lnTo>
                  <a:lnTo>
                    <a:pt x="158542" y="753591"/>
                  </a:lnTo>
                  <a:lnTo>
                    <a:pt x="196367" y="780681"/>
                  </a:lnTo>
                  <a:lnTo>
                    <a:pt x="237136" y="803558"/>
                  </a:lnTo>
                  <a:lnTo>
                    <a:pt x="280530" y="821905"/>
                  </a:lnTo>
                  <a:lnTo>
                    <a:pt x="326232" y="835402"/>
                  </a:lnTo>
                  <a:lnTo>
                    <a:pt x="373925" y="843734"/>
                  </a:lnTo>
                  <a:lnTo>
                    <a:pt x="423291" y="846582"/>
                  </a:lnTo>
                  <a:lnTo>
                    <a:pt x="472656" y="843734"/>
                  </a:lnTo>
                  <a:lnTo>
                    <a:pt x="520349" y="835402"/>
                  </a:lnTo>
                  <a:lnTo>
                    <a:pt x="566051" y="821905"/>
                  </a:lnTo>
                  <a:lnTo>
                    <a:pt x="609445" y="803558"/>
                  </a:lnTo>
                  <a:lnTo>
                    <a:pt x="650214" y="780681"/>
                  </a:lnTo>
                  <a:lnTo>
                    <a:pt x="688039" y="753591"/>
                  </a:lnTo>
                  <a:lnTo>
                    <a:pt x="722604" y="722604"/>
                  </a:lnTo>
                  <a:lnTo>
                    <a:pt x="753591" y="688039"/>
                  </a:lnTo>
                  <a:lnTo>
                    <a:pt x="780681" y="650214"/>
                  </a:lnTo>
                  <a:lnTo>
                    <a:pt x="803558" y="609445"/>
                  </a:lnTo>
                  <a:lnTo>
                    <a:pt x="821905" y="566051"/>
                  </a:lnTo>
                  <a:lnTo>
                    <a:pt x="835402" y="520349"/>
                  </a:lnTo>
                  <a:lnTo>
                    <a:pt x="843734" y="472656"/>
                  </a:lnTo>
                  <a:lnTo>
                    <a:pt x="846582" y="423291"/>
                  </a:lnTo>
                  <a:lnTo>
                    <a:pt x="843734" y="373925"/>
                  </a:lnTo>
                  <a:lnTo>
                    <a:pt x="835402" y="326232"/>
                  </a:lnTo>
                  <a:lnTo>
                    <a:pt x="821905" y="280530"/>
                  </a:lnTo>
                  <a:lnTo>
                    <a:pt x="803558" y="237136"/>
                  </a:lnTo>
                  <a:lnTo>
                    <a:pt x="780681" y="196367"/>
                  </a:lnTo>
                  <a:lnTo>
                    <a:pt x="753591" y="158542"/>
                  </a:lnTo>
                  <a:lnTo>
                    <a:pt x="722604" y="123977"/>
                  </a:lnTo>
                  <a:lnTo>
                    <a:pt x="688039" y="92990"/>
                  </a:lnTo>
                  <a:lnTo>
                    <a:pt x="650214" y="65900"/>
                  </a:lnTo>
                  <a:lnTo>
                    <a:pt x="609445" y="43023"/>
                  </a:lnTo>
                  <a:lnTo>
                    <a:pt x="566051" y="24676"/>
                  </a:lnTo>
                  <a:lnTo>
                    <a:pt x="520349" y="11179"/>
                  </a:lnTo>
                  <a:lnTo>
                    <a:pt x="472656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92195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0" y="423291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1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2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92195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90">
                  <a:moveTo>
                    <a:pt x="0" y="423290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0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1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 flipH="1">
              <a:off x="3515105" y="4842510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0"/>
                  </a:moveTo>
                  <a:lnTo>
                    <a:pt x="0" y="84179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04231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423291" y="0"/>
                  </a:moveTo>
                  <a:lnTo>
                    <a:pt x="373925" y="2847"/>
                  </a:lnTo>
                  <a:lnTo>
                    <a:pt x="326232" y="11179"/>
                  </a:lnTo>
                  <a:lnTo>
                    <a:pt x="280530" y="24676"/>
                  </a:lnTo>
                  <a:lnTo>
                    <a:pt x="237136" y="43023"/>
                  </a:lnTo>
                  <a:lnTo>
                    <a:pt x="196367" y="65900"/>
                  </a:lnTo>
                  <a:lnTo>
                    <a:pt x="158542" y="92990"/>
                  </a:lnTo>
                  <a:lnTo>
                    <a:pt x="123977" y="123977"/>
                  </a:lnTo>
                  <a:lnTo>
                    <a:pt x="92990" y="158542"/>
                  </a:lnTo>
                  <a:lnTo>
                    <a:pt x="65900" y="196367"/>
                  </a:lnTo>
                  <a:lnTo>
                    <a:pt x="43023" y="237136"/>
                  </a:lnTo>
                  <a:lnTo>
                    <a:pt x="24676" y="280530"/>
                  </a:lnTo>
                  <a:lnTo>
                    <a:pt x="11179" y="326232"/>
                  </a:lnTo>
                  <a:lnTo>
                    <a:pt x="2847" y="373925"/>
                  </a:lnTo>
                  <a:lnTo>
                    <a:pt x="0" y="423291"/>
                  </a:lnTo>
                  <a:lnTo>
                    <a:pt x="2847" y="472656"/>
                  </a:lnTo>
                  <a:lnTo>
                    <a:pt x="11179" y="520349"/>
                  </a:lnTo>
                  <a:lnTo>
                    <a:pt x="24676" y="566051"/>
                  </a:lnTo>
                  <a:lnTo>
                    <a:pt x="43023" y="609445"/>
                  </a:lnTo>
                  <a:lnTo>
                    <a:pt x="65900" y="650214"/>
                  </a:lnTo>
                  <a:lnTo>
                    <a:pt x="92990" y="688039"/>
                  </a:lnTo>
                  <a:lnTo>
                    <a:pt x="123977" y="722604"/>
                  </a:lnTo>
                  <a:lnTo>
                    <a:pt x="158542" y="753591"/>
                  </a:lnTo>
                  <a:lnTo>
                    <a:pt x="196367" y="780681"/>
                  </a:lnTo>
                  <a:lnTo>
                    <a:pt x="237136" y="803558"/>
                  </a:lnTo>
                  <a:lnTo>
                    <a:pt x="280530" y="821905"/>
                  </a:lnTo>
                  <a:lnTo>
                    <a:pt x="326232" y="835402"/>
                  </a:lnTo>
                  <a:lnTo>
                    <a:pt x="373925" y="843734"/>
                  </a:lnTo>
                  <a:lnTo>
                    <a:pt x="423291" y="846582"/>
                  </a:lnTo>
                  <a:lnTo>
                    <a:pt x="472656" y="843734"/>
                  </a:lnTo>
                  <a:lnTo>
                    <a:pt x="520349" y="835402"/>
                  </a:lnTo>
                  <a:lnTo>
                    <a:pt x="566051" y="821905"/>
                  </a:lnTo>
                  <a:lnTo>
                    <a:pt x="609445" y="803558"/>
                  </a:lnTo>
                  <a:lnTo>
                    <a:pt x="650214" y="780681"/>
                  </a:lnTo>
                  <a:lnTo>
                    <a:pt x="688039" y="753591"/>
                  </a:lnTo>
                  <a:lnTo>
                    <a:pt x="722604" y="722604"/>
                  </a:lnTo>
                  <a:lnTo>
                    <a:pt x="753591" y="688039"/>
                  </a:lnTo>
                  <a:lnTo>
                    <a:pt x="780681" y="650214"/>
                  </a:lnTo>
                  <a:lnTo>
                    <a:pt x="803558" y="609445"/>
                  </a:lnTo>
                  <a:lnTo>
                    <a:pt x="821905" y="566051"/>
                  </a:lnTo>
                  <a:lnTo>
                    <a:pt x="835402" y="520349"/>
                  </a:lnTo>
                  <a:lnTo>
                    <a:pt x="843734" y="472656"/>
                  </a:lnTo>
                  <a:lnTo>
                    <a:pt x="846582" y="423291"/>
                  </a:lnTo>
                  <a:lnTo>
                    <a:pt x="843734" y="373925"/>
                  </a:lnTo>
                  <a:lnTo>
                    <a:pt x="835402" y="326232"/>
                  </a:lnTo>
                  <a:lnTo>
                    <a:pt x="821905" y="280530"/>
                  </a:lnTo>
                  <a:lnTo>
                    <a:pt x="803558" y="237136"/>
                  </a:lnTo>
                  <a:lnTo>
                    <a:pt x="780681" y="196367"/>
                  </a:lnTo>
                  <a:lnTo>
                    <a:pt x="753591" y="158542"/>
                  </a:lnTo>
                  <a:lnTo>
                    <a:pt x="722604" y="123977"/>
                  </a:lnTo>
                  <a:lnTo>
                    <a:pt x="688039" y="92990"/>
                  </a:lnTo>
                  <a:lnTo>
                    <a:pt x="650214" y="65900"/>
                  </a:lnTo>
                  <a:lnTo>
                    <a:pt x="609445" y="43023"/>
                  </a:lnTo>
                  <a:lnTo>
                    <a:pt x="566051" y="24676"/>
                  </a:lnTo>
                  <a:lnTo>
                    <a:pt x="520349" y="11179"/>
                  </a:lnTo>
                  <a:lnTo>
                    <a:pt x="472656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04231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0" y="423291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1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2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38777" y="4466844"/>
              <a:ext cx="966469" cy="0"/>
            </a:xfrm>
            <a:custGeom>
              <a:avLst/>
              <a:gdLst/>
              <a:ahLst/>
              <a:cxnLst/>
              <a:rect l="l" t="t" r="r" b="b"/>
              <a:pathLst>
                <a:path w="966469">
                  <a:moveTo>
                    <a:pt x="0" y="0"/>
                  </a:moveTo>
                  <a:lnTo>
                    <a:pt x="965885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04231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90">
                  <a:moveTo>
                    <a:pt x="423291" y="0"/>
                  </a:moveTo>
                  <a:lnTo>
                    <a:pt x="373925" y="2847"/>
                  </a:lnTo>
                  <a:lnTo>
                    <a:pt x="326232" y="11179"/>
                  </a:lnTo>
                  <a:lnTo>
                    <a:pt x="280530" y="24676"/>
                  </a:lnTo>
                  <a:lnTo>
                    <a:pt x="237136" y="43023"/>
                  </a:lnTo>
                  <a:lnTo>
                    <a:pt x="196367" y="65900"/>
                  </a:lnTo>
                  <a:lnTo>
                    <a:pt x="158542" y="92990"/>
                  </a:lnTo>
                  <a:lnTo>
                    <a:pt x="123977" y="123977"/>
                  </a:lnTo>
                  <a:lnTo>
                    <a:pt x="92990" y="158542"/>
                  </a:lnTo>
                  <a:lnTo>
                    <a:pt x="65900" y="196367"/>
                  </a:lnTo>
                  <a:lnTo>
                    <a:pt x="43023" y="237136"/>
                  </a:lnTo>
                  <a:lnTo>
                    <a:pt x="24676" y="280530"/>
                  </a:lnTo>
                  <a:lnTo>
                    <a:pt x="11179" y="326232"/>
                  </a:lnTo>
                  <a:lnTo>
                    <a:pt x="2847" y="373925"/>
                  </a:lnTo>
                  <a:lnTo>
                    <a:pt x="0" y="423290"/>
                  </a:lnTo>
                  <a:lnTo>
                    <a:pt x="2847" y="472656"/>
                  </a:lnTo>
                  <a:lnTo>
                    <a:pt x="11179" y="520349"/>
                  </a:lnTo>
                  <a:lnTo>
                    <a:pt x="24676" y="566051"/>
                  </a:lnTo>
                  <a:lnTo>
                    <a:pt x="43023" y="609445"/>
                  </a:lnTo>
                  <a:lnTo>
                    <a:pt x="65900" y="650214"/>
                  </a:lnTo>
                  <a:lnTo>
                    <a:pt x="92990" y="688039"/>
                  </a:lnTo>
                  <a:lnTo>
                    <a:pt x="123977" y="722604"/>
                  </a:lnTo>
                  <a:lnTo>
                    <a:pt x="158542" y="753591"/>
                  </a:lnTo>
                  <a:lnTo>
                    <a:pt x="196367" y="780681"/>
                  </a:lnTo>
                  <a:lnTo>
                    <a:pt x="237136" y="803558"/>
                  </a:lnTo>
                  <a:lnTo>
                    <a:pt x="280530" y="821905"/>
                  </a:lnTo>
                  <a:lnTo>
                    <a:pt x="326232" y="835402"/>
                  </a:lnTo>
                  <a:lnTo>
                    <a:pt x="373925" y="843734"/>
                  </a:lnTo>
                  <a:lnTo>
                    <a:pt x="423291" y="846581"/>
                  </a:lnTo>
                  <a:lnTo>
                    <a:pt x="472656" y="843734"/>
                  </a:lnTo>
                  <a:lnTo>
                    <a:pt x="520349" y="835402"/>
                  </a:lnTo>
                  <a:lnTo>
                    <a:pt x="566051" y="821905"/>
                  </a:lnTo>
                  <a:lnTo>
                    <a:pt x="609445" y="803558"/>
                  </a:lnTo>
                  <a:lnTo>
                    <a:pt x="650214" y="780681"/>
                  </a:lnTo>
                  <a:lnTo>
                    <a:pt x="688039" y="753591"/>
                  </a:lnTo>
                  <a:lnTo>
                    <a:pt x="722604" y="722604"/>
                  </a:lnTo>
                  <a:lnTo>
                    <a:pt x="753591" y="688039"/>
                  </a:lnTo>
                  <a:lnTo>
                    <a:pt x="780681" y="650214"/>
                  </a:lnTo>
                  <a:lnTo>
                    <a:pt x="803558" y="609445"/>
                  </a:lnTo>
                  <a:lnTo>
                    <a:pt x="821905" y="566051"/>
                  </a:lnTo>
                  <a:lnTo>
                    <a:pt x="835402" y="520349"/>
                  </a:lnTo>
                  <a:lnTo>
                    <a:pt x="843734" y="472656"/>
                  </a:lnTo>
                  <a:lnTo>
                    <a:pt x="846582" y="423290"/>
                  </a:lnTo>
                  <a:lnTo>
                    <a:pt x="843734" y="373925"/>
                  </a:lnTo>
                  <a:lnTo>
                    <a:pt x="835402" y="326232"/>
                  </a:lnTo>
                  <a:lnTo>
                    <a:pt x="821905" y="280530"/>
                  </a:lnTo>
                  <a:lnTo>
                    <a:pt x="803558" y="237136"/>
                  </a:lnTo>
                  <a:lnTo>
                    <a:pt x="780681" y="196367"/>
                  </a:lnTo>
                  <a:lnTo>
                    <a:pt x="753591" y="158542"/>
                  </a:lnTo>
                  <a:lnTo>
                    <a:pt x="722604" y="123977"/>
                  </a:lnTo>
                  <a:lnTo>
                    <a:pt x="688039" y="92990"/>
                  </a:lnTo>
                  <a:lnTo>
                    <a:pt x="650214" y="65900"/>
                  </a:lnTo>
                  <a:lnTo>
                    <a:pt x="609445" y="43023"/>
                  </a:lnTo>
                  <a:lnTo>
                    <a:pt x="566051" y="24676"/>
                  </a:lnTo>
                  <a:lnTo>
                    <a:pt x="520349" y="11179"/>
                  </a:lnTo>
                  <a:lnTo>
                    <a:pt x="472656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04231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90">
                  <a:moveTo>
                    <a:pt x="0" y="423290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0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1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 flipH="1">
              <a:off x="5327903" y="4842515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84179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717030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89">
                  <a:moveTo>
                    <a:pt x="423291" y="0"/>
                  </a:moveTo>
                  <a:lnTo>
                    <a:pt x="373925" y="2847"/>
                  </a:lnTo>
                  <a:lnTo>
                    <a:pt x="326232" y="11179"/>
                  </a:lnTo>
                  <a:lnTo>
                    <a:pt x="280530" y="24676"/>
                  </a:lnTo>
                  <a:lnTo>
                    <a:pt x="237136" y="43023"/>
                  </a:lnTo>
                  <a:lnTo>
                    <a:pt x="196367" y="65900"/>
                  </a:lnTo>
                  <a:lnTo>
                    <a:pt x="158542" y="92990"/>
                  </a:lnTo>
                  <a:lnTo>
                    <a:pt x="123977" y="123977"/>
                  </a:lnTo>
                  <a:lnTo>
                    <a:pt x="92990" y="158542"/>
                  </a:lnTo>
                  <a:lnTo>
                    <a:pt x="65900" y="196367"/>
                  </a:lnTo>
                  <a:lnTo>
                    <a:pt x="43023" y="237136"/>
                  </a:lnTo>
                  <a:lnTo>
                    <a:pt x="24676" y="280530"/>
                  </a:lnTo>
                  <a:lnTo>
                    <a:pt x="11179" y="326232"/>
                  </a:lnTo>
                  <a:lnTo>
                    <a:pt x="2847" y="373925"/>
                  </a:lnTo>
                  <a:lnTo>
                    <a:pt x="0" y="423291"/>
                  </a:lnTo>
                  <a:lnTo>
                    <a:pt x="2847" y="472656"/>
                  </a:lnTo>
                  <a:lnTo>
                    <a:pt x="11179" y="520349"/>
                  </a:lnTo>
                  <a:lnTo>
                    <a:pt x="24676" y="566051"/>
                  </a:lnTo>
                  <a:lnTo>
                    <a:pt x="43023" y="609445"/>
                  </a:lnTo>
                  <a:lnTo>
                    <a:pt x="65900" y="650214"/>
                  </a:lnTo>
                  <a:lnTo>
                    <a:pt x="92990" y="688039"/>
                  </a:lnTo>
                  <a:lnTo>
                    <a:pt x="123977" y="722604"/>
                  </a:lnTo>
                  <a:lnTo>
                    <a:pt x="158542" y="753591"/>
                  </a:lnTo>
                  <a:lnTo>
                    <a:pt x="196367" y="780681"/>
                  </a:lnTo>
                  <a:lnTo>
                    <a:pt x="237136" y="803558"/>
                  </a:lnTo>
                  <a:lnTo>
                    <a:pt x="280530" y="821905"/>
                  </a:lnTo>
                  <a:lnTo>
                    <a:pt x="326232" y="835402"/>
                  </a:lnTo>
                  <a:lnTo>
                    <a:pt x="373925" y="843734"/>
                  </a:lnTo>
                  <a:lnTo>
                    <a:pt x="423291" y="846582"/>
                  </a:lnTo>
                  <a:lnTo>
                    <a:pt x="472656" y="843734"/>
                  </a:lnTo>
                  <a:lnTo>
                    <a:pt x="520349" y="835402"/>
                  </a:lnTo>
                  <a:lnTo>
                    <a:pt x="566051" y="821905"/>
                  </a:lnTo>
                  <a:lnTo>
                    <a:pt x="609445" y="803558"/>
                  </a:lnTo>
                  <a:lnTo>
                    <a:pt x="650214" y="780681"/>
                  </a:lnTo>
                  <a:lnTo>
                    <a:pt x="688039" y="753591"/>
                  </a:lnTo>
                  <a:lnTo>
                    <a:pt x="722604" y="722604"/>
                  </a:lnTo>
                  <a:lnTo>
                    <a:pt x="753591" y="688039"/>
                  </a:lnTo>
                  <a:lnTo>
                    <a:pt x="780681" y="650214"/>
                  </a:lnTo>
                  <a:lnTo>
                    <a:pt x="803558" y="609445"/>
                  </a:lnTo>
                  <a:lnTo>
                    <a:pt x="821905" y="566051"/>
                  </a:lnTo>
                  <a:lnTo>
                    <a:pt x="835402" y="520349"/>
                  </a:lnTo>
                  <a:lnTo>
                    <a:pt x="843734" y="472656"/>
                  </a:lnTo>
                  <a:lnTo>
                    <a:pt x="846582" y="423291"/>
                  </a:lnTo>
                  <a:lnTo>
                    <a:pt x="843734" y="373925"/>
                  </a:lnTo>
                  <a:lnTo>
                    <a:pt x="835402" y="326232"/>
                  </a:lnTo>
                  <a:lnTo>
                    <a:pt x="821905" y="280530"/>
                  </a:lnTo>
                  <a:lnTo>
                    <a:pt x="803558" y="237136"/>
                  </a:lnTo>
                  <a:lnTo>
                    <a:pt x="780681" y="196367"/>
                  </a:lnTo>
                  <a:lnTo>
                    <a:pt x="753591" y="158542"/>
                  </a:lnTo>
                  <a:lnTo>
                    <a:pt x="722604" y="123977"/>
                  </a:lnTo>
                  <a:lnTo>
                    <a:pt x="688039" y="92990"/>
                  </a:lnTo>
                  <a:lnTo>
                    <a:pt x="650214" y="65900"/>
                  </a:lnTo>
                  <a:lnTo>
                    <a:pt x="609445" y="43023"/>
                  </a:lnTo>
                  <a:lnTo>
                    <a:pt x="566051" y="24676"/>
                  </a:lnTo>
                  <a:lnTo>
                    <a:pt x="520349" y="11179"/>
                  </a:lnTo>
                  <a:lnTo>
                    <a:pt x="472656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717030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89">
                  <a:moveTo>
                    <a:pt x="0" y="423291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1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2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717030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90">
                  <a:moveTo>
                    <a:pt x="0" y="423290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0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1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627369" y="4719068"/>
              <a:ext cx="1214120" cy="1090295"/>
            </a:xfrm>
            <a:custGeom>
              <a:avLst/>
              <a:gdLst/>
              <a:ahLst/>
              <a:cxnLst/>
              <a:rect l="l" t="t" r="r" b="b"/>
              <a:pathLst>
                <a:path w="1214120" h="1090295">
                  <a:moveTo>
                    <a:pt x="0" y="1089748"/>
                  </a:moveTo>
                  <a:lnTo>
                    <a:pt x="121384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750813" y="6108192"/>
              <a:ext cx="966469" cy="0"/>
            </a:xfrm>
            <a:custGeom>
              <a:avLst/>
              <a:gdLst/>
              <a:ahLst/>
              <a:cxnLst/>
              <a:rect l="l" t="t" r="r" b="b"/>
              <a:pathLst>
                <a:path w="966469">
                  <a:moveTo>
                    <a:pt x="0" y="0"/>
                  </a:moveTo>
                  <a:lnTo>
                    <a:pt x="965885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529066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89">
                  <a:moveTo>
                    <a:pt x="0" y="423291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1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2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563611" y="4466844"/>
              <a:ext cx="966469" cy="0"/>
            </a:xfrm>
            <a:custGeom>
              <a:avLst/>
              <a:gdLst/>
              <a:ahLst/>
              <a:cxnLst/>
              <a:rect l="l" t="t" r="r" b="b"/>
              <a:pathLst>
                <a:path w="966469">
                  <a:moveTo>
                    <a:pt x="965885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529066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90">
                  <a:moveTo>
                    <a:pt x="0" y="423290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0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1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439403" y="4719066"/>
              <a:ext cx="1214120" cy="1090295"/>
            </a:xfrm>
            <a:custGeom>
              <a:avLst/>
              <a:gdLst/>
              <a:ahLst/>
              <a:cxnLst/>
              <a:rect l="l" t="t" r="r" b="b"/>
              <a:pathLst>
                <a:path w="1214120" h="1090295">
                  <a:moveTo>
                    <a:pt x="1213840" y="0"/>
                  </a:moveTo>
                  <a:lnTo>
                    <a:pt x="0" y="108974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 flipH="1">
              <a:off x="8952737" y="4842515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84179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563611" y="6108192"/>
              <a:ext cx="966469" cy="0"/>
            </a:xfrm>
            <a:custGeom>
              <a:avLst/>
              <a:gdLst/>
              <a:ahLst/>
              <a:cxnLst/>
              <a:rect l="l" t="t" r="r" b="b"/>
              <a:pathLst>
                <a:path w="966469">
                  <a:moveTo>
                    <a:pt x="0" y="0"/>
                  </a:moveTo>
                  <a:lnTo>
                    <a:pt x="965885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 flipH="1">
              <a:off x="7139939" y="4842515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84179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105544" y="3524825"/>
            <a:ext cx="445770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685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sz="2200" b="1" spc="-25">
                <a:latin typeface="Times New Roman"/>
                <a:cs typeface="Times New Roman"/>
              </a:rPr>
              <a:t>2/X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105544" y="5948023"/>
            <a:ext cx="445770" cy="976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00"/>
              </a:lnSpc>
            </a:pPr>
            <a:r>
              <a:rPr sz="2200" b="1" spc="-25">
                <a:latin typeface="Times New Roman"/>
                <a:cs typeface="Times New Roman"/>
              </a:rPr>
              <a:t>3/X</a:t>
            </a:r>
            <a:endParaRPr sz="2200">
              <a:latin typeface="Times New Roman"/>
              <a:cs typeface="Times New Roman"/>
            </a:endParaRPr>
          </a:p>
          <a:p>
            <a:pPr marL="116839">
              <a:lnSpc>
                <a:spcPct val="100000"/>
              </a:lnSpc>
              <a:spcBef>
                <a:spcPts val="1680"/>
              </a:spcBef>
            </a:pPr>
            <a:r>
              <a:rPr sz="2800" b="1"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384879" y="6505153"/>
            <a:ext cx="203835" cy="419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55"/>
              </a:lnSpc>
            </a:pPr>
            <a:r>
              <a:rPr sz="2800" b="1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035063" y="6505153"/>
            <a:ext cx="203835" cy="419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55"/>
              </a:lnSpc>
            </a:pPr>
            <a:r>
              <a:rPr sz="2800" b="1"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860155" y="6505153"/>
            <a:ext cx="203835" cy="419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55"/>
              </a:lnSpc>
            </a:pPr>
            <a:r>
              <a:rPr sz="2800" b="1"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293100" y="3524825"/>
            <a:ext cx="445770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985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sz="2200" b="1" spc="-25">
                <a:latin typeface="Times New Roman"/>
                <a:cs typeface="Times New Roman"/>
              </a:rPr>
              <a:t>1/X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917989" y="3524825"/>
            <a:ext cx="445770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9385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sz="2200" b="1" spc="-25">
                <a:latin typeface="Times New Roman"/>
                <a:cs typeface="Times New Roman"/>
              </a:rPr>
              <a:t>4/X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890022" y="352482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674701" y="788581"/>
          <a:ext cx="8316593" cy="25907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𝑉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86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14">
                          <a:latin typeface="Cambria Math"/>
                          <a:cs typeface="Cambria Math"/>
                        </a:rPr>
                        <a:t>𝑐𝑜𝑙𝑜𝑟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692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228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4267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40">
                          <a:latin typeface="Cambria Math"/>
                          <a:cs typeface="Cambria Math"/>
                        </a:rPr>
                        <a:t>𝑝𝑟𝑒𝑑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7241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8191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25">
                          <a:latin typeface="Cambria Math"/>
                          <a:cs typeface="Cambria Math"/>
                        </a:rPr>
                        <a:t>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8191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" name="object 31"/>
          <p:cNvSpPr txBox="1"/>
          <p:nvPr/>
        </p:nvSpPr>
        <p:spPr>
          <a:xfrm>
            <a:off x="9299777" y="820331"/>
            <a:ext cx="118935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110" dirty="0">
                <a:latin typeface="Cambria Math"/>
                <a:cs typeface="Cambria Math"/>
              </a:rPr>
              <a:t>𝑡𝑖𝑚𝑒</a:t>
            </a:r>
            <a:r>
              <a:rPr sz="2200" spc="125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=</a:t>
            </a:r>
            <a:r>
              <a:rPr sz="2200" spc="114" dirty="0">
                <a:latin typeface="Cambria Math"/>
                <a:cs typeface="Cambria Math"/>
              </a:rPr>
              <a:t> </a:t>
            </a:r>
            <a:r>
              <a:rPr sz="2200" spc="-685" dirty="0">
                <a:latin typeface="Cambria Math"/>
                <a:cs typeface="Cambria Math"/>
              </a:rPr>
              <a:t>𝟒</a:t>
            </a:r>
            <a:endParaRPr sz="2200" dirty="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/>
              <a:t>算法实</a:t>
            </a:r>
            <a:r>
              <a:rPr spc="-50"/>
              <a:t>例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73145" y="3976878"/>
            <a:ext cx="6322060" cy="2573655"/>
            <a:chOff x="3073145" y="3976878"/>
            <a:chExt cx="6322060" cy="2573655"/>
          </a:xfrm>
        </p:grpSpPr>
        <p:sp>
          <p:nvSpPr>
            <p:cNvPr id="4" name="object 4"/>
            <p:cNvSpPr/>
            <p:nvPr/>
          </p:nvSpPr>
          <p:spPr>
            <a:xfrm>
              <a:off x="3092195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423291" y="0"/>
                  </a:moveTo>
                  <a:lnTo>
                    <a:pt x="373925" y="2847"/>
                  </a:lnTo>
                  <a:lnTo>
                    <a:pt x="326232" y="11179"/>
                  </a:lnTo>
                  <a:lnTo>
                    <a:pt x="280530" y="24676"/>
                  </a:lnTo>
                  <a:lnTo>
                    <a:pt x="237136" y="43023"/>
                  </a:lnTo>
                  <a:lnTo>
                    <a:pt x="196367" y="65900"/>
                  </a:lnTo>
                  <a:lnTo>
                    <a:pt x="158542" y="92990"/>
                  </a:lnTo>
                  <a:lnTo>
                    <a:pt x="123977" y="123977"/>
                  </a:lnTo>
                  <a:lnTo>
                    <a:pt x="92990" y="158542"/>
                  </a:lnTo>
                  <a:lnTo>
                    <a:pt x="65900" y="196367"/>
                  </a:lnTo>
                  <a:lnTo>
                    <a:pt x="43023" y="237136"/>
                  </a:lnTo>
                  <a:lnTo>
                    <a:pt x="24676" y="280530"/>
                  </a:lnTo>
                  <a:lnTo>
                    <a:pt x="11179" y="326232"/>
                  </a:lnTo>
                  <a:lnTo>
                    <a:pt x="2847" y="373925"/>
                  </a:lnTo>
                  <a:lnTo>
                    <a:pt x="0" y="423291"/>
                  </a:lnTo>
                  <a:lnTo>
                    <a:pt x="2847" y="472656"/>
                  </a:lnTo>
                  <a:lnTo>
                    <a:pt x="11179" y="520349"/>
                  </a:lnTo>
                  <a:lnTo>
                    <a:pt x="24676" y="566051"/>
                  </a:lnTo>
                  <a:lnTo>
                    <a:pt x="43023" y="609445"/>
                  </a:lnTo>
                  <a:lnTo>
                    <a:pt x="65900" y="650214"/>
                  </a:lnTo>
                  <a:lnTo>
                    <a:pt x="92990" y="688039"/>
                  </a:lnTo>
                  <a:lnTo>
                    <a:pt x="123977" y="722604"/>
                  </a:lnTo>
                  <a:lnTo>
                    <a:pt x="158542" y="753591"/>
                  </a:lnTo>
                  <a:lnTo>
                    <a:pt x="196367" y="780681"/>
                  </a:lnTo>
                  <a:lnTo>
                    <a:pt x="237136" y="803558"/>
                  </a:lnTo>
                  <a:lnTo>
                    <a:pt x="280530" y="821905"/>
                  </a:lnTo>
                  <a:lnTo>
                    <a:pt x="326232" y="835402"/>
                  </a:lnTo>
                  <a:lnTo>
                    <a:pt x="373925" y="843734"/>
                  </a:lnTo>
                  <a:lnTo>
                    <a:pt x="423291" y="846582"/>
                  </a:lnTo>
                  <a:lnTo>
                    <a:pt x="472656" y="843734"/>
                  </a:lnTo>
                  <a:lnTo>
                    <a:pt x="520349" y="835402"/>
                  </a:lnTo>
                  <a:lnTo>
                    <a:pt x="566051" y="821905"/>
                  </a:lnTo>
                  <a:lnTo>
                    <a:pt x="609445" y="803558"/>
                  </a:lnTo>
                  <a:lnTo>
                    <a:pt x="650214" y="780681"/>
                  </a:lnTo>
                  <a:lnTo>
                    <a:pt x="688039" y="753591"/>
                  </a:lnTo>
                  <a:lnTo>
                    <a:pt x="722604" y="722604"/>
                  </a:lnTo>
                  <a:lnTo>
                    <a:pt x="753591" y="688039"/>
                  </a:lnTo>
                  <a:lnTo>
                    <a:pt x="780681" y="650214"/>
                  </a:lnTo>
                  <a:lnTo>
                    <a:pt x="803558" y="609445"/>
                  </a:lnTo>
                  <a:lnTo>
                    <a:pt x="821905" y="566051"/>
                  </a:lnTo>
                  <a:lnTo>
                    <a:pt x="835402" y="520349"/>
                  </a:lnTo>
                  <a:lnTo>
                    <a:pt x="843734" y="472656"/>
                  </a:lnTo>
                  <a:lnTo>
                    <a:pt x="846582" y="423291"/>
                  </a:lnTo>
                  <a:lnTo>
                    <a:pt x="843734" y="373925"/>
                  </a:lnTo>
                  <a:lnTo>
                    <a:pt x="835402" y="326232"/>
                  </a:lnTo>
                  <a:lnTo>
                    <a:pt x="821905" y="280530"/>
                  </a:lnTo>
                  <a:lnTo>
                    <a:pt x="803558" y="237136"/>
                  </a:lnTo>
                  <a:lnTo>
                    <a:pt x="780681" y="196367"/>
                  </a:lnTo>
                  <a:lnTo>
                    <a:pt x="753591" y="158542"/>
                  </a:lnTo>
                  <a:lnTo>
                    <a:pt x="722604" y="123977"/>
                  </a:lnTo>
                  <a:lnTo>
                    <a:pt x="688039" y="92990"/>
                  </a:lnTo>
                  <a:lnTo>
                    <a:pt x="650214" y="65900"/>
                  </a:lnTo>
                  <a:lnTo>
                    <a:pt x="609445" y="43023"/>
                  </a:lnTo>
                  <a:lnTo>
                    <a:pt x="566051" y="24676"/>
                  </a:lnTo>
                  <a:lnTo>
                    <a:pt x="520349" y="11179"/>
                  </a:lnTo>
                  <a:lnTo>
                    <a:pt x="472656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92195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0" y="423291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1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2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92195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90">
                  <a:moveTo>
                    <a:pt x="0" y="423290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0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1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 flipH="1">
              <a:off x="3515105" y="4842510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0"/>
                  </a:moveTo>
                  <a:lnTo>
                    <a:pt x="0" y="84179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04231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423291" y="0"/>
                  </a:moveTo>
                  <a:lnTo>
                    <a:pt x="373925" y="2847"/>
                  </a:lnTo>
                  <a:lnTo>
                    <a:pt x="326232" y="11179"/>
                  </a:lnTo>
                  <a:lnTo>
                    <a:pt x="280530" y="24676"/>
                  </a:lnTo>
                  <a:lnTo>
                    <a:pt x="237136" y="43023"/>
                  </a:lnTo>
                  <a:lnTo>
                    <a:pt x="196367" y="65900"/>
                  </a:lnTo>
                  <a:lnTo>
                    <a:pt x="158542" y="92990"/>
                  </a:lnTo>
                  <a:lnTo>
                    <a:pt x="123977" y="123977"/>
                  </a:lnTo>
                  <a:lnTo>
                    <a:pt x="92990" y="158542"/>
                  </a:lnTo>
                  <a:lnTo>
                    <a:pt x="65900" y="196367"/>
                  </a:lnTo>
                  <a:lnTo>
                    <a:pt x="43023" y="237136"/>
                  </a:lnTo>
                  <a:lnTo>
                    <a:pt x="24676" y="280530"/>
                  </a:lnTo>
                  <a:lnTo>
                    <a:pt x="11179" y="326232"/>
                  </a:lnTo>
                  <a:lnTo>
                    <a:pt x="2847" y="373925"/>
                  </a:lnTo>
                  <a:lnTo>
                    <a:pt x="0" y="423291"/>
                  </a:lnTo>
                  <a:lnTo>
                    <a:pt x="2847" y="472656"/>
                  </a:lnTo>
                  <a:lnTo>
                    <a:pt x="11179" y="520349"/>
                  </a:lnTo>
                  <a:lnTo>
                    <a:pt x="24676" y="566051"/>
                  </a:lnTo>
                  <a:lnTo>
                    <a:pt x="43023" y="609445"/>
                  </a:lnTo>
                  <a:lnTo>
                    <a:pt x="65900" y="650214"/>
                  </a:lnTo>
                  <a:lnTo>
                    <a:pt x="92990" y="688039"/>
                  </a:lnTo>
                  <a:lnTo>
                    <a:pt x="123977" y="722604"/>
                  </a:lnTo>
                  <a:lnTo>
                    <a:pt x="158542" y="753591"/>
                  </a:lnTo>
                  <a:lnTo>
                    <a:pt x="196367" y="780681"/>
                  </a:lnTo>
                  <a:lnTo>
                    <a:pt x="237136" y="803558"/>
                  </a:lnTo>
                  <a:lnTo>
                    <a:pt x="280530" y="821905"/>
                  </a:lnTo>
                  <a:lnTo>
                    <a:pt x="326232" y="835402"/>
                  </a:lnTo>
                  <a:lnTo>
                    <a:pt x="373925" y="843734"/>
                  </a:lnTo>
                  <a:lnTo>
                    <a:pt x="423291" y="846582"/>
                  </a:lnTo>
                  <a:lnTo>
                    <a:pt x="472656" y="843734"/>
                  </a:lnTo>
                  <a:lnTo>
                    <a:pt x="520349" y="835402"/>
                  </a:lnTo>
                  <a:lnTo>
                    <a:pt x="566051" y="821905"/>
                  </a:lnTo>
                  <a:lnTo>
                    <a:pt x="609445" y="803558"/>
                  </a:lnTo>
                  <a:lnTo>
                    <a:pt x="650214" y="780681"/>
                  </a:lnTo>
                  <a:lnTo>
                    <a:pt x="688039" y="753591"/>
                  </a:lnTo>
                  <a:lnTo>
                    <a:pt x="722604" y="722604"/>
                  </a:lnTo>
                  <a:lnTo>
                    <a:pt x="753591" y="688039"/>
                  </a:lnTo>
                  <a:lnTo>
                    <a:pt x="780681" y="650214"/>
                  </a:lnTo>
                  <a:lnTo>
                    <a:pt x="803558" y="609445"/>
                  </a:lnTo>
                  <a:lnTo>
                    <a:pt x="821905" y="566051"/>
                  </a:lnTo>
                  <a:lnTo>
                    <a:pt x="835402" y="520349"/>
                  </a:lnTo>
                  <a:lnTo>
                    <a:pt x="843734" y="472656"/>
                  </a:lnTo>
                  <a:lnTo>
                    <a:pt x="846582" y="423291"/>
                  </a:lnTo>
                  <a:lnTo>
                    <a:pt x="843734" y="373925"/>
                  </a:lnTo>
                  <a:lnTo>
                    <a:pt x="835402" y="326232"/>
                  </a:lnTo>
                  <a:lnTo>
                    <a:pt x="821905" y="280530"/>
                  </a:lnTo>
                  <a:lnTo>
                    <a:pt x="803558" y="237136"/>
                  </a:lnTo>
                  <a:lnTo>
                    <a:pt x="780681" y="196367"/>
                  </a:lnTo>
                  <a:lnTo>
                    <a:pt x="753591" y="158542"/>
                  </a:lnTo>
                  <a:lnTo>
                    <a:pt x="722604" y="123977"/>
                  </a:lnTo>
                  <a:lnTo>
                    <a:pt x="688039" y="92990"/>
                  </a:lnTo>
                  <a:lnTo>
                    <a:pt x="650214" y="65900"/>
                  </a:lnTo>
                  <a:lnTo>
                    <a:pt x="609445" y="43023"/>
                  </a:lnTo>
                  <a:lnTo>
                    <a:pt x="566051" y="24676"/>
                  </a:lnTo>
                  <a:lnTo>
                    <a:pt x="520349" y="11179"/>
                  </a:lnTo>
                  <a:lnTo>
                    <a:pt x="472656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04231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0" y="423291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1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2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38777" y="4466844"/>
              <a:ext cx="966469" cy="0"/>
            </a:xfrm>
            <a:custGeom>
              <a:avLst/>
              <a:gdLst/>
              <a:ahLst/>
              <a:cxnLst/>
              <a:rect l="l" t="t" r="r" b="b"/>
              <a:pathLst>
                <a:path w="966469">
                  <a:moveTo>
                    <a:pt x="0" y="0"/>
                  </a:moveTo>
                  <a:lnTo>
                    <a:pt x="965885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04231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90">
                  <a:moveTo>
                    <a:pt x="423291" y="0"/>
                  </a:moveTo>
                  <a:lnTo>
                    <a:pt x="373925" y="2847"/>
                  </a:lnTo>
                  <a:lnTo>
                    <a:pt x="326232" y="11179"/>
                  </a:lnTo>
                  <a:lnTo>
                    <a:pt x="280530" y="24676"/>
                  </a:lnTo>
                  <a:lnTo>
                    <a:pt x="237136" y="43023"/>
                  </a:lnTo>
                  <a:lnTo>
                    <a:pt x="196367" y="65900"/>
                  </a:lnTo>
                  <a:lnTo>
                    <a:pt x="158542" y="92990"/>
                  </a:lnTo>
                  <a:lnTo>
                    <a:pt x="123977" y="123977"/>
                  </a:lnTo>
                  <a:lnTo>
                    <a:pt x="92990" y="158542"/>
                  </a:lnTo>
                  <a:lnTo>
                    <a:pt x="65900" y="196367"/>
                  </a:lnTo>
                  <a:lnTo>
                    <a:pt x="43023" y="237136"/>
                  </a:lnTo>
                  <a:lnTo>
                    <a:pt x="24676" y="280530"/>
                  </a:lnTo>
                  <a:lnTo>
                    <a:pt x="11179" y="326232"/>
                  </a:lnTo>
                  <a:lnTo>
                    <a:pt x="2847" y="373925"/>
                  </a:lnTo>
                  <a:lnTo>
                    <a:pt x="0" y="423290"/>
                  </a:lnTo>
                  <a:lnTo>
                    <a:pt x="2847" y="472656"/>
                  </a:lnTo>
                  <a:lnTo>
                    <a:pt x="11179" y="520349"/>
                  </a:lnTo>
                  <a:lnTo>
                    <a:pt x="24676" y="566051"/>
                  </a:lnTo>
                  <a:lnTo>
                    <a:pt x="43023" y="609445"/>
                  </a:lnTo>
                  <a:lnTo>
                    <a:pt x="65900" y="650214"/>
                  </a:lnTo>
                  <a:lnTo>
                    <a:pt x="92990" y="688039"/>
                  </a:lnTo>
                  <a:lnTo>
                    <a:pt x="123977" y="722604"/>
                  </a:lnTo>
                  <a:lnTo>
                    <a:pt x="158542" y="753591"/>
                  </a:lnTo>
                  <a:lnTo>
                    <a:pt x="196367" y="780681"/>
                  </a:lnTo>
                  <a:lnTo>
                    <a:pt x="237136" y="803558"/>
                  </a:lnTo>
                  <a:lnTo>
                    <a:pt x="280530" y="821905"/>
                  </a:lnTo>
                  <a:lnTo>
                    <a:pt x="326232" y="835402"/>
                  </a:lnTo>
                  <a:lnTo>
                    <a:pt x="373925" y="843734"/>
                  </a:lnTo>
                  <a:lnTo>
                    <a:pt x="423291" y="846581"/>
                  </a:lnTo>
                  <a:lnTo>
                    <a:pt x="472656" y="843734"/>
                  </a:lnTo>
                  <a:lnTo>
                    <a:pt x="520349" y="835402"/>
                  </a:lnTo>
                  <a:lnTo>
                    <a:pt x="566051" y="821905"/>
                  </a:lnTo>
                  <a:lnTo>
                    <a:pt x="609445" y="803558"/>
                  </a:lnTo>
                  <a:lnTo>
                    <a:pt x="650214" y="780681"/>
                  </a:lnTo>
                  <a:lnTo>
                    <a:pt x="688039" y="753591"/>
                  </a:lnTo>
                  <a:lnTo>
                    <a:pt x="722604" y="722604"/>
                  </a:lnTo>
                  <a:lnTo>
                    <a:pt x="753591" y="688039"/>
                  </a:lnTo>
                  <a:lnTo>
                    <a:pt x="780681" y="650214"/>
                  </a:lnTo>
                  <a:lnTo>
                    <a:pt x="803558" y="609445"/>
                  </a:lnTo>
                  <a:lnTo>
                    <a:pt x="821905" y="566051"/>
                  </a:lnTo>
                  <a:lnTo>
                    <a:pt x="835402" y="520349"/>
                  </a:lnTo>
                  <a:lnTo>
                    <a:pt x="843734" y="472656"/>
                  </a:lnTo>
                  <a:lnTo>
                    <a:pt x="846582" y="423290"/>
                  </a:lnTo>
                  <a:lnTo>
                    <a:pt x="843734" y="373925"/>
                  </a:lnTo>
                  <a:lnTo>
                    <a:pt x="835402" y="326232"/>
                  </a:lnTo>
                  <a:lnTo>
                    <a:pt x="821905" y="280530"/>
                  </a:lnTo>
                  <a:lnTo>
                    <a:pt x="803558" y="237136"/>
                  </a:lnTo>
                  <a:lnTo>
                    <a:pt x="780681" y="196367"/>
                  </a:lnTo>
                  <a:lnTo>
                    <a:pt x="753591" y="158542"/>
                  </a:lnTo>
                  <a:lnTo>
                    <a:pt x="722604" y="123977"/>
                  </a:lnTo>
                  <a:lnTo>
                    <a:pt x="688039" y="92990"/>
                  </a:lnTo>
                  <a:lnTo>
                    <a:pt x="650214" y="65900"/>
                  </a:lnTo>
                  <a:lnTo>
                    <a:pt x="609445" y="43023"/>
                  </a:lnTo>
                  <a:lnTo>
                    <a:pt x="566051" y="24676"/>
                  </a:lnTo>
                  <a:lnTo>
                    <a:pt x="520349" y="11179"/>
                  </a:lnTo>
                  <a:lnTo>
                    <a:pt x="472656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04231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90">
                  <a:moveTo>
                    <a:pt x="0" y="423290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0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1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 flipH="1">
              <a:off x="5327903" y="4842515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84179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717030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89">
                  <a:moveTo>
                    <a:pt x="423291" y="0"/>
                  </a:moveTo>
                  <a:lnTo>
                    <a:pt x="373925" y="2847"/>
                  </a:lnTo>
                  <a:lnTo>
                    <a:pt x="326232" y="11179"/>
                  </a:lnTo>
                  <a:lnTo>
                    <a:pt x="280530" y="24676"/>
                  </a:lnTo>
                  <a:lnTo>
                    <a:pt x="237136" y="43023"/>
                  </a:lnTo>
                  <a:lnTo>
                    <a:pt x="196367" y="65900"/>
                  </a:lnTo>
                  <a:lnTo>
                    <a:pt x="158542" y="92990"/>
                  </a:lnTo>
                  <a:lnTo>
                    <a:pt x="123977" y="123977"/>
                  </a:lnTo>
                  <a:lnTo>
                    <a:pt x="92990" y="158542"/>
                  </a:lnTo>
                  <a:lnTo>
                    <a:pt x="65900" y="196367"/>
                  </a:lnTo>
                  <a:lnTo>
                    <a:pt x="43023" y="237136"/>
                  </a:lnTo>
                  <a:lnTo>
                    <a:pt x="24676" y="280530"/>
                  </a:lnTo>
                  <a:lnTo>
                    <a:pt x="11179" y="326232"/>
                  </a:lnTo>
                  <a:lnTo>
                    <a:pt x="2847" y="373925"/>
                  </a:lnTo>
                  <a:lnTo>
                    <a:pt x="0" y="423291"/>
                  </a:lnTo>
                  <a:lnTo>
                    <a:pt x="2847" y="472656"/>
                  </a:lnTo>
                  <a:lnTo>
                    <a:pt x="11179" y="520349"/>
                  </a:lnTo>
                  <a:lnTo>
                    <a:pt x="24676" y="566051"/>
                  </a:lnTo>
                  <a:lnTo>
                    <a:pt x="43023" y="609445"/>
                  </a:lnTo>
                  <a:lnTo>
                    <a:pt x="65900" y="650214"/>
                  </a:lnTo>
                  <a:lnTo>
                    <a:pt x="92990" y="688039"/>
                  </a:lnTo>
                  <a:lnTo>
                    <a:pt x="123977" y="722604"/>
                  </a:lnTo>
                  <a:lnTo>
                    <a:pt x="158542" y="753591"/>
                  </a:lnTo>
                  <a:lnTo>
                    <a:pt x="196367" y="780681"/>
                  </a:lnTo>
                  <a:lnTo>
                    <a:pt x="237136" y="803558"/>
                  </a:lnTo>
                  <a:lnTo>
                    <a:pt x="280530" y="821905"/>
                  </a:lnTo>
                  <a:lnTo>
                    <a:pt x="326232" y="835402"/>
                  </a:lnTo>
                  <a:lnTo>
                    <a:pt x="373925" y="843734"/>
                  </a:lnTo>
                  <a:lnTo>
                    <a:pt x="423291" y="846582"/>
                  </a:lnTo>
                  <a:lnTo>
                    <a:pt x="472656" y="843734"/>
                  </a:lnTo>
                  <a:lnTo>
                    <a:pt x="520349" y="835402"/>
                  </a:lnTo>
                  <a:lnTo>
                    <a:pt x="566051" y="821905"/>
                  </a:lnTo>
                  <a:lnTo>
                    <a:pt x="609445" y="803558"/>
                  </a:lnTo>
                  <a:lnTo>
                    <a:pt x="650214" y="780681"/>
                  </a:lnTo>
                  <a:lnTo>
                    <a:pt x="688039" y="753591"/>
                  </a:lnTo>
                  <a:lnTo>
                    <a:pt x="722604" y="722604"/>
                  </a:lnTo>
                  <a:lnTo>
                    <a:pt x="753591" y="688039"/>
                  </a:lnTo>
                  <a:lnTo>
                    <a:pt x="780681" y="650214"/>
                  </a:lnTo>
                  <a:lnTo>
                    <a:pt x="803558" y="609445"/>
                  </a:lnTo>
                  <a:lnTo>
                    <a:pt x="821905" y="566051"/>
                  </a:lnTo>
                  <a:lnTo>
                    <a:pt x="835402" y="520349"/>
                  </a:lnTo>
                  <a:lnTo>
                    <a:pt x="843734" y="472656"/>
                  </a:lnTo>
                  <a:lnTo>
                    <a:pt x="846582" y="423291"/>
                  </a:lnTo>
                  <a:lnTo>
                    <a:pt x="843734" y="373925"/>
                  </a:lnTo>
                  <a:lnTo>
                    <a:pt x="835402" y="326232"/>
                  </a:lnTo>
                  <a:lnTo>
                    <a:pt x="821905" y="280530"/>
                  </a:lnTo>
                  <a:lnTo>
                    <a:pt x="803558" y="237136"/>
                  </a:lnTo>
                  <a:lnTo>
                    <a:pt x="780681" y="196367"/>
                  </a:lnTo>
                  <a:lnTo>
                    <a:pt x="753591" y="158542"/>
                  </a:lnTo>
                  <a:lnTo>
                    <a:pt x="722604" y="123977"/>
                  </a:lnTo>
                  <a:lnTo>
                    <a:pt x="688039" y="92990"/>
                  </a:lnTo>
                  <a:lnTo>
                    <a:pt x="650214" y="65900"/>
                  </a:lnTo>
                  <a:lnTo>
                    <a:pt x="609445" y="43023"/>
                  </a:lnTo>
                  <a:lnTo>
                    <a:pt x="566051" y="24676"/>
                  </a:lnTo>
                  <a:lnTo>
                    <a:pt x="520349" y="11179"/>
                  </a:lnTo>
                  <a:lnTo>
                    <a:pt x="472656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717030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89">
                  <a:moveTo>
                    <a:pt x="0" y="423291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1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2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717030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90">
                  <a:moveTo>
                    <a:pt x="0" y="423290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0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1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627369" y="4719068"/>
              <a:ext cx="1214120" cy="1090295"/>
            </a:xfrm>
            <a:custGeom>
              <a:avLst/>
              <a:gdLst/>
              <a:ahLst/>
              <a:cxnLst/>
              <a:rect l="l" t="t" r="r" b="b"/>
              <a:pathLst>
                <a:path w="1214120" h="1090295">
                  <a:moveTo>
                    <a:pt x="0" y="1089748"/>
                  </a:moveTo>
                  <a:lnTo>
                    <a:pt x="121384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750813" y="6108192"/>
              <a:ext cx="966469" cy="0"/>
            </a:xfrm>
            <a:custGeom>
              <a:avLst/>
              <a:gdLst/>
              <a:ahLst/>
              <a:cxnLst/>
              <a:rect l="l" t="t" r="r" b="b"/>
              <a:pathLst>
                <a:path w="966469">
                  <a:moveTo>
                    <a:pt x="0" y="0"/>
                  </a:moveTo>
                  <a:lnTo>
                    <a:pt x="965885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529066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89">
                  <a:moveTo>
                    <a:pt x="423291" y="0"/>
                  </a:moveTo>
                  <a:lnTo>
                    <a:pt x="373925" y="2847"/>
                  </a:lnTo>
                  <a:lnTo>
                    <a:pt x="326232" y="11179"/>
                  </a:lnTo>
                  <a:lnTo>
                    <a:pt x="280530" y="24676"/>
                  </a:lnTo>
                  <a:lnTo>
                    <a:pt x="237136" y="43023"/>
                  </a:lnTo>
                  <a:lnTo>
                    <a:pt x="196367" y="65900"/>
                  </a:lnTo>
                  <a:lnTo>
                    <a:pt x="158542" y="92990"/>
                  </a:lnTo>
                  <a:lnTo>
                    <a:pt x="123977" y="123977"/>
                  </a:lnTo>
                  <a:lnTo>
                    <a:pt x="92990" y="158542"/>
                  </a:lnTo>
                  <a:lnTo>
                    <a:pt x="65900" y="196367"/>
                  </a:lnTo>
                  <a:lnTo>
                    <a:pt x="43023" y="237136"/>
                  </a:lnTo>
                  <a:lnTo>
                    <a:pt x="24676" y="280530"/>
                  </a:lnTo>
                  <a:lnTo>
                    <a:pt x="11179" y="326232"/>
                  </a:lnTo>
                  <a:lnTo>
                    <a:pt x="2847" y="373925"/>
                  </a:lnTo>
                  <a:lnTo>
                    <a:pt x="0" y="423291"/>
                  </a:lnTo>
                  <a:lnTo>
                    <a:pt x="2847" y="472656"/>
                  </a:lnTo>
                  <a:lnTo>
                    <a:pt x="11179" y="520349"/>
                  </a:lnTo>
                  <a:lnTo>
                    <a:pt x="24676" y="566051"/>
                  </a:lnTo>
                  <a:lnTo>
                    <a:pt x="43023" y="609445"/>
                  </a:lnTo>
                  <a:lnTo>
                    <a:pt x="65900" y="650214"/>
                  </a:lnTo>
                  <a:lnTo>
                    <a:pt x="92990" y="688039"/>
                  </a:lnTo>
                  <a:lnTo>
                    <a:pt x="123977" y="722604"/>
                  </a:lnTo>
                  <a:lnTo>
                    <a:pt x="158542" y="753591"/>
                  </a:lnTo>
                  <a:lnTo>
                    <a:pt x="196367" y="780681"/>
                  </a:lnTo>
                  <a:lnTo>
                    <a:pt x="237136" y="803558"/>
                  </a:lnTo>
                  <a:lnTo>
                    <a:pt x="280530" y="821905"/>
                  </a:lnTo>
                  <a:lnTo>
                    <a:pt x="326232" y="835402"/>
                  </a:lnTo>
                  <a:lnTo>
                    <a:pt x="373925" y="843734"/>
                  </a:lnTo>
                  <a:lnTo>
                    <a:pt x="423291" y="846582"/>
                  </a:lnTo>
                  <a:lnTo>
                    <a:pt x="472656" y="843734"/>
                  </a:lnTo>
                  <a:lnTo>
                    <a:pt x="520349" y="835402"/>
                  </a:lnTo>
                  <a:lnTo>
                    <a:pt x="566051" y="821905"/>
                  </a:lnTo>
                  <a:lnTo>
                    <a:pt x="609445" y="803558"/>
                  </a:lnTo>
                  <a:lnTo>
                    <a:pt x="650214" y="780681"/>
                  </a:lnTo>
                  <a:lnTo>
                    <a:pt x="688039" y="753591"/>
                  </a:lnTo>
                  <a:lnTo>
                    <a:pt x="722604" y="722604"/>
                  </a:lnTo>
                  <a:lnTo>
                    <a:pt x="753591" y="688039"/>
                  </a:lnTo>
                  <a:lnTo>
                    <a:pt x="780681" y="650214"/>
                  </a:lnTo>
                  <a:lnTo>
                    <a:pt x="803558" y="609445"/>
                  </a:lnTo>
                  <a:lnTo>
                    <a:pt x="821905" y="566051"/>
                  </a:lnTo>
                  <a:lnTo>
                    <a:pt x="835402" y="520349"/>
                  </a:lnTo>
                  <a:lnTo>
                    <a:pt x="843734" y="472656"/>
                  </a:lnTo>
                  <a:lnTo>
                    <a:pt x="846582" y="423291"/>
                  </a:lnTo>
                  <a:lnTo>
                    <a:pt x="843734" y="373925"/>
                  </a:lnTo>
                  <a:lnTo>
                    <a:pt x="835402" y="326232"/>
                  </a:lnTo>
                  <a:lnTo>
                    <a:pt x="821905" y="280530"/>
                  </a:lnTo>
                  <a:lnTo>
                    <a:pt x="803558" y="237136"/>
                  </a:lnTo>
                  <a:lnTo>
                    <a:pt x="780681" y="196367"/>
                  </a:lnTo>
                  <a:lnTo>
                    <a:pt x="753591" y="158542"/>
                  </a:lnTo>
                  <a:lnTo>
                    <a:pt x="722604" y="123977"/>
                  </a:lnTo>
                  <a:lnTo>
                    <a:pt x="688039" y="92990"/>
                  </a:lnTo>
                  <a:lnTo>
                    <a:pt x="650214" y="65900"/>
                  </a:lnTo>
                  <a:lnTo>
                    <a:pt x="609445" y="43023"/>
                  </a:lnTo>
                  <a:lnTo>
                    <a:pt x="566051" y="24676"/>
                  </a:lnTo>
                  <a:lnTo>
                    <a:pt x="520349" y="11179"/>
                  </a:lnTo>
                  <a:lnTo>
                    <a:pt x="472656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529066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89">
                  <a:moveTo>
                    <a:pt x="0" y="423291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1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2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563611" y="4466844"/>
              <a:ext cx="966469" cy="0"/>
            </a:xfrm>
            <a:custGeom>
              <a:avLst/>
              <a:gdLst/>
              <a:ahLst/>
              <a:cxnLst/>
              <a:rect l="l" t="t" r="r" b="b"/>
              <a:pathLst>
                <a:path w="966469">
                  <a:moveTo>
                    <a:pt x="965885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529066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90">
                  <a:moveTo>
                    <a:pt x="0" y="423290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0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1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439403" y="4719066"/>
              <a:ext cx="1214120" cy="1090295"/>
            </a:xfrm>
            <a:custGeom>
              <a:avLst/>
              <a:gdLst/>
              <a:ahLst/>
              <a:cxnLst/>
              <a:rect l="l" t="t" r="r" b="b"/>
              <a:pathLst>
                <a:path w="1214120" h="1090295">
                  <a:moveTo>
                    <a:pt x="1213840" y="0"/>
                  </a:moveTo>
                  <a:lnTo>
                    <a:pt x="0" y="108974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 flipH="1">
              <a:off x="8952737" y="4842515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84179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563611" y="6108192"/>
              <a:ext cx="966469" cy="0"/>
            </a:xfrm>
            <a:custGeom>
              <a:avLst/>
              <a:gdLst/>
              <a:ahLst/>
              <a:cxnLst/>
              <a:rect l="l" t="t" r="r" b="b"/>
              <a:pathLst>
                <a:path w="966469">
                  <a:moveTo>
                    <a:pt x="0" y="0"/>
                  </a:moveTo>
                  <a:lnTo>
                    <a:pt x="965885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 flipH="1">
              <a:off x="7139939" y="4842515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84179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105544" y="3524825"/>
            <a:ext cx="445770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685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sz="2200" b="1" spc="-25">
                <a:latin typeface="Times New Roman"/>
                <a:cs typeface="Times New Roman"/>
              </a:rPr>
              <a:t>2/X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105544" y="5948023"/>
            <a:ext cx="445770" cy="976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00"/>
              </a:lnSpc>
            </a:pPr>
            <a:r>
              <a:rPr sz="2200" b="1" spc="-25">
                <a:latin typeface="Times New Roman"/>
                <a:cs typeface="Times New Roman"/>
              </a:rPr>
              <a:t>3/X</a:t>
            </a:r>
            <a:endParaRPr sz="2200">
              <a:latin typeface="Times New Roman"/>
              <a:cs typeface="Times New Roman"/>
            </a:endParaRPr>
          </a:p>
          <a:p>
            <a:pPr marL="116839">
              <a:lnSpc>
                <a:spcPct val="100000"/>
              </a:lnSpc>
              <a:spcBef>
                <a:spcPts val="1680"/>
              </a:spcBef>
            </a:pPr>
            <a:r>
              <a:rPr sz="2800" b="1"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384879" y="6505153"/>
            <a:ext cx="203835" cy="419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55"/>
              </a:lnSpc>
            </a:pPr>
            <a:r>
              <a:rPr sz="2800" b="1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035063" y="6505153"/>
            <a:ext cx="203835" cy="419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55"/>
              </a:lnSpc>
            </a:pPr>
            <a:r>
              <a:rPr sz="2800" b="1"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860155" y="6505153"/>
            <a:ext cx="203835" cy="419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55"/>
              </a:lnSpc>
            </a:pPr>
            <a:r>
              <a:rPr sz="2800" b="1"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293100" y="3524825"/>
            <a:ext cx="445770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985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sz="2200" b="1" spc="-25">
                <a:latin typeface="Times New Roman"/>
                <a:cs typeface="Times New Roman"/>
              </a:rPr>
              <a:t>1/X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917989" y="3524825"/>
            <a:ext cx="445770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9385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sz="2200" b="1" spc="-25">
                <a:latin typeface="Times New Roman"/>
                <a:cs typeface="Times New Roman"/>
              </a:rPr>
              <a:t>4/X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730433" y="3524825"/>
            <a:ext cx="445770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 algn="ctr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185"/>
              </a:spcBef>
            </a:pPr>
            <a:r>
              <a:rPr sz="2200" b="1" spc="-25">
                <a:latin typeface="Times New Roman"/>
                <a:cs typeface="Times New Roman"/>
              </a:rPr>
              <a:t>5/X</a:t>
            </a:r>
            <a:endParaRPr sz="2200">
              <a:latin typeface="Times New Roman"/>
              <a:cs typeface="Times New Roman"/>
            </a:endParaRPr>
          </a:p>
        </p:txBody>
      </p:sp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674701" y="788581"/>
          <a:ext cx="8316593" cy="25907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𝑉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86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14">
                          <a:latin typeface="Cambria Math"/>
                          <a:cs typeface="Cambria Math"/>
                        </a:rPr>
                        <a:t>𝑐𝑜𝑙𝑜𝑟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692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228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4267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40">
                          <a:latin typeface="Cambria Math"/>
                          <a:cs typeface="Cambria Math"/>
                        </a:rPr>
                        <a:t>𝑝𝑟𝑒𝑑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7241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8191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25">
                          <a:latin typeface="Cambria Math"/>
                          <a:cs typeface="Cambria Math"/>
                        </a:rPr>
                        <a:t>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8191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" name="object 32"/>
          <p:cNvSpPr txBox="1"/>
          <p:nvPr/>
        </p:nvSpPr>
        <p:spPr>
          <a:xfrm>
            <a:off x="9299777" y="820331"/>
            <a:ext cx="118935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110" dirty="0">
                <a:latin typeface="Cambria Math"/>
                <a:cs typeface="Cambria Math"/>
              </a:rPr>
              <a:t>𝑡𝑖𝑚𝑒</a:t>
            </a:r>
            <a:r>
              <a:rPr sz="2200" spc="125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=</a:t>
            </a:r>
            <a:r>
              <a:rPr sz="2200" spc="114" dirty="0">
                <a:latin typeface="Cambria Math"/>
                <a:cs typeface="Cambria Math"/>
              </a:rPr>
              <a:t> </a:t>
            </a:r>
            <a:r>
              <a:rPr sz="2200" spc="-685" dirty="0">
                <a:latin typeface="Cambria Math"/>
                <a:cs typeface="Cambria Math"/>
              </a:rPr>
              <a:t>𝟓</a:t>
            </a:r>
            <a:endParaRPr sz="2200" dirty="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/>
              <a:t>算法实</a:t>
            </a:r>
            <a:r>
              <a:rPr spc="-50"/>
              <a:t>例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73145" y="3976878"/>
            <a:ext cx="6322060" cy="2573655"/>
            <a:chOff x="3073145" y="3976878"/>
            <a:chExt cx="6322060" cy="2573655"/>
          </a:xfrm>
        </p:grpSpPr>
        <p:sp>
          <p:nvSpPr>
            <p:cNvPr id="4" name="object 4"/>
            <p:cNvSpPr/>
            <p:nvPr/>
          </p:nvSpPr>
          <p:spPr>
            <a:xfrm>
              <a:off x="3092195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423291" y="0"/>
                  </a:moveTo>
                  <a:lnTo>
                    <a:pt x="373925" y="2847"/>
                  </a:lnTo>
                  <a:lnTo>
                    <a:pt x="326232" y="11179"/>
                  </a:lnTo>
                  <a:lnTo>
                    <a:pt x="280530" y="24676"/>
                  </a:lnTo>
                  <a:lnTo>
                    <a:pt x="237136" y="43023"/>
                  </a:lnTo>
                  <a:lnTo>
                    <a:pt x="196367" y="65900"/>
                  </a:lnTo>
                  <a:lnTo>
                    <a:pt x="158542" y="92990"/>
                  </a:lnTo>
                  <a:lnTo>
                    <a:pt x="123977" y="123977"/>
                  </a:lnTo>
                  <a:lnTo>
                    <a:pt x="92990" y="158542"/>
                  </a:lnTo>
                  <a:lnTo>
                    <a:pt x="65900" y="196367"/>
                  </a:lnTo>
                  <a:lnTo>
                    <a:pt x="43023" y="237136"/>
                  </a:lnTo>
                  <a:lnTo>
                    <a:pt x="24676" y="280530"/>
                  </a:lnTo>
                  <a:lnTo>
                    <a:pt x="11179" y="326232"/>
                  </a:lnTo>
                  <a:lnTo>
                    <a:pt x="2847" y="373925"/>
                  </a:lnTo>
                  <a:lnTo>
                    <a:pt x="0" y="423291"/>
                  </a:lnTo>
                  <a:lnTo>
                    <a:pt x="2847" y="472656"/>
                  </a:lnTo>
                  <a:lnTo>
                    <a:pt x="11179" y="520349"/>
                  </a:lnTo>
                  <a:lnTo>
                    <a:pt x="24676" y="566051"/>
                  </a:lnTo>
                  <a:lnTo>
                    <a:pt x="43023" y="609445"/>
                  </a:lnTo>
                  <a:lnTo>
                    <a:pt x="65900" y="650214"/>
                  </a:lnTo>
                  <a:lnTo>
                    <a:pt x="92990" y="688039"/>
                  </a:lnTo>
                  <a:lnTo>
                    <a:pt x="123977" y="722604"/>
                  </a:lnTo>
                  <a:lnTo>
                    <a:pt x="158542" y="753591"/>
                  </a:lnTo>
                  <a:lnTo>
                    <a:pt x="196367" y="780681"/>
                  </a:lnTo>
                  <a:lnTo>
                    <a:pt x="237136" y="803558"/>
                  </a:lnTo>
                  <a:lnTo>
                    <a:pt x="280530" y="821905"/>
                  </a:lnTo>
                  <a:lnTo>
                    <a:pt x="326232" y="835402"/>
                  </a:lnTo>
                  <a:lnTo>
                    <a:pt x="373925" y="843734"/>
                  </a:lnTo>
                  <a:lnTo>
                    <a:pt x="423291" y="846582"/>
                  </a:lnTo>
                  <a:lnTo>
                    <a:pt x="472656" y="843734"/>
                  </a:lnTo>
                  <a:lnTo>
                    <a:pt x="520349" y="835402"/>
                  </a:lnTo>
                  <a:lnTo>
                    <a:pt x="566051" y="821905"/>
                  </a:lnTo>
                  <a:lnTo>
                    <a:pt x="609445" y="803558"/>
                  </a:lnTo>
                  <a:lnTo>
                    <a:pt x="650214" y="780681"/>
                  </a:lnTo>
                  <a:lnTo>
                    <a:pt x="688039" y="753591"/>
                  </a:lnTo>
                  <a:lnTo>
                    <a:pt x="722604" y="722604"/>
                  </a:lnTo>
                  <a:lnTo>
                    <a:pt x="753591" y="688039"/>
                  </a:lnTo>
                  <a:lnTo>
                    <a:pt x="780681" y="650214"/>
                  </a:lnTo>
                  <a:lnTo>
                    <a:pt x="803558" y="609445"/>
                  </a:lnTo>
                  <a:lnTo>
                    <a:pt x="821905" y="566051"/>
                  </a:lnTo>
                  <a:lnTo>
                    <a:pt x="835402" y="520349"/>
                  </a:lnTo>
                  <a:lnTo>
                    <a:pt x="843734" y="472656"/>
                  </a:lnTo>
                  <a:lnTo>
                    <a:pt x="846582" y="423291"/>
                  </a:lnTo>
                  <a:lnTo>
                    <a:pt x="843734" y="373925"/>
                  </a:lnTo>
                  <a:lnTo>
                    <a:pt x="835402" y="326232"/>
                  </a:lnTo>
                  <a:lnTo>
                    <a:pt x="821905" y="280530"/>
                  </a:lnTo>
                  <a:lnTo>
                    <a:pt x="803558" y="237136"/>
                  </a:lnTo>
                  <a:lnTo>
                    <a:pt x="780681" y="196367"/>
                  </a:lnTo>
                  <a:lnTo>
                    <a:pt x="753591" y="158542"/>
                  </a:lnTo>
                  <a:lnTo>
                    <a:pt x="722604" y="123977"/>
                  </a:lnTo>
                  <a:lnTo>
                    <a:pt x="688039" y="92990"/>
                  </a:lnTo>
                  <a:lnTo>
                    <a:pt x="650214" y="65900"/>
                  </a:lnTo>
                  <a:lnTo>
                    <a:pt x="609445" y="43023"/>
                  </a:lnTo>
                  <a:lnTo>
                    <a:pt x="566051" y="24676"/>
                  </a:lnTo>
                  <a:lnTo>
                    <a:pt x="520349" y="11179"/>
                  </a:lnTo>
                  <a:lnTo>
                    <a:pt x="472656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92195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0" y="423291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1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2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92195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90">
                  <a:moveTo>
                    <a:pt x="0" y="423290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0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1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 flipH="1">
              <a:off x="3515105" y="4842510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0"/>
                  </a:moveTo>
                  <a:lnTo>
                    <a:pt x="0" y="84179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04231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423291" y="0"/>
                  </a:moveTo>
                  <a:lnTo>
                    <a:pt x="373925" y="2847"/>
                  </a:lnTo>
                  <a:lnTo>
                    <a:pt x="326232" y="11179"/>
                  </a:lnTo>
                  <a:lnTo>
                    <a:pt x="280530" y="24676"/>
                  </a:lnTo>
                  <a:lnTo>
                    <a:pt x="237136" y="43023"/>
                  </a:lnTo>
                  <a:lnTo>
                    <a:pt x="196367" y="65900"/>
                  </a:lnTo>
                  <a:lnTo>
                    <a:pt x="158542" y="92990"/>
                  </a:lnTo>
                  <a:lnTo>
                    <a:pt x="123977" y="123977"/>
                  </a:lnTo>
                  <a:lnTo>
                    <a:pt x="92990" y="158542"/>
                  </a:lnTo>
                  <a:lnTo>
                    <a:pt x="65900" y="196367"/>
                  </a:lnTo>
                  <a:lnTo>
                    <a:pt x="43023" y="237136"/>
                  </a:lnTo>
                  <a:lnTo>
                    <a:pt x="24676" y="280530"/>
                  </a:lnTo>
                  <a:lnTo>
                    <a:pt x="11179" y="326232"/>
                  </a:lnTo>
                  <a:lnTo>
                    <a:pt x="2847" y="373925"/>
                  </a:lnTo>
                  <a:lnTo>
                    <a:pt x="0" y="423291"/>
                  </a:lnTo>
                  <a:lnTo>
                    <a:pt x="2847" y="472656"/>
                  </a:lnTo>
                  <a:lnTo>
                    <a:pt x="11179" y="520349"/>
                  </a:lnTo>
                  <a:lnTo>
                    <a:pt x="24676" y="566051"/>
                  </a:lnTo>
                  <a:lnTo>
                    <a:pt x="43023" y="609445"/>
                  </a:lnTo>
                  <a:lnTo>
                    <a:pt x="65900" y="650214"/>
                  </a:lnTo>
                  <a:lnTo>
                    <a:pt x="92990" y="688039"/>
                  </a:lnTo>
                  <a:lnTo>
                    <a:pt x="123977" y="722604"/>
                  </a:lnTo>
                  <a:lnTo>
                    <a:pt x="158542" y="753591"/>
                  </a:lnTo>
                  <a:lnTo>
                    <a:pt x="196367" y="780681"/>
                  </a:lnTo>
                  <a:lnTo>
                    <a:pt x="237136" y="803558"/>
                  </a:lnTo>
                  <a:lnTo>
                    <a:pt x="280530" y="821905"/>
                  </a:lnTo>
                  <a:lnTo>
                    <a:pt x="326232" y="835402"/>
                  </a:lnTo>
                  <a:lnTo>
                    <a:pt x="373925" y="843734"/>
                  </a:lnTo>
                  <a:lnTo>
                    <a:pt x="423291" y="846582"/>
                  </a:lnTo>
                  <a:lnTo>
                    <a:pt x="472656" y="843734"/>
                  </a:lnTo>
                  <a:lnTo>
                    <a:pt x="520349" y="835402"/>
                  </a:lnTo>
                  <a:lnTo>
                    <a:pt x="566051" y="821905"/>
                  </a:lnTo>
                  <a:lnTo>
                    <a:pt x="609445" y="803558"/>
                  </a:lnTo>
                  <a:lnTo>
                    <a:pt x="650214" y="780681"/>
                  </a:lnTo>
                  <a:lnTo>
                    <a:pt x="688039" y="753591"/>
                  </a:lnTo>
                  <a:lnTo>
                    <a:pt x="722604" y="722604"/>
                  </a:lnTo>
                  <a:lnTo>
                    <a:pt x="753591" y="688039"/>
                  </a:lnTo>
                  <a:lnTo>
                    <a:pt x="780681" y="650214"/>
                  </a:lnTo>
                  <a:lnTo>
                    <a:pt x="803558" y="609445"/>
                  </a:lnTo>
                  <a:lnTo>
                    <a:pt x="821905" y="566051"/>
                  </a:lnTo>
                  <a:lnTo>
                    <a:pt x="835402" y="520349"/>
                  </a:lnTo>
                  <a:lnTo>
                    <a:pt x="843734" y="472656"/>
                  </a:lnTo>
                  <a:lnTo>
                    <a:pt x="846582" y="423291"/>
                  </a:lnTo>
                  <a:lnTo>
                    <a:pt x="843734" y="373925"/>
                  </a:lnTo>
                  <a:lnTo>
                    <a:pt x="835402" y="326232"/>
                  </a:lnTo>
                  <a:lnTo>
                    <a:pt x="821905" y="280530"/>
                  </a:lnTo>
                  <a:lnTo>
                    <a:pt x="803558" y="237136"/>
                  </a:lnTo>
                  <a:lnTo>
                    <a:pt x="780681" y="196367"/>
                  </a:lnTo>
                  <a:lnTo>
                    <a:pt x="753591" y="158542"/>
                  </a:lnTo>
                  <a:lnTo>
                    <a:pt x="722604" y="123977"/>
                  </a:lnTo>
                  <a:lnTo>
                    <a:pt x="688039" y="92990"/>
                  </a:lnTo>
                  <a:lnTo>
                    <a:pt x="650214" y="65900"/>
                  </a:lnTo>
                  <a:lnTo>
                    <a:pt x="609445" y="43023"/>
                  </a:lnTo>
                  <a:lnTo>
                    <a:pt x="566051" y="24676"/>
                  </a:lnTo>
                  <a:lnTo>
                    <a:pt x="520349" y="11179"/>
                  </a:lnTo>
                  <a:lnTo>
                    <a:pt x="472656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04231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89">
                  <a:moveTo>
                    <a:pt x="0" y="423291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1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2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38777" y="4466844"/>
              <a:ext cx="966469" cy="0"/>
            </a:xfrm>
            <a:custGeom>
              <a:avLst/>
              <a:gdLst/>
              <a:ahLst/>
              <a:cxnLst/>
              <a:rect l="l" t="t" r="r" b="b"/>
              <a:pathLst>
                <a:path w="966469">
                  <a:moveTo>
                    <a:pt x="0" y="0"/>
                  </a:moveTo>
                  <a:lnTo>
                    <a:pt x="965885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04231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90">
                  <a:moveTo>
                    <a:pt x="423291" y="0"/>
                  </a:moveTo>
                  <a:lnTo>
                    <a:pt x="373925" y="2847"/>
                  </a:lnTo>
                  <a:lnTo>
                    <a:pt x="326232" y="11179"/>
                  </a:lnTo>
                  <a:lnTo>
                    <a:pt x="280530" y="24676"/>
                  </a:lnTo>
                  <a:lnTo>
                    <a:pt x="237136" y="43023"/>
                  </a:lnTo>
                  <a:lnTo>
                    <a:pt x="196367" y="65900"/>
                  </a:lnTo>
                  <a:lnTo>
                    <a:pt x="158542" y="92990"/>
                  </a:lnTo>
                  <a:lnTo>
                    <a:pt x="123977" y="123977"/>
                  </a:lnTo>
                  <a:lnTo>
                    <a:pt x="92990" y="158542"/>
                  </a:lnTo>
                  <a:lnTo>
                    <a:pt x="65900" y="196367"/>
                  </a:lnTo>
                  <a:lnTo>
                    <a:pt x="43023" y="237136"/>
                  </a:lnTo>
                  <a:lnTo>
                    <a:pt x="24676" y="280530"/>
                  </a:lnTo>
                  <a:lnTo>
                    <a:pt x="11179" y="326232"/>
                  </a:lnTo>
                  <a:lnTo>
                    <a:pt x="2847" y="373925"/>
                  </a:lnTo>
                  <a:lnTo>
                    <a:pt x="0" y="423290"/>
                  </a:lnTo>
                  <a:lnTo>
                    <a:pt x="2847" y="472656"/>
                  </a:lnTo>
                  <a:lnTo>
                    <a:pt x="11179" y="520349"/>
                  </a:lnTo>
                  <a:lnTo>
                    <a:pt x="24676" y="566051"/>
                  </a:lnTo>
                  <a:lnTo>
                    <a:pt x="43023" y="609445"/>
                  </a:lnTo>
                  <a:lnTo>
                    <a:pt x="65900" y="650214"/>
                  </a:lnTo>
                  <a:lnTo>
                    <a:pt x="92990" y="688039"/>
                  </a:lnTo>
                  <a:lnTo>
                    <a:pt x="123977" y="722604"/>
                  </a:lnTo>
                  <a:lnTo>
                    <a:pt x="158542" y="753591"/>
                  </a:lnTo>
                  <a:lnTo>
                    <a:pt x="196367" y="780681"/>
                  </a:lnTo>
                  <a:lnTo>
                    <a:pt x="237136" y="803558"/>
                  </a:lnTo>
                  <a:lnTo>
                    <a:pt x="280530" y="821905"/>
                  </a:lnTo>
                  <a:lnTo>
                    <a:pt x="326232" y="835402"/>
                  </a:lnTo>
                  <a:lnTo>
                    <a:pt x="373925" y="843734"/>
                  </a:lnTo>
                  <a:lnTo>
                    <a:pt x="423291" y="846581"/>
                  </a:lnTo>
                  <a:lnTo>
                    <a:pt x="472656" y="843734"/>
                  </a:lnTo>
                  <a:lnTo>
                    <a:pt x="520349" y="835402"/>
                  </a:lnTo>
                  <a:lnTo>
                    <a:pt x="566051" y="821905"/>
                  </a:lnTo>
                  <a:lnTo>
                    <a:pt x="609445" y="803558"/>
                  </a:lnTo>
                  <a:lnTo>
                    <a:pt x="650214" y="780681"/>
                  </a:lnTo>
                  <a:lnTo>
                    <a:pt x="688039" y="753591"/>
                  </a:lnTo>
                  <a:lnTo>
                    <a:pt x="722604" y="722604"/>
                  </a:lnTo>
                  <a:lnTo>
                    <a:pt x="753591" y="688039"/>
                  </a:lnTo>
                  <a:lnTo>
                    <a:pt x="780681" y="650214"/>
                  </a:lnTo>
                  <a:lnTo>
                    <a:pt x="803558" y="609445"/>
                  </a:lnTo>
                  <a:lnTo>
                    <a:pt x="821905" y="566051"/>
                  </a:lnTo>
                  <a:lnTo>
                    <a:pt x="835402" y="520349"/>
                  </a:lnTo>
                  <a:lnTo>
                    <a:pt x="843734" y="472656"/>
                  </a:lnTo>
                  <a:lnTo>
                    <a:pt x="846582" y="423290"/>
                  </a:lnTo>
                  <a:lnTo>
                    <a:pt x="843734" y="373925"/>
                  </a:lnTo>
                  <a:lnTo>
                    <a:pt x="835402" y="326232"/>
                  </a:lnTo>
                  <a:lnTo>
                    <a:pt x="821905" y="280530"/>
                  </a:lnTo>
                  <a:lnTo>
                    <a:pt x="803558" y="237136"/>
                  </a:lnTo>
                  <a:lnTo>
                    <a:pt x="780681" y="196367"/>
                  </a:lnTo>
                  <a:lnTo>
                    <a:pt x="753591" y="158542"/>
                  </a:lnTo>
                  <a:lnTo>
                    <a:pt x="722604" y="123977"/>
                  </a:lnTo>
                  <a:lnTo>
                    <a:pt x="688039" y="92990"/>
                  </a:lnTo>
                  <a:lnTo>
                    <a:pt x="650214" y="65900"/>
                  </a:lnTo>
                  <a:lnTo>
                    <a:pt x="609445" y="43023"/>
                  </a:lnTo>
                  <a:lnTo>
                    <a:pt x="566051" y="24676"/>
                  </a:lnTo>
                  <a:lnTo>
                    <a:pt x="520349" y="11179"/>
                  </a:lnTo>
                  <a:lnTo>
                    <a:pt x="472656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04231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89" h="847090">
                  <a:moveTo>
                    <a:pt x="0" y="423290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0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1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 flipH="1">
              <a:off x="5327903" y="4842515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84179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717030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89">
                  <a:moveTo>
                    <a:pt x="423291" y="0"/>
                  </a:moveTo>
                  <a:lnTo>
                    <a:pt x="373925" y="2847"/>
                  </a:lnTo>
                  <a:lnTo>
                    <a:pt x="326232" y="11179"/>
                  </a:lnTo>
                  <a:lnTo>
                    <a:pt x="280530" y="24676"/>
                  </a:lnTo>
                  <a:lnTo>
                    <a:pt x="237136" y="43023"/>
                  </a:lnTo>
                  <a:lnTo>
                    <a:pt x="196367" y="65900"/>
                  </a:lnTo>
                  <a:lnTo>
                    <a:pt x="158542" y="92990"/>
                  </a:lnTo>
                  <a:lnTo>
                    <a:pt x="123977" y="123977"/>
                  </a:lnTo>
                  <a:lnTo>
                    <a:pt x="92990" y="158542"/>
                  </a:lnTo>
                  <a:lnTo>
                    <a:pt x="65900" y="196367"/>
                  </a:lnTo>
                  <a:lnTo>
                    <a:pt x="43023" y="237136"/>
                  </a:lnTo>
                  <a:lnTo>
                    <a:pt x="24676" y="280530"/>
                  </a:lnTo>
                  <a:lnTo>
                    <a:pt x="11179" y="326232"/>
                  </a:lnTo>
                  <a:lnTo>
                    <a:pt x="2847" y="373925"/>
                  </a:lnTo>
                  <a:lnTo>
                    <a:pt x="0" y="423291"/>
                  </a:lnTo>
                  <a:lnTo>
                    <a:pt x="2847" y="472656"/>
                  </a:lnTo>
                  <a:lnTo>
                    <a:pt x="11179" y="520349"/>
                  </a:lnTo>
                  <a:lnTo>
                    <a:pt x="24676" y="566051"/>
                  </a:lnTo>
                  <a:lnTo>
                    <a:pt x="43023" y="609445"/>
                  </a:lnTo>
                  <a:lnTo>
                    <a:pt x="65900" y="650214"/>
                  </a:lnTo>
                  <a:lnTo>
                    <a:pt x="92990" y="688039"/>
                  </a:lnTo>
                  <a:lnTo>
                    <a:pt x="123977" y="722604"/>
                  </a:lnTo>
                  <a:lnTo>
                    <a:pt x="158542" y="753591"/>
                  </a:lnTo>
                  <a:lnTo>
                    <a:pt x="196367" y="780681"/>
                  </a:lnTo>
                  <a:lnTo>
                    <a:pt x="237136" y="803558"/>
                  </a:lnTo>
                  <a:lnTo>
                    <a:pt x="280530" y="821905"/>
                  </a:lnTo>
                  <a:lnTo>
                    <a:pt x="326232" y="835402"/>
                  </a:lnTo>
                  <a:lnTo>
                    <a:pt x="373925" y="843734"/>
                  </a:lnTo>
                  <a:lnTo>
                    <a:pt x="423291" y="846582"/>
                  </a:lnTo>
                  <a:lnTo>
                    <a:pt x="472656" y="843734"/>
                  </a:lnTo>
                  <a:lnTo>
                    <a:pt x="520349" y="835402"/>
                  </a:lnTo>
                  <a:lnTo>
                    <a:pt x="566051" y="821905"/>
                  </a:lnTo>
                  <a:lnTo>
                    <a:pt x="609445" y="803558"/>
                  </a:lnTo>
                  <a:lnTo>
                    <a:pt x="650214" y="780681"/>
                  </a:lnTo>
                  <a:lnTo>
                    <a:pt x="688039" y="753591"/>
                  </a:lnTo>
                  <a:lnTo>
                    <a:pt x="722604" y="722604"/>
                  </a:lnTo>
                  <a:lnTo>
                    <a:pt x="753591" y="688039"/>
                  </a:lnTo>
                  <a:lnTo>
                    <a:pt x="780681" y="650214"/>
                  </a:lnTo>
                  <a:lnTo>
                    <a:pt x="803558" y="609445"/>
                  </a:lnTo>
                  <a:lnTo>
                    <a:pt x="821905" y="566051"/>
                  </a:lnTo>
                  <a:lnTo>
                    <a:pt x="835402" y="520349"/>
                  </a:lnTo>
                  <a:lnTo>
                    <a:pt x="843734" y="472656"/>
                  </a:lnTo>
                  <a:lnTo>
                    <a:pt x="846582" y="423291"/>
                  </a:lnTo>
                  <a:lnTo>
                    <a:pt x="843734" y="373925"/>
                  </a:lnTo>
                  <a:lnTo>
                    <a:pt x="835402" y="326232"/>
                  </a:lnTo>
                  <a:lnTo>
                    <a:pt x="821905" y="280530"/>
                  </a:lnTo>
                  <a:lnTo>
                    <a:pt x="803558" y="237136"/>
                  </a:lnTo>
                  <a:lnTo>
                    <a:pt x="780681" y="196367"/>
                  </a:lnTo>
                  <a:lnTo>
                    <a:pt x="753591" y="158542"/>
                  </a:lnTo>
                  <a:lnTo>
                    <a:pt x="722604" y="123977"/>
                  </a:lnTo>
                  <a:lnTo>
                    <a:pt x="688039" y="92990"/>
                  </a:lnTo>
                  <a:lnTo>
                    <a:pt x="650214" y="65900"/>
                  </a:lnTo>
                  <a:lnTo>
                    <a:pt x="609445" y="43023"/>
                  </a:lnTo>
                  <a:lnTo>
                    <a:pt x="566051" y="24676"/>
                  </a:lnTo>
                  <a:lnTo>
                    <a:pt x="520349" y="11179"/>
                  </a:lnTo>
                  <a:lnTo>
                    <a:pt x="472656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717030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89">
                  <a:moveTo>
                    <a:pt x="0" y="423291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1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2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717030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90">
                  <a:moveTo>
                    <a:pt x="423291" y="0"/>
                  </a:moveTo>
                  <a:lnTo>
                    <a:pt x="373925" y="2847"/>
                  </a:lnTo>
                  <a:lnTo>
                    <a:pt x="326232" y="11179"/>
                  </a:lnTo>
                  <a:lnTo>
                    <a:pt x="280530" y="24676"/>
                  </a:lnTo>
                  <a:lnTo>
                    <a:pt x="237136" y="43023"/>
                  </a:lnTo>
                  <a:lnTo>
                    <a:pt x="196367" y="65900"/>
                  </a:lnTo>
                  <a:lnTo>
                    <a:pt x="158542" y="92990"/>
                  </a:lnTo>
                  <a:lnTo>
                    <a:pt x="123977" y="123977"/>
                  </a:lnTo>
                  <a:lnTo>
                    <a:pt x="92990" y="158542"/>
                  </a:lnTo>
                  <a:lnTo>
                    <a:pt x="65900" y="196367"/>
                  </a:lnTo>
                  <a:lnTo>
                    <a:pt x="43023" y="237136"/>
                  </a:lnTo>
                  <a:lnTo>
                    <a:pt x="24676" y="280530"/>
                  </a:lnTo>
                  <a:lnTo>
                    <a:pt x="11179" y="326232"/>
                  </a:lnTo>
                  <a:lnTo>
                    <a:pt x="2847" y="373925"/>
                  </a:lnTo>
                  <a:lnTo>
                    <a:pt x="0" y="423290"/>
                  </a:lnTo>
                  <a:lnTo>
                    <a:pt x="2847" y="472656"/>
                  </a:lnTo>
                  <a:lnTo>
                    <a:pt x="11179" y="520349"/>
                  </a:lnTo>
                  <a:lnTo>
                    <a:pt x="24676" y="566051"/>
                  </a:lnTo>
                  <a:lnTo>
                    <a:pt x="43023" y="609445"/>
                  </a:lnTo>
                  <a:lnTo>
                    <a:pt x="65900" y="650214"/>
                  </a:lnTo>
                  <a:lnTo>
                    <a:pt x="92990" y="688039"/>
                  </a:lnTo>
                  <a:lnTo>
                    <a:pt x="123977" y="722604"/>
                  </a:lnTo>
                  <a:lnTo>
                    <a:pt x="158542" y="753591"/>
                  </a:lnTo>
                  <a:lnTo>
                    <a:pt x="196367" y="780681"/>
                  </a:lnTo>
                  <a:lnTo>
                    <a:pt x="237136" y="803558"/>
                  </a:lnTo>
                  <a:lnTo>
                    <a:pt x="280530" y="821905"/>
                  </a:lnTo>
                  <a:lnTo>
                    <a:pt x="326232" y="835402"/>
                  </a:lnTo>
                  <a:lnTo>
                    <a:pt x="373925" y="843734"/>
                  </a:lnTo>
                  <a:lnTo>
                    <a:pt x="423291" y="846581"/>
                  </a:lnTo>
                  <a:lnTo>
                    <a:pt x="472656" y="843734"/>
                  </a:lnTo>
                  <a:lnTo>
                    <a:pt x="520349" y="835402"/>
                  </a:lnTo>
                  <a:lnTo>
                    <a:pt x="566051" y="821905"/>
                  </a:lnTo>
                  <a:lnTo>
                    <a:pt x="609445" y="803558"/>
                  </a:lnTo>
                  <a:lnTo>
                    <a:pt x="650214" y="780681"/>
                  </a:lnTo>
                  <a:lnTo>
                    <a:pt x="688039" y="753591"/>
                  </a:lnTo>
                  <a:lnTo>
                    <a:pt x="722604" y="722604"/>
                  </a:lnTo>
                  <a:lnTo>
                    <a:pt x="753591" y="688039"/>
                  </a:lnTo>
                  <a:lnTo>
                    <a:pt x="780681" y="650214"/>
                  </a:lnTo>
                  <a:lnTo>
                    <a:pt x="803558" y="609445"/>
                  </a:lnTo>
                  <a:lnTo>
                    <a:pt x="821905" y="566051"/>
                  </a:lnTo>
                  <a:lnTo>
                    <a:pt x="835402" y="520349"/>
                  </a:lnTo>
                  <a:lnTo>
                    <a:pt x="843734" y="472656"/>
                  </a:lnTo>
                  <a:lnTo>
                    <a:pt x="846582" y="423290"/>
                  </a:lnTo>
                  <a:lnTo>
                    <a:pt x="843734" y="373925"/>
                  </a:lnTo>
                  <a:lnTo>
                    <a:pt x="835402" y="326232"/>
                  </a:lnTo>
                  <a:lnTo>
                    <a:pt x="821905" y="280530"/>
                  </a:lnTo>
                  <a:lnTo>
                    <a:pt x="803558" y="237136"/>
                  </a:lnTo>
                  <a:lnTo>
                    <a:pt x="780681" y="196367"/>
                  </a:lnTo>
                  <a:lnTo>
                    <a:pt x="753591" y="158542"/>
                  </a:lnTo>
                  <a:lnTo>
                    <a:pt x="722604" y="123977"/>
                  </a:lnTo>
                  <a:lnTo>
                    <a:pt x="688039" y="92990"/>
                  </a:lnTo>
                  <a:lnTo>
                    <a:pt x="650214" y="65900"/>
                  </a:lnTo>
                  <a:lnTo>
                    <a:pt x="609445" y="43023"/>
                  </a:lnTo>
                  <a:lnTo>
                    <a:pt x="566051" y="24676"/>
                  </a:lnTo>
                  <a:lnTo>
                    <a:pt x="520349" y="11179"/>
                  </a:lnTo>
                  <a:lnTo>
                    <a:pt x="472656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717030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90">
                  <a:moveTo>
                    <a:pt x="0" y="423290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0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1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627369" y="4719068"/>
              <a:ext cx="1214120" cy="1090295"/>
            </a:xfrm>
            <a:custGeom>
              <a:avLst/>
              <a:gdLst/>
              <a:ahLst/>
              <a:cxnLst/>
              <a:rect l="l" t="t" r="r" b="b"/>
              <a:pathLst>
                <a:path w="1214120" h="1090295">
                  <a:moveTo>
                    <a:pt x="0" y="1089748"/>
                  </a:moveTo>
                  <a:lnTo>
                    <a:pt x="121384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750813" y="6108192"/>
              <a:ext cx="966469" cy="0"/>
            </a:xfrm>
            <a:custGeom>
              <a:avLst/>
              <a:gdLst/>
              <a:ahLst/>
              <a:cxnLst/>
              <a:rect l="l" t="t" r="r" b="b"/>
              <a:pathLst>
                <a:path w="966469">
                  <a:moveTo>
                    <a:pt x="0" y="0"/>
                  </a:moveTo>
                  <a:lnTo>
                    <a:pt x="965885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529066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89">
                  <a:moveTo>
                    <a:pt x="423291" y="0"/>
                  </a:moveTo>
                  <a:lnTo>
                    <a:pt x="373925" y="2847"/>
                  </a:lnTo>
                  <a:lnTo>
                    <a:pt x="326232" y="11179"/>
                  </a:lnTo>
                  <a:lnTo>
                    <a:pt x="280530" y="24676"/>
                  </a:lnTo>
                  <a:lnTo>
                    <a:pt x="237136" y="43023"/>
                  </a:lnTo>
                  <a:lnTo>
                    <a:pt x="196367" y="65900"/>
                  </a:lnTo>
                  <a:lnTo>
                    <a:pt x="158542" y="92990"/>
                  </a:lnTo>
                  <a:lnTo>
                    <a:pt x="123977" y="123977"/>
                  </a:lnTo>
                  <a:lnTo>
                    <a:pt x="92990" y="158542"/>
                  </a:lnTo>
                  <a:lnTo>
                    <a:pt x="65900" y="196367"/>
                  </a:lnTo>
                  <a:lnTo>
                    <a:pt x="43023" y="237136"/>
                  </a:lnTo>
                  <a:lnTo>
                    <a:pt x="24676" y="280530"/>
                  </a:lnTo>
                  <a:lnTo>
                    <a:pt x="11179" y="326232"/>
                  </a:lnTo>
                  <a:lnTo>
                    <a:pt x="2847" y="373925"/>
                  </a:lnTo>
                  <a:lnTo>
                    <a:pt x="0" y="423291"/>
                  </a:lnTo>
                  <a:lnTo>
                    <a:pt x="2847" y="472656"/>
                  </a:lnTo>
                  <a:lnTo>
                    <a:pt x="11179" y="520349"/>
                  </a:lnTo>
                  <a:lnTo>
                    <a:pt x="24676" y="566051"/>
                  </a:lnTo>
                  <a:lnTo>
                    <a:pt x="43023" y="609445"/>
                  </a:lnTo>
                  <a:lnTo>
                    <a:pt x="65900" y="650214"/>
                  </a:lnTo>
                  <a:lnTo>
                    <a:pt x="92990" y="688039"/>
                  </a:lnTo>
                  <a:lnTo>
                    <a:pt x="123977" y="722604"/>
                  </a:lnTo>
                  <a:lnTo>
                    <a:pt x="158542" y="753591"/>
                  </a:lnTo>
                  <a:lnTo>
                    <a:pt x="196367" y="780681"/>
                  </a:lnTo>
                  <a:lnTo>
                    <a:pt x="237136" y="803558"/>
                  </a:lnTo>
                  <a:lnTo>
                    <a:pt x="280530" y="821905"/>
                  </a:lnTo>
                  <a:lnTo>
                    <a:pt x="326232" y="835402"/>
                  </a:lnTo>
                  <a:lnTo>
                    <a:pt x="373925" y="843734"/>
                  </a:lnTo>
                  <a:lnTo>
                    <a:pt x="423291" y="846582"/>
                  </a:lnTo>
                  <a:lnTo>
                    <a:pt x="472656" y="843734"/>
                  </a:lnTo>
                  <a:lnTo>
                    <a:pt x="520349" y="835402"/>
                  </a:lnTo>
                  <a:lnTo>
                    <a:pt x="566051" y="821905"/>
                  </a:lnTo>
                  <a:lnTo>
                    <a:pt x="609445" y="803558"/>
                  </a:lnTo>
                  <a:lnTo>
                    <a:pt x="650214" y="780681"/>
                  </a:lnTo>
                  <a:lnTo>
                    <a:pt x="688039" y="753591"/>
                  </a:lnTo>
                  <a:lnTo>
                    <a:pt x="722604" y="722604"/>
                  </a:lnTo>
                  <a:lnTo>
                    <a:pt x="753591" y="688039"/>
                  </a:lnTo>
                  <a:lnTo>
                    <a:pt x="780681" y="650214"/>
                  </a:lnTo>
                  <a:lnTo>
                    <a:pt x="803558" y="609445"/>
                  </a:lnTo>
                  <a:lnTo>
                    <a:pt x="821905" y="566051"/>
                  </a:lnTo>
                  <a:lnTo>
                    <a:pt x="835402" y="520349"/>
                  </a:lnTo>
                  <a:lnTo>
                    <a:pt x="843734" y="472656"/>
                  </a:lnTo>
                  <a:lnTo>
                    <a:pt x="846582" y="423291"/>
                  </a:lnTo>
                  <a:lnTo>
                    <a:pt x="843734" y="373925"/>
                  </a:lnTo>
                  <a:lnTo>
                    <a:pt x="835402" y="326232"/>
                  </a:lnTo>
                  <a:lnTo>
                    <a:pt x="821905" y="280530"/>
                  </a:lnTo>
                  <a:lnTo>
                    <a:pt x="803558" y="237136"/>
                  </a:lnTo>
                  <a:lnTo>
                    <a:pt x="780681" y="196367"/>
                  </a:lnTo>
                  <a:lnTo>
                    <a:pt x="753591" y="158542"/>
                  </a:lnTo>
                  <a:lnTo>
                    <a:pt x="722604" y="123977"/>
                  </a:lnTo>
                  <a:lnTo>
                    <a:pt x="688039" y="92990"/>
                  </a:lnTo>
                  <a:lnTo>
                    <a:pt x="650214" y="65900"/>
                  </a:lnTo>
                  <a:lnTo>
                    <a:pt x="609445" y="43023"/>
                  </a:lnTo>
                  <a:lnTo>
                    <a:pt x="566051" y="24676"/>
                  </a:lnTo>
                  <a:lnTo>
                    <a:pt x="520349" y="11179"/>
                  </a:lnTo>
                  <a:lnTo>
                    <a:pt x="472656" y="2847"/>
                  </a:lnTo>
                  <a:lnTo>
                    <a:pt x="423291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529066" y="3995928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89">
                  <a:moveTo>
                    <a:pt x="0" y="423291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1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2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563611" y="4466844"/>
              <a:ext cx="966469" cy="0"/>
            </a:xfrm>
            <a:custGeom>
              <a:avLst/>
              <a:gdLst/>
              <a:ahLst/>
              <a:cxnLst/>
              <a:rect l="l" t="t" r="r" b="b"/>
              <a:pathLst>
                <a:path w="966469">
                  <a:moveTo>
                    <a:pt x="965885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529066" y="5684520"/>
              <a:ext cx="847090" cy="847090"/>
            </a:xfrm>
            <a:custGeom>
              <a:avLst/>
              <a:gdLst/>
              <a:ahLst/>
              <a:cxnLst/>
              <a:rect l="l" t="t" r="r" b="b"/>
              <a:pathLst>
                <a:path w="847090" h="847090">
                  <a:moveTo>
                    <a:pt x="0" y="423290"/>
                  </a:moveTo>
                  <a:lnTo>
                    <a:pt x="2847" y="373925"/>
                  </a:lnTo>
                  <a:lnTo>
                    <a:pt x="11179" y="326232"/>
                  </a:lnTo>
                  <a:lnTo>
                    <a:pt x="24676" y="280530"/>
                  </a:lnTo>
                  <a:lnTo>
                    <a:pt x="43023" y="237136"/>
                  </a:lnTo>
                  <a:lnTo>
                    <a:pt x="65900" y="196367"/>
                  </a:lnTo>
                  <a:lnTo>
                    <a:pt x="92990" y="158542"/>
                  </a:lnTo>
                  <a:lnTo>
                    <a:pt x="123977" y="123977"/>
                  </a:lnTo>
                  <a:lnTo>
                    <a:pt x="158542" y="92990"/>
                  </a:lnTo>
                  <a:lnTo>
                    <a:pt x="196367" y="65900"/>
                  </a:lnTo>
                  <a:lnTo>
                    <a:pt x="237136" y="43023"/>
                  </a:lnTo>
                  <a:lnTo>
                    <a:pt x="280530" y="24676"/>
                  </a:lnTo>
                  <a:lnTo>
                    <a:pt x="326232" y="11179"/>
                  </a:lnTo>
                  <a:lnTo>
                    <a:pt x="373925" y="2847"/>
                  </a:lnTo>
                  <a:lnTo>
                    <a:pt x="423291" y="0"/>
                  </a:lnTo>
                  <a:lnTo>
                    <a:pt x="472656" y="2847"/>
                  </a:lnTo>
                  <a:lnTo>
                    <a:pt x="520349" y="11179"/>
                  </a:lnTo>
                  <a:lnTo>
                    <a:pt x="566051" y="24676"/>
                  </a:lnTo>
                  <a:lnTo>
                    <a:pt x="609445" y="43023"/>
                  </a:lnTo>
                  <a:lnTo>
                    <a:pt x="650214" y="65900"/>
                  </a:lnTo>
                  <a:lnTo>
                    <a:pt x="688039" y="92990"/>
                  </a:lnTo>
                  <a:lnTo>
                    <a:pt x="722604" y="123977"/>
                  </a:lnTo>
                  <a:lnTo>
                    <a:pt x="753591" y="158542"/>
                  </a:lnTo>
                  <a:lnTo>
                    <a:pt x="780681" y="196367"/>
                  </a:lnTo>
                  <a:lnTo>
                    <a:pt x="803558" y="237136"/>
                  </a:lnTo>
                  <a:lnTo>
                    <a:pt x="821905" y="280530"/>
                  </a:lnTo>
                  <a:lnTo>
                    <a:pt x="835402" y="326232"/>
                  </a:lnTo>
                  <a:lnTo>
                    <a:pt x="843734" y="373925"/>
                  </a:lnTo>
                  <a:lnTo>
                    <a:pt x="846582" y="423290"/>
                  </a:lnTo>
                  <a:lnTo>
                    <a:pt x="843734" y="472656"/>
                  </a:lnTo>
                  <a:lnTo>
                    <a:pt x="835402" y="520349"/>
                  </a:lnTo>
                  <a:lnTo>
                    <a:pt x="821905" y="566051"/>
                  </a:lnTo>
                  <a:lnTo>
                    <a:pt x="803558" y="609445"/>
                  </a:lnTo>
                  <a:lnTo>
                    <a:pt x="780681" y="650214"/>
                  </a:lnTo>
                  <a:lnTo>
                    <a:pt x="753591" y="688039"/>
                  </a:lnTo>
                  <a:lnTo>
                    <a:pt x="722604" y="722604"/>
                  </a:lnTo>
                  <a:lnTo>
                    <a:pt x="688039" y="753591"/>
                  </a:lnTo>
                  <a:lnTo>
                    <a:pt x="650214" y="780681"/>
                  </a:lnTo>
                  <a:lnTo>
                    <a:pt x="609445" y="803558"/>
                  </a:lnTo>
                  <a:lnTo>
                    <a:pt x="566051" y="821905"/>
                  </a:lnTo>
                  <a:lnTo>
                    <a:pt x="520349" y="835402"/>
                  </a:lnTo>
                  <a:lnTo>
                    <a:pt x="472656" y="843734"/>
                  </a:lnTo>
                  <a:lnTo>
                    <a:pt x="423291" y="846581"/>
                  </a:lnTo>
                  <a:lnTo>
                    <a:pt x="373925" y="843734"/>
                  </a:lnTo>
                  <a:lnTo>
                    <a:pt x="326232" y="835402"/>
                  </a:lnTo>
                  <a:lnTo>
                    <a:pt x="280530" y="821905"/>
                  </a:lnTo>
                  <a:lnTo>
                    <a:pt x="237136" y="803558"/>
                  </a:lnTo>
                  <a:lnTo>
                    <a:pt x="196367" y="780681"/>
                  </a:lnTo>
                  <a:lnTo>
                    <a:pt x="158542" y="753591"/>
                  </a:lnTo>
                  <a:lnTo>
                    <a:pt x="123977" y="722604"/>
                  </a:lnTo>
                  <a:lnTo>
                    <a:pt x="92990" y="688039"/>
                  </a:lnTo>
                  <a:lnTo>
                    <a:pt x="65900" y="650214"/>
                  </a:lnTo>
                  <a:lnTo>
                    <a:pt x="43023" y="609445"/>
                  </a:lnTo>
                  <a:lnTo>
                    <a:pt x="24676" y="566051"/>
                  </a:lnTo>
                  <a:lnTo>
                    <a:pt x="11179" y="520349"/>
                  </a:lnTo>
                  <a:lnTo>
                    <a:pt x="2847" y="472656"/>
                  </a:lnTo>
                  <a:lnTo>
                    <a:pt x="0" y="42329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439403" y="4719066"/>
              <a:ext cx="1214120" cy="1090295"/>
            </a:xfrm>
            <a:custGeom>
              <a:avLst/>
              <a:gdLst/>
              <a:ahLst/>
              <a:cxnLst/>
              <a:rect l="l" t="t" r="r" b="b"/>
              <a:pathLst>
                <a:path w="1214120" h="1090295">
                  <a:moveTo>
                    <a:pt x="1213840" y="0"/>
                  </a:moveTo>
                  <a:lnTo>
                    <a:pt x="0" y="108974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 flipH="1">
              <a:off x="8952737" y="4842515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84179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563611" y="6108192"/>
              <a:ext cx="966469" cy="0"/>
            </a:xfrm>
            <a:custGeom>
              <a:avLst/>
              <a:gdLst/>
              <a:ahLst/>
              <a:cxnLst/>
              <a:rect l="l" t="t" r="r" b="b"/>
              <a:pathLst>
                <a:path w="966469">
                  <a:moveTo>
                    <a:pt x="0" y="0"/>
                  </a:moveTo>
                  <a:lnTo>
                    <a:pt x="965885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 flipH="1">
              <a:off x="7139939" y="4842515"/>
              <a:ext cx="0" cy="842010"/>
            </a:xfrm>
            <a:custGeom>
              <a:avLst/>
              <a:gdLst/>
              <a:ahLst/>
              <a:cxnLst/>
              <a:rect l="l" t="t" r="r" b="b"/>
              <a:pathLst>
                <a:path h="842010">
                  <a:moveTo>
                    <a:pt x="0" y="84179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105544" y="3524825"/>
            <a:ext cx="445770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685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sz="2200" b="1" spc="-25">
                <a:latin typeface="Times New Roman"/>
                <a:cs typeface="Times New Roman"/>
              </a:rPr>
              <a:t>2/X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105544" y="5948023"/>
            <a:ext cx="445770" cy="976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00"/>
              </a:lnSpc>
            </a:pPr>
            <a:r>
              <a:rPr sz="2200" b="1" spc="-25">
                <a:latin typeface="Times New Roman"/>
                <a:cs typeface="Times New Roman"/>
              </a:rPr>
              <a:t>3/X</a:t>
            </a:r>
            <a:endParaRPr sz="2200">
              <a:latin typeface="Times New Roman"/>
              <a:cs typeface="Times New Roman"/>
            </a:endParaRPr>
          </a:p>
          <a:p>
            <a:pPr marL="116839">
              <a:lnSpc>
                <a:spcPct val="100000"/>
              </a:lnSpc>
              <a:spcBef>
                <a:spcPts val="1680"/>
              </a:spcBef>
            </a:pPr>
            <a:r>
              <a:rPr sz="2800" b="1"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917989" y="5948023"/>
            <a:ext cx="445770" cy="976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00"/>
              </a:lnSpc>
            </a:pPr>
            <a:r>
              <a:rPr sz="2200" b="1" spc="-25">
                <a:latin typeface="Times New Roman"/>
                <a:cs typeface="Times New Roman"/>
              </a:rPr>
              <a:t>6/X</a:t>
            </a:r>
            <a:endParaRPr sz="2200">
              <a:latin typeface="Times New Roman"/>
              <a:cs typeface="Times New Roman"/>
            </a:endParaRPr>
          </a:p>
          <a:p>
            <a:pPr marL="129539">
              <a:lnSpc>
                <a:spcPct val="100000"/>
              </a:lnSpc>
              <a:spcBef>
                <a:spcPts val="1680"/>
              </a:spcBef>
            </a:pPr>
            <a:r>
              <a:rPr sz="2800" b="1"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384879" y="6505153"/>
            <a:ext cx="203835" cy="419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55"/>
              </a:lnSpc>
            </a:pPr>
            <a:r>
              <a:rPr sz="2800" b="1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860155" y="6505153"/>
            <a:ext cx="203835" cy="419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55"/>
              </a:lnSpc>
            </a:pPr>
            <a:r>
              <a:rPr sz="2800" b="1"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293100" y="3524825"/>
            <a:ext cx="445770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985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sz="2200" b="1" spc="-25">
                <a:latin typeface="Times New Roman"/>
                <a:cs typeface="Times New Roman"/>
              </a:rPr>
              <a:t>1/X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917989" y="3524825"/>
            <a:ext cx="445770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9385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sz="2200" b="1" spc="-25">
                <a:latin typeface="Times New Roman"/>
                <a:cs typeface="Times New Roman"/>
              </a:rPr>
              <a:t>4/X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730433" y="3524825"/>
            <a:ext cx="445770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 algn="ctr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185"/>
              </a:spcBef>
            </a:pPr>
            <a:r>
              <a:rPr sz="2200" b="1" spc="-25">
                <a:latin typeface="Times New Roman"/>
                <a:cs typeface="Times New Roman"/>
              </a:rPr>
              <a:t>5/X</a:t>
            </a:r>
            <a:endParaRPr sz="2200">
              <a:latin typeface="Times New Roman"/>
              <a:cs typeface="Times New Roman"/>
            </a:endParaRPr>
          </a:p>
        </p:txBody>
      </p: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674701" y="788581"/>
          <a:ext cx="8316593" cy="25907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𝑉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86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14">
                          <a:latin typeface="Cambria Math"/>
                          <a:cs typeface="Cambria Math"/>
                        </a:rPr>
                        <a:t>𝑐𝑜𝑙𝑜𝑟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692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228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4267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40">
                          <a:latin typeface="Cambria Math"/>
                          <a:cs typeface="Cambria Math"/>
                        </a:rPr>
                        <a:t>𝑝𝑟𝑒𝑑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7241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8191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25">
                          <a:latin typeface="Cambria Math"/>
                          <a:cs typeface="Cambria Math"/>
                        </a:rPr>
                        <a:t>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8191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" name="object 33"/>
          <p:cNvSpPr txBox="1"/>
          <p:nvPr/>
        </p:nvSpPr>
        <p:spPr>
          <a:xfrm>
            <a:off x="9299777" y="820331"/>
            <a:ext cx="118935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110" dirty="0">
                <a:latin typeface="Cambria Math"/>
                <a:cs typeface="Cambria Math"/>
              </a:rPr>
              <a:t>𝑡𝑖𝑚𝑒</a:t>
            </a:r>
            <a:r>
              <a:rPr sz="2200" spc="125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=</a:t>
            </a:r>
            <a:r>
              <a:rPr sz="2200" spc="114" dirty="0">
                <a:latin typeface="Cambria Math"/>
                <a:cs typeface="Cambria Math"/>
              </a:rPr>
              <a:t> </a:t>
            </a:r>
            <a:r>
              <a:rPr sz="2200" spc="-685" dirty="0">
                <a:latin typeface="Cambria Math"/>
                <a:cs typeface="Cambria Math"/>
              </a:rPr>
              <a:t>𝟔</a:t>
            </a:r>
            <a:endParaRPr sz="2200" dirty="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/>
              <a:t>算法实</a:t>
            </a:r>
            <a:r>
              <a:rPr spc="-50"/>
              <a:t>例</a:t>
            </a:r>
          </a:p>
        </p:txBody>
      </p:sp>
      <p:pic>
        <p:nvPicPr>
          <p:cNvPr id="3" name="object 3"/>
          <p:cNvPicPr/>
          <p:nvPr/>
        </p:nvPicPr>
        <p:blipFill>
          <a:blip r:embed="rId2"/>
          <a:stretch>
            <a:fillRect/>
          </a:stretch>
        </p:blipFill>
        <p:spPr>
          <a:xfrm>
            <a:off x="3073145" y="3976878"/>
            <a:ext cx="6321552" cy="25732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05544" y="3524825"/>
            <a:ext cx="445770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685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sz="2200" b="1" spc="-25">
                <a:latin typeface="Times New Roman"/>
                <a:cs typeface="Times New Roman"/>
              </a:rPr>
              <a:t>2/X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05544" y="5948023"/>
            <a:ext cx="445770" cy="976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00"/>
              </a:lnSpc>
            </a:pPr>
            <a:r>
              <a:rPr sz="2200" b="1" spc="-25">
                <a:latin typeface="Times New Roman"/>
                <a:cs typeface="Times New Roman"/>
              </a:rPr>
              <a:t>3/X</a:t>
            </a:r>
            <a:endParaRPr sz="2200">
              <a:latin typeface="Times New Roman"/>
              <a:cs typeface="Times New Roman"/>
            </a:endParaRPr>
          </a:p>
          <a:p>
            <a:pPr marL="116839">
              <a:lnSpc>
                <a:spcPct val="100000"/>
              </a:lnSpc>
              <a:spcBef>
                <a:spcPts val="1680"/>
              </a:spcBef>
            </a:pPr>
            <a:r>
              <a:rPr sz="2800" b="1"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17989" y="5948023"/>
            <a:ext cx="445770" cy="976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00"/>
              </a:lnSpc>
            </a:pPr>
            <a:r>
              <a:rPr sz="2200" b="1" spc="-25">
                <a:latin typeface="Times New Roman"/>
                <a:cs typeface="Times New Roman"/>
              </a:rPr>
              <a:t>6/X</a:t>
            </a:r>
            <a:endParaRPr sz="2200">
              <a:latin typeface="Times New Roman"/>
              <a:cs typeface="Times New Roman"/>
            </a:endParaRPr>
          </a:p>
          <a:p>
            <a:pPr marL="129539">
              <a:lnSpc>
                <a:spcPct val="100000"/>
              </a:lnSpc>
              <a:spcBef>
                <a:spcPts val="1680"/>
              </a:spcBef>
            </a:pPr>
            <a:r>
              <a:rPr sz="2800" b="1"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30433" y="5948023"/>
            <a:ext cx="445770" cy="976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00"/>
              </a:lnSpc>
            </a:pPr>
            <a:r>
              <a:rPr sz="2200" b="1" spc="-25">
                <a:latin typeface="Times New Roman"/>
                <a:cs typeface="Times New Roman"/>
              </a:rPr>
              <a:t>7/X</a:t>
            </a:r>
            <a:endParaRPr sz="2200">
              <a:latin typeface="Times New Roman"/>
              <a:cs typeface="Times New Roman"/>
            </a:endParaRPr>
          </a:p>
          <a:p>
            <a:pPr marL="142240">
              <a:lnSpc>
                <a:spcPct val="100000"/>
              </a:lnSpc>
              <a:spcBef>
                <a:spcPts val="1680"/>
              </a:spcBef>
            </a:pPr>
            <a:r>
              <a:rPr sz="2800" b="1"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84879" y="6505153"/>
            <a:ext cx="203835" cy="419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55"/>
              </a:lnSpc>
            </a:pPr>
            <a:r>
              <a:rPr sz="2800" b="1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93100" y="3524825"/>
            <a:ext cx="445770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985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sz="2200" b="1" spc="-25">
                <a:latin typeface="Times New Roman"/>
                <a:cs typeface="Times New Roman"/>
              </a:rPr>
              <a:t>1/X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17989" y="3524825"/>
            <a:ext cx="445770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9385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sz="2200" b="1" spc="-25">
                <a:latin typeface="Times New Roman"/>
                <a:cs typeface="Times New Roman"/>
              </a:rPr>
              <a:t>4/X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30433" y="3524825"/>
            <a:ext cx="445770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 algn="ctr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185"/>
              </a:spcBef>
            </a:pPr>
            <a:r>
              <a:rPr sz="2200" b="1" spc="-25">
                <a:latin typeface="Times New Roman"/>
                <a:cs typeface="Times New Roman"/>
              </a:rPr>
              <a:t>5/X</a:t>
            </a:r>
            <a:endParaRPr sz="2200">
              <a:latin typeface="Times New Roman"/>
              <a:cs typeface="Times New Roman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74701" y="788581"/>
          <a:ext cx="8316593" cy="25907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𝑉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86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14">
                          <a:latin typeface="Cambria Math"/>
                          <a:cs typeface="Cambria Math"/>
                        </a:rPr>
                        <a:t>𝑐𝑜𝑙𝑜𝑟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692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4267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40">
                          <a:latin typeface="Cambria Math"/>
                          <a:cs typeface="Cambria Math"/>
                        </a:rPr>
                        <a:t>𝑝𝑟𝑒𝑑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8191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25">
                          <a:latin typeface="Cambria Math"/>
                          <a:cs typeface="Cambria Math"/>
                        </a:rPr>
                        <a:t>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8191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9299777" y="820331"/>
            <a:ext cx="118935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110" dirty="0">
                <a:latin typeface="Cambria Math"/>
                <a:cs typeface="Cambria Math"/>
              </a:rPr>
              <a:t>𝑡𝑖𝑚𝑒</a:t>
            </a:r>
            <a:r>
              <a:rPr sz="2200" spc="125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=</a:t>
            </a:r>
            <a:r>
              <a:rPr sz="2200" spc="114" dirty="0">
                <a:latin typeface="Cambria Math"/>
                <a:cs typeface="Cambria Math"/>
              </a:rPr>
              <a:t> </a:t>
            </a:r>
            <a:r>
              <a:rPr sz="2200" spc="-685" dirty="0">
                <a:latin typeface="Cambria Math"/>
                <a:cs typeface="Cambria Math"/>
              </a:rPr>
              <a:t>𝟕</a:t>
            </a:r>
            <a:endParaRPr sz="2200" dirty="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/>
              <a:t>算法实</a:t>
            </a:r>
            <a:r>
              <a:rPr spc="-50"/>
              <a:t>例</a:t>
            </a:r>
          </a:p>
        </p:txBody>
      </p:sp>
      <p:pic>
        <p:nvPicPr>
          <p:cNvPr id="3" name="object 3"/>
          <p:cNvPicPr/>
          <p:nvPr/>
        </p:nvPicPr>
        <p:blipFill>
          <a:blip r:embed="rId2"/>
          <a:stretch>
            <a:fillRect/>
          </a:stretch>
        </p:blipFill>
        <p:spPr>
          <a:xfrm>
            <a:off x="3073145" y="3976878"/>
            <a:ext cx="6321552" cy="25732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05544" y="3524825"/>
            <a:ext cx="445770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685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sz="2200" b="1" spc="-25">
                <a:latin typeface="Times New Roman"/>
                <a:cs typeface="Times New Roman"/>
              </a:rPr>
              <a:t>2/X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93100" y="3524825"/>
            <a:ext cx="445770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985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sz="2200" b="1" spc="-25">
                <a:latin typeface="Times New Roman"/>
                <a:cs typeface="Times New Roman"/>
              </a:rPr>
              <a:t>1/X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17989" y="3524825"/>
            <a:ext cx="445770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9385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sz="2200" b="1" spc="-25">
                <a:latin typeface="Times New Roman"/>
                <a:cs typeface="Times New Roman"/>
              </a:rPr>
              <a:t>4/X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30433" y="3524825"/>
            <a:ext cx="445770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 algn="ctr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185"/>
              </a:spcBef>
            </a:pPr>
            <a:r>
              <a:rPr sz="2200" b="1" spc="-25">
                <a:latin typeface="Times New Roman"/>
                <a:cs typeface="Times New Roman"/>
              </a:rPr>
              <a:t>5/X</a:t>
            </a:r>
            <a:endParaRPr sz="2200">
              <a:latin typeface="Times New Roman"/>
              <a:cs typeface="Times New Roman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74701" y="788581"/>
          <a:ext cx="8316593" cy="25907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𝑉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86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14">
                          <a:latin typeface="Cambria Math"/>
                          <a:cs typeface="Cambria Math"/>
                        </a:rPr>
                        <a:t>𝑐𝑜𝑙𝑜𝑟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692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4267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40">
                          <a:latin typeface="Cambria Math"/>
                          <a:cs typeface="Cambria Math"/>
                        </a:rPr>
                        <a:t>𝑝𝑟𝑒𝑑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8191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25">
                          <a:latin typeface="Cambria Math"/>
                          <a:cs typeface="Cambria Math"/>
                        </a:rPr>
                        <a:t>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8191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9299777" y="820331"/>
            <a:ext cx="118935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110" dirty="0">
                <a:latin typeface="Cambria Math"/>
                <a:cs typeface="Cambria Math"/>
              </a:rPr>
              <a:t>𝑡𝑖𝑚𝑒</a:t>
            </a:r>
            <a:r>
              <a:rPr sz="2200" spc="125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=</a:t>
            </a:r>
            <a:r>
              <a:rPr sz="2200" spc="114" dirty="0">
                <a:latin typeface="Cambria Math"/>
                <a:cs typeface="Cambria Math"/>
              </a:rPr>
              <a:t> </a:t>
            </a:r>
            <a:r>
              <a:rPr sz="2200" spc="-685" dirty="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endParaRPr sz="2200" dirty="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031033" y="3163277"/>
            <a:ext cx="3119120" cy="677545"/>
          </a:xfrm>
          <a:custGeom>
            <a:avLst/>
            <a:gdLst/>
            <a:ahLst/>
            <a:cxnLst/>
            <a:rect l="l" t="t" r="r" b="b"/>
            <a:pathLst>
              <a:path w="3119120" h="677545">
                <a:moveTo>
                  <a:pt x="0" y="0"/>
                </a:moveTo>
                <a:lnTo>
                  <a:pt x="723201" y="211620"/>
                </a:lnTo>
                <a:lnTo>
                  <a:pt x="244030" y="211620"/>
                </a:lnTo>
                <a:lnTo>
                  <a:pt x="244030" y="677202"/>
                </a:lnTo>
                <a:lnTo>
                  <a:pt x="3119056" y="677202"/>
                </a:lnTo>
                <a:lnTo>
                  <a:pt x="3119056" y="211620"/>
                </a:lnTo>
                <a:lnTo>
                  <a:pt x="1441958" y="211620"/>
                </a:lnTo>
                <a:lnTo>
                  <a:pt x="0" y="0"/>
                </a:lnTo>
                <a:close/>
              </a:path>
            </a:pathLst>
          </a:custGeom>
          <a:solidFill>
            <a:srgbClr val="07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930558" y="3398647"/>
            <a:ext cx="156400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>
                <a:solidFill>
                  <a:srgbClr val="FFFFFF"/>
                </a:solidFill>
                <a:latin typeface="PMingLiU"/>
                <a:cs typeface="PMingLiU"/>
              </a:rPr>
              <a:t>结束时刻为</a:t>
            </a:r>
            <a:r>
              <a:rPr sz="2200" b="1" spc="-5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05544" y="5948023"/>
            <a:ext cx="445770" cy="976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00"/>
              </a:lnSpc>
            </a:pPr>
            <a:r>
              <a:rPr sz="2200" b="1" spc="-25">
                <a:latin typeface="Times New Roman"/>
                <a:cs typeface="Times New Roman"/>
              </a:rPr>
              <a:t>3/X</a:t>
            </a:r>
            <a:endParaRPr sz="2200">
              <a:latin typeface="Times New Roman"/>
              <a:cs typeface="Times New Roman"/>
            </a:endParaRPr>
          </a:p>
          <a:p>
            <a:pPr marL="116839">
              <a:lnSpc>
                <a:spcPct val="100000"/>
              </a:lnSpc>
              <a:spcBef>
                <a:spcPts val="1680"/>
              </a:spcBef>
            </a:pPr>
            <a:r>
              <a:rPr sz="2800" b="1"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17989" y="5948023"/>
            <a:ext cx="445770" cy="976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00"/>
              </a:lnSpc>
            </a:pPr>
            <a:r>
              <a:rPr sz="2200" b="1" spc="-25">
                <a:latin typeface="Times New Roman"/>
                <a:cs typeface="Times New Roman"/>
              </a:rPr>
              <a:t>6/X</a:t>
            </a:r>
            <a:endParaRPr sz="2200">
              <a:latin typeface="Times New Roman"/>
              <a:cs typeface="Times New Roman"/>
            </a:endParaRPr>
          </a:p>
          <a:p>
            <a:pPr marL="129539">
              <a:lnSpc>
                <a:spcPct val="100000"/>
              </a:lnSpc>
              <a:spcBef>
                <a:spcPts val="1680"/>
              </a:spcBef>
            </a:pPr>
            <a:r>
              <a:rPr sz="2800" b="1"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60945" y="5948023"/>
            <a:ext cx="383540" cy="976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00"/>
              </a:lnSpc>
            </a:pPr>
            <a:r>
              <a:rPr sz="2200" b="1" spc="-25">
                <a:solidFill>
                  <a:srgbClr val="FFFFFF"/>
                </a:solidFill>
                <a:latin typeface="Times New Roman"/>
                <a:cs typeface="Times New Roman"/>
              </a:rPr>
              <a:t>7/8</a:t>
            </a:r>
            <a:endParaRPr sz="2200">
              <a:latin typeface="Times New Roman"/>
              <a:cs typeface="Times New Roman"/>
            </a:endParaRPr>
          </a:p>
          <a:p>
            <a:pPr marL="111760">
              <a:lnSpc>
                <a:spcPct val="100000"/>
              </a:lnSpc>
              <a:spcBef>
                <a:spcPts val="1680"/>
              </a:spcBef>
            </a:pPr>
            <a:r>
              <a:rPr sz="2800" b="1"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84879" y="6505153"/>
            <a:ext cx="203835" cy="419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55"/>
              </a:lnSpc>
            </a:pPr>
            <a:r>
              <a:rPr sz="2800" b="1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/>
              <a:t>算法实</a:t>
            </a:r>
            <a:r>
              <a:rPr spc="-50"/>
              <a:t>例</a:t>
            </a:r>
          </a:p>
        </p:txBody>
      </p:sp>
      <p:pic>
        <p:nvPicPr>
          <p:cNvPr id="3" name="object 3"/>
          <p:cNvPicPr/>
          <p:nvPr/>
        </p:nvPicPr>
        <p:blipFill>
          <a:blip r:embed="rId2"/>
          <a:stretch>
            <a:fillRect/>
          </a:stretch>
        </p:blipFill>
        <p:spPr>
          <a:xfrm>
            <a:off x="3073145" y="3976878"/>
            <a:ext cx="6321552" cy="25732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05544" y="3524825"/>
            <a:ext cx="445770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685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sz="2200" b="1" spc="-25">
                <a:latin typeface="Times New Roman"/>
                <a:cs typeface="Times New Roman"/>
              </a:rPr>
              <a:t>2/X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05544" y="5948023"/>
            <a:ext cx="445770" cy="976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00"/>
              </a:lnSpc>
            </a:pPr>
            <a:r>
              <a:rPr sz="2200" b="1" spc="-25">
                <a:latin typeface="Times New Roman"/>
                <a:cs typeface="Times New Roman"/>
              </a:rPr>
              <a:t>3/X</a:t>
            </a:r>
            <a:endParaRPr sz="2200">
              <a:latin typeface="Times New Roman"/>
              <a:cs typeface="Times New Roman"/>
            </a:endParaRPr>
          </a:p>
          <a:p>
            <a:pPr marL="116839">
              <a:lnSpc>
                <a:spcPct val="100000"/>
              </a:lnSpc>
              <a:spcBef>
                <a:spcPts val="1680"/>
              </a:spcBef>
            </a:pPr>
            <a:r>
              <a:rPr sz="2800" b="1"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48499" y="5948023"/>
            <a:ext cx="383540" cy="976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00"/>
              </a:lnSpc>
            </a:pPr>
            <a:r>
              <a:rPr sz="2200" b="1" spc="-25">
                <a:solidFill>
                  <a:srgbClr val="FFFFFF"/>
                </a:solidFill>
                <a:latin typeface="Times New Roman"/>
                <a:cs typeface="Times New Roman"/>
              </a:rPr>
              <a:t>6/9</a:t>
            </a:r>
            <a:endParaRPr sz="2200">
              <a:latin typeface="Times New Roman"/>
              <a:cs typeface="Times New Roman"/>
            </a:endParaRPr>
          </a:p>
          <a:p>
            <a:pPr marL="99060">
              <a:lnSpc>
                <a:spcPct val="100000"/>
              </a:lnSpc>
              <a:spcBef>
                <a:spcPts val="1680"/>
              </a:spcBef>
            </a:pPr>
            <a:r>
              <a:rPr sz="2800" b="1"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60945" y="5948023"/>
            <a:ext cx="383540" cy="976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00"/>
              </a:lnSpc>
            </a:pPr>
            <a:r>
              <a:rPr sz="2200" b="1" spc="-25">
                <a:solidFill>
                  <a:srgbClr val="FFFFFF"/>
                </a:solidFill>
                <a:latin typeface="Times New Roman"/>
                <a:cs typeface="Times New Roman"/>
              </a:rPr>
              <a:t>7/8</a:t>
            </a:r>
            <a:endParaRPr sz="2200">
              <a:latin typeface="Times New Roman"/>
              <a:cs typeface="Times New Roman"/>
            </a:endParaRPr>
          </a:p>
          <a:p>
            <a:pPr marL="111760">
              <a:lnSpc>
                <a:spcPct val="100000"/>
              </a:lnSpc>
              <a:spcBef>
                <a:spcPts val="1680"/>
              </a:spcBef>
            </a:pPr>
            <a:r>
              <a:rPr sz="2800" b="1"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84879" y="6505153"/>
            <a:ext cx="203835" cy="419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55"/>
              </a:lnSpc>
            </a:pPr>
            <a:r>
              <a:rPr sz="2800" b="1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93100" y="3524825"/>
            <a:ext cx="445770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985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sz="2200" b="1" spc="-25">
                <a:latin typeface="Times New Roman"/>
                <a:cs typeface="Times New Roman"/>
              </a:rPr>
              <a:t>1/X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17989" y="3524825"/>
            <a:ext cx="445770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9385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sz="2200" b="1" spc="-25">
                <a:latin typeface="Times New Roman"/>
                <a:cs typeface="Times New Roman"/>
              </a:rPr>
              <a:t>4/X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30433" y="3524825"/>
            <a:ext cx="445770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 algn="ctr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185"/>
              </a:spcBef>
            </a:pPr>
            <a:r>
              <a:rPr sz="2200" b="1" spc="-25">
                <a:latin typeface="Times New Roman"/>
                <a:cs typeface="Times New Roman"/>
              </a:rPr>
              <a:t>5/X</a:t>
            </a:r>
            <a:endParaRPr sz="2200">
              <a:latin typeface="Times New Roman"/>
              <a:cs typeface="Times New Roman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74701" y="788581"/>
          <a:ext cx="8316593" cy="25907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𝑉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86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14">
                          <a:latin typeface="Cambria Math"/>
                          <a:cs typeface="Cambria Math"/>
                        </a:rPr>
                        <a:t>𝑐𝑜𝑙𝑜𝑟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692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4267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40">
                          <a:latin typeface="Cambria Math"/>
                          <a:cs typeface="Cambria Math"/>
                        </a:rPr>
                        <a:t>𝑝𝑟𝑒𝑑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8191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25">
                          <a:latin typeface="Cambria Math"/>
                          <a:cs typeface="Cambria Math"/>
                        </a:rPr>
                        <a:t>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8191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9299777" y="820331"/>
            <a:ext cx="118935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110" dirty="0">
                <a:latin typeface="Cambria Math"/>
                <a:cs typeface="Cambria Math"/>
              </a:rPr>
              <a:t>𝑡𝑖𝑚𝑒</a:t>
            </a:r>
            <a:r>
              <a:rPr sz="2200" spc="125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=</a:t>
            </a:r>
            <a:r>
              <a:rPr sz="2200" spc="114" dirty="0">
                <a:latin typeface="Cambria Math"/>
                <a:cs typeface="Cambria Math"/>
              </a:rPr>
              <a:t> </a:t>
            </a:r>
            <a:r>
              <a:rPr sz="2200" spc="-685" dirty="0">
                <a:latin typeface="Cambria Math"/>
                <a:cs typeface="Cambria Math"/>
              </a:rPr>
              <a:t>𝟗</a:t>
            </a:r>
            <a:endParaRPr sz="2200" dirty="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/>
              <a:t>算法实</a:t>
            </a:r>
            <a:r>
              <a:rPr spc="-50"/>
              <a:t>例</a:t>
            </a:r>
          </a:p>
        </p:txBody>
      </p:sp>
      <p:pic>
        <p:nvPicPr>
          <p:cNvPr id="3" name="object 3"/>
          <p:cNvPicPr/>
          <p:nvPr/>
        </p:nvPicPr>
        <p:blipFill>
          <a:blip r:embed="rId2"/>
          <a:stretch>
            <a:fillRect/>
          </a:stretch>
        </p:blipFill>
        <p:spPr>
          <a:xfrm>
            <a:off x="3073145" y="3976878"/>
            <a:ext cx="6321552" cy="25732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05544" y="3524825"/>
            <a:ext cx="445770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685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sz="2200" b="1" spc="-25">
                <a:latin typeface="Times New Roman"/>
                <a:cs typeface="Times New Roman"/>
              </a:rPr>
              <a:t>2/X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05544" y="5948023"/>
            <a:ext cx="445770" cy="976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00"/>
              </a:lnSpc>
            </a:pPr>
            <a:r>
              <a:rPr sz="2200" b="1" spc="-25">
                <a:latin typeface="Times New Roman"/>
                <a:cs typeface="Times New Roman"/>
              </a:rPr>
              <a:t>3/X</a:t>
            </a:r>
            <a:endParaRPr sz="2200">
              <a:latin typeface="Times New Roman"/>
              <a:cs typeface="Times New Roman"/>
            </a:endParaRPr>
          </a:p>
          <a:p>
            <a:pPr marL="116839">
              <a:lnSpc>
                <a:spcPct val="100000"/>
              </a:lnSpc>
              <a:spcBef>
                <a:spcPts val="1680"/>
              </a:spcBef>
            </a:pPr>
            <a:r>
              <a:rPr sz="2800" b="1"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48499" y="5948023"/>
            <a:ext cx="383540" cy="976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00"/>
              </a:lnSpc>
            </a:pPr>
            <a:r>
              <a:rPr sz="2200" b="1" spc="-25">
                <a:solidFill>
                  <a:srgbClr val="FFFFFF"/>
                </a:solidFill>
                <a:latin typeface="Times New Roman"/>
                <a:cs typeface="Times New Roman"/>
              </a:rPr>
              <a:t>6/9</a:t>
            </a:r>
            <a:endParaRPr sz="2200">
              <a:latin typeface="Times New Roman"/>
              <a:cs typeface="Times New Roman"/>
            </a:endParaRPr>
          </a:p>
          <a:p>
            <a:pPr marL="99060">
              <a:lnSpc>
                <a:spcPct val="100000"/>
              </a:lnSpc>
              <a:spcBef>
                <a:spcPts val="1680"/>
              </a:spcBef>
            </a:pPr>
            <a:r>
              <a:rPr sz="2800" b="1"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60945" y="5948023"/>
            <a:ext cx="383540" cy="976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00"/>
              </a:lnSpc>
            </a:pPr>
            <a:r>
              <a:rPr sz="2200" b="1" spc="-25">
                <a:solidFill>
                  <a:srgbClr val="FFFFFF"/>
                </a:solidFill>
                <a:latin typeface="Times New Roman"/>
                <a:cs typeface="Times New Roman"/>
              </a:rPr>
              <a:t>7/8</a:t>
            </a:r>
            <a:endParaRPr sz="2200">
              <a:latin typeface="Times New Roman"/>
              <a:cs typeface="Times New Roman"/>
            </a:endParaRPr>
          </a:p>
          <a:p>
            <a:pPr marL="111760">
              <a:lnSpc>
                <a:spcPct val="100000"/>
              </a:lnSpc>
              <a:spcBef>
                <a:spcPts val="1680"/>
              </a:spcBef>
            </a:pPr>
            <a:r>
              <a:rPr sz="2800" b="1"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84879" y="6505153"/>
            <a:ext cx="203835" cy="419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55"/>
              </a:lnSpc>
            </a:pPr>
            <a:r>
              <a:rPr sz="2800" b="1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93100" y="3524825"/>
            <a:ext cx="445770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985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sz="2200" b="1" spc="-25">
                <a:latin typeface="Times New Roman"/>
                <a:cs typeface="Times New Roman"/>
              </a:rPr>
              <a:t>1/X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17989" y="3524825"/>
            <a:ext cx="445770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9385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sz="2200" b="1" spc="-25">
                <a:latin typeface="Times New Roman"/>
                <a:cs typeface="Times New Roman"/>
              </a:rPr>
              <a:t>4/X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90840" y="3524825"/>
            <a:ext cx="523875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1454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sz="2200" b="1" spc="-20">
                <a:solidFill>
                  <a:srgbClr val="FFFFFF"/>
                </a:solidFill>
                <a:latin typeface="Times New Roman"/>
                <a:cs typeface="Times New Roman"/>
              </a:rPr>
              <a:t>5/10</a:t>
            </a:r>
            <a:endParaRPr sz="2200">
              <a:latin typeface="Times New Roman"/>
              <a:cs typeface="Times New Roman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74701" y="788581"/>
          <a:ext cx="8316593" cy="25907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𝑉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86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14">
                          <a:latin typeface="Cambria Math"/>
                          <a:cs typeface="Cambria Math"/>
                        </a:rPr>
                        <a:t>𝑐𝑜𝑙𝑜𝑟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692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4267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40">
                          <a:latin typeface="Cambria Math"/>
                          <a:cs typeface="Cambria Math"/>
                        </a:rPr>
                        <a:t>𝑝𝑟𝑒𝑑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8191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25">
                          <a:latin typeface="Cambria Math"/>
                          <a:cs typeface="Cambria Math"/>
                        </a:rPr>
                        <a:t>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8191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-25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9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9300540" y="820331"/>
            <a:ext cx="135699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110" dirty="0">
                <a:latin typeface="Cambria Math"/>
                <a:cs typeface="Cambria Math"/>
              </a:rPr>
              <a:t>𝑡𝑖𝑚𝑒</a:t>
            </a:r>
            <a:r>
              <a:rPr sz="2200" spc="125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=</a:t>
            </a:r>
            <a:r>
              <a:rPr sz="2200" spc="125" dirty="0">
                <a:latin typeface="Cambria Math"/>
                <a:cs typeface="Cambria Math"/>
              </a:rPr>
              <a:t> </a:t>
            </a:r>
            <a:r>
              <a:rPr sz="2200" spc="-434" dirty="0">
                <a:latin typeface="Cambria Math"/>
                <a:cs typeface="Cambria Math"/>
              </a:rPr>
              <a:t>1𝟎</a:t>
            </a:r>
            <a:endParaRPr sz="2200" dirty="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/>
              <a:t>算法实</a:t>
            </a:r>
            <a:r>
              <a:rPr spc="-50"/>
              <a:t>例</a:t>
            </a:r>
          </a:p>
        </p:txBody>
      </p:sp>
      <p:pic>
        <p:nvPicPr>
          <p:cNvPr id="3" name="object 3"/>
          <p:cNvPicPr/>
          <p:nvPr/>
        </p:nvPicPr>
        <p:blipFill>
          <a:blip r:embed="rId2"/>
          <a:stretch>
            <a:fillRect/>
          </a:stretch>
        </p:blipFill>
        <p:spPr>
          <a:xfrm>
            <a:off x="3073145" y="3976878"/>
            <a:ext cx="6321552" cy="25732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05544" y="3524825"/>
            <a:ext cx="445770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685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sz="2200" b="1" spc="-25">
                <a:latin typeface="Times New Roman"/>
                <a:cs typeface="Times New Roman"/>
              </a:rPr>
              <a:t>2/X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05544" y="5948023"/>
            <a:ext cx="445770" cy="976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00"/>
              </a:lnSpc>
            </a:pPr>
            <a:r>
              <a:rPr sz="2200" b="1" spc="-25">
                <a:latin typeface="Times New Roman"/>
                <a:cs typeface="Times New Roman"/>
              </a:rPr>
              <a:t>3/X</a:t>
            </a:r>
            <a:endParaRPr sz="2200">
              <a:latin typeface="Times New Roman"/>
              <a:cs typeface="Times New Roman"/>
            </a:endParaRPr>
          </a:p>
          <a:p>
            <a:pPr marL="116839">
              <a:lnSpc>
                <a:spcPct val="100000"/>
              </a:lnSpc>
              <a:spcBef>
                <a:spcPts val="1680"/>
              </a:spcBef>
            </a:pPr>
            <a:r>
              <a:rPr sz="2800" b="1"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48499" y="5948023"/>
            <a:ext cx="383540" cy="976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00"/>
              </a:lnSpc>
            </a:pPr>
            <a:r>
              <a:rPr sz="2200" b="1" spc="-25">
                <a:solidFill>
                  <a:srgbClr val="FFFFFF"/>
                </a:solidFill>
                <a:latin typeface="Times New Roman"/>
                <a:cs typeface="Times New Roman"/>
              </a:rPr>
              <a:t>6/9</a:t>
            </a:r>
            <a:endParaRPr sz="2200">
              <a:latin typeface="Times New Roman"/>
              <a:cs typeface="Times New Roman"/>
            </a:endParaRPr>
          </a:p>
          <a:p>
            <a:pPr marL="99060">
              <a:lnSpc>
                <a:spcPct val="100000"/>
              </a:lnSpc>
              <a:spcBef>
                <a:spcPts val="1680"/>
              </a:spcBef>
            </a:pPr>
            <a:r>
              <a:rPr sz="2800" b="1"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60945" y="5948023"/>
            <a:ext cx="383540" cy="976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00"/>
              </a:lnSpc>
            </a:pPr>
            <a:r>
              <a:rPr sz="2200" b="1" spc="-25">
                <a:solidFill>
                  <a:srgbClr val="FFFFFF"/>
                </a:solidFill>
                <a:latin typeface="Times New Roman"/>
                <a:cs typeface="Times New Roman"/>
              </a:rPr>
              <a:t>7/8</a:t>
            </a:r>
            <a:endParaRPr sz="2200">
              <a:latin typeface="Times New Roman"/>
              <a:cs typeface="Times New Roman"/>
            </a:endParaRPr>
          </a:p>
          <a:p>
            <a:pPr marL="111760">
              <a:lnSpc>
                <a:spcPct val="100000"/>
              </a:lnSpc>
              <a:spcBef>
                <a:spcPts val="1680"/>
              </a:spcBef>
            </a:pPr>
            <a:r>
              <a:rPr sz="2800" b="1"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84879" y="6505153"/>
            <a:ext cx="203835" cy="419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55"/>
              </a:lnSpc>
            </a:pPr>
            <a:r>
              <a:rPr sz="2800" b="1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93100" y="3524825"/>
            <a:ext cx="445770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985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sz="2200" b="1" spc="-25">
                <a:latin typeface="Times New Roman"/>
                <a:cs typeface="Times New Roman"/>
              </a:rPr>
              <a:t>1/X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85985" y="3524825"/>
            <a:ext cx="495934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405" algn="ctr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185"/>
              </a:spcBef>
            </a:pPr>
            <a:r>
              <a:rPr sz="2200" b="1" spc="-25">
                <a:solidFill>
                  <a:srgbClr val="FFFFFF"/>
                </a:solidFill>
                <a:latin typeface="Times New Roman"/>
                <a:cs typeface="Times New Roman"/>
              </a:rPr>
              <a:t>4/11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90840" y="3524825"/>
            <a:ext cx="523875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1454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sz="2200" b="1" spc="-20">
                <a:solidFill>
                  <a:srgbClr val="FFFFFF"/>
                </a:solidFill>
                <a:latin typeface="Times New Roman"/>
                <a:cs typeface="Times New Roman"/>
              </a:rPr>
              <a:t>5/10</a:t>
            </a:r>
            <a:endParaRPr sz="2200">
              <a:latin typeface="Times New Roman"/>
              <a:cs typeface="Times New Roman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74701" y="788581"/>
          <a:ext cx="8316593" cy="25907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𝑉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86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14">
                          <a:latin typeface="Cambria Math"/>
                          <a:cs typeface="Cambria Math"/>
                        </a:rPr>
                        <a:t>𝑐𝑜𝑙𝑜𝑟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692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4267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40">
                          <a:latin typeface="Cambria Math"/>
                          <a:cs typeface="Cambria Math"/>
                        </a:rPr>
                        <a:t>𝑝𝑟𝑒𝑑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8191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25">
                          <a:latin typeface="Cambria Math"/>
                          <a:cs typeface="Cambria Math"/>
                        </a:rPr>
                        <a:t>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8191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152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-25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9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9300540" y="820331"/>
            <a:ext cx="13563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110">
                <a:latin typeface="Cambria Math"/>
                <a:cs typeface="Cambria Math"/>
              </a:rPr>
              <a:t>𝑡𝑖𝑚𝑒</a:t>
            </a:r>
            <a:r>
              <a:rPr sz="2200" spc="1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25">
                <a:latin typeface="Cambria Math"/>
                <a:cs typeface="Cambria Math"/>
              </a:rPr>
              <a:t> </a:t>
            </a:r>
            <a:r>
              <a:rPr sz="2200" spc="65">
                <a:latin typeface="Cambria Math"/>
                <a:cs typeface="Cambria Math"/>
              </a:rPr>
              <a:t>11</a:t>
            </a:r>
            <a:endParaRPr sz="22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/>
              <a:t>算法实</a:t>
            </a:r>
            <a:r>
              <a:rPr spc="-50"/>
              <a:t>例</a:t>
            </a:r>
          </a:p>
        </p:txBody>
      </p:sp>
      <p:pic>
        <p:nvPicPr>
          <p:cNvPr id="3" name="object 3"/>
          <p:cNvPicPr/>
          <p:nvPr/>
        </p:nvPicPr>
        <p:blipFill>
          <a:blip r:embed="rId2"/>
          <a:stretch>
            <a:fillRect/>
          </a:stretch>
        </p:blipFill>
        <p:spPr>
          <a:xfrm>
            <a:off x="3073145" y="3976878"/>
            <a:ext cx="6321552" cy="25732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05544" y="3524825"/>
            <a:ext cx="445770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685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sz="2200" b="1" spc="-25">
                <a:latin typeface="Times New Roman"/>
                <a:cs typeface="Times New Roman"/>
              </a:rPr>
              <a:t>2/X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65952" y="5948023"/>
            <a:ext cx="523875" cy="976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00"/>
              </a:lnSpc>
            </a:pPr>
            <a:r>
              <a:rPr sz="2200" b="1" spc="-20">
                <a:solidFill>
                  <a:srgbClr val="FFFFFF"/>
                </a:solidFill>
                <a:latin typeface="Times New Roman"/>
                <a:cs typeface="Times New Roman"/>
              </a:rPr>
              <a:t>3/12</a:t>
            </a:r>
            <a:endParaRPr sz="2200">
              <a:latin typeface="Times New Roman"/>
              <a:cs typeface="Times New Roman"/>
            </a:endParaRPr>
          </a:p>
          <a:p>
            <a:pPr marL="156210">
              <a:lnSpc>
                <a:spcPct val="100000"/>
              </a:lnSpc>
              <a:spcBef>
                <a:spcPts val="1680"/>
              </a:spcBef>
            </a:pPr>
            <a:r>
              <a:rPr sz="2800" b="1"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48499" y="5948023"/>
            <a:ext cx="383540" cy="976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00"/>
              </a:lnSpc>
            </a:pPr>
            <a:r>
              <a:rPr sz="2200" b="1" spc="-25">
                <a:solidFill>
                  <a:srgbClr val="FFFFFF"/>
                </a:solidFill>
                <a:latin typeface="Times New Roman"/>
                <a:cs typeface="Times New Roman"/>
              </a:rPr>
              <a:t>6/9</a:t>
            </a:r>
            <a:endParaRPr sz="2200">
              <a:latin typeface="Times New Roman"/>
              <a:cs typeface="Times New Roman"/>
            </a:endParaRPr>
          </a:p>
          <a:p>
            <a:pPr marL="99060">
              <a:lnSpc>
                <a:spcPct val="100000"/>
              </a:lnSpc>
              <a:spcBef>
                <a:spcPts val="1680"/>
              </a:spcBef>
            </a:pPr>
            <a:r>
              <a:rPr sz="2800" b="1"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60945" y="5948023"/>
            <a:ext cx="383540" cy="976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00"/>
              </a:lnSpc>
            </a:pPr>
            <a:r>
              <a:rPr sz="2200" b="1" spc="-25">
                <a:solidFill>
                  <a:srgbClr val="FFFFFF"/>
                </a:solidFill>
                <a:latin typeface="Times New Roman"/>
                <a:cs typeface="Times New Roman"/>
              </a:rPr>
              <a:t>7/8</a:t>
            </a:r>
            <a:endParaRPr sz="2200">
              <a:latin typeface="Times New Roman"/>
              <a:cs typeface="Times New Roman"/>
            </a:endParaRPr>
          </a:p>
          <a:p>
            <a:pPr marL="111760">
              <a:lnSpc>
                <a:spcPct val="100000"/>
              </a:lnSpc>
              <a:spcBef>
                <a:spcPts val="1680"/>
              </a:spcBef>
            </a:pPr>
            <a:r>
              <a:rPr sz="2800" b="1"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84879" y="6505153"/>
            <a:ext cx="203835" cy="419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55"/>
              </a:lnSpc>
            </a:pPr>
            <a:r>
              <a:rPr sz="2800" b="1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93100" y="3524825"/>
            <a:ext cx="445770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985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sz="2200" b="1" spc="-25">
                <a:latin typeface="Times New Roman"/>
                <a:cs typeface="Times New Roman"/>
              </a:rPr>
              <a:t>1/X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85985" y="3524825"/>
            <a:ext cx="495934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405" algn="ctr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185"/>
              </a:spcBef>
            </a:pPr>
            <a:r>
              <a:rPr sz="2200" b="1" spc="-25">
                <a:solidFill>
                  <a:srgbClr val="FFFFFF"/>
                </a:solidFill>
                <a:latin typeface="Times New Roman"/>
                <a:cs typeface="Times New Roman"/>
              </a:rPr>
              <a:t>4/11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90840" y="3524825"/>
            <a:ext cx="523875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1454">
              <a:lnSpc>
                <a:spcPct val="100000"/>
              </a:lnSpc>
              <a:spcBef>
                <a:spcPts val="100"/>
              </a:spcBef>
            </a:pPr>
            <a:r>
              <a:rPr sz="2800" b="1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sz="2200" b="1" spc="-20">
                <a:solidFill>
                  <a:srgbClr val="FFFFFF"/>
                </a:solidFill>
                <a:latin typeface="Times New Roman"/>
                <a:cs typeface="Times New Roman"/>
              </a:rPr>
              <a:t>5/10</a:t>
            </a:r>
            <a:endParaRPr sz="2200">
              <a:latin typeface="Times New Roman"/>
              <a:cs typeface="Times New Roman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74701" y="788581"/>
          <a:ext cx="8316593" cy="25907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𝑉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86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14">
                          <a:latin typeface="Cambria Math"/>
                          <a:cs typeface="Cambria Math"/>
                        </a:rPr>
                        <a:t>𝑐𝑜𝑙𝑜𝑟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692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4267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40">
                          <a:latin typeface="Cambria Math"/>
                          <a:cs typeface="Cambria Math"/>
                        </a:rPr>
                        <a:t>𝑝𝑟𝑒𝑑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8191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25">
                          <a:latin typeface="Cambria Math"/>
                          <a:cs typeface="Cambria Math"/>
                        </a:rPr>
                        <a:t>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8191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152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-25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9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9300540" y="820331"/>
            <a:ext cx="135699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110" dirty="0">
                <a:latin typeface="Cambria Math"/>
                <a:cs typeface="Cambria Math"/>
              </a:rPr>
              <a:t>𝑡𝑖𝑚𝑒</a:t>
            </a:r>
            <a:r>
              <a:rPr sz="2200" spc="125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=</a:t>
            </a:r>
            <a:r>
              <a:rPr sz="2200" spc="125" dirty="0">
                <a:latin typeface="Cambria Math"/>
                <a:cs typeface="Cambria Math"/>
              </a:rPr>
              <a:t> </a:t>
            </a:r>
            <a:r>
              <a:rPr sz="2200" spc="-434" dirty="0">
                <a:latin typeface="Cambria Math"/>
                <a:cs typeface="Cambria Math"/>
              </a:rPr>
              <a:t>1𝟐</a:t>
            </a:r>
            <a:endParaRPr sz="2200" dirty="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/>
              <a:t>算法实</a:t>
            </a:r>
            <a:r>
              <a:rPr spc="-50"/>
              <a:t>例</a:t>
            </a:r>
          </a:p>
        </p:txBody>
      </p:sp>
      <p:pic>
        <p:nvPicPr>
          <p:cNvPr id="3" name="object 3"/>
          <p:cNvPicPr/>
          <p:nvPr/>
        </p:nvPicPr>
        <p:blipFill>
          <a:blip r:embed="rId2"/>
          <a:stretch>
            <a:fillRect/>
          </a:stretch>
        </p:blipFill>
        <p:spPr>
          <a:xfrm>
            <a:off x="3073145" y="3976878"/>
            <a:ext cx="6321552" cy="257327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274050" y="3576273"/>
          <a:ext cx="5960110" cy="1005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8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5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4830">
                <a:tc>
                  <a:txBody>
                    <a:bodyPr/>
                    <a:lstStyle/>
                    <a:p>
                      <a:pPr marR="636270" algn="ctr">
                        <a:lnSpc>
                          <a:spcPts val="3055"/>
                        </a:lnSpc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ts val="3055"/>
                        </a:lnSpc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690" algn="ctr">
                        <a:lnSpc>
                          <a:spcPts val="3055"/>
                        </a:lnSpc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4780" algn="r">
                        <a:lnSpc>
                          <a:spcPts val="3055"/>
                        </a:lnSpc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R="636905" algn="ctr">
                        <a:lnSpc>
                          <a:spcPts val="2575"/>
                        </a:lnSpc>
                        <a:spcBef>
                          <a:spcPts val="95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1/X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20650" marB="0"/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2575"/>
                        </a:lnSpc>
                        <a:spcBef>
                          <a:spcPts val="950"/>
                        </a:spcBef>
                      </a:pPr>
                      <a:r>
                        <a:rPr sz="2200" b="1" spc="-2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2/13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2065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5"/>
                        </a:lnSpc>
                        <a:spcBef>
                          <a:spcPts val="950"/>
                        </a:spcBef>
                      </a:pPr>
                      <a:r>
                        <a:rPr sz="2200" b="1" spc="-2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4/11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20650" marB="0"/>
                </a:tc>
                <a:tc>
                  <a:txBody>
                    <a:bodyPr/>
                    <a:lstStyle/>
                    <a:p>
                      <a:pPr marL="668020">
                        <a:lnSpc>
                          <a:spcPts val="2575"/>
                        </a:lnSpc>
                        <a:spcBef>
                          <a:spcPts val="950"/>
                        </a:spcBef>
                      </a:pPr>
                      <a:r>
                        <a:rPr sz="2200" b="1" spc="-2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5/10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2065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5065952" y="5948023"/>
            <a:ext cx="523875" cy="976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00"/>
              </a:lnSpc>
            </a:pPr>
            <a:r>
              <a:rPr sz="2200" b="1" spc="-20">
                <a:solidFill>
                  <a:srgbClr val="FFFFFF"/>
                </a:solidFill>
                <a:latin typeface="Times New Roman"/>
                <a:cs typeface="Times New Roman"/>
              </a:rPr>
              <a:t>3/12</a:t>
            </a:r>
            <a:endParaRPr sz="2200">
              <a:latin typeface="Times New Roman"/>
              <a:cs typeface="Times New Roman"/>
            </a:endParaRPr>
          </a:p>
          <a:p>
            <a:pPr marL="156210">
              <a:lnSpc>
                <a:spcPct val="100000"/>
              </a:lnSpc>
              <a:spcBef>
                <a:spcPts val="1680"/>
              </a:spcBef>
            </a:pPr>
            <a:r>
              <a:rPr sz="2800" b="1"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48499" y="5948023"/>
            <a:ext cx="383540" cy="976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00"/>
              </a:lnSpc>
            </a:pPr>
            <a:r>
              <a:rPr sz="2200" b="1" spc="-25">
                <a:solidFill>
                  <a:srgbClr val="FFFFFF"/>
                </a:solidFill>
                <a:latin typeface="Times New Roman"/>
                <a:cs typeface="Times New Roman"/>
              </a:rPr>
              <a:t>6/9</a:t>
            </a:r>
            <a:endParaRPr sz="2200">
              <a:latin typeface="Times New Roman"/>
              <a:cs typeface="Times New Roman"/>
            </a:endParaRPr>
          </a:p>
          <a:p>
            <a:pPr marL="99060">
              <a:lnSpc>
                <a:spcPct val="100000"/>
              </a:lnSpc>
              <a:spcBef>
                <a:spcPts val="1680"/>
              </a:spcBef>
            </a:pPr>
            <a:r>
              <a:rPr sz="2800" b="1"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60945" y="5948023"/>
            <a:ext cx="383540" cy="976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00"/>
              </a:lnSpc>
            </a:pPr>
            <a:r>
              <a:rPr sz="2200" b="1" spc="-25">
                <a:solidFill>
                  <a:srgbClr val="FFFFFF"/>
                </a:solidFill>
                <a:latin typeface="Times New Roman"/>
                <a:cs typeface="Times New Roman"/>
              </a:rPr>
              <a:t>7/8</a:t>
            </a:r>
            <a:endParaRPr sz="2200">
              <a:latin typeface="Times New Roman"/>
              <a:cs typeface="Times New Roman"/>
            </a:endParaRPr>
          </a:p>
          <a:p>
            <a:pPr marL="111760">
              <a:lnSpc>
                <a:spcPct val="100000"/>
              </a:lnSpc>
              <a:spcBef>
                <a:spcPts val="1680"/>
              </a:spcBef>
            </a:pPr>
            <a:r>
              <a:rPr sz="2800" b="1"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84879" y="6505153"/>
            <a:ext cx="203835" cy="419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55"/>
              </a:lnSpc>
            </a:pPr>
            <a:r>
              <a:rPr sz="2800" b="1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74701" y="788581"/>
          <a:ext cx="8316593" cy="25907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𝑉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86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14">
                          <a:latin typeface="Cambria Math"/>
                          <a:cs typeface="Cambria Math"/>
                        </a:rPr>
                        <a:t>𝑐𝑜𝑙𝑜𝑟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692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W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4267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40">
                          <a:latin typeface="Cambria Math"/>
                          <a:cs typeface="Cambria Math"/>
                        </a:rPr>
                        <a:t>𝑝𝑟𝑒𝑑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8191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25">
                          <a:latin typeface="Cambria Math"/>
                          <a:cs typeface="Cambria Math"/>
                        </a:rPr>
                        <a:t>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8191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-25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152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-25">
                          <a:latin typeface="Times New Roman"/>
                          <a:cs typeface="Times New Roman"/>
                        </a:rPr>
                        <a:t>12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9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9300540" y="820331"/>
            <a:ext cx="135699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110" dirty="0">
                <a:latin typeface="Cambria Math"/>
                <a:cs typeface="Cambria Math"/>
              </a:rPr>
              <a:t>𝑡𝑖𝑚𝑒</a:t>
            </a:r>
            <a:r>
              <a:rPr sz="2200" spc="125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=</a:t>
            </a:r>
            <a:r>
              <a:rPr sz="2200" spc="125" dirty="0">
                <a:latin typeface="Cambria Math"/>
                <a:cs typeface="Cambria Math"/>
              </a:rPr>
              <a:t> </a:t>
            </a:r>
            <a:r>
              <a:rPr sz="2200" spc="-434" dirty="0">
                <a:latin typeface="Cambria Math"/>
                <a:cs typeface="Cambria Math"/>
              </a:rPr>
              <a:t>1𝟑</a:t>
            </a:r>
            <a:endParaRPr sz="2200" dirty="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/>
              <a:t>算法实</a:t>
            </a:r>
            <a:r>
              <a:rPr spc="-50"/>
              <a:t>例</a:t>
            </a:r>
          </a:p>
        </p:txBody>
      </p:sp>
      <p:pic>
        <p:nvPicPr>
          <p:cNvPr id="3" name="object 3"/>
          <p:cNvPicPr/>
          <p:nvPr/>
        </p:nvPicPr>
        <p:blipFill>
          <a:blip r:embed="rId2"/>
          <a:stretch>
            <a:fillRect/>
          </a:stretch>
        </p:blipFill>
        <p:spPr>
          <a:xfrm>
            <a:off x="3073145" y="3976878"/>
            <a:ext cx="6321552" cy="257327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274050" y="3576273"/>
          <a:ext cx="5960110" cy="1005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8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5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4830">
                <a:tc>
                  <a:txBody>
                    <a:bodyPr/>
                    <a:lstStyle/>
                    <a:p>
                      <a:pPr marR="636270" algn="ctr">
                        <a:lnSpc>
                          <a:spcPts val="3055"/>
                        </a:lnSpc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ts val="3055"/>
                        </a:lnSpc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690" algn="ctr">
                        <a:lnSpc>
                          <a:spcPts val="3055"/>
                        </a:lnSpc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4780" algn="r">
                        <a:lnSpc>
                          <a:spcPts val="3055"/>
                        </a:lnSpc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R="636905" algn="ctr">
                        <a:lnSpc>
                          <a:spcPts val="2575"/>
                        </a:lnSpc>
                        <a:spcBef>
                          <a:spcPts val="95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1/X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20650" marB="0"/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2575"/>
                        </a:lnSpc>
                        <a:spcBef>
                          <a:spcPts val="950"/>
                        </a:spcBef>
                      </a:pPr>
                      <a:r>
                        <a:rPr sz="2200" b="1" spc="-2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2/13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2065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5"/>
                        </a:lnSpc>
                        <a:spcBef>
                          <a:spcPts val="950"/>
                        </a:spcBef>
                      </a:pPr>
                      <a:r>
                        <a:rPr sz="2200" b="1" spc="-2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4/11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20650" marB="0"/>
                </a:tc>
                <a:tc>
                  <a:txBody>
                    <a:bodyPr/>
                    <a:lstStyle/>
                    <a:p>
                      <a:pPr marL="668020">
                        <a:lnSpc>
                          <a:spcPts val="2575"/>
                        </a:lnSpc>
                        <a:spcBef>
                          <a:spcPts val="950"/>
                        </a:spcBef>
                      </a:pPr>
                      <a:r>
                        <a:rPr sz="2200" b="1" spc="-2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5/10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2065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3222997" y="5948023"/>
            <a:ext cx="585470" cy="976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500"/>
              </a:lnSpc>
            </a:pPr>
            <a:r>
              <a:rPr sz="2200" b="1" spc="-20">
                <a:latin typeface="Times New Roman"/>
                <a:cs typeface="Times New Roman"/>
              </a:rPr>
              <a:t>14/X</a:t>
            </a:r>
            <a:endParaRPr sz="2200">
              <a:latin typeface="Times New Roman"/>
              <a:cs typeface="Times New Roman"/>
            </a:endParaRPr>
          </a:p>
          <a:p>
            <a:pPr marR="50165" algn="ctr">
              <a:lnSpc>
                <a:spcPct val="100000"/>
              </a:lnSpc>
              <a:spcBef>
                <a:spcPts val="1680"/>
              </a:spcBef>
            </a:pPr>
            <a:r>
              <a:rPr sz="2800" b="1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65952" y="5948023"/>
            <a:ext cx="523875" cy="976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00"/>
              </a:lnSpc>
            </a:pPr>
            <a:r>
              <a:rPr sz="2200" b="1" spc="-20">
                <a:solidFill>
                  <a:srgbClr val="FFFFFF"/>
                </a:solidFill>
                <a:latin typeface="Times New Roman"/>
                <a:cs typeface="Times New Roman"/>
              </a:rPr>
              <a:t>3/12</a:t>
            </a:r>
            <a:endParaRPr sz="2200">
              <a:latin typeface="Times New Roman"/>
              <a:cs typeface="Times New Roman"/>
            </a:endParaRPr>
          </a:p>
          <a:p>
            <a:pPr marL="156210">
              <a:lnSpc>
                <a:spcPct val="100000"/>
              </a:lnSpc>
              <a:spcBef>
                <a:spcPts val="1680"/>
              </a:spcBef>
            </a:pPr>
            <a:r>
              <a:rPr sz="2800" b="1"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48499" y="5948023"/>
            <a:ext cx="383540" cy="976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00"/>
              </a:lnSpc>
            </a:pPr>
            <a:r>
              <a:rPr sz="2200" b="1" spc="-25">
                <a:solidFill>
                  <a:srgbClr val="FFFFFF"/>
                </a:solidFill>
                <a:latin typeface="Times New Roman"/>
                <a:cs typeface="Times New Roman"/>
              </a:rPr>
              <a:t>6/9</a:t>
            </a:r>
            <a:endParaRPr sz="2200">
              <a:latin typeface="Times New Roman"/>
              <a:cs typeface="Times New Roman"/>
            </a:endParaRPr>
          </a:p>
          <a:p>
            <a:pPr marL="99060">
              <a:lnSpc>
                <a:spcPct val="100000"/>
              </a:lnSpc>
              <a:spcBef>
                <a:spcPts val="1680"/>
              </a:spcBef>
            </a:pPr>
            <a:r>
              <a:rPr sz="2800" b="1"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60945" y="5948023"/>
            <a:ext cx="383540" cy="976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00"/>
              </a:lnSpc>
            </a:pPr>
            <a:r>
              <a:rPr sz="2200" b="1" spc="-25">
                <a:solidFill>
                  <a:srgbClr val="FFFFFF"/>
                </a:solidFill>
                <a:latin typeface="Times New Roman"/>
                <a:cs typeface="Times New Roman"/>
              </a:rPr>
              <a:t>7/8</a:t>
            </a:r>
            <a:endParaRPr sz="2200">
              <a:latin typeface="Times New Roman"/>
              <a:cs typeface="Times New Roman"/>
            </a:endParaRPr>
          </a:p>
          <a:p>
            <a:pPr marL="111760">
              <a:lnSpc>
                <a:spcPct val="100000"/>
              </a:lnSpc>
              <a:spcBef>
                <a:spcPts val="1680"/>
              </a:spcBef>
            </a:pPr>
            <a:r>
              <a:rPr sz="2800" b="1"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74701" y="788581"/>
          <a:ext cx="8316593" cy="25907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𝑉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86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14">
                          <a:latin typeface="Cambria Math"/>
                          <a:cs typeface="Cambria Math"/>
                        </a:rPr>
                        <a:t>𝑐𝑜𝑙𝑜𝑟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692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4267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40">
                          <a:latin typeface="Cambria Math"/>
                          <a:cs typeface="Cambria Math"/>
                        </a:rPr>
                        <a:t>𝑝𝑟𝑒𝑑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812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25">
                          <a:latin typeface="Cambria Math"/>
                          <a:cs typeface="Cambria Math"/>
                        </a:rPr>
                        <a:t>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-25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806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-25">
                          <a:latin typeface="Times New Roman"/>
                          <a:cs typeface="Times New Roman"/>
                        </a:rPr>
                        <a:t>12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9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9300540" y="820331"/>
            <a:ext cx="135699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110" dirty="0">
                <a:latin typeface="Cambria Math"/>
                <a:cs typeface="Cambria Math"/>
              </a:rPr>
              <a:t>𝑡𝑖𝑚𝑒</a:t>
            </a:r>
            <a:r>
              <a:rPr sz="2200" spc="125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=</a:t>
            </a:r>
            <a:r>
              <a:rPr sz="2200" spc="125" dirty="0">
                <a:latin typeface="Cambria Math"/>
                <a:cs typeface="Cambria Math"/>
              </a:rPr>
              <a:t> </a:t>
            </a:r>
            <a:r>
              <a:rPr sz="2200" spc="-434" dirty="0">
                <a:latin typeface="Cambria Math"/>
                <a:cs typeface="Cambria Math"/>
              </a:rPr>
              <a:t>1𝟒</a:t>
            </a:r>
            <a:endParaRPr sz="2200" dirty="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/>
              <a:t>算法实</a:t>
            </a:r>
            <a:r>
              <a:rPr spc="-50"/>
              <a:t>例</a:t>
            </a:r>
          </a:p>
        </p:txBody>
      </p:sp>
      <p:pic>
        <p:nvPicPr>
          <p:cNvPr id="3" name="object 3"/>
          <p:cNvPicPr/>
          <p:nvPr/>
        </p:nvPicPr>
        <p:blipFill>
          <a:blip r:embed="rId2"/>
          <a:stretch>
            <a:fillRect/>
          </a:stretch>
        </p:blipFill>
        <p:spPr>
          <a:xfrm>
            <a:off x="3073145" y="3976878"/>
            <a:ext cx="6321552" cy="257327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274050" y="3576273"/>
          <a:ext cx="5960110" cy="1005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8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5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4830">
                <a:tc>
                  <a:txBody>
                    <a:bodyPr/>
                    <a:lstStyle/>
                    <a:p>
                      <a:pPr marR="636270" algn="ctr">
                        <a:lnSpc>
                          <a:spcPts val="3055"/>
                        </a:lnSpc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ts val="3055"/>
                        </a:lnSpc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690" algn="ctr">
                        <a:lnSpc>
                          <a:spcPts val="3055"/>
                        </a:lnSpc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4780" algn="r">
                        <a:lnSpc>
                          <a:spcPts val="3055"/>
                        </a:lnSpc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R="636905" algn="ctr">
                        <a:lnSpc>
                          <a:spcPts val="2575"/>
                        </a:lnSpc>
                        <a:spcBef>
                          <a:spcPts val="950"/>
                        </a:spcBef>
                      </a:pPr>
                      <a:r>
                        <a:rPr sz="2200" b="1" spc="-25">
                          <a:latin typeface="Times New Roman"/>
                          <a:cs typeface="Times New Roman"/>
                        </a:rPr>
                        <a:t>1/X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20650" marB="0"/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2575"/>
                        </a:lnSpc>
                        <a:spcBef>
                          <a:spcPts val="950"/>
                        </a:spcBef>
                      </a:pPr>
                      <a:r>
                        <a:rPr sz="2200" b="1" spc="-2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2/13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2065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5"/>
                        </a:lnSpc>
                        <a:spcBef>
                          <a:spcPts val="950"/>
                        </a:spcBef>
                      </a:pPr>
                      <a:r>
                        <a:rPr sz="2200" b="1" spc="-2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4/11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20650" marB="0"/>
                </a:tc>
                <a:tc>
                  <a:txBody>
                    <a:bodyPr/>
                    <a:lstStyle/>
                    <a:p>
                      <a:pPr marL="668020">
                        <a:lnSpc>
                          <a:spcPts val="2575"/>
                        </a:lnSpc>
                        <a:spcBef>
                          <a:spcPts val="950"/>
                        </a:spcBef>
                      </a:pPr>
                      <a:r>
                        <a:rPr sz="2200" b="1" spc="-2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5/10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2065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164354" y="5960723"/>
          <a:ext cx="6000750" cy="896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2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2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3070">
                <a:tc>
                  <a:txBody>
                    <a:bodyPr/>
                    <a:lstStyle/>
                    <a:p>
                      <a:pPr marR="582295" algn="ctr">
                        <a:lnSpc>
                          <a:spcPts val="2400"/>
                        </a:lnSpc>
                      </a:pPr>
                      <a:r>
                        <a:rPr sz="22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14/15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2230" algn="ctr">
                        <a:lnSpc>
                          <a:spcPts val="2400"/>
                        </a:lnSpc>
                      </a:pPr>
                      <a:r>
                        <a:rPr sz="2200" b="1" spc="-2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3/12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305" algn="ctr">
                        <a:lnSpc>
                          <a:spcPts val="2400"/>
                        </a:lnSpc>
                      </a:pPr>
                      <a:r>
                        <a:rPr sz="22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6/9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5325" algn="ctr">
                        <a:lnSpc>
                          <a:spcPts val="2400"/>
                        </a:lnSpc>
                      </a:pPr>
                      <a:r>
                        <a:rPr sz="22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7/8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R="640715" algn="ctr">
                        <a:lnSpc>
                          <a:spcPts val="2880"/>
                        </a:lnSpc>
                        <a:spcBef>
                          <a:spcPts val="6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85090" marB="0"/>
                </a:tc>
                <a:tc>
                  <a:txBody>
                    <a:bodyPr/>
                    <a:lstStyle/>
                    <a:p>
                      <a:pPr marR="93980" algn="ctr">
                        <a:lnSpc>
                          <a:spcPts val="2880"/>
                        </a:lnSpc>
                        <a:spcBef>
                          <a:spcPts val="6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85090" marB="0"/>
                </a:tc>
                <a:tc>
                  <a:txBody>
                    <a:bodyPr/>
                    <a:lstStyle/>
                    <a:p>
                      <a:pPr marR="33655" algn="ctr">
                        <a:lnSpc>
                          <a:spcPts val="2880"/>
                        </a:lnSpc>
                        <a:spcBef>
                          <a:spcPts val="6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85090" marB="0"/>
                </a:tc>
                <a:tc>
                  <a:txBody>
                    <a:bodyPr/>
                    <a:lstStyle/>
                    <a:p>
                      <a:pPr marL="713740" algn="ctr">
                        <a:lnSpc>
                          <a:spcPts val="2880"/>
                        </a:lnSpc>
                        <a:spcBef>
                          <a:spcPts val="6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8509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74701" y="788581"/>
          <a:ext cx="8316593" cy="25907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𝑉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86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14">
                          <a:latin typeface="Cambria Math"/>
                          <a:cs typeface="Cambria Math"/>
                        </a:rPr>
                        <a:t>𝑐𝑜𝑙𝑜𝑟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692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4267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40">
                          <a:latin typeface="Cambria Math"/>
                          <a:cs typeface="Cambria Math"/>
                        </a:rPr>
                        <a:t>𝑝𝑟𝑒𝑑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8191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25">
                          <a:latin typeface="Cambria Math"/>
                          <a:cs typeface="Cambria Math"/>
                        </a:rPr>
                        <a:t>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812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-25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-25">
                          <a:latin typeface="Times New Roman"/>
                          <a:cs typeface="Times New Roman"/>
                        </a:rPr>
                        <a:t>12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9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9300540" y="820331"/>
            <a:ext cx="135699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110" dirty="0">
                <a:latin typeface="Cambria Math"/>
                <a:cs typeface="Cambria Math"/>
              </a:rPr>
              <a:t>𝑡𝑖𝑚𝑒</a:t>
            </a:r>
            <a:r>
              <a:rPr sz="2200" spc="125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=</a:t>
            </a:r>
            <a:r>
              <a:rPr sz="2200" spc="125" dirty="0">
                <a:latin typeface="Cambria Math"/>
                <a:cs typeface="Cambria Math"/>
              </a:rPr>
              <a:t> </a:t>
            </a:r>
            <a:r>
              <a:rPr sz="2200" spc="-434" dirty="0">
                <a:latin typeface="Cambria Math"/>
                <a:cs typeface="Cambria Math"/>
              </a:rPr>
              <a:t>1𝟓</a:t>
            </a:r>
            <a:endParaRPr sz="2200" dirty="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/>
              <a:t>算法实</a:t>
            </a:r>
            <a:r>
              <a:rPr spc="-50"/>
              <a:t>例</a:t>
            </a:r>
          </a:p>
        </p:txBody>
      </p:sp>
      <p:pic>
        <p:nvPicPr>
          <p:cNvPr id="3" name="object 3"/>
          <p:cNvPicPr/>
          <p:nvPr/>
        </p:nvPicPr>
        <p:blipFill>
          <a:blip r:embed="rId2"/>
          <a:stretch>
            <a:fillRect/>
          </a:stretch>
        </p:blipFill>
        <p:spPr>
          <a:xfrm>
            <a:off x="3073145" y="3976878"/>
            <a:ext cx="6321552" cy="257327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234458" y="3576273"/>
          <a:ext cx="5997575" cy="1005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6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6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7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4830">
                <a:tc>
                  <a:txBody>
                    <a:bodyPr/>
                    <a:lstStyle/>
                    <a:p>
                      <a:pPr marR="615315" algn="ctr">
                        <a:lnSpc>
                          <a:spcPts val="3055"/>
                        </a:lnSpc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ts val="3055"/>
                        </a:lnSpc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690" algn="ctr">
                        <a:lnSpc>
                          <a:spcPts val="3055"/>
                        </a:lnSpc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4780" algn="r">
                        <a:lnSpc>
                          <a:spcPts val="3055"/>
                        </a:lnSpc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R="617855" algn="ctr">
                        <a:lnSpc>
                          <a:spcPts val="2575"/>
                        </a:lnSpc>
                        <a:spcBef>
                          <a:spcPts val="950"/>
                        </a:spcBef>
                      </a:pPr>
                      <a:r>
                        <a:rPr sz="2200" b="1" spc="-2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1/16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2065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5"/>
                        </a:lnSpc>
                        <a:spcBef>
                          <a:spcPts val="950"/>
                        </a:spcBef>
                      </a:pPr>
                      <a:r>
                        <a:rPr sz="2200" b="1" spc="-2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2/13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2065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5"/>
                        </a:lnSpc>
                        <a:spcBef>
                          <a:spcPts val="950"/>
                        </a:spcBef>
                      </a:pPr>
                      <a:r>
                        <a:rPr sz="2200" b="1" spc="-2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4/11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20650" marB="0"/>
                </a:tc>
                <a:tc>
                  <a:txBody>
                    <a:bodyPr/>
                    <a:lstStyle/>
                    <a:p>
                      <a:pPr marL="668020">
                        <a:lnSpc>
                          <a:spcPts val="2575"/>
                        </a:lnSpc>
                        <a:spcBef>
                          <a:spcPts val="950"/>
                        </a:spcBef>
                      </a:pPr>
                      <a:r>
                        <a:rPr sz="2200" b="1" spc="-2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5/10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2065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164354" y="5960723"/>
          <a:ext cx="6000750" cy="896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2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2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3070">
                <a:tc>
                  <a:txBody>
                    <a:bodyPr/>
                    <a:lstStyle/>
                    <a:p>
                      <a:pPr marR="582295" algn="ctr">
                        <a:lnSpc>
                          <a:spcPts val="2400"/>
                        </a:lnSpc>
                      </a:pPr>
                      <a:r>
                        <a:rPr sz="22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14/15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2230" algn="ctr">
                        <a:lnSpc>
                          <a:spcPts val="2400"/>
                        </a:lnSpc>
                      </a:pPr>
                      <a:r>
                        <a:rPr sz="2200" b="1" spc="-2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3/12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305" algn="ctr">
                        <a:lnSpc>
                          <a:spcPts val="2400"/>
                        </a:lnSpc>
                      </a:pPr>
                      <a:r>
                        <a:rPr sz="22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6/9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5325" algn="ctr">
                        <a:lnSpc>
                          <a:spcPts val="2400"/>
                        </a:lnSpc>
                      </a:pPr>
                      <a:r>
                        <a:rPr sz="22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7/8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R="640715" algn="ctr">
                        <a:lnSpc>
                          <a:spcPts val="2880"/>
                        </a:lnSpc>
                        <a:spcBef>
                          <a:spcPts val="6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85090" marB="0"/>
                </a:tc>
                <a:tc>
                  <a:txBody>
                    <a:bodyPr/>
                    <a:lstStyle/>
                    <a:p>
                      <a:pPr marR="93980" algn="ctr">
                        <a:lnSpc>
                          <a:spcPts val="2880"/>
                        </a:lnSpc>
                        <a:spcBef>
                          <a:spcPts val="6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85090" marB="0"/>
                </a:tc>
                <a:tc>
                  <a:txBody>
                    <a:bodyPr/>
                    <a:lstStyle/>
                    <a:p>
                      <a:pPr marR="33655" algn="ctr">
                        <a:lnSpc>
                          <a:spcPts val="2880"/>
                        </a:lnSpc>
                        <a:spcBef>
                          <a:spcPts val="6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85090" marB="0"/>
                </a:tc>
                <a:tc>
                  <a:txBody>
                    <a:bodyPr/>
                    <a:lstStyle/>
                    <a:p>
                      <a:pPr marL="713740" algn="ctr">
                        <a:lnSpc>
                          <a:spcPts val="2880"/>
                        </a:lnSpc>
                        <a:spcBef>
                          <a:spcPts val="670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8509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74701" y="788581"/>
          <a:ext cx="8316593" cy="25907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8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001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𝑉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886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14">
                          <a:latin typeface="Cambria Math"/>
                          <a:cs typeface="Cambria Math"/>
                        </a:rPr>
                        <a:t>𝑐𝑜𝑙𝑜𝑟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4267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40">
                          <a:latin typeface="Cambria Math"/>
                          <a:cs typeface="Cambria Math"/>
                        </a:rPr>
                        <a:t>𝑝𝑟𝑒𝑑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8191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125">
                          <a:latin typeface="Cambria Math"/>
                          <a:cs typeface="Cambria Math"/>
                        </a:rPr>
                        <a:t>𝑑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812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spc="-50">
                          <a:latin typeface="Cambria Math"/>
                          <a:cs typeface="Cambria Math"/>
                        </a:rPr>
                        <a:t>𝑓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-25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-25">
                          <a:latin typeface="Times New Roman"/>
                          <a:cs typeface="Times New Roman"/>
                        </a:rPr>
                        <a:t>15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-25">
                          <a:latin typeface="Times New Roman"/>
                          <a:cs typeface="Times New Roman"/>
                        </a:rPr>
                        <a:t>12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9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9300540" y="820331"/>
            <a:ext cx="135699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110" dirty="0">
                <a:latin typeface="Cambria Math"/>
                <a:cs typeface="Cambria Math"/>
              </a:rPr>
              <a:t>𝑡𝑖𝑚𝑒</a:t>
            </a:r>
            <a:r>
              <a:rPr sz="2200" spc="125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=</a:t>
            </a:r>
            <a:r>
              <a:rPr sz="2200" spc="125" dirty="0">
                <a:latin typeface="Cambria Math"/>
                <a:cs typeface="Cambria Math"/>
              </a:rPr>
              <a:t> </a:t>
            </a:r>
            <a:r>
              <a:rPr sz="2200" spc="-434" dirty="0">
                <a:latin typeface="Cambria Math"/>
                <a:cs typeface="Cambria Math"/>
              </a:rPr>
              <a:t>1𝟔</a:t>
            </a:r>
            <a:endParaRPr sz="2200" dirty="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11862" y="1440350"/>
            <a:ext cx="10257790" cy="4810125"/>
            <a:chOff x="911862" y="1440350"/>
            <a:chExt cx="10257790" cy="4810125"/>
          </a:xfrm>
        </p:grpSpPr>
        <p:pic>
          <p:nvPicPr>
            <p:cNvPr id="3" name="object 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911862" y="1440350"/>
              <a:ext cx="9017659" cy="481007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337310" y="2069594"/>
              <a:ext cx="5942330" cy="344170"/>
            </a:xfrm>
            <a:custGeom>
              <a:avLst/>
              <a:gdLst/>
              <a:ahLst/>
              <a:cxnLst/>
              <a:rect l="l" t="t" r="r" b="b"/>
              <a:pathLst>
                <a:path w="5942330" h="344169">
                  <a:moveTo>
                    <a:pt x="0" y="27889"/>
                  </a:moveTo>
                  <a:lnTo>
                    <a:pt x="2191" y="17032"/>
                  </a:lnTo>
                  <a:lnTo>
                    <a:pt x="8167" y="8167"/>
                  </a:lnTo>
                  <a:lnTo>
                    <a:pt x="17032" y="2191"/>
                  </a:lnTo>
                  <a:lnTo>
                    <a:pt x="27889" y="0"/>
                  </a:lnTo>
                  <a:lnTo>
                    <a:pt x="5914186" y="0"/>
                  </a:lnTo>
                  <a:lnTo>
                    <a:pt x="5925043" y="2191"/>
                  </a:lnTo>
                  <a:lnTo>
                    <a:pt x="5933908" y="8167"/>
                  </a:lnTo>
                  <a:lnTo>
                    <a:pt x="5939884" y="17032"/>
                  </a:lnTo>
                  <a:lnTo>
                    <a:pt x="5942076" y="27889"/>
                  </a:lnTo>
                  <a:lnTo>
                    <a:pt x="5942076" y="315772"/>
                  </a:lnTo>
                  <a:lnTo>
                    <a:pt x="5939884" y="326629"/>
                  </a:lnTo>
                  <a:lnTo>
                    <a:pt x="5933908" y="335494"/>
                  </a:lnTo>
                  <a:lnTo>
                    <a:pt x="5925043" y="341470"/>
                  </a:lnTo>
                  <a:lnTo>
                    <a:pt x="5914186" y="343662"/>
                  </a:lnTo>
                  <a:lnTo>
                    <a:pt x="27889" y="343662"/>
                  </a:lnTo>
                  <a:lnTo>
                    <a:pt x="17032" y="341470"/>
                  </a:lnTo>
                  <a:lnTo>
                    <a:pt x="8167" y="335494"/>
                  </a:lnTo>
                  <a:lnTo>
                    <a:pt x="2191" y="326629"/>
                  </a:lnTo>
                  <a:lnTo>
                    <a:pt x="0" y="315772"/>
                  </a:lnTo>
                  <a:lnTo>
                    <a:pt x="0" y="27889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35798" y="2072259"/>
              <a:ext cx="2017395" cy="496570"/>
            </a:xfrm>
            <a:custGeom>
              <a:avLst/>
              <a:gdLst/>
              <a:ahLst/>
              <a:cxnLst/>
              <a:rect l="l" t="t" r="r" b="b"/>
              <a:pathLst>
                <a:path w="2017395" h="496569">
                  <a:moveTo>
                    <a:pt x="0" y="0"/>
                  </a:moveTo>
                  <a:lnTo>
                    <a:pt x="2017014" y="0"/>
                  </a:lnTo>
                  <a:lnTo>
                    <a:pt x="2017014" y="496062"/>
                  </a:lnTo>
                  <a:lnTo>
                    <a:pt x="0" y="49606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285232" y="2466225"/>
              <a:ext cx="5884545" cy="680085"/>
            </a:xfrm>
            <a:custGeom>
              <a:avLst/>
              <a:gdLst/>
              <a:ahLst/>
              <a:cxnLst/>
              <a:rect l="l" t="t" r="r" b="b"/>
              <a:pathLst>
                <a:path w="5884545" h="680085">
                  <a:moveTo>
                    <a:pt x="959650" y="0"/>
                  </a:moveTo>
                  <a:lnTo>
                    <a:pt x="980694" y="284594"/>
                  </a:lnTo>
                  <a:lnTo>
                    <a:pt x="0" y="284594"/>
                  </a:lnTo>
                  <a:lnTo>
                    <a:pt x="0" y="680072"/>
                  </a:lnTo>
                  <a:lnTo>
                    <a:pt x="5884164" y="680072"/>
                  </a:lnTo>
                  <a:lnTo>
                    <a:pt x="5884164" y="284594"/>
                  </a:lnTo>
                  <a:lnTo>
                    <a:pt x="2451735" y="284594"/>
                  </a:lnTo>
                  <a:lnTo>
                    <a:pt x="959650" y="0"/>
                  </a:lnTo>
                  <a:close/>
                </a:path>
              </a:pathLst>
            </a:custGeom>
            <a:solidFill>
              <a:srgbClr val="073C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232999" y="207992"/>
            <a:ext cx="238650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伪代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9140" y="961509"/>
            <a:ext cx="15163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spc="-10" dirty="0">
                <a:latin typeface="Times New Roman"/>
                <a:cs typeface="Times New Roman"/>
              </a:rPr>
              <a:t>DFS(</a:t>
            </a:r>
            <a:r>
              <a:rPr sz="2800" spc="-10" dirty="0">
                <a:latin typeface="Cambria Math"/>
                <a:cs typeface="Cambria Math"/>
              </a:rPr>
              <a:t>𝐺</a:t>
            </a:r>
            <a:r>
              <a:rPr sz="2800" b="1" spc="-10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06142" y="2110672"/>
            <a:ext cx="5641340" cy="989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3730" algn="ctr">
              <a:lnSpc>
                <a:spcPct val="100000"/>
              </a:lnSpc>
              <a:spcBef>
                <a:spcPts val="100"/>
              </a:spcBef>
            </a:pPr>
            <a:r>
              <a:rPr sz="2200" spc="-15">
                <a:latin typeface="PMingLiU"/>
                <a:cs typeface="PMingLiU"/>
              </a:rPr>
              <a:t>新建数组</a:t>
            </a:r>
            <a:endParaRPr sz="2200">
              <a:latin typeface="PMingLiU"/>
              <a:cs typeface="PMingLiU"/>
            </a:endParaRPr>
          </a:p>
          <a:p>
            <a:pPr marL="12700">
              <a:lnSpc>
                <a:spcPct val="100000"/>
              </a:lnSpc>
              <a:spcBef>
                <a:spcPts val="2305"/>
              </a:spcBef>
            </a:pPr>
            <a:r>
              <a:rPr sz="2200">
                <a:solidFill>
                  <a:srgbClr val="FFFFFF"/>
                </a:solidFill>
                <a:latin typeface="Cambria Math"/>
                <a:cs typeface="Cambria Math"/>
              </a:rPr>
              <a:t>𝑑[𝑖</a:t>
            </a:r>
            <a:r>
              <a:rPr sz="2200" spc="85">
                <a:solidFill>
                  <a:srgbClr val="FFFFFF"/>
                </a:solidFill>
                <a:latin typeface="Cambria Math"/>
                <a:cs typeface="Cambria Math"/>
              </a:rPr>
              <a:t>], </a:t>
            </a:r>
            <a:r>
              <a:rPr sz="2200">
                <a:solidFill>
                  <a:srgbClr val="FFFFFF"/>
                </a:solidFill>
                <a:latin typeface="Cambria Math"/>
                <a:cs typeface="Cambria Math"/>
              </a:rPr>
              <a:t>𝑓[𝑖]</a:t>
            </a:r>
            <a:r>
              <a:rPr sz="2200">
                <a:solidFill>
                  <a:srgbClr val="FFFFFF"/>
                </a:solidFill>
                <a:latin typeface="PMingLiU"/>
                <a:cs typeface="PMingLiU"/>
              </a:rPr>
              <a:t>分别记录顶点</a:t>
            </a:r>
            <a:r>
              <a:rPr sz="2200" spc="105">
                <a:solidFill>
                  <a:srgbClr val="FFFFFF"/>
                </a:solidFill>
                <a:latin typeface="Cambria Math"/>
                <a:cs typeface="Cambria Math"/>
              </a:rPr>
              <a:t>𝑖</a:t>
            </a:r>
            <a:r>
              <a:rPr sz="2200" spc="-15">
                <a:solidFill>
                  <a:srgbClr val="FFFFFF"/>
                </a:solidFill>
                <a:latin typeface="PMingLiU"/>
                <a:cs typeface="PMingLiU"/>
              </a:rPr>
              <a:t>的发现时刻与结束时刻</a:t>
            </a:r>
            <a:endParaRPr sz="2200">
              <a:latin typeface="PMingLiU"/>
              <a:cs typeface="PMingLiU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11862" y="1440350"/>
            <a:ext cx="9018270" cy="4810125"/>
            <a:chOff x="911862" y="1440350"/>
            <a:chExt cx="9018270" cy="4810125"/>
          </a:xfrm>
        </p:grpSpPr>
        <p:pic>
          <p:nvPicPr>
            <p:cNvPr id="3" name="object 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911862" y="1440350"/>
              <a:ext cx="9017659" cy="481007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61872" y="2455167"/>
              <a:ext cx="4216400" cy="1763395"/>
            </a:xfrm>
            <a:custGeom>
              <a:avLst/>
              <a:gdLst/>
              <a:ahLst/>
              <a:cxnLst/>
              <a:rect l="l" t="t" r="r" b="b"/>
              <a:pathLst>
                <a:path w="4216400" h="1763395">
                  <a:moveTo>
                    <a:pt x="0" y="143103"/>
                  </a:moveTo>
                  <a:lnTo>
                    <a:pt x="7295" y="97872"/>
                  </a:lnTo>
                  <a:lnTo>
                    <a:pt x="27611" y="58589"/>
                  </a:lnTo>
                  <a:lnTo>
                    <a:pt x="58589" y="27611"/>
                  </a:lnTo>
                  <a:lnTo>
                    <a:pt x="97872" y="7295"/>
                  </a:lnTo>
                  <a:lnTo>
                    <a:pt x="143103" y="0"/>
                  </a:lnTo>
                  <a:lnTo>
                    <a:pt x="4073042" y="0"/>
                  </a:lnTo>
                  <a:lnTo>
                    <a:pt x="4118273" y="7295"/>
                  </a:lnTo>
                  <a:lnTo>
                    <a:pt x="4157556" y="27611"/>
                  </a:lnTo>
                  <a:lnTo>
                    <a:pt x="4188534" y="58589"/>
                  </a:lnTo>
                  <a:lnTo>
                    <a:pt x="4208850" y="97872"/>
                  </a:lnTo>
                  <a:lnTo>
                    <a:pt x="4216146" y="143103"/>
                  </a:lnTo>
                  <a:lnTo>
                    <a:pt x="4216146" y="1620164"/>
                  </a:lnTo>
                  <a:lnTo>
                    <a:pt x="4208850" y="1665395"/>
                  </a:lnTo>
                  <a:lnTo>
                    <a:pt x="4188534" y="1704678"/>
                  </a:lnTo>
                  <a:lnTo>
                    <a:pt x="4157556" y="1735656"/>
                  </a:lnTo>
                  <a:lnTo>
                    <a:pt x="4118273" y="1755972"/>
                  </a:lnTo>
                  <a:lnTo>
                    <a:pt x="4073042" y="1763268"/>
                  </a:lnTo>
                  <a:lnTo>
                    <a:pt x="143103" y="1763268"/>
                  </a:lnTo>
                  <a:lnTo>
                    <a:pt x="97872" y="1755972"/>
                  </a:lnTo>
                  <a:lnTo>
                    <a:pt x="58589" y="1735656"/>
                  </a:lnTo>
                  <a:lnTo>
                    <a:pt x="27611" y="1704678"/>
                  </a:lnTo>
                  <a:lnTo>
                    <a:pt x="7295" y="1665395"/>
                  </a:lnTo>
                  <a:lnTo>
                    <a:pt x="0" y="1620164"/>
                  </a:lnTo>
                  <a:lnTo>
                    <a:pt x="0" y="143103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88499" y="158343"/>
            <a:ext cx="1891201" cy="12052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3200" spc="-4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   </a:t>
            </a:r>
            <a:r>
              <a:rPr sz="3200" spc="-4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伪代</a:t>
            </a:r>
            <a:r>
              <a:rPr sz="3200" spc="-5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码</a:t>
            </a:r>
            <a:endParaRPr sz="3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6870" indent="-343535">
              <a:lnSpc>
                <a:spcPct val="100000"/>
              </a:lnSpc>
              <a:spcBef>
                <a:spcPts val="209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6870" algn="l"/>
                <a:tab pos="357505" algn="l"/>
              </a:tabLst>
            </a:pPr>
            <a:r>
              <a:rPr sz="2800" b="1" spc="-10" dirty="0">
                <a:latin typeface="Times New Roman"/>
                <a:cs typeface="Times New Roman"/>
              </a:rPr>
              <a:t>DFS(</a:t>
            </a:r>
            <a:r>
              <a:rPr sz="2800" spc="-10" dirty="0">
                <a:latin typeface="Cambria Math"/>
                <a:cs typeface="Cambria Math"/>
              </a:rPr>
              <a:t>𝐺</a:t>
            </a:r>
            <a:r>
              <a:rPr sz="2800" b="1" spc="-10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21704" y="2455545"/>
            <a:ext cx="2017395" cy="4953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587375">
              <a:lnSpc>
                <a:spcPct val="100000"/>
              </a:lnSpc>
              <a:spcBef>
                <a:spcPts val="400"/>
              </a:spcBef>
            </a:pPr>
            <a:r>
              <a:rPr sz="2200" spc="-20">
                <a:latin typeface="PMingLiU"/>
                <a:cs typeface="PMingLiU"/>
              </a:rPr>
              <a:t>初始化</a:t>
            </a:r>
            <a:endParaRPr sz="2200">
              <a:latin typeface="PMingLiU"/>
              <a:cs typeface="PMingLiU"/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11862" y="1440350"/>
            <a:ext cx="9018270" cy="4810125"/>
            <a:chOff x="911862" y="1440350"/>
            <a:chExt cx="9018270" cy="4810125"/>
          </a:xfrm>
        </p:grpSpPr>
        <p:pic>
          <p:nvPicPr>
            <p:cNvPr id="3" name="object 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911862" y="1440350"/>
              <a:ext cx="9017659" cy="481007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32154" y="4255008"/>
              <a:ext cx="4215765" cy="1905000"/>
            </a:xfrm>
            <a:custGeom>
              <a:avLst/>
              <a:gdLst/>
              <a:ahLst/>
              <a:cxnLst/>
              <a:rect l="l" t="t" r="r" b="b"/>
              <a:pathLst>
                <a:path w="4215765" h="1905000">
                  <a:moveTo>
                    <a:pt x="0" y="154609"/>
                  </a:moveTo>
                  <a:lnTo>
                    <a:pt x="7882" y="105738"/>
                  </a:lnTo>
                  <a:lnTo>
                    <a:pt x="29832" y="63296"/>
                  </a:lnTo>
                  <a:lnTo>
                    <a:pt x="63302" y="29828"/>
                  </a:lnTo>
                  <a:lnTo>
                    <a:pt x="105743" y="7881"/>
                  </a:lnTo>
                  <a:lnTo>
                    <a:pt x="154609" y="0"/>
                  </a:lnTo>
                  <a:lnTo>
                    <a:pt x="4060774" y="0"/>
                  </a:lnTo>
                  <a:lnTo>
                    <a:pt x="4109645" y="7881"/>
                  </a:lnTo>
                  <a:lnTo>
                    <a:pt x="4152087" y="29828"/>
                  </a:lnTo>
                  <a:lnTo>
                    <a:pt x="4185555" y="63296"/>
                  </a:lnTo>
                  <a:lnTo>
                    <a:pt x="4207502" y="105738"/>
                  </a:lnTo>
                  <a:lnTo>
                    <a:pt x="4215384" y="154609"/>
                  </a:lnTo>
                  <a:lnTo>
                    <a:pt x="4215384" y="1750390"/>
                  </a:lnTo>
                  <a:lnTo>
                    <a:pt x="4207502" y="1799256"/>
                  </a:lnTo>
                  <a:lnTo>
                    <a:pt x="4185555" y="1841697"/>
                  </a:lnTo>
                  <a:lnTo>
                    <a:pt x="4152087" y="1875167"/>
                  </a:lnTo>
                  <a:lnTo>
                    <a:pt x="4109645" y="1897117"/>
                  </a:lnTo>
                  <a:lnTo>
                    <a:pt x="4060774" y="1905000"/>
                  </a:lnTo>
                  <a:lnTo>
                    <a:pt x="154609" y="1905000"/>
                  </a:lnTo>
                  <a:lnTo>
                    <a:pt x="105743" y="1897117"/>
                  </a:lnTo>
                  <a:lnTo>
                    <a:pt x="63302" y="1875167"/>
                  </a:lnTo>
                  <a:lnTo>
                    <a:pt x="29832" y="1841697"/>
                  </a:lnTo>
                  <a:lnTo>
                    <a:pt x="7882" y="1799256"/>
                  </a:lnTo>
                  <a:lnTo>
                    <a:pt x="0" y="1750390"/>
                  </a:lnTo>
                  <a:lnTo>
                    <a:pt x="0" y="154609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88499" y="171043"/>
            <a:ext cx="2284901" cy="120481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3200" spc="-40" dirty="0">
                <a:latin typeface="PMingLiU"/>
                <a:cs typeface="PMingLiU"/>
              </a:rPr>
              <a:t>      </a:t>
            </a:r>
            <a:r>
              <a:rPr sz="3200" spc="-4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伪代</a:t>
            </a:r>
            <a:r>
              <a:rPr sz="3200" spc="-5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码</a:t>
            </a:r>
            <a:endParaRPr sz="3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6870" indent="-343535">
              <a:lnSpc>
                <a:spcPct val="100000"/>
              </a:lnSpc>
              <a:spcBef>
                <a:spcPts val="209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6870" algn="l"/>
                <a:tab pos="357505" algn="l"/>
              </a:tabLst>
            </a:pPr>
            <a:r>
              <a:rPr sz="2800" b="1" spc="-10" dirty="0">
                <a:latin typeface="Times New Roman"/>
                <a:cs typeface="Times New Roman"/>
              </a:rPr>
              <a:t>DFS(</a:t>
            </a:r>
            <a:r>
              <a:rPr sz="2800" spc="-10" dirty="0">
                <a:latin typeface="Cambria Math"/>
                <a:cs typeface="Cambria Math"/>
              </a:rPr>
              <a:t>𝐺</a:t>
            </a:r>
            <a:r>
              <a:rPr sz="2800" b="1" spc="-10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91225" y="4255389"/>
            <a:ext cx="2017395" cy="4953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400"/>
              </a:spcBef>
            </a:pPr>
            <a:r>
              <a:rPr sz="2200" spc="-10">
                <a:latin typeface="PMingLiU"/>
                <a:cs typeface="PMingLiU"/>
              </a:rPr>
              <a:t>保证搜索完全</a:t>
            </a:r>
            <a:endParaRPr sz="2200">
              <a:latin typeface="PMingLiU"/>
              <a:cs typeface="PMingLiU"/>
            </a:endParaRP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62442" y="1575197"/>
            <a:ext cx="8622665" cy="4038600"/>
            <a:chOff x="1062442" y="1575197"/>
            <a:chExt cx="8622665" cy="4038600"/>
          </a:xfrm>
        </p:grpSpPr>
        <p:pic>
          <p:nvPicPr>
            <p:cNvPr id="3" name="object 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062442" y="1575197"/>
              <a:ext cx="8622290" cy="40380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337309" y="1893570"/>
              <a:ext cx="4215765" cy="952500"/>
            </a:xfrm>
            <a:custGeom>
              <a:avLst/>
              <a:gdLst/>
              <a:ahLst/>
              <a:cxnLst/>
              <a:rect l="l" t="t" r="r" b="b"/>
              <a:pathLst>
                <a:path w="4215765" h="952500">
                  <a:moveTo>
                    <a:pt x="0" y="77304"/>
                  </a:moveTo>
                  <a:lnTo>
                    <a:pt x="6074" y="47213"/>
                  </a:lnTo>
                  <a:lnTo>
                    <a:pt x="22640" y="22640"/>
                  </a:lnTo>
                  <a:lnTo>
                    <a:pt x="47213" y="6074"/>
                  </a:lnTo>
                  <a:lnTo>
                    <a:pt x="77304" y="0"/>
                  </a:lnTo>
                  <a:lnTo>
                    <a:pt x="4138079" y="0"/>
                  </a:lnTo>
                  <a:lnTo>
                    <a:pt x="4168170" y="6074"/>
                  </a:lnTo>
                  <a:lnTo>
                    <a:pt x="4192743" y="22640"/>
                  </a:lnTo>
                  <a:lnTo>
                    <a:pt x="4209309" y="47213"/>
                  </a:lnTo>
                  <a:lnTo>
                    <a:pt x="4215384" y="77304"/>
                  </a:lnTo>
                  <a:lnTo>
                    <a:pt x="4215384" y="875195"/>
                  </a:lnTo>
                  <a:lnTo>
                    <a:pt x="4209309" y="905286"/>
                  </a:lnTo>
                  <a:lnTo>
                    <a:pt x="4192743" y="929859"/>
                  </a:lnTo>
                  <a:lnTo>
                    <a:pt x="4168170" y="946425"/>
                  </a:lnTo>
                  <a:lnTo>
                    <a:pt x="4138079" y="952499"/>
                  </a:lnTo>
                  <a:lnTo>
                    <a:pt x="77304" y="952499"/>
                  </a:lnTo>
                  <a:lnTo>
                    <a:pt x="47213" y="946425"/>
                  </a:lnTo>
                  <a:lnTo>
                    <a:pt x="22640" y="929859"/>
                  </a:lnTo>
                  <a:lnTo>
                    <a:pt x="6074" y="905286"/>
                  </a:lnTo>
                  <a:lnTo>
                    <a:pt x="0" y="875195"/>
                  </a:lnTo>
                  <a:lnTo>
                    <a:pt x="0" y="77304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26440" y="1025009"/>
            <a:ext cx="26924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spc="-10" dirty="0">
                <a:latin typeface="Times New Roman"/>
                <a:cs typeface="Times New Roman"/>
              </a:rPr>
              <a:t>DFS-</a:t>
            </a:r>
            <a:r>
              <a:rPr sz="2800" b="1" dirty="0">
                <a:latin typeface="Times New Roman"/>
                <a:cs typeface="Times New Roman"/>
              </a:rPr>
              <a:t>Visit(</a:t>
            </a:r>
            <a:r>
              <a:rPr sz="2800" dirty="0">
                <a:latin typeface="Cambria Math"/>
                <a:cs typeface="Cambria Math"/>
              </a:rPr>
              <a:t>𝐺,</a:t>
            </a:r>
            <a:r>
              <a:rPr sz="2800" spc="-35" dirty="0">
                <a:latin typeface="Cambria Math"/>
                <a:cs typeface="Cambria Math"/>
              </a:rPr>
              <a:t> </a:t>
            </a:r>
            <a:r>
              <a:rPr sz="2800" spc="45" dirty="0">
                <a:latin typeface="Cambria Math"/>
                <a:cs typeface="Cambria Math"/>
              </a:rPr>
              <a:t>𝑣</a:t>
            </a:r>
            <a:r>
              <a:rPr sz="2800" b="1" spc="4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48409" y="206772"/>
            <a:ext cx="283100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伪代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65495" y="1893951"/>
            <a:ext cx="3687445" cy="4953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sz="2200" spc="-10">
                <a:latin typeface="PMingLiU"/>
                <a:cs typeface="PMingLiU"/>
              </a:rPr>
              <a:t>修改当前顶点颜色、发现时刻</a:t>
            </a:r>
            <a:endParaRPr sz="2200">
              <a:latin typeface="PMingLiU"/>
              <a:cs typeface="PMingLiU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62442" y="1575197"/>
            <a:ext cx="8622665" cy="4038600"/>
            <a:chOff x="1062442" y="1575197"/>
            <a:chExt cx="8622665" cy="4038600"/>
          </a:xfrm>
        </p:grpSpPr>
        <p:pic>
          <p:nvPicPr>
            <p:cNvPr id="3" name="object 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062442" y="1575197"/>
              <a:ext cx="8622290" cy="40380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337309" y="2837689"/>
              <a:ext cx="4215765" cy="1823085"/>
            </a:xfrm>
            <a:custGeom>
              <a:avLst/>
              <a:gdLst/>
              <a:ahLst/>
              <a:cxnLst/>
              <a:rect l="l" t="t" r="r" b="b"/>
              <a:pathLst>
                <a:path w="4215765" h="1823085">
                  <a:moveTo>
                    <a:pt x="0" y="147929"/>
                  </a:moveTo>
                  <a:lnTo>
                    <a:pt x="7541" y="101172"/>
                  </a:lnTo>
                  <a:lnTo>
                    <a:pt x="28541" y="60564"/>
                  </a:lnTo>
                  <a:lnTo>
                    <a:pt x="60564" y="28541"/>
                  </a:lnTo>
                  <a:lnTo>
                    <a:pt x="101172" y="7541"/>
                  </a:lnTo>
                  <a:lnTo>
                    <a:pt x="147929" y="0"/>
                  </a:lnTo>
                  <a:lnTo>
                    <a:pt x="4067454" y="0"/>
                  </a:lnTo>
                  <a:lnTo>
                    <a:pt x="4114211" y="7541"/>
                  </a:lnTo>
                  <a:lnTo>
                    <a:pt x="4154819" y="28541"/>
                  </a:lnTo>
                  <a:lnTo>
                    <a:pt x="4186842" y="60564"/>
                  </a:lnTo>
                  <a:lnTo>
                    <a:pt x="4207842" y="101172"/>
                  </a:lnTo>
                  <a:lnTo>
                    <a:pt x="4215384" y="147929"/>
                  </a:lnTo>
                  <a:lnTo>
                    <a:pt x="4215384" y="1674774"/>
                  </a:lnTo>
                  <a:lnTo>
                    <a:pt x="4207842" y="1721531"/>
                  </a:lnTo>
                  <a:lnTo>
                    <a:pt x="4186842" y="1762139"/>
                  </a:lnTo>
                  <a:lnTo>
                    <a:pt x="4154819" y="1794162"/>
                  </a:lnTo>
                  <a:lnTo>
                    <a:pt x="4114211" y="1815162"/>
                  </a:lnTo>
                  <a:lnTo>
                    <a:pt x="4067454" y="1822704"/>
                  </a:lnTo>
                  <a:lnTo>
                    <a:pt x="147929" y="1822704"/>
                  </a:lnTo>
                  <a:lnTo>
                    <a:pt x="101172" y="1815162"/>
                  </a:lnTo>
                  <a:lnTo>
                    <a:pt x="60564" y="1794162"/>
                  </a:lnTo>
                  <a:lnTo>
                    <a:pt x="28541" y="1762139"/>
                  </a:lnTo>
                  <a:lnTo>
                    <a:pt x="7541" y="1721531"/>
                  </a:lnTo>
                  <a:lnTo>
                    <a:pt x="0" y="1674774"/>
                  </a:lnTo>
                  <a:lnTo>
                    <a:pt x="0" y="147929"/>
                  </a:lnTo>
                  <a:close/>
                </a:path>
              </a:pathLst>
            </a:custGeom>
            <a:ln w="38099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39140" y="1025009"/>
            <a:ext cx="26924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spc="-10" dirty="0">
                <a:latin typeface="Times New Roman"/>
                <a:cs typeface="Times New Roman"/>
              </a:rPr>
              <a:t>DFS-</a:t>
            </a:r>
            <a:r>
              <a:rPr sz="2800" b="1" dirty="0">
                <a:latin typeface="Times New Roman"/>
                <a:cs typeface="Times New Roman"/>
              </a:rPr>
              <a:t>Visit(</a:t>
            </a:r>
            <a:r>
              <a:rPr sz="2800" dirty="0">
                <a:latin typeface="Cambria Math"/>
                <a:cs typeface="Cambria Math"/>
              </a:rPr>
              <a:t>𝐺,</a:t>
            </a:r>
            <a:r>
              <a:rPr sz="2800" spc="-35" dirty="0">
                <a:latin typeface="Cambria Math"/>
                <a:cs typeface="Cambria Math"/>
              </a:rPr>
              <a:t> </a:t>
            </a:r>
            <a:r>
              <a:rPr sz="2800" spc="45" dirty="0">
                <a:latin typeface="Cambria Math"/>
                <a:cs typeface="Cambria Math"/>
              </a:rPr>
              <a:t>𝑣</a:t>
            </a:r>
            <a:r>
              <a:rPr sz="2800" b="1" spc="4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71099" y="181372"/>
            <a:ext cx="199280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伪代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65495" y="2838069"/>
            <a:ext cx="3687445" cy="4953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1003935">
              <a:lnSpc>
                <a:spcPct val="100000"/>
              </a:lnSpc>
              <a:spcBef>
                <a:spcPts val="400"/>
              </a:spcBef>
            </a:pPr>
            <a:r>
              <a:rPr sz="2200" spc="-10">
                <a:latin typeface="PMingLiU"/>
                <a:cs typeface="PMingLiU"/>
              </a:rPr>
              <a:t>搜索相邻顶点</a:t>
            </a:r>
            <a:endParaRPr sz="2200">
              <a:latin typeface="PMingLiU"/>
              <a:cs typeface="PMingLiU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62442" y="1575197"/>
            <a:ext cx="8622665" cy="4038600"/>
            <a:chOff x="1062442" y="1575197"/>
            <a:chExt cx="8622665" cy="4038600"/>
          </a:xfrm>
        </p:grpSpPr>
        <p:pic>
          <p:nvPicPr>
            <p:cNvPr id="3" name="object 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062442" y="1575197"/>
              <a:ext cx="8622290" cy="40380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337309" y="4601714"/>
              <a:ext cx="4215765" cy="929640"/>
            </a:xfrm>
            <a:custGeom>
              <a:avLst/>
              <a:gdLst/>
              <a:ahLst/>
              <a:cxnLst/>
              <a:rect l="l" t="t" r="r" b="b"/>
              <a:pathLst>
                <a:path w="4215765" h="929639">
                  <a:moveTo>
                    <a:pt x="0" y="75450"/>
                  </a:moveTo>
                  <a:lnTo>
                    <a:pt x="5929" y="46082"/>
                  </a:lnTo>
                  <a:lnTo>
                    <a:pt x="22099" y="22099"/>
                  </a:lnTo>
                  <a:lnTo>
                    <a:pt x="46082" y="5929"/>
                  </a:lnTo>
                  <a:lnTo>
                    <a:pt x="75450" y="0"/>
                  </a:lnTo>
                  <a:lnTo>
                    <a:pt x="4139933" y="0"/>
                  </a:lnTo>
                  <a:lnTo>
                    <a:pt x="4169301" y="5929"/>
                  </a:lnTo>
                  <a:lnTo>
                    <a:pt x="4193284" y="22099"/>
                  </a:lnTo>
                  <a:lnTo>
                    <a:pt x="4209454" y="46082"/>
                  </a:lnTo>
                  <a:lnTo>
                    <a:pt x="4215384" y="75450"/>
                  </a:lnTo>
                  <a:lnTo>
                    <a:pt x="4215384" y="854202"/>
                  </a:lnTo>
                  <a:lnTo>
                    <a:pt x="4209454" y="883568"/>
                  </a:lnTo>
                  <a:lnTo>
                    <a:pt x="4193284" y="907546"/>
                  </a:lnTo>
                  <a:lnTo>
                    <a:pt x="4169301" y="923712"/>
                  </a:lnTo>
                  <a:lnTo>
                    <a:pt x="4139933" y="929640"/>
                  </a:lnTo>
                  <a:lnTo>
                    <a:pt x="75450" y="929640"/>
                  </a:lnTo>
                  <a:lnTo>
                    <a:pt x="46082" y="923712"/>
                  </a:lnTo>
                  <a:lnTo>
                    <a:pt x="22099" y="907546"/>
                  </a:lnTo>
                  <a:lnTo>
                    <a:pt x="5929" y="883568"/>
                  </a:lnTo>
                  <a:lnTo>
                    <a:pt x="0" y="854202"/>
                  </a:lnTo>
                  <a:lnTo>
                    <a:pt x="0" y="75450"/>
                  </a:lnTo>
                  <a:close/>
                </a:path>
              </a:pathLst>
            </a:custGeom>
            <a:ln w="38099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88499" y="209143"/>
            <a:ext cx="2693670" cy="12052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3200" spc="-40" dirty="0">
                <a:latin typeface="PMingLiU"/>
                <a:cs typeface="PMingLiU"/>
              </a:rPr>
              <a:t>     </a:t>
            </a:r>
            <a:r>
              <a:rPr sz="3200" spc="-4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伪代</a:t>
            </a:r>
            <a:r>
              <a:rPr sz="3200" spc="-5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码</a:t>
            </a:r>
            <a:endParaRPr sz="3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6870" indent="-343535">
              <a:lnSpc>
                <a:spcPct val="100000"/>
              </a:lnSpc>
              <a:spcBef>
                <a:spcPts val="209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6870" algn="l"/>
                <a:tab pos="357505" algn="l"/>
              </a:tabLst>
            </a:pPr>
            <a:r>
              <a:rPr sz="2800" b="1" spc="-10" dirty="0">
                <a:latin typeface="Times New Roman"/>
                <a:cs typeface="Times New Roman"/>
              </a:rPr>
              <a:t>DFS-</a:t>
            </a:r>
            <a:r>
              <a:rPr sz="2800" b="1" dirty="0">
                <a:latin typeface="Times New Roman"/>
                <a:cs typeface="Times New Roman"/>
              </a:rPr>
              <a:t>Visit(</a:t>
            </a:r>
            <a:r>
              <a:rPr sz="2800" dirty="0">
                <a:latin typeface="Cambria Math"/>
                <a:cs typeface="Cambria Math"/>
              </a:rPr>
              <a:t>𝐺,</a:t>
            </a:r>
            <a:r>
              <a:rPr sz="2800" spc="-35" dirty="0">
                <a:latin typeface="Cambria Math"/>
                <a:cs typeface="Cambria Math"/>
              </a:rPr>
              <a:t> </a:t>
            </a:r>
            <a:r>
              <a:rPr sz="2800" spc="45" dirty="0">
                <a:latin typeface="Cambria Math"/>
                <a:cs typeface="Cambria Math"/>
              </a:rPr>
              <a:t>𝑣</a:t>
            </a:r>
            <a:r>
              <a:rPr sz="2800" b="1" spc="4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65495" y="4607433"/>
            <a:ext cx="3687445" cy="49657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514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5"/>
              </a:spcBef>
            </a:pPr>
            <a:r>
              <a:rPr sz="2200" spc="-15">
                <a:latin typeface="PMingLiU"/>
                <a:cs typeface="PMingLiU"/>
              </a:rPr>
              <a:t>结束搜索</a:t>
            </a:r>
            <a:endParaRPr sz="2200">
              <a:latin typeface="PMingLiU"/>
              <a:cs typeface="PMingLiU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53131;#53131;#177509;#76194;#81515;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23454</TotalTime>
  <Words>1425</Words>
  <Application>Microsoft Macintosh PowerPoint</Application>
  <PresentationFormat>宽屏</PresentationFormat>
  <Paragraphs>1129</Paragraphs>
  <Slides>42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5" baseType="lpstr">
      <vt:lpstr>等线</vt:lpstr>
      <vt:lpstr>等线 Light</vt:lpstr>
      <vt:lpstr>方正大标宋简体</vt:lpstr>
      <vt:lpstr>方正清刻本悦宋简体</vt:lpstr>
      <vt:lpstr>SimSun</vt:lpstr>
      <vt:lpstr>Microsoft JhengHei</vt:lpstr>
      <vt:lpstr>PMingLiU</vt:lpstr>
      <vt:lpstr>Times New Roman Regular</vt:lpstr>
      <vt:lpstr>Arial</vt:lpstr>
      <vt:lpstr>Cambria Math</vt:lpstr>
      <vt:lpstr>Times New Roman</vt:lpstr>
      <vt:lpstr>Wingdings</vt:lpstr>
      <vt:lpstr>Office 主题​​</vt:lpstr>
      <vt:lpstr>算法设计与分析</vt:lpstr>
      <vt:lpstr>PowerPoint 演示文稿</vt:lpstr>
      <vt:lpstr>图的搜索</vt:lpstr>
      <vt:lpstr>图的搜索</vt:lpstr>
      <vt:lpstr>算法思想</vt:lpstr>
      <vt:lpstr>算法思想</vt:lpstr>
      <vt:lpstr>算法思想</vt:lpstr>
      <vt:lpstr>算法思想</vt:lpstr>
      <vt:lpstr>算法思想</vt:lpstr>
      <vt:lpstr>算法思想</vt:lpstr>
      <vt:lpstr>算法思想</vt:lpstr>
      <vt:lpstr>算法思想</vt:lpstr>
      <vt:lpstr>算法思想</vt:lpstr>
      <vt:lpstr>算法思想</vt:lpstr>
      <vt:lpstr>算法思想</vt:lpstr>
      <vt:lpstr>算法思想</vt:lpstr>
      <vt:lpstr>算法思想</vt:lpstr>
      <vt:lpstr>算法思想</vt:lpstr>
      <vt:lpstr>算法思想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伪代码</vt:lpstr>
      <vt:lpstr>PowerPoint 演示文稿</vt:lpstr>
      <vt:lpstr>PowerPoint 演示文稿</vt:lpstr>
      <vt:lpstr>伪代码</vt:lpstr>
      <vt:lpstr>伪代码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赵 浩然</dc:creator>
  <cp:lastModifiedBy>赵 浩然</cp:lastModifiedBy>
  <cp:revision>1048</cp:revision>
  <dcterms:created xsi:type="dcterms:W3CDTF">2022-08-31T02:13:47Z</dcterms:created>
  <dcterms:modified xsi:type="dcterms:W3CDTF">2023-06-05T03:04:21Z</dcterms:modified>
</cp:coreProperties>
</file>