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395" r:id="rId2"/>
    <p:sldId id="259" r:id="rId3"/>
    <p:sldId id="262" r:id="rId4"/>
    <p:sldId id="396" r:id="rId5"/>
    <p:sldId id="397" r:id="rId6"/>
    <p:sldId id="398" r:id="rId7"/>
    <p:sldId id="399" r:id="rId8"/>
    <p:sldId id="400" r:id="rId9"/>
    <p:sldId id="401" r:id="rId10"/>
    <p:sldId id="402" r:id="rId11"/>
    <p:sldId id="403" r:id="rId12"/>
    <p:sldId id="404" r:id="rId13"/>
    <p:sldId id="405" r:id="rId14"/>
    <p:sldId id="408" r:id="rId15"/>
    <p:sldId id="407" r:id="rId16"/>
    <p:sldId id="409" r:id="rId17"/>
    <p:sldId id="410" r:id="rId18"/>
    <p:sldId id="411" r:id="rId19"/>
    <p:sldId id="412" r:id="rId20"/>
    <p:sldId id="413" r:id="rId21"/>
    <p:sldId id="414" r:id="rId22"/>
    <p:sldId id="415" r:id="rId23"/>
    <p:sldId id="416" r:id="rId24"/>
    <p:sldId id="417" r:id="rId25"/>
    <p:sldId id="419" r:id="rId26"/>
    <p:sldId id="418" r:id="rId27"/>
    <p:sldId id="420" r:id="rId28"/>
    <p:sldId id="421" r:id="rId29"/>
    <p:sldId id="422" r:id="rId30"/>
    <p:sldId id="423" r:id="rId31"/>
    <p:sldId id="426" r:id="rId32"/>
    <p:sldId id="424" r:id="rId33"/>
    <p:sldId id="425" r:id="rId34"/>
    <p:sldId id="427" r:id="rId35"/>
    <p:sldId id="406"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93"/>
    <p:restoredTop sz="86616"/>
  </p:normalViewPr>
  <p:slideViewPr>
    <p:cSldViewPr snapToGrid="0" snapToObjects="1">
      <p:cViewPr varScale="1">
        <p:scale>
          <a:sx n="123" d="100"/>
          <a:sy n="123" d="100"/>
        </p:scale>
        <p:origin x="19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A31A9-199E-0040-B421-36D8B674C3C2}" type="datetimeFigureOut">
              <a:rPr kumimoji="1" lang="zh-CN" altLang="en-US" smtClean="0"/>
              <a:t>2023/4/24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1ABD9-FA3A-ED42-B2DF-4A75A1E7DD15}" type="slidenum">
              <a:rPr kumimoji="1" lang="zh-CN" altLang="en-US" smtClean="0"/>
              <a:t>‹#›</a:t>
            </a:fld>
            <a:endParaRPr kumimoji="1" lang="zh-CN" altLang="en-US"/>
          </a:p>
        </p:txBody>
      </p:sp>
    </p:spTree>
    <p:extLst>
      <p:ext uri="{BB962C8B-B14F-4D97-AF65-F5344CB8AC3E}">
        <p14:creationId xmlns:p14="http://schemas.microsoft.com/office/powerpoint/2010/main" val="3220058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C6B3782-2C2A-4249-98A3-D66C57BFD1C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算法设计中很重要的工作就是将重复处理大量数据的步骤抽象成循环或者递归，设计出可以针对不同规模解决问题的算法。而在循环算法设计中，一个重要的工作就是构造出不变式的循环条件、循环体，本节通过实例介绍循环不变式，递归不变式的构造过程，说明循环、递归设计的基本方法及需要考虑的要素。</a:t>
            </a:r>
          </a:p>
        </p:txBody>
      </p:sp>
      <p:sp>
        <p:nvSpPr>
          <p:cNvPr id="4" name="灯片编号占位符 3"/>
          <p:cNvSpPr>
            <a:spLocks noGrp="1"/>
          </p:cNvSpPr>
          <p:nvPr>
            <p:ph type="sldNum" sz="quarter" idx="5"/>
          </p:nvPr>
        </p:nvSpPr>
        <p:spPr/>
        <p:txBody>
          <a:bodyPr/>
          <a:lstStyle/>
          <a:p>
            <a:fld id="{D18AA5F0-770B-410C-90B7-ECBA0CF9027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首先，大家回顾一下之前学习</a:t>
            </a:r>
            <a:r>
              <a:rPr lang="en-US" altLang="zh-CN" dirty="0"/>
              <a:t>C</a:t>
            </a:r>
            <a:r>
              <a:rPr lang="zh-CN" altLang="en-US" dirty="0"/>
              <a:t>语言，如何解这类题目？ 只不过多了累乘。</a:t>
            </a:r>
          </a:p>
        </p:txBody>
      </p:sp>
      <p:sp>
        <p:nvSpPr>
          <p:cNvPr id="4" name="灯片编号占位符 3"/>
          <p:cNvSpPr>
            <a:spLocks noGrp="1"/>
          </p:cNvSpPr>
          <p:nvPr>
            <p:ph type="sldNum" sz="quarter" idx="10"/>
          </p:nvPr>
        </p:nvSpPr>
        <p:spPr/>
        <p:txBody>
          <a:bodyPr/>
          <a:lstStyle/>
          <a:p>
            <a:fld id="{9E32E36B-D170-4545-8E54-A61578580DB7}" type="slidenum">
              <a:rPr lang="zh-CN" altLang="en-US" smtClean="0"/>
              <a:pPr/>
              <a:t>3</a:t>
            </a:fld>
            <a:endParaRPr lang="zh-CN" altLang="en-US"/>
          </a:p>
        </p:txBody>
      </p:sp>
    </p:spTree>
    <p:extLst>
      <p:ext uri="{BB962C8B-B14F-4D97-AF65-F5344CB8AC3E}">
        <p14:creationId xmlns:p14="http://schemas.microsoft.com/office/powerpoint/2010/main" val="2557458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34</a:t>
            </a:fld>
            <a:endParaRPr kumimoji="1" lang="zh-CN" altLang="en-US"/>
          </a:p>
        </p:txBody>
      </p:sp>
    </p:spTree>
    <p:extLst>
      <p:ext uri="{BB962C8B-B14F-4D97-AF65-F5344CB8AC3E}">
        <p14:creationId xmlns:p14="http://schemas.microsoft.com/office/powerpoint/2010/main" val="2287773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microsoft.com/office/2007/relationships/hdphoto" Target="../media/hdphoto1.wdp"/></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章节标题">
    <p:spTree>
      <p:nvGrpSpPr>
        <p:cNvPr id="1" name=""/>
        <p:cNvGrpSpPr/>
        <p:nvPr/>
      </p:nvGrpSpPr>
      <p:grpSpPr>
        <a:xfrm>
          <a:off x="0" y="0"/>
          <a:ext cx="0" cy="0"/>
          <a:chOff x="0" y="0"/>
          <a:chExt cx="0" cy="0"/>
        </a:xfrm>
      </p:grpSpPr>
      <p:sp>
        <p:nvSpPr>
          <p:cNvPr id="56" name="矩形 55"/>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5"/>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3" name="图片 2" descr="5"/>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1930393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55D43-650A-8A4B-B4D9-196FB2C293E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5E4EBA6-65F5-F74A-84A4-1DAA79C9FDE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1867305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F5F6E5-6A2C-7845-96D1-C3F40C702DB9}"/>
              </a:ext>
            </a:extLst>
          </p:cNvPr>
          <p:cNvSpPr>
            <a:spLocks noGrp="1"/>
          </p:cNvSpPr>
          <p:nvPr>
            <p:ph type="title"/>
          </p:nvPr>
        </p:nvSpPr>
        <p:spPr>
          <a:xfrm>
            <a:off x="838200" y="365125"/>
            <a:ext cx="10515600" cy="1325563"/>
          </a:xfrm>
          <a:prstGeom prst="rect">
            <a:avLst/>
          </a:prstGeom>
        </p:spPr>
        <p:txBody>
          <a:body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C7972C42-3007-F74B-BAC1-5ECA14414296}"/>
              </a:ext>
            </a:extLst>
          </p:cNvPr>
          <p:cNvSpPr>
            <a:spLocks noGrp="1"/>
          </p:cNvSpPr>
          <p:nvPr>
            <p:ph idx="1"/>
          </p:nvPr>
        </p:nvSpPr>
        <p:spPr>
          <a:xfrm>
            <a:off x="838200" y="1825625"/>
            <a:ext cx="10515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矩形 3">
            <a:extLst>
              <a:ext uri="{FF2B5EF4-FFF2-40B4-BE49-F238E27FC236}">
                <a16:creationId xmlns:a16="http://schemas.microsoft.com/office/drawing/2014/main" id="{61DA583F-A0A9-184A-920D-99C2970D07DB}"/>
              </a:ext>
            </a:extLst>
          </p:cNvPr>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5">
            <a:extLst>
              <a:ext uri="{FF2B5EF4-FFF2-40B4-BE49-F238E27FC236}">
                <a16:creationId xmlns:a16="http://schemas.microsoft.com/office/drawing/2014/main" id="{59417B76-385F-8F47-9B73-0CC349ACC120}"/>
              </a:ext>
            </a:extLst>
          </p:cNvPr>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6" name="图片 5" descr="5">
            <a:extLst>
              <a:ext uri="{FF2B5EF4-FFF2-40B4-BE49-F238E27FC236}">
                <a16:creationId xmlns:a16="http://schemas.microsoft.com/office/drawing/2014/main" id="{B1FF307E-882A-204E-8371-C5B671C94F49}"/>
              </a:ext>
            </a:extLst>
          </p:cNvPr>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7" name="任意多边形: 形状 8">
            <a:extLst>
              <a:ext uri="{FF2B5EF4-FFF2-40B4-BE49-F238E27FC236}">
                <a16:creationId xmlns:a16="http://schemas.microsoft.com/office/drawing/2014/main" id="{CD9F0C46-2A13-7B45-81EB-EFB03DDF0203}"/>
              </a:ext>
            </a:extLst>
          </p:cNvPr>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a:extLst>
              <a:ext uri="{FF2B5EF4-FFF2-40B4-BE49-F238E27FC236}">
                <a16:creationId xmlns:a16="http://schemas.microsoft.com/office/drawing/2014/main" id="{4DBBE2AB-3342-1A43-B2D9-3B6F8B655CDE}"/>
              </a:ext>
            </a:extLst>
          </p:cNvPr>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6">
            <a:extLst>
              <a:ext uri="{FF2B5EF4-FFF2-40B4-BE49-F238E27FC236}">
                <a16:creationId xmlns:a16="http://schemas.microsoft.com/office/drawing/2014/main" id="{238E4E78-41CE-BF47-A793-D77629CA3E76}"/>
              </a:ext>
            </a:extLst>
          </p:cNvPr>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a:extLst>
              <a:ext uri="{FF2B5EF4-FFF2-40B4-BE49-F238E27FC236}">
                <a16:creationId xmlns:a16="http://schemas.microsoft.com/office/drawing/2014/main" id="{EF31D326-2891-3944-8D5B-E4558A6F158A}"/>
              </a:ext>
            </a:extLst>
          </p:cNvPr>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2746427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7D2F9D-10B2-074B-8179-66513359D97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A2FD4FF-6442-7D42-B1EE-9A10919FD37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744574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C3275C-4BF5-474C-80F4-71D90D9D3FD6}"/>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84C7054-56E6-B54D-86C2-B62A7024A415}"/>
              </a:ext>
            </a:extLst>
          </p:cNvPr>
          <p:cNvSpPr>
            <a:spLocks noGrp="1"/>
          </p:cNvSpPr>
          <p:nvPr>
            <p:ph sz="half" idx="1"/>
          </p:nvPr>
        </p:nvSpPr>
        <p:spPr>
          <a:xfrm>
            <a:off x="838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E159AA6-2DAB-3D4B-968C-0C2209838485}"/>
              </a:ext>
            </a:extLst>
          </p:cNvPr>
          <p:cNvSpPr>
            <a:spLocks noGrp="1"/>
          </p:cNvSpPr>
          <p:nvPr>
            <p:ph sz="half" idx="2"/>
          </p:nvPr>
        </p:nvSpPr>
        <p:spPr>
          <a:xfrm>
            <a:off x="6172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906202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E1A48-F79F-564A-B2C8-EB0F930EFBBD}"/>
              </a:ext>
            </a:extLst>
          </p:cNvPr>
          <p:cNvSpPr>
            <a:spLocks noGrp="1"/>
          </p:cNvSpPr>
          <p:nvPr>
            <p:ph type="title"/>
          </p:nvPr>
        </p:nvSpPr>
        <p:spPr>
          <a:xfrm>
            <a:off x="839788" y="365125"/>
            <a:ext cx="10515600" cy="1325563"/>
          </a:xfrm>
          <a:prstGeom prst="rect">
            <a:avLst/>
          </a:prstGeo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9B51C87-D0E9-8B44-8CAB-1AE71AC396B2}"/>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3EEDA7B3-E5BE-FC4D-B7BF-2B58A0493409}"/>
              </a:ext>
            </a:extLst>
          </p:cNvPr>
          <p:cNvSpPr>
            <a:spLocks noGrp="1"/>
          </p:cNvSpPr>
          <p:nvPr>
            <p:ph sz="half" idx="2"/>
          </p:nvPr>
        </p:nvSpPr>
        <p:spPr>
          <a:xfrm>
            <a:off x="839788" y="2505075"/>
            <a:ext cx="5157787"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D6C4BB-9DB3-5143-8B4A-DBAE48BA776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FE585AB-BE90-9748-958F-7AFFC1666F86}"/>
              </a:ext>
            </a:extLst>
          </p:cNvPr>
          <p:cNvSpPr>
            <a:spLocks noGrp="1"/>
          </p:cNvSpPr>
          <p:nvPr>
            <p:ph sz="quarter" idx="4"/>
          </p:nvPr>
        </p:nvSpPr>
        <p:spPr>
          <a:xfrm>
            <a:off x="6172200" y="2505075"/>
            <a:ext cx="5183188"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1300348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073C-34CE-AC4E-ABB7-C7FC12F3BC3D}"/>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Tree>
    <p:extLst>
      <p:ext uri="{BB962C8B-B14F-4D97-AF65-F5344CB8AC3E}">
        <p14:creationId xmlns:p14="http://schemas.microsoft.com/office/powerpoint/2010/main" val="289382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58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379DE3-176F-7442-91F0-E6732C3340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A99DB349-89E5-AF43-A214-0FF14DB1A0E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DA0DD20-A8C2-9849-809E-627CE58CD89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Tree>
    <p:extLst>
      <p:ext uri="{BB962C8B-B14F-4D97-AF65-F5344CB8AC3E}">
        <p14:creationId xmlns:p14="http://schemas.microsoft.com/office/powerpoint/2010/main" val="911671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F92B43-D872-114B-9A28-B008488664C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7D339AFF-5EFD-7944-A43D-2353E09902D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ED4B25B-91B6-DC42-9D31-70F2E52EAFE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Tree>
    <p:extLst>
      <p:ext uri="{BB962C8B-B14F-4D97-AF65-F5344CB8AC3E}">
        <p14:creationId xmlns:p14="http://schemas.microsoft.com/office/powerpoint/2010/main" val="1408073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1_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22525-0C80-9541-BB3B-BC93FC851C80}"/>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98C1780-5833-6242-ABA7-FD54F283EF89}"/>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793547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81D9FF4-CA80-5F4D-AD5D-F4CDA27A74DE}"/>
              </a:ext>
            </a:extLst>
          </p:cNvPr>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F123BF3-514A-1149-85D7-971F2301A782}"/>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2537626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2C13E-B573-714B-95DA-FE1C7233BD6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99F250F-66A4-CB44-B444-3B095FB2B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A7F82AD-DCFE-7E4E-BC3B-B8961D0D8C59}"/>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5" name="页脚占位符 4">
            <a:extLst>
              <a:ext uri="{FF2B5EF4-FFF2-40B4-BE49-F238E27FC236}">
                <a16:creationId xmlns:a16="http://schemas.microsoft.com/office/drawing/2014/main" id="{DC56CDDD-056A-1A4C-95F9-15BE2F0C592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5BCE82C-2DD0-3646-86EF-14086348DB97}"/>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442140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E2E0D-F100-0B4D-BA37-588E52D6E90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BBA4034-A796-F141-8E93-7D05FA74888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21E16C0-D6BE-0D44-807B-EE5C78EBE951}"/>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5" name="页脚占位符 4">
            <a:extLst>
              <a:ext uri="{FF2B5EF4-FFF2-40B4-BE49-F238E27FC236}">
                <a16:creationId xmlns:a16="http://schemas.microsoft.com/office/drawing/2014/main" id="{570FBDA1-4D93-7443-974E-B17BB720ECB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B5421B-EACC-AE4F-B121-1D692C9CB2B6}"/>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31781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0E980-962D-3F44-B0EA-A409EF1DA80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EA65C97-A96A-6A4D-927E-F838B2F044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32C3D4C-C0E9-CC4A-8470-334D0F88055B}"/>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5" name="页脚占位符 4">
            <a:extLst>
              <a:ext uri="{FF2B5EF4-FFF2-40B4-BE49-F238E27FC236}">
                <a16:creationId xmlns:a16="http://schemas.microsoft.com/office/drawing/2014/main" id="{DDD69112-64F2-DB41-9DE9-D0C488E2C54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4F072F-377D-184E-8A96-A3A16B3BD328}"/>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2242879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A1FDEA-62E9-A94A-B877-2CEE48D65D8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B4BAE09-663E-5246-B2E4-5FB1D3203C2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3204E9-1F8D-1441-9E4C-06E8C04E0E3D}"/>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B1DC6EB-2F6E-0244-93A2-A837744C5CA8}"/>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6" name="页脚占位符 5">
            <a:extLst>
              <a:ext uri="{FF2B5EF4-FFF2-40B4-BE49-F238E27FC236}">
                <a16:creationId xmlns:a16="http://schemas.microsoft.com/office/drawing/2014/main" id="{9DC55E37-181B-A148-966C-4DAF9A1A881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8BCD124-A548-0943-8084-CC531D000384}"/>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926323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C78BAB-2899-214C-BD61-A44AF5D1AD1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D53B725-02FC-B943-BB4C-36416CD16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685D86A-09D3-C44C-B9F4-6E588BD2E29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8530A9B-0EB2-7D46-9DBE-21F3FC022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4191EEA-8572-9B4E-9BBC-22A9CFF172A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4ECD55-32DF-4F4E-87AB-7EA319859743}"/>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8" name="页脚占位符 7">
            <a:extLst>
              <a:ext uri="{FF2B5EF4-FFF2-40B4-BE49-F238E27FC236}">
                <a16:creationId xmlns:a16="http://schemas.microsoft.com/office/drawing/2014/main" id="{B30257D9-AB89-CD48-8EAB-65F0C1A251D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D892495F-1C7B-FC49-9072-1A1CE7A02375}"/>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856789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79860-597F-4B4F-883A-07CEB02132A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9DBCFC3-D3A4-C04F-BCEF-DEC58AC205BD}"/>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4" name="页脚占位符 3">
            <a:extLst>
              <a:ext uri="{FF2B5EF4-FFF2-40B4-BE49-F238E27FC236}">
                <a16:creationId xmlns:a16="http://schemas.microsoft.com/office/drawing/2014/main" id="{DC8B824B-4892-E447-B7D3-02DD4BE5FE9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3F7D6A84-B6F8-E146-9356-7F8CA2E5918C}"/>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404938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5B2F9ED-98A6-1F40-B60C-87E353539EBA}"/>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3" name="页脚占位符 2">
            <a:extLst>
              <a:ext uri="{FF2B5EF4-FFF2-40B4-BE49-F238E27FC236}">
                <a16:creationId xmlns:a16="http://schemas.microsoft.com/office/drawing/2014/main" id="{44693E35-5555-584E-A717-28E84DBBCAA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5FBD873-0F17-9343-9583-D51ABBFA35AD}"/>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702651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F2912-F3DA-C647-9CA0-A29982569C2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9A58FE21-107F-0A46-9DCC-01F8EFC192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0677B0A-3D49-6F4A-A0BD-178A30EA53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F78C4D0-E7BC-7346-A225-616065D0C804}"/>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6" name="页脚占位符 5">
            <a:extLst>
              <a:ext uri="{FF2B5EF4-FFF2-40B4-BE49-F238E27FC236}">
                <a16:creationId xmlns:a16="http://schemas.microsoft.com/office/drawing/2014/main" id="{4D455970-7EEC-9F4D-9441-ACCDA32EB20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89A71E7-E4C1-0345-916A-B57A481A6BD4}"/>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8937452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64561-286B-E149-AE7F-1FF412E946E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63A84CE-2FA0-6E48-A6C9-C447366AD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8A4A75F7-3CD5-0848-9A3B-8CD193287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47D8C3B-237F-1C49-99C1-735A2D853DB7}"/>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6" name="页脚占位符 5">
            <a:extLst>
              <a:ext uri="{FF2B5EF4-FFF2-40B4-BE49-F238E27FC236}">
                <a16:creationId xmlns:a16="http://schemas.microsoft.com/office/drawing/2014/main" id="{3392BEC2-2425-2742-8386-3ADBB062692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A296E39-1419-7E45-BD69-DE0A3C7DC5BD}"/>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2724809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2AF69E-AF88-B64D-ABDD-04DB5D3E557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6F59B29-31C7-A143-8657-8AE1CB8EF22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EF5996D-ACFA-8F4D-B912-DF75E3CC13D4}"/>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5" name="页脚占位符 4">
            <a:extLst>
              <a:ext uri="{FF2B5EF4-FFF2-40B4-BE49-F238E27FC236}">
                <a16:creationId xmlns:a16="http://schemas.microsoft.com/office/drawing/2014/main" id="{4632A62C-C6DE-D04B-8735-FED3190F3A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0D29B5-61B5-B74D-BE03-88925EFB3731}"/>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066705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50B4B1E-E39D-DD4A-B7F7-1B2FF26C70A5}"/>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D80FF54-B8C4-224E-8541-7902A00311C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71664AE-D3DB-2A40-ACE1-DBC1E97AE6EE}"/>
              </a:ext>
            </a:extLst>
          </p:cNvPr>
          <p:cNvSpPr>
            <a:spLocks noGrp="1"/>
          </p:cNvSpPr>
          <p:nvPr>
            <p:ph type="dt" sz="half" idx="10"/>
          </p:nvPr>
        </p:nvSpPr>
        <p:spPr/>
        <p:txBody>
          <a:bodyPr/>
          <a:lstStyle/>
          <a:p>
            <a:fld id="{A05CF517-7373-6349-A426-5E433EDE14F4}" type="datetimeFigureOut">
              <a:rPr kumimoji="1" lang="zh-CN" altLang="en-US" smtClean="0"/>
              <a:t>2023/4/24</a:t>
            </a:fld>
            <a:endParaRPr kumimoji="1" lang="zh-CN" altLang="en-US"/>
          </a:p>
        </p:txBody>
      </p:sp>
      <p:sp>
        <p:nvSpPr>
          <p:cNvPr id="5" name="页脚占位符 4">
            <a:extLst>
              <a:ext uri="{FF2B5EF4-FFF2-40B4-BE49-F238E27FC236}">
                <a16:creationId xmlns:a16="http://schemas.microsoft.com/office/drawing/2014/main" id="{8FD85D98-2BB9-784B-8D6D-76BBD0EA23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5E00FF-4311-1C4D-A115-27DB4E71F98B}"/>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368700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封面-2">
    <p:spTree>
      <p:nvGrpSpPr>
        <p:cNvPr id="1" name=""/>
        <p:cNvGrpSpPr/>
        <p:nvPr/>
      </p:nvGrpSpPr>
      <p:grpSpPr>
        <a:xfrm>
          <a:off x="0" y="0"/>
          <a:ext cx="0" cy="0"/>
          <a:chOff x="0" y="0"/>
          <a:chExt cx="0" cy="0"/>
        </a:xfrm>
      </p:grpSpPr>
      <p:cxnSp>
        <p:nvCxnSpPr>
          <p:cNvPr id="30" name="直接连接符 29"/>
          <p:cNvCxnSpPr/>
          <p:nvPr userDrawn="1"/>
        </p:nvCxnSpPr>
        <p:spPr>
          <a:xfrm flipV="1">
            <a:off x="2784475" y="5851525"/>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V="1">
            <a:off x="2861310" y="589915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6200000">
            <a:off x="2880995" y="5984240"/>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flipV="1">
            <a:off x="9404350" y="5851525"/>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rot="10800000" flipH="1" flipV="1">
            <a:off x="9327515" y="589915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rot="5400000" flipH="1">
            <a:off x="9193530" y="5984240"/>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sp>
        <p:nvSpPr>
          <p:cNvPr id="39" name="图片占位符 12"/>
          <p:cNvSpPr>
            <a:spLocks noGrp="1"/>
          </p:cNvSpPr>
          <p:nvPr>
            <p:ph type="pic" sz="quarter" idx="12"/>
          </p:nvPr>
        </p:nvSpPr>
        <p:spPr>
          <a:xfrm>
            <a:off x="126" y="-5114"/>
            <a:ext cx="12191748" cy="3616817"/>
          </a:xfrm>
        </p:spPr>
      </p:sp>
      <p:sp>
        <p:nvSpPr>
          <p:cNvPr id="40" name="任意多边形: 形状 39"/>
          <p:cNvSpPr/>
          <p:nvPr userDrawn="1"/>
        </p:nvSpPr>
        <p:spPr>
          <a:xfrm>
            <a:off x="0" y="-10810"/>
            <a:ext cx="12192000" cy="3621880"/>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blipFill dpi="0" rotWithShape="1">
            <a:blip r:embed="rId2"/>
            <a:srcRect/>
            <a:tile tx="0" ty="0" sx="100000" sy="100000" flip="none" algn="tl"/>
          </a:blip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任意多边形: 形状 40"/>
          <p:cNvSpPr/>
          <p:nvPr userDrawn="1"/>
        </p:nvSpPr>
        <p:spPr>
          <a:xfrm>
            <a:off x="0" y="-10810"/>
            <a:ext cx="12192000" cy="3621880"/>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solidFill>
            <a:schemeClr val="accent1">
              <a:alpha val="90000"/>
            </a:schemeClr>
          </a:solidFill>
          <a:ln>
            <a:noFill/>
          </a:ln>
          <a:effectLst>
            <a:outerShdw blurRad="190500" dist="38100" dir="5400000" algn="t" rotWithShape="0">
              <a:prstClr val="black">
                <a:alpha val="1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userDrawn="1"/>
        </p:nvSpPr>
        <p:spPr>
          <a:xfrm>
            <a:off x="-170180" y="-10795"/>
            <a:ext cx="12532360" cy="3841115"/>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blipFill dpi="0" rotWithShape="1">
            <a:blip r:embed="rId3">
              <a:extLst>
                <a:ext uri="{BEBA8EAE-BF5A-486C-A8C5-ECC9F3942E4B}">
                  <a14:imgProps xmlns:a14="http://schemas.microsoft.com/office/drawing/2010/main">
                    <a14:imgLayer r:embed="rId4">
                      <a14:imgEffect>
                        <a14:artisticFilmGrain grainSize="50"/>
                      </a14:imgEffect>
                    </a14:imgLayer>
                  </a14:imgProps>
                </a:ext>
                <a:ext uri="{28A0092B-C50C-407E-A947-70E740481C1C}">
                  <a14:useLocalDpi xmlns:a14="http://schemas.microsoft.com/office/drawing/2010/main" val="0"/>
                </a:ext>
              </a:extLst>
            </a:blip>
            <a:srcRect/>
            <a:stretch>
              <a:fillRect l="-586" t="-64169" r="586" b="-25181"/>
            </a:stretch>
          </a:blip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nvPr>
        </p:nvSpPr>
        <p:spPr>
          <a:xfrm>
            <a:off x="2719867" y="3935404"/>
            <a:ext cx="6752267" cy="652810"/>
          </a:xfrm>
        </p:spPr>
        <p:txBody>
          <a:bodyPr lIns="0" tIns="0" rIns="0" bIns="0"/>
          <a:lstStyle>
            <a:lvl1pPr>
              <a:defRPr b="1">
                <a:solidFill>
                  <a:srgbClr val="005D96"/>
                </a:solidFill>
                <a:latin typeface="方正大标宋简体" panose="02010601030101010101" pitchFamily="2" charset="-122"/>
                <a:ea typeface="方正大标宋简体" panose="02010601030101010101" pitchFamily="2" charset="-122"/>
              </a:defRPr>
            </a:lvl1pPr>
          </a:lstStyle>
          <a:p>
            <a:pPr lvl="0"/>
            <a:r>
              <a:rPr lang="zh-CN" altLang="en-US" b="1" dirty="0"/>
              <a:t>青岛理工大学答辩答辩模板</a:t>
            </a:r>
            <a:endParaRPr kumimoji="0" lang="zh-CN" altLang="en-US" sz="8800" b="1" i="0" u="none" strike="noStrike" kern="1200" cap="none" spc="100" normalizeH="0" baseline="0" noProof="0" dirty="0">
              <a:ln>
                <a:noFill/>
              </a:ln>
              <a:effectLst/>
              <a:uLnTx/>
              <a:uFillTx/>
              <a:latin typeface="方正大标宋简体" panose="02010601030101010101" pitchFamily="2" charset="-122"/>
              <a:ea typeface="方正大标宋简体" panose="02010601030101010101" pitchFamily="2" charset="-122"/>
            </a:endParaRPr>
          </a:p>
        </p:txBody>
      </p:sp>
      <p:sp>
        <p:nvSpPr>
          <p:cNvPr id="37" name="弧形 36"/>
          <p:cNvSpPr/>
          <p:nvPr userDrawn="1"/>
        </p:nvSpPr>
        <p:spPr>
          <a:xfrm>
            <a:off x="-912640" y="2648627"/>
            <a:ext cx="14352607" cy="5450476"/>
          </a:xfrm>
          <a:prstGeom prst="arc">
            <a:avLst>
              <a:gd name="adj1" fmla="val 11562219"/>
              <a:gd name="adj2" fmla="val 20729169"/>
            </a:avLst>
          </a:prstGeom>
          <a:ln w="53975">
            <a:solidFill>
              <a:srgbClr val="005D96"/>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占位符 9"/>
          <p:cNvSpPr>
            <a:spLocks noGrp="1"/>
          </p:cNvSpPr>
          <p:nvPr>
            <p:ph type="body" sz="quarter" idx="11" hasCustomPrompt="1"/>
          </p:nvPr>
        </p:nvSpPr>
        <p:spPr>
          <a:xfrm>
            <a:off x="515937" y="4657177"/>
            <a:ext cx="11160126" cy="337185"/>
          </a:xfrm>
          <a:prstGeom prst="rect">
            <a:avLst/>
          </a:prstGeom>
        </p:spPr>
        <p:txBody>
          <a:bodyPr vert="horz" wrap="square" lIns="0" tIns="45720" rIns="91440" bIns="45720" anchor="ctr" anchorCtr="0">
            <a:spAutoFit/>
          </a:bodyPr>
          <a:lstStyle>
            <a:lvl1pPr marL="0" indent="0" algn="ctr" defTabSz="914400" rtl="0" eaLnBrk="1" fontAlgn="auto" latinLnBrk="0" hangingPunct="1">
              <a:lnSpc>
                <a:spcPct val="100000"/>
              </a:lnSpc>
              <a:spcBef>
                <a:spcPts val="1000"/>
              </a:spcBef>
              <a:spcAft>
                <a:spcPts val="0"/>
              </a:spcAft>
              <a:buFont typeface="Arial" panose="020B0604020202020204" pitchFamily="34" charset="0"/>
              <a:buNone/>
              <a:defRPr sz="1600" spc="200">
                <a:solidFill>
                  <a:srgbClr val="595959"/>
                </a:solidFill>
                <a:latin typeface="Arial" panose="020B0604020202020204" pitchFamily="34" charset="0"/>
                <a:ea typeface="微软雅黑 Light" panose="020B0502040204020203"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Qingdao University of Technology PowerPoint Template</a:t>
            </a:r>
            <a:endParaRPr lang="zh-CN" altLang="en-US" dirty="0"/>
          </a:p>
        </p:txBody>
      </p:sp>
      <p:grpSp>
        <p:nvGrpSpPr>
          <p:cNvPr id="24" name="组合 23"/>
          <p:cNvGrpSpPr/>
          <p:nvPr userDrawn="1"/>
        </p:nvGrpSpPr>
        <p:grpSpPr>
          <a:xfrm>
            <a:off x="2704260" y="5219564"/>
            <a:ext cx="6783480" cy="99986"/>
            <a:chOff x="628656" y="974915"/>
            <a:chExt cx="11038056" cy="24702"/>
          </a:xfrm>
        </p:grpSpPr>
        <p:cxnSp>
          <p:nvCxnSpPr>
            <p:cNvPr id="25" name="直接连接符 24"/>
            <p:cNvCxnSpPr/>
            <p:nvPr/>
          </p:nvCxnSpPr>
          <p:spPr>
            <a:xfrm>
              <a:off x="628656" y="975360"/>
              <a:ext cx="8627657" cy="0"/>
            </a:xfrm>
            <a:prstGeom prst="line">
              <a:avLst/>
            </a:prstGeom>
            <a:ln w="19050">
              <a:solidFill>
                <a:srgbClr val="005D96"/>
              </a:solidFill>
            </a:ln>
          </p:spPr>
          <p:style>
            <a:lnRef idx="3">
              <a:schemeClr val="accent1"/>
            </a:lnRef>
            <a:fillRef idx="0">
              <a:schemeClr val="accent1"/>
            </a:fillRef>
            <a:effectRef idx="2">
              <a:schemeClr val="accent1"/>
            </a:effectRef>
            <a:fontRef idx="minor">
              <a:schemeClr val="tx1"/>
            </a:fontRef>
          </p:style>
        </p:cxnSp>
        <p:cxnSp>
          <p:nvCxnSpPr>
            <p:cNvPr id="26" name="直接连接符 25"/>
            <p:cNvCxnSpPr/>
            <p:nvPr/>
          </p:nvCxnSpPr>
          <p:spPr>
            <a:xfrm flipH="1">
              <a:off x="9233073" y="974915"/>
              <a:ext cx="23240" cy="24702"/>
            </a:xfrm>
            <a:prstGeom prst="line">
              <a:avLst/>
            </a:prstGeom>
            <a:ln w="19050"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9233070" y="975360"/>
              <a:ext cx="189380" cy="24257"/>
            </a:xfrm>
            <a:prstGeom prst="line">
              <a:avLst/>
            </a:prstGeom>
            <a:ln w="19050" cap="rnd">
              <a:solidFill>
                <a:srgbClr val="005D96"/>
              </a:solidFill>
              <a:miter lim="800000"/>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9422450" y="975360"/>
              <a:ext cx="2244262" cy="0"/>
            </a:xfrm>
            <a:prstGeom prst="line">
              <a:avLst/>
            </a:prstGeom>
            <a:ln w="19050">
              <a:solidFill>
                <a:srgbClr val="005D96"/>
              </a:solidFill>
            </a:ln>
          </p:spPr>
          <p:style>
            <a:lnRef idx="1">
              <a:schemeClr val="accent1"/>
            </a:lnRef>
            <a:fillRef idx="0">
              <a:schemeClr val="accent1"/>
            </a:fillRef>
            <a:effectRef idx="0">
              <a:schemeClr val="accent1"/>
            </a:effectRef>
            <a:fontRef idx="minor">
              <a:schemeClr val="tx1"/>
            </a:fontRef>
          </p:style>
        </p:cxnSp>
      </p:grpSp>
      <p:sp>
        <p:nvSpPr>
          <p:cNvPr id="43" name="文本占位符 52"/>
          <p:cNvSpPr>
            <a:spLocks noGrp="1"/>
          </p:cNvSpPr>
          <p:nvPr>
            <p:ph type="body" sz="quarter" idx="13" hasCustomPrompt="1"/>
          </p:nvPr>
        </p:nvSpPr>
        <p:spPr>
          <a:xfrm>
            <a:off x="3979414" y="5821985"/>
            <a:ext cx="1978489" cy="304165"/>
          </a:xfrm>
          <a:prstGeom prst="rect">
            <a:avLst/>
          </a:prstGeom>
        </p:spPr>
        <p:txBody>
          <a:bodyPr vert="horz" wrap="square" lIns="0" tIns="0" rIns="0" bIns="0" anchor="b" anchorCtr="0">
            <a:spAutoFit/>
          </a:bodyPr>
          <a:lstStyle>
            <a:lvl1pPr marL="0" indent="0" algn="l" defTabSz="914400" rtl="0" eaLnBrk="1" fontAlgn="auto" latinLnBrk="0" hangingPunct="1">
              <a:lnSpc>
                <a:spcPct val="110000"/>
              </a:lnSpc>
              <a:spcBef>
                <a:spcPts val="0"/>
              </a:spcBef>
              <a:spcAft>
                <a:spcPts val="0"/>
              </a:spcAft>
              <a:buFont typeface="Arial" panose="020B0604020202020204" pitchFamily="34" charset="0"/>
              <a:buNone/>
              <a:defRPr sz="1800" spc="0">
                <a:solidFill>
                  <a:srgbClr val="005D96"/>
                </a:solidFill>
                <a:latin typeface="方正大标宋简体" panose="02010601030101010101" pitchFamily="2" charset="-122"/>
                <a:ea typeface="方正大标宋简体" panose="02010601030101010101" pitchFamily="2" charset="-122"/>
                <a:sym typeface="方正大标宋简体" panose="02010601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汇报人：青小理</a:t>
            </a:r>
          </a:p>
        </p:txBody>
      </p:sp>
      <p:sp>
        <p:nvSpPr>
          <p:cNvPr id="44" name="文本占位符 1"/>
          <p:cNvSpPr>
            <a:spLocks noGrp="1"/>
          </p:cNvSpPr>
          <p:nvPr>
            <p:ph type="body" sz="quarter" idx="15" hasCustomPrompt="1"/>
          </p:nvPr>
        </p:nvSpPr>
        <p:spPr>
          <a:xfrm>
            <a:off x="6756211" y="5838317"/>
            <a:ext cx="1849890" cy="287836"/>
          </a:xfrm>
          <a:prstGeom prst="rect">
            <a:avLst/>
          </a:prstGeom>
        </p:spPr>
        <p:txBody>
          <a:bodyPr vert="horz" wrap="square" lIns="0" tIns="0" rIns="0" bIns="0" anchor="b" anchorCtr="0">
            <a:normAutofit/>
          </a:bodyPr>
          <a:lstStyle>
            <a:lvl1pPr marL="0" indent="0" algn="l" defTabSz="914400" rtl="0" eaLnBrk="1" fontAlgn="auto" latinLnBrk="0" hangingPunct="1">
              <a:lnSpc>
                <a:spcPct val="110000"/>
              </a:lnSpc>
              <a:spcBef>
                <a:spcPts val="0"/>
              </a:spcBef>
              <a:spcAft>
                <a:spcPts val="0"/>
              </a:spcAft>
              <a:buFont typeface="Arial" panose="020B0604020202020204" pitchFamily="34" charset="0"/>
              <a:buNone/>
              <a:defRPr sz="1800" spc="0">
                <a:solidFill>
                  <a:srgbClr val="005D96"/>
                </a:solidFill>
                <a:latin typeface="方正大标宋简体" panose="02010601030101010101" pitchFamily="2" charset="-122"/>
                <a:ea typeface="方正大标宋简体" panose="02010601030101010101" pitchFamily="2" charset="-122"/>
                <a:sym typeface="方正大标宋简体" panose="02010601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指导老师：青老师</a:t>
            </a:r>
          </a:p>
        </p:txBody>
      </p:sp>
      <p:sp>
        <p:nvSpPr>
          <p:cNvPr id="17" name="任意多边形: 形状 41"/>
          <p:cNvSpPr/>
          <p:nvPr userDrawn="1"/>
        </p:nvSpPr>
        <p:spPr>
          <a:xfrm>
            <a:off x="-170180" y="-56515"/>
            <a:ext cx="12532360" cy="3908425"/>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solidFill>
            <a:srgbClr val="005D96">
              <a:alpha val="69000"/>
            </a:srgb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文本框 17"/>
          <p:cNvSpPr txBox="1"/>
          <p:nvPr userDrawn="1"/>
        </p:nvSpPr>
        <p:spPr>
          <a:xfrm>
            <a:off x="10196830" y="-1358900"/>
            <a:ext cx="309880" cy="368300"/>
          </a:xfrm>
          <a:prstGeom prst="rect">
            <a:avLst/>
          </a:prstGeom>
          <a:noFill/>
        </p:spPr>
        <p:txBody>
          <a:bodyPr wrap="none" rtlCol="0">
            <a:spAutoFit/>
          </a:bodyPr>
          <a:lstStyle/>
          <a:p>
            <a:endParaRPr lang="zh-CN" altLang="en-US"/>
          </a:p>
        </p:txBody>
      </p:sp>
      <p:pic>
        <p:nvPicPr>
          <p:cNvPr id="19" name="图片 18" descr="青岛理工大学校徽"/>
          <p:cNvPicPr>
            <a:picLocks noChangeAspect="1"/>
          </p:cNvPicPr>
          <p:nvPr userDrawn="1"/>
        </p:nvPicPr>
        <p:blipFill>
          <a:blip r:embed="rId5"/>
          <a:stretch>
            <a:fillRect/>
          </a:stretch>
        </p:blipFill>
        <p:spPr>
          <a:xfrm>
            <a:off x="5283835" y="1692910"/>
            <a:ext cx="1783715" cy="1783715"/>
          </a:xfrm>
          <a:prstGeom prst="rect">
            <a:avLst/>
          </a:prstGeom>
        </p:spPr>
      </p:pic>
    </p:spTree>
    <p:extLst>
      <p:ext uri="{BB962C8B-B14F-4D97-AF65-F5344CB8AC3E}">
        <p14:creationId xmlns:p14="http://schemas.microsoft.com/office/powerpoint/2010/main" val="4255395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章节标题">
    <p:spTree>
      <p:nvGrpSpPr>
        <p:cNvPr id="1" name=""/>
        <p:cNvGrpSpPr/>
        <p:nvPr/>
      </p:nvGrpSpPr>
      <p:grpSpPr>
        <a:xfrm>
          <a:off x="0" y="0"/>
          <a:ext cx="0" cy="0"/>
          <a:chOff x="0" y="0"/>
          <a:chExt cx="0" cy="0"/>
        </a:xfrm>
      </p:grpSpPr>
      <p:sp>
        <p:nvSpPr>
          <p:cNvPr id="56" name="矩形 55"/>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5"/>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3" name="图片 2" descr="5"/>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55445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2D3ABB-1285-294F-A20A-F30083EB9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A1A8907-74D6-0D45-95A8-836E4EC85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017F7AE-BD20-0A4F-80C4-18B0EDB6DE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5CF517-7373-6349-A426-5E433EDE14F4}" type="datetimeFigureOut">
              <a:rPr kumimoji="1" lang="zh-CN" altLang="en-US" smtClean="0"/>
              <a:t>2023/4/24</a:t>
            </a:fld>
            <a:endParaRPr kumimoji="1" lang="zh-CN" altLang="en-US"/>
          </a:p>
        </p:txBody>
      </p:sp>
      <p:sp>
        <p:nvSpPr>
          <p:cNvPr id="5" name="页脚占位符 4">
            <a:extLst>
              <a:ext uri="{FF2B5EF4-FFF2-40B4-BE49-F238E27FC236}">
                <a16:creationId xmlns:a16="http://schemas.microsoft.com/office/drawing/2014/main" id="{F034DFE5-4086-414D-857D-C32B7481EA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256FCBA4-62E5-7A40-8979-12F1BF0DD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729EF8-2028-4447-86E5-25060CA00E4D}" type="slidenum">
              <a:rPr kumimoji="1" lang="zh-CN" altLang="en-US" smtClean="0"/>
              <a:t>‹#›</a:t>
            </a:fld>
            <a:endParaRPr kumimoji="1" lang="zh-CN" altLang="en-US"/>
          </a:p>
        </p:txBody>
      </p:sp>
      <p:sp>
        <p:nvSpPr>
          <p:cNvPr id="7" name="矩形 6">
            <a:extLst>
              <a:ext uri="{FF2B5EF4-FFF2-40B4-BE49-F238E27FC236}">
                <a16:creationId xmlns:a16="http://schemas.microsoft.com/office/drawing/2014/main" id="{7487543E-91E5-5145-A581-4D7204F32DA7}"/>
              </a:ext>
            </a:extLst>
          </p:cNvPr>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5">
            <a:extLst>
              <a:ext uri="{FF2B5EF4-FFF2-40B4-BE49-F238E27FC236}">
                <a16:creationId xmlns:a16="http://schemas.microsoft.com/office/drawing/2014/main" id="{86770886-93F4-434C-9FE2-AEFDCF90D23E}"/>
              </a:ext>
            </a:extLst>
          </p:cNvPr>
          <p:cNvPicPr>
            <a:picLocks noChangeAspect="1"/>
          </p:cNvPicPr>
          <p:nvPr userDrawn="1"/>
        </p:nvPicPr>
        <p:blipFill>
          <a:blip r:embed="rId27">
            <a:alphaModFix amt="30000"/>
          </a:blip>
          <a:stretch>
            <a:fillRect/>
          </a:stretch>
        </p:blipFill>
        <p:spPr>
          <a:xfrm>
            <a:off x="-3829050" y="-421622"/>
            <a:ext cx="7726680" cy="7726680"/>
          </a:xfrm>
          <a:prstGeom prst="rect">
            <a:avLst/>
          </a:prstGeom>
        </p:spPr>
      </p:pic>
      <p:pic>
        <p:nvPicPr>
          <p:cNvPr id="9" name="图片 8" descr="5">
            <a:extLst>
              <a:ext uri="{FF2B5EF4-FFF2-40B4-BE49-F238E27FC236}">
                <a16:creationId xmlns:a16="http://schemas.microsoft.com/office/drawing/2014/main" id="{33BEC999-C1B9-3948-9008-02B970DB7EAB}"/>
              </a:ext>
            </a:extLst>
          </p:cNvPr>
          <p:cNvPicPr>
            <a:picLocks noChangeAspect="1"/>
          </p:cNvPicPr>
          <p:nvPr userDrawn="1"/>
        </p:nvPicPr>
        <p:blipFill>
          <a:blip r:embed="rId27">
            <a:alphaModFix amt="30000"/>
          </a:blip>
          <a:stretch>
            <a:fillRect/>
          </a:stretch>
        </p:blipFill>
        <p:spPr>
          <a:xfrm>
            <a:off x="8328660" y="-434340"/>
            <a:ext cx="7726680" cy="7726680"/>
          </a:xfrm>
          <a:prstGeom prst="rect">
            <a:avLst/>
          </a:prstGeom>
        </p:spPr>
      </p:pic>
      <p:sp>
        <p:nvSpPr>
          <p:cNvPr id="10" name="任意多边形: 形状 8">
            <a:extLst>
              <a:ext uri="{FF2B5EF4-FFF2-40B4-BE49-F238E27FC236}">
                <a16:creationId xmlns:a16="http://schemas.microsoft.com/office/drawing/2014/main" id="{CF7A9872-9A2D-0544-B95E-53F0A0452969}"/>
              </a:ext>
            </a:extLst>
          </p:cNvPr>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7">
            <a:extLst>
              <a:ext uri="{FF2B5EF4-FFF2-40B4-BE49-F238E27FC236}">
                <a16:creationId xmlns:a16="http://schemas.microsoft.com/office/drawing/2014/main" id="{7990B218-ED19-EA44-9E8D-A10600CCD7A7}"/>
              </a:ext>
            </a:extLst>
          </p:cNvPr>
          <p:cNvSpPr/>
          <p:nvPr userDrawn="1"/>
        </p:nvSpPr>
        <p:spPr>
          <a:xfrm rot="21413345">
            <a:off x="-51285" y="5815216"/>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6">
            <a:extLst>
              <a:ext uri="{FF2B5EF4-FFF2-40B4-BE49-F238E27FC236}">
                <a16:creationId xmlns:a16="http://schemas.microsoft.com/office/drawing/2014/main" id="{AF003127-AEDD-8E4C-9F09-DA9AF5FD300F}"/>
              </a:ext>
            </a:extLst>
          </p:cNvPr>
          <p:cNvSpPr/>
          <p:nvPr userDrawn="1"/>
        </p:nvSpPr>
        <p:spPr>
          <a:xfrm rot="21413345">
            <a:off x="-9274" y="5823247"/>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日期占位符 9">
            <a:extLst>
              <a:ext uri="{FF2B5EF4-FFF2-40B4-BE49-F238E27FC236}">
                <a16:creationId xmlns:a16="http://schemas.microsoft.com/office/drawing/2014/main" id="{25D4FA56-C140-9844-933D-B552570A8775}"/>
              </a:ext>
            </a:extLst>
          </p:cNvPr>
          <p:cNvSpPr txBox="1">
            <a:spLocks/>
          </p:cNvSpPr>
          <p:nvPr userDrawn="1"/>
        </p:nvSpPr>
        <p:spPr>
          <a:xfrm>
            <a:off x="468630"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百折不挠</a:t>
            </a:r>
            <a:r>
              <a:rPr lang="en-US" altLang="zh-CN"/>
              <a:t> </a:t>
            </a:r>
            <a:r>
              <a:rPr lang="zh-CN" altLang="en-US"/>
              <a:t>刚毅厚重</a:t>
            </a:r>
            <a:r>
              <a:rPr lang="en-US" altLang="zh-CN"/>
              <a:t> </a:t>
            </a:r>
            <a:r>
              <a:rPr lang="zh-CN" altLang="en-US"/>
              <a:t>勇承重载</a:t>
            </a:r>
            <a:endParaRPr lang="zh-CN" altLang="en-US" dirty="0"/>
          </a:p>
        </p:txBody>
      </p:sp>
      <p:sp>
        <p:nvSpPr>
          <p:cNvPr id="14" name="矩形 13">
            <a:extLst>
              <a:ext uri="{FF2B5EF4-FFF2-40B4-BE49-F238E27FC236}">
                <a16:creationId xmlns:a16="http://schemas.microsoft.com/office/drawing/2014/main" id="{73BF4C09-9862-DF42-BD08-3AFBEDF9DF09}"/>
              </a:ext>
            </a:extLst>
          </p:cNvPr>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15" name="图片 14" descr="青岛理工大学校徽">
            <a:extLst>
              <a:ext uri="{FF2B5EF4-FFF2-40B4-BE49-F238E27FC236}">
                <a16:creationId xmlns:a16="http://schemas.microsoft.com/office/drawing/2014/main" id="{41EA12D9-A451-3B45-A579-CA2846C1C316}"/>
              </a:ext>
            </a:extLst>
          </p:cNvPr>
          <p:cNvPicPr>
            <a:picLocks noChangeAspect="1"/>
          </p:cNvPicPr>
          <p:nvPr userDrawn="1"/>
        </p:nvPicPr>
        <p:blipFill>
          <a:blip r:embed="rId28"/>
          <a:stretch>
            <a:fillRect/>
          </a:stretch>
        </p:blipFill>
        <p:spPr>
          <a:xfrm>
            <a:off x="10973435" y="221615"/>
            <a:ext cx="723265" cy="723265"/>
          </a:xfrm>
          <a:prstGeom prst="rect">
            <a:avLst/>
          </a:prstGeom>
        </p:spPr>
      </p:pic>
    </p:spTree>
    <p:extLst>
      <p:ext uri="{BB962C8B-B14F-4D97-AF65-F5344CB8AC3E}">
        <p14:creationId xmlns:p14="http://schemas.microsoft.com/office/powerpoint/2010/main" val="2613865641"/>
      </p:ext>
    </p:extLst>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49" r:id="rId13"/>
    <p:sldLayoutId id="2147483650" r:id="rId14"/>
    <p:sldLayoutId id="2147483651" r:id="rId15"/>
    <p:sldLayoutId id="2147483652" r:id="rId16"/>
    <p:sldLayoutId id="2147483653" r:id="rId17"/>
    <p:sldLayoutId id="2147483654" r:id="rId18"/>
    <p:sldLayoutId id="2147483655" r:id="rId19"/>
    <p:sldLayoutId id="2147483656" r:id="rId20"/>
    <p:sldLayoutId id="2147483657" r:id="rId21"/>
    <p:sldLayoutId id="2147483658" r:id="rId22"/>
    <p:sldLayoutId id="2147483659" r:id="rId23"/>
    <p:sldLayoutId id="2147483660" r:id="rId24"/>
    <p:sldLayoutId id="2147483661"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2.bin"/><Relationship Id="rId7"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4.bin"/><Relationship Id="rId7"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oleObject" Target="../embeddings/oleObject5.bin"/><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vmlDrawing" Target="../drawings/vmlDrawing4.v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2719705" y="3857271"/>
            <a:ext cx="7350125" cy="652780"/>
          </a:xfrm>
        </p:spPr>
        <p:txBody>
          <a:bodyPr>
            <a:normAutofit/>
          </a:bodyPr>
          <a:lstStyle/>
          <a:p>
            <a:pPr algn="ctr"/>
            <a:r>
              <a:rPr lang="zh-CN" altLang="en-US" dirty="0"/>
              <a:t>算法设计与分析</a:t>
            </a:r>
            <a:endParaRPr lang="zh-CN" altLang="en-US" dirty="0">
              <a:solidFill>
                <a:srgbClr val="005D96"/>
              </a:solidFill>
            </a:endParaRPr>
          </a:p>
        </p:txBody>
      </p:sp>
      <p:grpSp>
        <p:nvGrpSpPr>
          <p:cNvPr id="37" name="组合 36"/>
          <p:cNvGrpSpPr/>
          <p:nvPr/>
        </p:nvGrpSpPr>
        <p:grpSpPr>
          <a:xfrm>
            <a:off x="2704260" y="5219564"/>
            <a:ext cx="6783480" cy="99986"/>
            <a:chOff x="628656" y="974915"/>
            <a:chExt cx="11038056" cy="24702"/>
          </a:xfrm>
        </p:grpSpPr>
        <p:cxnSp>
          <p:nvCxnSpPr>
            <p:cNvPr id="40" name="直接连接符 39"/>
            <p:cNvCxnSpPr/>
            <p:nvPr/>
          </p:nvCxnSpPr>
          <p:spPr>
            <a:xfrm>
              <a:off x="628656" y="975360"/>
              <a:ext cx="8627657" cy="0"/>
            </a:xfrm>
            <a:prstGeom prst="line">
              <a:avLst/>
            </a:prstGeom>
            <a:ln w="19050">
              <a:solidFill>
                <a:srgbClr val="005D96"/>
              </a:solidFill>
            </a:ln>
          </p:spPr>
          <p:style>
            <a:lnRef idx="3">
              <a:schemeClr val="accent1"/>
            </a:lnRef>
            <a:fillRef idx="0">
              <a:schemeClr val="accent1"/>
            </a:fillRef>
            <a:effectRef idx="2">
              <a:schemeClr val="accent1"/>
            </a:effectRef>
            <a:fontRef idx="minor">
              <a:schemeClr val="tx1"/>
            </a:fontRef>
          </p:style>
        </p:cxnSp>
        <p:cxnSp>
          <p:nvCxnSpPr>
            <p:cNvPr id="47" name="直接连接符 46"/>
            <p:cNvCxnSpPr/>
            <p:nvPr/>
          </p:nvCxnSpPr>
          <p:spPr>
            <a:xfrm flipH="1">
              <a:off x="9233073" y="974915"/>
              <a:ext cx="23240" cy="24702"/>
            </a:xfrm>
            <a:prstGeom prst="line">
              <a:avLst/>
            </a:prstGeom>
            <a:ln w="19050"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9233070" y="975360"/>
              <a:ext cx="189380" cy="24257"/>
            </a:xfrm>
            <a:prstGeom prst="line">
              <a:avLst/>
            </a:prstGeom>
            <a:ln w="19050" cap="rnd">
              <a:solidFill>
                <a:srgbClr val="005D96"/>
              </a:solidFill>
              <a:miter lim="800000"/>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9422450" y="975360"/>
              <a:ext cx="2244262" cy="0"/>
            </a:xfrm>
            <a:prstGeom prst="line">
              <a:avLst/>
            </a:prstGeom>
            <a:ln w="19050">
              <a:solidFill>
                <a:srgbClr val="005D96"/>
              </a:solidFill>
            </a:ln>
          </p:spPr>
          <p:style>
            <a:lnRef idx="1">
              <a:schemeClr val="accent1"/>
            </a:lnRef>
            <a:fillRef idx="0">
              <a:schemeClr val="accent1"/>
            </a:fillRef>
            <a:effectRef idx="0">
              <a:schemeClr val="accent1"/>
            </a:effectRef>
            <a:fontRef idx="minor">
              <a:schemeClr val="tx1"/>
            </a:fontRef>
          </p:style>
        </p:cxnSp>
      </p:grpSp>
      <p:cxnSp>
        <p:nvCxnSpPr>
          <p:cNvPr id="95" name="直接连接符 94"/>
          <p:cNvCxnSpPr/>
          <p:nvPr/>
        </p:nvCxnSpPr>
        <p:spPr>
          <a:xfrm flipV="1">
            <a:off x="2784475" y="5848350"/>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2861310" y="589534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rot="16200000">
            <a:off x="2880995" y="5981065"/>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3161491" y="5800840"/>
            <a:ext cx="5933868" cy="367111"/>
            <a:chOff x="3517041" y="5800840"/>
            <a:chExt cx="5082917" cy="367111"/>
          </a:xfrm>
        </p:grpSpPr>
        <p:sp>
          <p:nvSpPr>
            <p:cNvPr id="36" name="文本框 35"/>
            <p:cNvSpPr txBox="1"/>
            <p:nvPr/>
          </p:nvSpPr>
          <p:spPr>
            <a:xfrm>
              <a:off x="3826448" y="5856877"/>
              <a:ext cx="2349253" cy="283476"/>
            </a:xfrm>
            <a:prstGeom prst="rect">
              <a:avLst/>
            </a:prstGeom>
            <a:noFill/>
          </p:spPr>
          <p:txBody>
            <a:bodyPr wrap="square" lIns="0" tIns="0" rIns="0" bIns="0" rtlCol="0" anchor="b">
              <a:spAutoFit/>
            </a:bodyPr>
            <a:lstStyle/>
            <a:p>
              <a:pPr lvl="0" algn="r">
                <a:lnSpc>
                  <a:spcPct val="110000"/>
                </a:lnSpc>
                <a:defRPr/>
              </a:pPr>
              <a:r>
                <a:rPr lang="zh-CN" altLang="en-US" dirty="0">
                  <a:solidFill>
                    <a:srgbClr val="005D96"/>
                  </a:solidFill>
                  <a:latin typeface="方正大标宋简体" panose="02010601030101010101" pitchFamily="2" charset="-122"/>
                  <a:ea typeface="方正大标宋简体" panose="02010601030101010101" pitchFamily="2" charset="-122"/>
                </a:rPr>
                <a:t>开课专业班级：软件</a:t>
              </a:r>
              <a:r>
                <a:rPr lang="en-US" altLang="zh-CN" dirty="0">
                  <a:solidFill>
                    <a:srgbClr val="005D96"/>
                  </a:solidFill>
                  <a:latin typeface="方正大标宋简体" panose="02010601030101010101" pitchFamily="2" charset="-122"/>
                  <a:ea typeface="方正大标宋简体" panose="02010601030101010101" pitchFamily="2" charset="-122"/>
                </a:rPr>
                <a:t>211-3</a:t>
              </a:r>
              <a:r>
                <a:rPr kumimoji="0" lang="zh-CN" altLang="en-US" b="0" i="0" u="none" strike="noStrike" kern="1200" cap="none" spc="0" normalizeH="0" baseline="0" noProof="0" dirty="0">
                  <a:ln>
                    <a:noFill/>
                  </a:ln>
                  <a:solidFill>
                    <a:srgbClr val="005D96"/>
                  </a:solidFill>
                  <a:effectLst/>
                  <a:uLnTx/>
                  <a:uFillTx/>
                  <a:latin typeface="方正大标宋简体" panose="02010601030101010101" pitchFamily="2" charset="-122"/>
                  <a:ea typeface="方正大标宋简体" panose="02010601030101010101" pitchFamily="2" charset="-122"/>
                </a:rPr>
                <a:t> </a:t>
              </a:r>
            </a:p>
          </p:txBody>
        </p:sp>
        <p:sp>
          <p:nvSpPr>
            <p:cNvPr id="38" name="文本框 37"/>
            <p:cNvSpPr txBox="1"/>
            <p:nvPr/>
          </p:nvSpPr>
          <p:spPr>
            <a:xfrm>
              <a:off x="6830089" y="5810965"/>
              <a:ext cx="1769869" cy="314894"/>
            </a:xfrm>
            <a:prstGeom prst="rect">
              <a:avLst/>
            </a:prstGeom>
            <a:noFill/>
          </p:spPr>
          <p:txBody>
            <a:bodyPr wrap="square" lIns="0" tIns="0" rIns="0" bIns="0" rtlCol="0" anchor="b">
              <a:spAutoFit/>
            </a:bodyPr>
            <a:lstStyle/>
            <a:p>
              <a:pPr marL="0" marR="0" lvl="0" indent="0" algn="r" defTabSz="914400" rtl="0" eaLnBrk="1" fontAlgn="auto" latinLnBrk="0" hangingPunct="1">
                <a:lnSpc>
                  <a:spcPct val="110000"/>
                </a:lnSpc>
                <a:spcBef>
                  <a:spcPts val="0"/>
                </a:spcBef>
                <a:spcAft>
                  <a:spcPts val="0"/>
                </a:spcAft>
                <a:buClrTx/>
                <a:buSzTx/>
                <a:buFontTx/>
                <a:buNone/>
                <a:defRPr/>
              </a:pPr>
              <a:r>
                <a:rPr lang="zh-CN" altLang="en-US" dirty="0">
                  <a:solidFill>
                    <a:srgbClr val="005D96"/>
                  </a:solidFill>
                  <a:latin typeface="方正大标宋简体" panose="02010601030101010101" pitchFamily="2" charset="-122"/>
                  <a:ea typeface="方正大标宋简体" panose="02010601030101010101" pitchFamily="2" charset="-122"/>
                </a:rPr>
                <a:t>开课教师：</a:t>
              </a:r>
              <a:r>
                <a:rPr lang="zh-CN" altLang="en-US" sz="2000" dirty="0">
                  <a:solidFill>
                    <a:srgbClr val="005D96"/>
                  </a:solidFill>
                  <a:latin typeface="方正大标宋简体" panose="02010601030101010101" pitchFamily="2" charset="-122"/>
                  <a:ea typeface="方正大标宋简体" panose="02010601030101010101" pitchFamily="2" charset="-122"/>
                </a:rPr>
                <a:t>赵浩然</a:t>
              </a:r>
            </a:p>
          </p:txBody>
        </p:sp>
        <p:sp>
          <p:nvSpPr>
            <p:cNvPr id="39" name="graduate_57239"/>
            <p:cNvSpPr>
              <a:spLocks noChangeAspect="1"/>
            </p:cNvSpPr>
            <p:nvPr/>
          </p:nvSpPr>
          <p:spPr bwMode="auto">
            <a:xfrm>
              <a:off x="3517041" y="5800840"/>
              <a:ext cx="247420" cy="360000"/>
            </a:xfrm>
            <a:custGeom>
              <a:avLst/>
              <a:gdLst>
                <a:gd name="connsiteX0" fmla="*/ 142468 w 412043"/>
                <a:gd name="connsiteY0" fmla="*/ 396851 h 599527"/>
                <a:gd name="connsiteX1" fmla="*/ 153964 w 412043"/>
                <a:gd name="connsiteY1" fmla="*/ 405753 h 599527"/>
                <a:gd name="connsiteX2" fmla="*/ 144814 w 412043"/>
                <a:gd name="connsiteY2" fmla="*/ 585910 h 599527"/>
                <a:gd name="connsiteX3" fmla="*/ 135898 w 412043"/>
                <a:gd name="connsiteY3" fmla="*/ 595046 h 599527"/>
                <a:gd name="connsiteX4" fmla="*/ 15768 w 412043"/>
                <a:gd name="connsiteY4" fmla="*/ 599498 h 599527"/>
                <a:gd name="connsiteX5" fmla="*/ 6383 w 412043"/>
                <a:gd name="connsiteY5" fmla="*/ 590127 h 599527"/>
                <a:gd name="connsiteX6" fmla="*/ 142468 w 412043"/>
                <a:gd name="connsiteY6" fmla="*/ 396851 h 599527"/>
                <a:gd name="connsiteX7" fmla="*/ 275305 w 412043"/>
                <a:gd name="connsiteY7" fmla="*/ 271238 h 599527"/>
                <a:gd name="connsiteX8" fmla="*/ 222034 w 412043"/>
                <a:gd name="connsiteY8" fmla="*/ 284828 h 599527"/>
                <a:gd name="connsiteX9" fmla="*/ 158437 w 412043"/>
                <a:gd name="connsiteY9" fmla="*/ 287640 h 599527"/>
                <a:gd name="connsiteX10" fmla="*/ 99299 w 412043"/>
                <a:gd name="connsiteY10" fmla="*/ 277096 h 599527"/>
                <a:gd name="connsiteX11" fmla="*/ 205137 w 412043"/>
                <a:gd name="connsiteY11" fmla="*/ 392382 h 599527"/>
                <a:gd name="connsiteX12" fmla="*/ 312148 w 412043"/>
                <a:gd name="connsiteY12" fmla="*/ 309432 h 599527"/>
                <a:gd name="connsiteX13" fmla="*/ 305108 w 412043"/>
                <a:gd name="connsiteY13" fmla="*/ 310604 h 599527"/>
                <a:gd name="connsiteX14" fmla="*/ 275305 w 412043"/>
                <a:gd name="connsiteY14" fmla="*/ 271238 h 599527"/>
                <a:gd name="connsiteX15" fmla="*/ 93667 w 412043"/>
                <a:gd name="connsiteY15" fmla="*/ 210314 h 599527"/>
                <a:gd name="connsiteX16" fmla="*/ 93667 w 412043"/>
                <a:gd name="connsiteY16" fmla="*/ 212892 h 599527"/>
                <a:gd name="connsiteX17" fmla="*/ 100003 w 412043"/>
                <a:gd name="connsiteY17" fmla="*/ 213595 h 599527"/>
                <a:gd name="connsiteX18" fmla="*/ 93667 w 412043"/>
                <a:gd name="connsiteY18" fmla="*/ 210314 h 599527"/>
                <a:gd name="connsiteX19" fmla="*/ 80202 w 412043"/>
                <a:gd name="connsiteY19" fmla="*/ 186355 h 599527"/>
                <a:gd name="connsiteX20" fmla="*/ 89443 w 412043"/>
                <a:gd name="connsiteY20" fmla="*/ 186413 h 599527"/>
                <a:gd name="connsiteX21" fmla="*/ 269203 w 412043"/>
                <a:gd name="connsiteY21" fmla="*/ 193209 h 599527"/>
                <a:gd name="connsiteX22" fmla="*/ 279059 w 412043"/>
                <a:gd name="connsiteY22" fmla="*/ 193209 h 599527"/>
                <a:gd name="connsiteX23" fmla="*/ 284222 w 412043"/>
                <a:gd name="connsiteY23" fmla="*/ 197661 h 599527"/>
                <a:gd name="connsiteX24" fmla="*/ 288681 w 412043"/>
                <a:gd name="connsiteY24" fmla="*/ 255304 h 599527"/>
                <a:gd name="connsiteX25" fmla="*/ 312383 w 412043"/>
                <a:gd name="connsiteY25" fmla="*/ 289280 h 599527"/>
                <a:gd name="connsiteX26" fmla="*/ 314965 w 412043"/>
                <a:gd name="connsiteY26" fmla="*/ 201175 h 599527"/>
                <a:gd name="connsiteX27" fmla="*/ 330688 w 412043"/>
                <a:gd name="connsiteY27" fmla="*/ 199067 h 599527"/>
                <a:gd name="connsiteX28" fmla="*/ 260051 w 412043"/>
                <a:gd name="connsiteY28" fmla="*/ 401287 h 599527"/>
                <a:gd name="connsiteX29" fmla="*/ 263102 w 412043"/>
                <a:gd name="connsiteY29" fmla="*/ 401990 h 599527"/>
                <a:gd name="connsiteX30" fmla="*/ 401325 w 412043"/>
                <a:gd name="connsiteY30" fmla="*/ 590150 h 599527"/>
                <a:gd name="connsiteX31" fmla="*/ 389591 w 412043"/>
                <a:gd name="connsiteY31" fmla="*/ 599289 h 599527"/>
                <a:gd name="connsiteX32" fmla="*/ 262867 w 412043"/>
                <a:gd name="connsiteY32" fmla="*/ 595071 h 599527"/>
                <a:gd name="connsiteX33" fmla="*/ 253480 w 412043"/>
                <a:gd name="connsiteY33" fmla="*/ 585698 h 599527"/>
                <a:gd name="connsiteX34" fmla="*/ 247144 w 412043"/>
                <a:gd name="connsiteY34" fmla="*/ 414643 h 599527"/>
                <a:gd name="connsiteX35" fmla="*/ 248786 w 412043"/>
                <a:gd name="connsiteY35" fmla="*/ 410660 h 599527"/>
                <a:gd name="connsiteX36" fmla="*/ 251603 w 412043"/>
                <a:gd name="connsiteY36" fmla="*/ 404802 h 599527"/>
                <a:gd name="connsiteX37" fmla="*/ 205137 w 412043"/>
                <a:gd name="connsiteY37" fmla="*/ 410894 h 599527"/>
                <a:gd name="connsiteX38" fmla="*/ 75362 w 412043"/>
                <a:gd name="connsiteY38" fmla="*/ 194380 h 599527"/>
                <a:gd name="connsiteX39" fmla="*/ 80202 w 412043"/>
                <a:gd name="connsiteY39" fmla="*/ 186355 h 599527"/>
                <a:gd name="connsiteX40" fmla="*/ 204675 w 412043"/>
                <a:gd name="connsiteY40" fmla="*/ 1071 h 599527"/>
                <a:gd name="connsiteX41" fmla="*/ 297143 w 412043"/>
                <a:gd name="connsiteY41" fmla="*/ 36212 h 599527"/>
                <a:gd name="connsiteX42" fmla="*/ 407917 w 412043"/>
                <a:gd name="connsiteY42" fmla="*/ 88689 h 599527"/>
                <a:gd name="connsiteX43" fmla="*/ 405335 w 412043"/>
                <a:gd name="connsiteY43" fmla="*/ 105790 h 599527"/>
                <a:gd name="connsiteX44" fmla="*/ 367785 w 412043"/>
                <a:gd name="connsiteY44" fmla="*/ 126172 h 599527"/>
                <a:gd name="connsiteX45" fmla="*/ 313102 w 412043"/>
                <a:gd name="connsiteY45" fmla="*/ 136948 h 599527"/>
                <a:gd name="connsiteX46" fmla="*/ 200216 w 412043"/>
                <a:gd name="connsiteY46" fmla="*/ 93608 h 599527"/>
                <a:gd name="connsiteX47" fmla="*/ 282123 w 412043"/>
                <a:gd name="connsiteY47" fmla="*/ 147256 h 599527"/>
                <a:gd name="connsiteX48" fmla="*/ 285643 w 412043"/>
                <a:gd name="connsiteY48" fmla="*/ 153347 h 599527"/>
                <a:gd name="connsiteX49" fmla="*/ 285174 w 412043"/>
                <a:gd name="connsiteY49" fmla="*/ 165530 h 599527"/>
                <a:gd name="connsiteX50" fmla="*/ 172757 w 412043"/>
                <a:gd name="connsiteY50" fmla="*/ 198328 h 599527"/>
                <a:gd name="connsiteX51" fmla="*/ 8474 w 412043"/>
                <a:gd name="connsiteY51" fmla="*/ 110242 h 599527"/>
                <a:gd name="connsiteX52" fmla="*/ 3310 w 412043"/>
                <a:gd name="connsiteY52" fmla="*/ 97122 h 599527"/>
                <a:gd name="connsiteX53" fmla="*/ 113146 w 412043"/>
                <a:gd name="connsiteY53" fmla="*/ 45114 h 599527"/>
                <a:gd name="connsiteX54" fmla="*/ 204675 w 412043"/>
                <a:gd name="connsiteY54" fmla="*/ 1071 h 59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rgbClr val="005D96"/>
            </a:solidFill>
            <a:ln>
              <a:noFill/>
            </a:ln>
          </p:spPr>
          <p:txBody>
            <a:bodyPr/>
            <a:lstStyle/>
            <a:p>
              <a:endParaRPr lang="zh-CN" altLang="en-US" dirty="0">
                <a:solidFill>
                  <a:schemeClr val="accent4"/>
                </a:solidFill>
              </a:endParaRPr>
            </a:p>
          </p:txBody>
        </p:sp>
        <p:sp>
          <p:nvSpPr>
            <p:cNvPr id="45" name="professor_53644"/>
            <p:cNvSpPr>
              <a:spLocks noChangeAspect="1"/>
            </p:cNvSpPr>
            <p:nvPr/>
          </p:nvSpPr>
          <p:spPr bwMode="auto">
            <a:xfrm>
              <a:off x="6601606" y="5807951"/>
              <a:ext cx="254137" cy="360000"/>
            </a:xfrm>
            <a:custGeom>
              <a:avLst/>
              <a:gdLst>
                <a:gd name="connsiteX0" fmla="*/ 274879 w 424808"/>
                <a:gd name="connsiteY0" fmla="*/ 445205 h 601764"/>
                <a:gd name="connsiteX1" fmla="*/ 274879 w 424808"/>
                <a:gd name="connsiteY1" fmla="*/ 470531 h 601764"/>
                <a:gd name="connsiteX2" fmla="*/ 332512 w 424808"/>
                <a:gd name="connsiteY2" fmla="*/ 470531 h 601764"/>
                <a:gd name="connsiteX3" fmla="*/ 332512 w 424808"/>
                <a:gd name="connsiteY3" fmla="*/ 445205 h 601764"/>
                <a:gd name="connsiteX4" fmla="*/ 107051 w 424808"/>
                <a:gd name="connsiteY4" fmla="*/ 280818 h 601764"/>
                <a:gd name="connsiteX5" fmla="*/ 183588 w 424808"/>
                <a:gd name="connsiteY5" fmla="*/ 420340 h 601764"/>
                <a:gd name="connsiteX6" fmla="*/ 191426 w 424808"/>
                <a:gd name="connsiteY6" fmla="*/ 393633 h 601764"/>
                <a:gd name="connsiteX7" fmla="*/ 179899 w 424808"/>
                <a:gd name="connsiteY7" fmla="*/ 369228 h 601764"/>
                <a:gd name="connsiteX8" fmla="*/ 212174 w 424808"/>
                <a:gd name="connsiteY8" fmla="*/ 336074 h 601764"/>
                <a:gd name="connsiteX9" fmla="*/ 244910 w 424808"/>
                <a:gd name="connsiteY9" fmla="*/ 369228 h 601764"/>
                <a:gd name="connsiteX10" fmla="*/ 233383 w 424808"/>
                <a:gd name="connsiteY10" fmla="*/ 393633 h 601764"/>
                <a:gd name="connsiteX11" fmla="*/ 240760 w 424808"/>
                <a:gd name="connsiteY11" fmla="*/ 420340 h 601764"/>
                <a:gd name="connsiteX12" fmla="*/ 317758 w 424808"/>
                <a:gd name="connsiteY12" fmla="*/ 280818 h 601764"/>
                <a:gd name="connsiteX13" fmla="*/ 424726 w 424808"/>
                <a:gd name="connsiteY13" fmla="*/ 513815 h 601764"/>
                <a:gd name="connsiteX14" fmla="*/ 388763 w 424808"/>
                <a:gd name="connsiteY14" fmla="*/ 559861 h 601764"/>
                <a:gd name="connsiteX15" fmla="*/ 347267 w 424808"/>
                <a:gd name="connsiteY15" fmla="*/ 561703 h 601764"/>
                <a:gd name="connsiteX16" fmla="*/ 213557 w 424808"/>
                <a:gd name="connsiteY16" fmla="*/ 601764 h 601764"/>
                <a:gd name="connsiteX17" fmla="*/ 78003 w 424808"/>
                <a:gd name="connsiteY17" fmla="*/ 561703 h 601764"/>
                <a:gd name="connsiteX18" fmla="*/ 36507 w 424808"/>
                <a:gd name="connsiteY18" fmla="*/ 559861 h 601764"/>
                <a:gd name="connsiteX19" fmla="*/ 83 w 424808"/>
                <a:gd name="connsiteY19" fmla="*/ 513815 h 601764"/>
                <a:gd name="connsiteX20" fmla="*/ 107051 w 424808"/>
                <a:gd name="connsiteY20" fmla="*/ 280818 h 601764"/>
                <a:gd name="connsiteX21" fmla="*/ 184977 w 424808"/>
                <a:gd name="connsiteY21" fmla="*/ 152406 h 601764"/>
                <a:gd name="connsiteX22" fmla="*/ 153631 w 424808"/>
                <a:gd name="connsiteY22" fmla="*/ 166680 h 601764"/>
                <a:gd name="connsiteX23" fmla="*/ 153631 w 424808"/>
                <a:gd name="connsiteY23" fmla="*/ 167601 h 601764"/>
                <a:gd name="connsiteX24" fmla="*/ 170226 w 424808"/>
                <a:gd name="connsiteY24" fmla="*/ 184637 h 601764"/>
                <a:gd name="connsiteX25" fmla="*/ 178062 w 424808"/>
                <a:gd name="connsiteY25" fmla="*/ 184637 h 601764"/>
                <a:gd name="connsiteX26" fmla="*/ 195118 w 424808"/>
                <a:gd name="connsiteY26" fmla="*/ 167601 h 601764"/>
                <a:gd name="connsiteX27" fmla="*/ 184977 w 424808"/>
                <a:gd name="connsiteY27" fmla="*/ 152406 h 601764"/>
                <a:gd name="connsiteX28" fmla="*/ 247208 w 424808"/>
                <a:gd name="connsiteY28" fmla="*/ 150564 h 601764"/>
                <a:gd name="connsiteX29" fmla="*/ 230152 w 424808"/>
                <a:gd name="connsiteY29" fmla="*/ 167601 h 601764"/>
                <a:gd name="connsiteX30" fmla="*/ 247208 w 424808"/>
                <a:gd name="connsiteY30" fmla="*/ 184637 h 601764"/>
                <a:gd name="connsiteX31" fmla="*/ 254583 w 424808"/>
                <a:gd name="connsiteY31" fmla="*/ 184637 h 601764"/>
                <a:gd name="connsiteX32" fmla="*/ 271639 w 424808"/>
                <a:gd name="connsiteY32" fmla="*/ 167601 h 601764"/>
                <a:gd name="connsiteX33" fmla="*/ 254583 w 424808"/>
                <a:gd name="connsiteY33" fmla="*/ 150564 h 601764"/>
                <a:gd name="connsiteX34" fmla="*/ 236144 w 424808"/>
                <a:gd name="connsiteY34" fmla="*/ 107283 h 601764"/>
                <a:gd name="connsiteX35" fmla="*/ 196040 w 424808"/>
                <a:gd name="connsiteY35" fmla="*/ 145039 h 601764"/>
                <a:gd name="connsiteX36" fmla="*/ 201572 w 424808"/>
                <a:gd name="connsiteY36" fmla="*/ 150564 h 601764"/>
                <a:gd name="connsiteX37" fmla="*/ 223237 w 424808"/>
                <a:gd name="connsiteY37" fmla="*/ 150564 h 601764"/>
                <a:gd name="connsiteX38" fmla="*/ 247208 w 424808"/>
                <a:gd name="connsiteY38" fmla="*/ 138593 h 601764"/>
                <a:gd name="connsiteX39" fmla="*/ 254583 w 424808"/>
                <a:gd name="connsiteY39" fmla="*/ 138593 h 601764"/>
                <a:gd name="connsiteX40" fmla="*/ 284085 w 424808"/>
                <a:gd name="connsiteY40" fmla="*/ 167601 h 601764"/>
                <a:gd name="connsiteX41" fmla="*/ 254583 w 424808"/>
                <a:gd name="connsiteY41" fmla="*/ 197069 h 601764"/>
                <a:gd name="connsiteX42" fmla="*/ 247208 w 424808"/>
                <a:gd name="connsiteY42" fmla="*/ 197069 h 601764"/>
                <a:gd name="connsiteX43" fmla="*/ 217706 w 424808"/>
                <a:gd name="connsiteY43" fmla="*/ 167601 h 601764"/>
                <a:gd name="connsiteX44" fmla="*/ 218167 w 424808"/>
                <a:gd name="connsiteY44" fmla="*/ 162996 h 601764"/>
                <a:gd name="connsiteX45" fmla="*/ 206642 w 424808"/>
                <a:gd name="connsiteY45" fmla="*/ 162996 h 601764"/>
                <a:gd name="connsiteX46" fmla="*/ 207103 w 424808"/>
                <a:gd name="connsiteY46" fmla="*/ 167601 h 601764"/>
                <a:gd name="connsiteX47" fmla="*/ 178062 w 424808"/>
                <a:gd name="connsiteY47" fmla="*/ 197069 h 601764"/>
                <a:gd name="connsiteX48" fmla="*/ 170226 w 424808"/>
                <a:gd name="connsiteY48" fmla="*/ 197069 h 601764"/>
                <a:gd name="connsiteX49" fmla="*/ 141185 w 424808"/>
                <a:gd name="connsiteY49" fmla="*/ 170363 h 601764"/>
                <a:gd name="connsiteX50" fmla="*/ 119519 w 424808"/>
                <a:gd name="connsiteY50" fmla="*/ 173586 h 601764"/>
                <a:gd name="connsiteX51" fmla="*/ 212635 w 424808"/>
                <a:gd name="connsiteY51" fmla="*/ 280869 h 601764"/>
                <a:gd name="connsiteX52" fmla="*/ 307594 w 424808"/>
                <a:gd name="connsiteY52" fmla="*/ 155629 h 601764"/>
                <a:gd name="connsiteX53" fmla="*/ 236144 w 424808"/>
                <a:gd name="connsiteY53" fmla="*/ 107283 h 601764"/>
                <a:gd name="connsiteX54" fmla="*/ 212635 w 424808"/>
                <a:gd name="connsiteY54" fmla="*/ 0 h 601764"/>
                <a:gd name="connsiteX55" fmla="*/ 340323 w 424808"/>
                <a:gd name="connsiteY55" fmla="*/ 127082 h 601764"/>
                <a:gd name="connsiteX56" fmla="*/ 365215 w 424808"/>
                <a:gd name="connsiteY56" fmla="*/ 175889 h 601764"/>
                <a:gd name="connsiteX57" fmla="*/ 326955 w 424808"/>
                <a:gd name="connsiteY57" fmla="*/ 224695 h 601764"/>
                <a:gd name="connsiteX58" fmla="*/ 212635 w 424808"/>
                <a:gd name="connsiteY58" fmla="*/ 317244 h 601764"/>
                <a:gd name="connsiteX59" fmla="*/ 98315 w 424808"/>
                <a:gd name="connsiteY59" fmla="*/ 224695 h 601764"/>
                <a:gd name="connsiteX60" fmla="*/ 59594 w 424808"/>
                <a:gd name="connsiteY60" fmla="*/ 175889 h 601764"/>
                <a:gd name="connsiteX61" fmla="*/ 84947 w 424808"/>
                <a:gd name="connsiteY61" fmla="*/ 127082 h 601764"/>
                <a:gd name="connsiteX62" fmla="*/ 212635 w 424808"/>
                <a:gd name="connsiteY62" fmla="*/ 0 h 601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4808" h="601764">
                  <a:moveTo>
                    <a:pt x="274879" y="445205"/>
                  </a:moveTo>
                  <a:lnTo>
                    <a:pt x="274879" y="470531"/>
                  </a:lnTo>
                  <a:lnTo>
                    <a:pt x="332512" y="470531"/>
                  </a:lnTo>
                  <a:lnTo>
                    <a:pt x="332512" y="445205"/>
                  </a:lnTo>
                  <a:close/>
                  <a:moveTo>
                    <a:pt x="107051" y="280818"/>
                  </a:moveTo>
                  <a:lnTo>
                    <a:pt x="183588" y="420340"/>
                  </a:lnTo>
                  <a:lnTo>
                    <a:pt x="191426" y="393633"/>
                  </a:lnTo>
                  <a:cubicBezTo>
                    <a:pt x="184510" y="387647"/>
                    <a:pt x="179899" y="378898"/>
                    <a:pt x="179899" y="369228"/>
                  </a:cubicBezTo>
                  <a:cubicBezTo>
                    <a:pt x="179899" y="350809"/>
                    <a:pt x="193731" y="336074"/>
                    <a:pt x="212174" y="336074"/>
                  </a:cubicBezTo>
                  <a:cubicBezTo>
                    <a:pt x="230156" y="336074"/>
                    <a:pt x="244910" y="350809"/>
                    <a:pt x="244910" y="369228"/>
                  </a:cubicBezTo>
                  <a:cubicBezTo>
                    <a:pt x="244910" y="378898"/>
                    <a:pt x="240299" y="387647"/>
                    <a:pt x="233383" y="393633"/>
                  </a:cubicBezTo>
                  <a:lnTo>
                    <a:pt x="240760" y="420340"/>
                  </a:lnTo>
                  <a:lnTo>
                    <a:pt x="317758" y="280818"/>
                  </a:lnTo>
                  <a:cubicBezTo>
                    <a:pt x="367092" y="310288"/>
                    <a:pt x="417810" y="377977"/>
                    <a:pt x="424726" y="513815"/>
                  </a:cubicBezTo>
                  <a:cubicBezTo>
                    <a:pt x="426109" y="537759"/>
                    <a:pt x="409972" y="558480"/>
                    <a:pt x="388763" y="559861"/>
                  </a:cubicBezTo>
                  <a:cubicBezTo>
                    <a:pt x="387840" y="559861"/>
                    <a:pt x="347267" y="561703"/>
                    <a:pt x="347267" y="561703"/>
                  </a:cubicBezTo>
                  <a:cubicBezTo>
                    <a:pt x="322830" y="588410"/>
                    <a:pt x="274879" y="601764"/>
                    <a:pt x="213557" y="601764"/>
                  </a:cubicBezTo>
                  <a:cubicBezTo>
                    <a:pt x="155463" y="601764"/>
                    <a:pt x="103362" y="590713"/>
                    <a:pt x="78003" y="561703"/>
                  </a:cubicBezTo>
                  <a:cubicBezTo>
                    <a:pt x="78003" y="561703"/>
                    <a:pt x="36969" y="559861"/>
                    <a:pt x="36507" y="559861"/>
                  </a:cubicBezTo>
                  <a:cubicBezTo>
                    <a:pt x="14837" y="558480"/>
                    <a:pt x="-1300" y="537759"/>
                    <a:pt x="83" y="513815"/>
                  </a:cubicBezTo>
                  <a:cubicBezTo>
                    <a:pt x="6999" y="377056"/>
                    <a:pt x="57717" y="309827"/>
                    <a:pt x="107051" y="280818"/>
                  </a:cubicBezTo>
                  <a:close/>
                  <a:moveTo>
                    <a:pt x="184977" y="152406"/>
                  </a:moveTo>
                  <a:cubicBezTo>
                    <a:pt x="175758" y="157931"/>
                    <a:pt x="165155" y="162996"/>
                    <a:pt x="153631" y="166680"/>
                  </a:cubicBezTo>
                  <a:cubicBezTo>
                    <a:pt x="153631" y="167140"/>
                    <a:pt x="153631" y="167601"/>
                    <a:pt x="153631" y="167601"/>
                  </a:cubicBezTo>
                  <a:cubicBezTo>
                    <a:pt x="153631" y="176809"/>
                    <a:pt x="161007" y="184637"/>
                    <a:pt x="170226" y="184637"/>
                  </a:cubicBezTo>
                  <a:lnTo>
                    <a:pt x="178062" y="184637"/>
                  </a:lnTo>
                  <a:cubicBezTo>
                    <a:pt x="187282" y="184637"/>
                    <a:pt x="195118" y="176809"/>
                    <a:pt x="195118" y="167601"/>
                  </a:cubicBezTo>
                  <a:cubicBezTo>
                    <a:pt x="195118" y="160694"/>
                    <a:pt x="190969" y="155169"/>
                    <a:pt x="184977" y="152406"/>
                  </a:cubicBezTo>
                  <a:close/>
                  <a:moveTo>
                    <a:pt x="247208" y="150564"/>
                  </a:moveTo>
                  <a:cubicBezTo>
                    <a:pt x="237527" y="150564"/>
                    <a:pt x="230152" y="158392"/>
                    <a:pt x="230152" y="167601"/>
                  </a:cubicBezTo>
                  <a:cubicBezTo>
                    <a:pt x="230152" y="176809"/>
                    <a:pt x="237527" y="184637"/>
                    <a:pt x="247208" y="184637"/>
                  </a:cubicBezTo>
                  <a:lnTo>
                    <a:pt x="254583" y="184637"/>
                  </a:lnTo>
                  <a:cubicBezTo>
                    <a:pt x="263802" y="184637"/>
                    <a:pt x="271639" y="176809"/>
                    <a:pt x="271639" y="167601"/>
                  </a:cubicBezTo>
                  <a:cubicBezTo>
                    <a:pt x="271639" y="158392"/>
                    <a:pt x="263802" y="150564"/>
                    <a:pt x="254583" y="150564"/>
                  </a:cubicBezTo>
                  <a:close/>
                  <a:moveTo>
                    <a:pt x="236144" y="107283"/>
                  </a:moveTo>
                  <a:cubicBezTo>
                    <a:pt x="232457" y="111887"/>
                    <a:pt x="218628" y="129384"/>
                    <a:pt x="196040" y="145039"/>
                  </a:cubicBezTo>
                  <a:cubicBezTo>
                    <a:pt x="198345" y="146420"/>
                    <a:pt x="200189" y="148723"/>
                    <a:pt x="201572" y="150564"/>
                  </a:cubicBezTo>
                  <a:lnTo>
                    <a:pt x="223237" y="150564"/>
                  </a:lnTo>
                  <a:cubicBezTo>
                    <a:pt x="228769" y="143197"/>
                    <a:pt x="237066" y="138593"/>
                    <a:pt x="247208" y="138593"/>
                  </a:cubicBezTo>
                  <a:lnTo>
                    <a:pt x="254583" y="138593"/>
                  </a:lnTo>
                  <a:cubicBezTo>
                    <a:pt x="270717" y="138593"/>
                    <a:pt x="284085" y="151485"/>
                    <a:pt x="284085" y="167601"/>
                  </a:cubicBezTo>
                  <a:cubicBezTo>
                    <a:pt x="284085" y="183716"/>
                    <a:pt x="270717" y="197069"/>
                    <a:pt x="254583" y="197069"/>
                  </a:cubicBezTo>
                  <a:lnTo>
                    <a:pt x="247208" y="197069"/>
                  </a:lnTo>
                  <a:cubicBezTo>
                    <a:pt x="231074" y="197069"/>
                    <a:pt x="217706" y="183716"/>
                    <a:pt x="217706" y="167601"/>
                  </a:cubicBezTo>
                  <a:cubicBezTo>
                    <a:pt x="217706" y="166219"/>
                    <a:pt x="218167" y="164378"/>
                    <a:pt x="218167" y="162996"/>
                  </a:cubicBezTo>
                  <a:lnTo>
                    <a:pt x="206642" y="162996"/>
                  </a:lnTo>
                  <a:cubicBezTo>
                    <a:pt x="207103" y="164378"/>
                    <a:pt x="207103" y="166219"/>
                    <a:pt x="207103" y="167601"/>
                  </a:cubicBezTo>
                  <a:cubicBezTo>
                    <a:pt x="207103" y="183716"/>
                    <a:pt x="194196" y="197069"/>
                    <a:pt x="178062" y="197069"/>
                  </a:cubicBezTo>
                  <a:lnTo>
                    <a:pt x="170226" y="197069"/>
                  </a:lnTo>
                  <a:cubicBezTo>
                    <a:pt x="155014" y="197069"/>
                    <a:pt x="142568" y="185097"/>
                    <a:pt x="141185" y="170363"/>
                  </a:cubicBezTo>
                  <a:cubicBezTo>
                    <a:pt x="134270" y="171745"/>
                    <a:pt x="126895" y="173126"/>
                    <a:pt x="119519" y="173586"/>
                  </a:cubicBezTo>
                  <a:cubicBezTo>
                    <a:pt x="129200" y="235746"/>
                    <a:pt x="163311" y="280869"/>
                    <a:pt x="212635" y="280869"/>
                  </a:cubicBezTo>
                  <a:cubicBezTo>
                    <a:pt x="264724" y="280869"/>
                    <a:pt x="302985" y="228839"/>
                    <a:pt x="307594" y="155629"/>
                  </a:cubicBezTo>
                  <a:cubicBezTo>
                    <a:pt x="260576" y="144579"/>
                    <a:pt x="242598" y="119715"/>
                    <a:pt x="236144" y="107283"/>
                  </a:cubicBezTo>
                  <a:close/>
                  <a:moveTo>
                    <a:pt x="212635" y="0"/>
                  </a:moveTo>
                  <a:cubicBezTo>
                    <a:pt x="313126" y="0"/>
                    <a:pt x="333870" y="55713"/>
                    <a:pt x="340323" y="127082"/>
                  </a:cubicBezTo>
                  <a:cubicBezTo>
                    <a:pt x="359684" y="130305"/>
                    <a:pt x="370286" y="145499"/>
                    <a:pt x="365215" y="175889"/>
                  </a:cubicBezTo>
                  <a:cubicBezTo>
                    <a:pt x="361067" y="201213"/>
                    <a:pt x="349081" y="222854"/>
                    <a:pt x="326955" y="224695"/>
                  </a:cubicBezTo>
                  <a:cubicBezTo>
                    <a:pt x="305290" y="281790"/>
                    <a:pt x="262420" y="317244"/>
                    <a:pt x="212635" y="317244"/>
                  </a:cubicBezTo>
                  <a:cubicBezTo>
                    <a:pt x="160546" y="317244"/>
                    <a:pt x="119980" y="280409"/>
                    <a:pt x="98315" y="224695"/>
                  </a:cubicBezTo>
                  <a:cubicBezTo>
                    <a:pt x="76188" y="222854"/>
                    <a:pt x="64203" y="201213"/>
                    <a:pt x="59594" y="175889"/>
                  </a:cubicBezTo>
                  <a:cubicBezTo>
                    <a:pt x="54523" y="145499"/>
                    <a:pt x="65586" y="130305"/>
                    <a:pt x="84947" y="127082"/>
                  </a:cubicBezTo>
                  <a:cubicBezTo>
                    <a:pt x="91400" y="55713"/>
                    <a:pt x="111222" y="0"/>
                    <a:pt x="212635" y="0"/>
                  </a:cubicBezTo>
                  <a:close/>
                </a:path>
              </a:pathLst>
            </a:custGeom>
            <a:solidFill>
              <a:srgbClr val="005D96"/>
            </a:solidFill>
            <a:ln>
              <a:noFill/>
            </a:ln>
          </p:spPr>
          <p:txBody>
            <a:bodyPr/>
            <a:lstStyle/>
            <a:p>
              <a:endParaRPr lang="zh-CN" altLang="en-US" dirty="0">
                <a:solidFill>
                  <a:schemeClr val="accent4"/>
                </a:solidFill>
              </a:endParaRPr>
            </a:p>
          </p:txBody>
        </p:sp>
      </p:grpSp>
      <p:sp>
        <p:nvSpPr>
          <p:cNvPr id="3" name="文本框 2"/>
          <p:cNvSpPr txBox="1"/>
          <p:nvPr/>
        </p:nvSpPr>
        <p:spPr>
          <a:xfrm>
            <a:off x="-114300" y="4502150"/>
            <a:ext cx="309880" cy="368300"/>
          </a:xfrm>
          <a:prstGeom prst="rect">
            <a:avLst/>
          </a:prstGeom>
          <a:noFill/>
        </p:spPr>
        <p:txBody>
          <a:bodyPr wrap="none" rtlCol="0">
            <a:spAutoFit/>
          </a:bodyPr>
          <a:lstStyle/>
          <a:p>
            <a:endParaRPr lang="zh-CN" altLang="en-US"/>
          </a:p>
        </p:txBody>
      </p:sp>
      <p:sp>
        <p:nvSpPr>
          <p:cNvPr id="4" name="文本占位符 3">
            <a:extLst>
              <a:ext uri="{FF2B5EF4-FFF2-40B4-BE49-F238E27FC236}">
                <a16:creationId xmlns:a16="http://schemas.microsoft.com/office/drawing/2014/main" id="{4ADE574F-A14B-EE44-B58F-28595D784A72}"/>
              </a:ext>
            </a:extLst>
          </p:cNvPr>
          <p:cNvSpPr>
            <a:spLocks noGrp="1"/>
          </p:cNvSpPr>
          <p:nvPr>
            <p:ph type="body" sz="quarter" idx="11"/>
          </p:nvPr>
        </p:nvSpPr>
        <p:spPr>
          <a:xfrm>
            <a:off x="4908922" y="4734940"/>
            <a:ext cx="5881922" cy="337185"/>
          </a:xfrm>
        </p:spPr>
        <p:txBody>
          <a:bodyPr/>
          <a:lstStyle/>
          <a:p>
            <a:r>
              <a:rPr lang="en-US" altLang="zh-CN" b="1" dirty="0">
                <a:solidFill>
                  <a:schemeClr val="tx1"/>
                </a:solidFill>
              </a:rPr>
              <a:t>----</a:t>
            </a:r>
            <a:r>
              <a:rPr lang="zh-CN" altLang="en-US" b="1" dirty="0">
                <a:solidFill>
                  <a:schemeClr val="tx1"/>
                </a:solidFill>
              </a:rPr>
              <a:t> 课程编号：</a:t>
            </a:r>
            <a:r>
              <a:rPr lang="en-US" altLang="zh-CN" b="1" dirty="0">
                <a:solidFill>
                  <a:schemeClr val="tx1"/>
                </a:solidFill>
              </a:rPr>
              <a:t>BK10504150-01</a:t>
            </a:r>
            <a:endParaRPr lang="zh-CN" altLang="en-US" b="1" dirty="0">
              <a:solidFill>
                <a:schemeClr val="tx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483860" y="981075"/>
            <a:ext cx="1360805" cy="1334770"/>
          </a:xfrm>
          <a:prstGeom prst="ellipse">
            <a:avLst/>
          </a:prstGeom>
          <a:gradFill>
            <a:gsLst>
              <a:gs pos="0">
                <a:srgbClr val="005D96"/>
              </a:gs>
              <a:gs pos="100000">
                <a:srgbClr val="06253A"/>
              </a:gs>
            </a:gsLst>
            <a:lin ang="13500000" scaled="1"/>
          </a:gradFill>
          <a:ln>
            <a:solidFill>
              <a:srgbClr val="005D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Times New Roman Regular" panose="02020603050405020304" charset="0"/>
                <a:ea typeface="+mj-ea"/>
                <a:cs typeface="Times New Roman Regular" panose="02020603050405020304" charset="0"/>
              </a:rPr>
              <a:t>03</a:t>
            </a:r>
          </a:p>
        </p:txBody>
      </p:sp>
      <p:sp>
        <p:nvSpPr>
          <p:cNvPr id="7" name="文本框 6"/>
          <p:cNvSpPr txBox="1"/>
          <p:nvPr/>
        </p:nvSpPr>
        <p:spPr>
          <a:xfrm>
            <a:off x="1764717" y="2794468"/>
            <a:ext cx="8661345" cy="707886"/>
          </a:xfrm>
          <a:prstGeom prst="rect">
            <a:avLst/>
          </a:prstGeom>
          <a:noFill/>
        </p:spPr>
        <p:txBody>
          <a:bodyPr wrap="none" rtlCol="0">
            <a:spAutoFit/>
          </a:bodyPr>
          <a:lstStyle/>
          <a:p>
            <a:pPr algn="ctr"/>
            <a:r>
              <a:rPr lang="zh-CN" altLang="en-US" sz="4000" b="1" spc="600" dirty="0">
                <a:solidFill>
                  <a:schemeClr val="tx2">
                    <a:lumMod val="50000"/>
                  </a:schemeClr>
                </a:solidFill>
              </a:rPr>
              <a:t>第三章 算法基本工具和优化技巧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8"/>
          <p:cNvSpPr>
            <a:spLocks noGrp="1"/>
          </p:cNvSpPr>
          <p:nvPr>
            <p:ph type="title"/>
          </p:nvPr>
        </p:nvSpPr>
        <p:spPr>
          <a:xfrm>
            <a:off x="1205956" y="376263"/>
            <a:ext cx="6043930" cy="569668"/>
          </a:xfrm>
        </p:spPr>
        <p:txBody>
          <a:bodyPr>
            <a:noAutofit/>
          </a:bodyPr>
          <a:lstStyle/>
          <a:p>
            <a:r>
              <a:rPr lang="zh-CN" altLang="en-US" sz="4400" dirty="0">
                <a:solidFill>
                  <a:schemeClr val="tx1"/>
                </a:solidFill>
              </a:rPr>
              <a:t>循环与递归</a:t>
            </a:r>
            <a:endParaRPr lang="zh-CN" altLang="en-US" dirty="0">
              <a:latin typeface="微软雅黑" pitchFamily="34" charset="-122"/>
              <a:ea typeface="微软雅黑" pitchFamily="34" charset="-122"/>
            </a:endParaRPr>
          </a:p>
        </p:txBody>
      </p:sp>
      <p:sp>
        <p:nvSpPr>
          <p:cNvPr id="4" name="文本框 7170">
            <a:extLst>
              <a:ext uri="{FF2B5EF4-FFF2-40B4-BE49-F238E27FC236}">
                <a16:creationId xmlns:a16="http://schemas.microsoft.com/office/drawing/2014/main" id="{7A76A0CC-2127-EA43-BE8F-481AB17E18A9}"/>
              </a:ext>
            </a:extLst>
          </p:cNvPr>
          <p:cNvSpPr txBox="1">
            <a:spLocks noChangeArrowheads="1"/>
          </p:cNvSpPr>
          <p:nvPr/>
        </p:nvSpPr>
        <p:spPr bwMode="auto">
          <a:xfrm>
            <a:off x="1964975" y="3514281"/>
            <a:ext cx="9509760" cy="56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5000"/>
              </a:lnSpc>
              <a:spcBef>
                <a:spcPct val="20000"/>
              </a:spcBef>
              <a:buClr>
                <a:schemeClr val="hlink"/>
              </a:buClr>
              <a:buFont typeface="Wingdings" pitchFamily="2" charset="2"/>
              <a:buNone/>
            </a:pPr>
            <a:r>
              <a:rPr lang="zh-CN" altLang="en-US" sz="2800" b="1" dirty="0">
                <a:latin typeface="宋体" panose="02010600030101010101" pitchFamily="2" charset="-122"/>
              </a:rPr>
              <a:t>如何根据累加、累乘构造出“循环不变”的累加式和累乘式</a:t>
            </a:r>
          </a:p>
        </p:txBody>
      </p:sp>
      <p:sp>
        <p:nvSpPr>
          <p:cNvPr id="5" name="矩形 7171">
            <a:extLst>
              <a:ext uri="{FF2B5EF4-FFF2-40B4-BE49-F238E27FC236}">
                <a16:creationId xmlns:a16="http://schemas.microsoft.com/office/drawing/2014/main" id="{5D483090-9C9A-4D48-BFAA-A131199E5DBC}"/>
              </a:ext>
            </a:extLst>
          </p:cNvPr>
          <p:cNvSpPr>
            <a:spLocks noChangeArrowheads="1"/>
          </p:cNvSpPr>
          <p:nvPr/>
        </p:nvSpPr>
        <p:spPr bwMode="auto">
          <a:xfrm>
            <a:off x="661035" y="1331558"/>
            <a:ext cx="6048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Font typeface="Wingdings" pitchFamily="2" charset="2"/>
              <a:buNone/>
            </a:pPr>
            <a:r>
              <a:rPr lang="en-US" altLang="zh-CN" sz="2800" b="1" dirty="0">
                <a:solidFill>
                  <a:schemeClr val="tx2"/>
                </a:solidFill>
                <a:latin typeface="黑体" panose="02010609060101010101" pitchFamily="49" charset="-122"/>
                <a:ea typeface="黑体" panose="02010609060101010101" pitchFamily="49" charset="-122"/>
              </a:rPr>
              <a:t>1.</a:t>
            </a:r>
            <a:r>
              <a:rPr lang="zh-CN" altLang="en-US" sz="2800" b="1" dirty="0">
                <a:solidFill>
                  <a:schemeClr val="tx2"/>
                </a:solidFill>
                <a:latin typeface="黑体" panose="02010609060101010101" pitchFamily="49" charset="-122"/>
                <a:ea typeface="黑体" panose="02010609060101010101" pitchFamily="49" charset="-122"/>
              </a:rPr>
              <a:t>循环设计中要注意算法的效率</a:t>
            </a:r>
          </a:p>
        </p:txBody>
      </p:sp>
      <p:sp>
        <p:nvSpPr>
          <p:cNvPr id="6" name="标题 8193">
            <a:extLst>
              <a:ext uri="{FF2B5EF4-FFF2-40B4-BE49-F238E27FC236}">
                <a16:creationId xmlns:a16="http://schemas.microsoft.com/office/drawing/2014/main" id="{B2612AC0-A751-B848-8975-6AD906E1746F}"/>
              </a:ext>
            </a:extLst>
          </p:cNvPr>
          <p:cNvSpPr txBox="1">
            <a:spLocks noChangeArrowheads="1"/>
          </p:cNvSpPr>
          <p:nvPr/>
        </p:nvSpPr>
        <p:spPr>
          <a:xfrm>
            <a:off x="555851" y="2413032"/>
            <a:ext cx="8229600" cy="561975"/>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20000"/>
              </a:lnSpc>
              <a:spcBef>
                <a:spcPct val="40000"/>
              </a:spcBef>
              <a:buClr>
                <a:schemeClr val="hlink"/>
              </a:buClr>
            </a:pPr>
            <a:r>
              <a:rPr lang="zh-CN" altLang="en-US" sz="9600" dirty="0">
                <a:solidFill>
                  <a:schemeClr val="tx2"/>
                </a:solidFill>
                <a:latin typeface="SimSun" panose="02010600030101010101" pitchFamily="2" charset="-122"/>
                <a:ea typeface="SimSun" panose="02010600030101010101" pitchFamily="2" charset="-122"/>
              </a:rPr>
              <a:t>【例</a:t>
            </a:r>
            <a:r>
              <a:rPr lang="en-US" altLang="zh-CN" sz="9600" dirty="0">
                <a:solidFill>
                  <a:schemeClr val="tx2"/>
                </a:solidFill>
                <a:latin typeface="SimSun" panose="02010600030101010101" pitchFamily="2" charset="-122"/>
                <a:ea typeface="SimSun" panose="02010600030101010101" pitchFamily="2" charset="-122"/>
              </a:rPr>
              <a:t>1</a:t>
            </a:r>
            <a:r>
              <a:rPr lang="zh-CN" altLang="en-US" sz="9600" dirty="0">
                <a:solidFill>
                  <a:schemeClr val="tx2"/>
                </a:solidFill>
                <a:latin typeface="SimSun" panose="02010600030101010101" pitchFamily="2" charset="-122"/>
                <a:ea typeface="SimSun" panose="02010600030101010101" pitchFamily="2" charset="-122"/>
              </a:rPr>
              <a:t>】</a:t>
            </a:r>
            <a:r>
              <a:rPr lang="zh-CN" altLang="en-US" sz="9600" dirty="0">
                <a:latin typeface="SimSun" panose="02010600030101010101" pitchFamily="2" charset="-122"/>
                <a:ea typeface="SimSun" panose="02010600030101010101" pitchFamily="2" charset="-122"/>
              </a:rPr>
              <a:t>计算</a:t>
            </a:r>
            <a:br>
              <a:rPr lang="zh-CN" altLang="en-US" sz="3000" dirty="0">
                <a:ea typeface="楷体_GB2312" pitchFamily="49" charset="-122"/>
              </a:rPr>
            </a:br>
            <a:br>
              <a:rPr lang="zh-CN" altLang="en-US" sz="3000" dirty="0">
                <a:ea typeface="楷体_GB2312" pitchFamily="49" charset="-122"/>
              </a:rPr>
            </a:br>
            <a:endParaRPr lang="zh-CN" altLang="en-US" dirty="0">
              <a:ea typeface="楷体_GB2312" pitchFamily="49" charset="-122"/>
            </a:endParaRPr>
          </a:p>
        </p:txBody>
      </p:sp>
      <p:graphicFrame>
        <p:nvGraphicFramePr>
          <p:cNvPr id="7" name="对象 69637">
            <a:extLst>
              <a:ext uri="{FF2B5EF4-FFF2-40B4-BE49-F238E27FC236}">
                <a16:creationId xmlns:a16="http://schemas.microsoft.com/office/drawing/2014/main" id="{3A62DD17-F189-E14C-AB5B-F1DCEE6BDCD1}"/>
              </a:ext>
            </a:extLst>
          </p:cNvPr>
          <p:cNvGraphicFramePr>
            <a:graphicFrameLocks/>
          </p:cNvGraphicFramePr>
          <p:nvPr>
            <p:extLst>
              <p:ext uri="{D42A27DB-BD31-4B8C-83A1-F6EECF244321}">
                <p14:modId xmlns:p14="http://schemas.microsoft.com/office/powerpoint/2010/main" val="3834748244"/>
              </p:ext>
            </p:extLst>
          </p:nvPr>
        </p:nvGraphicFramePr>
        <p:xfrm>
          <a:off x="2674738" y="2211432"/>
          <a:ext cx="4054172" cy="863600"/>
        </p:xfrm>
        <a:graphic>
          <a:graphicData uri="http://schemas.openxmlformats.org/presentationml/2006/ole">
            <mc:AlternateContent xmlns:mc="http://schemas.openxmlformats.org/markup-compatibility/2006">
              <mc:Choice xmlns:v="urn:schemas-microsoft-com:vml" Requires="v">
                <p:oleObj spid="_x0000_s1129" r:id="rId4" imgW="43002200" imgH="10236200" progId="Equation.3">
                  <p:embed/>
                </p:oleObj>
              </mc:Choice>
              <mc:Fallback>
                <p:oleObj r:id="rId4" imgW="43002200" imgH="10236200" progId="Equation.3">
                  <p:embed/>
                  <p:pic>
                    <p:nvPicPr>
                      <p:cNvPr id="18435" name="对象 69637">
                        <a:extLst>
                          <a:ext uri="{FF2B5EF4-FFF2-40B4-BE49-F238E27FC236}">
                            <a16:creationId xmlns:a16="http://schemas.microsoft.com/office/drawing/2014/main" id="{D46ED6D2-7426-9D4D-A565-DF4379E0B8C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4738" y="2211432"/>
                        <a:ext cx="4054172" cy="863600"/>
                      </a:xfrm>
                      <a:prstGeom prst="rect">
                        <a:avLst/>
                      </a:prstGeom>
                      <a:noFill/>
                      <a:ln>
                        <a:noFill/>
                      </a:ln>
                    </p:spPr>
                  </p:pic>
                </p:oleObj>
              </mc:Fallback>
            </mc:AlternateContent>
          </a:graphicData>
        </a:graphic>
      </p:graphicFrame>
      <p:sp>
        <p:nvSpPr>
          <p:cNvPr id="8" name="矩形 69643">
            <a:extLst>
              <a:ext uri="{FF2B5EF4-FFF2-40B4-BE49-F238E27FC236}">
                <a16:creationId xmlns:a16="http://schemas.microsoft.com/office/drawing/2014/main" id="{EE1B5A7A-AE87-7E4E-BC95-9688B71DB204}"/>
              </a:ext>
            </a:extLst>
          </p:cNvPr>
          <p:cNvSpPr>
            <a:spLocks noChangeArrowheads="1"/>
          </p:cNvSpPr>
          <p:nvPr/>
        </p:nvSpPr>
        <p:spPr bwMode="auto">
          <a:xfrm>
            <a:off x="660624" y="4506052"/>
            <a:ext cx="8207375"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40000"/>
              </a:spcBef>
              <a:buClr>
                <a:schemeClr val="hlink"/>
              </a:buClr>
            </a:pPr>
            <a:r>
              <a:rPr lang="zh-CN" altLang="en-US" sz="2600" b="1" dirty="0">
                <a:solidFill>
                  <a:schemeClr val="tx2"/>
                </a:solidFill>
                <a:latin typeface="黑体" panose="02010609060101010101" pitchFamily="49" charset="-122"/>
                <a:ea typeface="黑体" panose="02010609060101010101" pitchFamily="49" charset="-122"/>
              </a:rPr>
              <a:t>问题分析：</a:t>
            </a:r>
            <a:br>
              <a:rPr lang="zh-CN" altLang="en-US" b="1" dirty="0">
                <a:latin typeface="宋体" panose="02010600030101010101" pitchFamily="2" charset="-122"/>
              </a:rPr>
            </a:br>
            <a:r>
              <a:rPr lang="zh-CN" altLang="en-US" b="1" dirty="0">
                <a:latin typeface="宋体" panose="02010600030101010101" pitchFamily="2" charset="-122"/>
              </a:rPr>
              <a:t>   问题中既有累加又有累乘，累加的对象是累乘的结果。</a:t>
            </a:r>
            <a:endParaRPr lang="zh-CN" altLang="en-US" b="1" dirty="0">
              <a:latin typeface="Arial" panose="020B0604020202020204" pitchFamily="34" charset="0"/>
              <a:ea typeface="楷体_GB2312" pitchFamily="49" charset="-122"/>
            </a:endParaRPr>
          </a:p>
        </p:txBody>
      </p:sp>
      <p:sp>
        <p:nvSpPr>
          <p:cNvPr id="2" name="云形 1">
            <a:extLst>
              <a:ext uri="{FF2B5EF4-FFF2-40B4-BE49-F238E27FC236}">
                <a16:creationId xmlns:a16="http://schemas.microsoft.com/office/drawing/2014/main" id="{50184387-B1D5-824B-A426-0B8B3D816AD2}"/>
              </a:ext>
            </a:extLst>
          </p:cNvPr>
          <p:cNvSpPr/>
          <p:nvPr/>
        </p:nvSpPr>
        <p:spPr>
          <a:xfrm>
            <a:off x="587024" y="3387723"/>
            <a:ext cx="1230488" cy="77762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kumimoji="1" lang="zh-CN" altLang="en-US" sz="2400" dirty="0">
                <a:latin typeface="SimSun" panose="02010600030101010101" pitchFamily="2" charset="-122"/>
                <a:ea typeface="SimSun" panose="02010600030101010101" pitchFamily="2" charset="-122"/>
              </a:rPr>
              <a:t>思考：</a:t>
            </a:r>
          </a:p>
        </p:txBody>
      </p:sp>
    </p:spTree>
    <p:extLst>
      <p:ext uri="{BB962C8B-B14F-4D97-AF65-F5344CB8AC3E}">
        <p14:creationId xmlns:p14="http://schemas.microsoft.com/office/powerpoint/2010/main" val="64696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8">
            <a:extLst>
              <a:ext uri="{FF2B5EF4-FFF2-40B4-BE49-F238E27FC236}">
                <a16:creationId xmlns:a16="http://schemas.microsoft.com/office/drawing/2014/main" id="{AA46B8FA-F0B0-7B47-B14F-3BF93257EE6A}"/>
              </a:ext>
            </a:extLst>
          </p:cNvPr>
          <p:cNvSpPr>
            <a:spLocks noGrp="1"/>
          </p:cNvSpPr>
          <p:nvPr>
            <p:ph type="title"/>
          </p:nvPr>
        </p:nvSpPr>
        <p:spPr>
          <a:xfrm>
            <a:off x="1205956" y="376263"/>
            <a:ext cx="6043930" cy="569668"/>
          </a:xfrm>
        </p:spPr>
        <p:txBody>
          <a:bodyPr>
            <a:noAutofit/>
          </a:bodyPr>
          <a:lstStyle/>
          <a:p>
            <a:r>
              <a:rPr lang="zh-CN" altLang="en-US" sz="4400" dirty="0">
                <a:solidFill>
                  <a:schemeClr val="tx1"/>
                </a:solidFill>
              </a:rPr>
              <a:t>循环与递归</a:t>
            </a:r>
            <a:endParaRPr lang="zh-CN" altLang="en-US" dirty="0">
              <a:latin typeface="微软雅黑" pitchFamily="34" charset="-122"/>
              <a:ea typeface="微软雅黑" pitchFamily="34" charset="-122"/>
            </a:endParaRPr>
          </a:p>
        </p:txBody>
      </p:sp>
      <p:graphicFrame>
        <p:nvGraphicFramePr>
          <p:cNvPr id="4" name="内容占位符 133122">
            <a:extLst>
              <a:ext uri="{FF2B5EF4-FFF2-40B4-BE49-F238E27FC236}">
                <a16:creationId xmlns:a16="http://schemas.microsoft.com/office/drawing/2014/main" id="{0A623A42-0D50-084F-9AC6-7D06B882FA27}"/>
              </a:ext>
            </a:extLst>
          </p:cNvPr>
          <p:cNvGraphicFramePr>
            <a:graphicFrameLocks/>
          </p:cNvGraphicFramePr>
          <p:nvPr>
            <p:extLst>
              <p:ext uri="{D42A27DB-BD31-4B8C-83A1-F6EECF244321}">
                <p14:modId xmlns:p14="http://schemas.microsoft.com/office/powerpoint/2010/main" val="1722265235"/>
              </p:ext>
            </p:extLst>
          </p:nvPr>
        </p:nvGraphicFramePr>
        <p:xfrm>
          <a:off x="7632124" y="1371195"/>
          <a:ext cx="2731770" cy="1008062"/>
        </p:xfrm>
        <a:graphic>
          <a:graphicData uri="http://schemas.openxmlformats.org/presentationml/2006/ole">
            <mc:AlternateContent xmlns:mc="http://schemas.openxmlformats.org/markup-compatibility/2006">
              <mc:Choice xmlns:v="urn:schemas-microsoft-com:vml" Requires="v">
                <p:oleObj spid="_x0000_s2259" r:id="rId3" imgW="27203400" imgH="10236200" progId="Equation.3">
                  <p:embed/>
                </p:oleObj>
              </mc:Choice>
              <mc:Fallback>
                <p:oleObj r:id="rId3" imgW="27203400" imgH="10236200" progId="Equation.3">
                  <p:embed/>
                  <p:pic>
                    <p:nvPicPr>
                      <p:cNvPr id="19457" name="内容占位符 133122">
                        <a:extLst>
                          <a:ext uri="{FF2B5EF4-FFF2-40B4-BE49-F238E27FC236}">
                            <a16:creationId xmlns:a16="http://schemas.microsoft.com/office/drawing/2014/main" id="{760FCA88-E89E-874C-B1E5-A347A4361FB9}"/>
                          </a:ext>
                        </a:extLst>
                      </p:cNvPr>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2124" y="1371195"/>
                        <a:ext cx="2731770" cy="1008062"/>
                      </a:xfrm>
                      <a:prstGeom prst="rect">
                        <a:avLst/>
                      </a:prstGeom>
                      <a:ln>
                        <a:noFill/>
                      </a:ln>
                    </p:spPr>
                  </p:pic>
                </p:oleObj>
              </mc:Fallback>
            </mc:AlternateContent>
          </a:graphicData>
        </a:graphic>
      </p:graphicFrame>
      <p:graphicFrame>
        <p:nvGraphicFramePr>
          <p:cNvPr id="5" name="内容占位符 133125">
            <a:extLst>
              <a:ext uri="{FF2B5EF4-FFF2-40B4-BE49-F238E27FC236}">
                <a16:creationId xmlns:a16="http://schemas.microsoft.com/office/drawing/2014/main" id="{AC68CCB4-6CDF-A040-ACB3-063AB9DA5584}"/>
              </a:ext>
            </a:extLst>
          </p:cNvPr>
          <p:cNvGraphicFramePr>
            <a:graphicFrameLocks/>
          </p:cNvGraphicFramePr>
          <p:nvPr>
            <p:extLst>
              <p:ext uri="{D42A27DB-BD31-4B8C-83A1-F6EECF244321}">
                <p14:modId xmlns:p14="http://schemas.microsoft.com/office/powerpoint/2010/main" val="2330137982"/>
              </p:ext>
            </p:extLst>
          </p:nvPr>
        </p:nvGraphicFramePr>
        <p:xfrm>
          <a:off x="2979199" y="3998021"/>
          <a:ext cx="2091689" cy="935038"/>
        </p:xfrm>
        <a:graphic>
          <a:graphicData uri="http://schemas.openxmlformats.org/presentationml/2006/ole">
            <mc:AlternateContent xmlns:mc="http://schemas.openxmlformats.org/markup-compatibility/2006">
              <mc:Choice xmlns:v="urn:schemas-microsoft-com:vml" Requires="v">
                <p:oleObj spid="_x0000_s2260" r:id="rId5" imgW="22237700" imgH="10236200" progId="Equation.3">
                  <p:embed/>
                </p:oleObj>
              </mc:Choice>
              <mc:Fallback>
                <p:oleObj r:id="rId5" imgW="22237700" imgH="10236200" progId="Equation.3">
                  <p:embed/>
                  <p:pic>
                    <p:nvPicPr>
                      <p:cNvPr id="19459" name="内容占位符 133125">
                        <a:extLst>
                          <a:ext uri="{FF2B5EF4-FFF2-40B4-BE49-F238E27FC236}">
                            <a16:creationId xmlns:a16="http://schemas.microsoft.com/office/drawing/2014/main" id="{B51E2404-2E23-B948-84F4-5442E60A3659}"/>
                          </a:ext>
                        </a:extLst>
                      </p:cNvPr>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9199" y="3998021"/>
                        <a:ext cx="2091689" cy="935038"/>
                      </a:xfrm>
                      <a:prstGeom prst="rect">
                        <a:avLst/>
                      </a:prstGeom>
                      <a:ln>
                        <a:noFill/>
                      </a:ln>
                    </p:spPr>
                  </p:pic>
                </p:oleObj>
              </mc:Fallback>
            </mc:AlternateContent>
          </a:graphicData>
        </a:graphic>
      </p:graphicFrame>
      <p:sp>
        <p:nvSpPr>
          <p:cNvPr id="6" name="矩形 133127">
            <a:extLst>
              <a:ext uri="{FF2B5EF4-FFF2-40B4-BE49-F238E27FC236}">
                <a16:creationId xmlns:a16="http://schemas.microsoft.com/office/drawing/2014/main" id="{C9E48229-F832-A34D-940A-493DDA7B2C1A}"/>
              </a:ext>
            </a:extLst>
          </p:cNvPr>
          <p:cNvSpPr>
            <a:spLocks noChangeArrowheads="1"/>
          </p:cNvSpPr>
          <p:nvPr/>
        </p:nvSpPr>
        <p:spPr bwMode="auto">
          <a:xfrm>
            <a:off x="678498" y="1564006"/>
            <a:ext cx="2087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40000"/>
              </a:spcBef>
              <a:buClr>
                <a:schemeClr val="hlink"/>
              </a:buClr>
            </a:pPr>
            <a:r>
              <a:rPr lang="zh-CN" altLang="en-US" sz="2600" b="1" dirty="0">
                <a:solidFill>
                  <a:schemeClr val="tx2"/>
                </a:solidFill>
                <a:latin typeface="黑体" panose="02010609060101010101" pitchFamily="49" charset="-122"/>
                <a:ea typeface="黑体" panose="02010609060101010101" pitchFamily="49" charset="-122"/>
              </a:rPr>
              <a:t>数学模型 </a:t>
            </a:r>
            <a:r>
              <a:rPr lang="en-US" altLang="zh-CN" sz="2600" b="1" dirty="0">
                <a:solidFill>
                  <a:schemeClr val="tx2"/>
                </a:solidFill>
                <a:latin typeface="黑体" panose="02010609060101010101" pitchFamily="49" charset="-122"/>
                <a:ea typeface="黑体" panose="02010609060101010101" pitchFamily="49" charset="-122"/>
              </a:rPr>
              <a:t>1</a:t>
            </a:r>
            <a:r>
              <a:rPr lang="zh-CN" altLang="en-US" sz="2800" b="1" dirty="0">
                <a:solidFill>
                  <a:schemeClr val="tx2"/>
                </a:solidFill>
                <a:latin typeface="宋体" panose="02010600030101010101" pitchFamily="2" charset="-122"/>
              </a:rPr>
              <a:t>：</a:t>
            </a:r>
            <a:endParaRPr lang="zh-CN" altLang="en-US" sz="2800" b="1" dirty="0">
              <a:solidFill>
                <a:schemeClr val="tx2"/>
              </a:solidFill>
              <a:latin typeface="Arial" panose="020B0604020202020204" pitchFamily="34" charset="0"/>
              <a:ea typeface="楷体_GB2312" pitchFamily="49" charset="-122"/>
            </a:endParaRPr>
          </a:p>
        </p:txBody>
      </p:sp>
      <p:sp>
        <p:nvSpPr>
          <p:cNvPr id="7" name="矩形 133128">
            <a:extLst>
              <a:ext uri="{FF2B5EF4-FFF2-40B4-BE49-F238E27FC236}">
                <a16:creationId xmlns:a16="http://schemas.microsoft.com/office/drawing/2014/main" id="{039E075C-2E96-214A-A551-B9224D0CFE17}"/>
              </a:ext>
            </a:extLst>
          </p:cNvPr>
          <p:cNvSpPr>
            <a:spLocks noChangeArrowheads="1"/>
          </p:cNvSpPr>
          <p:nvPr/>
        </p:nvSpPr>
        <p:spPr bwMode="auto">
          <a:xfrm>
            <a:off x="678498" y="3027046"/>
            <a:ext cx="65713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40000"/>
              </a:spcBef>
              <a:buClr>
                <a:schemeClr val="hlink"/>
              </a:buClr>
            </a:pPr>
            <a:r>
              <a:rPr lang="zh-CN" altLang="en-US" sz="2600" b="1" dirty="0">
                <a:solidFill>
                  <a:schemeClr val="tx2"/>
                </a:solidFill>
                <a:latin typeface="黑体" panose="02010609060101010101" pitchFamily="49" charset="-122"/>
                <a:ea typeface="黑体" panose="02010609060101010101" pitchFamily="49" charset="-122"/>
              </a:rPr>
              <a:t>算法设计 </a:t>
            </a:r>
            <a:r>
              <a:rPr lang="en-US" altLang="zh-CN" sz="2600" b="1" dirty="0">
                <a:solidFill>
                  <a:schemeClr val="tx2"/>
                </a:solidFill>
                <a:latin typeface="黑体" panose="02010609060101010101" pitchFamily="49" charset="-122"/>
                <a:ea typeface="黑体" panose="02010609060101010101" pitchFamily="49" charset="-122"/>
              </a:rPr>
              <a:t>1</a:t>
            </a:r>
            <a:r>
              <a:rPr lang="zh-CN" altLang="en-US" sz="2800" b="1" dirty="0">
                <a:solidFill>
                  <a:schemeClr val="tx2"/>
                </a:solidFill>
                <a:latin typeface="黑体" panose="02010609060101010101" pitchFamily="49" charset="-122"/>
                <a:ea typeface="黑体" panose="02010609060101010101" pitchFamily="49" charset="-122"/>
              </a:rPr>
              <a:t>： </a:t>
            </a:r>
            <a:r>
              <a:rPr lang="zh-CN" altLang="en-US" sz="2800" b="1" dirty="0">
                <a:latin typeface="宋体" panose="02010600030101010101" pitchFamily="2" charset="-122"/>
              </a:rPr>
              <a:t>构造循环不变式为：</a:t>
            </a:r>
            <a:endParaRPr lang="zh-CN" altLang="en-US" sz="2800" b="1" dirty="0">
              <a:latin typeface="Arial" panose="020B0604020202020204" pitchFamily="34" charset="0"/>
              <a:ea typeface="楷体_GB2312" pitchFamily="49" charset="-122"/>
            </a:endParaRPr>
          </a:p>
        </p:txBody>
      </p:sp>
      <p:graphicFrame>
        <p:nvGraphicFramePr>
          <p:cNvPr id="8" name="对象 69637">
            <a:extLst>
              <a:ext uri="{FF2B5EF4-FFF2-40B4-BE49-F238E27FC236}">
                <a16:creationId xmlns:a16="http://schemas.microsoft.com/office/drawing/2014/main" id="{A0004622-777C-6948-9E56-DD00EAFC46B2}"/>
              </a:ext>
            </a:extLst>
          </p:cNvPr>
          <p:cNvGraphicFramePr>
            <a:graphicFrameLocks/>
          </p:cNvGraphicFramePr>
          <p:nvPr>
            <p:extLst>
              <p:ext uri="{D42A27DB-BD31-4B8C-83A1-F6EECF244321}">
                <p14:modId xmlns:p14="http://schemas.microsoft.com/office/powerpoint/2010/main" val="1698847926"/>
              </p:ext>
            </p:extLst>
          </p:nvPr>
        </p:nvGraphicFramePr>
        <p:xfrm>
          <a:off x="3043802" y="1468686"/>
          <a:ext cx="4054172" cy="863600"/>
        </p:xfrm>
        <a:graphic>
          <a:graphicData uri="http://schemas.openxmlformats.org/presentationml/2006/ole">
            <mc:AlternateContent xmlns:mc="http://schemas.openxmlformats.org/markup-compatibility/2006">
              <mc:Choice xmlns:v="urn:schemas-microsoft-com:vml" Requires="v">
                <p:oleObj spid="_x0000_s2261" r:id="rId7" imgW="43002200" imgH="10236200" progId="Equation.3">
                  <p:embed/>
                </p:oleObj>
              </mc:Choice>
              <mc:Fallback>
                <p:oleObj r:id="rId7" imgW="43002200" imgH="10236200" progId="Equation.3">
                  <p:embed/>
                  <p:pic>
                    <p:nvPicPr>
                      <p:cNvPr id="7" name="对象 69637">
                        <a:extLst>
                          <a:ext uri="{FF2B5EF4-FFF2-40B4-BE49-F238E27FC236}">
                            <a16:creationId xmlns:a16="http://schemas.microsoft.com/office/drawing/2014/main" id="{3A62DD17-F189-E14C-AB5B-F1DCEE6BDCD1}"/>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3802" y="1468686"/>
                        <a:ext cx="4054172" cy="863600"/>
                      </a:xfrm>
                      <a:prstGeom prst="rect">
                        <a:avLst/>
                      </a:prstGeom>
                      <a:noFill/>
                      <a:ln>
                        <a:noFill/>
                      </a:ln>
                    </p:spPr>
                  </p:pic>
                </p:oleObj>
              </mc:Fallback>
            </mc:AlternateContent>
          </a:graphicData>
        </a:graphic>
      </p:graphicFrame>
      <p:sp>
        <p:nvSpPr>
          <p:cNvPr id="2" name="左大括号 1">
            <a:extLst>
              <a:ext uri="{FF2B5EF4-FFF2-40B4-BE49-F238E27FC236}">
                <a16:creationId xmlns:a16="http://schemas.microsoft.com/office/drawing/2014/main" id="{C0A421EB-13BC-F54C-BA06-62DF99EDAEC1}"/>
              </a:ext>
            </a:extLst>
          </p:cNvPr>
          <p:cNvSpPr/>
          <p:nvPr/>
        </p:nvSpPr>
        <p:spPr>
          <a:xfrm rot="16200000">
            <a:off x="4385619" y="1184027"/>
            <a:ext cx="276280" cy="2714998"/>
          </a:xfrm>
          <a:prstGeom prst="leftBrace">
            <a:avLst/>
          </a:prstGeom>
          <a:ln w="19050"/>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cxnSp>
        <p:nvCxnSpPr>
          <p:cNvPr id="10" name="肘形连接符 9">
            <a:extLst>
              <a:ext uri="{FF2B5EF4-FFF2-40B4-BE49-F238E27FC236}">
                <a16:creationId xmlns:a16="http://schemas.microsoft.com/office/drawing/2014/main" id="{76872923-58A3-8E4E-9523-D44BC83B7462}"/>
              </a:ext>
            </a:extLst>
          </p:cNvPr>
          <p:cNvCxnSpPr>
            <a:cxnSpLocks/>
          </p:cNvCxnSpPr>
          <p:nvPr/>
        </p:nvCxnSpPr>
        <p:spPr>
          <a:xfrm flipV="1">
            <a:off x="4502977" y="2417681"/>
            <a:ext cx="3955223" cy="354233"/>
          </a:xfrm>
          <a:prstGeom prst="bentConnector3">
            <a:avLst>
              <a:gd name="adj1" fmla="val 99916"/>
            </a:avLst>
          </a:prstGeom>
          <a:ln w="190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6573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8">
            <a:extLst>
              <a:ext uri="{FF2B5EF4-FFF2-40B4-BE49-F238E27FC236}">
                <a16:creationId xmlns:a16="http://schemas.microsoft.com/office/drawing/2014/main" id="{930EAC48-2FD0-DF40-A2A9-72E0F352B4E9}"/>
              </a:ext>
            </a:extLst>
          </p:cNvPr>
          <p:cNvSpPr>
            <a:spLocks noGrp="1"/>
          </p:cNvSpPr>
          <p:nvPr>
            <p:ph type="title"/>
          </p:nvPr>
        </p:nvSpPr>
        <p:spPr>
          <a:xfrm>
            <a:off x="1205956" y="376263"/>
            <a:ext cx="2519362" cy="569668"/>
          </a:xfrm>
        </p:spPr>
        <p:txBody>
          <a:bodyPr>
            <a:noAutofit/>
          </a:bodyPr>
          <a:lstStyle/>
          <a:p>
            <a:r>
              <a:rPr lang="zh-CN" altLang="en-US" sz="3600" dirty="0">
                <a:latin typeface="SimSun" panose="02010600030101010101" pitchFamily="2" charset="-122"/>
                <a:ea typeface="SimSun" panose="02010600030101010101" pitchFamily="2" charset="-122"/>
              </a:rPr>
              <a:t>算法</a:t>
            </a:r>
            <a:r>
              <a:rPr lang="en-US" altLang="zh-CN" sz="3600" dirty="0">
                <a:latin typeface="SimSun" panose="02010600030101010101" pitchFamily="2" charset="-122"/>
                <a:ea typeface="SimSun" panose="02010600030101010101" pitchFamily="2" charset="-122"/>
              </a:rPr>
              <a:t>1</a:t>
            </a:r>
            <a:r>
              <a:rPr lang="zh-CN" altLang="en-US" sz="3600" dirty="0">
                <a:latin typeface="SimSun" panose="02010600030101010101" pitchFamily="2" charset="-122"/>
                <a:ea typeface="SimSun" panose="02010600030101010101" pitchFamily="2" charset="-122"/>
              </a:rPr>
              <a:t>实现</a:t>
            </a:r>
          </a:p>
        </p:txBody>
      </p:sp>
      <p:sp>
        <p:nvSpPr>
          <p:cNvPr id="5" name="文本框 9221">
            <a:extLst>
              <a:ext uri="{FF2B5EF4-FFF2-40B4-BE49-F238E27FC236}">
                <a16:creationId xmlns:a16="http://schemas.microsoft.com/office/drawing/2014/main" id="{A47BED2A-1D06-9546-B1E8-8068F371638B}"/>
              </a:ext>
            </a:extLst>
          </p:cNvPr>
          <p:cNvSpPr txBox="1">
            <a:spLocks noChangeArrowheads="1"/>
          </p:cNvSpPr>
          <p:nvPr/>
        </p:nvSpPr>
        <p:spPr bwMode="auto">
          <a:xfrm>
            <a:off x="3964623" y="2424992"/>
            <a:ext cx="6049962"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b="1" dirty="0">
                <a:cs typeface="Times New Roman" panose="02020603050405020304" pitchFamily="18" charset="0"/>
              </a:rPr>
              <a:t> for ( </a:t>
            </a:r>
            <a:r>
              <a:rPr lang="en-US" altLang="zh-CN" b="1" dirty="0" err="1">
                <a:cs typeface="Times New Roman" panose="02020603050405020304" pitchFamily="18" charset="0"/>
              </a:rPr>
              <a:t>i</a:t>
            </a:r>
            <a:r>
              <a:rPr lang="en-US" altLang="zh-CN" b="1" dirty="0">
                <a:cs typeface="Times New Roman" panose="02020603050405020304" pitchFamily="18" charset="0"/>
              </a:rPr>
              <a:t>=2 ; </a:t>
            </a:r>
            <a:r>
              <a:rPr lang="en-US" altLang="zh-CN" b="1" dirty="0" err="1">
                <a:cs typeface="Times New Roman" panose="02020603050405020304" pitchFamily="18" charset="0"/>
              </a:rPr>
              <a:t>i</a:t>
            </a:r>
            <a:r>
              <a:rPr lang="en-US" altLang="zh-CN" b="1" dirty="0">
                <a:cs typeface="Times New Roman" panose="02020603050405020304" pitchFamily="18" charset="0"/>
              </a:rPr>
              <a:t>&lt;=n ; </a:t>
            </a:r>
            <a:r>
              <a:rPr lang="en-US" altLang="zh-CN" b="1" dirty="0" err="1">
                <a:cs typeface="Times New Roman" panose="02020603050405020304" pitchFamily="18" charset="0"/>
              </a:rPr>
              <a:t>i</a:t>
            </a:r>
            <a:r>
              <a:rPr lang="en-US" altLang="zh-CN" b="1" dirty="0">
                <a:cs typeface="Times New Roman" panose="02020603050405020304" pitchFamily="18" charset="0"/>
              </a:rPr>
              <a:t>=i+1 )</a:t>
            </a:r>
          </a:p>
          <a:p>
            <a:pPr>
              <a:lnSpc>
                <a:spcPct val="90000"/>
              </a:lnSpc>
            </a:pPr>
            <a:r>
              <a:rPr lang="en-US" altLang="zh-CN" b="1" dirty="0">
                <a:cs typeface="Times New Roman" panose="02020603050405020304" pitchFamily="18" charset="0"/>
              </a:rPr>
              <a:t>     </a:t>
            </a:r>
            <a:r>
              <a:rPr lang="en-US" altLang="zh-CN" b="1" dirty="0">
                <a:solidFill>
                  <a:srgbClr val="FF0000"/>
                </a:solidFill>
                <a:cs typeface="Times New Roman" panose="02020603050405020304" pitchFamily="18" charset="0"/>
              </a:rPr>
              <a:t>{</a:t>
            </a:r>
            <a:r>
              <a:rPr lang="en-US" altLang="zh-CN" b="1" dirty="0">
                <a:cs typeface="Times New Roman" panose="02020603050405020304" pitchFamily="18" charset="0"/>
              </a:rPr>
              <a:t> t=1; </a:t>
            </a:r>
          </a:p>
          <a:p>
            <a:pPr>
              <a:lnSpc>
                <a:spcPct val="90000"/>
              </a:lnSpc>
            </a:pPr>
            <a:r>
              <a:rPr lang="en-US" altLang="zh-CN" b="1" dirty="0">
                <a:cs typeface="Times New Roman" panose="02020603050405020304" pitchFamily="18" charset="0"/>
              </a:rPr>
              <a:t>       </a:t>
            </a:r>
            <a:r>
              <a:rPr lang="zh-CN" altLang="en-US" b="1" dirty="0">
                <a:cs typeface="Times New Roman" panose="02020603050405020304" pitchFamily="18" charset="0"/>
              </a:rPr>
              <a:t> </a:t>
            </a:r>
            <a:r>
              <a:rPr lang="en-US" altLang="zh-CN" b="1" dirty="0">
                <a:cs typeface="Times New Roman" panose="02020603050405020304" pitchFamily="18" charset="0"/>
              </a:rPr>
              <a:t>for (j=1;</a:t>
            </a:r>
            <a:r>
              <a:rPr lang="en-US" altLang="zh-CN" b="1" dirty="0">
                <a:solidFill>
                  <a:srgbClr val="FF0000"/>
                </a:solidFill>
                <a:cs typeface="Times New Roman" panose="02020603050405020304" pitchFamily="18" charset="0"/>
              </a:rPr>
              <a:t>j&lt;=2*i-1</a:t>
            </a:r>
            <a:r>
              <a:rPr lang="en-US" altLang="zh-CN" b="1" dirty="0">
                <a:cs typeface="Times New Roman" panose="02020603050405020304" pitchFamily="18" charset="0"/>
              </a:rPr>
              <a:t>;j=j+1)    </a:t>
            </a:r>
            <a:r>
              <a:rPr lang="zh-CN" altLang="en-US" b="1" dirty="0">
                <a:cs typeface="Times New Roman" panose="02020603050405020304" pitchFamily="18" charset="0"/>
              </a:rPr>
              <a:t>  </a:t>
            </a:r>
            <a:r>
              <a:rPr lang="en-US" altLang="zh-CN" sz="2200" b="1" dirty="0">
                <a:solidFill>
                  <a:srgbClr val="02BE64"/>
                </a:solidFill>
                <a:ea typeface="黑体" panose="02010609060101010101" pitchFamily="49" charset="-122"/>
                <a:cs typeface="Times New Roman" panose="02020603050405020304" pitchFamily="18" charset="0"/>
              </a:rPr>
              <a:t>\</a:t>
            </a:r>
            <a:r>
              <a:rPr lang="zh-CN" altLang="en-US" sz="2200" b="1" dirty="0">
                <a:solidFill>
                  <a:srgbClr val="02BE64"/>
                </a:solidFill>
                <a:ea typeface="黑体" panose="02010609060101010101" pitchFamily="49" charset="-122"/>
                <a:cs typeface="Times New Roman" panose="02020603050405020304" pitchFamily="18" charset="0"/>
              </a:rPr>
              <a:t>求阶乘</a:t>
            </a:r>
            <a:r>
              <a:rPr lang="en-US" altLang="zh-CN" sz="2200" b="1" dirty="0">
                <a:solidFill>
                  <a:srgbClr val="02BE64"/>
                </a:solidFill>
                <a:ea typeface="黑体" panose="02010609060101010101" pitchFamily="49" charset="-122"/>
                <a:cs typeface="Times New Roman" panose="02020603050405020304" pitchFamily="18" charset="0"/>
              </a:rPr>
              <a:t>\</a:t>
            </a:r>
          </a:p>
          <a:p>
            <a:pPr>
              <a:lnSpc>
                <a:spcPct val="150000"/>
              </a:lnSpc>
            </a:pPr>
            <a:r>
              <a:rPr lang="en-US" altLang="zh-CN" b="1" dirty="0">
                <a:cs typeface="Times New Roman" panose="02020603050405020304" pitchFamily="18" charset="0"/>
              </a:rPr>
              <a:t>             </a:t>
            </a:r>
            <a:r>
              <a:rPr lang="en-US" altLang="zh-CN" b="1" dirty="0">
                <a:solidFill>
                  <a:schemeClr val="accent1"/>
                </a:solidFill>
                <a:cs typeface="Times New Roman" panose="02020603050405020304" pitchFamily="18" charset="0"/>
              </a:rPr>
              <a:t>t=t*j;</a:t>
            </a:r>
          </a:p>
          <a:p>
            <a:pPr>
              <a:lnSpc>
                <a:spcPct val="90000"/>
              </a:lnSpc>
            </a:pPr>
            <a:r>
              <a:rPr lang="en-US" altLang="zh-CN" b="1" dirty="0">
                <a:cs typeface="Times New Roman" panose="02020603050405020304" pitchFamily="18" charset="0"/>
              </a:rPr>
              <a:t>       </a:t>
            </a:r>
            <a:r>
              <a:rPr lang="zh-CN" altLang="en-US" b="1" dirty="0">
                <a:cs typeface="Times New Roman" panose="02020603050405020304" pitchFamily="18" charset="0"/>
              </a:rPr>
              <a:t> </a:t>
            </a:r>
            <a:r>
              <a:rPr lang="en-US" altLang="zh-CN" b="1" dirty="0">
                <a:cs typeface="Times New Roman" panose="02020603050405020304" pitchFamily="18" charset="0"/>
              </a:rPr>
              <a:t>sign =1;         		</a:t>
            </a:r>
          </a:p>
          <a:p>
            <a:pPr>
              <a:lnSpc>
                <a:spcPct val="90000"/>
              </a:lnSpc>
            </a:pPr>
            <a:r>
              <a:rPr lang="en-US" altLang="zh-CN" b="1" dirty="0">
                <a:cs typeface="Times New Roman" panose="02020603050405020304" pitchFamily="18" charset="0"/>
              </a:rPr>
              <a:t>       </a:t>
            </a:r>
            <a:r>
              <a:rPr lang="zh-CN" altLang="en-US" b="1" dirty="0">
                <a:cs typeface="Times New Roman" panose="02020603050405020304" pitchFamily="18" charset="0"/>
              </a:rPr>
              <a:t> </a:t>
            </a:r>
            <a:r>
              <a:rPr lang="en-US" altLang="zh-CN" b="1" dirty="0">
                <a:ea typeface="楷体_GB2312" pitchFamily="49" charset="-122"/>
                <a:cs typeface="Times New Roman" panose="02020603050405020304" pitchFamily="18" charset="0"/>
              </a:rPr>
              <a:t>for (j=1;j&lt;=i+1;j=j+1)       </a:t>
            </a:r>
            <a:r>
              <a:rPr lang="zh-CN" altLang="en-US" b="1" dirty="0">
                <a:ea typeface="楷体_GB2312" pitchFamily="49" charset="-122"/>
                <a:cs typeface="Times New Roman" panose="02020603050405020304" pitchFamily="18" charset="0"/>
              </a:rPr>
              <a:t>  </a:t>
            </a:r>
            <a:r>
              <a:rPr lang="en-US" altLang="zh-CN" sz="2200" b="1" dirty="0">
                <a:solidFill>
                  <a:srgbClr val="02BE64"/>
                </a:solidFill>
                <a:ea typeface="黑体" panose="02010609060101010101" pitchFamily="49" charset="-122"/>
                <a:cs typeface="Times New Roman" panose="02020603050405020304" pitchFamily="18" charset="0"/>
              </a:rPr>
              <a:t>\</a:t>
            </a:r>
            <a:r>
              <a:rPr lang="zh-CN" altLang="en-US" sz="2200" b="1" dirty="0">
                <a:solidFill>
                  <a:srgbClr val="02BE64"/>
                </a:solidFill>
                <a:ea typeface="黑体" panose="02010609060101010101" pitchFamily="49" charset="-122"/>
                <a:cs typeface="Times New Roman" panose="02020603050405020304" pitchFamily="18" charset="0"/>
              </a:rPr>
              <a:t>求</a:t>
            </a:r>
            <a:r>
              <a:rPr lang="en-US" altLang="zh-CN" sz="2200" b="1" dirty="0">
                <a:solidFill>
                  <a:srgbClr val="02BE64"/>
                </a:solidFill>
                <a:ea typeface="黑体" panose="02010609060101010101" pitchFamily="49" charset="-122"/>
                <a:cs typeface="Times New Roman" panose="02020603050405020304" pitchFamily="18" charset="0"/>
              </a:rPr>
              <a:t>(-1)</a:t>
            </a:r>
            <a:r>
              <a:rPr lang="en-US" altLang="zh-CN" sz="2200" b="1" baseline="30000" dirty="0">
                <a:solidFill>
                  <a:srgbClr val="02BE64"/>
                </a:solidFill>
                <a:ea typeface="黑体" panose="02010609060101010101" pitchFamily="49" charset="-122"/>
                <a:cs typeface="Times New Roman" panose="02020603050405020304" pitchFamily="18" charset="0"/>
              </a:rPr>
              <a:t>n+1</a:t>
            </a:r>
            <a:r>
              <a:rPr lang="en-US" altLang="zh-CN" sz="2200" b="1" dirty="0">
                <a:solidFill>
                  <a:srgbClr val="02BE64"/>
                </a:solidFill>
                <a:ea typeface="黑体" panose="02010609060101010101" pitchFamily="49" charset="-122"/>
                <a:cs typeface="Times New Roman" panose="02020603050405020304" pitchFamily="18" charset="0"/>
              </a:rPr>
              <a:t>\</a:t>
            </a:r>
            <a:r>
              <a:rPr lang="en-US" altLang="zh-CN" b="1" dirty="0">
                <a:cs typeface="Times New Roman" panose="02020603050405020304" pitchFamily="18" charset="0"/>
              </a:rPr>
              <a:t> </a:t>
            </a:r>
            <a:endParaRPr lang="en-US" altLang="zh-CN" b="1" dirty="0">
              <a:ea typeface="楷体_GB2312" pitchFamily="49" charset="-122"/>
              <a:cs typeface="Times New Roman" panose="02020603050405020304" pitchFamily="18" charset="0"/>
            </a:endParaRPr>
          </a:p>
          <a:p>
            <a:pPr>
              <a:lnSpc>
                <a:spcPct val="15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en-US" altLang="zh-CN" b="1" dirty="0">
                <a:solidFill>
                  <a:schemeClr val="accent1"/>
                </a:solidFill>
                <a:ea typeface="楷体_GB2312" pitchFamily="49" charset="-122"/>
                <a:cs typeface="Times New Roman" panose="02020603050405020304" pitchFamily="18" charset="0"/>
              </a:rPr>
              <a:t>sign = sign *(-1);</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s=s+ sign/t;</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en-US" altLang="zh-CN" b="1" dirty="0">
                <a:solidFill>
                  <a:srgbClr val="FF0000"/>
                </a:solidFill>
                <a:ea typeface="楷体_GB2312" pitchFamily="49" charset="-122"/>
                <a:cs typeface="Times New Roman" panose="02020603050405020304" pitchFamily="18" charset="0"/>
              </a:rPr>
              <a:t> </a:t>
            </a:r>
            <a:r>
              <a:rPr lang="zh-CN" altLang="en-US" b="1" dirty="0">
                <a:solidFill>
                  <a:srgbClr val="FF0000"/>
                </a:solidFill>
                <a:ea typeface="楷体_GB2312" pitchFamily="49" charset="-122"/>
                <a:cs typeface="Times New Roman" panose="02020603050405020304" pitchFamily="18" charset="0"/>
              </a:rPr>
              <a:t> </a:t>
            </a:r>
            <a:r>
              <a:rPr lang="en-US" altLang="zh-CN" b="1" dirty="0">
                <a:solidFill>
                  <a:srgbClr val="FF0000"/>
                </a:solidFill>
                <a:ea typeface="楷体_GB2312" pitchFamily="49" charset="-122"/>
                <a:cs typeface="Times New Roman" panose="02020603050405020304" pitchFamily="18" charset="0"/>
              </a:rPr>
              <a:t>}</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a:t>
            </a:r>
          </a:p>
        </p:txBody>
      </p:sp>
      <p:sp>
        <p:nvSpPr>
          <p:cNvPr id="6" name="文本框 9223">
            <a:extLst>
              <a:ext uri="{FF2B5EF4-FFF2-40B4-BE49-F238E27FC236}">
                <a16:creationId xmlns:a16="http://schemas.microsoft.com/office/drawing/2014/main" id="{9C40FE0B-31E9-C24C-BEB4-E780B8F184E6}"/>
              </a:ext>
            </a:extLst>
          </p:cNvPr>
          <p:cNvSpPr txBox="1">
            <a:spLocks noChangeArrowheads="1"/>
          </p:cNvSpPr>
          <p:nvPr/>
        </p:nvSpPr>
        <p:spPr bwMode="auto">
          <a:xfrm>
            <a:off x="3807619" y="730593"/>
            <a:ext cx="2519362" cy="1751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Main( )</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int </a:t>
            </a:r>
            <a:r>
              <a:rPr lang="en-US" altLang="zh-CN" b="1" dirty="0" err="1">
                <a:ea typeface="楷体_GB2312" pitchFamily="49" charset="-122"/>
                <a:cs typeface="Times New Roman" panose="02020603050405020304" pitchFamily="18" charset="0"/>
              </a:rPr>
              <a:t>i</a:t>
            </a:r>
            <a:r>
              <a:rPr lang="en-US" altLang="zh-CN" b="1" dirty="0">
                <a:ea typeface="楷体_GB2312" pitchFamily="49" charset="-122"/>
                <a:cs typeface="Times New Roman" panose="02020603050405020304" pitchFamily="18" charset="0"/>
              </a:rPr>
              <a:t>,</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n,</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j,</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sign=1;</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float s,</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t=1;</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input(n);</a:t>
            </a:r>
          </a:p>
          <a:p>
            <a:pPr>
              <a:lnSpc>
                <a:spcPct val="9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s=1</a:t>
            </a:r>
            <a:r>
              <a:rPr lang="zh-CN" altLang="en-US" b="1" dirty="0">
                <a:ea typeface="楷体_GB2312" pitchFamily="49" charset="-122"/>
                <a:cs typeface="Times New Roman" panose="02020603050405020304" pitchFamily="18" charset="0"/>
              </a:rPr>
              <a:t>；</a:t>
            </a:r>
          </a:p>
        </p:txBody>
      </p:sp>
    </p:spTree>
    <p:extLst>
      <p:ext uri="{BB962C8B-B14F-4D97-AF65-F5344CB8AC3E}">
        <p14:creationId xmlns:p14="http://schemas.microsoft.com/office/powerpoint/2010/main" val="162298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06499">
            <a:extLst>
              <a:ext uri="{FF2B5EF4-FFF2-40B4-BE49-F238E27FC236}">
                <a16:creationId xmlns:a16="http://schemas.microsoft.com/office/drawing/2014/main" id="{06868691-8624-B542-A1D2-BF46E5D0AE61}"/>
              </a:ext>
            </a:extLst>
          </p:cNvPr>
          <p:cNvSpPr txBox="1">
            <a:spLocks noChangeArrowheads="1"/>
          </p:cNvSpPr>
          <p:nvPr/>
        </p:nvSpPr>
        <p:spPr bwMode="auto">
          <a:xfrm>
            <a:off x="666433" y="1390015"/>
            <a:ext cx="78819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Font typeface="Wingdings" pitchFamily="2" charset="2"/>
              <a:buNone/>
            </a:pPr>
            <a:r>
              <a:rPr lang="zh-CN" altLang="en-US" sz="2600" b="1" dirty="0">
                <a:solidFill>
                  <a:schemeClr val="tx2"/>
                </a:solidFill>
                <a:latin typeface="黑体" panose="02010609060101010101" pitchFamily="49" charset="-122"/>
                <a:ea typeface="黑体" panose="02010609060101010101" pitchFamily="49" charset="-122"/>
              </a:rPr>
              <a:t>算法</a:t>
            </a:r>
            <a:r>
              <a:rPr lang="en-US" altLang="zh-CN" sz="2600" b="1" dirty="0">
                <a:solidFill>
                  <a:schemeClr val="tx2"/>
                </a:solidFill>
                <a:latin typeface="黑体" panose="02010609060101010101" pitchFamily="49" charset="-122"/>
                <a:ea typeface="黑体" panose="02010609060101010101" pitchFamily="49" charset="-122"/>
              </a:rPr>
              <a:t>1</a:t>
            </a:r>
            <a:r>
              <a:rPr lang="zh-CN" altLang="en-US" sz="2600" b="1" dirty="0">
                <a:solidFill>
                  <a:schemeClr val="tx2"/>
                </a:solidFill>
                <a:latin typeface="黑体" panose="02010609060101010101" pitchFamily="49" charset="-122"/>
                <a:ea typeface="黑体" panose="02010609060101010101" pitchFamily="49" charset="-122"/>
              </a:rPr>
              <a:t>分析：</a:t>
            </a:r>
          </a:p>
          <a:p>
            <a:pPr>
              <a:spcBef>
                <a:spcPct val="55000"/>
              </a:spcBef>
              <a:buClr>
                <a:schemeClr val="hlink"/>
              </a:buClr>
              <a:buFont typeface="Wingdings" pitchFamily="2" charset="2"/>
              <a:buNone/>
            </a:pPr>
            <a:r>
              <a:rPr lang="zh-CN" altLang="en-US" sz="2800" b="1" dirty="0">
                <a:solidFill>
                  <a:schemeClr val="tx2"/>
                </a:solidFill>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算法的时间复杂度？ </a:t>
            </a:r>
            <a:r>
              <a:rPr lang="zh-CN" altLang="en-US" b="1" dirty="0">
                <a:latin typeface="Arial" panose="020B0604020202020204" pitchFamily="34" charset="0"/>
              </a:rPr>
              <a:t> </a:t>
            </a:r>
            <a:endParaRPr lang="zh-CN" altLang="en-US" sz="2800" b="1" dirty="0">
              <a:latin typeface="Arial" panose="020B0604020202020204" pitchFamily="34" charset="0"/>
            </a:endParaRPr>
          </a:p>
        </p:txBody>
      </p:sp>
      <p:sp>
        <p:nvSpPr>
          <p:cNvPr id="4" name="文本框 3">
            <a:extLst>
              <a:ext uri="{FF2B5EF4-FFF2-40B4-BE49-F238E27FC236}">
                <a16:creationId xmlns:a16="http://schemas.microsoft.com/office/drawing/2014/main" id="{B7B879B6-E59A-8C46-8F25-D3F28BE1F672}"/>
              </a:ext>
            </a:extLst>
          </p:cNvPr>
          <p:cNvSpPr txBox="1">
            <a:spLocks noChangeArrowheads="1"/>
          </p:cNvSpPr>
          <p:nvPr/>
        </p:nvSpPr>
        <p:spPr bwMode="auto">
          <a:xfrm>
            <a:off x="1525995" y="2887980"/>
            <a:ext cx="8063775" cy="1082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hlink"/>
              </a:buClr>
              <a:buFont typeface="Wingdings" pitchFamily="2" charset="2"/>
              <a:buNone/>
            </a:pPr>
            <a:r>
              <a:rPr lang="zh-CN" altLang="en-US" b="1" dirty="0">
                <a:latin typeface="Arial" panose="020B0604020202020204" pitchFamily="34" charset="0"/>
              </a:rPr>
              <a:t>算法用二重循环来完成 ，算法的效率低。</a:t>
            </a:r>
          </a:p>
          <a:p>
            <a:pPr>
              <a:spcBef>
                <a:spcPct val="55000"/>
              </a:spcBef>
              <a:buClr>
                <a:schemeClr val="hlink"/>
              </a:buClr>
              <a:buFont typeface="Wingdings" pitchFamily="2" charset="2"/>
              <a:buNone/>
            </a:pPr>
            <a:r>
              <a:rPr lang="zh-CN" altLang="en-US" b="1" dirty="0">
                <a:latin typeface="Arial" panose="020B0604020202020204" pitchFamily="34" charset="0"/>
              </a:rPr>
              <a:t>原因是后一次循环没有使用前一次循环的结果</a:t>
            </a:r>
          </a:p>
          <a:p>
            <a:pPr>
              <a:spcBef>
                <a:spcPct val="55000"/>
              </a:spcBef>
              <a:buClr>
                <a:schemeClr val="hlink"/>
              </a:buClr>
              <a:buFont typeface="Wingdings" pitchFamily="2" charset="2"/>
              <a:buNone/>
            </a:pPr>
            <a:r>
              <a:rPr lang="zh-CN" altLang="en-US" sz="2800" b="1" dirty="0">
                <a:latin typeface="Arial" panose="020B0604020202020204" pitchFamily="34" charset="0"/>
              </a:rPr>
              <a:t> </a:t>
            </a:r>
          </a:p>
        </p:txBody>
      </p:sp>
      <p:sp>
        <p:nvSpPr>
          <p:cNvPr id="5" name="标题 8">
            <a:extLst>
              <a:ext uri="{FF2B5EF4-FFF2-40B4-BE49-F238E27FC236}">
                <a16:creationId xmlns:a16="http://schemas.microsoft.com/office/drawing/2014/main" id="{4FE6E4E1-25D3-A44D-A241-38C3FB52A514}"/>
              </a:ext>
            </a:extLst>
          </p:cNvPr>
          <p:cNvSpPr>
            <a:spLocks noGrp="1"/>
          </p:cNvSpPr>
          <p:nvPr>
            <p:ph type="title"/>
          </p:nvPr>
        </p:nvSpPr>
        <p:spPr>
          <a:xfrm>
            <a:off x="1205956" y="376263"/>
            <a:ext cx="6043930" cy="569668"/>
          </a:xfrm>
        </p:spPr>
        <p:txBody>
          <a:bodyPr>
            <a:noAutofit/>
          </a:bodyPr>
          <a:lstStyle/>
          <a:p>
            <a:r>
              <a:rPr lang="zh-CN" altLang="en-US" sz="4400" dirty="0">
                <a:solidFill>
                  <a:schemeClr val="tx1"/>
                </a:solidFill>
              </a:rPr>
              <a:t>循环与递归</a:t>
            </a:r>
            <a:endParaRPr lang="zh-CN" altLang="en-US" dirty="0">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0BDDA786-03F9-C049-8CF4-F970AF9FD120}"/>
              </a:ext>
            </a:extLst>
          </p:cNvPr>
          <p:cNvSpPr>
            <a:spLocks noChangeArrowheads="1"/>
          </p:cNvSpPr>
          <p:nvPr/>
        </p:nvSpPr>
        <p:spPr bwMode="auto">
          <a:xfrm>
            <a:off x="4804093" y="2058482"/>
            <a:ext cx="902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5000"/>
              </a:spcBef>
              <a:buClr>
                <a:schemeClr val="hlink"/>
              </a:buClr>
              <a:buFont typeface="Wingdings" pitchFamily="2" charset="2"/>
              <a:buNone/>
            </a:pPr>
            <a:r>
              <a:rPr lang="en-US" altLang="zh-CN" sz="2400" b="1" dirty="0">
                <a:latin typeface="Times New Roman" panose="02020603050405020304" pitchFamily="18" charset="0"/>
                <a:cs typeface="Times New Roman" panose="02020603050405020304" pitchFamily="18" charset="0"/>
              </a:rPr>
              <a:t>O(n</a:t>
            </a:r>
            <a:r>
              <a:rPr lang="en-US" altLang="zh-CN" sz="2400" b="1" baseline="30000" dirty="0">
                <a:latin typeface="Times New Roman" panose="02020603050405020304" pitchFamily="18" charset="0"/>
                <a:cs typeface="Times New Roman" panose="02020603050405020304" pitchFamily="18" charset="0"/>
              </a:rPr>
              <a:t>2</a:t>
            </a:r>
            <a:r>
              <a:rPr lang="en-US" altLang="zh-CN"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7516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8">
            <a:extLst>
              <a:ext uri="{FF2B5EF4-FFF2-40B4-BE49-F238E27FC236}">
                <a16:creationId xmlns:a16="http://schemas.microsoft.com/office/drawing/2014/main" id="{42BB9EC2-1B1A-3443-BDCA-9279C8735C50}"/>
              </a:ext>
            </a:extLst>
          </p:cNvPr>
          <p:cNvSpPr>
            <a:spLocks noGrp="1"/>
          </p:cNvSpPr>
          <p:nvPr>
            <p:ph type="title"/>
          </p:nvPr>
        </p:nvSpPr>
        <p:spPr>
          <a:xfrm>
            <a:off x="1205956" y="376263"/>
            <a:ext cx="6043930" cy="569668"/>
          </a:xfrm>
        </p:spPr>
        <p:txBody>
          <a:bodyPr>
            <a:noAutofit/>
          </a:bodyPr>
          <a:lstStyle/>
          <a:p>
            <a:r>
              <a:rPr lang="zh-CN" altLang="en-US" sz="4400" dirty="0">
                <a:solidFill>
                  <a:schemeClr val="tx1"/>
                </a:solidFill>
              </a:rPr>
              <a:t>循环与递归</a:t>
            </a:r>
            <a:endParaRPr lang="zh-CN" altLang="en-US" dirty="0">
              <a:latin typeface="微软雅黑" pitchFamily="34" charset="-122"/>
              <a:ea typeface="微软雅黑" pitchFamily="34" charset="-122"/>
            </a:endParaRPr>
          </a:p>
        </p:txBody>
      </p:sp>
      <p:sp>
        <p:nvSpPr>
          <p:cNvPr id="4" name="标题 11265">
            <a:extLst>
              <a:ext uri="{FF2B5EF4-FFF2-40B4-BE49-F238E27FC236}">
                <a16:creationId xmlns:a16="http://schemas.microsoft.com/office/drawing/2014/main" id="{B4FD8C8C-5977-D34B-905B-F29ED41E9DBE}"/>
              </a:ext>
            </a:extLst>
          </p:cNvPr>
          <p:cNvSpPr txBox="1">
            <a:spLocks noChangeArrowheads="1"/>
          </p:cNvSpPr>
          <p:nvPr/>
        </p:nvSpPr>
        <p:spPr>
          <a:xfrm>
            <a:off x="674370" y="1564335"/>
            <a:ext cx="2331720" cy="5619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spcBef>
                <a:spcPct val="20000"/>
              </a:spcBef>
              <a:buClr>
                <a:schemeClr val="hlink"/>
              </a:buClr>
            </a:pPr>
            <a:r>
              <a:rPr lang="zh-CN" altLang="en-US" sz="2600" dirty="0">
                <a:solidFill>
                  <a:schemeClr val="tx2"/>
                </a:solidFill>
                <a:latin typeface="黑体" panose="02010609060101010101" pitchFamily="49" charset="-122"/>
              </a:rPr>
              <a:t>数学模型 </a:t>
            </a:r>
            <a:r>
              <a:rPr lang="en-US" altLang="zh-CN" sz="2600" dirty="0">
                <a:solidFill>
                  <a:schemeClr val="tx2"/>
                </a:solidFill>
                <a:latin typeface="Times New Roman" panose="02020603050405020304" pitchFamily="18" charset="0"/>
                <a:cs typeface="Times New Roman" panose="02020603050405020304" pitchFamily="18" charset="0"/>
              </a:rPr>
              <a:t>2</a:t>
            </a:r>
            <a:r>
              <a:rPr lang="zh-CN" altLang="en-US" sz="2600" dirty="0">
                <a:solidFill>
                  <a:schemeClr val="tx2"/>
                </a:solidFill>
                <a:latin typeface="Times New Roman" panose="02020603050405020304" pitchFamily="18" charset="0"/>
                <a:cs typeface="Times New Roman" panose="02020603050405020304" pitchFamily="18" charset="0"/>
              </a:rPr>
              <a:t>：</a:t>
            </a:r>
          </a:p>
        </p:txBody>
      </p:sp>
      <p:graphicFrame>
        <p:nvGraphicFramePr>
          <p:cNvPr id="5" name="对象 72709">
            <a:extLst>
              <a:ext uri="{FF2B5EF4-FFF2-40B4-BE49-F238E27FC236}">
                <a16:creationId xmlns:a16="http://schemas.microsoft.com/office/drawing/2014/main" id="{97105F74-3D47-0F42-9349-B53C02055C43}"/>
              </a:ext>
            </a:extLst>
          </p:cNvPr>
          <p:cNvGraphicFramePr>
            <a:graphicFrameLocks/>
          </p:cNvGraphicFramePr>
          <p:nvPr>
            <p:extLst>
              <p:ext uri="{D42A27DB-BD31-4B8C-83A1-F6EECF244321}">
                <p14:modId xmlns:p14="http://schemas.microsoft.com/office/powerpoint/2010/main" val="1079004552"/>
              </p:ext>
            </p:extLst>
          </p:nvPr>
        </p:nvGraphicFramePr>
        <p:xfrm>
          <a:off x="3006090" y="3099952"/>
          <a:ext cx="4243796" cy="1037708"/>
        </p:xfrm>
        <a:graphic>
          <a:graphicData uri="http://schemas.openxmlformats.org/presentationml/2006/ole">
            <mc:AlternateContent xmlns:mc="http://schemas.openxmlformats.org/markup-compatibility/2006">
              <mc:Choice xmlns:v="urn:schemas-microsoft-com:vml" Requires="v">
                <p:oleObj spid="_x0000_s5304" r:id="rId3" imgW="42125900" imgH="9652000" progId="Equation.3">
                  <p:embed/>
                </p:oleObj>
              </mc:Choice>
              <mc:Fallback>
                <p:oleObj r:id="rId3" imgW="42125900" imgH="9652000" progId="Equation.3">
                  <p:embed/>
                  <p:pic>
                    <p:nvPicPr>
                      <p:cNvPr id="22532" name="对象 72709">
                        <a:extLst>
                          <a:ext uri="{FF2B5EF4-FFF2-40B4-BE49-F238E27FC236}">
                            <a16:creationId xmlns:a16="http://schemas.microsoft.com/office/drawing/2014/main" id="{E31B6139-91B9-BD43-BB0B-BB6E2A11903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6090" y="3099952"/>
                        <a:ext cx="4243796" cy="1037708"/>
                      </a:xfrm>
                      <a:prstGeom prst="rect">
                        <a:avLst/>
                      </a:prstGeom>
                      <a:noFill/>
                      <a:ln>
                        <a:noFill/>
                      </a:ln>
                    </p:spPr>
                  </p:pic>
                </p:oleObj>
              </mc:Fallback>
            </mc:AlternateContent>
          </a:graphicData>
        </a:graphic>
      </p:graphicFrame>
      <p:graphicFrame>
        <p:nvGraphicFramePr>
          <p:cNvPr id="6" name="对象 72711">
            <a:extLst>
              <a:ext uri="{FF2B5EF4-FFF2-40B4-BE49-F238E27FC236}">
                <a16:creationId xmlns:a16="http://schemas.microsoft.com/office/drawing/2014/main" id="{BC39B8A7-1B02-D94D-9DA9-600AF8ABB293}"/>
              </a:ext>
            </a:extLst>
          </p:cNvPr>
          <p:cNvGraphicFramePr>
            <a:graphicFrameLocks/>
          </p:cNvGraphicFramePr>
          <p:nvPr>
            <p:extLst>
              <p:ext uri="{D42A27DB-BD31-4B8C-83A1-F6EECF244321}">
                <p14:modId xmlns:p14="http://schemas.microsoft.com/office/powerpoint/2010/main" val="1411649167"/>
              </p:ext>
            </p:extLst>
          </p:nvPr>
        </p:nvGraphicFramePr>
        <p:xfrm>
          <a:off x="7443004" y="1507184"/>
          <a:ext cx="3803501" cy="676275"/>
        </p:xfrm>
        <a:graphic>
          <a:graphicData uri="http://schemas.openxmlformats.org/presentationml/2006/ole">
            <mc:AlternateContent xmlns:mc="http://schemas.openxmlformats.org/markup-compatibility/2006">
              <mc:Choice xmlns:v="urn:schemas-microsoft-com:vml" Requires="v">
                <p:oleObj spid="_x0000_s5305" r:id="rId5" imgW="30429200" imgH="5562600" progId="Equation.3">
                  <p:embed/>
                </p:oleObj>
              </mc:Choice>
              <mc:Fallback>
                <p:oleObj r:id="rId5" imgW="30429200" imgH="5562600" progId="Equation.3">
                  <p:embed/>
                  <p:pic>
                    <p:nvPicPr>
                      <p:cNvPr id="22533" name="对象 72711">
                        <a:extLst>
                          <a:ext uri="{FF2B5EF4-FFF2-40B4-BE49-F238E27FC236}">
                            <a16:creationId xmlns:a16="http://schemas.microsoft.com/office/drawing/2014/main" id="{C259C3E4-D115-954F-A92B-FBD24817747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43004" y="1507184"/>
                        <a:ext cx="3803501" cy="676275"/>
                      </a:xfrm>
                      <a:prstGeom prst="rect">
                        <a:avLst/>
                      </a:prstGeom>
                      <a:noFill/>
                      <a:ln>
                        <a:noFill/>
                      </a:ln>
                    </p:spPr>
                  </p:pic>
                </p:oleObj>
              </mc:Fallback>
            </mc:AlternateContent>
          </a:graphicData>
        </a:graphic>
      </p:graphicFrame>
      <p:graphicFrame>
        <p:nvGraphicFramePr>
          <p:cNvPr id="7" name="对象 69637">
            <a:extLst>
              <a:ext uri="{FF2B5EF4-FFF2-40B4-BE49-F238E27FC236}">
                <a16:creationId xmlns:a16="http://schemas.microsoft.com/office/drawing/2014/main" id="{A47C2AB2-A2F6-394D-96C1-70D411CE7C84}"/>
              </a:ext>
            </a:extLst>
          </p:cNvPr>
          <p:cNvGraphicFramePr>
            <a:graphicFrameLocks/>
          </p:cNvGraphicFramePr>
          <p:nvPr>
            <p:extLst>
              <p:ext uri="{D42A27DB-BD31-4B8C-83A1-F6EECF244321}">
                <p14:modId xmlns:p14="http://schemas.microsoft.com/office/powerpoint/2010/main" val="1067085917"/>
              </p:ext>
            </p:extLst>
          </p:nvPr>
        </p:nvGraphicFramePr>
        <p:xfrm>
          <a:off x="3038556" y="1383788"/>
          <a:ext cx="4054172" cy="863600"/>
        </p:xfrm>
        <a:graphic>
          <a:graphicData uri="http://schemas.openxmlformats.org/presentationml/2006/ole">
            <mc:AlternateContent xmlns:mc="http://schemas.openxmlformats.org/markup-compatibility/2006">
              <mc:Choice xmlns:v="urn:schemas-microsoft-com:vml" Requires="v">
                <p:oleObj spid="_x0000_s5306" r:id="rId7" imgW="43002200" imgH="10236200" progId="Equation.3">
                  <p:embed/>
                </p:oleObj>
              </mc:Choice>
              <mc:Fallback>
                <p:oleObj r:id="rId7" imgW="43002200" imgH="10236200" progId="Equation.3">
                  <p:embed/>
                  <p:pic>
                    <p:nvPicPr>
                      <p:cNvPr id="8" name="对象 69637">
                        <a:extLst>
                          <a:ext uri="{FF2B5EF4-FFF2-40B4-BE49-F238E27FC236}">
                            <a16:creationId xmlns:a16="http://schemas.microsoft.com/office/drawing/2014/main" id="{A0004622-777C-6948-9E56-DD00EAFC46B2}"/>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8556" y="1383788"/>
                        <a:ext cx="4054172" cy="863600"/>
                      </a:xfrm>
                      <a:prstGeom prst="rect">
                        <a:avLst/>
                      </a:prstGeom>
                      <a:noFill/>
                      <a:ln>
                        <a:noFill/>
                      </a:ln>
                    </p:spPr>
                  </p:pic>
                </p:oleObj>
              </mc:Fallback>
            </mc:AlternateContent>
          </a:graphicData>
        </a:graphic>
      </p:graphicFrame>
      <p:sp>
        <p:nvSpPr>
          <p:cNvPr id="8" name="左大括号 7">
            <a:extLst>
              <a:ext uri="{FF2B5EF4-FFF2-40B4-BE49-F238E27FC236}">
                <a16:creationId xmlns:a16="http://schemas.microsoft.com/office/drawing/2014/main" id="{61F031A5-6149-DB4D-8F9A-FFF114A2EAC6}"/>
              </a:ext>
            </a:extLst>
          </p:cNvPr>
          <p:cNvSpPr/>
          <p:nvPr/>
        </p:nvSpPr>
        <p:spPr>
          <a:xfrm rot="16200000">
            <a:off x="4375228" y="1298328"/>
            <a:ext cx="276280" cy="2714998"/>
          </a:xfrm>
          <a:prstGeom prst="leftBrace">
            <a:avLst/>
          </a:prstGeom>
          <a:ln w="19050"/>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cxnSp>
        <p:nvCxnSpPr>
          <p:cNvPr id="9" name="肘形连接符 8">
            <a:extLst>
              <a:ext uri="{FF2B5EF4-FFF2-40B4-BE49-F238E27FC236}">
                <a16:creationId xmlns:a16="http://schemas.microsoft.com/office/drawing/2014/main" id="{4BFF9FA2-A876-5244-B99E-1BE6E21AD865}"/>
              </a:ext>
            </a:extLst>
          </p:cNvPr>
          <p:cNvCxnSpPr>
            <a:cxnSpLocks/>
          </p:cNvCxnSpPr>
          <p:nvPr/>
        </p:nvCxnSpPr>
        <p:spPr>
          <a:xfrm flipV="1">
            <a:off x="4502977" y="2448854"/>
            <a:ext cx="3955223" cy="354233"/>
          </a:xfrm>
          <a:prstGeom prst="bentConnector3">
            <a:avLst>
              <a:gd name="adj1" fmla="val 99916"/>
            </a:avLst>
          </a:prstGeom>
          <a:ln w="19050">
            <a:tailEnd type="triangle"/>
          </a:ln>
        </p:spPr>
        <p:style>
          <a:lnRef idx="2">
            <a:schemeClr val="dk1"/>
          </a:lnRef>
          <a:fillRef idx="0">
            <a:schemeClr val="dk1"/>
          </a:fillRef>
          <a:effectRef idx="1">
            <a:schemeClr val="dk1"/>
          </a:effectRef>
          <a:fontRef idx="minor">
            <a:schemeClr val="tx1"/>
          </a:fontRef>
        </p:style>
      </p:cxnSp>
      <p:sp>
        <p:nvSpPr>
          <p:cNvPr id="10" name="左大括号 9">
            <a:extLst>
              <a:ext uri="{FF2B5EF4-FFF2-40B4-BE49-F238E27FC236}">
                <a16:creationId xmlns:a16="http://schemas.microsoft.com/office/drawing/2014/main" id="{3CF62BC2-42A5-9049-AC1D-96C9E49897E8}"/>
              </a:ext>
            </a:extLst>
          </p:cNvPr>
          <p:cNvSpPr/>
          <p:nvPr/>
        </p:nvSpPr>
        <p:spPr>
          <a:xfrm rot="16200000">
            <a:off x="6342448" y="2262301"/>
            <a:ext cx="276280" cy="554981"/>
          </a:xfrm>
          <a:prstGeom prst="leftBrace">
            <a:avLst/>
          </a:prstGeom>
          <a:ln w="19050">
            <a:solidFill>
              <a:srgbClr val="FF0000"/>
            </a:solidFill>
          </a:ln>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cxnSp>
        <p:nvCxnSpPr>
          <p:cNvPr id="11" name="肘形连接符 10">
            <a:extLst>
              <a:ext uri="{FF2B5EF4-FFF2-40B4-BE49-F238E27FC236}">
                <a16:creationId xmlns:a16="http://schemas.microsoft.com/office/drawing/2014/main" id="{F495BCA6-17F0-7E45-91B2-C59097EC1DA5}"/>
              </a:ext>
            </a:extLst>
          </p:cNvPr>
          <p:cNvCxnSpPr>
            <a:cxnSpLocks/>
          </p:cNvCxnSpPr>
          <p:nvPr/>
        </p:nvCxnSpPr>
        <p:spPr>
          <a:xfrm flipV="1">
            <a:off x="6480588" y="2261683"/>
            <a:ext cx="4512994" cy="423563"/>
          </a:xfrm>
          <a:prstGeom prst="bentConnector3">
            <a:avLst>
              <a:gd name="adj1" fmla="val 99963"/>
            </a:avLst>
          </a:prstGeom>
          <a:ln w="19050">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993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40289">
            <a:extLst>
              <a:ext uri="{FF2B5EF4-FFF2-40B4-BE49-F238E27FC236}">
                <a16:creationId xmlns:a16="http://schemas.microsoft.com/office/drawing/2014/main" id="{63B93013-3DD1-7545-8408-9DCBD9DF25F9}"/>
              </a:ext>
            </a:extLst>
          </p:cNvPr>
          <p:cNvSpPr>
            <a:spLocks noGrp="1" noChangeArrowheads="1"/>
          </p:cNvSpPr>
          <p:nvPr>
            <p:ph type="title"/>
          </p:nvPr>
        </p:nvSpPr>
        <p:spPr>
          <a:xfrm>
            <a:off x="720090" y="1475423"/>
            <a:ext cx="8229600" cy="561975"/>
          </a:xfrm>
        </p:spPr>
        <p:txBody>
          <a:bodyPr anchor="t"/>
          <a:lstStyle/>
          <a:p>
            <a:pPr marL="342900" indent="-342900" algn="l">
              <a:spcBef>
                <a:spcPct val="20000"/>
              </a:spcBef>
              <a:buClr>
                <a:schemeClr val="hlink"/>
              </a:buClr>
            </a:pPr>
            <a:r>
              <a:rPr lang="zh-CN" altLang="en-US" sz="2600" dirty="0">
                <a:solidFill>
                  <a:schemeClr val="tx1"/>
                </a:solidFill>
                <a:latin typeface="SimSun" panose="02010600030101010101" pitchFamily="2" charset="-122"/>
                <a:ea typeface="SimSun" panose="02010600030101010101" pitchFamily="2" charset="-122"/>
              </a:rPr>
              <a:t>算法设计</a:t>
            </a:r>
            <a:r>
              <a:rPr lang="en-US" altLang="zh-CN" sz="2600" dirty="0">
                <a:solidFill>
                  <a:schemeClr val="tx1"/>
                </a:solidFill>
                <a:latin typeface="SimSun" panose="02010600030101010101" pitchFamily="2" charset="-122"/>
                <a:ea typeface="SimSun" panose="02010600030101010101" pitchFamily="2" charset="-122"/>
              </a:rPr>
              <a:t>2</a:t>
            </a:r>
            <a:r>
              <a:rPr lang="zh-CN" altLang="en-US" sz="2600" dirty="0">
                <a:solidFill>
                  <a:schemeClr val="tx1"/>
                </a:solidFill>
                <a:latin typeface="SimSun" panose="02010600030101010101" pitchFamily="2" charset="-122"/>
                <a:ea typeface="SimSun" panose="02010600030101010101" pitchFamily="2" charset="-122"/>
              </a:rPr>
              <a:t>：构造如下循环不变式</a:t>
            </a:r>
          </a:p>
        </p:txBody>
      </p:sp>
      <p:sp>
        <p:nvSpPr>
          <p:cNvPr id="4" name="文本框 140294">
            <a:extLst>
              <a:ext uri="{FF2B5EF4-FFF2-40B4-BE49-F238E27FC236}">
                <a16:creationId xmlns:a16="http://schemas.microsoft.com/office/drawing/2014/main" id="{66C80893-7186-AB4C-BCAE-BDFA0B27B099}"/>
              </a:ext>
            </a:extLst>
          </p:cNvPr>
          <p:cNvSpPr txBox="1">
            <a:spLocks noChangeArrowheads="1"/>
          </p:cNvSpPr>
          <p:nvPr/>
        </p:nvSpPr>
        <p:spPr bwMode="auto">
          <a:xfrm>
            <a:off x="2549843" y="2409508"/>
            <a:ext cx="5113337"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dirty="0">
                <a:latin typeface="Arial" panose="020B0604020202020204" pitchFamily="34" charset="0"/>
              </a:rPr>
              <a:t>A=A×1/((2×n-2) ×(2×n-1))</a:t>
            </a:r>
          </a:p>
          <a:p>
            <a:pPr>
              <a:spcBef>
                <a:spcPct val="50000"/>
              </a:spcBef>
            </a:pPr>
            <a:r>
              <a:rPr lang="en-US" altLang="zh-CN" sz="2800" b="1" dirty="0">
                <a:latin typeface="Arial" panose="020B0604020202020204" pitchFamily="34" charset="0"/>
              </a:rPr>
              <a:t>S=S+(-1)</a:t>
            </a:r>
            <a:r>
              <a:rPr lang="en-US" altLang="zh-CN" sz="2800" b="1" baseline="30000" dirty="0">
                <a:latin typeface="Arial" panose="020B0604020202020204" pitchFamily="34" charset="0"/>
              </a:rPr>
              <a:t>n+1</a:t>
            </a:r>
            <a:r>
              <a:rPr lang="en-US" altLang="zh-CN" sz="2800" b="1" dirty="0">
                <a:latin typeface="Arial" panose="020B0604020202020204" pitchFamily="34" charset="0"/>
              </a:rPr>
              <a:t>×A</a:t>
            </a:r>
          </a:p>
        </p:txBody>
      </p:sp>
      <p:sp>
        <p:nvSpPr>
          <p:cNvPr id="5" name="标题 8">
            <a:extLst>
              <a:ext uri="{FF2B5EF4-FFF2-40B4-BE49-F238E27FC236}">
                <a16:creationId xmlns:a16="http://schemas.microsoft.com/office/drawing/2014/main" id="{72A18896-6D6A-BD41-974F-5D9AA3E829AD}"/>
              </a:ext>
            </a:extLst>
          </p:cNvPr>
          <p:cNvSpPr txBox="1">
            <a:spLocks/>
          </p:cNvSpPr>
          <p:nvPr/>
        </p:nvSpPr>
        <p:spPr>
          <a:xfrm>
            <a:off x="1205956" y="376263"/>
            <a:ext cx="6043930" cy="5696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循环与递归</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759803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8">
            <a:extLst>
              <a:ext uri="{FF2B5EF4-FFF2-40B4-BE49-F238E27FC236}">
                <a16:creationId xmlns:a16="http://schemas.microsoft.com/office/drawing/2014/main" id="{67AA7FA0-3FB7-1E4D-84B0-902B42723C56}"/>
              </a:ext>
            </a:extLst>
          </p:cNvPr>
          <p:cNvSpPr txBox="1">
            <a:spLocks/>
          </p:cNvSpPr>
          <p:nvPr/>
        </p:nvSpPr>
        <p:spPr>
          <a:xfrm>
            <a:off x="1205956" y="376263"/>
            <a:ext cx="2531654" cy="5696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dirty="0">
                <a:latin typeface="SimSun" panose="02010600030101010101" pitchFamily="2" charset="-122"/>
                <a:ea typeface="SimSun" panose="02010600030101010101" pitchFamily="2" charset="-122"/>
              </a:rPr>
              <a:t>算法</a:t>
            </a:r>
            <a:r>
              <a:rPr lang="en-US" altLang="zh-CN" sz="4000" dirty="0">
                <a:latin typeface="SimSun" panose="02010600030101010101" pitchFamily="2" charset="-122"/>
                <a:ea typeface="SimSun" panose="02010600030101010101" pitchFamily="2" charset="-122"/>
              </a:rPr>
              <a:t>2</a:t>
            </a:r>
            <a:r>
              <a:rPr lang="zh-CN" altLang="en-US" sz="4000" dirty="0">
                <a:latin typeface="SimSun" panose="02010600030101010101" pitchFamily="2" charset="-122"/>
                <a:ea typeface="SimSun" panose="02010600030101010101" pitchFamily="2" charset="-122"/>
              </a:rPr>
              <a:t>实现</a:t>
            </a:r>
          </a:p>
        </p:txBody>
      </p:sp>
      <p:sp>
        <p:nvSpPr>
          <p:cNvPr id="4" name="文本框 134146">
            <a:extLst>
              <a:ext uri="{FF2B5EF4-FFF2-40B4-BE49-F238E27FC236}">
                <a16:creationId xmlns:a16="http://schemas.microsoft.com/office/drawing/2014/main" id="{6D62107D-1574-004D-9B5C-1D4BBFD39735}"/>
              </a:ext>
            </a:extLst>
          </p:cNvPr>
          <p:cNvSpPr txBox="1">
            <a:spLocks noChangeArrowheads="1"/>
          </p:cNvSpPr>
          <p:nvPr/>
        </p:nvSpPr>
        <p:spPr bwMode="auto">
          <a:xfrm>
            <a:off x="2883218" y="1258570"/>
            <a:ext cx="47513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Main( )</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int </a:t>
            </a:r>
            <a:r>
              <a:rPr lang="en-US" altLang="zh-CN" b="1" dirty="0" err="1">
                <a:ea typeface="楷体_GB2312" pitchFamily="49" charset="-122"/>
                <a:cs typeface="Times New Roman" panose="02020603050405020304" pitchFamily="18" charset="0"/>
              </a:rPr>
              <a:t>i</a:t>
            </a:r>
            <a:r>
              <a:rPr lang="en-US" altLang="zh-CN" b="1" dirty="0">
                <a:ea typeface="楷体_GB2312" pitchFamily="49" charset="-122"/>
                <a:cs typeface="Times New Roman" panose="02020603050405020304" pitchFamily="18" charset="0"/>
              </a:rPr>
              <a:t>,</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n, sign;</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float s,</a:t>
            </a: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t=1;</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input(n);</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s=1</a:t>
            </a:r>
            <a:r>
              <a:rPr lang="zh-CN" altLang="en-US" b="1" dirty="0">
                <a:ea typeface="楷体_GB2312" pitchFamily="49" charset="-122"/>
                <a:cs typeface="Times New Roman" panose="02020603050405020304" pitchFamily="18" charset="0"/>
              </a:rPr>
              <a:t>；</a:t>
            </a:r>
          </a:p>
          <a:p>
            <a:pPr>
              <a:lnSpc>
                <a:spcPct val="110000"/>
              </a:lnSpc>
              <a:buClr>
                <a:schemeClr val="hlink"/>
              </a:buClr>
              <a:buFont typeface="Wingdings" pitchFamily="2" charset="2"/>
              <a:buNone/>
            </a:pP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sign=1; </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for (</a:t>
            </a:r>
            <a:r>
              <a:rPr lang="en-US" altLang="zh-CN" b="1" dirty="0" err="1">
                <a:ea typeface="楷体_GB2312" pitchFamily="49" charset="-122"/>
                <a:cs typeface="Times New Roman" panose="02020603050405020304" pitchFamily="18" charset="0"/>
              </a:rPr>
              <a:t>i</a:t>
            </a:r>
            <a:r>
              <a:rPr lang="en-US" altLang="zh-CN" b="1" dirty="0">
                <a:ea typeface="楷体_GB2312" pitchFamily="49" charset="-122"/>
                <a:cs typeface="Times New Roman" panose="02020603050405020304" pitchFamily="18" charset="0"/>
              </a:rPr>
              <a:t>=2;i&lt;=</a:t>
            </a:r>
            <a:r>
              <a:rPr lang="en-US" altLang="zh-CN" b="1" dirty="0" err="1">
                <a:ea typeface="楷体_GB2312" pitchFamily="49" charset="-122"/>
                <a:cs typeface="Times New Roman" panose="02020603050405020304" pitchFamily="18" charset="0"/>
              </a:rPr>
              <a:t>n;i</a:t>
            </a:r>
            <a:r>
              <a:rPr lang="en-US" altLang="zh-CN" b="1" dirty="0">
                <a:ea typeface="楷体_GB2312" pitchFamily="49" charset="-122"/>
                <a:cs typeface="Times New Roman" panose="02020603050405020304" pitchFamily="18" charset="0"/>
              </a:rPr>
              <a:t>=i+1)      </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en-US" altLang="zh-CN" b="1" dirty="0">
                <a:solidFill>
                  <a:schemeClr val="tx2"/>
                </a:solidFill>
                <a:ea typeface="楷体_GB2312" pitchFamily="49" charset="-122"/>
                <a:cs typeface="Times New Roman" panose="02020603050405020304" pitchFamily="18" charset="0"/>
              </a:rPr>
              <a:t>  </a:t>
            </a:r>
            <a:r>
              <a:rPr lang="en-US" altLang="zh-CN" b="1" dirty="0">
                <a:solidFill>
                  <a:srgbClr val="FF0000"/>
                </a:solidFill>
                <a:ea typeface="楷体_GB2312" pitchFamily="49" charset="-122"/>
                <a:cs typeface="Times New Roman" panose="02020603050405020304" pitchFamily="18" charset="0"/>
              </a:rPr>
              <a:t>{</a:t>
            </a:r>
            <a:r>
              <a:rPr lang="en-US" altLang="zh-CN" b="1" dirty="0">
                <a:ea typeface="楷体_GB2312" pitchFamily="49" charset="-122"/>
                <a:cs typeface="Times New Roman" panose="02020603050405020304" pitchFamily="18" charset="0"/>
              </a:rPr>
              <a:t>  </a:t>
            </a:r>
          </a:p>
          <a:p>
            <a:pPr>
              <a:lnSpc>
                <a:spcPct val="110000"/>
              </a:lnSpc>
              <a:buClr>
                <a:schemeClr val="hlink"/>
              </a:buClr>
              <a:buFont typeface="Wingdings" pitchFamily="2" charset="2"/>
              <a:buNone/>
            </a:pPr>
            <a:r>
              <a:rPr lang="zh-CN" altLang="en-US" b="1" dirty="0">
                <a:ea typeface="楷体_GB2312" pitchFamily="49" charset="-122"/>
                <a:cs typeface="Times New Roman" panose="02020603050405020304" pitchFamily="18" charset="0"/>
              </a:rPr>
              <a:t>              </a:t>
            </a:r>
            <a:r>
              <a:rPr lang="en-US" altLang="zh-CN" b="1" dirty="0">
                <a:ea typeface="楷体_GB2312" pitchFamily="49" charset="-122"/>
                <a:cs typeface="Times New Roman" panose="02020603050405020304" pitchFamily="18" charset="0"/>
              </a:rPr>
              <a:t>sign=-sign;                        </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t= t*(2*i-2)*(2*i-1) ;               </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s=s+ sign/t;    </a:t>
            </a:r>
          </a:p>
          <a:p>
            <a:pPr>
              <a:lnSpc>
                <a:spcPct val="110000"/>
              </a:lnSpc>
              <a:buClr>
                <a:schemeClr val="hlink"/>
              </a:buClr>
              <a:buFont typeface="Wingdings" pitchFamily="2" charset="2"/>
              <a:buNone/>
            </a:pPr>
            <a:r>
              <a:rPr lang="en-US" altLang="zh-CN" b="1" dirty="0">
                <a:ea typeface="楷体_GB2312" pitchFamily="49" charset="-122"/>
                <a:cs typeface="Times New Roman" panose="02020603050405020304" pitchFamily="18" charset="0"/>
              </a:rPr>
              <a:t>          </a:t>
            </a:r>
            <a:r>
              <a:rPr lang="en-US" altLang="zh-CN" b="1" dirty="0">
                <a:solidFill>
                  <a:srgbClr val="FF0000"/>
                </a:solidFill>
                <a:ea typeface="楷体_GB2312" pitchFamily="49" charset="-122"/>
                <a:cs typeface="Times New Roman" panose="02020603050405020304" pitchFamily="18" charset="0"/>
              </a:rPr>
              <a:t>}</a:t>
            </a:r>
            <a:r>
              <a:rPr lang="en-US" altLang="zh-CN" b="1" dirty="0">
                <a:ea typeface="楷体_GB2312" pitchFamily="49" charset="-122"/>
                <a:cs typeface="Times New Roman" panose="02020603050405020304" pitchFamily="18" charset="0"/>
              </a:rPr>
              <a:t>                       </a:t>
            </a:r>
          </a:p>
          <a:p>
            <a:pPr>
              <a:buClr>
                <a:schemeClr val="hlink"/>
              </a:buClr>
              <a:buFont typeface="Wingdings" pitchFamily="2" charset="2"/>
              <a:buNone/>
            </a:pPr>
            <a:r>
              <a:rPr lang="en-US" altLang="zh-CN" b="1" dirty="0">
                <a:ea typeface="楷体_GB2312" pitchFamily="49" charset="-122"/>
                <a:cs typeface="Times New Roman" panose="02020603050405020304" pitchFamily="18" charset="0"/>
              </a:rPr>
              <a:t> } </a:t>
            </a:r>
          </a:p>
        </p:txBody>
      </p:sp>
    </p:spTree>
    <p:extLst>
      <p:ext uri="{BB962C8B-B14F-4D97-AF65-F5344CB8AC3E}">
        <p14:creationId xmlns:p14="http://schemas.microsoft.com/office/powerpoint/2010/main" val="753289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8">
            <a:extLst>
              <a:ext uri="{FF2B5EF4-FFF2-40B4-BE49-F238E27FC236}">
                <a16:creationId xmlns:a16="http://schemas.microsoft.com/office/drawing/2014/main" id="{083C01C7-C264-0046-9C2F-A9262D690C88}"/>
              </a:ext>
            </a:extLst>
          </p:cNvPr>
          <p:cNvSpPr txBox="1">
            <a:spLocks/>
          </p:cNvSpPr>
          <p:nvPr/>
        </p:nvSpPr>
        <p:spPr>
          <a:xfrm>
            <a:off x="1205956" y="376263"/>
            <a:ext cx="6043930" cy="5696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循环与递归</a:t>
            </a:r>
            <a:endParaRPr lang="zh-CN" altLang="en-US" dirty="0">
              <a:latin typeface="微软雅黑" pitchFamily="34" charset="-122"/>
              <a:ea typeface="微软雅黑" pitchFamily="34" charset="-122"/>
            </a:endParaRPr>
          </a:p>
        </p:txBody>
      </p:sp>
      <p:sp>
        <p:nvSpPr>
          <p:cNvPr id="4" name="标题 12289">
            <a:extLst>
              <a:ext uri="{FF2B5EF4-FFF2-40B4-BE49-F238E27FC236}">
                <a16:creationId xmlns:a16="http://schemas.microsoft.com/office/drawing/2014/main" id="{9B08884A-04F4-A548-8EC4-F9DF4D4DE7E9}"/>
              </a:ext>
            </a:extLst>
          </p:cNvPr>
          <p:cNvSpPr>
            <a:spLocks noGrp="1" noChangeArrowheads="1"/>
          </p:cNvSpPr>
          <p:nvPr>
            <p:ph type="title"/>
          </p:nvPr>
        </p:nvSpPr>
        <p:spPr>
          <a:xfrm>
            <a:off x="662940" y="1365250"/>
            <a:ext cx="8229600" cy="3103880"/>
          </a:xfrm>
        </p:spPr>
        <p:txBody>
          <a:bodyPr anchor="t">
            <a:noAutofit/>
          </a:bodyPr>
          <a:lstStyle/>
          <a:p>
            <a:pPr algn="l">
              <a:lnSpc>
                <a:spcPct val="250000"/>
              </a:lnSpc>
              <a:spcBef>
                <a:spcPct val="55000"/>
              </a:spcBef>
              <a:spcAft>
                <a:spcPct val="45000"/>
              </a:spcAft>
              <a:buClr>
                <a:schemeClr val="hlink"/>
              </a:buClr>
            </a:pPr>
            <a:r>
              <a:rPr lang="zh-CN" altLang="en-US" sz="2400" b="1" dirty="0">
                <a:solidFill>
                  <a:schemeClr val="tx2"/>
                </a:solidFill>
                <a:latin typeface="SimSun" panose="02010600030101010101" pitchFamily="2" charset="-122"/>
                <a:ea typeface="SimSun" panose="02010600030101010101" pitchFamily="2" charset="-122"/>
              </a:rPr>
              <a:t>算法</a:t>
            </a:r>
            <a:r>
              <a:rPr lang="en-US" altLang="zh-CN" sz="2400" b="1" dirty="0">
                <a:solidFill>
                  <a:schemeClr val="tx2"/>
                </a:solidFill>
                <a:latin typeface="SimSun" panose="02010600030101010101" pitchFamily="2" charset="-122"/>
                <a:ea typeface="SimSun" panose="02010600030101010101" pitchFamily="2" charset="-122"/>
              </a:rPr>
              <a:t>2</a:t>
            </a:r>
            <a:r>
              <a:rPr lang="zh-CN" altLang="en-US" sz="2400" b="1" dirty="0">
                <a:solidFill>
                  <a:schemeClr val="tx2"/>
                </a:solidFill>
                <a:latin typeface="SimSun" panose="02010600030101010101" pitchFamily="2" charset="-122"/>
                <a:ea typeface="SimSun" panose="02010600030101010101" pitchFamily="2" charset="-122"/>
              </a:rPr>
              <a:t>分析</a:t>
            </a:r>
            <a:br>
              <a:rPr lang="zh-CN" altLang="en-US" sz="2400" dirty="0">
                <a:solidFill>
                  <a:schemeClr val="tx2"/>
                </a:solidFill>
                <a:latin typeface="SimSun" panose="02010600030101010101" pitchFamily="2" charset="-122"/>
                <a:ea typeface="SimSun" panose="02010600030101010101" pitchFamily="2" charset="-122"/>
              </a:rPr>
            </a:br>
            <a:r>
              <a:rPr lang="zh-CN" altLang="en-US" sz="2400" dirty="0">
                <a:solidFill>
                  <a:schemeClr val="tx1"/>
                </a:solidFill>
                <a:latin typeface="SimSun" panose="02010600030101010101" pitchFamily="2" charset="-122"/>
                <a:ea typeface="SimSun" panose="02010600030101010101" pitchFamily="2" charset="-122"/>
              </a:rPr>
              <a:t>  按照数学模型</a:t>
            </a:r>
            <a:r>
              <a:rPr lang="en-US" altLang="zh-CN" sz="2400" dirty="0">
                <a:solidFill>
                  <a:schemeClr val="tx1"/>
                </a:solidFill>
                <a:latin typeface="SimSun" panose="02010600030101010101" pitchFamily="2" charset="-122"/>
                <a:ea typeface="SimSun" panose="02010600030101010101" pitchFamily="2" charset="-122"/>
              </a:rPr>
              <a:t>2</a:t>
            </a:r>
            <a:r>
              <a:rPr lang="zh-CN" altLang="en-US" sz="2400" dirty="0">
                <a:solidFill>
                  <a:schemeClr val="tx1"/>
                </a:solidFill>
                <a:latin typeface="SimSun" panose="02010600030101010101" pitchFamily="2" charset="-122"/>
                <a:ea typeface="SimSun" panose="02010600030101010101" pitchFamily="2" charset="-122"/>
              </a:rPr>
              <a:t>，只需</a:t>
            </a:r>
            <a:r>
              <a:rPr lang="zh-CN" altLang="en-US" sz="2400" dirty="0">
                <a:solidFill>
                  <a:schemeClr val="accent1"/>
                </a:solidFill>
                <a:latin typeface="SimSun" panose="02010600030101010101" pitchFamily="2" charset="-122"/>
                <a:ea typeface="SimSun" panose="02010600030101010101" pitchFamily="2" charset="-122"/>
              </a:rPr>
              <a:t>一重循环</a:t>
            </a:r>
            <a:r>
              <a:rPr lang="zh-CN" altLang="en-US" sz="2400" dirty="0">
                <a:solidFill>
                  <a:schemeClr val="tx1"/>
                </a:solidFill>
                <a:latin typeface="SimSun" panose="02010600030101010101" pitchFamily="2" charset="-122"/>
                <a:ea typeface="SimSun" panose="02010600030101010101" pitchFamily="2" charset="-122"/>
              </a:rPr>
              <a:t>就能解决问题</a:t>
            </a:r>
            <a:br>
              <a:rPr lang="zh-CN" altLang="en-US" sz="2400" dirty="0">
                <a:solidFill>
                  <a:schemeClr val="tx1"/>
                </a:solidFill>
                <a:latin typeface="SimSun" panose="02010600030101010101" pitchFamily="2" charset="-122"/>
                <a:ea typeface="SimSun" panose="02010600030101010101" pitchFamily="2" charset="-122"/>
              </a:rPr>
            </a:br>
            <a:r>
              <a:rPr lang="zh-CN" altLang="en-US" sz="2400" dirty="0">
                <a:solidFill>
                  <a:schemeClr val="tx1"/>
                </a:solidFill>
                <a:latin typeface="SimSun" panose="02010600030101010101" pitchFamily="2" charset="-122"/>
                <a:ea typeface="SimSun" panose="02010600030101010101" pitchFamily="2" charset="-122"/>
              </a:rPr>
              <a:t>  算法的时间复杂度为</a:t>
            </a:r>
            <a:r>
              <a:rPr lang="en-US" altLang="zh-CN" sz="2400" dirty="0">
                <a:solidFill>
                  <a:schemeClr val="tx1"/>
                </a:solidFill>
                <a:latin typeface="SimSun" panose="02010600030101010101" pitchFamily="2" charset="-122"/>
                <a:ea typeface="SimSun" panose="02010600030101010101" pitchFamily="2" charset="-122"/>
              </a:rPr>
              <a:t>:  O(n) </a:t>
            </a:r>
            <a:br>
              <a:rPr lang="en-US" altLang="zh-CN" sz="2400" dirty="0">
                <a:solidFill>
                  <a:schemeClr val="tx1"/>
                </a:solidFill>
                <a:latin typeface="SimSun" panose="02010600030101010101" pitchFamily="2" charset="-122"/>
                <a:ea typeface="SimSun" panose="02010600030101010101" pitchFamily="2" charset="-122"/>
              </a:rPr>
            </a:br>
            <a:r>
              <a:rPr lang="en-US" altLang="zh-CN" sz="2400" dirty="0">
                <a:solidFill>
                  <a:schemeClr val="tx1"/>
                </a:solidFill>
                <a:latin typeface="SimSun" panose="02010600030101010101" pitchFamily="2" charset="-122"/>
                <a:ea typeface="SimSun" panose="02010600030101010101" pitchFamily="2" charset="-122"/>
              </a:rPr>
              <a:t>  </a:t>
            </a:r>
            <a:r>
              <a:rPr lang="zh-CN" altLang="en-US" sz="2400" dirty="0">
                <a:solidFill>
                  <a:schemeClr val="tx1"/>
                </a:solidFill>
                <a:latin typeface="SimSun" panose="02010600030101010101" pitchFamily="2" charset="-122"/>
                <a:ea typeface="SimSun" panose="02010600030101010101" pitchFamily="2" charset="-122"/>
              </a:rPr>
              <a:t>由此例，构造循环不变式时，</a:t>
            </a:r>
            <a:r>
              <a:rPr lang="zh-CN" altLang="en-US" sz="2400" dirty="0">
                <a:solidFill>
                  <a:srgbClr val="FF0000"/>
                </a:solidFill>
                <a:latin typeface="SimSun" panose="02010600030101010101" pitchFamily="2" charset="-122"/>
                <a:ea typeface="SimSun" panose="02010600030101010101" pitchFamily="2" charset="-122"/>
              </a:rPr>
              <a:t>一定应考虑算法的效率</a:t>
            </a:r>
            <a:r>
              <a:rPr lang="zh-CN" altLang="en-US" sz="2400" dirty="0">
                <a:solidFill>
                  <a:schemeClr val="tx1"/>
                </a:solidFill>
                <a:latin typeface="SimSun" panose="02010600030101010101" pitchFamily="2" charset="-122"/>
                <a:ea typeface="SimSun" panose="02010600030101010101" pitchFamily="2" charset="-122"/>
              </a:rPr>
              <a:t>。</a:t>
            </a:r>
          </a:p>
        </p:txBody>
      </p:sp>
    </p:spTree>
    <p:extLst>
      <p:ext uri="{BB962C8B-B14F-4D97-AF65-F5344CB8AC3E}">
        <p14:creationId xmlns:p14="http://schemas.microsoft.com/office/powerpoint/2010/main" val="2818371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ABE831-62DD-2741-89DF-31EC9B0651AA}"/>
              </a:ext>
            </a:extLst>
          </p:cNvPr>
          <p:cNvSpPr txBox="1"/>
          <p:nvPr/>
        </p:nvSpPr>
        <p:spPr>
          <a:xfrm>
            <a:off x="1293606" y="245639"/>
            <a:ext cx="4612342" cy="769441"/>
          </a:xfrm>
          <a:prstGeom prst="rect">
            <a:avLst/>
          </a:prstGeom>
          <a:noFill/>
        </p:spPr>
        <p:txBody>
          <a:bodyPr wrap="square">
            <a:spAutoFit/>
          </a:bodyPr>
          <a:lstStyle/>
          <a:p>
            <a:r>
              <a:rPr lang="zh-CN" altLang="en-US" sz="4400" dirty="0">
                <a:latin typeface="+mj-lt"/>
                <a:ea typeface="+mj-ea"/>
                <a:cs typeface="+mj-cs"/>
              </a:rPr>
              <a:t>递归算法设计 </a:t>
            </a:r>
          </a:p>
        </p:txBody>
      </p:sp>
      <p:sp>
        <p:nvSpPr>
          <p:cNvPr id="5" name="Text Box 3">
            <a:extLst>
              <a:ext uri="{FF2B5EF4-FFF2-40B4-BE49-F238E27FC236}">
                <a16:creationId xmlns:a16="http://schemas.microsoft.com/office/drawing/2014/main" id="{BBB2AF10-CF7D-734F-A11A-099CEAB3024D}"/>
              </a:ext>
            </a:extLst>
          </p:cNvPr>
          <p:cNvSpPr txBox="1">
            <a:spLocks noChangeArrowheads="1"/>
          </p:cNvSpPr>
          <p:nvPr/>
        </p:nvSpPr>
        <p:spPr bwMode="auto">
          <a:xfrm>
            <a:off x="681037" y="1415844"/>
            <a:ext cx="10636007" cy="132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2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什么是递归？</a:t>
            </a:r>
          </a:p>
          <a:p>
            <a:pPr algn="just">
              <a:lnSpc>
                <a:spcPct val="150000"/>
              </a:lnSpc>
              <a:spcBef>
                <a:spcPct val="3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在程序设计中，一个过程或函数又直接或间接地调用自身的一种方法。</a:t>
            </a:r>
          </a:p>
        </p:txBody>
      </p:sp>
      <p:sp>
        <p:nvSpPr>
          <p:cNvPr id="6" name="Text Box 9">
            <a:extLst>
              <a:ext uri="{FF2B5EF4-FFF2-40B4-BE49-F238E27FC236}">
                <a16:creationId xmlns:a16="http://schemas.microsoft.com/office/drawing/2014/main" id="{6DC4082B-7BFF-4A4F-B214-9F1F1E229E39}"/>
              </a:ext>
            </a:extLst>
          </p:cNvPr>
          <p:cNvSpPr txBox="1">
            <a:spLocks noChangeArrowheads="1"/>
          </p:cNvSpPr>
          <p:nvPr/>
        </p:nvSpPr>
        <p:spPr bwMode="auto">
          <a:xfrm>
            <a:off x="681036" y="3143964"/>
            <a:ext cx="11023284" cy="199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2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递归算法设计：</a:t>
            </a:r>
          </a:p>
          <a:p>
            <a:pPr algn="just">
              <a:lnSpc>
                <a:spcPct val="150000"/>
              </a:lnSpc>
              <a:spcBef>
                <a:spcPct val="3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就是把一个大规模的复杂问题转化为一个与原问题相似的小规模问题，在逐步求</a:t>
            </a:r>
            <a:endParaRPr lang="en-US" altLang="zh-CN" b="1" dirty="0">
              <a:latin typeface="SimSun" panose="02010600030101010101" pitchFamily="2" charset="-122"/>
              <a:ea typeface="SimSun" panose="02010600030101010101" pitchFamily="2" charset="-122"/>
            </a:endParaRPr>
          </a:p>
          <a:p>
            <a:pPr algn="just">
              <a:lnSpc>
                <a:spcPct val="150000"/>
              </a:lnSpc>
              <a:spcBef>
                <a:spcPct val="3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解小问题后，再返回（</a:t>
            </a:r>
            <a:r>
              <a:rPr lang="zh-CN" altLang="en-US" b="1" dirty="0">
                <a:solidFill>
                  <a:srgbClr val="800000"/>
                </a:solidFill>
                <a:latin typeface="SimSun" panose="02010600030101010101" pitchFamily="2" charset="-122"/>
                <a:ea typeface="SimSun" panose="02010600030101010101" pitchFamily="2" charset="-122"/>
              </a:rPr>
              <a:t>回溯</a:t>
            </a:r>
            <a:r>
              <a:rPr lang="zh-CN" altLang="en-US" b="1" dirty="0">
                <a:latin typeface="SimSun" panose="02010600030101010101" pitchFamily="2" charset="-122"/>
                <a:ea typeface="SimSun" panose="02010600030101010101" pitchFamily="2" charset="-122"/>
              </a:rPr>
              <a:t>）得到大问题的解。</a:t>
            </a:r>
          </a:p>
          <a:p>
            <a:pPr algn="just">
              <a:lnSpc>
                <a:spcPct val="120000"/>
              </a:lnSpc>
              <a:spcBef>
                <a:spcPct val="30000"/>
              </a:spcBef>
              <a:buClr>
                <a:srgbClr val="02BE64"/>
              </a:buClr>
              <a:buFont typeface="Wingdings" pitchFamily="2" charset="2"/>
              <a:buNone/>
            </a:pPr>
            <a:endParaRPr lang="en-US" altLang="zh-CN" b="1"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1850348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ABE831-62DD-2741-89DF-31EC9B0651AA}"/>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递归算法设计要点 </a:t>
            </a:r>
          </a:p>
        </p:txBody>
      </p:sp>
      <p:sp>
        <p:nvSpPr>
          <p:cNvPr id="6" name="Text Box 9">
            <a:extLst>
              <a:ext uri="{FF2B5EF4-FFF2-40B4-BE49-F238E27FC236}">
                <a16:creationId xmlns:a16="http://schemas.microsoft.com/office/drawing/2014/main" id="{6DC4082B-7BFF-4A4F-B214-9F1F1E229E39}"/>
              </a:ext>
            </a:extLst>
          </p:cNvPr>
          <p:cNvSpPr txBox="1">
            <a:spLocks noChangeArrowheads="1"/>
          </p:cNvSpPr>
          <p:nvPr/>
        </p:nvSpPr>
        <p:spPr bwMode="auto">
          <a:xfrm>
            <a:off x="670278" y="1516869"/>
            <a:ext cx="11023284" cy="4087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2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递归算法设计的关键：</a:t>
            </a:r>
          </a:p>
          <a:p>
            <a:pPr algn="just">
              <a:lnSpc>
                <a:spcPct val="150000"/>
              </a:lnSpc>
              <a:spcBef>
                <a:spcPct val="2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针对问题找出递归关系（</a:t>
            </a:r>
            <a:r>
              <a:rPr lang="zh-CN" altLang="en-US" b="1" dirty="0">
                <a:solidFill>
                  <a:srgbClr val="FF0000"/>
                </a:solidFill>
                <a:latin typeface="SimSun" panose="02010600030101010101" pitchFamily="2" charset="-122"/>
                <a:ea typeface="SimSun" panose="02010600030101010101" pitchFamily="2" charset="-122"/>
              </a:rPr>
              <a:t>方程</a:t>
            </a:r>
            <a:r>
              <a:rPr lang="zh-CN" altLang="en-US" b="1" dirty="0">
                <a:latin typeface="SimSun" panose="02010600030101010101" pitchFamily="2" charset="-122"/>
                <a:ea typeface="SimSun" panose="02010600030101010101" pitchFamily="2" charset="-122"/>
              </a:rPr>
              <a:t>）和递归终止（</a:t>
            </a:r>
            <a:r>
              <a:rPr lang="zh-CN" altLang="en-US" b="1" dirty="0">
                <a:solidFill>
                  <a:srgbClr val="FF0000"/>
                </a:solidFill>
                <a:latin typeface="SimSun" panose="02010600030101010101" pitchFamily="2" charset="-122"/>
                <a:ea typeface="SimSun" panose="02010600030101010101" pitchFamily="2" charset="-122"/>
              </a:rPr>
              <a:t>边界</a:t>
            </a:r>
            <a:r>
              <a:rPr lang="zh-CN" altLang="en-US" b="1" dirty="0">
                <a:latin typeface="SimSun" panose="02010600030101010101" pitchFamily="2" charset="-122"/>
                <a:ea typeface="SimSun" panose="02010600030101010101" pitchFamily="2" charset="-122"/>
              </a:rPr>
              <a:t>）条件。</a:t>
            </a:r>
          </a:p>
          <a:p>
            <a:pPr algn="just">
              <a:lnSpc>
                <a:spcPct val="150000"/>
              </a:lnSpc>
              <a:spcBef>
                <a:spcPts val="1776"/>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递归算法的实现特点：</a:t>
            </a:r>
          </a:p>
          <a:p>
            <a:pPr algn="just">
              <a:lnSpc>
                <a:spcPct val="150000"/>
              </a:lnSpc>
              <a:spcBef>
                <a:spcPct val="2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递归算法只需少量的步骤就可描述出解题过程所需要的多次重复计算，大大地减</a:t>
            </a:r>
            <a:endParaRPr lang="en-US" altLang="zh-CN" b="1" dirty="0">
              <a:latin typeface="SimSun" panose="02010600030101010101" pitchFamily="2" charset="-122"/>
              <a:ea typeface="SimSun" panose="02010600030101010101" pitchFamily="2" charset="-122"/>
            </a:endParaRPr>
          </a:p>
          <a:p>
            <a:pPr algn="just">
              <a:lnSpc>
                <a:spcPct val="150000"/>
              </a:lnSpc>
              <a:spcBef>
                <a:spcPct val="20000"/>
              </a:spcBef>
              <a:buClr>
                <a:srgbClr val="02BE64"/>
              </a:buClr>
              <a:buFont typeface="Wingdings" pitchFamily="2" charset="2"/>
              <a:buNone/>
            </a:pPr>
            <a:r>
              <a:rPr lang="zh-CN" altLang="en-US" b="1" dirty="0">
                <a:latin typeface="SimSun" panose="02010600030101010101" pitchFamily="2" charset="-122"/>
                <a:ea typeface="SimSun" panose="02010600030101010101" pitchFamily="2" charset="-122"/>
              </a:rPr>
              <a:t>少了算法的代码量。</a:t>
            </a:r>
          </a:p>
        </p:txBody>
      </p:sp>
    </p:spTree>
    <p:extLst>
      <p:ext uri="{BB962C8B-B14F-4D97-AF65-F5344CB8AC3E}">
        <p14:creationId xmlns:p14="http://schemas.microsoft.com/office/powerpoint/2010/main" val="1544292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ABE831-62DD-2741-89DF-31EC9B0651AA}"/>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递归算法设计要点 </a:t>
            </a:r>
          </a:p>
        </p:txBody>
      </p:sp>
      <p:sp>
        <p:nvSpPr>
          <p:cNvPr id="6" name="Text Box 9">
            <a:extLst>
              <a:ext uri="{FF2B5EF4-FFF2-40B4-BE49-F238E27FC236}">
                <a16:creationId xmlns:a16="http://schemas.microsoft.com/office/drawing/2014/main" id="{6DC4082B-7BFF-4A4F-B214-9F1F1E229E39}"/>
              </a:ext>
            </a:extLst>
          </p:cNvPr>
          <p:cNvSpPr txBox="1">
            <a:spLocks noChangeArrowheads="1"/>
          </p:cNvSpPr>
          <p:nvPr/>
        </p:nvSpPr>
        <p:spPr bwMode="auto">
          <a:xfrm>
            <a:off x="670278" y="1516869"/>
            <a:ext cx="11141618" cy="4087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spcBef>
                <a:spcPct val="20000"/>
              </a:spcBef>
              <a:spcAft>
                <a:spcPct val="55000"/>
              </a:spcAft>
              <a:buClr>
                <a:schemeClr val="hlink"/>
              </a:buClr>
              <a:buFont typeface="Wingdings" pitchFamily="2" charset="2"/>
              <a:buNone/>
            </a:pPr>
            <a:r>
              <a:rPr lang="zh-CN" altLang="en-US" b="1" dirty="0">
                <a:latin typeface="黑体" panose="02010609060101010101" pitchFamily="49" charset="-122"/>
                <a:ea typeface="黑体" panose="02010609060101010101" pitchFamily="49" charset="-122"/>
              </a:rPr>
              <a:t>递归算法设计的关键步骤：</a:t>
            </a:r>
          </a:p>
          <a:p>
            <a:pPr algn="just">
              <a:lnSpc>
                <a:spcPct val="150000"/>
              </a:lnSpc>
              <a:spcBef>
                <a:spcPct val="30000"/>
              </a:spcBef>
              <a:buClr>
                <a:schemeClr val="hlink"/>
              </a:buClr>
              <a:buFont typeface="Wingdings" pitchFamily="2" charset="2"/>
              <a:buNone/>
            </a:pPr>
            <a:r>
              <a:rPr lang="en-US" altLang="zh-CN" b="1" dirty="0">
                <a:latin typeface="Arial" panose="020B0604020202020204" pitchFamily="34" charset="0"/>
              </a:rPr>
              <a:t>1</a:t>
            </a:r>
            <a:r>
              <a:rPr lang="zh-CN" altLang="en-US" b="1" dirty="0">
                <a:latin typeface="Arial" panose="020B0604020202020204" pitchFamily="34" charset="0"/>
              </a:rPr>
              <a:t>）</a:t>
            </a:r>
            <a:r>
              <a:rPr lang="zh-CN" altLang="en-US" b="1" dirty="0">
                <a:latin typeface="Arial" panose="020B0604020202020204" pitchFamily="34" charset="0"/>
                <a:ea typeface="黑体" panose="02010609060101010101" pitchFamily="49" charset="-122"/>
              </a:rPr>
              <a:t>分析问题、寻找递归：</a:t>
            </a:r>
            <a:r>
              <a:rPr lang="zh-CN" altLang="en-US" b="1" dirty="0">
                <a:latin typeface="Arial" panose="020B0604020202020204" pitchFamily="34" charset="0"/>
              </a:rPr>
              <a:t>找出大规模问题与小规模问题的关系，这样通过递归</a:t>
            </a:r>
            <a:endParaRPr lang="en-US" altLang="zh-CN" b="1" dirty="0">
              <a:latin typeface="Arial" panose="020B0604020202020204" pitchFamily="34" charset="0"/>
            </a:endParaRPr>
          </a:p>
          <a:p>
            <a:pPr algn="just">
              <a:lnSpc>
                <a:spcPct val="150000"/>
              </a:lnSpc>
              <a:spcBef>
                <a:spcPct val="30000"/>
              </a:spcBef>
              <a:buClr>
                <a:schemeClr val="hlink"/>
              </a:buClr>
              <a:buFont typeface="Wingdings" pitchFamily="2" charset="2"/>
              <a:buNone/>
            </a:pPr>
            <a:r>
              <a:rPr lang="zh-CN" altLang="en-US" b="1" dirty="0">
                <a:latin typeface="Arial" panose="020B0604020202020204" pitchFamily="34" charset="0"/>
              </a:rPr>
              <a:t>使问题的规模逐渐变小；</a:t>
            </a:r>
          </a:p>
          <a:p>
            <a:pPr algn="just">
              <a:lnSpc>
                <a:spcPct val="150000"/>
              </a:lnSpc>
              <a:spcBef>
                <a:spcPct val="50000"/>
              </a:spcBef>
              <a:buClr>
                <a:schemeClr val="hlink"/>
              </a:buClr>
              <a:buFont typeface="Wingdings" pitchFamily="2" charset="2"/>
              <a:buNone/>
            </a:pPr>
            <a:r>
              <a:rPr lang="en-US" altLang="zh-CN" b="1" dirty="0">
                <a:latin typeface="Arial" panose="020B0604020202020204" pitchFamily="34" charset="0"/>
              </a:rPr>
              <a:t>2</a:t>
            </a:r>
            <a:r>
              <a:rPr lang="zh-CN" altLang="en-US" b="1" dirty="0">
                <a:latin typeface="Arial" panose="020B0604020202020204" pitchFamily="34" charset="0"/>
              </a:rPr>
              <a:t>）</a:t>
            </a:r>
            <a:r>
              <a:rPr lang="zh-CN" altLang="en-US" b="1" dirty="0">
                <a:latin typeface="Arial" panose="020B0604020202020204" pitchFamily="34" charset="0"/>
                <a:ea typeface="黑体" panose="02010609060101010101" pitchFamily="49" charset="-122"/>
              </a:rPr>
              <a:t>设置边界、控制递归：</a:t>
            </a:r>
            <a:r>
              <a:rPr lang="zh-CN" altLang="en-US" b="1" dirty="0">
                <a:latin typeface="Arial" panose="020B0604020202020204" pitchFamily="34" charset="0"/>
              </a:rPr>
              <a:t>找出停止条件，即算法可解的最小规模问题；</a:t>
            </a:r>
          </a:p>
          <a:p>
            <a:pPr algn="just">
              <a:lnSpc>
                <a:spcPct val="150000"/>
              </a:lnSpc>
              <a:spcBef>
                <a:spcPct val="50000"/>
              </a:spcBef>
              <a:buClr>
                <a:schemeClr val="hlink"/>
              </a:buClr>
              <a:buFont typeface="Wingdings" pitchFamily="2" charset="2"/>
              <a:buNone/>
            </a:pPr>
            <a:r>
              <a:rPr lang="en-US" altLang="zh-CN" b="1" dirty="0">
                <a:latin typeface="Arial" panose="020B0604020202020204" pitchFamily="34" charset="0"/>
              </a:rPr>
              <a:t>3</a:t>
            </a:r>
            <a:r>
              <a:rPr lang="zh-CN" altLang="en-US" b="1" dirty="0">
                <a:latin typeface="Arial" panose="020B0604020202020204" pitchFamily="34" charset="0"/>
              </a:rPr>
              <a:t>）</a:t>
            </a:r>
            <a:r>
              <a:rPr lang="zh-CN" altLang="en-US" b="1" dirty="0">
                <a:latin typeface="Arial" panose="020B0604020202020204" pitchFamily="34" charset="0"/>
                <a:ea typeface="黑体" panose="02010609060101010101" pitchFamily="49" charset="-122"/>
              </a:rPr>
              <a:t>设计函数、确定参数：</a:t>
            </a:r>
            <a:r>
              <a:rPr lang="zh-CN" altLang="en-US" b="1" dirty="0">
                <a:latin typeface="Arial" panose="020B0604020202020204" pitchFamily="34" charset="0"/>
              </a:rPr>
              <a:t>和其它算法模块一样设计函数体中的操作及相关参数。 </a:t>
            </a:r>
          </a:p>
        </p:txBody>
      </p:sp>
    </p:spTree>
    <p:extLst>
      <p:ext uri="{BB962C8B-B14F-4D97-AF65-F5344CB8AC3E}">
        <p14:creationId xmlns:p14="http://schemas.microsoft.com/office/powerpoint/2010/main" val="4207557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77255-C36B-1D4F-8294-E6FC7022794D}"/>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2">
            <a:extLst>
              <a:ext uri="{FF2B5EF4-FFF2-40B4-BE49-F238E27FC236}">
                <a16:creationId xmlns:a16="http://schemas.microsoft.com/office/drawing/2014/main" id="{CDDC5B22-240B-764F-BFB3-C2E5D3353978}"/>
              </a:ext>
            </a:extLst>
          </p:cNvPr>
          <p:cNvSpPr txBox="1">
            <a:spLocks noChangeArrowheads="1"/>
          </p:cNvSpPr>
          <p:nvPr/>
        </p:nvSpPr>
        <p:spPr bwMode="auto">
          <a:xfrm>
            <a:off x="676304" y="1451113"/>
            <a:ext cx="7858180" cy="461665"/>
          </a:xfrm>
          <a:prstGeom prst="rect">
            <a:avLst/>
          </a:prstGeom>
          <a:noFill/>
          <a:ln w="9525">
            <a:noFill/>
            <a:miter lim="800000"/>
            <a:headEnd/>
            <a:tailEnd/>
          </a:ln>
        </p:spPr>
        <p:txBody>
          <a:bodyPr wrap="square">
            <a:spAutoFit/>
          </a:bodyPr>
          <a:lstStyle/>
          <a:p>
            <a:r>
              <a:rPr lang="zh-CN" altLang="en-US" sz="2400" dirty="0">
                <a:latin typeface="SimSun" panose="02010600030101010101" pitchFamily="2" charset="-122"/>
                <a:ea typeface="SimSun" panose="02010600030101010101" pitchFamily="2" charset="-122"/>
                <a:cs typeface="Consolas" pitchFamily="49" charset="0"/>
              </a:rPr>
              <a:t>一般来说，能够用递归解决的问题应该满足以下三个条件：</a:t>
            </a:r>
          </a:p>
        </p:txBody>
      </p:sp>
      <p:sp>
        <p:nvSpPr>
          <p:cNvPr id="5" name="TextBox 2">
            <a:extLst>
              <a:ext uri="{FF2B5EF4-FFF2-40B4-BE49-F238E27FC236}">
                <a16:creationId xmlns:a16="http://schemas.microsoft.com/office/drawing/2014/main" id="{9FB3F534-F721-7A49-8F38-B79AA7B536B7}"/>
              </a:ext>
            </a:extLst>
          </p:cNvPr>
          <p:cNvSpPr txBox="1"/>
          <p:nvPr/>
        </p:nvSpPr>
        <p:spPr>
          <a:xfrm>
            <a:off x="786473" y="2306434"/>
            <a:ext cx="10131243" cy="2492945"/>
          </a:xfrm>
          <a:prstGeom prst="rect">
            <a:avLst/>
          </a:prstGeom>
          <a:noFill/>
        </p:spPr>
        <p:style>
          <a:lnRef idx="2">
            <a:schemeClr val="accent2"/>
          </a:lnRef>
          <a:fillRef idx="1">
            <a:schemeClr val="lt1"/>
          </a:fillRef>
          <a:effectRef idx="0">
            <a:schemeClr val="accent2"/>
          </a:effectRef>
          <a:fontRef idx="minor">
            <a:schemeClr val="dk1"/>
          </a:fontRef>
        </p:style>
        <p:txBody>
          <a:bodyPr wrap="square" lIns="180000" tIns="180000" rIns="180000" bIns="180000" rtlCol="0">
            <a:spAutoFit/>
          </a:bodyPr>
          <a:lstStyle/>
          <a:p>
            <a:pPr marL="457200" indent="-457200">
              <a:lnSpc>
                <a:spcPct val="150000"/>
              </a:lnSpc>
              <a:buBlip>
                <a:blip r:embed="rId2"/>
              </a:buBlip>
            </a:pPr>
            <a:r>
              <a:rPr lang="zh-CN" altLang="en-US" sz="2400" dirty="0">
                <a:solidFill>
                  <a:schemeClr val="tx1"/>
                </a:solidFill>
                <a:latin typeface="SimSun" panose="02010600030101010101" pitchFamily="2" charset="-122"/>
                <a:ea typeface="SimSun" panose="02010600030101010101" pitchFamily="2" charset="-122"/>
                <a:cs typeface="Consolas" pitchFamily="49" charset="0"/>
              </a:rPr>
              <a:t>需要解决的问题可以转化为一个或多个子问题来求解，而这些子问题的求解方法与原问题完全相同，只是在数量规模上不同。</a:t>
            </a:r>
          </a:p>
          <a:p>
            <a:pPr marL="457200" indent="-457200">
              <a:lnSpc>
                <a:spcPct val="150000"/>
              </a:lnSpc>
              <a:buBlip>
                <a:blip r:embed="rId2"/>
              </a:buBlip>
            </a:pPr>
            <a:r>
              <a:rPr lang="zh-CN" altLang="en-US" sz="2400" dirty="0">
                <a:solidFill>
                  <a:schemeClr val="tx1"/>
                </a:solidFill>
                <a:latin typeface="SimSun" panose="02010600030101010101" pitchFamily="2" charset="-122"/>
                <a:ea typeface="SimSun" panose="02010600030101010101" pitchFamily="2" charset="-122"/>
                <a:cs typeface="Consolas" pitchFamily="49" charset="0"/>
              </a:rPr>
              <a:t>递归调用的次数必须是有限的。</a:t>
            </a:r>
          </a:p>
          <a:p>
            <a:pPr marL="457200" indent="-457200">
              <a:lnSpc>
                <a:spcPct val="150000"/>
              </a:lnSpc>
              <a:buBlip>
                <a:blip r:embed="rId2"/>
              </a:buBlip>
            </a:pPr>
            <a:r>
              <a:rPr lang="zh-CN" altLang="en-US" sz="2400" dirty="0">
                <a:solidFill>
                  <a:schemeClr val="tx1"/>
                </a:solidFill>
                <a:latin typeface="SimSun" panose="02010600030101010101" pitchFamily="2" charset="-122"/>
                <a:ea typeface="SimSun" panose="02010600030101010101" pitchFamily="2" charset="-122"/>
                <a:cs typeface="Consolas" pitchFamily="49" charset="0"/>
              </a:rPr>
              <a:t>必须有结束递归的条件来终止递归。</a:t>
            </a:r>
          </a:p>
        </p:txBody>
      </p:sp>
    </p:spTree>
    <p:extLst>
      <p:ext uri="{BB962C8B-B14F-4D97-AF65-F5344CB8AC3E}">
        <p14:creationId xmlns:p14="http://schemas.microsoft.com/office/powerpoint/2010/main" val="3192016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98034EB-55B5-0F4C-B19A-B2CAE07AC76D}"/>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4">
            <a:extLst>
              <a:ext uri="{FF2B5EF4-FFF2-40B4-BE49-F238E27FC236}">
                <a16:creationId xmlns:a16="http://schemas.microsoft.com/office/drawing/2014/main" id="{1113D5A0-A72B-5747-8D80-AB8D62FE4F4F}"/>
              </a:ext>
            </a:extLst>
          </p:cNvPr>
          <p:cNvSpPr txBox="1">
            <a:spLocks noChangeArrowheads="1"/>
          </p:cNvSpPr>
          <p:nvPr/>
        </p:nvSpPr>
        <p:spPr bwMode="auto">
          <a:xfrm>
            <a:off x="577238" y="1319213"/>
            <a:ext cx="8280400" cy="430887"/>
          </a:xfrm>
          <a:prstGeom prst="rect">
            <a:avLst/>
          </a:prstGeom>
          <a:noFill/>
          <a:ln w="9525">
            <a:noFill/>
            <a:miter lim="800000"/>
            <a:headEnd/>
            <a:tailEnd/>
          </a:ln>
        </p:spPr>
        <p:txBody>
          <a:bodyPr>
            <a:spAutoFit/>
          </a:bodyPr>
          <a:lstStyle/>
          <a:p>
            <a:pPr>
              <a:spcBef>
                <a:spcPct val="50000"/>
              </a:spcBef>
            </a:pPr>
            <a:r>
              <a:rPr lang="en-US" altLang="zh-CN" sz="2200" dirty="0">
                <a:solidFill>
                  <a:srgbClr val="FF0000"/>
                </a:solidFill>
                <a:latin typeface="SimSun" panose="02010600030101010101" pitchFamily="2" charset="-122"/>
                <a:ea typeface="SimSun" panose="02010600030101010101" pitchFamily="2" charset="-122"/>
                <a:cs typeface="Consolas" pitchFamily="49" charset="0"/>
              </a:rPr>
              <a:t>【</a:t>
            </a:r>
            <a:r>
              <a:rPr lang="zh-CN" altLang="en-US" sz="2200" dirty="0">
                <a:solidFill>
                  <a:srgbClr val="FF0000"/>
                </a:solidFill>
                <a:latin typeface="SimSun" panose="02010600030101010101" pitchFamily="2" charset="-122"/>
                <a:ea typeface="SimSun" panose="02010600030101010101" pitchFamily="2" charset="-122"/>
                <a:cs typeface="Consolas" pitchFamily="49" charset="0"/>
              </a:rPr>
              <a:t>例</a:t>
            </a:r>
            <a:r>
              <a:rPr lang="en-US" altLang="zh-CN" sz="2200" dirty="0">
                <a:solidFill>
                  <a:srgbClr val="FF0000"/>
                </a:solidFill>
                <a:latin typeface="SimSun" panose="02010600030101010101" pitchFamily="2" charset="-122"/>
                <a:ea typeface="SimSun" panose="02010600030101010101" pitchFamily="2" charset="-122"/>
                <a:cs typeface="Consolas" pitchFamily="49" charset="0"/>
              </a:rPr>
              <a:t>1】</a:t>
            </a: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设计求</a:t>
            </a:r>
            <a:r>
              <a:rPr lang="en-US" altLang="zh-CN" sz="2200" i="1" dirty="0">
                <a:solidFill>
                  <a:srgbClr val="0000FF"/>
                </a:solidFill>
                <a:latin typeface="SimSun" panose="02010600030101010101" pitchFamily="2" charset="-122"/>
                <a:ea typeface="SimSun" panose="02010600030101010101" pitchFamily="2" charset="-122"/>
                <a:cs typeface="Consolas" pitchFamily="49" charset="0"/>
              </a:rPr>
              <a:t>n</a:t>
            </a:r>
            <a:r>
              <a:rPr lang="en-US" altLang="zh-CN" sz="2200" dirty="0">
                <a:solidFill>
                  <a:srgbClr val="0000FF"/>
                </a:solidFill>
                <a:latin typeface="SimSun" panose="02010600030101010101" pitchFamily="2" charset="-122"/>
                <a:ea typeface="SimSun" panose="02010600030101010101" pitchFamily="2" charset="-122"/>
                <a:cs typeface="Consolas" pitchFamily="49" charset="0"/>
              </a:rPr>
              <a:t>!</a:t>
            </a: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a:t>
            </a:r>
            <a:r>
              <a:rPr lang="en-US" altLang="zh-CN" sz="2200" i="1" dirty="0">
                <a:solidFill>
                  <a:srgbClr val="0000FF"/>
                </a:solidFill>
                <a:latin typeface="SimSun" panose="02010600030101010101" pitchFamily="2" charset="-122"/>
                <a:ea typeface="SimSun" panose="02010600030101010101" pitchFamily="2" charset="-122"/>
                <a:cs typeface="Consolas" pitchFamily="49" charset="0"/>
              </a:rPr>
              <a:t>n</a:t>
            </a: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为正整数）的递归算法。</a:t>
            </a:r>
          </a:p>
        </p:txBody>
      </p:sp>
      <p:sp>
        <p:nvSpPr>
          <p:cNvPr id="5" name="Text Box 5">
            <a:extLst>
              <a:ext uri="{FF2B5EF4-FFF2-40B4-BE49-F238E27FC236}">
                <a16:creationId xmlns:a16="http://schemas.microsoft.com/office/drawing/2014/main" id="{9BB7416C-F99C-1041-9D96-1214F9DA2418}"/>
              </a:ext>
            </a:extLst>
          </p:cNvPr>
          <p:cNvSpPr txBox="1">
            <a:spLocks noChangeArrowheads="1"/>
          </p:cNvSpPr>
          <p:nvPr/>
        </p:nvSpPr>
        <p:spPr bwMode="auto">
          <a:xfrm>
            <a:off x="688649" y="1955896"/>
            <a:ext cx="3299457" cy="430887"/>
          </a:xfrm>
          <a:prstGeom prst="rect">
            <a:avLst/>
          </a:prstGeom>
          <a:noFill/>
          <a:ln w="9525">
            <a:noFill/>
            <a:miter lim="800000"/>
            <a:headEnd/>
            <a:tailEnd/>
          </a:ln>
        </p:spPr>
        <p:txBody>
          <a:bodyPr wrap="square">
            <a:spAutoFit/>
          </a:bodyPr>
          <a:lstStyle/>
          <a:p>
            <a:pPr>
              <a:spcBef>
                <a:spcPct val="50000"/>
              </a:spcBef>
            </a:pPr>
            <a:r>
              <a:rPr lang="zh-CN" altLang="en-US" sz="2200" dirty="0">
                <a:solidFill>
                  <a:srgbClr val="FF0000"/>
                </a:solidFill>
                <a:latin typeface="SimSun" panose="02010600030101010101" pitchFamily="2" charset="-122"/>
                <a:ea typeface="SimSun" panose="02010600030101010101" pitchFamily="2" charset="-122"/>
                <a:cs typeface="Times New Roman" pitchFamily="18" charset="0"/>
              </a:rPr>
              <a:t>解：</a:t>
            </a:r>
            <a:r>
              <a:rPr lang="zh-CN" altLang="en-US" sz="2000" dirty="0">
                <a:solidFill>
                  <a:srgbClr val="0000FF"/>
                </a:solidFill>
                <a:latin typeface="SimSun" panose="02010600030101010101" pitchFamily="2" charset="-122"/>
                <a:ea typeface="SimSun" panose="02010600030101010101" pitchFamily="2" charset="-122"/>
                <a:cs typeface="Times New Roman" pitchFamily="18" charset="0"/>
              </a:rPr>
              <a:t>对应的递归函数如下：</a:t>
            </a:r>
          </a:p>
        </p:txBody>
      </p:sp>
      <p:sp>
        <p:nvSpPr>
          <p:cNvPr id="6" name="Text Box 6">
            <a:extLst>
              <a:ext uri="{FF2B5EF4-FFF2-40B4-BE49-F238E27FC236}">
                <a16:creationId xmlns:a16="http://schemas.microsoft.com/office/drawing/2014/main" id="{C56B94DB-C389-8645-9831-B3A04F8C2985}"/>
              </a:ext>
            </a:extLst>
          </p:cNvPr>
          <p:cNvSpPr txBox="1">
            <a:spLocks noChangeArrowheads="1"/>
          </p:cNvSpPr>
          <p:nvPr/>
        </p:nvSpPr>
        <p:spPr bwMode="auto">
          <a:xfrm>
            <a:off x="1293606" y="2632580"/>
            <a:ext cx="5389572" cy="2025509"/>
          </a:xfrm>
          <a:prstGeom prst="rect">
            <a:avLst/>
          </a:prstGeom>
          <a:solidFill>
            <a:schemeClr val="accent1">
              <a:lumMod val="40000"/>
              <a:lumOff val="6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80000" tIns="180000" bIns="180000">
            <a:spAutoFit/>
          </a:bodyPr>
          <a:lstStyle/>
          <a:p>
            <a:pPr>
              <a:defRPr/>
            </a:pP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a:solidFill>
                  <a:srgbClr val="FF0000"/>
                </a:solidFill>
                <a:latin typeface="Consolas" pitchFamily="49" charset="0"/>
                <a:ea typeface="楷体" pitchFamily="49" charset="-122"/>
                <a:cs typeface="Consolas" pitchFamily="49" charset="0"/>
              </a:rPr>
              <a:t>fun</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n)</a:t>
            </a:r>
          </a:p>
          <a:p>
            <a:pPr>
              <a:defRPr/>
            </a:pP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if (n==1)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1</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return(1);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2</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else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3</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a:t>
            </a:r>
            <a:r>
              <a:rPr lang="en-US" altLang="zh-CN" sz="1800" dirty="0">
                <a:solidFill>
                  <a:srgbClr val="FF0000"/>
                </a:solidFill>
                <a:latin typeface="Consolas" pitchFamily="49" charset="0"/>
                <a:ea typeface="楷体" pitchFamily="49" charset="-122"/>
                <a:cs typeface="Consolas" pitchFamily="49" charset="0"/>
              </a:rPr>
              <a:t>fun</a:t>
            </a:r>
            <a:r>
              <a:rPr lang="en-US" altLang="zh-CN" sz="1800" dirty="0">
                <a:solidFill>
                  <a:srgbClr val="0000FF"/>
                </a:solidFill>
                <a:latin typeface="Consolas" pitchFamily="49" charset="0"/>
                <a:ea typeface="楷体" pitchFamily="49" charset="-122"/>
                <a:cs typeface="Consolas" pitchFamily="49" charset="0"/>
              </a:rPr>
              <a:t>(n-1)*n);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4</a:t>
            </a:r>
          </a:p>
          <a:p>
            <a:pPr>
              <a:defRPr/>
            </a:pPr>
            <a:r>
              <a:rPr lang="en-US" altLang="zh-CN" sz="1800" dirty="0">
                <a:solidFill>
                  <a:srgbClr val="0000FF"/>
                </a:solidFill>
                <a:latin typeface="Consolas" pitchFamily="49" charset="0"/>
                <a:ea typeface="楷体" pitchFamily="49" charset="-122"/>
                <a:cs typeface="Consolas" pitchFamily="49" charset="0"/>
              </a:rPr>
              <a:t>}</a:t>
            </a:r>
          </a:p>
        </p:txBody>
      </p:sp>
      <p:sp>
        <p:nvSpPr>
          <p:cNvPr id="7" name="Text Box 7">
            <a:extLst>
              <a:ext uri="{FF2B5EF4-FFF2-40B4-BE49-F238E27FC236}">
                <a16:creationId xmlns:a16="http://schemas.microsoft.com/office/drawing/2014/main" id="{6B198A77-D928-E149-A29F-4B2231BD2642}"/>
              </a:ext>
            </a:extLst>
          </p:cNvPr>
          <p:cNvSpPr txBox="1">
            <a:spLocks noChangeArrowheads="1"/>
          </p:cNvSpPr>
          <p:nvPr/>
        </p:nvSpPr>
        <p:spPr bwMode="auto">
          <a:xfrm>
            <a:off x="1161843" y="4954862"/>
            <a:ext cx="7360329" cy="481863"/>
          </a:xfrm>
          <a:prstGeom prst="rect">
            <a:avLst/>
          </a:prstGeom>
          <a:noFill/>
          <a:ln w="9525">
            <a:noFill/>
            <a:miter lim="800000"/>
            <a:headEnd/>
            <a:tailEnd/>
          </a:ln>
        </p:spPr>
        <p:txBody>
          <a:bodyPr wrap="square">
            <a:spAutoFit/>
          </a:bodyPr>
          <a:lstStyle/>
          <a:p>
            <a:pPr>
              <a:lnSpc>
                <a:spcPct val="150000"/>
              </a:lnSpc>
              <a:spcBef>
                <a:spcPts val="0"/>
              </a:spcBef>
            </a:pPr>
            <a:r>
              <a:rPr lang="zh-CN" altLang="en-US" sz="2000" dirty="0">
                <a:solidFill>
                  <a:srgbClr val="0000FF"/>
                </a:solidFill>
                <a:latin typeface="SimSun" panose="02010600030101010101" pitchFamily="2" charset="-122"/>
                <a:ea typeface="SimSun" panose="02010600030101010101" pitchFamily="2" charset="-122"/>
                <a:cs typeface="Consolas" pitchFamily="49" charset="0"/>
              </a:rPr>
              <a:t>在该函数</a:t>
            </a:r>
            <a:r>
              <a:rPr lang="en-US" altLang="zh-CN" sz="2000" dirty="0">
                <a:solidFill>
                  <a:srgbClr val="0000FF"/>
                </a:solidFill>
                <a:latin typeface="SimSun" panose="02010600030101010101" pitchFamily="2" charset="-122"/>
                <a:ea typeface="SimSun" panose="02010600030101010101" pitchFamily="2" charset="-122"/>
                <a:cs typeface="Consolas" pitchFamily="49" charset="0"/>
              </a:rPr>
              <a:t>fun(</a:t>
            </a:r>
            <a:r>
              <a:rPr lang="en-US" altLang="zh-CN" sz="2000" i="1" dirty="0">
                <a:solidFill>
                  <a:srgbClr val="0000FF"/>
                </a:solidFill>
                <a:latin typeface="SimSun" panose="02010600030101010101" pitchFamily="2" charset="-122"/>
                <a:ea typeface="SimSun" panose="02010600030101010101" pitchFamily="2" charset="-122"/>
                <a:cs typeface="Consolas" pitchFamily="49" charset="0"/>
              </a:rPr>
              <a:t>n</a:t>
            </a:r>
            <a:r>
              <a:rPr lang="en-US" altLang="zh-CN" sz="2000" dirty="0">
                <a:solidFill>
                  <a:srgbClr val="0000FF"/>
                </a:solidFill>
                <a:latin typeface="SimSun" panose="02010600030101010101" pitchFamily="2" charset="-122"/>
                <a:ea typeface="SimSun" panose="02010600030101010101" pitchFamily="2" charset="-122"/>
                <a:cs typeface="Consolas" pitchFamily="49" charset="0"/>
              </a:rPr>
              <a:t>)</a:t>
            </a:r>
            <a:r>
              <a:rPr lang="zh-CN" altLang="en-US" sz="2000" dirty="0">
                <a:solidFill>
                  <a:srgbClr val="0000FF"/>
                </a:solidFill>
                <a:latin typeface="SimSun" panose="02010600030101010101" pitchFamily="2" charset="-122"/>
                <a:ea typeface="SimSun" panose="02010600030101010101" pitchFamily="2" charset="-122"/>
                <a:cs typeface="Consolas" pitchFamily="49" charset="0"/>
              </a:rPr>
              <a:t>求解过程中，直接调用</a:t>
            </a:r>
            <a:r>
              <a:rPr lang="en-US" altLang="zh-CN" sz="2000" dirty="0">
                <a:solidFill>
                  <a:srgbClr val="0000FF"/>
                </a:solidFill>
                <a:latin typeface="SimSun" panose="02010600030101010101" pitchFamily="2" charset="-122"/>
                <a:ea typeface="SimSun" panose="02010600030101010101" pitchFamily="2" charset="-122"/>
                <a:cs typeface="Consolas" pitchFamily="49" charset="0"/>
              </a:rPr>
              <a:t>fun(</a:t>
            </a:r>
            <a:r>
              <a:rPr lang="en-US" altLang="zh-CN" sz="2000" i="1" dirty="0">
                <a:solidFill>
                  <a:srgbClr val="0000FF"/>
                </a:solidFill>
                <a:latin typeface="SimSun" panose="02010600030101010101" pitchFamily="2" charset="-122"/>
                <a:ea typeface="SimSun" panose="02010600030101010101" pitchFamily="2" charset="-122"/>
                <a:cs typeface="Consolas" pitchFamily="49" charset="0"/>
              </a:rPr>
              <a:t>n</a:t>
            </a:r>
            <a:r>
              <a:rPr lang="en-US" altLang="zh-CN" sz="2000" dirty="0">
                <a:solidFill>
                  <a:srgbClr val="0000FF"/>
                </a:solidFill>
                <a:latin typeface="SimSun" panose="02010600030101010101" pitchFamily="2" charset="-122"/>
                <a:ea typeface="SimSun" panose="02010600030101010101" pitchFamily="2" charset="-122"/>
                <a:cs typeface="Consolas" pitchFamily="49" charset="0"/>
              </a:rPr>
              <a:t>-1)</a:t>
            </a:r>
            <a:r>
              <a:rPr lang="zh-CN" altLang="en-US" sz="2000" dirty="0">
                <a:solidFill>
                  <a:srgbClr val="0000FF"/>
                </a:solidFill>
                <a:latin typeface="SimSun" panose="02010600030101010101" pitchFamily="2" charset="-122"/>
                <a:ea typeface="SimSun" panose="02010600030101010101" pitchFamily="2" charset="-122"/>
                <a:cs typeface="Consolas" pitchFamily="49" charset="0"/>
              </a:rPr>
              <a:t>（语句</a:t>
            </a:r>
            <a:r>
              <a:rPr lang="en-US" altLang="zh-CN" sz="2000" dirty="0">
                <a:solidFill>
                  <a:srgbClr val="0000FF"/>
                </a:solidFill>
                <a:latin typeface="SimSun" panose="02010600030101010101" pitchFamily="2" charset="-122"/>
                <a:ea typeface="SimSun" panose="02010600030101010101" pitchFamily="2" charset="-122"/>
                <a:cs typeface="Consolas" pitchFamily="49" charset="0"/>
              </a:rPr>
              <a:t>4</a:t>
            </a:r>
            <a:r>
              <a:rPr lang="zh-CN" altLang="en-US" sz="2000" dirty="0">
                <a:solidFill>
                  <a:srgbClr val="0000FF"/>
                </a:solidFill>
                <a:latin typeface="SimSun" panose="02010600030101010101" pitchFamily="2" charset="-122"/>
                <a:ea typeface="SimSun" panose="02010600030101010101" pitchFamily="2" charset="-122"/>
                <a:cs typeface="Consolas" pitchFamily="49" charset="0"/>
              </a:rPr>
              <a:t>）自身。</a:t>
            </a:r>
          </a:p>
        </p:txBody>
      </p:sp>
      <p:sp>
        <p:nvSpPr>
          <p:cNvPr id="8" name="圆角矩形 7">
            <a:extLst>
              <a:ext uri="{FF2B5EF4-FFF2-40B4-BE49-F238E27FC236}">
                <a16:creationId xmlns:a16="http://schemas.microsoft.com/office/drawing/2014/main" id="{87E71537-4C1D-444E-AB0F-D29EA478A9DD}"/>
              </a:ext>
            </a:extLst>
          </p:cNvPr>
          <p:cNvSpPr/>
          <p:nvPr/>
        </p:nvSpPr>
        <p:spPr>
          <a:xfrm>
            <a:off x="7601639" y="1319213"/>
            <a:ext cx="4021156" cy="33388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kumimoji="1" lang="en-US" altLang="zh-CN" sz="2000" dirty="0">
                <a:solidFill>
                  <a:schemeClr val="bg1"/>
                </a:solidFill>
                <a:latin typeface="SimSun" panose="02010600030101010101" pitchFamily="2" charset="-122"/>
                <a:ea typeface="SimSun" panose="02010600030101010101" pitchFamily="2" charset="-122"/>
                <a:cs typeface="Consolas" pitchFamily="49" charset="0"/>
              </a:rPr>
              <a:t>1</a:t>
            </a:r>
            <a:r>
              <a:rPr kumimoji="1" lang="zh-CN" altLang="en-US" sz="2000" dirty="0">
                <a:solidFill>
                  <a:schemeClr val="bg1"/>
                </a:solidFill>
                <a:latin typeface="SimSun" panose="02010600030101010101" pitchFamily="2" charset="-122"/>
                <a:ea typeface="SimSun" panose="02010600030101010101" pitchFamily="2" charset="-122"/>
                <a:cs typeface="Consolas" pitchFamily="49" charset="0"/>
              </a:rPr>
              <a:t>、定义是递归的</a:t>
            </a:r>
            <a:endParaRPr kumimoji="1" lang="en-US" altLang="zh-CN" sz="2000" dirty="0">
              <a:solidFill>
                <a:schemeClr val="bg1"/>
              </a:solidFill>
              <a:latin typeface="SimSun" panose="02010600030101010101" pitchFamily="2" charset="-122"/>
              <a:ea typeface="SimSun" panose="02010600030101010101" pitchFamily="2" charset="-122"/>
              <a:cs typeface="Consolas" pitchFamily="49" charset="0"/>
            </a:endParaRPr>
          </a:p>
          <a:p>
            <a:pPr algn="just">
              <a:lnSpc>
                <a:spcPct val="150000"/>
              </a:lnSpc>
            </a:pPr>
            <a:r>
              <a:rPr kumimoji="1" lang="zh-CN" altLang="en-US" sz="2000" dirty="0">
                <a:solidFill>
                  <a:schemeClr val="bg1"/>
                </a:solidFill>
                <a:latin typeface="SimSun" panose="02010600030101010101" pitchFamily="2" charset="-122"/>
                <a:ea typeface="SimSun" panose="02010600030101010101" pitchFamily="2" charset="-122"/>
                <a:cs typeface="Consolas" pitchFamily="49" charset="0"/>
              </a:rPr>
              <a:t>有许多数学公式、数列等的定义是递归的。例如，求</a:t>
            </a:r>
            <a:r>
              <a:rPr kumimoji="1" lang="en" altLang="zh-CN" sz="2000" dirty="0">
                <a:solidFill>
                  <a:schemeClr val="bg1"/>
                </a:solidFill>
                <a:latin typeface="SimSun" panose="02010600030101010101" pitchFamily="2" charset="-122"/>
                <a:ea typeface="SimSun" panose="02010600030101010101" pitchFamily="2" charset="-122"/>
                <a:cs typeface="Consolas" pitchFamily="49" charset="0"/>
              </a:rPr>
              <a:t>n!</a:t>
            </a:r>
            <a:r>
              <a:rPr kumimoji="1" lang="zh-CN" altLang="en-US" sz="2000" dirty="0">
                <a:solidFill>
                  <a:schemeClr val="bg1"/>
                </a:solidFill>
                <a:latin typeface="SimSun" panose="02010600030101010101" pitchFamily="2" charset="-122"/>
                <a:ea typeface="SimSun" panose="02010600030101010101" pitchFamily="2" charset="-122"/>
                <a:cs typeface="Consolas" pitchFamily="49" charset="0"/>
              </a:rPr>
              <a:t>和</a:t>
            </a:r>
            <a:r>
              <a:rPr kumimoji="1" lang="en" altLang="zh-CN" sz="2000" dirty="0">
                <a:solidFill>
                  <a:schemeClr val="bg1"/>
                </a:solidFill>
                <a:latin typeface="SimSun" panose="02010600030101010101" pitchFamily="2" charset="-122"/>
                <a:ea typeface="SimSun" panose="02010600030101010101" pitchFamily="2" charset="-122"/>
                <a:cs typeface="Consolas" pitchFamily="49" charset="0"/>
              </a:rPr>
              <a:t>Fibonacci</a:t>
            </a:r>
            <a:r>
              <a:rPr kumimoji="1" lang="zh-CN" altLang="en-US" sz="2000" dirty="0">
                <a:solidFill>
                  <a:schemeClr val="bg1"/>
                </a:solidFill>
                <a:latin typeface="SimSun" panose="02010600030101010101" pitchFamily="2" charset="-122"/>
                <a:ea typeface="SimSun" panose="02010600030101010101" pitchFamily="2" charset="-122"/>
                <a:cs typeface="Consolas" pitchFamily="49" charset="0"/>
              </a:rPr>
              <a:t>数列等。这些问题的求解过程可以将其递归定义直接转化为对应的递归算法。 </a:t>
            </a:r>
            <a:endParaRPr kumimoji="1" lang="zh-CN" altLang="en-US" sz="20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98432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4174D554-D59E-6E4A-AE50-22CDADA8DA37}"/>
              </a:ext>
            </a:extLst>
          </p:cNvPr>
          <p:cNvSpPr txBox="1"/>
          <p:nvPr/>
        </p:nvSpPr>
        <p:spPr>
          <a:xfrm>
            <a:off x="693345" y="1267977"/>
            <a:ext cx="10896400" cy="3652923"/>
          </a:xfrm>
          <a:prstGeom prst="rect">
            <a:avLst/>
          </a:prstGeom>
          <a:noFill/>
        </p:spPr>
        <p:txBody>
          <a:bodyPr wrap="square" rtlCol="0">
            <a:spAutoFit/>
          </a:bodyPr>
          <a:lstStyle/>
          <a:p>
            <a:pPr algn="just">
              <a:lnSpc>
                <a:spcPct val="150000"/>
              </a:lnSpc>
              <a:spcBef>
                <a:spcPts val="0"/>
              </a:spcBef>
            </a:pPr>
            <a:r>
              <a:rPr lang="en-US" altLang="zh-CN" sz="2400" dirty="0">
                <a:solidFill>
                  <a:srgbClr val="FF0000"/>
                </a:solidFill>
                <a:latin typeface="SimSun" panose="02010600030101010101" pitchFamily="2" charset="-122"/>
                <a:ea typeface="SimSun" panose="02010600030101010101" pitchFamily="2" charset="-122"/>
                <a:cs typeface="Consolas" pitchFamily="49" charset="0"/>
              </a:rPr>
              <a:t>【</a:t>
            </a:r>
            <a:r>
              <a:rPr lang="zh-CN" altLang="en-US" sz="2400" dirty="0">
                <a:solidFill>
                  <a:srgbClr val="FF0000"/>
                </a:solidFill>
                <a:latin typeface="SimSun" panose="02010600030101010101" pitchFamily="2" charset="-122"/>
                <a:ea typeface="SimSun" panose="02010600030101010101" pitchFamily="2" charset="-122"/>
                <a:cs typeface="Consolas" pitchFamily="49" charset="0"/>
              </a:rPr>
              <a:t>例</a:t>
            </a:r>
            <a:r>
              <a:rPr lang="en-US" altLang="zh-CN" sz="2400" dirty="0">
                <a:solidFill>
                  <a:srgbClr val="FF0000"/>
                </a:solidFill>
                <a:latin typeface="SimSun" panose="02010600030101010101" pitchFamily="2" charset="-122"/>
                <a:ea typeface="SimSun" panose="02010600030101010101" pitchFamily="2" charset="-122"/>
                <a:cs typeface="Consolas" pitchFamily="49" charset="0"/>
              </a:rPr>
              <a:t>2】</a:t>
            </a:r>
            <a:r>
              <a:rPr lang="zh-CN" altLang="en-US" sz="2400" dirty="0">
                <a:solidFill>
                  <a:srgbClr val="FF0000"/>
                </a:solidFill>
                <a:latin typeface="SimSun" panose="02010600030101010101" pitchFamily="2" charset="-122"/>
                <a:ea typeface="SimSun" panose="02010600030101010101" pitchFamily="2" charset="-122"/>
                <a:cs typeface="Consolas" pitchFamily="49" charset="0"/>
              </a:rPr>
              <a:t>汉诺塔问题：</a:t>
            </a:r>
            <a:endParaRPr lang="en-US" altLang="zh-CN" sz="2400" dirty="0">
              <a:solidFill>
                <a:srgbClr val="FF0000"/>
              </a:solidFill>
              <a:latin typeface="SimSun" panose="02010600030101010101" pitchFamily="2" charset="-122"/>
              <a:ea typeface="SimSun" panose="02010600030101010101" pitchFamily="2" charset="-122"/>
              <a:cs typeface="Consolas" pitchFamily="49" charset="0"/>
            </a:endParaRPr>
          </a:p>
          <a:p>
            <a:pPr algn="just">
              <a:lnSpc>
                <a:spcPct val="200000"/>
              </a:lnSpc>
              <a:spcBef>
                <a:spcPts val="0"/>
              </a:spcBef>
            </a:pPr>
            <a:r>
              <a:rPr kumimoji="1" lang="zh-CN" altLang="en-US" sz="2400" dirty="0">
                <a:latin typeface="SimSun" panose="02010600030101010101" pitchFamily="2" charset="-122"/>
                <a:ea typeface="SimSun" panose="02010600030101010101" pitchFamily="2" charset="-122"/>
                <a:cs typeface="Consolas" pitchFamily="49" charset="0"/>
              </a:rPr>
              <a:t>盘片移动时必须遵守以下规则：</a:t>
            </a:r>
            <a:endParaRPr kumimoji="1" lang="en-US" altLang="zh-CN" sz="2400" dirty="0">
              <a:latin typeface="SimSun" panose="02010600030101010101" pitchFamily="2" charset="-122"/>
              <a:ea typeface="SimSun" panose="02010600030101010101" pitchFamily="2" charset="-122"/>
              <a:cs typeface="Consolas" pitchFamily="49" charset="0"/>
            </a:endParaRPr>
          </a:p>
          <a:p>
            <a:pPr algn="just">
              <a:lnSpc>
                <a:spcPct val="150000"/>
              </a:lnSpc>
              <a:spcBef>
                <a:spcPts val="0"/>
              </a:spcBef>
            </a:pPr>
            <a:r>
              <a:rPr kumimoji="1" lang="en-US" altLang="zh-CN" sz="2400" dirty="0">
                <a:latin typeface="SimSun" panose="02010600030101010101" pitchFamily="2" charset="-122"/>
                <a:ea typeface="SimSun" panose="02010600030101010101" pitchFamily="2" charset="-122"/>
                <a:cs typeface="Consolas" pitchFamily="49" charset="0"/>
              </a:rPr>
              <a:t>1</a:t>
            </a:r>
            <a:r>
              <a:rPr kumimoji="1" lang="zh-CN" altLang="en-US" sz="2400" dirty="0">
                <a:latin typeface="SimSun" panose="02010600030101010101" pitchFamily="2" charset="-122"/>
                <a:ea typeface="SimSun" panose="02010600030101010101" pitchFamily="2" charset="-122"/>
                <a:cs typeface="Consolas" pitchFamily="49" charset="0"/>
              </a:rPr>
              <a:t>、每次只能移动一个盘片；</a:t>
            </a:r>
            <a:endParaRPr kumimoji="1" lang="en-US" altLang="zh-CN" sz="2400" dirty="0">
              <a:latin typeface="SimSun" panose="02010600030101010101" pitchFamily="2" charset="-122"/>
              <a:ea typeface="SimSun" panose="02010600030101010101" pitchFamily="2" charset="-122"/>
              <a:cs typeface="Consolas" pitchFamily="49" charset="0"/>
            </a:endParaRPr>
          </a:p>
          <a:p>
            <a:pPr algn="just">
              <a:lnSpc>
                <a:spcPct val="150000"/>
              </a:lnSpc>
              <a:spcBef>
                <a:spcPts val="0"/>
              </a:spcBef>
            </a:pPr>
            <a:r>
              <a:rPr kumimoji="1" lang="en-US" altLang="zh-CN" sz="2400" dirty="0">
                <a:latin typeface="SimSun" panose="02010600030101010101" pitchFamily="2" charset="-122"/>
                <a:ea typeface="SimSun" panose="02010600030101010101" pitchFamily="2" charset="-122"/>
                <a:cs typeface="Consolas" pitchFamily="49" charset="0"/>
              </a:rPr>
              <a:t>2</a:t>
            </a:r>
            <a:r>
              <a:rPr kumimoji="1" lang="zh-CN" altLang="en-US" sz="2400" dirty="0">
                <a:latin typeface="SimSun" panose="02010600030101010101" pitchFamily="2" charset="-122"/>
                <a:ea typeface="SimSun" panose="02010600030101010101" pitchFamily="2" charset="-122"/>
                <a:cs typeface="Consolas" pitchFamily="49" charset="0"/>
              </a:rPr>
              <a:t>、盘片可以插在</a:t>
            </a:r>
            <a:r>
              <a:rPr kumimoji="1" lang="en-US" altLang="zh-CN" sz="2400" dirty="0">
                <a:latin typeface="SimSun" panose="02010600030101010101" pitchFamily="2" charset="-122"/>
                <a:ea typeface="SimSun" panose="02010600030101010101" pitchFamily="2" charset="-122"/>
                <a:cs typeface="Consolas" pitchFamily="49" charset="0"/>
              </a:rPr>
              <a:t>X</a:t>
            </a:r>
            <a:r>
              <a:rPr kumimoji="1" lang="zh-CN" altLang="en-US" sz="2400" dirty="0">
                <a:latin typeface="SimSun" panose="02010600030101010101" pitchFamily="2" charset="-122"/>
                <a:ea typeface="SimSun" panose="02010600030101010101" pitchFamily="2" charset="-122"/>
                <a:cs typeface="Consolas" pitchFamily="49" charset="0"/>
              </a:rPr>
              <a:t>、</a:t>
            </a:r>
            <a:r>
              <a:rPr kumimoji="1" lang="en-US" altLang="zh-CN" sz="2400" dirty="0">
                <a:latin typeface="SimSun" panose="02010600030101010101" pitchFamily="2" charset="-122"/>
                <a:ea typeface="SimSun" panose="02010600030101010101" pitchFamily="2" charset="-122"/>
                <a:cs typeface="Consolas" pitchFamily="49" charset="0"/>
              </a:rPr>
              <a:t>Y</a:t>
            </a:r>
            <a:r>
              <a:rPr kumimoji="1" lang="zh-CN" altLang="en-US" sz="2400" dirty="0">
                <a:latin typeface="SimSun" panose="02010600030101010101" pitchFamily="2" charset="-122"/>
                <a:ea typeface="SimSun" panose="02010600030101010101" pitchFamily="2" charset="-122"/>
                <a:cs typeface="Consolas" pitchFamily="49" charset="0"/>
              </a:rPr>
              <a:t>和</a:t>
            </a:r>
            <a:r>
              <a:rPr kumimoji="1" lang="en-US" altLang="zh-CN" sz="2400" dirty="0">
                <a:latin typeface="SimSun" panose="02010600030101010101" pitchFamily="2" charset="-122"/>
                <a:ea typeface="SimSun" panose="02010600030101010101" pitchFamily="2" charset="-122"/>
                <a:cs typeface="Consolas" pitchFamily="49" charset="0"/>
              </a:rPr>
              <a:t>Z</a:t>
            </a:r>
            <a:r>
              <a:rPr kumimoji="1" lang="zh-CN" altLang="en-US" sz="2400" dirty="0">
                <a:latin typeface="SimSun" panose="02010600030101010101" pitchFamily="2" charset="-122"/>
                <a:ea typeface="SimSun" panose="02010600030101010101" pitchFamily="2" charset="-122"/>
                <a:cs typeface="Consolas" pitchFamily="49" charset="0"/>
              </a:rPr>
              <a:t>中任一塔座；</a:t>
            </a:r>
            <a:endParaRPr kumimoji="1" lang="en-US" altLang="zh-CN" sz="2400" dirty="0">
              <a:latin typeface="SimSun" panose="02010600030101010101" pitchFamily="2" charset="-122"/>
              <a:ea typeface="SimSun" panose="02010600030101010101" pitchFamily="2" charset="-122"/>
              <a:cs typeface="Consolas" pitchFamily="49" charset="0"/>
            </a:endParaRPr>
          </a:p>
          <a:p>
            <a:pPr algn="just">
              <a:lnSpc>
                <a:spcPct val="150000"/>
              </a:lnSpc>
              <a:spcBef>
                <a:spcPts val="0"/>
              </a:spcBef>
            </a:pPr>
            <a:r>
              <a:rPr kumimoji="1" lang="en-US" altLang="zh-CN" sz="2400" dirty="0">
                <a:latin typeface="SimSun" panose="02010600030101010101" pitchFamily="2" charset="-122"/>
                <a:ea typeface="SimSun" panose="02010600030101010101" pitchFamily="2" charset="-122"/>
                <a:cs typeface="Consolas" pitchFamily="49" charset="0"/>
              </a:rPr>
              <a:t>3</a:t>
            </a:r>
            <a:r>
              <a:rPr kumimoji="1" lang="zh-CN" altLang="en-US" sz="2400" dirty="0">
                <a:latin typeface="SimSun" panose="02010600030101010101" pitchFamily="2" charset="-122"/>
                <a:ea typeface="SimSun" panose="02010600030101010101" pitchFamily="2" charset="-122"/>
                <a:cs typeface="Consolas" pitchFamily="49" charset="0"/>
              </a:rPr>
              <a:t>、任何时候都不能将一个较大的盘片放在较小的盘片上。</a:t>
            </a:r>
            <a:endParaRPr kumimoji="1" lang="en-US" altLang="zh-CN" sz="2400" dirty="0">
              <a:latin typeface="SimSun" panose="02010600030101010101" pitchFamily="2" charset="-122"/>
              <a:ea typeface="SimSun" panose="02010600030101010101" pitchFamily="2" charset="-122"/>
              <a:cs typeface="Consolas" pitchFamily="49" charset="0"/>
            </a:endParaRPr>
          </a:p>
          <a:p>
            <a:pPr algn="just">
              <a:lnSpc>
                <a:spcPct val="200000"/>
              </a:lnSpc>
              <a:spcBef>
                <a:spcPts val="0"/>
              </a:spcBef>
            </a:pPr>
            <a:r>
              <a:rPr kumimoji="1" lang="zh-CN" altLang="en-US" sz="2400" dirty="0">
                <a:latin typeface="SimSun" panose="02010600030101010101" pitchFamily="2" charset="-122"/>
                <a:ea typeface="SimSun" panose="02010600030101010101" pitchFamily="2" charset="-122"/>
                <a:cs typeface="Consolas" pitchFamily="49" charset="0"/>
              </a:rPr>
              <a:t>设计递归求解算法</a:t>
            </a:r>
          </a:p>
        </p:txBody>
      </p:sp>
      <p:pic>
        <p:nvPicPr>
          <p:cNvPr id="4" name="Picture 1">
            <a:extLst>
              <a:ext uri="{FF2B5EF4-FFF2-40B4-BE49-F238E27FC236}">
                <a16:creationId xmlns:a16="http://schemas.microsoft.com/office/drawing/2014/main" id="{EEB596AB-DBCB-4541-B164-CAB629B12CCF}"/>
              </a:ext>
            </a:extLst>
          </p:cNvPr>
          <p:cNvPicPr>
            <a:picLocks noChangeAspect="1" noChangeArrowheads="1"/>
          </p:cNvPicPr>
          <p:nvPr/>
        </p:nvPicPr>
        <p:blipFill>
          <a:blip r:embed="rId2" cstate="print"/>
          <a:srcRect/>
          <a:stretch>
            <a:fillRect/>
          </a:stretch>
        </p:blipFill>
        <p:spPr bwMode="auto">
          <a:xfrm>
            <a:off x="5580373" y="630359"/>
            <a:ext cx="2190378" cy="2147884"/>
          </a:xfrm>
          <a:prstGeom prst="rect">
            <a:avLst/>
          </a:prstGeom>
          <a:noFill/>
          <a:ln w="9525">
            <a:noFill/>
            <a:miter lim="800000"/>
            <a:headEnd/>
            <a:tailEnd/>
          </a:ln>
        </p:spPr>
      </p:pic>
      <p:sp>
        <p:nvSpPr>
          <p:cNvPr id="5" name="文本框 4">
            <a:extLst>
              <a:ext uri="{FF2B5EF4-FFF2-40B4-BE49-F238E27FC236}">
                <a16:creationId xmlns:a16="http://schemas.microsoft.com/office/drawing/2014/main" id="{4136A78A-2B73-F646-A642-AE1F83D07AC0}"/>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Tree>
    <p:extLst>
      <p:ext uri="{BB962C8B-B14F-4D97-AF65-F5344CB8AC3E}">
        <p14:creationId xmlns:p14="http://schemas.microsoft.com/office/powerpoint/2010/main" val="4094112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CA3AFE2-7614-5B4F-A650-60C5482583F0}"/>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Rectangle 2">
            <a:extLst>
              <a:ext uri="{FF2B5EF4-FFF2-40B4-BE49-F238E27FC236}">
                <a16:creationId xmlns:a16="http://schemas.microsoft.com/office/drawing/2014/main" id="{EFBA1375-75C3-1D45-9912-81047FDF6BC4}"/>
              </a:ext>
            </a:extLst>
          </p:cNvPr>
          <p:cNvSpPr>
            <a:spLocks noChangeArrowheads="1"/>
          </p:cNvSpPr>
          <p:nvPr/>
        </p:nvSpPr>
        <p:spPr bwMode="auto">
          <a:xfrm>
            <a:off x="2026387" y="3215825"/>
            <a:ext cx="2457450" cy="6096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gn="ctr" eaLnBrk="0" hangingPunct="0">
              <a:lnSpc>
                <a:spcPct val="160000"/>
              </a:lnSpc>
            </a:pPr>
            <a:r>
              <a:rPr lang="en-US" altLang="zh-CN" sz="1800">
                <a:solidFill>
                  <a:srgbClr val="0000FF"/>
                </a:solidFill>
                <a:latin typeface="Consolas" pitchFamily="49" charset="0"/>
                <a:ea typeface="楷体" pitchFamily="49" charset="-122"/>
                <a:cs typeface="Consolas" pitchFamily="49" charset="0"/>
              </a:rPr>
              <a:t>Hanoi(n</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x</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y</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z)</a:t>
            </a:r>
          </a:p>
        </p:txBody>
      </p:sp>
      <p:sp>
        <p:nvSpPr>
          <p:cNvPr id="5" name="Rectangle 3">
            <a:extLst>
              <a:ext uri="{FF2B5EF4-FFF2-40B4-BE49-F238E27FC236}">
                <a16:creationId xmlns:a16="http://schemas.microsoft.com/office/drawing/2014/main" id="{6C5AD948-1444-904B-A246-D028186BAF17}"/>
              </a:ext>
            </a:extLst>
          </p:cNvPr>
          <p:cNvSpPr>
            <a:spLocks noChangeArrowheads="1"/>
          </p:cNvSpPr>
          <p:nvPr/>
        </p:nvSpPr>
        <p:spPr bwMode="auto">
          <a:xfrm>
            <a:off x="5749075" y="2758625"/>
            <a:ext cx="4421244" cy="12954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gn="just" eaLnBrk="0" hangingPunct="0">
              <a:lnSpc>
                <a:spcPct val="140000"/>
              </a:lnSpc>
            </a:pPr>
            <a:r>
              <a:rPr lang="en-US" altLang="zh-CN" sz="1800">
                <a:solidFill>
                  <a:srgbClr val="0000FF"/>
                </a:solidFill>
                <a:latin typeface="Consolas" pitchFamily="49" charset="0"/>
                <a:ea typeface="楷体" pitchFamily="49" charset="-122"/>
                <a:cs typeface="Consolas" pitchFamily="49" charset="0"/>
              </a:rPr>
              <a:t>Hanoi(n-1</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x</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z</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y)</a:t>
            </a:r>
            <a:r>
              <a:rPr lang="zh-CN" altLang="en-US" sz="1800">
                <a:solidFill>
                  <a:srgbClr val="0000FF"/>
                </a:solidFill>
                <a:latin typeface="Consolas" pitchFamily="49" charset="0"/>
                <a:ea typeface="楷体" pitchFamily="49" charset="-122"/>
                <a:cs typeface="Consolas" pitchFamily="49" charset="0"/>
              </a:rPr>
              <a:t>；</a:t>
            </a:r>
          </a:p>
          <a:p>
            <a:pPr algn="just" eaLnBrk="0" hangingPunct="0">
              <a:lnSpc>
                <a:spcPct val="140000"/>
              </a:lnSpc>
            </a:pPr>
            <a:r>
              <a:rPr lang="en-US" altLang="zh-CN" sz="1800">
                <a:solidFill>
                  <a:srgbClr val="0000FF"/>
                </a:solidFill>
                <a:latin typeface="Consolas" pitchFamily="49" charset="0"/>
                <a:ea typeface="楷体" pitchFamily="49" charset="-122"/>
                <a:cs typeface="Consolas" pitchFamily="49" charset="0"/>
              </a:rPr>
              <a:t>move(n</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x</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z):</a:t>
            </a:r>
            <a:r>
              <a:rPr lang="zh-CN" altLang="en-US" sz="1800">
                <a:solidFill>
                  <a:srgbClr val="0000FF"/>
                </a:solidFill>
                <a:latin typeface="Consolas" pitchFamily="49" charset="0"/>
                <a:ea typeface="楷体" pitchFamily="49" charset="-122"/>
                <a:cs typeface="Consolas" pitchFamily="49" charset="0"/>
              </a:rPr>
              <a:t>将第</a:t>
            </a:r>
            <a:r>
              <a:rPr lang="en-US" altLang="zh-CN" sz="1800">
                <a:solidFill>
                  <a:srgbClr val="0000FF"/>
                </a:solidFill>
                <a:latin typeface="Consolas" pitchFamily="49" charset="0"/>
                <a:ea typeface="楷体" pitchFamily="49" charset="-122"/>
                <a:cs typeface="Consolas" pitchFamily="49" charset="0"/>
              </a:rPr>
              <a:t>n</a:t>
            </a:r>
            <a:r>
              <a:rPr lang="zh-CN" altLang="en-US" sz="1800">
                <a:solidFill>
                  <a:srgbClr val="0000FF"/>
                </a:solidFill>
                <a:latin typeface="Consolas" pitchFamily="49" charset="0"/>
                <a:ea typeface="楷体" pitchFamily="49" charset="-122"/>
                <a:cs typeface="Consolas" pitchFamily="49" charset="0"/>
              </a:rPr>
              <a:t>个圆盘从</a:t>
            </a:r>
            <a:r>
              <a:rPr lang="en-US" altLang="zh-CN" sz="1800">
                <a:solidFill>
                  <a:srgbClr val="0000FF"/>
                </a:solidFill>
                <a:latin typeface="Consolas" pitchFamily="49" charset="0"/>
                <a:ea typeface="楷体" pitchFamily="49" charset="-122"/>
                <a:cs typeface="Consolas" pitchFamily="49" charset="0"/>
              </a:rPr>
              <a:t>x</a:t>
            </a:r>
            <a:r>
              <a:rPr lang="zh-CN" altLang="en-US" sz="1800">
                <a:solidFill>
                  <a:srgbClr val="0000FF"/>
                </a:solidFill>
                <a:latin typeface="Consolas" pitchFamily="49" charset="0"/>
                <a:ea typeface="楷体" pitchFamily="49" charset="-122"/>
                <a:cs typeface="Consolas" pitchFamily="49" charset="0"/>
              </a:rPr>
              <a:t>移到</a:t>
            </a:r>
            <a:r>
              <a:rPr lang="en-US" altLang="zh-CN" sz="1800">
                <a:solidFill>
                  <a:srgbClr val="0000FF"/>
                </a:solidFill>
                <a:latin typeface="Consolas" pitchFamily="49" charset="0"/>
                <a:ea typeface="楷体" pitchFamily="49" charset="-122"/>
                <a:cs typeface="Consolas" pitchFamily="49" charset="0"/>
              </a:rPr>
              <a:t>z</a:t>
            </a:r>
            <a:r>
              <a:rPr lang="zh-CN" altLang="en-US" sz="1800">
                <a:solidFill>
                  <a:srgbClr val="0000FF"/>
                </a:solidFill>
                <a:latin typeface="Consolas" pitchFamily="49" charset="0"/>
                <a:ea typeface="楷体" pitchFamily="49" charset="-122"/>
                <a:cs typeface="Consolas" pitchFamily="49" charset="0"/>
              </a:rPr>
              <a:t>；</a:t>
            </a:r>
          </a:p>
          <a:p>
            <a:pPr algn="just" eaLnBrk="0" hangingPunct="0">
              <a:lnSpc>
                <a:spcPct val="140000"/>
              </a:lnSpc>
            </a:pPr>
            <a:r>
              <a:rPr lang="en-US" altLang="zh-CN" sz="1800">
                <a:solidFill>
                  <a:srgbClr val="0000FF"/>
                </a:solidFill>
                <a:latin typeface="Consolas" pitchFamily="49" charset="0"/>
                <a:ea typeface="楷体" pitchFamily="49" charset="-122"/>
                <a:cs typeface="Consolas" pitchFamily="49" charset="0"/>
              </a:rPr>
              <a:t>Hanoi(n-1</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y</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x</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z)</a:t>
            </a:r>
          </a:p>
        </p:txBody>
      </p:sp>
      <p:sp>
        <p:nvSpPr>
          <p:cNvPr id="6" name="AutoShape 4">
            <a:extLst>
              <a:ext uri="{FF2B5EF4-FFF2-40B4-BE49-F238E27FC236}">
                <a16:creationId xmlns:a16="http://schemas.microsoft.com/office/drawing/2014/main" id="{E3FB7ECA-60B1-BB4A-B304-84EC7B393522}"/>
              </a:ext>
            </a:extLst>
          </p:cNvPr>
          <p:cNvSpPr>
            <a:spLocks noChangeArrowheads="1"/>
          </p:cNvSpPr>
          <p:nvPr/>
        </p:nvSpPr>
        <p:spPr bwMode="auto">
          <a:xfrm>
            <a:off x="4620362" y="3338063"/>
            <a:ext cx="936625" cy="287337"/>
          </a:xfrm>
          <a:prstGeom prst="rightArrow">
            <a:avLst>
              <a:gd name="adj1" fmla="val 50000"/>
              <a:gd name="adj2" fmla="val 81492"/>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7" name="Group 5">
            <a:extLst>
              <a:ext uri="{FF2B5EF4-FFF2-40B4-BE49-F238E27FC236}">
                <a16:creationId xmlns:a16="http://schemas.microsoft.com/office/drawing/2014/main" id="{8EF9722B-55C7-AE43-94EF-8F3E1372D296}"/>
              </a:ext>
            </a:extLst>
          </p:cNvPr>
          <p:cNvGrpSpPr>
            <a:grpSpLocks/>
          </p:cNvGrpSpPr>
          <p:nvPr/>
        </p:nvGrpSpPr>
        <p:grpSpPr bwMode="auto">
          <a:xfrm>
            <a:off x="2316900" y="3133275"/>
            <a:ext cx="6264275" cy="2041525"/>
            <a:chOff x="431" y="808"/>
            <a:chExt cx="3946" cy="1286"/>
          </a:xfrm>
        </p:grpSpPr>
        <p:sp>
          <p:nvSpPr>
            <p:cNvPr id="8" name="Text Box 6">
              <a:extLst>
                <a:ext uri="{FF2B5EF4-FFF2-40B4-BE49-F238E27FC236}">
                  <a16:creationId xmlns:a16="http://schemas.microsoft.com/office/drawing/2014/main" id="{E12D5FDC-37FD-FB43-A6A6-030F66D8C5AC}"/>
                </a:ext>
              </a:extLst>
            </p:cNvPr>
            <p:cNvSpPr txBox="1">
              <a:spLocks noChangeArrowheads="1"/>
            </p:cNvSpPr>
            <p:nvPr/>
          </p:nvSpPr>
          <p:spPr bwMode="auto">
            <a:xfrm>
              <a:off x="431" y="1842"/>
              <a:ext cx="3946" cy="252"/>
            </a:xfrm>
            <a:prstGeom prst="rect">
              <a:avLst/>
            </a:prstGeom>
            <a:noFill/>
            <a:ln w="9525">
              <a:noFill/>
              <a:miter lim="800000"/>
              <a:headEnd/>
              <a:tailEnd/>
            </a:ln>
          </p:spPr>
          <p:txBody>
            <a:bodyPr>
              <a:spAutoFit/>
            </a:bodyPr>
            <a:lstStyle/>
            <a:p>
              <a:pPr algn="ctr">
                <a:spcBef>
                  <a:spcPct val="50000"/>
                </a:spcBef>
              </a:pP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大问题”转化为若干个“小问题”求解</a:t>
              </a:r>
            </a:p>
          </p:txBody>
        </p:sp>
        <p:sp>
          <p:nvSpPr>
            <p:cNvPr id="9" name="Freeform 7">
              <a:extLst>
                <a:ext uri="{FF2B5EF4-FFF2-40B4-BE49-F238E27FC236}">
                  <a16:creationId xmlns:a16="http://schemas.microsoft.com/office/drawing/2014/main" id="{2C6B3793-7AFB-304E-9E32-47A63A788AFD}"/>
                </a:ext>
              </a:extLst>
            </p:cNvPr>
            <p:cNvSpPr>
              <a:spLocks/>
            </p:cNvSpPr>
            <p:nvPr/>
          </p:nvSpPr>
          <p:spPr bwMode="auto">
            <a:xfrm>
              <a:off x="1016" y="1248"/>
              <a:ext cx="232" cy="641"/>
            </a:xfrm>
            <a:custGeom>
              <a:avLst/>
              <a:gdLst>
                <a:gd name="T0" fmla="*/ 232 w 232"/>
                <a:gd name="T1" fmla="*/ 641 h 641"/>
                <a:gd name="T2" fmla="*/ 0 w 232"/>
                <a:gd name="T3" fmla="*/ 0 h 641"/>
                <a:gd name="T4" fmla="*/ 0 60000 65536"/>
                <a:gd name="T5" fmla="*/ 0 60000 65536"/>
                <a:gd name="T6" fmla="*/ 0 w 232"/>
                <a:gd name="T7" fmla="*/ 0 h 641"/>
                <a:gd name="T8" fmla="*/ 232 w 232"/>
                <a:gd name="T9" fmla="*/ 641 h 641"/>
              </a:gdLst>
              <a:ahLst/>
              <a:cxnLst>
                <a:cxn ang="T4">
                  <a:pos x="T0" y="T1"/>
                </a:cxn>
                <a:cxn ang="T5">
                  <a:pos x="T2" y="T3"/>
                </a:cxn>
              </a:cxnLst>
              <a:rect l="T6" t="T7" r="T8" b="T9"/>
              <a:pathLst>
                <a:path w="232" h="641">
                  <a:moveTo>
                    <a:pt x="232" y="641"/>
                  </a:moveTo>
                  <a:lnTo>
                    <a:pt x="0" y="0"/>
                  </a:lnTo>
                </a:path>
              </a:pathLst>
            </a:custGeom>
            <a:noFill/>
            <a:ln w="38100">
              <a:solidFill>
                <a:srgbClr val="FF00FF"/>
              </a:solidFill>
              <a:prstDash val="dash"/>
              <a:miter lim="800000"/>
              <a:headEnd/>
              <a:tailEnd type="stealth" w="lg" len="lg"/>
            </a:ln>
          </p:spPr>
          <p:txBody>
            <a:bodyPr wrap="none"/>
            <a:lstStyle/>
            <a:p>
              <a:endParaRPr lang="zh-CN" altLang="en-US">
                <a:latin typeface="Consolas" pitchFamily="49" charset="0"/>
                <a:cs typeface="Consolas" pitchFamily="49" charset="0"/>
              </a:endParaRPr>
            </a:p>
          </p:txBody>
        </p:sp>
        <p:sp>
          <p:nvSpPr>
            <p:cNvPr id="10" name="Freeform 8">
              <a:extLst>
                <a:ext uri="{FF2B5EF4-FFF2-40B4-BE49-F238E27FC236}">
                  <a16:creationId xmlns:a16="http://schemas.microsoft.com/office/drawing/2014/main" id="{345026D2-1F3D-8742-A9B1-E7C8879DC72A}"/>
                </a:ext>
              </a:extLst>
            </p:cNvPr>
            <p:cNvSpPr>
              <a:spLocks/>
            </p:cNvSpPr>
            <p:nvPr/>
          </p:nvSpPr>
          <p:spPr bwMode="auto">
            <a:xfrm>
              <a:off x="2813" y="808"/>
              <a:ext cx="340" cy="1081"/>
            </a:xfrm>
            <a:custGeom>
              <a:avLst/>
              <a:gdLst>
                <a:gd name="T0" fmla="*/ 241 w 241"/>
                <a:gd name="T1" fmla="*/ 1065 h 1065"/>
                <a:gd name="T2" fmla="*/ 0 w 241"/>
                <a:gd name="T3" fmla="*/ 0 h 1065"/>
                <a:gd name="T4" fmla="*/ 0 60000 65536"/>
                <a:gd name="T5" fmla="*/ 0 60000 65536"/>
                <a:gd name="T6" fmla="*/ 0 w 241"/>
                <a:gd name="T7" fmla="*/ 0 h 1065"/>
                <a:gd name="T8" fmla="*/ 241 w 241"/>
                <a:gd name="T9" fmla="*/ 1065 h 1065"/>
              </a:gdLst>
              <a:ahLst/>
              <a:cxnLst>
                <a:cxn ang="T4">
                  <a:pos x="T0" y="T1"/>
                </a:cxn>
                <a:cxn ang="T5">
                  <a:pos x="T2" y="T3"/>
                </a:cxn>
              </a:cxnLst>
              <a:rect l="T6" t="T7" r="T8" b="T9"/>
              <a:pathLst>
                <a:path w="241" h="1065">
                  <a:moveTo>
                    <a:pt x="241" y="1065"/>
                  </a:moveTo>
                  <a:lnTo>
                    <a:pt x="0" y="0"/>
                  </a:lnTo>
                </a:path>
              </a:pathLst>
            </a:custGeom>
            <a:noFill/>
            <a:ln w="38100">
              <a:solidFill>
                <a:srgbClr val="FF00FF"/>
              </a:solidFill>
              <a:prstDash val="dash"/>
              <a:round/>
              <a:headEnd/>
              <a:tailEnd type="stealth" w="lg" len="lg"/>
            </a:ln>
          </p:spPr>
          <p:txBody>
            <a:bodyPr wrap="none"/>
            <a:lstStyle/>
            <a:p>
              <a:endParaRPr lang="zh-CN" altLang="en-US">
                <a:latin typeface="Consolas" pitchFamily="49" charset="0"/>
                <a:cs typeface="Consolas" pitchFamily="49" charset="0"/>
              </a:endParaRPr>
            </a:p>
          </p:txBody>
        </p:sp>
        <p:sp>
          <p:nvSpPr>
            <p:cNvPr id="11" name="Freeform 9">
              <a:extLst>
                <a:ext uri="{FF2B5EF4-FFF2-40B4-BE49-F238E27FC236}">
                  <a16:creationId xmlns:a16="http://schemas.microsoft.com/office/drawing/2014/main" id="{DEDEE10F-B1C9-2244-A575-3729663219A0}"/>
                </a:ext>
              </a:extLst>
            </p:cNvPr>
            <p:cNvSpPr>
              <a:spLocks/>
            </p:cNvSpPr>
            <p:nvPr/>
          </p:nvSpPr>
          <p:spPr bwMode="auto">
            <a:xfrm>
              <a:off x="3304" y="1298"/>
              <a:ext cx="256" cy="582"/>
            </a:xfrm>
            <a:custGeom>
              <a:avLst/>
              <a:gdLst>
                <a:gd name="T0" fmla="*/ 0 w 256"/>
                <a:gd name="T1" fmla="*/ 582 h 582"/>
                <a:gd name="T2" fmla="*/ 256 w 256"/>
                <a:gd name="T3" fmla="*/ 0 h 582"/>
                <a:gd name="T4" fmla="*/ 0 60000 65536"/>
                <a:gd name="T5" fmla="*/ 0 60000 65536"/>
                <a:gd name="T6" fmla="*/ 0 w 256"/>
                <a:gd name="T7" fmla="*/ 0 h 582"/>
                <a:gd name="T8" fmla="*/ 256 w 256"/>
                <a:gd name="T9" fmla="*/ 582 h 582"/>
              </a:gdLst>
              <a:ahLst/>
              <a:cxnLst>
                <a:cxn ang="T4">
                  <a:pos x="T0" y="T1"/>
                </a:cxn>
                <a:cxn ang="T5">
                  <a:pos x="T2" y="T3"/>
                </a:cxn>
              </a:cxnLst>
              <a:rect l="T6" t="T7" r="T8" b="T9"/>
              <a:pathLst>
                <a:path w="256" h="582">
                  <a:moveTo>
                    <a:pt x="0" y="582"/>
                  </a:moveTo>
                  <a:lnTo>
                    <a:pt x="256" y="0"/>
                  </a:lnTo>
                </a:path>
              </a:pathLst>
            </a:custGeom>
            <a:noFill/>
            <a:ln w="38100">
              <a:solidFill>
                <a:srgbClr val="FF00FF"/>
              </a:solidFill>
              <a:prstDash val="dash"/>
              <a:round/>
              <a:headEnd/>
              <a:tailEnd type="stealth" w="lg" len="lg"/>
            </a:ln>
          </p:spPr>
          <p:txBody>
            <a:bodyPr wrap="none"/>
            <a:lstStyle/>
            <a:p>
              <a:endParaRPr lang="zh-CN" altLang="en-US">
                <a:latin typeface="Consolas" pitchFamily="49" charset="0"/>
                <a:cs typeface="Consolas" pitchFamily="49" charset="0"/>
              </a:endParaRPr>
            </a:p>
          </p:txBody>
        </p:sp>
      </p:grpSp>
      <p:sp>
        <p:nvSpPr>
          <p:cNvPr id="12" name="TextBox 9">
            <a:extLst>
              <a:ext uri="{FF2B5EF4-FFF2-40B4-BE49-F238E27FC236}">
                <a16:creationId xmlns:a16="http://schemas.microsoft.com/office/drawing/2014/main" id="{3076D5A6-93C4-C747-87FF-E731A3DD4634}"/>
              </a:ext>
            </a:extLst>
          </p:cNvPr>
          <p:cNvSpPr txBox="1"/>
          <p:nvPr/>
        </p:nvSpPr>
        <p:spPr>
          <a:xfrm>
            <a:off x="640689" y="1593999"/>
            <a:ext cx="10640583" cy="452047"/>
          </a:xfrm>
          <a:prstGeom prst="rect">
            <a:avLst/>
          </a:prstGeom>
          <a:noFill/>
        </p:spPr>
        <p:txBody>
          <a:bodyPr wrap="square" rtlCol="0">
            <a:spAutoFit/>
          </a:bodyPr>
          <a:lstStyle/>
          <a:p>
            <a:pPr>
              <a:lnSpc>
                <a:spcPts val="3200"/>
              </a:lnSpc>
            </a:pPr>
            <a:r>
              <a:rPr kumimoji="1" lang="zh-CN" altLang="en-US" sz="2400" dirty="0">
                <a:latin typeface="SimSun" panose="02010600030101010101" pitchFamily="2" charset="-122"/>
                <a:ea typeface="SimSun" panose="02010600030101010101" pitchFamily="2" charset="-122"/>
                <a:cs typeface="Consolas" pitchFamily="49" charset="0"/>
              </a:rPr>
              <a:t>设</a:t>
            </a:r>
            <a:r>
              <a:rPr kumimoji="1" lang="en-US" altLang="zh-CN" sz="2400" dirty="0">
                <a:latin typeface="SimSun" panose="02010600030101010101" pitchFamily="2" charset="-122"/>
                <a:ea typeface="SimSun" panose="02010600030101010101" pitchFamily="2" charset="-122"/>
                <a:cs typeface="Consolas" pitchFamily="49" charset="0"/>
              </a:rPr>
              <a:t>Hanoi(</a:t>
            </a:r>
            <a:r>
              <a:rPr kumimoji="1" lang="en-US" altLang="zh-CN" sz="2400" i="1" dirty="0">
                <a:latin typeface="SimSun" panose="02010600030101010101" pitchFamily="2" charset="-122"/>
                <a:ea typeface="SimSun" panose="02010600030101010101" pitchFamily="2" charset="-122"/>
                <a:cs typeface="Consolas" pitchFamily="49" charset="0"/>
              </a:rPr>
              <a:t>n</a:t>
            </a:r>
            <a:r>
              <a:rPr kumimoji="1" lang="zh-CN" altLang="en-US" sz="2400" dirty="0">
                <a:latin typeface="SimSun" panose="02010600030101010101" pitchFamily="2" charset="-122"/>
                <a:ea typeface="SimSun" panose="02010600030101010101" pitchFamily="2" charset="-122"/>
                <a:cs typeface="Consolas" pitchFamily="49" charset="0"/>
              </a:rPr>
              <a:t>，</a:t>
            </a:r>
            <a:r>
              <a:rPr kumimoji="1" lang="en-US" altLang="zh-CN" sz="2400" i="1" dirty="0">
                <a:latin typeface="SimSun" panose="02010600030101010101" pitchFamily="2" charset="-122"/>
                <a:ea typeface="SimSun" panose="02010600030101010101" pitchFamily="2" charset="-122"/>
                <a:cs typeface="Consolas" pitchFamily="49" charset="0"/>
              </a:rPr>
              <a:t>x</a:t>
            </a:r>
            <a:r>
              <a:rPr kumimoji="1" lang="zh-CN" altLang="en-US" sz="2400" dirty="0">
                <a:latin typeface="SimSun" panose="02010600030101010101" pitchFamily="2" charset="-122"/>
                <a:ea typeface="SimSun" panose="02010600030101010101" pitchFamily="2" charset="-122"/>
                <a:cs typeface="Consolas" pitchFamily="49" charset="0"/>
              </a:rPr>
              <a:t>，</a:t>
            </a:r>
            <a:r>
              <a:rPr kumimoji="1" lang="en-US" altLang="zh-CN" sz="2400" i="1" dirty="0">
                <a:latin typeface="SimSun" panose="02010600030101010101" pitchFamily="2" charset="-122"/>
                <a:ea typeface="SimSun" panose="02010600030101010101" pitchFamily="2" charset="-122"/>
                <a:cs typeface="Consolas" pitchFamily="49" charset="0"/>
              </a:rPr>
              <a:t>y</a:t>
            </a:r>
            <a:r>
              <a:rPr kumimoji="1" lang="zh-CN" altLang="en-US" sz="2400" dirty="0">
                <a:latin typeface="SimSun" panose="02010600030101010101" pitchFamily="2" charset="-122"/>
                <a:ea typeface="SimSun" panose="02010600030101010101" pitchFamily="2" charset="-122"/>
                <a:cs typeface="Consolas" pitchFamily="49" charset="0"/>
              </a:rPr>
              <a:t>，</a:t>
            </a:r>
            <a:r>
              <a:rPr kumimoji="1" lang="en-US" altLang="zh-CN" sz="2400" i="1" dirty="0">
                <a:latin typeface="SimSun" panose="02010600030101010101" pitchFamily="2" charset="-122"/>
                <a:ea typeface="SimSun" panose="02010600030101010101" pitchFamily="2" charset="-122"/>
                <a:cs typeface="Consolas" pitchFamily="49" charset="0"/>
              </a:rPr>
              <a:t>z</a:t>
            </a:r>
            <a:r>
              <a:rPr kumimoji="1" lang="en-US" altLang="zh-CN" sz="2400" dirty="0">
                <a:latin typeface="SimSun" panose="02010600030101010101" pitchFamily="2" charset="-122"/>
                <a:ea typeface="SimSun" panose="02010600030101010101" pitchFamily="2" charset="-122"/>
                <a:cs typeface="Consolas" pitchFamily="49" charset="0"/>
              </a:rPr>
              <a:t>)</a:t>
            </a:r>
            <a:r>
              <a:rPr kumimoji="1" lang="zh-CN" altLang="en-US" sz="2400" dirty="0">
                <a:latin typeface="SimSun" panose="02010600030101010101" pitchFamily="2" charset="-122"/>
                <a:ea typeface="SimSun" panose="02010600030101010101" pitchFamily="2" charset="-122"/>
                <a:cs typeface="Consolas" pitchFamily="49" charset="0"/>
              </a:rPr>
              <a:t>表示将</a:t>
            </a:r>
            <a:r>
              <a:rPr kumimoji="1" lang="en-US" altLang="zh-CN" sz="2400" i="1" dirty="0">
                <a:latin typeface="SimSun" panose="02010600030101010101" pitchFamily="2" charset="-122"/>
                <a:ea typeface="SimSun" panose="02010600030101010101" pitchFamily="2" charset="-122"/>
                <a:cs typeface="Consolas" pitchFamily="49" charset="0"/>
              </a:rPr>
              <a:t>n</a:t>
            </a:r>
            <a:r>
              <a:rPr kumimoji="1" lang="zh-CN" altLang="en-US" sz="2400" dirty="0">
                <a:latin typeface="SimSun" panose="02010600030101010101" pitchFamily="2" charset="-122"/>
                <a:ea typeface="SimSun" panose="02010600030101010101" pitchFamily="2" charset="-122"/>
                <a:cs typeface="Consolas" pitchFamily="49" charset="0"/>
              </a:rPr>
              <a:t>个盘片从</a:t>
            </a:r>
            <a:r>
              <a:rPr kumimoji="1" lang="en-US" altLang="zh-CN" sz="2400" i="1" dirty="0">
                <a:latin typeface="SimSun" panose="02010600030101010101" pitchFamily="2" charset="-122"/>
                <a:ea typeface="SimSun" panose="02010600030101010101" pitchFamily="2" charset="-122"/>
                <a:cs typeface="Consolas" pitchFamily="49" charset="0"/>
              </a:rPr>
              <a:t>x</a:t>
            </a:r>
            <a:r>
              <a:rPr kumimoji="1" lang="zh-CN" altLang="en-US" sz="2400" dirty="0">
                <a:latin typeface="SimSun" panose="02010600030101010101" pitchFamily="2" charset="-122"/>
                <a:ea typeface="SimSun" panose="02010600030101010101" pitchFamily="2" charset="-122"/>
                <a:cs typeface="Consolas" pitchFamily="49" charset="0"/>
              </a:rPr>
              <a:t>通过</a:t>
            </a:r>
            <a:r>
              <a:rPr kumimoji="1" lang="en-US" altLang="zh-CN" sz="2400" i="1" dirty="0">
                <a:latin typeface="SimSun" panose="02010600030101010101" pitchFamily="2" charset="-122"/>
                <a:ea typeface="SimSun" panose="02010600030101010101" pitchFamily="2" charset="-122"/>
                <a:cs typeface="Consolas" pitchFamily="49" charset="0"/>
              </a:rPr>
              <a:t>y</a:t>
            </a:r>
            <a:r>
              <a:rPr kumimoji="1" lang="zh-CN" altLang="en-US" sz="2400" dirty="0">
                <a:latin typeface="SimSun" panose="02010600030101010101" pitchFamily="2" charset="-122"/>
                <a:ea typeface="SimSun" panose="02010600030101010101" pitchFamily="2" charset="-122"/>
                <a:cs typeface="Consolas" pitchFamily="49" charset="0"/>
              </a:rPr>
              <a:t>移动到</a:t>
            </a:r>
            <a:r>
              <a:rPr kumimoji="1" lang="en-US" altLang="zh-CN" sz="2400" i="1" dirty="0">
                <a:latin typeface="SimSun" panose="02010600030101010101" pitchFamily="2" charset="-122"/>
                <a:ea typeface="SimSun" panose="02010600030101010101" pitchFamily="2" charset="-122"/>
                <a:cs typeface="Consolas" pitchFamily="49" charset="0"/>
              </a:rPr>
              <a:t>z</a:t>
            </a:r>
            <a:r>
              <a:rPr kumimoji="1" lang="zh-CN" altLang="en-US" sz="2400" dirty="0">
                <a:latin typeface="SimSun" panose="02010600030101010101" pitchFamily="2" charset="-122"/>
                <a:ea typeface="SimSun" panose="02010600030101010101" pitchFamily="2" charset="-122"/>
                <a:cs typeface="Consolas" pitchFamily="49" charset="0"/>
              </a:rPr>
              <a:t>上，递归分解的过程是：</a:t>
            </a:r>
            <a:endParaRPr lang="zh-CN" altLang="en-US" sz="2400" dirty="0">
              <a:latin typeface="SimSun" panose="02010600030101010101" pitchFamily="2" charset="-122"/>
              <a:ea typeface="SimSun" panose="02010600030101010101" pitchFamily="2" charset="-122"/>
              <a:cs typeface="Consolas" pitchFamily="49" charset="0"/>
            </a:endParaRPr>
          </a:p>
        </p:txBody>
      </p:sp>
    </p:spTree>
    <p:extLst>
      <p:ext uri="{BB962C8B-B14F-4D97-AF65-F5344CB8AC3E}">
        <p14:creationId xmlns:p14="http://schemas.microsoft.com/office/powerpoint/2010/main" val="266294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1DC8309-DAF0-5F4B-8DF1-A103B204D883}"/>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5">
            <a:extLst>
              <a:ext uri="{FF2B5EF4-FFF2-40B4-BE49-F238E27FC236}">
                <a16:creationId xmlns:a16="http://schemas.microsoft.com/office/drawing/2014/main" id="{C2925F88-8495-F24D-9700-35A261583D51}"/>
              </a:ext>
            </a:extLst>
          </p:cNvPr>
          <p:cNvSpPr txBox="1">
            <a:spLocks noChangeArrowheads="1"/>
          </p:cNvSpPr>
          <p:nvPr/>
        </p:nvSpPr>
        <p:spPr bwMode="auto">
          <a:xfrm>
            <a:off x="635365" y="1388890"/>
            <a:ext cx="9588288" cy="3145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chemeClr val="tx2"/>
                </a:solidFill>
                <a:latin typeface="SimSun" panose="02010600030101010101" pitchFamily="2" charset="-122"/>
                <a:ea typeface="SimSun" panose="02010600030101010101" pitchFamily="2" charset="-122"/>
              </a:rPr>
              <a:t>问题分析：</a:t>
            </a:r>
          </a:p>
          <a:p>
            <a:pPr>
              <a:lnSpc>
                <a:spcPct val="150000"/>
              </a:lnSpc>
            </a:pPr>
            <a:r>
              <a:rPr lang="zh-CN" altLang="en-US" sz="2400" b="1" dirty="0">
                <a:latin typeface="SimSun" panose="02010600030101010101" pitchFamily="2" charset="-122"/>
                <a:ea typeface="SimSun" panose="02010600030101010101" pitchFamily="2" charset="-122"/>
              </a:rPr>
              <a:t>由于一次只能按规则移动一个盘子，用</a:t>
            </a:r>
            <a:r>
              <a:rPr lang="en-US" altLang="zh-CN" sz="2400" b="1" dirty="0">
                <a:latin typeface="SimSun" panose="02010600030101010101" pitchFamily="2" charset="-122"/>
                <a:ea typeface="SimSun" panose="02010600030101010101" pitchFamily="2" charset="-122"/>
              </a:rPr>
              <a:t>A</a:t>
            </a:r>
            <a:r>
              <a:rPr lang="zh-CN"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B</a:t>
            </a:r>
            <a:r>
              <a:rPr lang="zh-CN"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C</a:t>
            </a:r>
            <a:r>
              <a:rPr lang="zh-CN" altLang="en-US" sz="2400" b="1" dirty="0">
                <a:latin typeface="SimSun" panose="02010600030101010101" pitchFamily="2" charset="-122"/>
                <a:ea typeface="SimSun" panose="02010600030101010101" pitchFamily="2" charset="-122"/>
              </a:rPr>
              <a:t>来表示</a:t>
            </a:r>
            <a:r>
              <a:rPr lang="en-US" altLang="zh-CN" sz="2400" b="1" dirty="0">
                <a:latin typeface="SimSun" panose="02010600030101010101" pitchFamily="2" charset="-122"/>
                <a:ea typeface="SimSun" panose="02010600030101010101" pitchFamily="2" charset="-122"/>
              </a:rPr>
              <a:t>3</a:t>
            </a:r>
            <a:r>
              <a:rPr lang="zh-CN" altLang="en-US" sz="2400" b="1" dirty="0">
                <a:latin typeface="SimSun" panose="02010600030101010101" pitchFamily="2" charset="-122"/>
                <a:ea typeface="SimSun" panose="02010600030101010101" pitchFamily="2" charset="-122"/>
              </a:rPr>
              <a:t>个基座：</a:t>
            </a:r>
            <a:endParaRPr lang="en-US" altLang="zh-CN" sz="2400" b="1" dirty="0">
              <a:latin typeface="SimSun" panose="02010600030101010101" pitchFamily="2" charset="-122"/>
              <a:ea typeface="SimSun" panose="02010600030101010101" pitchFamily="2" charset="-122"/>
            </a:endParaRPr>
          </a:p>
          <a:p>
            <a:pPr>
              <a:lnSpc>
                <a:spcPct val="150000"/>
              </a:lnSpc>
            </a:pPr>
            <a:r>
              <a:rPr lang="zh-CN" altLang="en-US" sz="2400" b="1" dirty="0">
                <a:latin typeface="SimSun" panose="02010600030101010101" pitchFamily="2" charset="-122"/>
                <a:ea typeface="SimSun" panose="02010600030101010101" pitchFamily="2" charset="-122"/>
              </a:rPr>
              <a:t>输出如下格式即可：</a:t>
            </a:r>
          </a:p>
          <a:p>
            <a:pPr algn="just">
              <a:lnSpc>
                <a:spcPct val="150000"/>
              </a:lnSpc>
            </a:pPr>
            <a:r>
              <a:rPr lang="zh-CN" altLang="en-US" sz="2400" b="1"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A   to   B</a:t>
            </a:r>
          </a:p>
          <a:p>
            <a:pPr algn="just">
              <a:lnSpc>
                <a:spcPct val="150000"/>
              </a:lnSpc>
            </a:pPr>
            <a:r>
              <a:rPr lang="zh-CN" altLang="en-US" sz="2400" b="1"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a:t>
            </a:r>
          </a:p>
          <a:p>
            <a:pPr algn="just">
              <a:lnSpc>
                <a:spcPct val="150000"/>
              </a:lnSpc>
            </a:pPr>
            <a:r>
              <a:rPr lang="zh-CN" altLang="en-US" sz="2400" b="1"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C   to   B</a:t>
            </a:r>
            <a:endParaRPr lang="en-US" altLang="zh-CN" b="1" dirty="0">
              <a:solidFill>
                <a:srgbClr val="FF0000"/>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390793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58C7F88-C77F-6148-AD1B-BB8677EB53F8}"/>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Rectangle 2">
            <a:extLst>
              <a:ext uri="{FF2B5EF4-FFF2-40B4-BE49-F238E27FC236}">
                <a16:creationId xmlns:a16="http://schemas.microsoft.com/office/drawing/2014/main" id="{E70588C4-4257-7047-A669-B58B2696E93D}"/>
              </a:ext>
            </a:extLst>
          </p:cNvPr>
          <p:cNvSpPr>
            <a:spLocks noGrp="1" noChangeArrowheads="1"/>
          </p:cNvSpPr>
          <p:nvPr>
            <p:ph type="title"/>
          </p:nvPr>
        </p:nvSpPr>
        <p:spPr>
          <a:xfrm>
            <a:off x="635861" y="1299309"/>
            <a:ext cx="8229600" cy="480131"/>
          </a:xfrm>
        </p:spPr>
        <p:txBody>
          <a:bodyPr anchor="t">
            <a:spAutoFit/>
          </a:bodyPr>
          <a:lstStyle/>
          <a:p>
            <a:pPr algn="l" eaLnBrk="1" hangingPunct="1"/>
            <a:r>
              <a:rPr lang="zh-CN" altLang="en-US" sz="2800" dirty="0">
                <a:solidFill>
                  <a:schemeClr val="tx2"/>
                </a:solidFill>
                <a:latin typeface="SimSun" panose="02010600030101010101" pitchFamily="2" charset="-122"/>
                <a:ea typeface="SimSun" panose="02010600030101010101" pitchFamily="2" charset="-122"/>
              </a:rPr>
              <a:t>算法设计：</a:t>
            </a:r>
          </a:p>
        </p:txBody>
      </p:sp>
      <p:sp>
        <p:nvSpPr>
          <p:cNvPr id="5" name="Text Box 4">
            <a:extLst>
              <a:ext uri="{FF2B5EF4-FFF2-40B4-BE49-F238E27FC236}">
                <a16:creationId xmlns:a16="http://schemas.microsoft.com/office/drawing/2014/main" id="{7C3200C0-3135-D743-A7E8-80F0310800FA}"/>
              </a:ext>
            </a:extLst>
          </p:cNvPr>
          <p:cNvSpPr txBox="1">
            <a:spLocks noChangeArrowheads="1"/>
          </p:cNvSpPr>
          <p:nvPr/>
        </p:nvSpPr>
        <p:spPr bwMode="auto">
          <a:xfrm>
            <a:off x="635860" y="1879895"/>
            <a:ext cx="10105586" cy="412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约定盘子自上而下的编号为 </a:t>
            </a:r>
            <a:r>
              <a:rPr lang="en-US" altLang="zh-CN" b="1" dirty="0">
                <a:latin typeface="SimSun" panose="02010600030101010101" pitchFamily="2" charset="-122"/>
                <a:ea typeface="SimSun" panose="02010600030101010101" pitchFamily="2" charset="-122"/>
              </a:rPr>
              <a:t>1</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3</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n</a:t>
            </a:r>
            <a:r>
              <a:rPr lang="zh-CN" altLang="en-US" b="1" dirty="0">
                <a:latin typeface="SimSun" panose="02010600030101010101" pitchFamily="2" charset="-122"/>
                <a:ea typeface="SimSun" panose="02010600030101010101" pitchFamily="2" charset="-122"/>
              </a:rPr>
              <a:t>。</a:t>
            </a:r>
          </a:p>
          <a:p>
            <a:pPr algn="just">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首先看一下</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阶汉诺塔问题的解，移动过程：</a:t>
            </a:r>
          </a:p>
          <a:p>
            <a:pPr algn="just">
              <a:lnSpc>
                <a:spcPct val="150000"/>
              </a:lnSpc>
              <a:spcBef>
                <a:spcPct val="5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    	初始状态为：   </a:t>
            </a:r>
            <a:r>
              <a:rPr lang="en-US" altLang="zh-CN" b="1" dirty="0">
                <a:latin typeface="SimSun" panose="02010600030101010101" pitchFamily="2" charset="-122"/>
                <a:ea typeface="SimSun" panose="02010600030101010101" pitchFamily="2" charset="-122"/>
              </a:rPr>
              <a:t>A</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1,2</a:t>
            </a:r>
            <a:r>
              <a:rPr lang="zh-CN" altLang="en-US" b="1" dirty="0">
                <a:latin typeface="SimSun" panose="02010600030101010101" pitchFamily="2" charset="-122"/>
                <a:ea typeface="SimSun" panose="02010600030101010101" pitchFamily="2" charset="-122"/>
              </a:rPr>
              <a:t>） 	</a:t>
            </a:r>
            <a:r>
              <a:rPr lang="en-US" altLang="zh-CN" b="1" dirty="0">
                <a:latin typeface="SimSun" panose="02010600030101010101" pitchFamily="2" charset="-122"/>
                <a:ea typeface="SimSun" panose="02010600030101010101" pitchFamily="2" charset="-122"/>
              </a:rPr>
              <a:t>B</a:t>
            </a:r>
            <a:r>
              <a:rPr lang="zh-CN" altLang="en-US" b="1" dirty="0">
                <a:latin typeface="SimSun" panose="02010600030101010101" pitchFamily="2" charset="-122"/>
                <a:ea typeface="SimSun" panose="02010600030101010101" pitchFamily="2" charset="-122"/>
              </a:rPr>
              <a:t>（  ）	</a:t>
            </a:r>
            <a:r>
              <a:rPr lang="en-US" altLang="zh-CN" b="1" dirty="0">
                <a:latin typeface="SimSun" panose="02010600030101010101" pitchFamily="2" charset="-122"/>
                <a:ea typeface="SimSun" panose="02010600030101010101" pitchFamily="2" charset="-122"/>
              </a:rPr>
              <a:t>C</a:t>
            </a:r>
            <a:r>
              <a:rPr lang="zh-CN" altLang="en-US" b="1" dirty="0">
                <a:latin typeface="SimSun" panose="02010600030101010101" pitchFamily="2" charset="-122"/>
                <a:ea typeface="SimSun" panose="02010600030101010101" pitchFamily="2" charset="-122"/>
              </a:rPr>
              <a:t>（  ）</a:t>
            </a:r>
          </a:p>
          <a:p>
            <a:pPr algn="just">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     	第一步：       </a:t>
            </a:r>
            <a:r>
              <a:rPr lang="en-US" altLang="zh-CN" b="1" dirty="0">
                <a:latin typeface="SimSun" panose="02010600030101010101" pitchFamily="2" charset="-122"/>
                <a:ea typeface="SimSun" panose="02010600030101010101" pitchFamily="2" charset="-122"/>
              </a:rPr>
              <a:t>A</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    	</a:t>
            </a:r>
            <a:r>
              <a:rPr lang="en-US" altLang="zh-CN" b="1" dirty="0">
                <a:latin typeface="SimSun" panose="02010600030101010101" pitchFamily="2" charset="-122"/>
                <a:ea typeface="SimSun" panose="02010600030101010101" pitchFamily="2" charset="-122"/>
              </a:rPr>
              <a:t>B</a:t>
            </a:r>
            <a:r>
              <a:rPr lang="zh-CN" altLang="en-US" b="1" dirty="0">
                <a:latin typeface="SimSun" panose="02010600030101010101" pitchFamily="2" charset="-122"/>
                <a:ea typeface="SimSun" panose="02010600030101010101" pitchFamily="2" charset="-122"/>
              </a:rPr>
              <a:t>（  ）	</a:t>
            </a:r>
            <a:r>
              <a:rPr lang="en-US" altLang="zh-CN" b="1" dirty="0">
                <a:latin typeface="SimSun" panose="02010600030101010101" pitchFamily="2" charset="-122"/>
                <a:ea typeface="SimSun" panose="02010600030101010101" pitchFamily="2" charset="-122"/>
              </a:rPr>
              <a:t>C</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1</a:t>
            </a:r>
            <a:r>
              <a:rPr lang="zh-CN" altLang="en-US" b="1" dirty="0">
                <a:latin typeface="SimSun" panose="02010600030101010101" pitchFamily="2" charset="-122"/>
                <a:ea typeface="SimSun" panose="02010600030101010101" pitchFamily="2" charset="-122"/>
              </a:rPr>
              <a:t>）</a:t>
            </a:r>
          </a:p>
          <a:p>
            <a:pPr algn="just">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     	第二步：       </a:t>
            </a:r>
            <a:r>
              <a:rPr lang="en-US" altLang="zh-CN" b="1" dirty="0">
                <a:latin typeface="SimSun" panose="02010600030101010101" pitchFamily="2" charset="-122"/>
                <a:ea typeface="SimSun" panose="02010600030101010101" pitchFamily="2" charset="-122"/>
              </a:rPr>
              <a:t>A</a:t>
            </a:r>
            <a:r>
              <a:rPr lang="zh-CN" altLang="en-US" b="1" dirty="0">
                <a:latin typeface="SimSun" panose="02010600030101010101" pitchFamily="2" charset="-122"/>
                <a:ea typeface="SimSun" panose="02010600030101010101" pitchFamily="2" charset="-122"/>
              </a:rPr>
              <a:t>（  ）        </a:t>
            </a:r>
            <a:r>
              <a:rPr lang="en-US" altLang="zh-CN" b="1" dirty="0">
                <a:latin typeface="SimSun" panose="02010600030101010101" pitchFamily="2" charset="-122"/>
                <a:ea typeface="SimSun" panose="02010600030101010101" pitchFamily="2" charset="-122"/>
              </a:rPr>
              <a:t>B</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    	</a:t>
            </a:r>
            <a:r>
              <a:rPr lang="en-US" altLang="zh-CN" b="1" dirty="0">
                <a:latin typeface="SimSun" panose="02010600030101010101" pitchFamily="2" charset="-122"/>
                <a:ea typeface="SimSun" panose="02010600030101010101" pitchFamily="2" charset="-122"/>
              </a:rPr>
              <a:t>C</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1</a:t>
            </a:r>
            <a:r>
              <a:rPr lang="zh-CN" altLang="en-US" b="1" dirty="0">
                <a:latin typeface="SimSun" panose="02010600030101010101" pitchFamily="2" charset="-122"/>
                <a:ea typeface="SimSun" panose="02010600030101010101" pitchFamily="2" charset="-122"/>
              </a:rPr>
              <a:t>）</a:t>
            </a:r>
          </a:p>
          <a:p>
            <a:pPr algn="just">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     	第三步：       </a:t>
            </a:r>
            <a:r>
              <a:rPr lang="en-US" altLang="zh-CN" b="1" dirty="0">
                <a:latin typeface="SimSun" panose="02010600030101010101" pitchFamily="2" charset="-122"/>
                <a:ea typeface="SimSun" panose="02010600030101010101" pitchFamily="2" charset="-122"/>
              </a:rPr>
              <a:t>A</a:t>
            </a:r>
            <a:r>
              <a:rPr lang="zh-CN" altLang="en-US" b="1" dirty="0">
                <a:latin typeface="SimSun" panose="02010600030101010101" pitchFamily="2" charset="-122"/>
                <a:ea typeface="SimSun" panose="02010600030101010101" pitchFamily="2" charset="-122"/>
              </a:rPr>
              <a:t>（  ）        </a:t>
            </a:r>
            <a:r>
              <a:rPr lang="en-US" altLang="zh-CN" b="1" dirty="0">
                <a:latin typeface="SimSun" panose="02010600030101010101" pitchFamily="2" charset="-122"/>
                <a:ea typeface="SimSun" panose="02010600030101010101" pitchFamily="2" charset="-122"/>
              </a:rPr>
              <a:t>B</a:t>
            </a:r>
            <a:r>
              <a:rPr lang="zh-CN" altLang="en-US" b="1" dirty="0">
                <a:latin typeface="SimSun" panose="02010600030101010101" pitchFamily="2" charset="-122"/>
                <a:ea typeface="SimSun" panose="02010600030101010101" pitchFamily="2" charset="-122"/>
              </a:rPr>
              <a:t>（</a:t>
            </a:r>
            <a:r>
              <a:rPr lang="en-US" altLang="zh-CN" b="1" dirty="0">
                <a:latin typeface="SimSun" panose="02010600030101010101" pitchFamily="2" charset="-122"/>
                <a:ea typeface="SimSun" panose="02010600030101010101" pitchFamily="2" charset="-122"/>
              </a:rPr>
              <a:t>1,2</a:t>
            </a:r>
            <a:r>
              <a:rPr lang="zh-CN" altLang="en-US" b="1" dirty="0">
                <a:latin typeface="SimSun" panose="02010600030101010101" pitchFamily="2" charset="-122"/>
                <a:ea typeface="SimSun" panose="02010600030101010101" pitchFamily="2" charset="-122"/>
              </a:rPr>
              <a:t>）  	</a:t>
            </a:r>
            <a:r>
              <a:rPr lang="en-US" altLang="zh-CN" b="1" dirty="0">
                <a:latin typeface="SimSun" panose="02010600030101010101" pitchFamily="2" charset="-122"/>
                <a:ea typeface="SimSun" panose="02010600030101010101" pitchFamily="2" charset="-122"/>
              </a:rPr>
              <a:t>C</a:t>
            </a:r>
            <a:r>
              <a:rPr lang="zh-CN" altLang="en-US" b="1" dirty="0">
                <a:latin typeface="SimSun" panose="02010600030101010101" pitchFamily="2" charset="-122"/>
                <a:ea typeface="SimSun" panose="02010600030101010101" pitchFamily="2" charset="-122"/>
              </a:rPr>
              <a:t>（  ） </a:t>
            </a:r>
          </a:p>
        </p:txBody>
      </p:sp>
    </p:spTree>
    <p:extLst>
      <p:ext uri="{BB962C8B-B14F-4D97-AF65-F5344CB8AC3E}">
        <p14:creationId xmlns:p14="http://schemas.microsoft.com/office/powerpoint/2010/main" val="108818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CDDE383-4B7D-9B46-B029-22B3DD757CF0}"/>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Rectangle 2">
            <a:extLst>
              <a:ext uri="{FF2B5EF4-FFF2-40B4-BE49-F238E27FC236}">
                <a16:creationId xmlns:a16="http://schemas.microsoft.com/office/drawing/2014/main" id="{6DEE8195-4211-C64D-BD05-FEBE4AD00E81}"/>
              </a:ext>
            </a:extLst>
          </p:cNvPr>
          <p:cNvSpPr>
            <a:spLocks noGrp="1" noChangeArrowheads="1"/>
          </p:cNvSpPr>
          <p:nvPr>
            <p:ph type="title"/>
          </p:nvPr>
        </p:nvSpPr>
        <p:spPr>
          <a:xfrm>
            <a:off x="755650" y="1405703"/>
            <a:ext cx="2758731" cy="480131"/>
          </a:xfrm>
        </p:spPr>
        <p:txBody>
          <a:bodyPr wrap="square" anchor="t">
            <a:spAutoFit/>
          </a:bodyPr>
          <a:lstStyle/>
          <a:p>
            <a:pPr algn="l" eaLnBrk="1" hangingPunct="1"/>
            <a:r>
              <a:rPr lang="zh-CN" altLang="en-US" sz="2800" dirty="0">
                <a:solidFill>
                  <a:schemeClr val="tx1"/>
                </a:solidFill>
                <a:latin typeface="SimSun" panose="02010600030101010101" pitchFamily="2" charset="-122"/>
                <a:ea typeface="SimSun" panose="02010600030101010101" pitchFamily="2" charset="-122"/>
              </a:rPr>
              <a:t>算法设计：</a:t>
            </a:r>
          </a:p>
        </p:txBody>
      </p:sp>
      <p:sp>
        <p:nvSpPr>
          <p:cNvPr id="5" name="Text Box 4">
            <a:extLst>
              <a:ext uri="{FF2B5EF4-FFF2-40B4-BE49-F238E27FC236}">
                <a16:creationId xmlns:a16="http://schemas.microsoft.com/office/drawing/2014/main" id="{E57A8AD9-49CB-004F-85F7-CDE507686C4E}"/>
              </a:ext>
            </a:extLst>
          </p:cNvPr>
          <p:cNvSpPr txBox="1">
            <a:spLocks noChangeArrowheads="1"/>
          </p:cNvSpPr>
          <p:nvPr/>
        </p:nvSpPr>
        <p:spPr bwMode="auto">
          <a:xfrm>
            <a:off x="755650" y="2245335"/>
            <a:ext cx="835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SimSun" panose="02010600030101010101" pitchFamily="2" charset="-122"/>
                <a:ea typeface="SimSun" panose="02010600030101010101" pitchFamily="2" charset="-122"/>
              </a:rPr>
              <a:t>如何找出大规模问题与小规模问题的关系，实现递归呢？ </a:t>
            </a:r>
          </a:p>
        </p:txBody>
      </p:sp>
      <mc:AlternateContent xmlns:mc="http://schemas.openxmlformats.org/markup-compatibility/2006" xmlns:a14="http://schemas.microsoft.com/office/drawing/2010/main">
        <mc:Choice Requires="a14">
          <p:sp>
            <p:nvSpPr>
              <p:cNvPr id="6" name="Text Box 5">
                <a:extLst>
                  <a:ext uri="{FF2B5EF4-FFF2-40B4-BE49-F238E27FC236}">
                    <a16:creationId xmlns:a16="http://schemas.microsoft.com/office/drawing/2014/main" id="{CA7C62B5-7477-8547-BE04-DE0141132013}"/>
                  </a:ext>
                </a:extLst>
              </p:cNvPr>
              <p:cNvSpPr txBox="1">
                <a:spLocks noChangeArrowheads="1"/>
              </p:cNvSpPr>
              <p:nvPr/>
            </p:nvSpPr>
            <p:spPr bwMode="auto">
              <a:xfrm>
                <a:off x="755650" y="3116089"/>
                <a:ext cx="7848600" cy="19446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把</a:t>
                </a:r>
                <a:r>
                  <a:rPr lang="en-US" altLang="zh-CN" b="1" dirty="0">
                    <a:latin typeface="SimSun" panose="02010600030101010101" pitchFamily="2" charset="-122"/>
                    <a:ea typeface="SimSun" panose="02010600030101010101" pitchFamily="2" charset="-122"/>
                  </a:rPr>
                  <a:t>n</a:t>
                </a:r>
                <a:r>
                  <a:rPr lang="zh-CN" altLang="en-US" b="1" dirty="0">
                    <a:latin typeface="SimSun" panose="02010600030101010101" pitchFamily="2" charset="-122"/>
                    <a:ea typeface="SimSun" panose="02010600030101010101" pitchFamily="2" charset="-122"/>
                  </a:rPr>
                  <a:t>个盘子</a:t>
                </a:r>
                <a:r>
                  <a:rPr lang="zh-CN" altLang="en-US" b="1" dirty="0">
                    <a:solidFill>
                      <a:srgbClr val="FF0000"/>
                    </a:solidFill>
                    <a:latin typeface="SimSun" panose="02010600030101010101" pitchFamily="2" charset="-122"/>
                    <a:ea typeface="SimSun" panose="02010600030101010101" pitchFamily="2" charset="-122"/>
                  </a:rPr>
                  <a:t>抽象地看作“两个盘子”</a:t>
                </a:r>
              </a:p>
              <a:p>
                <a:pPr>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上面“一个”由</a:t>
                </a:r>
                <a:r>
                  <a:rPr lang="en-US" altLang="zh-CN" b="1" dirty="0">
                    <a:latin typeface="SimSun" panose="02010600030101010101" pitchFamily="2" charset="-122"/>
                    <a:ea typeface="SimSun" panose="02010600030101010101" pitchFamily="2" charset="-122"/>
                  </a:rPr>
                  <a:t>1</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en-US" altLang="zh-CN" b="1" dirty="0">
                    <a:latin typeface="SimSun" panose="02010600030101010101" pitchFamily="2" charset="-122"/>
                    <a:ea typeface="SimSun" panose="02010600030101010101" pitchFamily="2" charset="-122"/>
                  </a:rPr>
                  <a:t>(n-1)</a:t>
                </a:r>
                <a:r>
                  <a:rPr lang="zh-CN" altLang="en-US" b="1" dirty="0">
                    <a:latin typeface="SimSun" panose="02010600030101010101" pitchFamily="2" charset="-122"/>
                    <a:ea typeface="SimSun" panose="02010600030101010101" pitchFamily="2" charset="-122"/>
                  </a:rPr>
                  <a:t>号组成</a:t>
                </a:r>
              </a:p>
              <a:p>
                <a:pPr>
                  <a:lnSpc>
                    <a:spcPct val="150000"/>
                  </a:lnSpc>
                  <a:spcBef>
                    <a:spcPct val="20000"/>
                  </a:spcBef>
                  <a:buClr>
                    <a:schemeClr val="hlink"/>
                  </a:buClr>
                  <a:buFont typeface="Wingdings" pitchFamily="2" charset="2"/>
                  <a:buNone/>
                </a:pPr>
                <a:r>
                  <a:rPr lang="zh-CN" altLang="en-US" b="1" dirty="0">
                    <a:latin typeface="SimSun" panose="02010600030101010101" pitchFamily="2" charset="-122"/>
                    <a:ea typeface="SimSun" panose="02010600030101010101" pitchFamily="2" charset="-122"/>
                  </a:rPr>
                  <a:t>下面一个就是第</a:t>
                </a:r>
                <a:r>
                  <a:rPr lang="en-US" altLang="zh-CN" b="1" dirty="0">
                    <a:latin typeface="SimSun" panose="02010600030101010101" pitchFamily="2" charset="-122"/>
                    <a:ea typeface="SimSun" panose="02010600030101010101" pitchFamily="2" charset="-122"/>
                  </a:rPr>
                  <a:t>n</a:t>
                </a:r>
                <a:r>
                  <a:rPr lang="zh-CN" altLang="en-US" b="1" dirty="0">
                    <a:latin typeface="SimSun" panose="02010600030101010101" pitchFamily="2" charset="-122"/>
                    <a:ea typeface="SimSun" panose="02010600030101010101" pitchFamily="2" charset="-122"/>
                  </a:rPr>
                  <a:t>号盘子。</a:t>
                </a:r>
              </a:p>
            </p:txBody>
          </p:sp>
        </mc:Choice>
        <mc:Fallback xmlns="">
          <p:sp>
            <p:nvSpPr>
              <p:cNvPr id="6" name="Text Box 5">
                <a:extLst>
                  <a:ext uri="{FF2B5EF4-FFF2-40B4-BE49-F238E27FC236}">
                    <a16:creationId xmlns:a16="http://schemas.microsoft.com/office/drawing/2014/main" id="{CA7C62B5-7477-8547-BE04-DE0141132013}"/>
                  </a:ext>
                </a:extLst>
              </p:cNvPr>
              <p:cNvSpPr txBox="1">
                <a:spLocks noRot="1" noChangeAspect="1" noMove="1" noResize="1" noEditPoints="1" noAdjustHandles="1" noChangeArrowheads="1" noChangeShapeType="1" noTextEdit="1"/>
              </p:cNvSpPr>
              <p:nvPr/>
            </p:nvSpPr>
            <p:spPr bwMode="auto">
              <a:xfrm>
                <a:off x="755650" y="3116089"/>
                <a:ext cx="7848600" cy="1944688"/>
              </a:xfrm>
              <a:prstGeom prst="rect">
                <a:avLst/>
              </a:prstGeom>
              <a:blipFill>
                <a:blip r:embed="rId2"/>
                <a:stretch>
                  <a:fillRect l="-129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14037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CDDE383-4B7D-9B46-B029-22B3DD757CF0}"/>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7" name="Text Box 4">
            <a:extLst>
              <a:ext uri="{FF2B5EF4-FFF2-40B4-BE49-F238E27FC236}">
                <a16:creationId xmlns:a16="http://schemas.microsoft.com/office/drawing/2014/main" id="{CFFCEA79-10BB-B14F-8BFA-622FB6BC7B73}"/>
              </a:ext>
            </a:extLst>
          </p:cNvPr>
          <p:cNvSpPr txBox="1"/>
          <p:nvPr/>
        </p:nvSpPr>
        <p:spPr>
          <a:xfrm>
            <a:off x="673539" y="1347119"/>
            <a:ext cx="10034855" cy="3389198"/>
          </a:xfrm>
          <a:prstGeom prst="rect">
            <a:avLst/>
          </a:prstGeom>
          <a:noFill/>
          <a:ln w="9525">
            <a:noFill/>
          </a:ln>
        </p:spPr>
        <p:txBody>
          <a:bodyPr wrap="square">
            <a:spAutoFit/>
          </a:bodyPr>
          <a:lstStyle/>
          <a:p>
            <a:pPr>
              <a:lnSpc>
                <a:spcPct val="150000"/>
              </a:lnSpc>
              <a:spcBef>
                <a:spcPct val="10000"/>
              </a:spcBef>
            </a:pPr>
            <a:r>
              <a:rPr lang="zh-CN" altLang="en-US" sz="2400" b="1" noProof="1">
                <a:latin typeface="SimSun" panose="02010600030101010101" pitchFamily="2" charset="-122"/>
                <a:ea typeface="SimSun" panose="02010600030101010101" pitchFamily="2" charset="-122"/>
              </a:rPr>
              <a:t>把</a:t>
            </a:r>
            <a:r>
              <a:rPr lang="en-US" altLang="zh-CN" sz="2400" b="1" noProof="1">
                <a:latin typeface="SimSun" panose="02010600030101010101" pitchFamily="2" charset="-122"/>
                <a:ea typeface="SimSun" panose="02010600030101010101" pitchFamily="2" charset="-122"/>
              </a:rPr>
              <a:t>n</a:t>
            </a:r>
            <a:r>
              <a:rPr lang="zh-CN" altLang="en-US" sz="2400" b="1" noProof="1">
                <a:latin typeface="SimSun" panose="02010600030101010101" pitchFamily="2" charset="-122"/>
                <a:ea typeface="SimSun" panose="02010600030101010101" pitchFamily="2" charset="-122"/>
              </a:rPr>
              <a:t>阶的汉诺塔问题记作</a:t>
            </a:r>
            <a:r>
              <a:rPr lang="en-US" altLang="zh-CN" sz="2400" b="1" noProof="1">
                <a:latin typeface="SimSun" panose="02010600030101010101" pitchFamily="2" charset="-122"/>
                <a:ea typeface="SimSun" panose="02010600030101010101" pitchFamily="2" charset="-122"/>
              </a:rPr>
              <a:t>hanoi(n,a,b,c)</a:t>
            </a:r>
          </a:p>
          <a:p>
            <a:pPr>
              <a:lnSpc>
                <a:spcPct val="150000"/>
              </a:lnSpc>
              <a:spcBef>
                <a:spcPct val="30000"/>
              </a:spcBef>
            </a:pPr>
            <a:r>
              <a:rPr lang="en-US" altLang="zh-CN" sz="2400" b="1" noProof="1">
                <a:latin typeface="SimSun" panose="02010600030101010101" pitchFamily="2" charset="-122"/>
                <a:ea typeface="SimSun" panose="02010600030101010101" pitchFamily="2" charset="-122"/>
              </a:rPr>
              <a:t>   	</a:t>
            </a:r>
            <a:r>
              <a:rPr lang="zh-CN" altLang="en-US" sz="2800" b="1" noProof="1">
                <a:latin typeface="SimSun" panose="02010600030101010101" pitchFamily="2" charset="-122"/>
                <a:ea typeface="SimSun" panose="02010600030101010101" pitchFamily="2" charset="-122"/>
              </a:rPr>
              <a:t>参数</a:t>
            </a:r>
            <a:r>
              <a:rPr lang="en-US" altLang="zh-CN" sz="2800" b="1" noProof="1">
                <a:latin typeface="SimSun" panose="02010600030101010101" pitchFamily="2" charset="-122"/>
                <a:ea typeface="SimSun" panose="02010600030101010101" pitchFamily="2" charset="-122"/>
              </a:rPr>
              <a:t>a  </a:t>
            </a:r>
            <a:r>
              <a:rPr lang="zh-CN" altLang="en-US" sz="2800" b="1" noProof="1">
                <a:latin typeface="SimSun" panose="02010600030101010101" pitchFamily="2" charset="-122"/>
                <a:ea typeface="SimSun" panose="02010600030101010101" pitchFamily="2" charset="-122"/>
              </a:rPr>
              <a:t>代表</a:t>
            </a:r>
            <a:r>
              <a:rPr lang="zh-CN" altLang="en-US" sz="2800" b="1" noProof="1">
                <a:gradFill>
                  <a:gsLst>
                    <a:gs pos="0">
                      <a:srgbClr val="14CD68"/>
                    </a:gs>
                    <a:gs pos="100000">
                      <a:srgbClr val="0B6E38"/>
                    </a:gs>
                  </a:gsLst>
                  <a:lin scaled="0"/>
                </a:gradFill>
                <a:latin typeface="SimSun" panose="02010600030101010101" pitchFamily="2" charset="-122"/>
                <a:ea typeface="SimSun" panose="02010600030101010101" pitchFamily="2" charset="-122"/>
              </a:rPr>
              <a:t>每一次</a:t>
            </a:r>
            <a:r>
              <a:rPr lang="zh-CN" altLang="en-US" sz="2800" b="1" noProof="1">
                <a:latin typeface="SimSun" panose="02010600030101010101" pitchFamily="2" charset="-122"/>
                <a:ea typeface="SimSun" panose="02010600030101010101" pitchFamily="2" charset="-122"/>
              </a:rPr>
              <a:t>移动的</a:t>
            </a:r>
            <a:r>
              <a:rPr lang="zh-CN" altLang="en-US" sz="2800" b="1" noProof="1">
                <a:gradFill>
                  <a:gsLst>
                    <a:gs pos="0">
                      <a:srgbClr val="14CD68"/>
                    </a:gs>
                    <a:gs pos="100000">
                      <a:srgbClr val="0B6E38"/>
                    </a:gs>
                  </a:gsLst>
                  <a:lin scaled="0"/>
                </a:gradFill>
                <a:latin typeface="SimSun" panose="02010600030101010101" pitchFamily="2" charset="-122"/>
                <a:ea typeface="SimSun" panose="02010600030101010101" pitchFamily="2" charset="-122"/>
              </a:rPr>
              <a:t>起始</a:t>
            </a:r>
            <a:r>
              <a:rPr lang="zh-CN" altLang="en-US" sz="2800" b="1" noProof="1">
                <a:latin typeface="SimSun" panose="02010600030101010101" pitchFamily="2" charset="-122"/>
                <a:ea typeface="SimSun" panose="02010600030101010101" pitchFamily="2" charset="-122"/>
              </a:rPr>
              <a:t>基座 </a:t>
            </a:r>
            <a:r>
              <a:rPr lang="en-US" altLang="zh-CN" sz="2800" b="1" noProof="1">
                <a:latin typeface="SimSun" panose="02010600030101010101" pitchFamily="2" charset="-122"/>
                <a:ea typeface="SimSun" panose="02010600030101010101" pitchFamily="2" charset="-122"/>
              </a:rPr>
              <a:t>,</a:t>
            </a:r>
            <a:r>
              <a:rPr lang="zh-CN" altLang="en-US" sz="2800" b="1" noProof="1">
                <a:latin typeface="SimSun" panose="02010600030101010101" pitchFamily="2" charset="-122"/>
                <a:ea typeface="SimSun" panose="02010600030101010101" pitchFamily="2" charset="-122"/>
              </a:rPr>
              <a:t>初值为“</a:t>
            </a:r>
            <a:r>
              <a:rPr lang="en-US" altLang="zh-CN" sz="2800" b="1" noProof="1">
                <a:latin typeface="SimSun" panose="02010600030101010101" pitchFamily="2" charset="-122"/>
                <a:ea typeface="SimSun" panose="02010600030101010101" pitchFamily="2" charset="-122"/>
              </a:rPr>
              <a:t>A”</a:t>
            </a:r>
          </a:p>
          <a:p>
            <a:pPr>
              <a:lnSpc>
                <a:spcPct val="150000"/>
              </a:lnSpc>
              <a:spcBef>
                <a:spcPct val="10000"/>
              </a:spcBef>
            </a:pPr>
            <a:r>
              <a:rPr lang="en-US" altLang="zh-CN" sz="2800" b="1" noProof="1">
                <a:latin typeface="SimSun" panose="02010600030101010101" pitchFamily="2" charset="-122"/>
                <a:ea typeface="SimSun" panose="02010600030101010101" pitchFamily="2" charset="-122"/>
              </a:rPr>
              <a:t>   	</a:t>
            </a:r>
            <a:r>
              <a:rPr lang="zh-CN" altLang="en-US" sz="2800" b="1" noProof="1">
                <a:latin typeface="SimSun" panose="02010600030101010101" pitchFamily="2" charset="-122"/>
                <a:ea typeface="SimSun" panose="02010600030101010101" pitchFamily="2" charset="-122"/>
              </a:rPr>
              <a:t>参数</a:t>
            </a:r>
            <a:r>
              <a:rPr lang="en-US" altLang="zh-CN" sz="2800" b="1" noProof="1">
                <a:latin typeface="SimSun" panose="02010600030101010101" pitchFamily="2" charset="-122"/>
                <a:ea typeface="SimSun" panose="02010600030101010101" pitchFamily="2" charset="-122"/>
              </a:rPr>
              <a:t>b	</a:t>
            </a:r>
            <a:r>
              <a:rPr lang="zh-CN" altLang="en-US" sz="2800" b="1" noProof="1">
                <a:latin typeface="SimSun" panose="02010600030101010101" pitchFamily="2" charset="-122"/>
                <a:ea typeface="SimSun" panose="02010600030101010101" pitchFamily="2" charset="-122"/>
              </a:rPr>
              <a:t>  代表</a:t>
            </a:r>
            <a:r>
              <a:rPr lang="zh-CN" altLang="en-US" sz="2800" b="1" noProof="1">
                <a:gradFill>
                  <a:gsLst>
                    <a:gs pos="0">
                      <a:srgbClr val="14CD68"/>
                    </a:gs>
                    <a:gs pos="100000">
                      <a:srgbClr val="0B6E38"/>
                    </a:gs>
                  </a:gsLst>
                  <a:lin scaled="0"/>
                </a:gradFill>
                <a:latin typeface="SimSun" panose="02010600030101010101" pitchFamily="2" charset="-122"/>
                <a:ea typeface="SimSun" panose="02010600030101010101" pitchFamily="2" charset="-122"/>
              </a:rPr>
              <a:t>每一次</a:t>
            </a:r>
            <a:r>
              <a:rPr lang="zh-CN" altLang="en-US" sz="2800" b="1" noProof="1">
                <a:latin typeface="SimSun" panose="02010600030101010101" pitchFamily="2" charset="-122"/>
                <a:ea typeface="SimSun" panose="02010600030101010101" pitchFamily="2" charset="-122"/>
              </a:rPr>
              <a:t>移动的</a:t>
            </a:r>
            <a:r>
              <a:rPr lang="zh-CN" altLang="en-US" sz="2800" b="1" noProof="1">
                <a:gradFill>
                  <a:gsLst>
                    <a:gs pos="0">
                      <a:srgbClr val="14CD68"/>
                    </a:gs>
                    <a:gs pos="100000">
                      <a:srgbClr val="0B6E38"/>
                    </a:gs>
                  </a:gsLst>
                  <a:lin scaled="0"/>
                </a:gradFill>
                <a:latin typeface="SimSun" panose="02010600030101010101" pitchFamily="2" charset="-122"/>
                <a:ea typeface="SimSun" panose="02010600030101010101" pitchFamily="2" charset="-122"/>
              </a:rPr>
              <a:t>终点</a:t>
            </a:r>
            <a:r>
              <a:rPr lang="zh-CN" altLang="en-US" sz="2800" b="1" noProof="1">
                <a:latin typeface="SimSun" panose="02010600030101010101" pitchFamily="2" charset="-122"/>
                <a:ea typeface="SimSun" panose="02010600030101010101" pitchFamily="2" charset="-122"/>
              </a:rPr>
              <a:t>基座 </a:t>
            </a:r>
            <a:r>
              <a:rPr lang="en-US" altLang="zh-CN" sz="2800" b="1" noProof="1">
                <a:latin typeface="SimSun" panose="02010600030101010101" pitchFamily="2" charset="-122"/>
                <a:ea typeface="SimSun" panose="02010600030101010101" pitchFamily="2" charset="-122"/>
              </a:rPr>
              <a:t>,</a:t>
            </a:r>
            <a:r>
              <a:rPr lang="zh-CN" altLang="en-US" sz="2800" b="1" noProof="1">
                <a:latin typeface="SimSun" panose="02010600030101010101" pitchFamily="2" charset="-122"/>
                <a:ea typeface="SimSun" panose="02010600030101010101" pitchFamily="2" charset="-122"/>
              </a:rPr>
              <a:t>初值为“</a:t>
            </a:r>
            <a:r>
              <a:rPr lang="en-US" altLang="zh-CN" sz="2800" b="1" noProof="1">
                <a:latin typeface="SimSun" panose="02010600030101010101" pitchFamily="2" charset="-122"/>
                <a:ea typeface="SimSun" panose="02010600030101010101" pitchFamily="2" charset="-122"/>
              </a:rPr>
              <a:t>B”</a:t>
            </a:r>
          </a:p>
          <a:p>
            <a:pPr>
              <a:lnSpc>
                <a:spcPct val="150000"/>
              </a:lnSpc>
              <a:spcBef>
                <a:spcPct val="10000"/>
              </a:spcBef>
            </a:pPr>
            <a:r>
              <a:rPr lang="en-US" altLang="zh-CN" sz="2800" b="1" noProof="1">
                <a:latin typeface="SimSun" panose="02010600030101010101" pitchFamily="2" charset="-122"/>
                <a:ea typeface="SimSun" panose="02010600030101010101" pitchFamily="2" charset="-122"/>
              </a:rPr>
              <a:t>   	</a:t>
            </a:r>
            <a:r>
              <a:rPr lang="zh-CN" altLang="en-US" sz="2800" b="1" noProof="1">
                <a:latin typeface="SimSun" panose="02010600030101010101" pitchFamily="2" charset="-122"/>
                <a:ea typeface="SimSun" panose="02010600030101010101" pitchFamily="2" charset="-122"/>
              </a:rPr>
              <a:t>参数</a:t>
            </a:r>
            <a:r>
              <a:rPr lang="en-US" altLang="zh-CN" sz="2800" b="1" noProof="1">
                <a:latin typeface="SimSun" panose="02010600030101010101" pitchFamily="2" charset="-122"/>
                <a:ea typeface="SimSun" panose="02010600030101010101" pitchFamily="2" charset="-122"/>
              </a:rPr>
              <a:t>c </a:t>
            </a:r>
            <a:r>
              <a:rPr lang="zh-CN" altLang="en-US" sz="2800" b="1" noProof="1">
                <a:latin typeface="SimSun" panose="02010600030101010101" pitchFamily="2" charset="-122"/>
                <a:ea typeface="SimSun" panose="02010600030101010101" pitchFamily="2" charset="-122"/>
              </a:rPr>
              <a:t> 代表</a:t>
            </a:r>
            <a:r>
              <a:rPr lang="zh-CN" altLang="en-US" sz="2800" b="1" noProof="1">
                <a:gradFill>
                  <a:gsLst>
                    <a:gs pos="0">
                      <a:srgbClr val="14CD68"/>
                    </a:gs>
                    <a:gs pos="100000">
                      <a:srgbClr val="0B6E38"/>
                    </a:gs>
                  </a:gsLst>
                  <a:lin scaled="0"/>
                </a:gradFill>
                <a:latin typeface="SimSun" panose="02010600030101010101" pitchFamily="2" charset="-122"/>
                <a:ea typeface="SimSun" panose="02010600030101010101" pitchFamily="2" charset="-122"/>
              </a:rPr>
              <a:t>每一次</a:t>
            </a:r>
            <a:r>
              <a:rPr lang="zh-CN" altLang="en-US" sz="2800" b="1" noProof="1">
                <a:latin typeface="SimSun" panose="02010600030101010101" pitchFamily="2" charset="-122"/>
                <a:ea typeface="SimSun" panose="02010600030101010101" pitchFamily="2" charset="-122"/>
              </a:rPr>
              <a:t>移动的</a:t>
            </a:r>
            <a:r>
              <a:rPr lang="zh-CN" altLang="en-US" sz="2800" b="1" noProof="1">
                <a:gradFill>
                  <a:gsLst>
                    <a:gs pos="0">
                      <a:srgbClr val="14CD68"/>
                    </a:gs>
                    <a:gs pos="100000">
                      <a:srgbClr val="0B6E38"/>
                    </a:gs>
                  </a:gsLst>
                  <a:lin scaled="0"/>
                </a:gradFill>
                <a:latin typeface="SimSun" panose="02010600030101010101" pitchFamily="2" charset="-122"/>
                <a:ea typeface="SimSun" panose="02010600030101010101" pitchFamily="2" charset="-122"/>
              </a:rPr>
              <a:t>辅助</a:t>
            </a:r>
            <a:r>
              <a:rPr lang="zh-CN" altLang="en-US" sz="2800" b="1" noProof="1">
                <a:latin typeface="SimSun" panose="02010600030101010101" pitchFamily="2" charset="-122"/>
                <a:ea typeface="SimSun" panose="02010600030101010101" pitchFamily="2" charset="-122"/>
              </a:rPr>
              <a:t>基座 </a:t>
            </a:r>
            <a:r>
              <a:rPr lang="en-US" altLang="zh-CN" sz="2800" b="1" noProof="1">
                <a:latin typeface="SimSun" panose="02010600030101010101" pitchFamily="2" charset="-122"/>
                <a:ea typeface="SimSun" panose="02010600030101010101" pitchFamily="2" charset="-122"/>
              </a:rPr>
              <a:t>,</a:t>
            </a:r>
            <a:r>
              <a:rPr lang="zh-CN" altLang="en-US" sz="2800" b="1" noProof="1">
                <a:latin typeface="SimSun" panose="02010600030101010101" pitchFamily="2" charset="-122"/>
                <a:ea typeface="SimSun" panose="02010600030101010101" pitchFamily="2" charset="-122"/>
              </a:rPr>
              <a:t>初值为“</a:t>
            </a:r>
            <a:r>
              <a:rPr lang="en-US" altLang="zh-CN" sz="2800" b="1" noProof="1">
                <a:latin typeface="SimSun" panose="02010600030101010101" pitchFamily="2" charset="-122"/>
                <a:ea typeface="SimSun" panose="02010600030101010101" pitchFamily="2" charset="-122"/>
              </a:rPr>
              <a:t>C”</a:t>
            </a:r>
          </a:p>
          <a:p>
            <a:pPr>
              <a:lnSpc>
                <a:spcPct val="150000"/>
              </a:lnSpc>
              <a:spcBef>
                <a:spcPct val="10000"/>
              </a:spcBef>
            </a:pPr>
            <a:r>
              <a:rPr lang="zh-CN" altLang="en-US" sz="2800" b="1" noProof="1">
                <a:latin typeface="SimSun" panose="02010600030101010101" pitchFamily="2" charset="-122"/>
                <a:ea typeface="SimSun" panose="02010600030101010101" pitchFamily="2" charset="-122"/>
              </a:rPr>
              <a:t>重点：寻找其与（</a:t>
            </a:r>
            <a:r>
              <a:rPr lang="en-US" altLang="zh-CN" sz="2800" b="1" noProof="1">
                <a:latin typeface="SimSun" panose="02010600030101010101" pitchFamily="2" charset="-122"/>
                <a:ea typeface="SimSun" panose="02010600030101010101" pitchFamily="2" charset="-122"/>
              </a:rPr>
              <a:t>n-1</a:t>
            </a:r>
            <a:r>
              <a:rPr lang="zh-CN" altLang="en-US" sz="2800" b="1" noProof="1">
                <a:latin typeface="SimSun" panose="02010600030101010101" pitchFamily="2" charset="-122"/>
                <a:ea typeface="SimSun" panose="02010600030101010101" pitchFamily="2" charset="-122"/>
              </a:rPr>
              <a:t>） </a:t>
            </a:r>
            <a:r>
              <a:rPr lang="zh-CN" altLang="en-US" sz="2400" b="1" noProof="1">
                <a:latin typeface="SimSun" panose="02010600030101010101" pitchFamily="2" charset="-122"/>
                <a:ea typeface="SimSun" panose="02010600030101010101" pitchFamily="2" charset="-122"/>
              </a:rPr>
              <a:t>阶汉诺塔问题的关系</a:t>
            </a:r>
            <a:endParaRPr lang="zh-CN" altLang="en-US" sz="2800" b="1" noProof="1">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90597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 calcmode="lin" valueType="num">
                                      <p:cBhvr additive="base">
                                        <p:cTn id="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8AF0650-15EE-3B49-A582-D9CAEAACB9A1}"/>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4">
            <a:extLst>
              <a:ext uri="{FF2B5EF4-FFF2-40B4-BE49-F238E27FC236}">
                <a16:creationId xmlns:a16="http://schemas.microsoft.com/office/drawing/2014/main" id="{51EF0127-A5A7-9B46-B56E-7CAA9995F019}"/>
              </a:ext>
            </a:extLst>
          </p:cNvPr>
          <p:cNvSpPr txBox="1">
            <a:spLocks noChangeArrowheads="1"/>
          </p:cNvSpPr>
          <p:nvPr/>
        </p:nvSpPr>
        <p:spPr bwMode="auto">
          <a:xfrm>
            <a:off x="684212" y="1292225"/>
            <a:ext cx="10134351" cy="304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10000"/>
              </a:spcBef>
            </a:pPr>
            <a:r>
              <a:rPr lang="en-US" altLang="zh-CN" sz="2400" b="1" dirty="0">
                <a:latin typeface="SimSun" panose="02010600030101010101" pitchFamily="2" charset="-122"/>
                <a:ea typeface="SimSun" panose="02010600030101010101" pitchFamily="2" charset="-122"/>
              </a:rPr>
              <a:t>n</a:t>
            </a:r>
            <a:r>
              <a:rPr lang="zh-CN" altLang="en-US" sz="2400" b="1" dirty="0">
                <a:latin typeface="SimSun" panose="02010600030101010101" pitchFamily="2" charset="-122"/>
                <a:ea typeface="SimSun" panose="02010600030101010101" pitchFamily="2" charset="-122"/>
              </a:rPr>
              <a:t>个盘子的汉诺塔问题 </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a:t>
            </a:r>
            <a:r>
              <a:rPr lang="en-US" altLang="zh-CN" sz="2400" b="1" dirty="0" err="1">
                <a:latin typeface="SimSun" panose="02010600030101010101" pitchFamily="2" charset="-122"/>
                <a:ea typeface="SimSun" panose="02010600030101010101" pitchFamily="2" charset="-122"/>
              </a:rPr>
              <a:t>n,a,b,c</a:t>
            </a:r>
            <a:r>
              <a:rPr lang="en-US" altLang="zh-CN" sz="2400" b="1" dirty="0">
                <a:latin typeface="SimSun" panose="02010600030101010101" pitchFamily="2" charset="-122"/>
                <a:ea typeface="SimSun" panose="02010600030101010101" pitchFamily="2" charset="-122"/>
              </a:rPr>
              <a:t>) </a:t>
            </a:r>
            <a:r>
              <a:rPr lang="zh-CN" altLang="en-US" sz="2400" b="1" dirty="0">
                <a:latin typeface="SimSun" panose="02010600030101010101" pitchFamily="2" charset="-122"/>
                <a:ea typeface="SimSun" panose="02010600030101010101" pitchFamily="2" charset="-122"/>
              </a:rPr>
              <a:t>等价于以下三步：</a:t>
            </a:r>
          </a:p>
          <a:p>
            <a:pPr>
              <a:lnSpc>
                <a:spcPct val="130000"/>
              </a:lnSpc>
              <a:spcBef>
                <a:spcPct val="60000"/>
              </a:spcBef>
            </a:pPr>
            <a:r>
              <a:rPr lang="zh-CN" altLang="en-US" sz="2800" b="1" dirty="0">
                <a:latin typeface="SimSun" panose="02010600030101010101" pitchFamily="2" charset="-122"/>
                <a:ea typeface="SimSun" panose="02010600030101010101" pitchFamily="2" charset="-122"/>
              </a:rPr>
              <a:t>  	第一步：</a:t>
            </a:r>
            <a:r>
              <a:rPr lang="en-US" altLang="zh-CN" sz="2800" b="1" dirty="0" err="1">
                <a:latin typeface="SimSun" panose="02010600030101010101" pitchFamily="2" charset="-122"/>
                <a:ea typeface="SimSun" panose="02010600030101010101" pitchFamily="2" charset="-122"/>
              </a:rPr>
              <a:t>hanoi</a:t>
            </a:r>
            <a:r>
              <a:rPr lang="en-US" altLang="zh-CN" sz="2800" b="1" dirty="0">
                <a:latin typeface="SimSun" panose="02010600030101010101" pitchFamily="2" charset="-122"/>
                <a:ea typeface="SimSun" panose="02010600030101010101" pitchFamily="2" charset="-122"/>
              </a:rPr>
              <a:t>(n-1,a,c,b)  </a:t>
            </a:r>
          </a:p>
          <a:p>
            <a:pPr>
              <a:lnSpc>
                <a:spcPct val="130000"/>
              </a:lnSpc>
              <a:spcBef>
                <a:spcPct val="10000"/>
              </a:spcBef>
            </a:pPr>
            <a:r>
              <a:rPr lang="en-US" altLang="zh-CN" sz="2800" b="1" dirty="0">
                <a:latin typeface="SimSun" panose="02010600030101010101" pitchFamily="2" charset="-122"/>
                <a:ea typeface="SimSun" panose="02010600030101010101" pitchFamily="2" charset="-122"/>
              </a:rPr>
              <a:t>  	</a:t>
            </a:r>
            <a:r>
              <a:rPr lang="zh-CN" altLang="en-US" sz="2800" b="1" dirty="0">
                <a:latin typeface="SimSun" panose="02010600030101010101" pitchFamily="2" charset="-122"/>
                <a:ea typeface="SimSun" panose="02010600030101010101" pitchFamily="2" charset="-122"/>
              </a:rPr>
              <a:t>第二步：把下面一个盘子从</a:t>
            </a:r>
            <a:r>
              <a:rPr lang="en-US" altLang="zh-CN" sz="2800" b="1" dirty="0">
                <a:latin typeface="SimSun" panose="02010600030101010101" pitchFamily="2" charset="-122"/>
                <a:ea typeface="SimSun" panose="02010600030101010101" pitchFamily="2" charset="-122"/>
              </a:rPr>
              <a:t>a</a:t>
            </a:r>
            <a:r>
              <a:rPr lang="zh-CN" altLang="en-US" sz="2800" b="1" dirty="0">
                <a:latin typeface="SimSun" panose="02010600030101010101" pitchFamily="2" charset="-122"/>
                <a:ea typeface="SimSun" panose="02010600030101010101" pitchFamily="2" charset="-122"/>
              </a:rPr>
              <a:t>基座移到</a:t>
            </a:r>
            <a:r>
              <a:rPr lang="en-US" altLang="zh-CN" sz="2800" b="1" dirty="0">
                <a:latin typeface="SimSun" panose="02010600030101010101" pitchFamily="2" charset="-122"/>
                <a:ea typeface="SimSun" panose="02010600030101010101" pitchFamily="2" charset="-122"/>
              </a:rPr>
              <a:t>b</a:t>
            </a:r>
            <a:r>
              <a:rPr lang="zh-CN" altLang="en-US" sz="2800" b="1" dirty="0">
                <a:latin typeface="SimSun" panose="02010600030101010101" pitchFamily="2" charset="-122"/>
                <a:ea typeface="SimSun" panose="02010600030101010101" pitchFamily="2" charset="-122"/>
              </a:rPr>
              <a:t>基座  </a:t>
            </a:r>
          </a:p>
          <a:p>
            <a:pPr>
              <a:lnSpc>
                <a:spcPct val="130000"/>
              </a:lnSpc>
              <a:spcBef>
                <a:spcPct val="10000"/>
              </a:spcBef>
            </a:pPr>
            <a:r>
              <a:rPr lang="zh-CN" altLang="en-US" sz="2800" b="1" dirty="0">
                <a:latin typeface="SimSun" panose="02010600030101010101" pitchFamily="2" charset="-122"/>
                <a:ea typeface="SimSun" panose="02010600030101010101" pitchFamily="2" charset="-122"/>
              </a:rPr>
              <a:t>  	第三步：</a:t>
            </a:r>
            <a:r>
              <a:rPr lang="en-US" altLang="zh-CN" sz="2800" b="1" dirty="0" err="1">
                <a:latin typeface="SimSun" panose="02010600030101010101" pitchFamily="2" charset="-122"/>
                <a:ea typeface="SimSun" panose="02010600030101010101" pitchFamily="2" charset="-122"/>
              </a:rPr>
              <a:t>hanoi</a:t>
            </a:r>
            <a:r>
              <a:rPr lang="en-US" altLang="zh-CN" sz="2800" b="1" dirty="0">
                <a:latin typeface="SimSun" panose="02010600030101010101" pitchFamily="2" charset="-122"/>
                <a:ea typeface="SimSun" panose="02010600030101010101" pitchFamily="2" charset="-122"/>
              </a:rPr>
              <a:t>(n-1,c,b,a)</a:t>
            </a:r>
            <a:r>
              <a:rPr lang="en-US" altLang="zh-CN" sz="2400" b="1" dirty="0">
                <a:latin typeface="SimSun" panose="02010600030101010101" pitchFamily="2" charset="-122"/>
                <a:ea typeface="SimSun" panose="02010600030101010101" pitchFamily="2" charset="-122"/>
              </a:rPr>
              <a:t>  </a:t>
            </a:r>
          </a:p>
          <a:p>
            <a:pPr>
              <a:spcBef>
                <a:spcPct val="50000"/>
              </a:spcBef>
            </a:pPr>
            <a:r>
              <a:rPr lang="zh-CN" altLang="en-US" sz="2400" b="1" dirty="0">
                <a:solidFill>
                  <a:srgbClr val="FF0000"/>
                </a:solidFill>
                <a:latin typeface="SimSun" panose="02010600030101010101" pitchFamily="2" charset="-122"/>
                <a:ea typeface="SimSun" panose="02010600030101010101" pitchFamily="2" charset="-122"/>
              </a:rPr>
              <a:t>至此找出了大规模问题与小规模问题的关系。</a:t>
            </a:r>
            <a:r>
              <a:rPr lang="zh-CN" altLang="en-US" sz="2400" dirty="0">
                <a:solidFill>
                  <a:srgbClr val="FF0000"/>
                </a:solidFill>
                <a:latin typeface="SimSun" panose="02010600030101010101" pitchFamily="2" charset="-122"/>
                <a:ea typeface="SimSun" panose="02010600030101010101" pitchFamily="2" charset="-122"/>
              </a:rPr>
              <a:t> </a:t>
            </a:r>
          </a:p>
        </p:txBody>
      </p:sp>
    </p:spTree>
    <p:extLst>
      <p:ext uri="{BB962C8B-B14F-4D97-AF65-F5344CB8AC3E}">
        <p14:creationId xmlns:p14="http://schemas.microsoft.com/office/powerpoint/2010/main" val="2527663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68C83D-7F19-3A49-96D5-F060BFD6AC82}"/>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4">
            <a:extLst>
              <a:ext uri="{FF2B5EF4-FFF2-40B4-BE49-F238E27FC236}">
                <a16:creationId xmlns:a16="http://schemas.microsoft.com/office/drawing/2014/main" id="{608B167D-2F8F-224B-BE45-671245F56B1F}"/>
              </a:ext>
            </a:extLst>
          </p:cNvPr>
          <p:cNvSpPr txBox="1">
            <a:spLocks noChangeArrowheads="1"/>
          </p:cNvSpPr>
          <p:nvPr/>
        </p:nvSpPr>
        <p:spPr bwMode="auto">
          <a:xfrm>
            <a:off x="684212" y="1287463"/>
            <a:ext cx="10266553" cy="3783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ct val="10000"/>
              </a:spcBef>
            </a:pPr>
            <a:r>
              <a:rPr lang="zh-CN" altLang="en-US" sz="2400" b="1" dirty="0">
                <a:latin typeface="SimSun" panose="02010600030101010101" pitchFamily="2" charset="-122"/>
                <a:ea typeface="SimSun" panose="02010600030101010101" pitchFamily="2" charset="-122"/>
              </a:rPr>
              <a:t>在函数或过程</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a:t>
            </a:r>
            <a:r>
              <a:rPr lang="en-US" altLang="zh-CN" sz="2400" b="1" dirty="0" err="1">
                <a:latin typeface="SimSun" panose="02010600030101010101" pitchFamily="2" charset="-122"/>
                <a:ea typeface="SimSun" panose="02010600030101010101" pitchFamily="2" charset="-122"/>
              </a:rPr>
              <a:t>n,a,b,c</a:t>
            </a:r>
            <a:r>
              <a:rPr lang="en-US" altLang="zh-CN" sz="2400" b="1" dirty="0">
                <a:latin typeface="SimSun" panose="02010600030101010101" pitchFamily="2" charset="-122"/>
                <a:ea typeface="SimSun" panose="02010600030101010101" pitchFamily="2" charset="-122"/>
              </a:rPr>
              <a:t>)</a:t>
            </a:r>
            <a:r>
              <a:rPr lang="zh-CN" altLang="en-US" sz="2400" b="1" dirty="0">
                <a:latin typeface="SimSun" panose="02010600030101010101" pitchFamily="2" charset="-122"/>
                <a:ea typeface="SimSun" panose="02010600030101010101" pitchFamily="2" charset="-122"/>
              </a:rPr>
              <a:t>调用时，赋形参：</a:t>
            </a:r>
          </a:p>
          <a:p>
            <a:pPr>
              <a:lnSpc>
                <a:spcPct val="150000"/>
              </a:lnSpc>
              <a:spcBef>
                <a:spcPct val="35000"/>
              </a:spcBef>
            </a:pPr>
            <a:r>
              <a:rPr lang="zh-CN" altLang="en-US" sz="2400" b="1"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a</a:t>
            </a:r>
            <a:r>
              <a:rPr lang="zh-CN"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b</a:t>
            </a:r>
            <a:r>
              <a:rPr lang="zh-CN"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c</a:t>
            </a:r>
            <a:r>
              <a:rPr lang="zh-CN" altLang="en-US" sz="2400" b="1" dirty="0">
                <a:latin typeface="SimSun" panose="02010600030101010101" pitchFamily="2" charset="-122"/>
                <a:ea typeface="SimSun" panose="02010600030101010101" pitchFamily="2" charset="-122"/>
              </a:rPr>
              <a:t>的初值为：</a:t>
            </a:r>
            <a:r>
              <a:rPr lang="zh-CN" altLang="zh-CN"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A"</a:t>
            </a:r>
            <a:r>
              <a:rPr lang="zh-CN" altLang="en-US" sz="2400" b="1" dirty="0">
                <a:latin typeface="SimSun" panose="02010600030101010101" pitchFamily="2" charset="-122"/>
                <a:ea typeface="SimSun" panose="02010600030101010101" pitchFamily="2" charset="-122"/>
              </a:rPr>
              <a:t>、</a:t>
            </a:r>
            <a:r>
              <a:rPr lang="zh-CN" altLang="zh-CN"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B"</a:t>
            </a:r>
            <a:r>
              <a:rPr lang="zh-CN" altLang="en-US" sz="2400" b="1" dirty="0">
                <a:latin typeface="SimSun" panose="02010600030101010101" pitchFamily="2" charset="-122"/>
                <a:ea typeface="SimSun" panose="02010600030101010101" pitchFamily="2" charset="-122"/>
              </a:rPr>
              <a:t>、</a:t>
            </a:r>
            <a:r>
              <a:rPr lang="zh-CN" altLang="zh-CN"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C"</a:t>
            </a:r>
          </a:p>
          <a:p>
            <a:pPr>
              <a:lnSpc>
                <a:spcPct val="150000"/>
              </a:lnSpc>
              <a:spcBef>
                <a:spcPts val="792"/>
              </a:spcBef>
            </a:pPr>
            <a:r>
              <a:rPr lang="zh-CN" altLang="en-US" sz="2400" b="1" dirty="0">
                <a:latin typeface="SimSun" panose="02010600030101010101" pitchFamily="2" charset="-122"/>
                <a:ea typeface="SimSun" panose="02010600030101010101" pitchFamily="2" charset="-122"/>
              </a:rPr>
              <a:t>则汉诺塔问题</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(n,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A</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r>
              <a:rPr lang="en-US" altLang="en-US" sz="2400" b="1" dirty="0">
                <a:latin typeface="SimSun" panose="02010600030101010101" pitchFamily="2" charset="-122"/>
                <a:ea typeface="SimSun" panose="02010600030101010101" pitchFamily="2" charset="-122"/>
              </a:rPr>
              <a:t>"</a:t>
            </a:r>
            <a:r>
              <a:rPr lang="en-US" altLang="en-US" sz="2400"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B</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C</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a:t>
            </a:r>
            <a:r>
              <a:rPr lang="zh-CN" altLang="en-US" sz="2400" b="1" dirty="0">
                <a:latin typeface="SimSun" panose="02010600030101010101" pitchFamily="2" charset="-122"/>
                <a:ea typeface="SimSun" panose="02010600030101010101" pitchFamily="2" charset="-122"/>
              </a:rPr>
              <a:t>的</a:t>
            </a:r>
            <a:r>
              <a:rPr lang="en-US" altLang="zh-CN" sz="2400" b="1" dirty="0">
                <a:latin typeface="SimSun" panose="02010600030101010101" pitchFamily="2" charset="-122"/>
                <a:ea typeface="SimSun" panose="02010600030101010101" pitchFamily="2" charset="-122"/>
              </a:rPr>
              <a:t>3</a:t>
            </a:r>
            <a:r>
              <a:rPr lang="zh-CN" altLang="en-US" sz="2400" b="1" dirty="0">
                <a:latin typeface="SimSun" panose="02010600030101010101" pitchFamily="2" charset="-122"/>
                <a:ea typeface="SimSun" panose="02010600030101010101" pitchFamily="2" charset="-122"/>
              </a:rPr>
              <a:t>步操作等价于 ：</a:t>
            </a:r>
          </a:p>
          <a:p>
            <a:pPr>
              <a:lnSpc>
                <a:spcPct val="150000"/>
              </a:lnSpc>
              <a:spcBef>
                <a:spcPct val="40000"/>
              </a:spcBef>
            </a:pPr>
            <a:r>
              <a:rPr lang="zh-CN" altLang="en-US" sz="2400" b="1" dirty="0">
                <a:latin typeface="SimSun" panose="02010600030101010101" pitchFamily="2" charset="-122"/>
                <a:ea typeface="SimSun" panose="02010600030101010101" pitchFamily="2" charset="-122"/>
              </a:rPr>
              <a:t>       </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(n-1,a,c,b)</a:t>
            </a:r>
            <a:r>
              <a:rPr lang="en-US" altLang="zh-CN" sz="2400" dirty="0">
                <a:latin typeface="SimSun" panose="02010600030101010101" pitchFamily="2" charset="-122"/>
                <a:ea typeface="SimSun" panose="02010600030101010101" pitchFamily="2" charset="-122"/>
              </a:rPr>
              <a:t>          </a:t>
            </a:r>
            <a:r>
              <a:rPr lang="zh-CN" altLang="en-US" sz="2400" dirty="0">
                <a:latin typeface="SimSun" panose="02010600030101010101" pitchFamily="2" charset="-122"/>
                <a:ea typeface="SimSun" panose="02010600030101010101" pitchFamily="2" charset="-122"/>
              </a:rPr>
              <a:t> </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(n-1,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A</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C</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B</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a:t>
            </a:r>
            <a:r>
              <a:rPr lang="zh-CN" altLang="en-US" sz="2400" b="1" dirty="0">
                <a:latin typeface="SimSun" panose="02010600030101010101" pitchFamily="2" charset="-122"/>
                <a:ea typeface="SimSun" panose="02010600030101010101" pitchFamily="2" charset="-122"/>
              </a:rPr>
              <a:t>把下面一个盘子从</a:t>
            </a:r>
            <a:r>
              <a:rPr lang="en-US" altLang="zh-CN" sz="2400" b="1" dirty="0">
                <a:latin typeface="SimSun" panose="02010600030101010101" pitchFamily="2" charset="-122"/>
                <a:ea typeface="SimSun" panose="02010600030101010101" pitchFamily="2" charset="-122"/>
              </a:rPr>
              <a:t>a -&gt; b    </a:t>
            </a:r>
            <a:r>
              <a:rPr lang="zh-CN" altLang="en-US" sz="2400" b="1"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A-&gt;B</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(n-1,c,b,a)           </a:t>
            </a:r>
            <a:r>
              <a:rPr lang="en-US" altLang="zh-CN" sz="2400" b="1" dirty="0" err="1">
                <a:latin typeface="SimSun" panose="02010600030101010101" pitchFamily="2" charset="-122"/>
                <a:ea typeface="SimSun" panose="02010600030101010101" pitchFamily="2" charset="-122"/>
              </a:rPr>
              <a:t>hanoi</a:t>
            </a:r>
            <a:r>
              <a:rPr lang="en-US" altLang="zh-CN" sz="2400" b="1" dirty="0">
                <a:latin typeface="SimSun" panose="02010600030101010101" pitchFamily="2" charset="-122"/>
                <a:ea typeface="SimSun" panose="02010600030101010101" pitchFamily="2" charset="-122"/>
              </a:rPr>
              <a:t>(n-1,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C</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B</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 </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A</a:t>
            </a:r>
            <a:r>
              <a:rPr lang="en-US" altLang="en-US" sz="2400" b="1" dirty="0">
                <a:latin typeface="SimSun" panose="02010600030101010101" pitchFamily="2" charset="-122"/>
                <a:ea typeface="SimSun" panose="02010600030101010101" pitchFamily="2" charset="-122"/>
              </a:rPr>
              <a:t>"</a:t>
            </a:r>
            <a:r>
              <a:rPr lang="en-US" altLang="zh-CN" sz="2400" b="1"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 </a:t>
            </a:r>
            <a:endParaRPr lang="en-US" altLang="zh-CN" sz="2400" b="1"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67350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 calcmode="lin" valueType="num">
                                      <p:cBhvr additive="base">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a:extLst>
              <a:ext uri="{FF2B5EF4-FFF2-40B4-BE49-F238E27FC236}">
                <a16:creationId xmlns:a16="http://schemas.microsoft.com/office/drawing/2014/main" id="{CF8E4544-CF80-B244-A39A-C240EC40065C}"/>
              </a:ext>
            </a:extLst>
          </p:cNvPr>
          <p:cNvSpPr txBox="1">
            <a:spLocks noChangeArrowheads="1"/>
          </p:cNvSpPr>
          <p:nvPr/>
        </p:nvSpPr>
        <p:spPr bwMode="auto">
          <a:xfrm>
            <a:off x="633222" y="1272315"/>
            <a:ext cx="2735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solidFill>
                  <a:schemeClr val="tx2"/>
                </a:solidFill>
                <a:latin typeface="SimSun" panose="02010600030101010101" pitchFamily="2" charset="-122"/>
                <a:ea typeface="SimSun" panose="02010600030101010101" pitchFamily="2" charset="-122"/>
              </a:rPr>
              <a:t>算法实现：</a:t>
            </a:r>
          </a:p>
        </p:txBody>
      </p:sp>
      <p:sp>
        <p:nvSpPr>
          <p:cNvPr id="4" name="Rectangle 9">
            <a:extLst>
              <a:ext uri="{FF2B5EF4-FFF2-40B4-BE49-F238E27FC236}">
                <a16:creationId xmlns:a16="http://schemas.microsoft.com/office/drawing/2014/main" id="{DFB97B90-4D5A-694D-870C-9A4ACC993BBD}"/>
              </a:ext>
            </a:extLst>
          </p:cNvPr>
          <p:cNvSpPr>
            <a:spLocks noChangeArrowheads="1"/>
          </p:cNvSpPr>
          <p:nvPr/>
        </p:nvSpPr>
        <p:spPr bwMode="auto">
          <a:xfrm>
            <a:off x="2000853" y="1954318"/>
            <a:ext cx="7775575" cy="4073585"/>
          </a:xfrm>
          <a:prstGeom prst="rect">
            <a:avLst/>
          </a:prstGeom>
          <a:noFill/>
          <a:ln w="12700">
            <a:noFill/>
            <a:miter lim="800000"/>
            <a:headEnd/>
            <a:tailEnd/>
          </a:ln>
        </p:spPr>
        <p:txBody>
          <a:bodyPr wrap="none" anchor="ctr"/>
          <a:lstStyle/>
          <a:p>
            <a:pPr>
              <a:lnSpc>
                <a:spcPct val="90000"/>
              </a:lnSpc>
            </a:pPr>
            <a:r>
              <a:rPr lang="en-US" altLang="zh-CN" sz="2400" b="1" dirty="0">
                <a:latin typeface="Times New Roman" panose="02020603050405020304" pitchFamily="18" charset="0"/>
                <a:cs typeface="Times New Roman" panose="02020603050405020304" pitchFamily="18" charset="0"/>
              </a:rPr>
              <a:t>Main()</a:t>
            </a:r>
          </a:p>
          <a:p>
            <a:pPr>
              <a:lnSpc>
                <a:spcPct val="90000"/>
              </a:lnSpc>
            </a:pP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int n;</a:t>
            </a:r>
          </a:p>
          <a:p>
            <a:pPr>
              <a:lnSpc>
                <a:spcPct val="90000"/>
              </a:lnSpc>
            </a:pPr>
            <a:r>
              <a:rPr lang="en-US" altLang="zh-CN" sz="2400" b="1" dirty="0">
                <a:latin typeface="Times New Roman" panose="02020603050405020304" pitchFamily="18" charset="0"/>
                <a:cs typeface="Times New Roman" panose="02020603050405020304" pitchFamily="18" charset="0"/>
              </a:rPr>
              <a:t>      Input(n);</a:t>
            </a:r>
          </a:p>
          <a:p>
            <a:pPr>
              <a:lnSpc>
                <a:spcPct val="90000"/>
              </a:lnSpc>
            </a:pPr>
            <a:r>
              <a:rPr lang="en-US" altLang="zh-CN" sz="2400" b="1" dirty="0">
                <a:latin typeface="Times New Roman" panose="02020603050405020304" pitchFamily="18" charset="0"/>
                <a:cs typeface="Times New Roman" panose="02020603050405020304" pitchFamily="18" charset="0"/>
              </a:rPr>
              <a:t>      Hanoi(n, </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C</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p>
          <a:p>
            <a:pPr>
              <a:lnSpc>
                <a:spcPct val="90000"/>
              </a:lnSpc>
            </a:pPr>
            <a:r>
              <a:rPr lang="en-US" altLang="zh-CN" sz="2400" b="1" dirty="0">
                <a:latin typeface="Times New Roman" panose="02020603050405020304" pitchFamily="18" charset="0"/>
                <a:cs typeface="Times New Roman" panose="02020603050405020304" pitchFamily="18" charset="0"/>
              </a:rPr>
              <a:t>}</a:t>
            </a:r>
          </a:p>
          <a:p>
            <a:pPr>
              <a:lnSpc>
                <a:spcPct val="90000"/>
              </a:lnSpc>
            </a:pPr>
            <a:endParaRPr lang="en-US" altLang="zh-CN" sz="2400" b="1" dirty="0">
              <a:latin typeface="Times New Roman" panose="02020603050405020304" pitchFamily="18" charset="0"/>
              <a:cs typeface="Times New Roman" panose="02020603050405020304" pitchFamily="18" charset="0"/>
            </a:endParaRPr>
          </a:p>
          <a:p>
            <a:pPr>
              <a:lnSpc>
                <a:spcPct val="90000"/>
              </a:lnSpc>
            </a:pPr>
            <a:r>
              <a:rPr lang="en-US" altLang="zh-CN" sz="2400" b="1" dirty="0" err="1">
                <a:latin typeface="Times New Roman" panose="02020603050405020304" pitchFamily="18" charset="0"/>
                <a:cs typeface="Times New Roman" panose="02020603050405020304" pitchFamily="18" charset="0"/>
              </a:rPr>
              <a:t>hanoi</a:t>
            </a:r>
            <a:r>
              <a:rPr lang="en-US" altLang="zh-CN" sz="2400" b="1" dirty="0">
                <a:latin typeface="Times New Roman" panose="02020603050405020304" pitchFamily="18" charset="0"/>
                <a:cs typeface="Times New Roman" panose="02020603050405020304" pitchFamily="18" charset="0"/>
              </a:rPr>
              <a:t> ( int </a:t>
            </a:r>
            <a:r>
              <a:rPr lang="en-US" altLang="zh-CN" sz="2400" b="1" dirty="0" err="1">
                <a:latin typeface="Times New Roman" panose="02020603050405020304" pitchFamily="18" charset="0"/>
                <a:cs typeface="Times New Roman" panose="02020603050405020304" pitchFamily="18" charset="0"/>
              </a:rPr>
              <a:t>n,char</a:t>
            </a: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a,char</a:t>
            </a: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b,char</a:t>
            </a:r>
            <a:r>
              <a:rPr lang="en-US" altLang="zh-CN" sz="2400" b="1" dirty="0">
                <a:latin typeface="Times New Roman" panose="02020603050405020304" pitchFamily="18" charset="0"/>
                <a:cs typeface="Times New Roman" panose="02020603050405020304" pitchFamily="18" charset="0"/>
              </a:rPr>
              <a:t> c)  </a:t>
            </a:r>
          </a:p>
          <a:p>
            <a:pPr>
              <a:lnSpc>
                <a:spcPct val="90000"/>
              </a:lnSpc>
            </a:pP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if(n&gt;0)                  </a:t>
            </a:r>
            <a:r>
              <a:rPr lang="en-US" altLang="zh-CN" sz="2400" b="1" dirty="0">
                <a:solidFill>
                  <a:srgbClr val="02BE64"/>
                </a:solidFill>
                <a:latin typeface="Times New Roman" panose="02020603050405020304" pitchFamily="18" charset="0"/>
                <a:cs typeface="Times New Roman" panose="02020603050405020304" pitchFamily="18" charset="0"/>
              </a:rPr>
              <a:t> </a:t>
            </a:r>
            <a:endParaRPr lang="en-US" altLang="zh-CN" sz="2400" dirty="0">
              <a:solidFill>
                <a:srgbClr val="02BE64"/>
              </a:solidFill>
              <a:latin typeface="Times New Roman" panose="02020603050405020304" pitchFamily="18" charset="0"/>
              <a:cs typeface="Times New Roman" panose="02020603050405020304" pitchFamily="18" charset="0"/>
            </a:endParaRPr>
          </a:p>
          <a:p>
            <a:pPr>
              <a:lnSpc>
                <a:spcPct val="90000"/>
              </a:lnSpc>
            </a:pPr>
            <a:r>
              <a:rPr lang="en-US" altLang="zh-CN" sz="2400" b="1" dirty="0">
                <a:latin typeface="Times New Roman" panose="02020603050405020304" pitchFamily="18" charset="0"/>
                <a:cs typeface="Times New Roman" panose="02020603050405020304" pitchFamily="18" charset="0"/>
              </a:rPr>
              <a:t>     {  </a:t>
            </a:r>
            <a:r>
              <a:rPr lang="en-US" altLang="zh-CN" sz="2400" b="1" dirty="0" err="1">
                <a:latin typeface="Times New Roman" panose="02020603050405020304" pitchFamily="18" charset="0"/>
                <a:cs typeface="Times New Roman" panose="02020603050405020304" pitchFamily="18" charset="0"/>
              </a:rPr>
              <a:t>hanoi</a:t>
            </a:r>
            <a:r>
              <a:rPr lang="en-US" altLang="zh-CN" sz="2400" b="1" dirty="0">
                <a:latin typeface="Times New Roman" panose="02020603050405020304" pitchFamily="18" charset="0"/>
                <a:cs typeface="Times New Roman" panose="02020603050405020304" pitchFamily="18" charset="0"/>
              </a:rPr>
              <a:t>(n-1,a,c,b);</a:t>
            </a:r>
            <a:endParaRPr lang="en-US" altLang="zh-CN" sz="2400" dirty="0">
              <a:latin typeface="Times New Roman" panose="02020603050405020304" pitchFamily="18" charset="0"/>
              <a:cs typeface="Times New Roman" panose="02020603050405020304" pitchFamily="18" charset="0"/>
            </a:endParaRPr>
          </a:p>
          <a:p>
            <a:pPr>
              <a:lnSpc>
                <a:spcPct val="90000"/>
              </a:lnSpc>
            </a:pP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输出 </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Move dish</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n</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from pile</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to</a:t>
            </a:r>
            <a:r>
              <a:rPr lang="en-US"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b);</a:t>
            </a:r>
            <a:endParaRPr lang="en-US" altLang="zh-CN" sz="2400" dirty="0">
              <a:latin typeface="Times New Roman" panose="02020603050405020304" pitchFamily="18" charset="0"/>
              <a:cs typeface="Times New Roman" panose="02020603050405020304" pitchFamily="18" charset="0"/>
            </a:endParaRPr>
          </a:p>
          <a:p>
            <a:pPr>
              <a:lnSpc>
                <a:spcPct val="90000"/>
              </a:lnSpc>
            </a:pPr>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hanoi</a:t>
            </a:r>
            <a:r>
              <a:rPr lang="en-US" altLang="zh-CN" sz="2400" b="1" dirty="0">
                <a:latin typeface="Times New Roman" panose="02020603050405020304" pitchFamily="18" charset="0"/>
                <a:cs typeface="Times New Roman" panose="02020603050405020304" pitchFamily="18" charset="0"/>
              </a:rPr>
              <a:t>(n-1,c,b,a);   }</a:t>
            </a:r>
            <a:endParaRPr lang="en-US" altLang="zh-CN" sz="2400" dirty="0">
              <a:latin typeface="Times New Roman" panose="02020603050405020304" pitchFamily="18" charset="0"/>
              <a:cs typeface="Times New Roman" panose="02020603050405020304" pitchFamily="18" charset="0"/>
            </a:endParaRPr>
          </a:p>
          <a:p>
            <a:pPr>
              <a:lnSpc>
                <a:spcPct val="90000"/>
              </a:lnSpc>
            </a:pPr>
            <a:r>
              <a:rPr lang="en-US" altLang="zh-CN" sz="24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5166DC77-17B6-0D47-8B6E-39EEE626B12D}"/>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Tree>
    <p:extLst>
      <p:ext uri="{BB962C8B-B14F-4D97-AF65-F5344CB8AC3E}">
        <p14:creationId xmlns:p14="http://schemas.microsoft.com/office/powerpoint/2010/main" val="1207709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77554EB-24E2-8D4A-B80A-2B15FDB102EA}"/>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5">
            <a:extLst>
              <a:ext uri="{FF2B5EF4-FFF2-40B4-BE49-F238E27FC236}">
                <a16:creationId xmlns:a16="http://schemas.microsoft.com/office/drawing/2014/main" id="{C56CA722-801E-054D-B968-2AB387693DE7}"/>
              </a:ext>
            </a:extLst>
          </p:cNvPr>
          <p:cNvSpPr txBox="1">
            <a:spLocks noChangeArrowheads="1"/>
          </p:cNvSpPr>
          <p:nvPr/>
        </p:nvSpPr>
        <p:spPr bwMode="auto">
          <a:xfrm>
            <a:off x="655255" y="1288668"/>
            <a:ext cx="5113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solidFill>
                  <a:schemeClr val="tx2"/>
                </a:solidFill>
                <a:latin typeface="SimSun" panose="02010600030101010101" pitchFamily="2" charset="-122"/>
                <a:ea typeface="SimSun" panose="02010600030101010101" pitchFamily="2" charset="-122"/>
              </a:rPr>
              <a:t>递归调用与回溯的执行过程：</a:t>
            </a:r>
          </a:p>
        </p:txBody>
      </p:sp>
      <p:sp>
        <p:nvSpPr>
          <p:cNvPr id="5" name="Text Box 7">
            <a:extLst>
              <a:ext uri="{FF2B5EF4-FFF2-40B4-BE49-F238E27FC236}">
                <a16:creationId xmlns:a16="http://schemas.microsoft.com/office/drawing/2014/main" id="{34B75555-2D2D-764F-B8B1-9020DC38F833}"/>
              </a:ext>
            </a:extLst>
          </p:cNvPr>
          <p:cNvSpPr txBox="1">
            <a:spLocks noChangeArrowheads="1"/>
          </p:cNvSpPr>
          <p:nvPr/>
        </p:nvSpPr>
        <p:spPr bwMode="auto">
          <a:xfrm>
            <a:off x="3369689" y="2091856"/>
            <a:ext cx="3168650" cy="4105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ct val="10000"/>
              </a:spcBef>
            </a:pPr>
            <a:r>
              <a:rPr lang="zh-CN" altLang="en-US" sz="2400" b="1" dirty="0">
                <a:latin typeface="SimSun" panose="02010600030101010101" pitchFamily="2" charset="-122"/>
                <a:ea typeface="SimSun" panose="02010600030101010101" pitchFamily="2" charset="-122"/>
              </a:rPr>
              <a:t>	</a:t>
            </a:r>
            <a:r>
              <a:rPr lang="en-US" altLang="zh-CN" sz="2400" b="1" dirty="0">
                <a:latin typeface="SimSun" panose="02010600030101010101" pitchFamily="2" charset="-122"/>
                <a:ea typeface="SimSun" panose="02010600030101010101" pitchFamily="2" charset="-122"/>
              </a:rPr>
              <a:t>1    	A-&gt;B</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2	A-&gt;C</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3 	B-&gt;C</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4 	A-&gt;B</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5 	C-&gt;A</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6 	C-&gt;B</a:t>
            </a:r>
          </a:p>
          <a:p>
            <a:pPr>
              <a:lnSpc>
                <a:spcPct val="150000"/>
              </a:lnSpc>
              <a:spcBef>
                <a:spcPct val="10000"/>
              </a:spcBef>
            </a:pPr>
            <a:r>
              <a:rPr lang="en-US" altLang="zh-CN" sz="2400" b="1" dirty="0">
                <a:latin typeface="SimSun" panose="02010600030101010101" pitchFamily="2" charset="-122"/>
                <a:ea typeface="SimSun" panose="02010600030101010101" pitchFamily="2" charset="-122"/>
              </a:rPr>
              <a:t>	7 	A-&gt;B</a:t>
            </a:r>
          </a:p>
        </p:txBody>
      </p:sp>
      <p:sp>
        <p:nvSpPr>
          <p:cNvPr id="7" name="文本框 6">
            <a:extLst>
              <a:ext uri="{FF2B5EF4-FFF2-40B4-BE49-F238E27FC236}">
                <a16:creationId xmlns:a16="http://schemas.microsoft.com/office/drawing/2014/main" id="{0152EF3D-E948-8B48-BC54-181ED5A8ECB8}"/>
              </a:ext>
            </a:extLst>
          </p:cNvPr>
          <p:cNvSpPr txBox="1"/>
          <p:nvPr/>
        </p:nvSpPr>
        <p:spPr>
          <a:xfrm>
            <a:off x="655255" y="2023921"/>
            <a:ext cx="3321585" cy="559769"/>
          </a:xfrm>
          <a:prstGeom prst="rect">
            <a:avLst/>
          </a:prstGeom>
          <a:noFill/>
        </p:spPr>
        <p:txBody>
          <a:bodyPr wrap="square">
            <a:spAutoFit/>
          </a:bodyPr>
          <a:lstStyle/>
          <a:p>
            <a:pPr>
              <a:lnSpc>
                <a:spcPct val="150000"/>
              </a:lnSpc>
              <a:spcBef>
                <a:spcPct val="10000"/>
              </a:spcBef>
            </a:pPr>
            <a:r>
              <a:rPr lang="zh-CN" altLang="en-US" sz="2400" b="1" dirty="0">
                <a:latin typeface="SimSun" panose="02010600030101010101" pitchFamily="2" charset="-122"/>
                <a:ea typeface="SimSun" panose="02010600030101010101" pitchFamily="2" charset="-122"/>
              </a:rPr>
              <a:t>设</a:t>
            </a:r>
            <a:r>
              <a:rPr lang="en-US" altLang="zh-CN" sz="2400" b="1" dirty="0">
                <a:latin typeface="SimSun" panose="02010600030101010101" pitchFamily="2" charset="-122"/>
                <a:ea typeface="SimSun" panose="02010600030101010101" pitchFamily="2" charset="-122"/>
              </a:rPr>
              <a:t>n=3</a:t>
            </a:r>
            <a:r>
              <a:rPr lang="zh-CN" altLang="en-US" sz="2400" b="1" dirty="0">
                <a:latin typeface="SimSun" panose="02010600030101010101" pitchFamily="2" charset="-122"/>
                <a:ea typeface="SimSun" panose="02010600030101010101" pitchFamily="2" charset="-122"/>
              </a:rPr>
              <a:t> 则移动过程为：</a:t>
            </a:r>
          </a:p>
        </p:txBody>
      </p:sp>
    </p:spTree>
    <p:extLst>
      <p:ext uri="{BB962C8B-B14F-4D97-AF65-F5344CB8AC3E}">
        <p14:creationId xmlns:p14="http://schemas.microsoft.com/office/powerpoint/2010/main" val="898319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52FF410-26F6-4C48-B4C9-1FC689FF5EFF}"/>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5">
            <a:extLst>
              <a:ext uri="{FF2B5EF4-FFF2-40B4-BE49-F238E27FC236}">
                <a16:creationId xmlns:a16="http://schemas.microsoft.com/office/drawing/2014/main" id="{DEA31D40-C3AC-F54A-BB80-E5E9D0D47E7B}"/>
              </a:ext>
            </a:extLst>
          </p:cNvPr>
          <p:cNvSpPr txBox="1">
            <a:spLocks noChangeArrowheads="1"/>
          </p:cNvSpPr>
          <p:nvPr/>
        </p:nvSpPr>
        <p:spPr bwMode="auto">
          <a:xfrm>
            <a:off x="633222" y="1275728"/>
            <a:ext cx="5113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a:solidFill>
                  <a:schemeClr val="tx2"/>
                </a:solidFill>
                <a:latin typeface="SimSun" panose="02010600030101010101" pitchFamily="2" charset="-122"/>
                <a:ea typeface="SimSun" panose="02010600030101010101" pitchFamily="2" charset="-122"/>
              </a:rPr>
              <a:t>递归调用与回溯的执行过程：</a:t>
            </a:r>
          </a:p>
        </p:txBody>
      </p:sp>
      <p:sp>
        <p:nvSpPr>
          <p:cNvPr id="5" name="Text Box 6">
            <a:extLst>
              <a:ext uri="{FF2B5EF4-FFF2-40B4-BE49-F238E27FC236}">
                <a16:creationId xmlns:a16="http://schemas.microsoft.com/office/drawing/2014/main" id="{74D2EB4A-5BD9-EE42-8873-1499FC2FAAA8}"/>
              </a:ext>
            </a:extLst>
          </p:cNvPr>
          <p:cNvSpPr txBox="1">
            <a:spLocks noChangeArrowheads="1"/>
          </p:cNvSpPr>
          <p:nvPr/>
        </p:nvSpPr>
        <p:spPr bwMode="auto">
          <a:xfrm>
            <a:off x="646906" y="1910411"/>
            <a:ext cx="3960813" cy="3903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en-US" altLang="zh-CN" sz="2400" b="1" dirty="0" err="1">
                <a:latin typeface="Times New Roman" panose="02020603050405020304" pitchFamily="18" charset="0"/>
                <a:cs typeface="Times New Roman" panose="02020603050405020304" pitchFamily="18" charset="0"/>
              </a:rPr>
              <a:t>hanoi</a:t>
            </a:r>
            <a:r>
              <a:rPr lang="en-US" altLang="zh-CN" sz="2400" b="1" dirty="0">
                <a:latin typeface="Times New Roman" panose="02020603050405020304" pitchFamily="18" charset="0"/>
                <a:cs typeface="Times New Roman" panose="02020603050405020304" pitchFamily="18" charset="0"/>
              </a:rPr>
              <a:t> ( 3,x,y,z)  </a:t>
            </a:r>
          </a:p>
          <a:p>
            <a:pPr>
              <a:lnSpc>
                <a:spcPct val="150000"/>
              </a:lnSpc>
            </a:pPr>
            <a:r>
              <a:rPr lang="en-US" altLang="zh-CN" sz="2400" b="1" dirty="0">
                <a:latin typeface="Times New Roman" panose="02020603050405020304" pitchFamily="18" charset="0"/>
                <a:cs typeface="Times New Roman" panose="02020603050405020304" pitchFamily="18" charset="0"/>
              </a:rPr>
              <a:t>{  if(n&gt;0)                  </a:t>
            </a:r>
            <a:r>
              <a:rPr lang="en-US" altLang="zh-CN" sz="2400" b="1" dirty="0">
                <a:solidFill>
                  <a:srgbClr val="02BE64"/>
                </a:solidFill>
                <a:latin typeface="Times New Roman" panose="02020603050405020304" pitchFamily="18" charset="0"/>
                <a:cs typeface="Times New Roman" panose="02020603050405020304" pitchFamily="18" charset="0"/>
              </a:rPr>
              <a:t> </a:t>
            </a:r>
            <a:endParaRPr lang="en-US" altLang="zh-CN" sz="2400" dirty="0">
              <a:solidFill>
                <a:srgbClr val="02BE64"/>
              </a:solidFill>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      { </a:t>
            </a:r>
            <a:r>
              <a:rPr lang="en-US" altLang="zh-CN" sz="2400" b="1" dirty="0" err="1">
                <a:solidFill>
                  <a:srgbClr val="003366"/>
                </a:solidFill>
                <a:latin typeface="Times New Roman" panose="02020603050405020304" pitchFamily="18" charset="0"/>
                <a:cs typeface="Times New Roman" panose="02020603050405020304" pitchFamily="18" charset="0"/>
              </a:rPr>
              <a:t>hanoi</a:t>
            </a:r>
            <a:r>
              <a:rPr lang="en-US" altLang="zh-CN" sz="2400" b="1" dirty="0">
                <a:solidFill>
                  <a:srgbClr val="003366"/>
                </a:solidFill>
                <a:latin typeface="Times New Roman" panose="02020603050405020304" pitchFamily="18" charset="0"/>
                <a:cs typeface="Times New Roman" panose="02020603050405020304" pitchFamily="18" charset="0"/>
              </a:rPr>
              <a:t>(2,x,z,y);</a:t>
            </a:r>
            <a:endParaRPr lang="en-US" altLang="zh-CN" sz="2400" dirty="0">
              <a:solidFill>
                <a:srgbClr val="003366"/>
              </a:solidFill>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         </a:t>
            </a:r>
            <a:r>
              <a:rPr lang="zh-CN" altLang="en-US" sz="2400" b="1" dirty="0">
                <a:solidFill>
                  <a:srgbClr val="003366"/>
                </a:solidFill>
                <a:latin typeface="Times New Roman" panose="02020603050405020304" pitchFamily="18" charset="0"/>
                <a:cs typeface="Times New Roman" panose="02020603050405020304" pitchFamily="18" charset="0"/>
              </a:rPr>
              <a:t>输出 </a:t>
            </a:r>
            <a:r>
              <a:rPr lang="en-US" altLang="zh-CN" sz="2400" b="1" dirty="0">
                <a:solidFill>
                  <a:srgbClr val="003366"/>
                </a:solidFill>
                <a:latin typeface="Times New Roman" panose="02020603050405020304" pitchFamily="18" charset="0"/>
                <a:cs typeface="Times New Roman" panose="02020603050405020304" pitchFamily="18" charset="0"/>
              </a:rPr>
              <a:t>x, "→",y</a:t>
            </a:r>
            <a:r>
              <a:rPr lang="en-US" altLang="zh-CN" sz="2400" b="1" dirty="0">
                <a:latin typeface="Times New Roman" panose="02020603050405020304" pitchFamily="18" charset="0"/>
                <a:cs typeface="Times New Roman" panose="02020603050405020304" pitchFamily="18" charset="0"/>
              </a:rPr>
              <a:t> ;      </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         </a:t>
            </a:r>
            <a:r>
              <a:rPr lang="en-US" altLang="zh-CN" sz="2400" b="1" dirty="0" err="1">
                <a:solidFill>
                  <a:srgbClr val="003366"/>
                </a:solidFill>
                <a:latin typeface="Times New Roman" panose="02020603050405020304" pitchFamily="18" charset="0"/>
                <a:cs typeface="Times New Roman" panose="02020603050405020304" pitchFamily="18" charset="0"/>
              </a:rPr>
              <a:t>hanoi</a:t>
            </a:r>
            <a:r>
              <a:rPr lang="en-US" altLang="zh-CN" sz="2400" b="1" dirty="0">
                <a:solidFill>
                  <a:srgbClr val="003366"/>
                </a:solidFill>
                <a:latin typeface="Times New Roman" panose="02020603050405020304" pitchFamily="18" charset="0"/>
                <a:cs typeface="Times New Roman" panose="02020603050405020304" pitchFamily="18" charset="0"/>
              </a:rPr>
              <a:t>(2,z,y,x);</a:t>
            </a:r>
            <a:r>
              <a:rPr lang="en-US" altLang="zh-CN" sz="2400" b="1" dirty="0">
                <a:latin typeface="Times New Roman" panose="02020603050405020304" pitchFamily="18" charset="0"/>
                <a:cs typeface="Times New Roman" panose="02020603050405020304" pitchFamily="18" charset="0"/>
              </a:rPr>
              <a:t>   </a:t>
            </a:r>
          </a:p>
          <a:p>
            <a:pPr>
              <a:lnSpc>
                <a:spcPct val="150000"/>
              </a:lnSpc>
            </a:pPr>
            <a:r>
              <a:rPr lang="en-US" altLang="zh-CN" sz="2400" b="1"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b="1" dirty="0">
                <a:latin typeface="Times New Roman" panose="02020603050405020304" pitchFamily="18" charset="0"/>
                <a:cs typeface="Times New Roman" panose="02020603050405020304" pitchFamily="18" charset="0"/>
              </a:rPr>
              <a:t>}</a:t>
            </a:r>
          </a:p>
        </p:txBody>
      </p:sp>
      <p:sp>
        <p:nvSpPr>
          <p:cNvPr id="6" name="Text Box 7">
            <a:extLst>
              <a:ext uri="{FF2B5EF4-FFF2-40B4-BE49-F238E27FC236}">
                <a16:creationId xmlns:a16="http://schemas.microsoft.com/office/drawing/2014/main" id="{3FA8939A-7CEA-0743-B7F0-859DA6D3C823}"/>
              </a:ext>
            </a:extLst>
          </p:cNvPr>
          <p:cNvSpPr txBox="1">
            <a:spLocks noChangeArrowheads="1"/>
          </p:cNvSpPr>
          <p:nvPr/>
        </p:nvSpPr>
        <p:spPr bwMode="auto">
          <a:xfrm>
            <a:off x="4810280" y="2988823"/>
            <a:ext cx="41133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dirty="0">
                <a:latin typeface="Times New Roman" panose="02020603050405020304" pitchFamily="18" charset="0"/>
                <a:cs typeface="Times New Roman" panose="02020603050405020304" pitchFamily="18" charset="0"/>
              </a:rPr>
              <a:t>{  </a:t>
            </a:r>
            <a:r>
              <a:rPr lang="en-US" altLang="zh-CN" sz="2400" b="1" dirty="0" err="1">
                <a:solidFill>
                  <a:srgbClr val="02BE64"/>
                </a:solidFill>
                <a:latin typeface="Times New Roman" panose="02020603050405020304" pitchFamily="18" charset="0"/>
                <a:cs typeface="Times New Roman" panose="02020603050405020304" pitchFamily="18" charset="0"/>
              </a:rPr>
              <a:t>hanoi</a:t>
            </a:r>
            <a:r>
              <a:rPr lang="en-US" altLang="zh-CN" sz="2400" b="1" dirty="0">
                <a:solidFill>
                  <a:srgbClr val="02BE64"/>
                </a:solidFill>
                <a:latin typeface="Times New Roman" panose="02020603050405020304" pitchFamily="18" charset="0"/>
                <a:cs typeface="Times New Roman" panose="02020603050405020304" pitchFamily="18" charset="0"/>
              </a:rPr>
              <a:t>(1,x,y,z); 		</a:t>
            </a:r>
            <a:r>
              <a:rPr lang="en-US" altLang="zh-CN" sz="2400" b="1" dirty="0">
                <a:solidFill>
                  <a:srgbClr val="FF0000"/>
                </a:solidFill>
                <a:latin typeface="Times New Roman" panose="02020603050405020304" pitchFamily="18" charset="0"/>
                <a:cs typeface="Times New Roman" panose="02020603050405020304" pitchFamily="18" charset="0"/>
              </a:rPr>
              <a:t> </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400" b="1" dirty="0">
                <a:solidFill>
                  <a:srgbClr val="02BE64"/>
                </a:solidFill>
                <a:latin typeface="Times New Roman" panose="02020603050405020304" pitchFamily="18" charset="0"/>
                <a:cs typeface="Times New Roman" panose="02020603050405020304" pitchFamily="18" charset="0"/>
              </a:rPr>
              <a:t>   </a:t>
            </a:r>
            <a:r>
              <a:rPr lang="zh-CN" altLang="en-US" sz="2400" b="1" dirty="0">
                <a:solidFill>
                  <a:srgbClr val="02BE64"/>
                </a:solidFill>
                <a:latin typeface="Times New Roman" panose="02020603050405020304" pitchFamily="18" charset="0"/>
                <a:cs typeface="Times New Roman" panose="02020603050405020304" pitchFamily="18" charset="0"/>
              </a:rPr>
              <a:t>输出 </a:t>
            </a:r>
            <a:r>
              <a:rPr lang="en-US" altLang="zh-CN" sz="2400" b="1" dirty="0">
                <a:solidFill>
                  <a:srgbClr val="02BE64"/>
                </a:solidFill>
                <a:latin typeface="Times New Roman" panose="02020603050405020304" pitchFamily="18" charset="0"/>
                <a:cs typeface="Times New Roman" panose="02020603050405020304" pitchFamily="18" charset="0"/>
              </a:rPr>
              <a:t>x, "→</a:t>
            </a:r>
            <a:r>
              <a:rPr lang="en-US" altLang="zh-CN" sz="2400" dirty="0">
                <a:latin typeface="Times New Roman" panose="02020603050405020304" pitchFamily="18" charset="0"/>
                <a:cs typeface="Times New Roman" panose="02020603050405020304" pitchFamily="18" charset="0"/>
              </a:rPr>
              <a:t> </a:t>
            </a:r>
            <a:r>
              <a:rPr lang="en-US" altLang="en-US" sz="2400" b="1" dirty="0">
                <a:solidFill>
                  <a:srgbClr val="02BE64"/>
                </a:solidFill>
                <a:latin typeface="Times New Roman" panose="02020603050405020304" pitchFamily="18" charset="0"/>
                <a:cs typeface="Times New Roman" panose="02020603050405020304" pitchFamily="18" charset="0"/>
              </a:rPr>
              <a:t>"</a:t>
            </a:r>
            <a:r>
              <a:rPr lang="en-US" altLang="zh-CN" sz="2400" b="1" dirty="0">
                <a:solidFill>
                  <a:srgbClr val="02BE64"/>
                </a:solidFill>
                <a:latin typeface="Times New Roman" panose="02020603050405020304" pitchFamily="18" charset="0"/>
                <a:cs typeface="Times New Roman" panose="02020603050405020304" pitchFamily="18" charset="0"/>
              </a:rPr>
              <a:t>,z ;	   	</a:t>
            </a:r>
            <a:r>
              <a:rPr lang="en-US" altLang="zh-CN" sz="2400" b="1" dirty="0">
                <a:solidFill>
                  <a:srgbClr val="FF0000"/>
                </a:solidFill>
                <a:latin typeface="Times New Roman" panose="02020603050405020304" pitchFamily="18" charset="0"/>
                <a:cs typeface="Times New Roman" panose="02020603050405020304" pitchFamily="18" charset="0"/>
              </a:rPr>
              <a:t> </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400" b="1" dirty="0">
                <a:solidFill>
                  <a:srgbClr val="02BE64"/>
                </a:solidFill>
                <a:latin typeface="Times New Roman" panose="02020603050405020304" pitchFamily="18" charset="0"/>
                <a:cs typeface="Times New Roman" panose="02020603050405020304" pitchFamily="18" charset="0"/>
              </a:rPr>
              <a:t>   </a:t>
            </a:r>
            <a:r>
              <a:rPr lang="en-US" altLang="zh-CN" sz="2400" b="1" dirty="0" err="1">
                <a:solidFill>
                  <a:srgbClr val="02BE64"/>
                </a:solidFill>
                <a:latin typeface="Times New Roman" panose="02020603050405020304" pitchFamily="18" charset="0"/>
                <a:cs typeface="Times New Roman" panose="02020603050405020304" pitchFamily="18" charset="0"/>
              </a:rPr>
              <a:t>hanoi</a:t>
            </a:r>
            <a:r>
              <a:rPr lang="en-US" altLang="zh-CN" sz="2400" b="1" dirty="0">
                <a:solidFill>
                  <a:srgbClr val="02BE64"/>
                </a:solidFill>
                <a:latin typeface="Times New Roman" panose="02020603050405020304" pitchFamily="18" charset="0"/>
                <a:cs typeface="Times New Roman" panose="02020603050405020304" pitchFamily="18" charset="0"/>
              </a:rPr>
              <a:t>(1,y,z,x);</a:t>
            </a:r>
            <a:r>
              <a:rPr lang="en-US" altLang="zh-CN" sz="2400" b="1" dirty="0">
                <a:latin typeface="Times New Roman" panose="02020603050405020304" pitchFamily="18" charset="0"/>
                <a:cs typeface="Times New Roman" panose="02020603050405020304" pitchFamily="18" charset="0"/>
              </a:rPr>
              <a:t>  } 	</a:t>
            </a:r>
          </a:p>
        </p:txBody>
      </p:sp>
      <p:sp>
        <p:nvSpPr>
          <p:cNvPr id="7" name="AutoShape 10">
            <a:extLst>
              <a:ext uri="{FF2B5EF4-FFF2-40B4-BE49-F238E27FC236}">
                <a16:creationId xmlns:a16="http://schemas.microsoft.com/office/drawing/2014/main" id="{33AC27D5-604F-894B-BC8C-0C8FFCEFF78A}"/>
              </a:ext>
            </a:extLst>
          </p:cNvPr>
          <p:cNvSpPr>
            <a:spLocks noChangeArrowheads="1"/>
          </p:cNvSpPr>
          <p:nvPr/>
        </p:nvSpPr>
        <p:spPr bwMode="auto">
          <a:xfrm>
            <a:off x="3851275" y="3350085"/>
            <a:ext cx="719138" cy="142875"/>
          </a:xfrm>
          <a:prstGeom prst="rightArrow">
            <a:avLst>
              <a:gd name="adj1" fmla="val 50000"/>
              <a:gd name="adj2" fmla="val 125717"/>
            </a:avLst>
          </a:prstGeom>
          <a:solidFill>
            <a:srgbClr val="969696"/>
          </a:solidFill>
          <a:ln w="9525">
            <a:solidFill>
              <a:srgbClr val="800000"/>
            </a:solidFill>
            <a:miter lim="800000"/>
            <a:headEnd/>
            <a:tailEnd/>
          </a:ln>
        </p:spPr>
        <p:txBody>
          <a:bodyPr anchor="ctr">
            <a:spAutoFit/>
          </a:bodyPr>
          <a:lstStyle/>
          <a:p>
            <a:endParaRPr lang="zh-CN" altLang="en-US"/>
          </a:p>
        </p:txBody>
      </p:sp>
      <p:sp>
        <p:nvSpPr>
          <p:cNvPr id="8" name="Text Box 11">
            <a:extLst>
              <a:ext uri="{FF2B5EF4-FFF2-40B4-BE49-F238E27FC236}">
                <a16:creationId xmlns:a16="http://schemas.microsoft.com/office/drawing/2014/main" id="{77258D88-0311-7045-8046-9201F5493E05}"/>
              </a:ext>
            </a:extLst>
          </p:cNvPr>
          <p:cNvSpPr txBox="1">
            <a:spLocks noChangeArrowheads="1"/>
          </p:cNvSpPr>
          <p:nvPr/>
        </p:nvSpPr>
        <p:spPr bwMode="auto">
          <a:xfrm>
            <a:off x="4287330" y="4290047"/>
            <a:ext cx="482441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Times New Roman" panose="02020603050405020304" pitchFamily="18" charset="0"/>
                <a:cs typeface="Times New Roman" panose="02020603050405020304" pitchFamily="18" charset="0"/>
              </a:rPr>
              <a:t>       {  </a:t>
            </a:r>
            <a:r>
              <a:rPr lang="en-US" altLang="zh-CN" sz="2400" b="1" dirty="0" err="1">
                <a:solidFill>
                  <a:srgbClr val="800000"/>
                </a:solidFill>
                <a:latin typeface="Times New Roman" panose="02020603050405020304" pitchFamily="18" charset="0"/>
                <a:cs typeface="Times New Roman" panose="02020603050405020304" pitchFamily="18" charset="0"/>
              </a:rPr>
              <a:t>hanoi</a:t>
            </a:r>
            <a:r>
              <a:rPr lang="en-US" altLang="zh-CN" sz="2400" b="1" dirty="0">
                <a:solidFill>
                  <a:srgbClr val="800000"/>
                </a:solidFill>
                <a:latin typeface="Times New Roman" panose="02020603050405020304" pitchFamily="18" charset="0"/>
                <a:cs typeface="Times New Roman" panose="02020603050405020304" pitchFamily="18" charset="0"/>
              </a:rPr>
              <a:t>(1,z,x,y);	</a:t>
            </a:r>
            <a:r>
              <a:rPr lang="en-US" altLang="zh-CN" sz="2400" b="1" dirty="0">
                <a:solidFill>
                  <a:srgbClr val="FF0000"/>
                </a:solidFill>
                <a:latin typeface="Times New Roman" panose="02020603050405020304" pitchFamily="18" charset="0"/>
                <a:cs typeface="Times New Roman" panose="02020603050405020304" pitchFamily="18" charset="0"/>
              </a:rPr>
              <a:t> </a:t>
            </a:r>
            <a:r>
              <a:rPr lang="en-US" altLang="zh-CN" sz="2400" b="1" dirty="0">
                <a:solidFill>
                  <a:srgbClr val="800000"/>
                </a:solidFill>
                <a:latin typeface="Times New Roman" panose="02020603050405020304" pitchFamily="18" charset="0"/>
                <a:cs typeface="Times New Roman" panose="02020603050405020304" pitchFamily="18" charset="0"/>
              </a:rPr>
              <a:t>	</a:t>
            </a:r>
            <a:endParaRPr lang="en-US" altLang="zh-CN" sz="2400" dirty="0">
              <a:solidFill>
                <a:srgbClr val="800000"/>
              </a:solidFill>
              <a:latin typeface="Times New Roman" panose="02020603050405020304" pitchFamily="18" charset="0"/>
              <a:cs typeface="Times New Roman" panose="02020603050405020304" pitchFamily="18" charset="0"/>
            </a:endParaRPr>
          </a:p>
          <a:p>
            <a:r>
              <a:rPr lang="en-US" altLang="zh-CN" sz="2400" b="1" dirty="0">
                <a:solidFill>
                  <a:srgbClr val="800000"/>
                </a:solidFill>
                <a:latin typeface="Times New Roman" panose="02020603050405020304" pitchFamily="18" charset="0"/>
                <a:cs typeface="Times New Roman" panose="02020603050405020304" pitchFamily="18" charset="0"/>
              </a:rPr>
              <a:t>          </a:t>
            </a:r>
            <a:r>
              <a:rPr lang="zh-CN" altLang="en-US" sz="2400" b="1" dirty="0">
                <a:solidFill>
                  <a:srgbClr val="800000"/>
                </a:solidFill>
                <a:latin typeface="Times New Roman" panose="02020603050405020304" pitchFamily="18" charset="0"/>
                <a:cs typeface="Times New Roman" panose="02020603050405020304" pitchFamily="18" charset="0"/>
              </a:rPr>
              <a:t>输出 </a:t>
            </a:r>
            <a:r>
              <a:rPr lang="en-US" altLang="zh-CN" sz="2400" b="1" dirty="0">
                <a:solidFill>
                  <a:srgbClr val="800000"/>
                </a:solidFill>
                <a:latin typeface="Times New Roman" panose="02020603050405020304" pitchFamily="18" charset="0"/>
                <a:cs typeface="Times New Roman" panose="02020603050405020304" pitchFamily="18" charset="0"/>
              </a:rPr>
              <a:t>z, "→</a:t>
            </a:r>
            <a:r>
              <a:rPr lang="en-US" altLang="zh-CN" sz="2400" dirty="0">
                <a:latin typeface="Times New Roman" panose="02020603050405020304" pitchFamily="18" charset="0"/>
                <a:cs typeface="Times New Roman" panose="02020603050405020304" pitchFamily="18" charset="0"/>
              </a:rPr>
              <a:t> </a:t>
            </a:r>
            <a:r>
              <a:rPr lang="en-US" altLang="en-US" sz="2400" b="1" dirty="0">
                <a:solidFill>
                  <a:srgbClr val="800000"/>
                </a:solidFill>
                <a:latin typeface="Times New Roman" panose="02020603050405020304" pitchFamily="18" charset="0"/>
                <a:cs typeface="Times New Roman" panose="02020603050405020304" pitchFamily="18" charset="0"/>
              </a:rPr>
              <a:t>"</a:t>
            </a:r>
            <a:r>
              <a:rPr lang="en-US" altLang="zh-CN" sz="2400" b="1" dirty="0">
                <a:solidFill>
                  <a:srgbClr val="800000"/>
                </a:solidFill>
                <a:latin typeface="Times New Roman" panose="02020603050405020304" pitchFamily="18" charset="0"/>
                <a:cs typeface="Times New Roman" panose="02020603050405020304" pitchFamily="18" charset="0"/>
              </a:rPr>
              <a:t>,y ;	</a:t>
            </a:r>
            <a:r>
              <a:rPr lang="en-US" altLang="zh-CN" sz="2400" b="1" dirty="0">
                <a:solidFill>
                  <a:srgbClr val="FF0000"/>
                </a:solidFill>
                <a:latin typeface="Times New Roman" panose="02020603050405020304" pitchFamily="18" charset="0"/>
                <a:cs typeface="Times New Roman" panose="02020603050405020304" pitchFamily="18" charset="0"/>
              </a:rPr>
              <a:t> </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400" b="1" dirty="0">
                <a:solidFill>
                  <a:srgbClr val="800000"/>
                </a:solidFill>
                <a:latin typeface="Times New Roman" panose="02020603050405020304" pitchFamily="18" charset="0"/>
                <a:cs typeface="Times New Roman" panose="02020603050405020304" pitchFamily="18" charset="0"/>
              </a:rPr>
              <a:t>          </a:t>
            </a:r>
            <a:r>
              <a:rPr lang="en-US" altLang="zh-CN" sz="2400" b="1" dirty="0" err="1">
                <a:solidFill>
                  <a:srgbClr val="800000"/>
                </a:solidFill>
                <a:latin typeface="Times New Roman" panose="02020603050405020304" pitchFamily="18" charset="0"/>
                <a:cs typeface="Times New Roman" panose="02020603050405020304" pitchFamily="18" charset="0"/>
              </a:rPr>
              <a:t>hanoi</a:t>
            </a:r>
            <a:r>
              <a:rPr lang="en-US" altLang="zh-CN" sz="2400" b="1" dirty="0">
                <a:solidFill>
                  <a:srgbClr val="800000"/>
                </a:solidFill>
                <a:latin typeface="Times New Roman" panose="02020603050405020304" pitchFamily="18" charset="0"/>
                <a:cs typeface="Times New Roman" panose="02020603050405020304" pitchFamily="18" charset="0"/>
              </a:rPr>
              <a:t>(1,x,y,z);</a:t>
            </a:r>
            <a:r>
              <a:rPr lang="en-US" altLang="zh-CN" sz="2400" b="1" dirty="0">
                <a:latin typeface="Times New Roman" panose="02020603050405020304" pitchFamily="18" charset="0"/>
                <a:cs typeface="Times New Roman" panose="02020603050405020304" pitchFamily="18" charset="0"/>
              </a:rPr>
              <a:t>  }</a:t>
            </a:r>
          </a:p>
        </p:txBody>
      </p:sp>
      <p:sp>
        <p:nvSpPr>
          <p:cNvPr id="9" name="AutoShape 12">
            <a:extLst>
              <a:ext uri="{FF2B5EF4-FFF2-40B4-BE49-F238E27FC236}">
                <a16:creationId xmlns:a16="http://schemas.microsoft.com/office/drawing/2014/main" id="{E5554E89-72B9-E24D-843F-77F3F9673BBE}"/>
              </a:ext>
            </a:extLst>
          </p:cNvPr>
          <p:cNvSpPr>
            <a:spLocks noChangeArrowheads="1"/>
          </p:cNvSpPr>
          <p:nvPr/>
        </p:nvSpPr>
        <p:spPr bwMode="auto">
          <a:xfrm>
            <a:off x="3851275" y="4424592"/>
            <a:ext cx="719138" cy="142875"/>
          </a:xfrm>
          <a:prstGeom prst="rightArrow">
            <a:avLst>
              <a:gd name="adj1" fmla="val 50000"/>
              <a:gd name="adj2" fmla="val 125717"/>
            </a:avLst>
          </a:prstGeom>
          <a:solidFill>
            <a:srgbClr val="969696"/>
          </a:solidFill>
          <a:ln w="9525">
            <a:solidFill>
              <a:srgbClr val="800000"/>
            </a:solidFill>
            <a:miter lim="800000"/>
            <a:headEnd/>
            <a:tailEnd/>
          </a:ln>
        </p:spPr>
        <p:txBody>
          <a:bodyPr anchor="ctr">
            <a:spAutoFit/>
          </a:bodyPr>
          <a:lstStyle/>
          <a:p>
            <a:endParaRPr lang="zh-CN" altLang="en-US"/>
          </a:p>
        </p:txBody>
      </p:sp>
      <p:sp>
        <p:nvSpPr>
          <p:cNvPr id="10" name="Text Box 7">
            <a:extLst>
              <a:ext uri="{FF2B5EF4-FFF2-40B4-BE49-F238E27FC236}">
                <a16:creationId xmlns:a16="http://schemas.microsoft.com/office/drawing/2014/main" id="{80E6B11C-B5C3-7E47-8DD7-D1037B995EE2}"/>
              </a:ext>
            </a:extLst>
          </p:cNvPr>
          <p:cNvSpPr txBox="1">
            <a:spLocks noChangeArrowheads="1"/>
          </p:cNvSpPr>
          <p:nvPr/>
        </p:nvSpPr>
        <p:spPr bwMode="auto">
          <a:xfrm>
            <a:off x="7598571" y="3010701"/>
            <a:ext cx="788988"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ts val="2663"/>
              </a:lnSpc>
            </a:pPr>
            <a:r>
              <a:rPr lang="en-US" altLang="zh-CN" sz="1800" b="1" dirty="0">
                <a:latin typeface="Arial" panose="020B0604020202020204" pitchFamily="34" charset="0"/>
              </a:rPr>
              <a:t>A-&gt;B</a:t>
            </a:r>
          </a:p>
          <a:p>
            <a:pPr>
              <a:lnSpc>
                <a:spcPts val="2663"/>
              </a:lnSpc>
            </a:pPr>
            <a:r>
              <a:rPr lang="en-US" altLang="zh-CN" sz="1800" b="1" dirty="0">
                <a:solidFill>
                  <a:srgbClr val="FF0000"/>
                </a:solidFill>
                <a:latin typeface="Arial" panose="020B0604020202020204" pitchFamily="34" charset="0"/>
              </a:rPr>
              <a:t>A-&gt;C</a:t>
            </a:r>
          </a:p>
          <a:p>
            <a:pPr>
              <a:lnSpc>
                <a:spcPts val="2663"/>
              </a:lnSpc>
            </a:pPr>
            <a:r>
              <a:rPr lang="en-US" altLang="zh-CN" sz="1800" b="1" dirty="0">
                <a:latin typeface="Arial" panose="020B0604020202020204" pitchFamily="34" charset="0"/>
              </a:rPr>
              <a:t>B-&gt;C</a:t>
            </a:r>
          </a:p>
          <a:p>
            <a:pPr>
              <a:lnSpc>
                <a:spcPts val="2663"/>
              </a:lnSpc>
            </a:pPr>
            <a:r>
              <a:rPr lang="en-US" altLang="zh-CN" sz="1800" b="1" dirty="0">
                <a:solidFill>
                  <a:srgbClr val="FF0000"/>
                </a:solidFill>
                <a:latin typeface="Arial" panose="020B0604020202020204" pitchFamily="34" charset="0"/>
              </a:rPr>
              <a:t>A-&gt;B</a:t>
            </a:r>
          </a:p>
          <a:p>
            <a:pPr>
              <a:lnSpc>
                <a:spcPts val="2663"/>
              </a:lnSpc>
            </a:pPr>
            <a:r>
              <a:rPr lang="en-US" altLang="zh-CN" sz="1800" b="1" dirty="0">
                <a:latin typeface="Arial" panose="020B0604020202020204" pitchFamily="34" charset="0"/>
              </a:rPr>
              <a:t>C-&gt;A</a:t>
            </a:r>
          </a:p>
          <a:p>
            <a:pPr>
              <a:lnSpc>
                <a:spcPts val="2663"/>
              </a:lnSpc>
            </a:pPr>
            <a:r>
              <a:rPr lang="en-US" altLang="zh-CN" sz="1800" b="1" dirty="0">
                <a:solidFill>
                  <a:srgbClr val="FF0000"/>
                </a:solidFill>
                <a:latin typeface="Arial" panose="020B0604020202020204" pitchFamily="34" charset="0"/>
              </a:rPr>
              <a:t>C-&gt;B</a:t>
            </a:r>
          </a:p>
          <a:p>
            <a:pPr>
              <a:lnSpc>
                <a:spcPts val="2663"/>
              </a:lnSpc>
            </a:pPr>
            <a:r>
              <a:rPr lang="en-US" altLang="zh-CN" sz="1800" b="1" dirty="0">
                <a:latin typeface="Arial" panose="020B0604020202020204" pitchFamily="34" charset="0"/>
              </a:rPr>
              <a:t>A-&gt;B</a:t>
            </a:r>
          </a:p>
        </p:txBody>
      </p:sp>
    </p:spTree>
    <p:extLst>
      <p:ext uri="{BB962C8B-B14F-4D97-AF65-F5344CB8AC3E}">
        <p14:creationId xmlns:p14="http://schemas.microsoft.com/office/powerpoint/2010/main" val="310598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4E5D379-E167-A546-9540-BE0B910C1376}"/>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5" name="文本框 4">
            <a:extLst>
              <a:ext uri="{FF2B5EF4-FFF2-40B4-BE49-F238E27FC236}">
                <a16:creationId xmlns:a16="http://schemas.microsoft.com/office/drawing/2014/main" id="{2132AF39-48AB-724B-822E-202358B76F92}"/>
              </a:ext>
            </a:extLst>
          </p:cNvPr>
          <p:cNvSpPr txBox="1"/>
          <p:nvPr/>
        </p:nvSpPr>
        <p:spPr>
          <a:xfrm>
            <a:off x="660914" y="1305467"/>
            <a:ext cx="3000022" cy="461665"/>
          </a:xfrm>
          <a:prstGeom prst="rect">
            <a:avLst/>
          </a:prstGeom>
          <a:noFill/>
        </p:spPr>
        <p:txBody>
          <a:bodyPr wrap="square">
            <a:spAutoFit/>
          </a:bodyPr>
          <a:lstStyle/>
          <a:p>
            <a:r>
              <a:rPr lang="zh-CN" altLang="en-US" sz="2400" dirty="0">
                <a:latin typeface="SimSun" panose="02010600030101010101" pitchFamily="2" charset="-122"/>
                <a:ea typeface="SimSun" panose="02010600030101010101" pitchFamily="2" charset="-122"/>
                <a:cs typeface="Consolas" pitchFamily="49" charset="0"/>
              </a:rPr>
              <a:t>递归算法的执行过程</a:t>
            </a:r>
            <a:endParaRPr lang="zh-CN" altLang="en-US" sz="2400" dirty="0">
              <a:latin typeface="SimSun" panose="02010600030101010101" pitchFamily="2" charset="-122"/>
              <a:ea typeface="SimSun" panose="02010600030101010101" pitchFamily="2" charset="-122"/>
            </a:endParaRPr>
          </a:p>
        </p:txBody>
      </p:sp>
      <p:sp>
        <p:nvSpPr>
          <p:cNvPr id="6" name="Text Box 3">
            <a:extLst>
              <a:ext uri="{FF2B5EF4-FFF2-40B4-BE49-F238E27FC236}">
                <a16:creationId xmlns:a16="http://schemas.microsoft.com/office/drawing/2014/main" id="{5C3EF062-F55A-7B4A-9EC5-5A8A3365A97A}"/>
              </a:ext>
            </a:extLst>
          </p:cNvPr>
          <p:cNvSpPr txBox="1">
            <a:spLocks noChangeArrowheads="1"/>
          </p:cNvSpPr>
          <p:nvPr/>
        </p:nvSpPr>
        <p:spPr bwMode="auto">
          <a:xfrm>
            <a:off x="660914" y="2294101"/>
            <a:ext cx="10673130" cy="2420242"/>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wrap="square" lIns="180000" tIns="144000" rIns="180000" bIns="144000">
            <a:spAutoFit/>
          </a:bodyPr>
          <a:lstStyle/>
          <a:p>
            <a:pPr marL="457200" indent="-457200">
              <a:lnSpc>
                <a:spcPct val="150000"/>
              </a:lnSpc>
              <a:spcBef>
                <a:spcPts val="0"/>
              </a:spcBef>
              <a:buBlip>
                <a:blip r:embed="rId2"/>
              </a:buBlip>
            </a:pPr>
            <a:r>
              <a:rPr lang="zh-CN" altLang="en-US" sz="2400" dirty="0">
                <a:solidFill>
                  <a:schemeClr val="tx1"/>
                </a:solidFill>
                <a:latin typeface="SimSun" panose="02010600030101010101" pitchFamily="2" charset="-122"/>
                <a:ea typeface="SimSun" panose="02010600030101010101" pitchFamily="2" charset="-122"/>
                <a:cs typeface="Consolas" pitchFamily="49" charset="0"/>
              </a:rPr>
              <a:t>一个正确的递归程序虽然每次调用的是相同的子程序，但它的参量、输入数据等均有变化。</a:t>
            </a:r>
            <a:endParaRPr lang="en-US" altLang="zh-CN" sz="2400" dirty="0">
              <a:solidFill>
                <a:schemeClr val="tx1"/>
              </a:solidFill>
              <a:latin typeface="SimSun" panose="02010600030101010101" pitchFamily="2" charset="-122"/>
              <a:ea typeface="SimSun" panose="02010600030101010101" pitchFamily="2" charset="-122"/>
              <a:cs typeface="Consolas" pitchFamily="49" charset="0"/>
            </a:endParaRPr>
          </a:p>
          <a:p>
            <a:pPr marL="457200" indent="-457200">
              <a:lnSpc>
                <a:spcPct val="150000"/>
              </a:lnSpc>
              <a:spcBef>
                <a:spcPts val="0"/>
              </a:spcBef>
              <a:buBlip>
                <a:blip r:embed="rId2"/>
              </a:buBlip>
            </a:pPr>
            <a:r>
              <a:rPr lang="zh-CN" altLang="en-US" sz="2400" dirty="0">
                <a:solidFill>
                  <a:schemeClr val="tx1"/>
                </a:solidFill>
                <a:latin typeface="SimSun" panose="02010600030101010101" pitchFamily="2" charset="-122"/>
                <a:ea typeface="SimSun" panose="02010600030101010101" pitchFamily="2" charset="-122"/>
                <a:cs typeface="Consolas" pitchFamily="49" charset="0"/>
              </a:rPr>
              <a:t>在正常的情况下，随着调用的不断深入，必定会出现调用到某一层的函数时，不再执行递归调用而终止函数的执行，遇到递归出口便是这种情况。</a:t>
            </a:r>
          </a:p>
        </p:txBody>
      </p:sp>
    </p:spTree>
    <p:extLst>
      <p:ext uri="{BB962C8B-B14F-4D97-AF65-F5344CB8AC3E}">
        <p14:creationId xmlns:p14="http://schemas.microsoft.com/office/powerpoint/2010/main" val="2574847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459543C-601D-CC4C-89A6-C586FC657057}"/>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4">
            <a:extLst>
              <a:ext uri="{FF2B5EF4-FFF2-40B4-BE49-F238E27FC236}">
                <a16:creationId xmlns:a16="http://schemas.microsoft.com/office/drawing/2014/main" id="{02DC5791-E29A-1E4C-B167-D5FE59347833}"/>
              </a:ext>
            </a:extLst>
          </p:cNvPr>
          <p:cNvSpPr txBox="1">
            <a:spLocks noChangeArrowheads="1"/>
          </p:cNvSpPr>
          <p:nvPr/>
        </p:nvSpPr>
        <p:spPr bwMode="auto">
          <a:xfrm>
            <a:off x="740805" y="1522752"/>
            <a:ext cx="9825595" cy="2492945"/>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wrap="square" lIns="180000" tIns="180000" rIns="180000" bIns="180000">
            <a:spAutoFit/>
          </a:bodyPr>
          <a:lstStyle/>
          <a:p>
            <a:pPr marL="457200" indent="-457200" algn="just">
              <a:lnSpc>
                <a:spcPct val="150000"/>
              </a:lnSpc>
              <a:spcBef>
                <a:spcPts val="0"/>
              </a:spcBef>
              <a:buBlip>
                <a:blip r:embed="rId2"/>
              </a:buBlip>
            </a:pPr>
            <a:r>
              <a:rPr lang="zh-CN" altLang="en-US" sz="2400" dirty="0">
                <a:solidFill>
                  <a:schemeClr val="tx1"/>
                </a:solidFill>
                <a:latin typeface="SimSun" panose="02010600030101010101" pitchFamily="2" charset="-122"/>
                <a:ea typeface="SimSun" panose="02010600030101010101" pitchFamily="2" charset="-122"/>
                <a:cs typeface="Times New Roman" pitchFamily="18" charset="0"/>
              </a:rPr>
              <a:t>递归调用是函数嵌套调用的一种特殊情况，即它是调用自身代码。也可以把每一次递归调用理解成调用自身代码的一个复制件。</a:t>
            </a:r>
            <a:endParaRPr lang="en-US" altLang="zh-CN" sz="2400" dirty="0">
              <a:solidFill>
                <a:schemeClr val="tx1"/>
              </a:solidFill>
              <a:latin typeface="SimSun" panose="02010600030101010101" pitchFamily="2" charset="-122"/>
              <a:ea typeface="SimSun" panose="02010600030101010101" pitchFamily="2" charset="-122"/>
              <a:cs typeface="Times New Roman" pitchFamily="18" charset="0"/>
            </a:endParaRPr>
          </a:p>
          <a:p>
            <a:pPr marL="457200" indent="-457200" algn="just">
              <a:lnSpc>
                <a:spcPct val="150000"/>
              </a:lnSpc>
              <a:spcBef>
                <a:spcPts val="0"/>
              </a:spcBef>
              <a:buBlip>
                <a:blip r:embed="rId2"/>
              </a:buBlip>
            </a:pPr>
            <a:r>
              <a:rPr lang="zh-CN" altLang="en-US" sz="2400" dirty="0">
                <a:solidFill>
                  <a:schemeClr val="tx1"/>
                </a:solidFill>
                <a:latin typeface="SimSun" panose="02010600030101010101" pitchFamily="2" charset="-122"/>
                <a:ea typeface="SimSun" panose="02010600030101010101" pitchFamily="2" charset="-122"/>
                <a:cs typeface="Times New Roman" pitchFamily="18" charset="0"/>
              </a:rPr>
              <a:t>由于每次调用时，它的参量和局部变量均不相同，因而也就保证了各个复制件执行时的独立性。</a:t>
            </a:r>
          </a:p>
        </p:txBody>
      </p:sp>
    </p:spTree>
    <p:extLst>
      <p:ext uri="{BB962C8B-B14F-4D97-AF65-F5344CB8AC3E}">
        <p14:creationId xmlns:p14="http://schemas.microsoft.com/office/powerpoint/2010/main" val="1899505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459543C-601D-CC4C-89A6-C586FC657057}"/>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4">
            <a:extLst>
              <a:ext uri="{FF2B5EF4-FFF2-40B4-BE49-F238E27FC236}">
                <a16:creationId xmlns:a16="http://schemas.microsoft.com/office/drawing/2014/main" id="{079C5740-E8C0-184F-984D-B3E84C4CB79E}"/>
              </a:ext>
            </a:extLst>
          </p:cNvPr>
          <p:cNvSpPr txBox="1">
            <a:spLocks noChangeArrowheads="1"/>
          </p:cNvSpPr>
          <p:nvPr/>
        </p:nvSpPr>
        <p:spPr bwMode="auto">
          <a:xfrm>
            <a:off x="750520" y="1631761"/>
            <a:ext cx="10645804" cy="2974239"/>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wrap="square" lIns="180000" tIns="144000" rIns="180000" bIns="144000">
            <a:spAutoFit/>
          </a:bodyPr>
          <a:lstStyle/>
          <a:p>
            <a:pPr marL="457200" indent="-457200" algn="just">
              <a:lnSpc>
                <a:spcPct val="150000"/>
              </a:lnSpc>
              <a:spcBef>
                <a:spcPts val="0"/>
              </a:spcBef>
              <a:buBlip>
                <a:blip r:embed="rId2"/>
              </a:buBlip>
            </a:pPr>
            <a:r>
              <a:rPr lang="zh-CN" altLang="en-US" sz="2400">
                <a:solidFill>
                  <a:schemeClr val="tx1"/>
                </a:solidFill>
                <a:latin typeface="SimSun" panose="02010600030101010101" pitchFamily="2" charset="-122"/>
                <a:ea typeface="SimSun" panose="02010600030101010101" pitchFamily="2" charset="-122"/>
              </a:rPr>
              <a:t>系统</a:t>
            </a:r>
            <a:r>
              <a:rPr lang="zh-CN" altLang="en-US" sz="2400" dirty="0">
                <a:solidFill>
                  <a:schemeClr val="tx1"/>
                </a:solidFill>
                <a:latin typeface="SimSun" panose="02010600030101010101" pitchFamily="2" charset="-122"/>
                <a:ea typeface="SimSun" panose="02010600030101010101" pitchFamily="2" charset="-122"/>
              </a:rPr>
              <a:t>为每一次调用开辟一组存储</a:t>
            </a:r>
            <a:r>
              <a:rPr lang="zh-CN" altLang="en-US" sz="2400">
                <a:solidFill>
                  <a:schemeClr val="tx1"/>
                </a:solidFill>
                <a:latin typeface="SimSun" panose="02010600030101010101" pitchFamily="2" charset="-122"/>
                <a:ea typeface="SimSun" panose="02010600030101010101" pitchFamily="2" charset="-122"/>
              </a:rPr>
              <a:t>单元，用</a:t>
            </a:r>
            <a:r>
              <a:rPr lang="zh-CN" altLang="en-US" sz="2400" dirty="0">
                <a:solidFill>
                  <a:schemeClr val="tx1"/>
                </a:solidFill>
                <a:latin typeface="SimSun" panose="02010600030101010101" pitchFamily="2" charset="-122"/>
                <a:ea typeface="SimSun" panose="02010600030101010101" pitchFamily="2" charset="-122"/>
              </a:rPr>
              <a:t>来存放本次调用的返回地址以及被中断的函数的参量值。</a:t>
            </a:r>
          </a:p>
          <a:p>
            <a:pPr marL="457200" indent="-457200" algn="just">
              <a:lnSpc>
                <a:spcPct val="150000"/>
              </a:lnSpc>
              <a:spcBef>
                <a:spcPts val="0"/>
              </a:spcBef>
              <a:buBlip>
                <a:blip r:embed="rId2"/>
              </a:buBlip>
            </a:pPr>
            <a:r>
              <a:rPr lang="zh-CN" altLang="en-US" sz="2400">
                <a:solidFill>
                  <a:schemeClr val="tx1"/>
                </a:solidFill>
                <a:latin typeface="SimSun" panose="02010600030101010101" pitchFamily="2" charset="-122"/>
                <a:ea typeface="SimSun" panose="02010600030101010101" pitchFamily="2" charset="-122"/>
              </a:rPr>
              <a:t>这些</a:t>
            </a:r>
            <a:r>
              <a:rPr lang="zh-CN" altLang="en-US" sz="2400" dirty="0">
                <a:solidFill>
                  <a:schemeClr val="tx1"/>
                </a:solidFill>
                <a:latin typeface="SimSun" panose="02010600030101010101" pitchFamily="2" charset="-122"/>
                <a:ea typeface="SimSun" panose="02010600030101010101" pitchFamily="2" charset="-122"/>
              </a:rPr>
              <a:t>单</a:t>
            </a:r>
            <a:r>
              <a:rPr lang="zh-CN" altLang="en-US" sz="2400">
                <a:solidFill>
                  <a:schemeClr val="tx1"/>
                </a:solidFill>
                <a:latin typeface="SimSun" panose="02010600030101010101" pitchFamily="2" charset="-122"/>
                <a:ea typeface="SimSun" panose="02010600030101010101" pitchFamily="2" charset="-122"/>
              </a:rPr>
              <a:t>元以系统栈</a:t>
            </a:r>
            <a:r>
              <a:rPr lang="zh-CN" altLang="en-US" sz="2400" dirty="0">
                <a:solidFill>
                  <a:schemeClr val="tx1"/>
                </a:solidFill>
                <a:latin typeface="SimSun" panose="02010600030101010101" pitchFamily="2" charset="-122"/>
                <a:ea typeface="SimSun" panose="02010600030101010101" pitchFamily="2" charset="-122"/>
              </a:rPr>
              <a:t>的形式</a:t>
            </a:r>
            <a:r>
              <a:rPr lang="zh-CN" altLang="en-US" sz="2400">
                <a:solidFill>
                  <a:schemeClr val="tx1"/>
                </a:solidFill>
                <a:latin typeface="SimSun" panose="02010600030101010101" pitchFamily="2" charset="-122"/>
                <a:ea typeface="SimSun" panose="02010600030101010101" pitchFamily="2" charset="-122"/>
              </a:rPr>
              <a:t>存放，每</a:t>
            </a:r>
            <a:r>
              <a:rPr lang="zh-CN" altLang="en-US" sz="2400" dirty="0">
                <a:solidFill>
                  <a:schemeClr val="tx1"/>
                </a:solidFill>
                <a:latin typeface="SimSun" panose="02010600030101010101" pitchFamily="2" charset="-122"/>
                <a:ea typeface="SimSun" panose="02010600030101010101" pitchFamily="2" charset="-122"/>
              </a:rPr>
              <a:t>调用一次进栈</a:t>
            </a:r>
            <a:r>
              <a:rPr lang="zh-CN" altLang="en-US" sz="2400">
                <a:solidFill>
                  <a:schemeClr val="tx1"/>
                </a:solidFill>
                <a:latin typeface="SimSun" panose="02010600030101010101" pitchFamily="2" charset="-122"/>
                <a:ea typeface="SimSun" panose="02010600030101010101" pitchFamily="2" charset="-122"/>
              </a:rPr>
              <a:t>一次，当</a:t>
            </a:r>
            <a:r>
              <a:rPr lang="zh-CN" altLang="en-US" sz="2400" dirty="0">
                <a:solidFill>
                  <a:schemeClr val="tx1"/>
                </a:solidFill>
                <a:latin typeface="SimSun" panose="02010600030101010101" pitchFamily="2" charset="-122"/>
                <a:ea typeface="SimSun" panose="02010600030101010101" pitchFamily="2" charset="-122"/>
              </a:rPr>
              <a:t>返回时执行出栈</a:t>
            </a:r>
            <a:r>
              <a:rPr lang="zh-CN" altLang="en-US" sz="2400">
                <a:solidFill>
                  <a:schemeClr val="tx1"/>
                </a:solidFill>
                <a:latin typeface="SimSun" panose="02010600030101010101" pitchFamily="2" charset="-122"/>
                <a:ea typeface="SimSun" panose="02010600030101010101" pitchFamily="2" charset="-122"/>
              </a:rPr>
              <a:t>操作，把</a:t>
            </a:r>
            <a:r>
              <a:rPr lang="zh-CN" altLang="en-US" sz="2400" dirty="0">
                <a:solidFill>
                  <a:schemeClr val="tx1"/>
                </a:solidFill>
                <a:latin typeface="SimSun" panose="02010600030101010101" pitchFamily="2" charset="-122"/>
                <a:ea typeface="SimSun" panose="02010600030101010101" pitchFamily="2" charset="-122"/>
              </a:rPr>
              <a:t>当前栈顶保留的值送回相应的参量中进行</a:t>
            </a:r>
            <a:r>
              <a:rPr lang="zh-CN" altLang="en-US" sz="2400">
                <a:solidFill>
                  <a:schemeClr val="tx1"/>
                </a:solidFill>
                <a:latin typeface="SimSun" panose="02010600030101010101" pitchFamily="2" charset="-122"/>
                <a:ea typeface="SimSun" panose="02010600030101010101" pitchFamily="2" charset="-122"/>
              </a:rPr>
              <a:t>恢复，并</a:t>
            </a:r>
            <a:r>
              <a:rPr lang="zh-CN" altLang="en-US" sz="2400" dirty="0">
                <a:solidFill>
                  <a:schemeClr val="tx1"/>
                </a:solidFill>
                <a:latin typeface="SimSun" panose="02010600030101010101" pitchFamily="2" charset="-122"/>
                <a:ea typeface="SimSun" panose="02010600030101010101" pitchFamily="2" charset="-122"/>
              </a:rPr>
              <a:t>按栈顶中的返回</a:t>
            </a:r>
            <a:r>
              <a:rPr lang="zh-CN" altLang="en-US" sz="2400">
                <a:solidFill>
                  <a:schemeClr val="tx1"/>
                </a:solidFill>
                <a:latin typeface="SimSun" panose="02010600030101010101" pitchFamily="2" charset="-122"/>
                <a:ea typeface="SimSun" panose="02010600030101010101" pitchFamily="2" charset="-122"/>
              </a:rPr>
              <a:t>地址，从</a:t>
            </a:r>
            <a:r>
              <a:rPr lang="zh-CN" altLang="en-US" sz="2400" dirty="0">
                <a:solidFill>
                  <a:schemeClr val="tx1"/>
                </a:solidFill>
                <a:latin typeface="SimSun" panose="02010600030101010101" pitchFamily="2" charset="-122"/>
                <a:ea typeface="SimSun" panose="02010600030101010101" pitchFamily="2" charset="-122"/>
              </a:rPr>
              <a:t>断点继续执行。</a:t>
            </a:r>
          </a:p>
        </p:txBody>
      </p:sp>
    </p:spTree>
    <p:extLst>
      <p:ext uri="{BB962C8B-B14F-4D97-AF65-F5344CB8AC3E}">
        <p14:creationId xmlns:p14="http://schemas.microsoft.com/office/powerpoint/2010/main" val="3061483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EA4E8CA-30BA-8E4C-AFE8-8363D075E735}"/>
              </a:ext>
            </a:extLst>
          </p:cNvPr>
          <p:cNvSpPr txBox="1">
            <a:spLocks noChangeArrowheads="1"/>
          </p:cNvSpPr>
          <p:nvPr/>
        </p:nvSpPr>
        <p:spPr bwMode="auto">
          <a:xfrm>
            <a:off x="1219377" y="401577"/>
            <a:ext cx="9493779" cy="400110"/>
          </a:xfrm>
          <a:prstGeom prst="rect">
            <a:avLst/>
          </a:prstGeom>
          <a:noFill/>
          <a:ln w="9525">
            <a:noFill/>
            <a:miter lim="800000"/>
            <a:headEnd/>
            <a:tailEnd/>
          </a:ln>
        </p:spPr>
        <p:txBody>
          <a:bodyPr wrap="square">
            <a:spAutoFit/>
          </a:bodyPr>
          <a:lstStyle/>
          <a:p>
            <a:pPr algn="just">
              <a:spcBef>
                <a:spcPct val="50000"/>
              </a:spcBef>
            </a:pPr>
            <a:r>
              <a:rPr lang="zh-CN" altLang="en-US" sz="2000" dirty="0">
                <a:latin typeface="SimSun" panose="02010600030101010101" pitchFamily="2" charset="-122"/>
                <a:ea typeface="SimSun" panose="02010600030101010101" pitchFamily="2" charset="-122"/>
                <a:cs typeface="Consolas" pitchFamily="49" charset="0"/>
              </a:rPr>
              <a:t>对于求阶乘递归算法，求</a:t>
            </a:r>
            <a:r>
              <a:rPr lang="en-US" altLang="zh-CN" sz="2000" dirty="0">
                <a:latin typeface="SimSun" panose="02010600030101010101" pitchFamily="2" charset="-122"/>
                <a:ea typeface="SimSun" panose="02010600030101010101" pitchFamily="2" charset="-122"/>
                <a:cs typeface="Consolas" pitchFamily="49" charset="0"/>
              </a:rPr>
              <a:t>5!</a:t>
            </a:r>
            <a:r>
              <a:rPr lang="zh-CN" altLang="en-US" sz="2000" dirty="0">
                <a:latin typeface="SimSun" panose="02010600030101010101" pitchFamily="2" charset="-122"/>
                <a:ea typeface="SimSun" panose="02010600030101010101" pitchFamily="2" charset="-122"/>
                <a:cs typeface="Consolas" pitchFamily="49" charset="0"/>
              </a:rPr>
              <a:t>即执行</a:t>
            </a:r>
            <a:r>
              <a:rPr lang="en-US" altLang="zh-CN" sz="2000" dirty="0">
                <a:latin typeface="SimSun" panose="02010600030101010101" pitchFamily="2" charset="-122"/>
                <a:ea typeface="SimSun" panose="02010600030101010101" pitchFamily="2" charset="-122"/>
                <a:cs typeface="Consolas" pitchFamily="49" charset="0"/>
              </a:rPr>
              <a:t>fun(5)</a:t>
            </a:r>
            <a:r>
              <a:rPr lang="zh-CN" altLang="en-US" sz="2000" dirty="0">
                <a:latin typeface="SimSun" panose="02010600030101010101" pitchFamily="2" charset="-122"/>
                <a:ea typeface="SimSun" panose="02010600030101010101" pitchFamily="2" charset="-122"/>
                <a:cs typeface="Consolas" pitchFamily="49" charset="0"/>
              </a:rPr>
              <a:t>时内部栈的变化及求解过程如下：</a:t>
            </a:r>
          </a:p>
        </p:txBody>
      </p:sp>
      <p:sp>
        <p:nvSpPr>
          <p:cNvPr id="5" name="Text Box 3">
            <a:extLst>
              <a:ext uri="{FF2B5EF4-FFF2-40B4-BE49-F238E27FC236}">
                <a16:creationId xmlns:a16="http://schemas.microsoft.com/office/drawing/2014/main" id="{D84401E2-FD1C-4747-ACDD-97F0B4BE8B6F}"/>
              </a:ext>
            </a:extLst>
          </p:cNvPr>
          <p:cNvSpPr txBox="1">
            <a:spLocks noChangeArrowheads="1"/>
          </p:cNvSpPr>
          <p:nvPr/>
        </p:nvSpPr>
        <p:spPr bwMode="auto">
          <a:xfrm>
            <a:off x="1823840" y="1142984"/>
            <a:ext cx="4025906" cy="983310"/>
          </a:xfrm>
          <a:prstGeom prst="rect">
            <a:avLst/>
          </a:prstGeom>
          <a:solidFill>
            <a:schemeClr val="tx2">
              <a:lumMod val="20000"/>
              <a:lumOff val="8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44000" tIns="144000" bIns="144000">
            <a:spAutoFit/>
          </a:bodyPr>
          <a:lstStyle/>
          <a:p>
            <a:pPr>
              <a:spcBef>
                <a:spcPct val="50000"/>
              </a:spcBef>
            </a:pPr>
            <a:r>
              <a:rPr lang="en-US" altLang="zh-CN" sz="1800" dirty="0">
                <a:solidFill>
                  <a:srgbClr val="0000FF"/>
                </a:solidFill>
                <a:latin typeface="Consolas" pitchFamily="49" charset="0"/>
                <a:ea typeface="楷体" pitchFamily="49" charset="-122"/>
                <a:cs typeface="Consolas" pitchFamily="49" charset="0"/>
              </a:rPr>
              <a:t>void main()</a:t>
            </a:r>
          </a:p>
          <a:p>
            <a:pPr>
              <a:spcBef>
                <a:spcPct val="50000"/>
              </a:spcBef>
            </a:pPr>
            <a:r>
              <a:rPr lang="en-US" altLang="zh-CN" sz="1800">
                <a:solidFill>
                  <a:srgbClr val="0000FF"/>
                </a:solidFill>
                <a:latin typeface="Consolas" pitchFamily="49" charset="0"/>
                <a:ea typeface="楷体" pitchFamily="49" charset="-122"/>
                <a:cs typeface="Consolas" pitchFamily="49" charset="0"/>
              </a:rPr>
              <a:t>{  printf</a:t>
            </a:r>
            <a:r>
              <a:rPr lang="en-US" altLang="zh-CN" sz="1800" dirty="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d\</a:t>
            </a:r>
            <a:r>
              <a:rPr lang="en-US" altLang="zh-CN" sz="1800" err="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C00000"/>
                </a:solidFill>
                <a:latin typeface="Consolas" pitchFamily="49" charset="0"/>
                <a:ea typeface="楷体" pitchFamily="49" charset="-122"/>
                <a:cs typeface="Consolas" pitchFamily="49" charset="0"/>
              </a:rPr>
              <a:t>fun(5)</a:t>
            </a:r>
            <a:r>
              <a:rPr lang="en-US" altLang="zh-CN" sz="180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p:txBody>
      </p:sp>
      <p:sp>
        <p:nvSpPr>
          <p:cNvPr id="6" name="Rectangle 4">
            <a:extLst>
              <a:ext uri="{FF2B5EF4-FFF2-40B4-BE49-F238E27FC236}">
                <a16:creationId xmlns:a16="http://schemas.microsoft.com/office/drawing/2014/main" id="{FD1B8591-B1DA-7E49-9CCC-D1695AB1F42B}"/>
              </a:ext>
            </a:extLst>
          </p:cNvPr>
          <p:cNvSpPr>
            <a:spLocks noChangeArrowheads="1"/>
          </p:cNvSpPr>
          <p:nvPr/>
        </p:nvSpPr>
        <p:spPr bwMode="auto">
          <a:xfrm>
            <a:off x="3311350" y="25654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7" name="Rectangle 5">
            <a:extLst>
              <a:ext uri="{FF2B5EF4-FFF2-40B4-BE49-F238E27FC236}">
                <a16:creationId xmlns:a16="http://schemas.microsoft.com/office/drawing/2014/main" id="{B2687DF2-25D0-E040-B19B-F788B1DBFF3B}"/>
              </a:ext>
            </a:extLst>
          </p:cNvPr>
          <p:cNvSpPr>
            <a:spLocks noChangeArrowheads="1"/>
          </p:cNvSpPr>
          <p:nvPr/>
        </p:nvSpPr>
        <p:spPr bwMode="auto">
          <a:xfrm>
            <a:off x="4103512" y="25654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8" name="AutoShape 6">
            <a:extLst>
              <a:ext uri="{FF2B5EF4-FFF2-40B4-BE49-F238E27FC236}">
                <a16:creationId xmlns:a16="http://schemas.microsoft.com/office/drawing/2014/main" id="{269EBD4F-FB4E-ED47-B534-EAE30F3A8748}"/>
              </a:ext>
            </a:extLst>
          </p:cNvPr>
          <p:cNvSpPr>
            <a:spLocks noChangeArrowheads="1"/>
          </p:cNvSpPr>
          <p:nvPr/>
        </p:nvSpPr>
        <p:spPr bwMode="auto">
          <a:xfrm>
            <a:off x="4030487" y="2205560"/>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9" name="Text Box 7">
            <a:extLst>
              <a:ext uri="{FF2B5EF4-FFF2-40B4-BE49-F238E27FC236}">
                <a16:creationId xmlns:a16="http://schemas.microsoft.com/office/drawing/2014/main" id="{4C8A834E-D991-704C-BBDF-4C9EC3B58938}"/>
              </a:ext>
            </a:extLst>
          </p:cNvPr>
          <p:cNvSpPr txBox="1">
            <a:spLocks noChangeArrowheads="1"/>
          </p:cNvSpPr>
          <p:nvPr/>
        </p:nvSpPr>
        <p:spPr bwMode="auto">
          <a:xfrm>
            <a:off x="3533248" y="2974622"/>
            <a:ext cx="433387" cy="396875"/>
          </a:xfrm>
          <a:prstGeom prst="rect">
            <a:avLst/>
          </a:prstGeom>
          <a:noFill/>
          <a:ln w="9525">
            <a:noFill/>
            <a:miter lim="800000"/>
            <a:headEnd/>
            <a:tailEnd/>
          </a:ln>
        </p:spPr>
        <p:txBody>
          <a:bodyPr>
            <a:spAutoFit/>
          </a:bodyPr>
          <a:lstStyle/>
          <a:p>
            <a:pPr>
              <a:spcBef>
                <a:spcPct val="50000"/>
              </a:spcBef>
            </a:pPr>
            <a:r>
              <a:rPr lang="en-US" altLang="zh-CN" sz="2000" i="1">
                <a:latin typeface="Consolas" pitchFamily="49" charset="0"/>
                <a:cs typeface="Consolas" pitchFamily="49" charset="0"/>
              </a:rPr>
              <a:t>n</a:t>
            </a:r>
          </a:p>
        </p:txBody>
      </p:sp>
      <p:sp>
        <p:nvSpPr>
          <p:cNvPr id="10" name="Text Box 8">
            <a:extLst>
              <a:ext uri="{FF2B5EF4-FFF2-40B4-BE49-F238E27FC236}">
                <a16:creationId xmlns:a16="http://schemas.microsoft.com/office/drawing/2014/main" id="{4148F892-A38F-A34F-B34E-46794D53BB23}"/>
              </a:ext>
            </a:extLst>
          </p:cNvPr>
          <p:cNvSpPr txBox="1">
            <a:spLocks noChangeArrowheads="1"/>
          </p:cNvSpPr>
          <p:nvPr/>
        </p:nvSpPr>
        <p:spPr bwMode="auto">
          <a:xfrm>
            <a:off x="4246387" y="2997200"/>
            <a:ext cx="1225550" cy="396875"/>
          </a:xfrm>
          <a:prstGeom prst="rect">
            <a:avLst/>
          </a:prstGeom>
          <a:noFill/>
          <a:ln w="9525">
            <a:noFill/>
            <a:miter lim="800000"/>
            <a:headEnd/>
            <a:tailEnd/>
          </a:ln>
        </p:spPr>
        <p:txBody>
          <a:bodyPr>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函数值</a:t>
            </a:r>
          </a:p>
        </p:txBody>
      </p:sp>
      <p:sp>
        <p:nvSpPr>
          <p:cNvPr id="11" name="AutoShape 9">
            <a:extLst>
              <a:ext uri="{FF2B5EF4-FFF2-40B4-BE49-F238E27FC236}">
                <a16:creationId xmlns:a16="http://schemas.microsoft.com/office/drawing/2014/main" id="{F4FCD68D-E2B2-E844-8E7E-FC32596DF424}"/>
              </a:ext>
            </a:extLst>
          </p:cNvPr>
          <p:cNvSpPr>
            <a:spLocks noChangeArrowheads="1"/>
          </p:cNvSpPr>
          <p:nvPr/>
        </p:nvSpPr>
        <p:spPr bwMode="auto">
          <a:xfrm>
            <a:off x="4030487" y="3459164"/>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2" name="Rectangle 10">
            <a:extLst>
              <a:ext uri="{FF2B5EF4-FFF2-40B4-BE49-F238E27FC236}">
                <a16:creationId xmlns:a16="http://schemas.microsoft.com/office/drawing/2014/main" id="{DA8D7ADF-A069-E443-B1F1-1848B1153021}"/>
              </a:ext>
            </a:extLst>
          </p:cNvPr>
          <p:cNvSpPr>
            <a:spLocks noChangeArrowheads="1"/>
          </p:cNvSpPr>
          <p:nvPr/>
        </p:nvSpPr>
        <p:spPr bwMode="auto">
          <a:xfrm>
            <a:off x="3311350" y="38608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13" name="Rectangle 11">
            <a:extLst>
              <a:ext uri="{FF2B5EF4-FFF2-40B4-BE49-F238E27FC236}">
                <a16:creationId xmlns:a16="http://schemas.microsoft.com/office/drawing/2014/main" id="{196B1B2D-01A8-7F47-BA53-20A1786713EF}"/>
              </a:ext>
            </a:extLst>
          </p:cNvPr>
          <p:cNvSpPr>
            <a:spLocks noChangeArrowheads="1"/>
          </p:cNvSpPr>
          <p:nvPr/>
        </p:nvSpPr>
        <p:spPr bwMode="auto">
          <a:xfrm>
            <a:off x="4103512" y="38608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14" name="Rectangle 12">
            <a:extLst>
              <a:ext uri="{FF2B5EF4-FFF2-40B4-BE49-F238E27FC236}">
                <a16:creationId xmlns:a16="http://schemas.microsoft.com/office/drawing/2014/main" id="{81601AD9-BB8A-C54E-B132-DB6452C6E9AC}"/>
              </a:ext>
            </a:extLst>
          </p:cNvPr>
          <p:cNvSpPr>
            <a:spLocks noChangeArrowheads="1"/>
          </p:cNvSpPr>
          <p:nvPr/>
        </p:nvSpPr>
        <p:spPr bwMode="auto">
          <a:xfrm>
            <a:off x="3311350" y="42211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15" name="Rectangle 13">
            <a:extLst>
              <a:ext uri="{FF2B5EF4-FFF2-40B4-BE49-F238E27FC236}">
                <a16:creationId xmlns:a16="http://schemas.microsoft.com/office/drawing/2014/main" id="{DF8BC851-3D0E-4046-ADD7-76D7A8782C6C}"/>
              </a:ext>
            </a:extLst>
          </p:cNvPr>
          <p:cNvSpPr>
            <a:spLocks noChangeArrowheads="1"/>
          </p:cNvSpPr>
          <p:nvPr/>
        </p:nvSpPr>
        <p:spPr bwMode="auto">
          <a:xfrm>
            <a:off x="4103512" y="42211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16" name="AutoShape 14">
            <a:extLst>
              <a:ext uri="{FF2B5EF4-FFF2-40B4-BE49-F238E27FC236}">
                <a16:creationId xmlns:a16="http://schemas.microsoft.com/office/drawing/2014/main" id="{9DAD024D-3179-C04B-8992-51B66F359D7B}"/>
              </a:ext>
            </a:extLst>
          </p:cNvPr>
          <p:cNvSpPr>
            <a:spLocks noChangeArrowheads="1"/>
          </p:cNvSpPr>
          <p:nvPr/>
        </p:nvSpPr>
        <p:spPr bwMode="auto">
          <a:xfrm>
            <a:off x="4030487" y="4727575"/>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7" name="Rectangle 15">
            <a:extLst>
              <a:ext uri="{FF2B5EF4-FFF2-40B4-BE49-F238E27FC236}">
                <a16:creationId xmlns:a16="http://schemas.microsoft.com/office/drawing/2014/main" id="{07D33649-1F9E-8B49-9B0B-4A09798610D5}"/>
              </a:ext>
            </a:extLst>
          </p:cNvPr>
          <p:cNvSpPr>
            <a:spLocks noChangeArrowheads="1"/>
          </p:cNvSpPr>
          <p:nvPr/>
        </p:nvSpPr>
        <p:spPr bwMode="auto">
          <a:xfrm>
            <a:off x="3311350" y="55165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18" name="Rectangle 16">
            <a:extLst>
              <a:ext uri="{FF2B5EF4-FFF2-40B4-BE49-F238E27FC236}">
                <a16:creationId xmlns:a16="http://schemas.microsoft.com/office/drawing/2014/main" id="{A963EC5B-033A-AB45-883D-B52BF0DE902D}"/>
              </a:ext>
            </a:extLst>
          </p:cNvPr>
          <p:cNvSpPr>
            <a:spLocks noChangeArrowheads="1"/>
          </p:cNvSpPr>
          <p:nvPr/>
        </p:nvSpPr>
        <p:spPr bwMode="auto">
          <a:xfrm>
            <a:off x="4103512" y="55165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19" name="Rectangle 17">
            <a:extLst>
              <a:ext uri="{FF2B5EF4-FFF2-40B4-BE49-F238E27FC236}">
                <a16:creationId xmlns:a16="http://schemas.microsoft.com/office/drawing/2014/main" id="{2BC16CB4-4FAD-9549-B56E-416C2C5B1959}"/>
              </a:ext>
            </a:extLst>
          </p:cNvPr>
          <p:cNvSpPr>
            <a:spLocks noChangeArrowheads="1"/>
          </p:cNvSpPr>
          <p:nvPr/>
        </p:nvSpPr>
        <p:spPr bwMode="auto">
          <a:xfrm>
            <a:off x="3311350" y="587692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20" name="Rectangle 18">
            <a:extLst>
              <a:ext uri="{FF2B5EF4-FFF2-40B4-BE49-F238E27FC236}">
                <a16:creationId xmlns:a16="http://schemas.microsoft.com/office/drawing/2014/main" id="{1272C734-8118-714D-86F4-DA7A383A7B1B}"/>
              </a:ext>
            </a:extLst>
          </p:cNvPr>
          <p:cNvSpPr>
            <a:spLocks noChangeArrowheads="1"/>
          </p:cNvSpPr>
          <p:nvPr/>
        </p:nvSpPr>
        <p:spPr bwMode="auto">
          <a:xfrm>
            <a:off x="4103512" y="587692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21" name="Rectangle 19">
            <a:extLst>
              <a:ext uri="{FF2B5EF4-FFF2-40B4-BE49-F238E27FC236}">
                <a16:creationId xmlns:a16="http://schemas.microsoft.com/office/drawing/2014/main" id="{2C639460-728D-9945-93AD-9C97FFAB9BB2}"/>
              </a:ext>
            </a:extLst>
          </p:cNvPr>
          <p:cNvSpPr>
            <a:spLocks noChangeArrowheads="1"/>
          </p:cNvSpPr>
          <p:nvPr/>
        </p:nvSpPr>
        <p:spPr bwMode="auto">
          <a:xfrm>
            <a:off x="3311350" y="515778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22" name="Rectangle 20">
            <a:extLst>
              <a:ext uri="{FF2B5EF4-FFF2-40B4-BE49-F238E27FC236}">
                <a16:creationId xmlns:a16="http://schemas.microsoft.com/office/drawing/2014/main" id="{8866B2C5-EB44-F946-8AC7-752A497D4F2E}"/>
              </a:ext>
            </a:extLst>
          </p:cNvPr>
          <p:cNvSpPr>
            <a:spLocks noChangeArrowheads="1"/>
          </p:cNvSpPr>
          <p:nvPr/>
        </p:nvSpPr>
        <p:spPr bwMode="auto">
          <a:xfrm>
            <a:off x="4103512" y="515778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23" name="Text Box 21">
            <a:extLst>
              <a:ext uri="{FF2B5EF4-FFF2-40B4-BE49-F238E27FC236}">
                <a16:creationId xmlns:a16="http://schemas.microsoft.com/office/drawing/2014/main" id="{E55F7954-0D51-7E42-9F66-6A7ACBF8F996}"/>
              </a:ext>
            </a:extLst>
          </p:cNvPr>
          <p:cNvSpPr txBox="1">
            <a:spLocks noChangeArrowheads="1"/>
          </p:cNvSpPr>
          <p:nvPr/>
        </p:nvSpPr>
        <p:spPr bwMode="auto">
          <a:xfrm>
            <a:off x="823708" y="2565400"/>
            <a:ext cx="2376487" cy="3968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fun(5)</a:t>
            </a:r>
            <a:r>
              <a:rPr lang="zh-CN" altLang="en-US" sz="2000">
                <a:solidFill>
                  <a:srgbClr val="0000FF"/>
                </a:solidFill>
                <a:latin typeface="Consolas" pitchFamily="49" charset="0"/>
                <a:ea typeface="楷体" pitchFamily="49" charset="-122"/>
                <a:cs typeface="Consolas" pitchFamily="49" charset="0"/>
              </a:rPr>
              <a:t>调用：进栈</a:t>
            </a:r>
          </a:p>
        </p:txBody>
      </p:sp>
      <p:sp>
        <p:nvSpPr>
          <p:cNvPr id="24" name="Text Box 22">
            <a:extLst>
              <a:ext uri="{FF2B5EF4-FFF2-40B4-BE49-F238E27FC236}">
                <a16:creationId xmlns:a16="http://schemas.microsoft.com/office/drawing/2014/main" id="{A455425B-EC52-BD42-AE0E-66FE4F17560A}"/>
              </a:ext>
            </a:extLst>
          </p:cNvPr>
          <p:cNvSpPr txBox="1">
            <a:spLocks noChangeArrowheads="1"/>
          </p:cNvSpPr>
          <p:nvPr/>
        </p:nvSpPr>
        <p:spPr bwMode="auto">
          <a:xfrm>
            <a:off x="823708" y="3860800"/>
            <a:ext cx="2376487" cy="3968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fun(4)</a:t>
            </a:r>
            <a:r>
              <a:rPr lang="zh-CN" altLang="en-US" sz="2000">
                <a:solidFill>
                  <a:srgbClr val="0000FF"/>
                </a:solidFill>
                <a:latin typeface="Consolas" pitchFamily="49" charset="0"/>
                <a:ea typeface="楷体" pitchFamily="49" charset="-122"/>
                <a:cs typeface="Consolas" pitchFamily="49" charset="0"/>
              </a:rPr>
              <a:t>调用：进栈</a:t>
            </a:r>
          </a:p>
        </p:txBody>
      </p:sp>
      <p:sp>
        <p:nvSpPr>
          <p:cNvPr id="25" name="Text Box 23">
            <a:extLst>
              <a:ext uri="{FF2B5EF4-FFF2-40B4-BE49-F238E27FC236}">
                <a16:creationId xmlns:a16="http://schemas.microsoft.com/office/drawing/2014/main" id="{ED9F02E1-4959-4948-A02D-841F7A7B37FA}"/>
              </a:ext>
            </a:extLst>
          </p:cNvPr>
          <p:cNvSpPr txBox="1">
            <a:spLocks noChangeArrowheads="1"/>
          </p:cNvSpPr>
          <p:nvPr/>
        </p:nvSpPr>
        <p:spPr bwMode="auto">
          <a:xfrm>
            <a:off x="790400" y="5119688"/>
            <a:ext cx="2376487" cy="3968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fun(3)</a:t>
            </a:r>
            <a:r>
              <a:rPr lang="zh-CN" altLang="en-US" sz="2000">
                <a:solidFill>
                  <a:srgbClr val="0000FF"/>
                </a:solidFill>
                <a:latin typeface="Consolas" pitchFamily="49" charset="0"/>
                <a:ea typeface="楷体" pitchFamily="49" charset="-122"/>
                <a:cs typeface="Consolas" pitchFamily="49" charset="0"/>
              </a:rPr>
              <a:t>调用：进栈</a:t>
            </a:r>
          </a:p>
        </p:txBody>
      </p:sp>
    </p:spTree>
    <p:extLst>
      <p:ext uri="{BB962C8B-B14F-4D97-AF65-F5344CB8AC3E}">
        <p14:creationId xmlns:p14="http://schemas.microsoft.com/office/powerpoint/2010/main" val="937715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75EB6594-E41B-1A4F-8A06-FADA6EC2190D}"/>
              </a:ext>
            </a:extLst>
          </p:cNvPr>
          <p:cNvSpPr>
            <a:spLocks noChangeArrowheads="1"/>
          </p:cNvSpPr>
          <p:nvPr/>
        </p:nvSpPr>
        <p:spPr bwMode="auto">
          <a:xfrm>
            <a:off x="4787900" y="193147"/>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5" name="Rectangle 3">
            <a:extLst>
              <a:ext uri="{FF2B5EF4-FFF2-40B4-BE49-F238E27FC236}">
                <a16:creationId xmlns:a16="http://schemas.microsoft.com/office/drawing/2014/main" id="{D32E29EE-87B8-E34E-8D0B-3282BE33E639}"/>
              </a:ext>
            </a:extLst>
          </p:cNvPr>
          <p:cNvSpPr>
            <a:spLocks noChangeArrowheads="1"/>
          </p:cNvSpPr>
          <p:nvPr/>
        </p:nvSpPr>
        <p:spPr bwMode="auto">
          <a:xfrm>
            <a:off x="4068763" y="127158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6" name="Rectangle 4">
            <a:extLst>
              <a:ext uri="{FF2B5EF4-FFF2-40B4-BE49-F238E27FC236}">
                <a16:creationId xmlns:a16="http://schemas.microsoft.com/office/drawing/2014/main" id="{8F5D4DCE-9A3F-444A-9497-DAE1F73E5A03}"/>
              </a:ext>
            </a:extLst>
          </p:cNvPr>
          <p:cNvSpPr>
            <a:spLocks noChangeArrowheads="1"/>
          </p:cNvSpPr>
          <p:nvPr/>
        </p:nvSpPr>
        <p:spPr bwMode="auto">
          <a:xfrm>
            <a:off x="4860925" y="127158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7" name="Rectangle 5">
            <a:extLst>
              <a:ext uri="{FF2B5EF4-FFF2-40B4-BE49-F238E27FC236}">
                <a16:creationId xmlns:a16="http://schemas.microsoft.com/office/drawing/2014/main" id="{B2197BAA-7AA3-D841-BF68-3A1858A5D8D9}"/>
              </a:ext>
            </a:extLst>
          </p:cNvPr>
          <p:cNvSpPr>
            <a:spLocks noChangeArrowheads="1"/>
          </p:cNvSpPr>
          <p:nvPr/>
        </p:nvSpPr>
        <p:spPr bwMode="auto">
          <a:xfrm>
            <a:off x="4068763" y="163195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8" name="Rectangle 6">
            <a:extLst>
              <a:ext uri="{FF2B5EF4-FFF2-40B4-BE49-F238E27FC236}">
                <a16:creationId xmlns:a16="http://schemas.microsoft.com/office/drawing/2014/main" id="{348FF531-49D6-A44F-988D-7253A24249EB}"/>
              </a:ext>
            </a:extLst>
          </p:cNvPr>
          <p:cNvSpPr>
            <a:spLocks noChangeArrowheads="1"/>
          </p:cNvSpPr>
          <p:nvPr/>
        </p:nvSpPr>
        <p:spPr bwMode="auto">
          <a:xfrm>
            <a:off x="4860925" y="163195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9" name="Rectangle 7">
            <a:extLst>
              <a:ext uri="{FF2B5EF4-FFF2-40B4-BE49-F238E27FC236}">
                <a16:creationId xmlns:a16="http://schemas.microsoft.com/office/drawing/2014/main" id="{DAD06603-5B5B-D241-8693-0858CD24E10B}"/>
              </a:ext>
            </a:extLst>
          </p:cNvPr>
          <p:cNvSpPr>
            <a:spLocks noChangeArrowheads="1"/>
          </p:cNvSpPr>
          <p:nvPr/>
        </p:nvSpPr>
        <p:spPr bwMode="auto">
          <a:xfrm>
            <a:off x="4068763" y="91281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10" name="Rectangle 8">
            <a:extLst>
              <a:ext uri="{FF2B5EF4-FFF2-40B4-BE49-F238E27FC236}">
                <a16:creationId xmlns:a16="http://schemas.microsoft.com/office/drawing/2014/main" id="{C2F6B982-B75B-F942-8B91-F9FD7E15B93E}"/>
              </a:ext>
            </a:extLst>
          </p:cNvPr>
          <p:cNvSpPr>
            <a:spLocks noChangeArrowheads="1"/>
          </p:cNvSpPr>
          <p:nvPr/>
        </p:nvSpPr>
        <p:spPr bwMode="auto">
          <a:xfrm>
            <a:off x="4860925" y="91281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11" name="Rectangle 9">
            <a:extLst>
              <a:ext uri="{FF2B5EF4-FFF2-40B4-BE49-F238E27FC236}">
                <a16:creationId xmlns:a16="http://schemas.microsoft.com/office/drawing/2014/main" id="{783C457D-37C1-F24C-819D-B55C63431F7F}"/>
              </a:ext>
            </a:extLst>
          </p:cNvPr>
          <p:cNvSpPr>
            <a:spLocks noChangeArrowheads="1"/>
          </p:cNvSpPr>
          <p:nvPr/>
        </p:nvSpPr>
        <p:spPr bwMode="auto">
          <a:xfrm>
            <a:off x="4067175" y="554038"/>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2</a:t>
            </a:r>
          </a:p>
        </p:txBody>
      </p:sp>
      <p:sp>
        <p:nvSpPr>
          <p:cNvPr id="12" name="Rectangle 10">
            <a:extLst>
              <a:ext uri="{FF2B5EF4-FFF2-40B4-BE49-F238E27FC236}">
                <a16:creationId xmlns:a16="http://schemas.microsoft.com/office/drawing/2014/main" id="{C2816A61-8483-1E44-8825-3078BC0AFFDC}"/>
              </a:ext>
            </a:extLst>
          </p:cNvPr>
          <p:cNvSpPr>
            <a:spLocks noChangeArrowheads="1"/>
          </p:cNvSpPr>
          <p:nvPr/>
        </p:nvSpPr>
        <p:spPr bwMode="auto">
          <a:xfrm>
            <a:off x="4859338" y="554038"/>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fun(1)*2</a:t>
            </a:r>
          </a:p>
        </p:txBody>
      </p:sp>
      <p:sp>
        <p:nvSpPr>
          <p:cNvPr id="13" name="AutoShape 11">
            <a:extLst>
              <a:ext uri="{FF2B5EF4-FFF2-40B4-BE49-F238E27FC236}">
                <a16:creationId xmlns:a16="http://schemas.microsoft.com/office/drawing/2014/main" id="{2AEAFCCF-460E-E24B-ABC8-8399962680FD}"/>
              </a:ext>
            </a:extLst>
          </p:cNvPr>
          <p:cNvSpPr>
            <a:spLocks noChangeArrowheads="1"/>
          </p:cNvSpPr>
          <p:nvPr/>
        </p:nvSpPr>
        <p:spPr bwMode="auto">
          <a:xfrm>
            <a:off x="4787900" y="2209800"/>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4" name="Rectangle 12">
            <a:extLst>
              <a:ext uri="{FF2B5EF4-FFF2-40B4-BE49-F238E27FC236}">
                <a16:creationId xmlns:a16="http://schemas.microsoft.com/office/drawing/2014/main" id="{3DA8BC0D-0E94-654C-9C1A-9E6D308C5E8B}"/>
              </a:ext>
            </a:extLst>
          </p:cNvPr>
          <p:cNvSpPr>
            <a:spLocks noChangeArrowheads="1"/>
          </p:cNvSpPr>
          <p:nvPr/>
        </p:nvSpPr>
        <p:spPr bwMode="auto">
          <a:xfrm>
            <a:off x="4068763" y="371951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15" name="Rectangle 13">
            <a:extLst>
              <a:ext uri="{FF2B5EF4-FFF2-40B4-BE49-F238E27FC236}">
                <a16:creationId xmlns:a16="http://schemas.microsoft.com/office/drawing/2014/main" id="{3C02AA59-99FF-E048-B6A0-E3129F4EDDC9}"/>
              </a:ext>
            </a:extLst>
          </p:cNvPr>
          <p:cNvSpPr>
            <a:spLocks noChangeArrowheads="1"/>
          </p:cNvSpPr>
          <p:nvPr/>
        </p:nvSpPr>
        <p:spPr bwMode="auto">
          <a:xfrm>
            <a:off x="4860925" y="371951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16" name="Rectangle 14">
            <a:extLst>
              <a:ext uri="{FF2B5EF4-FFF2-40B4-BE49-F238E27FC236}">
                <a16:creationId xmlns:a16="http://schemas.microsoft.com/office/drawing/2014/main" id="{A82BE2E9-A2F6-CA46-AF4A-D67DA3A0EF3D}"/>
              </a:ext>
            </a:extLst>
          </p:cNvPr>
          <p:cNvSpPr>
            <a:spLocks noChangeArrowheads="1"/>
          </p:cNvSpPr>
          <p:nvPr/>
        </p:nvSpPr>
        <p:spPr bwMode="auto">
          <a:xfrm>
            <a:off x="4068763" y="407987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17" name="Rectangle 15">
            <a:extLst>
              <a:ext uri="{FF2B5EF4-FFF2-40B4-BE49-F238E27FC236}">
                <a16:creationId xmlns:a16="http://schemas.microsoft.com/office/drawing/2014/main" id="{2B984F04-BD9D-2A40-ADE2-6DB7BF7C4FE9}"/>
              </a:ext>
            </a:extLst>
          </p:cNvPr>
          <p:cNvSpPr>
            <a:spLocks noChangeArrowheads="1"/>
          </p:cNvSpPr>
          <p:nvPr/>
        </p:nvSpPr>
        <p:spPr bwMode="auto">
          <a:xfrm>
            <a:off x="4860925" y="407987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18" name="Rectangle 16">
            <a:extLst>
              <a:ext uri="{FF2B5EF4-FFF2-40B4-BE49-F238E27FC236}">
                <a16:creationId xmlns:a16="http://schemas.microsoft.com/office/drawing/2014/main" id="{DE407715-84C6-284F-B7A8-EBED43A41976}"/>
              </a:ext>
            </a:extLst>
          </p:cNvPr>
          <p:cNvSpPr>
            <a:spLocks noChangeArrowheads="1"/>
          </p:cNvSpPr>
          <p:nvPr/>
        </p:nvSpPr>
        <p:spPr bwMode="auto">
          <a:xfrm>
            <a:off x="4068763" y="336073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19" name="Rectangle 17">
            <a:extLst>
              <a:ext uri="{FF2B5EF4-FFF2-40B4-BE49-F238E27FC236}">
                <a16:creationId xmlns:a16="http://schemas.microsoft.com/office/drawing/2014/main" id="{EA50113B-F412-E148-B93F-80D5C6D3BB6E}"/>
              </a:ext>
            </a:extLst>
          </p:cNvPr>
          <p:cNvSpPr>
            <a:spLocks noChangeArrowheads="1"/>
          </p:cNvSpPr>
          <p:nvPr/>
        </p:nvSpPr>
        <p:spPr bwMode="auto">
          <a:xfrm>
            <a:off x="4860925" y="336073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20" name="Rectangle 18">
            <a:extLst>
              <a:ext uri="{FF2B5EF4-FFF2-40B4-BE49-F238E27FC236}">
                <a16:creationId xmlns:a16="http://schemas.microsoft.com/office/drawing/2014/main" id="{8B202466-E222-2046-9800-4AD472EA3D34}"/>
              </a:ext>
            </a:extLst>
          </p:cNvPr>
          <p:cNvSpPr>
            <a:spLocks noChangeArrowheads="1"/>
          </p:cNvSpPr>
          <p:nvPr/>
        </p:nvSpPr>
        <p:spPr bwMode="auto">
          <a:xfrm>
            <a:off x="4067175" y="3001963"/>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2</a:t>
            </a:r>
          </a:p>
        </p:txBody>
      </p:sp>
      <p:sp>
        <p:nvSpPr>
          <p:cNvPr id="21" name="Rectangle 19">
            <a:extLst>
              <a:ext uri="{FF2B5EF4-FFF2-40B4-BE49-F238E27FC236}">
                <a16:creationId xmlns:a16="http://schemas.microsoft.com/office/drawing/2014/main" id="{88A41D81-4D2B-8E42-8AC6-0FBC7DD74ABC}"/>
              </a:ext>
            </a:extLst>
          </p:cNvPr>
          <p:cNvSpPr>
            <a:spLocks noChangeArrowheads="1"/>
          </p:cNvSpPr>
          <p:nvPr/>
        </p:nvSpPr>
        <p:spPr bwMode="auto">
          <a:xfrm>
            <a:off x="4859338" y="3001963"/>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fun(1)*2</a:t>
            </a:r>
          </a:p>
        </p:txBody>
      </p:sp>
      <p:sp>
        <p:nvSpPr>
          <p:cNvPr id="22" name="Rectangle 20">
            <a:extLst>
              <a:ext uri="{FF2B5EF4-FFF2-40B4-BE49-F238E27FC236}">
                <a16:creationId xmlns:a16="http://schemas.microsoft.com/office/drawing/2014/main" id="{D48463CF-AE99-5D46-B051-3C2405C08670}"/>
              </a:ext>
            </a:extLst>
          </p:cNvPr>
          <p:cNvSpPr>
            <a:spLocks noChangeArrowheads="1"/>
          </p:cNvSpPr>
          <p:nvPr/>
        </p:nvSpPr>
        <p:spPr bwMode="auto">
          <a:xfrm>
            <a:off x="4067175" y="2643188"/>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1</a:t>
            </a:r>
          </a:p>
        </p:txBody>
      </p:sp>
      <p:sp>
        <p:nvSpPr>
          <p:cNvPr id="23" name="Rectangle 21">
            <a:extLst>
              <a:ext uri="{FF2B5EF4-FFF2-40B4-BE49-F238E27FC236}">
                <a16:creationId xmlns:a16="http://schemas.microsoft.com/office/drawing/2014/main" id="{B889D9C0-CFA0-5D44-840A-A210641F56E1}"/>
              </a:ext>
            </a:extLst>
          </p:cNvPr>
          <p:cNvSpPr>
            <a:spLocks noChangeArrowheads="1"/>
          </p:cNvSpPr>
          <p:nvPr/>
        </p:nvSpPr>
        <p:spPr bwMode="auto">
          <a:xfrm>
            <a:off x="4859338" y="2643188"/>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1</a:t>
            </a:r>
          </a:p>
        </p:txBody>
      </p:sp>
      <p:sp>
        <p:nvSpPr>
          <p:cNvPr id="24" name="Text Box 22">
            <a:extLst>
              <a:ext uri="{FF2B5EF4-FFF2-40B4-BE49-F238E27FC236}">
                <a16:creationId xmlns:a16="http://schemas.microsoft.com/office/drawing/2014/main" id="{A98B6CBB-280B-4048-851D-CEB1708E7210}"/>
              </a:ext>
            </a:extLst>
          </p:cNvPr>
          <p:cNvSpPr txBox="1">
            <a:spLocks noChangeArrowheads="1"/>
          </p:cNvSpPr>
          <p:nvPr/>
        </p:nvSpPr>
        <p:spPr bwMode="auto">
          <a:xfrm>
            <a:off x="1401763" y="515938"/>
            <a:ext cx="2376487" cy="396875"/>
          </a:xfrm>
          <a:prstGeom prst="rect">
            <a:avLst/>
          </a:prstGeom>
          <a:noFill/>
          <a:ln w="9525">
            <a:noFill/>
            <a:miter lim="800000"/>
            <a:headEnd/>
            <a:tailEnd/>
          </a:ln>
        </p:spPr>
        <p:txBody>
          <a:bodyPr>
            <a:spAutoFit/>
          </a:bodyPr>
          <a:lstStyle/>
          <a:p>
            <a:pPr>
              <a:spcBef>
                <a:spcPct val="50000"/>
              </a:spcBef>
            </a:pPr>
            <a:r>
              <a:rPr lang="en-US" altLang="zh-CN" sz="2000" dirty="0">
                <a:solidFill>
                  <a:srgbClr val="0000FF"/>
                </a:solidFill>
                <a:latin typeface="Consolas" pitchFamily="49" charset="0"/>
                <a:ea typeface="楷体" pitchFamily="49" charset="-122"/>
                <a:cs typeface="Consolas" pitchFamily="49" charset="0"/>
              </a:rPr>
              <a:t>fun(2)</a:t>
            </a:r>
            <a:r>
              <a:rPr lang="zh-CN" altLang="en-US" sz="2000" dirty="0">
                <a:solidFill>
                  <a:srgbClr val="0000FF"/>
                </a:solidFill>
                <a:latin typeface="Consolas" pitchFamily="49" charset="0"/>
                <a:ea typeface="楷体" pitchFamily="49" charset="-122"/>
                <a:cs typeface="Consolas" pitchFamily="49" charset="0"/>
              </a:rPr>
              <a:t>调用：进栈</a:t>
            </a:r>
          </a:p>
        </p:txBody>
      </p:sp>
      <p:sp>
        <p:nvSpPr>
          <p:cNvPr id="25" name="Text Box 23">
            <a:extLst>
              <a:ext uri="{FF2B5EF4-FFF2-40B4-BE49-F238E27FC236}">
                <a16:creationId xmlns:a16="http://schemas.microsoft.com/office/drawing/2014/main" id="{7A9E6F7A-9FF4-5641-A349-1FE29315EB6C}"/>
              </a:ext>
            </a:extLst>
          </p:cNvPr>
          <p:cNvSpPr txBox="1">
            <a:spLocks noChangeArrowheads="1"/>
          </p:cNvSpPr>
          <p:nvPr/>
        </p:nvSpPr>
        <p:spPr bwMode="auto">
          <a:xfrm>
            <a:off x="571472" y="2641600"/>
            <a:ext cx="3351241" cy="400110"/>
          </a:xfrm>
          <a:prstGeom prst="rect">
            <a:avLst/>
          </a:prstGeom>
          <a:noFill/>
          <a:ln w="9525">
            <a:noFill/>
            <a:miter lim="800000"/>
            <a:headEnd/>
            <a:tailEnd/>
          </a:ln>
        </p:spPr>
        <p:txBody>
          <a:bodyPr wrap="square">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fun(1)</a:t>
            </a:r>
            <a:r>
              <a:rPr lang="zh-CN" altLang="en-US" sz="2000">
                <a:solidFill>
                  <a:srgbClr val="0000FF"/>
                </a:solidFill>
                <a:latin typeface="Consolas" pitchFamily="49" charset="0"/>
                <a:ea typeface="楷体" pitchFamily="49" charset="-122"/>
                <a:cs typeface="Consolas" pitchFamily="49" charset="0"/>
              </a:rPr>
              <a:t>调用：进栈并求值</a:t>
            </a:r>
          </a:p>
        </p:txBody>
      </p:sp>
      <p:sp>
        <p:nvSpPr>
          <p:cNvPr id="26" name="AutoShape 24">
            <a:extLst>
              <a:ext uri="{FF2B5EF4-FFF2-40B4-BE49-F238E27FC236}">
                <a16:creationId xmlns:a16="http://schemas.microsoft.com/office/drawing/2014/main" id="{EDF1966F-5308-F146-9AA9-07CC80BA7779}"/>
              </a:ext>
            </a:extLst>
          </p:cNvPr>
          <p:cNvSpPr>
            <a:spLocks noChangeArrowheads="1"/>
          </p:cNvSpPr>
          <p:nvPr/>
        </p:nvSpPr>
        <p:spPr bwMode="auto">
          <a:xfrm>
            <a:off x="4787900" y="4541132"/>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27" name="Rectangle 25">
            <a:extLst>
              <a:ext uri="{FF2B5EF4-FFF2-40B4-BE49-F238E27FC236}">
                <a16:creationId xmlns:a16="http://schemas.microsoft.com/office/drawing/2014/main" id="{88500C8C-F136-544B-B333-098829C889E8}"/>
              </a:ext>
            </a:extLst>
          </p:cNvPr>
          <p:cNvSpPr>
            <a:spLocks noChangeArrowheads="1"/>
          </p:cNvSpPr>
          <p:nvPr/>
        </p:nvSpPr>
        <p:spPr bwMode="auto">
          <a:xfrm>
            <a:off x="4068763" y="567443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28" name="Rectangle 26">
            <a:extLst>
              <a:ext uri="{FF2B5EF4-FFF2-40B4-BE49-F238E27FC236}">
                <a16:creationId xmlns:a16="http://schemas.microsoft.com/office/drawing/2014/main" id="{F5C84E89-6EBA-1248-BC12-7D45C4B3BBEB}"/>
              </a:ext>
            </a:extLst>
          </p:cNvPr>
          <p:cNvSpPr>
            <a:spLocks noChangeArrowheads="1"/>
          </p:cNvSpPr>
          <p:nvPr/>
        </p:nvSpPr>
        <p:spPr bwMode="auto">
          <a:xfrm>
            <a:off x="4860925" y="567443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29" name="Rectangle 27">
            <a:extLst>
              <a:ext uri="{FF2B5EF4-FFF2-40B4-BE49-F238E27FC236}">
                <a16:creationId xmlns:a16="http://schemas.microsoft.com/office/drawing/2014/main" id="{4D7CEE67-3835-2241-B92E-5389770CED3C}"/>
              </a:ext>
            </a:extLst>
          </p:cNvPr>
          <p:cNvSpPr>
            <a:spLocks noChangeArrowheads="1"/>
          </p:cNvSpPr>
          <p:nvPr/>
        </p:nvSpPr>
        <p:spPr bwMode="auto">
          <a:xfrm>
            <a:off x="4068763" y="603479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0" name="Rectangle 28">
            <a:extLst>
              <a:ext uri="{FF2B5EF4-FFF2-40B4-BE49-F238E27FC236}">
                <a16:creationId xmlns:a16="http://schemas.microsoft.com/office/drawing/2014/main" id="{CD757269-2042-6442-8722-517A89CC2954}"/>
              </a:ext>
            </a:extLst>
          </p:cNvPr>
          <p:cNvSpPr>
            <a:spLocks noChangeArrowheads="1"/>
          </p:cNvSpPr>
          <p:nvPr/>
        </p:nvSpPr>
        <p:spPr bwMode="auto">
          <a:xfrm>
            <a:off x="4860925" y="603479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31" name="Rectangle 29">
            <a:extLst>
              <a:ext uri="{FF2B5EF4-FFF2-40B4-BE49-F238E27FC236}">
                <a16:creationId xmlns:a16="http://schemas.microsoft.com/office/drawing/2014/main" id="{C4FCE4E1-49CE-6F48-AB8A-442F903EA562}"/>
              </a:ext>
            </a:extLst>
          </p:cNvPr>
          <p:cNvSpPr>
            <a:spLocks noChangeArrowheads="1"/>
          </p:cNvSpPr>
          <p:nvPr/>
        </p:nvSpPr>
        <p:spPr bwMode="auto">
          <a:xfrm>
            <a:off x="4068763" y="531565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32" name="Rectangle 30">
            <a:extLst>
              <a:ext uri="{FF2B5EF4-FFF2-40B4-BE49-F238E27FC236}">
                <a16:creationId xmlns:a16="http://schemas.microsoft.com/office/drawing/2014/main" id="{87E10D0F-E9C2-1942-BCD5-D844196671C2}"/>
              </a:ext>
            </a:extLst>
          </p:cNvPr>
          <p:cNvSpPr>
            <a:spLocks noChangeArrowheads="1"/>
          </p:cNvSpPr>
          <p:nvPr/>
        </p:nvSpPr>
        <p:spPr bwMode="auto">
          <a:xfrm>
            <a:off x="4860925" y="531565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33" name="Rectangle 31">
            <a:extLst>
              <a:ext uri="{FF2B5EF4-FFF2-40B4-BE49-F238E27FC236}">
                <a16:creationId xmlns:a16="http://schemas.microsoft.com/office/drawing/2014/main" id="{CFB0E239-7613-3845-9386-59A58B684EC4}"/>
              </a:ext>
            </a:extLst>
          </p:cNvPr>
          <p:cNvSpPr>
            <a:spLocks noChangeArrowheads="1"/>
          </p:cNvSpPr>
          <p:nvPr/>
        </p:nvSpPr>
        <p:spPr bwMode="auto">
          <a:xfrm>
            <a:off x="4067175" y="4956880"/>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2</a:t>
            </a:r>
          </a:p>
        </p:txBody>
      </p:sp>
      <p:sp>
        <p:nvSpPr>
          <p:cNvPr id="34" name="Rectangle 32">
            <a:extLst>
              <a:ext uri="{FF2B5EF4-FFF2-40B4-BE49-F238E27FC236}">
                <a16:creationId xmlns:a16="http://schemas.microsoft.com/office/drawing/2014/main" id="{6F5E0595-B446-9A4D-8112-B5368718CAEA}"/>
              </a:ext>
            </a:extLst>
          </p:cNvPr>
          <p:cNvSpPr>
            <a:spLocks noChangeArrowheads="1"/>
          </p:cNvSpPr>
          <p:nvPr/>
        </p:nvSpPr>
        <p:spPr bwMode="auto">
          <a:xfrm>
            <a:off x="4859338" y="4956880"/>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1*2</a:t>
            </a:r>
            <a:r>
              <a:rPr lang="zh-CN" altLang="en-US" sz="1800">
                <a:latin typeface="Consolas" pitchFamily="49" charset="0"/>
                <a:cs typeface="Consolas" pitchFamily="49" charset="0"/>
              </a:rPr>
              <a:t>＝</a:t>
            </a:r>
            <a:r>
              <a:rPr lang="en-US" altLang="zh-CN" sz="1800">
                <a:latin typeface="Consolas" pitchFamily="49" charset="0"/>
                <a:cs typeface="Consolas" pitchFamily="49" charset="0"/>
              </a:rPr>
              <a:t>2</a:t>
            </a:r>
          </a:p>
        </p:txBody>
      </p:sp>
      <p:sp>
        <p:nvSpPr>
          <p:cNvPr id="35" name="Text Box 35">
            <a:extLst>
              <a:ext uri="{FF2B5EF4-FFF2-40B4-BE49-F238E27FC236}">
                <a16:creationId xmlns:a16="http://schemas.microsoft.com/office/drawing/2014/main" id="{0858B28D-932E-174C-802D-66C21F039612}"/>
              </a:ext>
            </a:extLst>
          </p:cNvPr>
          <p:cNvSpPr txBox="1">
            <a:spLocks noChangeArrowheads="1"/>
          </p:cNvSpPr>
          <p:nvPr/>
        </p:nvSpPr>
        <p:spPr bwMode="auto">
          <a:xfrm>
            <a:off x="785786" y="4991805"/>
            <a:ext cx="2994052" cy="400110"/>
          </a:xfrm>
          <a:prstGeom prst="rect">
            <a:avLst/>
          </a:prstGeom>
          <a:noFill/>
          <a:ln w="9525">
            <a:noFill/>
            <a:miter lim="800000"/>
            <a:headEnd/>
            <a:tailEnd/>
          </a:ln>
        </p:spPr>
        <p:txBody>
          <a:bodyPr wrap="square">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退栈</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次并求</a:t>
            </a:r>
            <a:r>
              <a:rPr lang="en-US" altLang="zh-CN" sz="2000">
                <a:solidFill>
                  <a:srgbClr val="0000FF"/>
                </a:solidFill>
                <a:latin typeface="Consolas" pitchFamily="49" charset="0"/>
                <a:ea typeface="楷体" pitchFamily="49" charset="-122"/>
                <a:cs typeface="Consolas" pitchFamily="49" charset="0"/>
              </a:rPr>
              <a:t>fun(2)</a:t>
            </a:r>
            <a:r>
              <a:rPr lang="zh-CN" altLang="en-US" sz="2000">
                <a:solidFill>
                  <a:srgbClr val="0000FF"/>
                </a:solidFill>
                <a:latin typeface="Consolas" pitchFamily="49" charset="0"/>
                <a:ea typeface="楷体" pitchFamily="49" charset="-122"/>
                <a:cs typeface="Consolas" pitchFamily="49" charset="0"/>
              </a:rPr>
              <a:t>值</a:t>
            </a:r>
          </a:p>
        </p:txBody>
      </p:sp>
    </p:spTree>
    <p:extLst>
      <p:ext uri="{BB962C8B-B14F-4D97-AF65-F5344CB8AC3E}">
        <p14:creationId xmlns:p14="http://schemas.microsoft.com/office/powerpoint/2010/main" val="976918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CD7445E5-6890-DC48-9084-ECEF8AC5E1D5}"/>
              </a:ext>
            </a:extLst>
          </p:cNvPr>
          <p:cNvSpPr>
            <a:spLocks noChangeArrowheads="1"/>
          </p:cNvSpPr>
          <p:nvPr/>
        </p:nvSpPr>
        <p:spPr bwMode="auto">
          <a:xfrm>
            <a:off x="4787900" y="261938"/>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5" name="Rectangle 3">
            <a:extLst>
              <a:ext uri="{FF2B5EF4-FFF2-40B4-BE49-F238E27FC236}">
                <a16:creationId xmlns:a16="http://schemas.microsoft.com/office/drawing/2014/main" id="{05B1539C-F8DE-0A4B-8092-75A1367AC3EB}"/>
              </a:ext>
            </a:extLst>
          </p:cNvPr>
          <p:cNvSpPr>
            <a:spLocks noChangeArrowheads="1"/>
          </p:cNvSpPr>
          <p:nvPr/>
        </p:nvSpPr>
        <p:spPr bwMode="auto">
          <a:xfrm>
            <a:off x="4068763" y="11176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6" name="Rectangle 4">
            <a:extLst>
              <a:ext uri="{FF2B5EF4-FFF2-40B4-BE49-F238E27FC236}">
                <a16:creationId xmlns:a16="http://schemas.microsoft.com/office/drawing/2014/main" id="{8DBE57F1-6EF1-074D-9D7F-556C5B75621D}"/>
              </a:ext>
            </a:extLst>
          </p:cNvPr>
          <p:cNvSpPr>
            <a:spLocks noChangeArrowheads="1"/>
          </p:cNvSpPr>
          <p:nvPr/>
        </p:nvSpPr>
        <p:spPr bwMode="auto">
          <a:xfrm>
            <a:off x="4860925" y="11176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7" name="Rectangle 5">
            <a:extLst>
              <a:ext uri="{FF2B5EF4-FFF2-40B4-BE49-F238E27FC236}">
                <a16:creationId xmlns:a16="http://schemas.microsoft.com/office/drawing/2014/main" id="{6BF25B92-B67F-F148-B249-B95E551418E3}"/>
              </a:ext>
            </a:extLst>
          </p:cNvPr>
          <p:cNvSpPr>
            <a:spLocks noChangeArrowheads="1"/>
          </p:cNvSpPr>
          <p:nvPr/>
        </p:nvSpPr>
        <p:spPr bwMode="auto">
          <a:xfrm>
            <a:off x="4068763" y="14779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8" name="Rectangle 6">
            <a:extLst>
              <a:ext uri="{FF2B5EF4-FFF2-40B4-BE49-F238E27FC236}">
                <a16:creationId xmlns:a16="http://schemas.microsoft.com/office/drawing/2014/main" id="{739EC511-7E39-D647-A5D1-DFA42FF8ECAC}"/>
              </a:ext>
            </a:extLst>
          </p:cNvPr>
          <p:cNvSpPr>
            <a:spLocks noChangeArrowheads="1"/>
          </p:cNvSpPr>
          <p:nvPr/>
        </p:nvSpPr>
        <p:spPr bwMode="auto">
          <a:xfrm>
            <a:off x="4860925" y="14779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9" name="Rectangle 7">
            <a:extLst>
              <a:ext uri="{FF2B5EF4-FFF2-40B4-BE49-F238E27FC236}">
                <a16:creationId xmlns:a16="http://schemas.microsoft.com/office/drawing/2014/main" id="{9C961B83-F74F-174C-9A4B-4EE30458FF0B}"/>
              </a:ext>
            </a:extLst>
          </p:cNvPr>
          <p:cNvSpPr>
            <a:spLocks noChangeArrowheads="1"/>
          </p:cNvSpPr>
          <p:nvPr/>
        </p:nvSpPr>
        <p:spPr bwMode="auto">
          <a:xfrm>
            <a:off x="4068763" y="75882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10" name="Rectangle 8">
            <a:extLst>
              <a:ext uri="{FF2B5EF4-FFF2-40B4-BE49-F238E27FC236}">
                <a16:creationId xmlns:a16="http://schemas.microsoft.com/office/drawing/2014/main" id="{4C7BCA4C-5CE7-A84D-AB80-4FB692D19033}"/>
              </a:ext>
            </a:extLst>
          </p:cNvPr>
          <p:cNvSpPr>
            <a:spLocks noChangeArrowheads="1"/>
          </p:cNvSpPr>
          <p:nvPr/>
        </p:nvSpPr>
        <p:spPr bwMode="auto">
          <a:xfrm>
            <a:off x="4860925" y="75882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2*3=6</a:t>
            </a:r>
          </a:p>
        </p:txBody>
      </p:sp>
      <p:sp>
        <p:nvSpPr>
          <p:cNvPr id="11" name="Text Box 11">
            <a:extLst>
              <a:ext uri="{FF2B5EF4-FFF2-40B4-BE49-F238E27FC236}">
                <a16:creationId xmlns:a16="http://schemas.microsoft.com/office/drawing/2014/main" id="{45E9767D-BC13-BF4F-BBBD-EDBD7DA65412}"/>
              </a:ext>
            </a:extLst>
          </p:cNvPr>
          <p:cNvSpPr txBox="1">
            <a:spLocks noChangeArrowheads="1"/>
          </p:cNvSpPr>
          <p:nvPr/>
        </p:nvSpPr>
        <p:spPr bwMode="auto">
          <a:xfrm>
            <a:off x="1071538" y="1142984"/>
            <a:ext cx="2949578" cy="400110"/>
          </a:xfrm>
          <a:prstGeom prst="rect">
            <a:avLst/>
          </a:prstGeom>
          <a:noFill/>
          <a:ln w="9525">
            <a:noFill/>
            <a:miter lim="800000"/>
            <a:headEnd/>
            <a:tailEnd/>
          </a:ln>
        </p:spPr>
        <p:txBody>
          <a:bodyPr wrap="square">
            <a:spAutoFit/>
          </a:bodyPr>
          <a:lstStyle/>
          <a:p>
            <a:pPr>
              <a:spcBef>
                <a:spcPct val="50000"/>
              </a:spcBef>
            </a:pPr>
            <a:r>
              <a:rPr lang="zh-CN" altLang="en-US" sz="2000" dirty="0">
                <a:solidFill>
                  <a:srgbClr val="0000FF"/>
                </a:solidFill>
                <a:latin typeface="Consolas" pitchFamily="49" charset="0"/>
                <a:ea typeface="楷体" pitchFamily="49" charset="-122"/>
                <a:cs typeface="Consolas" pitchFamily="49" charset="0"/>
              </a:rPr>
              <a:t>退栈</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次并求</a:t>
            </a:r>
            <a:r>
              <a:rPr lang="en-US" altLang="zh-CN" sz="2000" dirty="0">
                <a:solidFill>
                  <a:srgbClr val="0000FF"/>
                </a:solidFill>
                <a:latin typeface="Consolas" pitchFamily="49" charset="0"/>
                <a:ea typeface="楷体" pitchFamily="49" charset="-122"/>
                <a:cs typeface="Consolas" pitchFamily="49" charset="0"/>
              </a:rPr>
              <a:t>fun(3)</a:t>
            </a:r>
            <a:r>
              <a:rPr lang="zh-CN" altLang="en-US" sz="2000" dirty="0">
                <a:solidFill>
                  <a:srgbClr val="0000FF"/>
                </a:solidFill>
                <a:latin typeface="Consolas" pitchFamily="49" charset="0"/>
                <a:ea typeface="楷体" pitchFamily="49" charset="-122"/>
                <a:cs typeface="Consolas" pitchFamily="49" charset="0"/>
              </a:rPr>
              <a:t>值</a:t>
            </a:r>
          </a:p>
        </p:txBody>
      </p:sp>
      <p:sp>
        <p:nvSpPr>
          <p:cNvPr id="12" name="AutoShape 12">
            <a:extLst>
              <a:ext uri="{FF2B5EF4-FFF2-40B4-BE49-F238E27FC236}">
                <a16:creationId xmlns:a16="http://schemas.microsoft.com/office/drawing/2014/main" id="{5A4F936C-EBC9-C24F-8DC4-026B171880AF}"/>
              </a:ext>
            </a:extLst>
          </p:cNvPr>
          <p:cNvSpPr>
            <a:spLocks noChangeArrowheads="1"/>
          </p:cNvSpPr>
          <p:nvPr/>
        </p:nvSpPr>
        <p:spPr bwMode="auto">
          <a:xfrm>
            <a:off x="4787900" y="2062163"/>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3" name="Rectangle 13">
            <a:extLst>
              <a:ext uri="{FF2B5EF4-FFF2-40B4-BE49-F238E27FC236}">
                <a16:creationId xmlns:a16="http://schemas.microsoft.com/office/drawing/2014/main" id="{C882ACC1-B442-334D-A5AE-3A8B652289CF}"/>
              </a:ext>
            </a:extLst>
          </p:cNvPr>
          <p:cNvSpPr>
            <a:spLocks noChangeArrowheads="1"/>
          </p:cNvSpPr>
          <p:nvPr/>
        </p:nvSpPr>
        <p:spPr bwMode="auto">
          <a:xfrm>
            <a:off x="4068763" y="25654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14" name="Rectangle 14">
            <a:extLst>
              <a:ext uri="{FF2B5EF4-FFF2-40B4-BE49-F238E27FC236}">
                <a16:creationId xmlns:a16="http://schemas.microsoft.com/office/drawing/2014/main" id="{BE33AD60-CFE0-3741-BA6C-F2A2FAA4D2C9}"/>
              </a:ext>
            </a:extLst>
          </p:cNvPr>
          <p:cNvSpPr>
            <a:spLocks noChangeArrowheads="1"/>
          </p:cNvSpPr>
          <p:nvPr/>
        </p:nvSpPr>
        <p:spPr bwMode="auto">
          <a:xfrm>
            <a:off x="4860925" y="25654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6*4=24</a:t>
            </a:r>
          </a:p>
        </p:txBody>
      </p:sp>
      <p:sp>
        <p:nvSpPr>
          <p:cNvPr id="15" name="Rectangle 15">
            <a:extLst>
              <a:ext uri="{FF2B5EF4-FFF2-40B4-BE49-F238E27FC236}">
                <a16:creationId xmlns:a16="http://schemas.microsoft.com/office/drawing/2014/main" id="{A948877A-BDC6-F84C-9559-9E765685BA89}"/>
              </a:ext>
            </a:extLst>
          </p:cNvPr>
          <p:cNvSpPr>
            <a:spLocks noChangeArrowheads="1"/>
          </p:cNvSpPr>
          <p:nvPr/>
        </p:nvSpPr>
        <p:spPr bwMode="auto">
          <a:xfrm>
            <a:off x="4068763" y="29257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16" name="Rectangle 16">
            <a:extLst>
              <a:ext uri="{FF2B5EF4-FFF2-40B4-BE49-F238E27FC236}">
                <a16:creationId xmlns:a16="http://schemas.microsoft.com/office/drawing/2014/main" id="{62EC5824-3D87-9041-8411-929EB849CBE1}"/>
              </a:ext>
            </a:extLst>
          </p:cNvPr>
          <p:cNvSpPr>
            <a:spLocks noChangeArrowheads="1"/>
          </p:cNvSpPr>
          <p:nvPr/>
        </p:nvSpPr>
        <p:spPr bwMode="auto">
          <a:xfrm>
            <a:off x="4860925" y="29257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17" name="Text Box 19">
            <a:extLst>
              <a:ext uri="{FF2B5EF4-FFF2-40B4-BE49-F238E27FC236}">
                <a16:creationId xmlns:a16="http://schemas.microsoft.com/office/drawing/2014/main" id="{1D8F997C-2CD3-2748-8D00-E7635CBDE4D2}"/>
              </a:ext>
            </a:extLst>
          </p:cNvPr>
          <p:cNvSpPr txBox="1">
            <a:spLocks noChangeArrowheads="1"/>
          </p:cNvSpPr>
          <p:nvPr/>
        </p:nvSpPr>
        <p:spPr bwMode="auto">
          <a:xfrm>
            <a:off x="1142976" y="2786058"/>
            <a:ext cx="2878140" cy="400110"/>
          </a:xfrm>
          <a:prstGeom prst="rect">
            <a:avLst/>
          </a:prstGeom>
          <a:noFill/>
          <a:ln w="9525">
            <a:noFill/>
            <a:miter lim="800000"/>
            <a:headEnd/>
            <a:tailEnd/>
          </a:ln>
        </p:spPr>
        <p:txBody>
          <a:bodyPr wrap="square">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退栈</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次并求</a:t>
            </a:r>
            <a:r>
              <a:rPr lang="en-US" altLang="zh-CN" sz="2000">
                <a:solidFill>
                  <a:srgbClr val="0000FF"/>
                </a:solidFill>
                <a:latin typeface="Consolas" pitchFamily="49" charset="0"/>
                <a:ea typeface="楷体" pitchFamily="49" charset="-122"/>
                <a:cs typeface="Consolas" pitchFamily="49" charset="0"/>
              </a:rPr>
              <a:t>fun(4)</a:t>
            </a:r>
            <a:r>
              <a:rPr lang="zh-CN" altLang="en-US" sz="2000">
                <a:solidFill>
                  <a:srgbClr val="0000FF"/>
                </a:solidFill>
                <a:latin typeface="Consolas" pitchFamily="49" charset="0"/>
                <a:ea typeface="楷体" pitchFamily="49" charset="-122"/>
                <a:cs typeface="Consolas" pitchFamily="49" charset="0"/>
              </a:rPr>
              <a:t>值</a:t>
            </a:r>
          </a:p>
        </p:txBody>
      </p:sp>
      <p:sp>
        <p:nvSpPr>
          <p:cNvPr id="18" name="AutoShape 20">
            <a:extLst>
              <a:ext uri="{FF2B5EF4-FFF2-40B4-BE49-F238E27FC236}">
                <a16:creationId xmlns:a16="http://schemas.microsoft.com/office/drawing/2014/main" id="{4D6CF806-0D6B-484B-9302-FA275C26B5D8}"/>
              </a:ext>
            </a:extLst>
          </p:cNvPr>
          <p:cNvSpPr>
            <a:spLocks noChangeArrowheads="1"/>
          </p:cNvSpPr>
          <p:nvPr/>
        </p:nvSpPr>
        <p:spPr bwMode="auto">
          <a:xfrm>
            <a:off x="4787900" y="3502025"/>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9" name="Rectangle 23">
            <a:extLst>
              <a:ext uri="{FF2B5EF4-FFF2-40B4-BE49-F238E27FC236}">
                <a16:creationId xmlns:a16="http://schemas.microsoft.com/office/drawing/2014/main" id="{5E12D95C-ABE6-1C4E-9F9E-0356123A85C3}"/>
              </a:ext>
            </a:extLst>
          </p:cNvPr>
          <p:cNvSpPr>
            <a:spLocks noChangeArrowheads="1"/>
          </p:cNvSpPr>
          <p:nvPr/>
        </p:nvSpPr>
        <p:spPr bwMode="auto">
          <a:xfrm>
            <a:off x="4068763" y="393382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20" name="Rectangle 24">
            <a:extLst>
              <a:ext uri="{FF2B5EF4-FFF2-40B4-BE49-F238E27FC236}">
                <a16:creationId xmlns:a16="http://schemas.microsoft.com/office/drawing/2014/main" id="{D52EECDD-A499-D948-9DE7-93D35C81831C}"/>
              </a:ext>
            </a:extLst>
          </p:cNvPr>
          <p:cNvSpPr>
            <a:spLocks noChangeArrowheads="1"/>
          </p:cNvSpPr>
          <p:nvPr/>
        </p:nvSpPr>
        <p:spPr bwMode="auto">
          <a:xfrm>
            <a:off x="4860925" y="393382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24*5=120</a:t>
            </a:r>
          </a:p>
        </p:txBody>
      </p:sp>
      <p:sp>
        <p:nvSpPr>
          <p:cNvPr id="21" name="Text Box 25">
            <a:extLst>
              <a:ext uri="{FF2B5EF4-FFF2-40B4-BE49-F238E27FC236}">
                <a16:creationId xmlns:a16="http://schemas.microsoft.com/office/drawing/2014/main" id="{69070334-E516-1744-B56B-2B284D751994}"/>
              </a:ext>
            </a:extLst>
          </p:cNvPr>
          <p:cNvSpPr txBox="1">
            <a:spLocks noChangeArrowheads="1"/>
          </p:cNvSpPr>
          <p:nvPr/>
        </p:nvSpPr>
        <p:spPr bwMode="auto">
          <a:xfrm>
            <a:off x="1142976" y="3929066"/>
            <a:ext cx="2878140" cy="400110"/>
          </a:xfrm>
          <a:prstGeom prst="rect">
            <a:avLst/>
          </a:prstGeom>
          <a:noFill/>
          <a:ln w="9525">
            <a:noFill/>
            <a:miter lim="800000"/>
            <a:headEnd/>
            <a:tailEnd/>
          </a:ln>
        </p:spPr>
        <p:txBody>
          <a:bodyPr wrap="square">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退栈</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次并求</a:t>
            </a:r>
            <a:r>
              <a:rPr lang="en-US" altLang="zh-CN" sz="2000">
                <a:solidFill>
                  <a:srgbClr val="0000FF"/>
                </a:solidFill>
                <a:latin typeface="Consolas" pitchFamily="49" charset="0"/>
                <a:ea typeface="楷体" pitchFamily="49" charset="-122"/>
                <a:cs typeface="Consolas" pitchFamily="49" charset="0"/>
              </a:rPr>
              <a:t>fun(5)</a:t>
            </a:r>
            <a:r>
              <a:rPr lang="zh-CN" altLang="en-US" sz="2000">
                <a:solidFill>
                  <a:srgbClr val="0000FF"/>
                </a:solidFill>
                <a:latin typeface="Consolas" pitchFamily="49" charset="0"/>
                <a:ea typeface="楷体" pitchFamily="49" charset="-122"/>
                <a:cs typeface="Consolas" pitchFamily="49" charset="0"/>
              </a:rPr>
              <a:t>值</a:t>
            </a:r>
          </a:p>
        </p:txBody>
      </p:sp>
      <p:sp>
        <p:nvSpPr>
          <p:cNvPr id="22" name="Text Box 26">
            <a:extLst>
              <a:ext uri="{FF2B5EF4-FFF2-40B4-BE49-F238E27FC236}">
                <a16:creationId xmlns:a16="http://schemas.microsoft.com/office/drawing/2014/main" id="{F64A6F1B-8AE9-2348-8442-A377622B4E5C}"/>
              </a:ext>
            </a:extLst>
          </p:cNvPr>
          <p:cNvSpPr txBox="1">
            <a:spLocks noChangeArrowheads="1"/>
          </p:cNvSpPr>
          <p:nvPr/>
        </p:nvSpPr>
        <p:spPr bwMode="auto">
          <a:xfrm>
            <a:off x="3708400" y="4868863"/>
            <a:ext cx="2592388" cy="396875"/>
          </a:xfrm>
          <a:prstGeom prst="rect">
            <a:avLst/>
          </a:prstGeom>
          <a:noFill/>
          <a:ln w="9525">
            <a:noFill/>
            <a:miter lim="800000"/>
            <a:headEnd/>
            <a:tailEnd/>
          </a:ln>
        </p:spPr>
        <p:txBody>
          <a:bodyPr>
            <a:spAutoFit/>
          </a:bodyPr>
          <a:lstStyle/>
          <a:p>
            <a:pPr>
              <a:spcBef>
                <a:spcPct val="50000"/>
              </a:spcBef>
            </a:pPr>
            <a:r>
              <a:rPr lang="zh-CN" altLang="en-US" sz="2000">
                <a:solidFill>
                  <a:srgbClr val="0000FF"/>
                </a:solidFill>
                <a:latin typeface="微软雅黑" pitchFamily="34" charset="-122"/>
                <a:ea typeface="微软雅黑" pitchFamily="34" charset="-122"/>
                <a:cs typeface="Consolas" pitchFamily="49" charset="0"/>
              </a:rPr>
              <a:t>退栈</a:t>
            </a:r>
            <a:r>
              <a:rPr lang="en-US" altLang="zh-CN" sz="2000">
                <a:solidFill>
                  <a:srgbClr val="0000FF"/>
                </a:solidFill>
                <a:latin typeface="微软雅黑" pitchFamily="34" charset="-122"/>
                <a:ea typeface="微软雅黑" pitchFamily="34" charset="-122"/>
                <a:cs typeface="Consolas" pitchFamily="49" charset="0"/>
              </a:rPr>
              <a:t>1</a:t>
            </a:r>
            <a:r>
              <a:rPr lang="zh-CN" altLang="en-US" sz="2000">
                <a:solidFill>
                  <a:srgbClr val="0000FF"/>
                </a:solidFill>
                <a:latin typeface="微软雅黑" pitchFamily="34" charset="-122"/>
                <a:ea typeface="微软雅黑" pitchFamily="34" charset="-122"/>
                <a:cs typeface="Consolas" pitchFamily="49" charset="0"/>
              </a:rPr>
              <a:t>次并输出</a:t>
            </a:r>
            <a:r>
              <a:rPr lang="en-US" altLang="zh-CN" sz="2000">
                <a:solidFill>
                  <a:srgbClr val="0000FF"/>
                </a:solidFill>
                <a:latin typeface="微软雅黑" pitchFamily="34" charset="-122"/>
                <a:ea typeface="微软雅黑" pitchFamily="34" charset="-122"/>
                <a:cs typeface="Consolas" pitchFamily="49" charset="0"/>
              </a:rPr>
              <a:t>120</a:t>
            </a:r>
          </a:p>
        </p:txBody>
      </p:sp>
      <p:sp>
        <p:nvSpPr>
          <p:cNvPr id="23" name="AutoShape 27">
            <a:extLst>
              <a:ext uri="{FF2B5EF4-FFF2-40B4-BE49-F238E27FC236}">
                <a16:creationId xmlns:a16="http://schemas.microsoft.com/office/drawing/2014/main" id="{35D67221-961E-744A-A419-BE98740F631F}"/>
              </a:ext>
            </a:extLst>
          </p:cNvPr>
          <p:cNvSpPr>
            <a:spLocks noChangeArrowheads="1"/>
          </p:cNvSpPr>
          <p:nvPr/>
        </p:nvSpPr>
        <p:spPr bwMode="auto">
          <a:xfrm>
            <a:off x="4787900" y="4508500"/>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Tree>
    <p:extLst>
      <p:ext uri="{BB962C8B-B14F-4D97-AF65-F5344CB8AC3E}">
        <p14:creationId xmlns:p14="http://schemas.microsoft.com/office/powerpoint/2010/main" val="788082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459543C-601D-CC4C-89A6-C586FC657057}"/>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递归算法</a:t>
            </a:r>
          </a:p>
        </p:txBody>
      </p:sp>
      <p:sp>
        <p:nvSpPr>
          <p:cNvPr id="4" name="Text Box 2">
            <a:extLst>
              <a:ext uri="{FF2B5EF4-FFF2-40B4-BE49-F238E27FC236}">
                <a16:creationId xmlns:a16="http://schemas.microsoft.com/office/drawing/2014/main" id="{1B699F90-9036-AD4A-ABBB-A8418966D114}"/>
              </a:ext>
            </a:extLst>
          </p:cNvPr>
          <p:cNvSpPr txBox="1">
            <a:spLocks noChangeArrowheads="1"/>
          </p:cNvSpPr>
          <p:nvPr/>
        </p:nvSpPr>
        <p:spPr bwMode="auto">
          <a:xfrm>
            <a:off x="714348" y="1428736"/>
            <a:ext cx="7500990" cy="461665"/>
          </a:xfrm>
          <a:prstGeom prst="rect">
            <a:avLst/>
          </a:prstGeom>
          <a:noFill/>
          <a:ln w="9525">
            <a:noFill/>
            <a:miter lim="800000"/>
            <a:headEnd/>
            <a:tailEnd/>
          </a:ln>
        </p:spPr>
        <p:txBody>
          <a:bodyPr wrap="square">
            <a:spAutoFit/>
          </a:bodyPr>
          <a:lstStyle/>
          <a:p>
            <a:pPr>
              <a:spcBef>
                <a:spcPct val="50000"/>
              </a:spcBef>
            </a:pPr>
            <a:r>
              <a:rPr lang="zh-CN" altLang="en-US" sz="2400" dirty="0">
                <a:latin typeface="SimSun" panose="02010600030101010101" pitchFamily="2" charset="-122"/>
                <a:ea typeface="SimSun" panose="02010600030101010101" pitchFamily="2" charset="-122"/>
                <a:cs typeface="Consolas" pitchFamily="49" charset="0"/>
              </a:rPr>
              <a:t>从以上过程可以得出：</a:t>
            </a:r>
          </a:p>
        </p:txBody>
      </p:sp>
      <p:sp>
        <p:nvSpPr>
          <p:cNvPr id="5" name="TextBox 2">
            <a:extLst>
              <a:ext uri="{FF2B5EF4-FFF2-40B4-BE49-F238E27FC236}">
                <a16:creationId xmlns:a16="http://schemas.microsoft.com/office/drawing/2014/main" id="{C2337DBB-0BD7-704C-A579-9ABBA11B01D1}"/>
              </a:ext>
            </a:extLst>
          </p:cNvPr>
          <p:cNvSpPr txBox="1"/>
          <p:nvPr/>
        </p:nvSpPr>
        <p:spPr>
          <a:xfrm>
            <a:off x="719903" y="2273279"/>
            <a:ext cx="9846495" cy="2492945"/>
          </a:xfrm>
          <a:prstGeom prst="rect">
            <a:avLst/>
          </a:prstGeom>
          <a:noFill/>
        </p:spPr>
        <p:style>
          <a:lnRef idx="2">
            <a:schemeClr val="accent2"/>
          </a:lnRef>
          <a:fillRef idx="1">
            <a:schemeClr val="lt1"/>
          </a:fillRef>
          <a:effectRef idx="0">
            <a:schemeClr val="accent2"/>
          </a:effectRef>
          <a:fontRef idx="minor">
            <a:schemeClr val="dk1"/>
          </a:fontRef>
        </p:style>
        <p:txBody>
          <a:bodyPr wrap="square" lIns="180000" tIns="180000" rIns="180000" bIns="180000" rtlCol="0">
            <a:spAutoFit/>
          </a:bodyPr>
          <a:lstStyle/>
          <a:p>
            <a:pPr marL="457200" indent="-457200">
              <a:lnSpc>
                <a:spcPct val="150000"/>
              </a:lnSpc>
              <a:buBlip>
                <a:blip r:embed="rId2"/>
              </a:buBlip>
            </a:pPr>
            <a:r>
              <a:rPr lang="zh-CN" altLang="en-US" sz="2400">
                <a:solidFill>
                  <a:schemeClr val="tx1"/>
                </a:solidFill>
                <a:latin typeface="SimSun" panose="02010600030101010101" pitchFamily="2" charset="-122"/>
                <a:ea typeface="SimSun" panose="02010600030101010101" pitchFamily="2" charset="-122"/>
                <a:cs typeface="Consolas" pitchFamily="49" charset="0"/>
              </a:rPr>
              <a:t>每递归调用一次，就需进栈一次，最多的进栈元素个数称为递归深度，当</a:t>
            </a:r>
            <a:r>
              <a:rPr lang="en-US" altLang="zh-CN" sz="2400" i="1">
                <a:solidFill>
                  <a:schemeClr val="tx1"/>
                </a:solidFill>
                <a:latin typeface="SimSun" panose="02010600030101010101" pitchFamily="2" charset="-122"/>
                <a:ea typeface="SimSun" panose="02010600030101010101" pitchFamily="2" charset="-122"/>
                <a:cs typeface="Consolas" pitchFamily="49" charset="0"/>
              </a:rPr>
              <a:t>n</a:t>
            </a:r>
            <a:r>
              <a:rPr lang="zh-CN" altLang="en-US" sz="2400">
                <a:solidFill>
                  <a:schemeClr val="tx1"/>
                </a:solidFill>
                <a:latin typeface="SimSun" panose="02010600030101010101" pitchFamily="2" charset="-122"/>
                <a:ea typeface="SimSun" panose="02010600030101010101" pitchFamily="2" charset="-122"/>
                <a:cs typeface="Consolas" pitchFamily="49" charset="0"/>
              </a:rPr>
              <a:t>越大，递归深度越深，开辟的栈空间也越大。</a:t>
            </a:r>
          </a:p>
          <a:p>
            <a:pPr marL="457200" indent="-457200">
              <a:lnSpc>
                <a:spcPct val="150000"/>
              </a:lnSpc>
              <a:buBlip>
                <a:blip r:embed="rId2"/>
              </a:buBlip>
            </a:pPr>
            <a:r>
              <a:rPr lang="zh-CN" altLang="en-US" sz="2400">
                <a:solidFill>
                  <a:schemeClr val="tx1"/>
                </a:solidFill>
                <a:latin typeface="SimSun" panose="02010600030101010101" pitchFamily="2" charset="-122"/>
                <a:ea typeface="SimSun" panose="02010600030101010101" pitchFamily="2" charset="-122"/>
                <a:cs typeface="Consolas" pitchFamily="49" charset="0"/>
              </a:rPr>
              <a:t>每当遇到递归出口或完成本次执行时，需退栈一次，并恢复参量值，当全部执行完毕时，栈应为空。</a:t>
            </a:r>
          </a:p>
        </p:txBody>
      </p:sp>
    </p:spTree>
    <p:extLst>
      <p:ext uri="{BB962C8B-B14F-4D97-AF65-F5344CB8AC3E}">
        <p14:creationId xmlns:p14="http://schemas.microsoft.com/office/powerpoint/2010/main" val="19948329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FD9506E-60DD-1B4F-B7AC-86BFE0894322}"/>
              </a:ext>
            </a:extLst>
          </p:cNvPr>
          <p:cNvSpPr txBox="1">
            <a:spLocks noChangeArrowheads="1"/>
          </p:cNvSpPr>
          <p:nvPr/>
        </p:nvSpPr>
        <p:spPr bwMode="auto">
          <a:xfrm>
            <a:off x="1230490" y="451016"/>
            <a:ext cx="9143999" cy="2243563"/>
          </a:xfrm>
          <a:prstGeom prst="rect">
            <a:avLst/>
          </a:prstGeom>
          <a:noFill/>
          <a:ln w="9525">
            <a:noFill/>
            <a:miter lim="800000"/>
            <a:headEnd/>
            <a:tailEnd/>
          </a:ln>
        </p:spPr>
        <p:txBody>
          <a:bodyPr wrap="square">
            <a:spAutoFit/>
          </a:bodyPr>
          <a:lstStyle/>
          <a:p>
            <a:pPr algn="just">
              <a:lnSpc>
                <a:spcPct val="150000"/>
              </a:lnSpc>
              <a:spcBef>
                <a:spcPct val="50000"/>
              </a:spcBef>
            </a:pPr>
            <a:r>
              <a:rPr lang="zh-CN" altLang="en-US" sz="2400" dirty="0">
                <a:latin typeface="SimSun" panose="02010600030101010101" pitchFamily="2" charset="-122"/>
                <a:ea typeface="SimSun" panose="02010600030101010101" pitchFamily="2" charset="-122"/>
                <a:cs typeface="Consolas" pitchFamily="49" charset="0"/>
              </a:rPr>
              <a:t>　　归纳起来，递归调用的实现是分两步进行的，第一步是分解过程，即用递归体将“大问题”分解成“小问题”，直到递归出口为止，然后进行第二步的求值过程，即已知“小问题”，计算“大问题”。前面的</a:t>
            </a:r>
            <a:r>
              <a:rPr lang="en-US" altLang="zh-CN" sz="2400" dirty="0">
                <a:latin typeface="SimSun" panose="02010600030101010101" pitchFamily="2" charset="-122"/>
                <a:ea typeface="SimSun" panose="02010600030101010101" pitchFamily="2" charset="-122"/>
                <a:cs typeface="Consolas" pitchFamily="49" charset="0"/>
              </a:rPr>
              <a:t>fun(5)</a:t>
            </a:r>
            <a:r>
              <a:rPr lang="zh-CN" altLang="en-US" sz="2400" dirty="0">
                <a:latin typeface="SimSun" panose="02010600030101010101" pitchFamily="2" charset="-122"/>
                <a:ea typeface="SimSun" panose="02010600030101010101" pitchFamily="2" charset="-122"/>
                <a:cs typeface="Consolas" pitchFamily="49" charset="0"/>
              </a:rPr>
              <a:t>求解过程如下所示。</a:t>
            </a:r>
          </a:p>
        </p:txBody>
      </p:sp>
      <p:sp>
        <p:nvSpPr>
          <p:cNvPr id="5" name="Rectangle 4">
            <a:extLst>
              <a:ext uri="{FF2B5EF4-FFF2-40B4-BE49-F238E27FC236}">
                <a16:creationId xmlns:a16="http://schemas.microsoft.com/office/drawing/2014/main" id="{5BFFACAA-F5FF-094D-BEF0-62D0E4AEB456}"/>
              </a:ext>
            </a:extLst>
          </p:cNvPr>
          <p:cNvSpPr>
            <a:spLocks noChangeArrowheads="1"/>
          </p:cNvSpPr>
          <p:nvPr/>
        </p:nvSpPr>
        <p:spPr bwMode="auto">
          <a:xfrm>
            <a:off x="1230489" y="25288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 name="Object 3">
            <a:extLst>
              <a:ext uri="{FF2B5EF4-FFF2-40B4-BE49-F238E27FC236}">
                <a16:creationId xmlns:a16="http://schemas.microsoft.com/office/drawing/2014/main" id="{81DEBA07-0C9F-604D-89E7-BA3378F78BA9}"/>
              </a:ext>
            </a:extLst>
          </p:cNvPr>
          <p:cNvGraphicFramePr>
            <a:graphicFrameLocks noChangeAspect="1"/>
          </p:cNvGraphicFramePr>
          <p:nvPr>
            <p:extLst>
              <p:ext uri="{D42A27DB-BD31-4B8C-83A1-F6EECF244321}">
                <p14:modId xmlns:p14="http://schemas.microsoft.com/office/powerpoint/2010/main" val="58666953"/>
              </p:ext>
            </p:extLst>
          </p:nvPr>
        </p:nvGraphicFramePr>
        <p:xfrm>
          <a:off x="2944969" y="3211358"/>
          <a:ext cx="5000660" cy="3019070"/>
        </p:xfrm>
        <a:graphic>
          <a:graphicData uri="http://schemas.openxmlformats.org/presentationml/2006/ole">
            <mc:AlternateContent xmlns:mc="http://schemas.openxmlformats.org/markup-compatibility/2006">
              <mc:Choice xmlns:v="urn:schemas-microsoft-com:vml" Requires="v">
                <p:oleObj spid="_x0000_s6156" name="图片" r:id="rId4" imgW="3311584" imgH="1997553" progId="">
                  <p:embed/>
                </p:oleObj>
              </mc:Choice>
              <mc:Fallback>
                <p:oleObj name="图片" r:id="rId4" imgW="3311584" imgH="1997553" progId="">
                  <p:embed/>
                  <p:pic>
                    <p:nvPicPr>
                      <p:cNvPr id="10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4969" y="3211358"/>
                        <a:ext cx="5000660" cy="30190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36994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ABE831-62DD-2741-89DF-31EC9B0651AA}"/>
              </a:ext>
            </a:extLst>
          </p:cNvPr>
          <p:cNvSpPr txBox="1"/>
          <p:nvPr/>
        </p:nvSpPr>
        <p:spPr>
          <a:xfrm>
            <a:off x="1293606" y="245639"/>
            <a:ext cx="4802394" cy="769441"/>
          </a:xfrm>
          <a:prstGeom prst="rect">
            <a:avLst/>
          </a:prstGeom>
          <a:noFill/>
        </p:spPr>
        <p:txBody>
          <a:bodyPr wrap="square">
            <a:spAutoFit/>
          </a:bodyPr>
          <a:lstStyle/>
          <a:p>
            <a:r>
              <a:rPr lang="zh-CN" altLang="en-US" sz="4400" dirty="0">
                <a:latin typeface="+mj-lt"/>
                <a:ea typeface="+mj-ea"/>
                <a:cs typeface="+mj-cs"/>
              </a:rPr>
              <a:t>递归与循环的比较 </a:t>
            </a:r>
          </a:p>
        </p:txBody>
      </p:sp>
      <p:sp>
        <p:nvSpPr>
          <p:cNvPr id="6" name="Text Box 9">
            <a:extLst>
              <a:ext uri="{FF2B5EF4-FFF2-40B4-BE49-F238E27FC236}">
                <a16:creationId xmlns:a16="http://schemas.microsoft.com/office/drawing/2014/main" id="{6DC4082B-7BFF-4A4F-B214-9F1F1E229E39}"/>
              </a:ext>
            </a:extLst>
          </p:cNvPr>
          <p:cNvSpPr txBox="1">
            <a:spLocks noChangeArrowheads="1"/>
          </p:cNvSpPr>
          <p:nvPr/>
        </p:nvSpPr>
        <p:spPr bwMode="auto">
          <a:xfrm>
            <a:off x="659520" y="1385067"/>
            <a:ext cx="11163134" cy="4087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45000"/>
              </a:spcBef>
              <a:buClr>
                <a:schemeClr val="tx2"/>
              </a:buClr>
              <a:buFont typeface="Wingdings" pitchFamily="2" charset="2"/>
              <a:buChar char="Ø"/>
            </a:pPr>
            <a:r>
              <a:rPr lang="en-US" altLang="zh-CN" sz="2400" b="1" dirty="0">
                <a:latin typeface="宋体" panose="02010600030101010101" pitchFamily="2" charset="-122"/>
              </a:rPr>
              <a:t> </a:t>
            </a:r>
            <a:r>
              <a:rPr lang="zh-CN" altLang="en-US" sz="2400" b="1" dirty="0">
                <a:latin typeface="SimSun" panose="02010600030101010101" pitchFamily="2" charset="-122"/>
                <a:ea typeface="SimSun" panose="02010600030101010101" pitchFamily="2" charset="-122"/>
              </a:rPr>
              <a:t>递归与循环都是</a:t>
            </a:r>
            <a:r>
              <a:rPr lang="zh-CN" altLang="en-US" sz="2400" b="1" dirty="0">
                <a:solidFill>
                  <a:srgbClr val="FF0000"/>
                </a:solidFill>
                <a:latin typeface="SimSun" panose="02010600030101010101" pitchFamily="2" charset="-122"/>
                <a:ea typeface="SimSun" panose="02010600030101010101" pitchFamily="2" charset="-122"/>
              </a:rPr>
              <a:t>解决“重复操作”</a:t>
            </a:r>
            <a:r>
              <a:rPr lang="zh-CN" altLang="en-US" sz="2400" b="1" dirty="0">
                <a:latin typeface="SimSun" panose="02010600030101010101" pitchFamily="2" charset="-122"/>
                <a:ea typeface="SimSun" panose="02010600030101010101" pitchFamily="2" charset="-122"/>
              </a:rPr>
              <a:t>的机制；</a:t>
            </a:r>
          </a:p>
          <a:p>
            <a:pPr algn="just">
              <a:lnSpc>
                <a:spcPct val="150000"/>
              </a:lnSpc>
              <a:spcBef>
                <a:spcPct val="45000"/>
              </a:spcBef>
              <a:buClr>
                <a:schemeClr val="tx2"/>
              </a:buClr>
              <a:buFont typeface="Wingdings" pitchFamily="2" charset="2"/>
              <a:buChar char="Ø"/>
            </a:pPr>
            <a:r>
              <a:rPr lang="zh-CN" altLang="en-US" sz="2400" b="1" dirty="0">
                <a:latin typeface="SimSun" panose="02010600030101010101" pitchFamily="2" charset="-122"/>
                <a:ea typeface="SimSun" panose="02010600030101010101" pitchFamily="2" charset="-122"/>
              </a:rPr>
              <a:t> 递归使一些复杂问题处理更简明；</a:t>
            </a:r>
          </a:p>
          <a:p>
            <a:pPr algn="just">
              <a:lnSpc>
                <a:spcPct val="150000"/>
              </a:lnSpc>
              <a:spcBef>
                <a:spcPct val="45000"/>
              </a:spcBef>
              <a:buClr>
                <a:schemeClr val="tx2"/>
              </a:buClr>
              <a:buFont typeface="Wingdings" pitchFamily="2" charset="2"/>
              <a:buChar char="Ø"/>
            </a:pPr>
            <a:r>
              <a:rPr lang="zh-CN" altLang="en-US" sz="2400" b="1" dirty="0">
                <a:latin typeface="SimSun" panose="02010600030101010101" pitchFamily="2" charset="-122"/>
                <a:ea typeface="SimSun" panose="02010600030101010101" pitchFamily="2" charset="-122"/>
              </a:rPr>
              <a:t> 就效率而言，递归算法的实现往往要比迭代算法耗费更多的时间与存贮空间</a:t>
            </a:r>
          </a:p>
          <a:p>
            <a:pPr algn="just">
              <a:lnSpc>
                <a:spcPct val="150000"/>
              </a:lnSpc>
              <a:spcBef>
                <a:spcPct val="45000"/>
              </a:spcBef>
              <a:buClr>
                <a:schemeClr val="tx2"/>
              </a:buClr>
              <a:buFont typeface="Wingdings" pitchFamily="2" charset="2"/>
              <a:buChar char="Ø"/>
            </a:pPr>
            <a:r>
              <a:rPr lang="zh-CN" altLang="en-US" sz="2400" b="1" dirty="0">
                <a:latin typeface="SimSun" panose="02010600030101010101" pitchFamily="2" charset="-122"/>
                <a:ea typeface="SimSun" panose="02010600030101010101" pitchFamily="2" charset="-122"/>
              </a:rPr>
              <a:t> 每个迭代算法原则上总可以转换成与它等价的递归算法；反之不然；</a:t>
            </a:r>
          </a:p>
          <a:p>
            <a:pPr algn="just">
              <a:lnSpc>
                <a:spcPct val="150000"/>
              </a:lnSpc>
              <a:spcBef>
                <a:spcPct val="45000"/>
              </a:spcBef>
              <a:buClr>
                <a:schemeClr val="tx2"/>
              </a:buClr>
              <a:buFont typeface="Wingdings" pitchFamily="2" charset="2"/>
              <a:buChar char="Ø"/>
            </a:pPr>
            <a:r>
              <a:rPr lang="zh-CN" altLang="en-US" sz="2400" b="1" dirty="0">
                <a:latin typeface="SimSun" panose="02010600030101010101" pitchFamily="2" charset="-122"/>
                <a:ea typeface="SimSun" panose="02010600030101010101" pitchFamily="2" charset="-122"/>
              </a:rPr>
              <a:t> 递归的层次是可以控制的，而循环嵌套的层次只能是固定的，因此</a:t>
            </a:r>
            <a:r>
              <a:rPr lang="zh-CN" altLang="en-US" sz="2400" b="1" dirty="0">
                <a:solidFill>
                  <a:srgbClr val="006600"/>
                </a:solidFill>
                <a:latin typeface="SimSun" panose="02010600030101010101" pitchFamily="2" charset="-122"/>
                <a:ea typeface="SimSun" panose="02010600030101010101" pitchFamily="2" charset="-122"/>
              </a:rPr>
              <a:t>递归是比循</a:t>
            </a:r>
            <a:endParaRPr lang="en-US" altLang="zh-CN" sz="2400" b="1" dirty="0">
              <a:solidFill>
                <a:srgbClr val="006600"/>
              </a:solidFill>
              <a:latin typeface="SimSun" panose="02010600030101010101" pitchFamily="2" charset="-122"/>
              <a:ea typeface="SimSun" panose="02010600030101010101" pitchFamily="2" charset="-122"/>
            </a:endParaRPr>
          </a:p>
          <a:p>
            <a:pPr marL="0" indent="0" algn="just">
              <a:lnSpc>
                <a:spcPct val="150000"/>
              </a:lnSpc>
              <a:spcBef>
                <a:spcPct val="45000"/>
              </a:spcBef>
              <a:buClr>
                <a:schemeClr val="tx2"/>
              </a:buClr>
            </a:pPr>
            <a:r>
              <a:rPr lang="zh-CN" altLang="en-US" sz="2400" b="1" dirty="0">
                <a:solidFill>
                  <a:srgbClr val="006600"/>
                </a:solidFill>
                <a:latin typeface="SimSun" panose="02010600030101010101" pitchFamily="2" charset="-122"/>
                <a:ea typeface="SimSun" panose="02010600030101010101" pitchFamily="2" charset="-122"/>
              </a:rPr>
              <a:t>环更灵活的重复操作的机制</a:t>
            </a:r>
            <a:r>
              <a:rPr lang="zh-CN" altLang="en-US" sz="2400" b="1" dirty="0">
                <a:latin typeface="SimSun" panose="02010600030101010101" pitchFamily="2" charset="-122"/>
                <a:ea typeface="SimSun" panose="02010600030101010101" pitchFamily="2" charset="-122"/>
              </a:rPr>
              <a:t>。</a:t>
            </a:r>
          </a:p>
          <a:p>
            <a:pPr algn="just">
              <a:spcBef>
                <a:spcPct val="20000"/>
              </a:spcBef>
              <a:spcAft>
                <a:spcPct val="55000"/>
              </a:spcAft>
              <a:buClr>
                <a:schemeClr val="hlink"/>
              </a:buClr>
              <a:buFont typeface="Wingdings" pitchFamily="2" charset="2"/>
              <a:buNone/>
            </a:pPr>
            <a:r>
              <a:rPr lang="zh-CN" altLang="en-US" b="1" dirty="0">
                <a:latin typeface="Arial" panose="020B0604020202020204" pitchFamily="34" charset="0"/>
              </a:rPr>
              <a:t> </a:t>
            </a:r>
          </a:p>
        </p:txBody>
      </p:sp>
    </p:spTree>
    <p:extLst>
      <p:ext uri="{BB962C8B-B14F-4D97-AF65-F5344CB8AC3E}">
        <p14:creationId xmlns:p14="http://schemas.microsoft.com/office/powerpoint/2010/main" val="10664057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53131;#53131;#177509;#76194;#815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12851</TotalTime>
  <Words>2825</Words>
  <Application>Microsoft Macintosh PowerPoint</Application>
  <PresentationFormat>宽屏</PresentationFormat>
  <Paragraphs>289</Paragraphs>
  <Slides>35</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35</vt:i4>
      </vt:variant>
    </vt:vector>
  </HeadingPairs>
  <TitlesOfParts>
    <vt:vector size="52" baseType="lpstr">
      <vt:lpstr>等线</vt:lpstr>
      <vt:lpstr>等线 Light</vt:lpstr>
      <vt:lpstr>方正大标宋简体</vt:lpstr>
      <vt:lpstr>方正清刻本悦宋简体</vt:lpstr>
      <vt:lpstr>黑体</vt:lpstr>
      <vt:lpstr>宋体</vt:lpstr>
      <vt:lpstr>宋体</vt:lpstr>
      <vt:lpstr>微软雅黑</vt:lpstr>
      <vt:lpstr>Times New Roman Regular</vt:lpstr>
      <vt:lpstr>Arial</vt:lpstr>
      <vt:lpstr>Cambria Math</vt:lpstr>
      <vt:lpstr>Consolas</vt:lpstr>
      <vt:lpstr>Times New Roman</vt:lpstr>
      <vt:lpstr>Wingdings</vt:lpstr>
      <vt:lpstr>Office 主题​​</vt:lpstr>
      <vt:lpstr>Equation.3</vt:lpstr>
      <vt:lpstr>图片</vt:lpstr>
      <vt:lpstr>算法设计与分析</vt:lpstr>
      <vt:lpstr>PowerPoint 演示文稿</vt:lpstr>
      <vt:lpstr>循环与递归</vt:lpstr>
      <vt:lpstr>循环与递归</vt:lpstr>
      <vt:lpstr>算法1实现</vt:lpstr>
      <vt:lpstr>循环与递归</vt:lpstr>
      <vt:lpstr>循环与递归</vt:lpstr>
      <vt:lpstr>算法设计2：构造如下循环不变式</vt:lpstr>
      <vt:lpstr>PowerPoint 演示文稿</vt:lpstr>
      <vt:lpstr>算法2分析   按照数学模型2，只需一重循环就能解决问题   算法的时间复杂度为:  O(n)    由此例，构造循环不变式时，一定应考虑算法的效率。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算法设计：</vt:lpstr>
      <vt:lpstr>算法设计：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 浩然</dc:creator>
  <cp:lastModifiedBy>赵 浩然</cp:lastModifiedBy>
  <cp:revision>455</cp:revision>
  <dcterms:created xsi:type="dcterms:W3CDTF">2022-08-31T02:13:47Z</dcterms:created>
  <dcterms:modified xsi:type="dcterms:W3CDTF">2023-04-24T01:43:54Z</dcterms:modified>
</cp:coreProperties>
</file>