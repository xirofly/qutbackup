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2.xml" ContentType="application/vnd.openxmlformats-officedocument.presentationml.tags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7"/>
  </p:notesMasterIdLst>
  <p:sldIdLst>
    <p:sldId id="395" r:id="rId2"/>
    <p:sldId id="259" r:id="rId3"/>
    <p:sldId id="425" r:id="rId4"/>
    <p:sldId id="527" r:id="rId5"/>
    <p:sldId id="528" r:id="rId6"/>
    <p:sldId id="529" r:id="rId7"/>
    <p:sldId id="530" r:id="rId8"/>
    <p:sldId id="531" r:id="rId9"/>
    <p:sldId id="533" r:id="rId10"/>
    <p:sldId id="532" r:id="rId11"/>
    <p:sldId id="534" r:id="rId12"/>
    <p:sldId id="535" r:id="rId13"/>
    <p:sldId id="536" r:id="rId14"/>
    <p:sldId id="537" r:id="rId15"/>
    <p:sldId id="538" r:id="rId16"/>
    <p:sldId id="539" r:id="rId17"/>
    <p:sldId id="540" r:id="rId18"/>
    <p:sldId id="541" r:id="rId19"/>
    <p:sldId id="542" r:id="rId20"/>
    <p:sldId id="543" r:id="rId21"/>
    <p:sldId id="546" r:id="rId22"/>
    <p:sldId id="544" r:id="rId23"/>
    <p:sldId id="545" r:id="rId24"/>
    <p:sldId id="547" r:id="rId25"/>
    <p:sldId id="548" r:id="rId26"/>
    <p:sldId id="549" r:id="rId27"/>
    <p:sldId id="550" r:id="rId28"/>
    <p:sldId id="551" r:id="rId29"/>
    <p:sldId id="552" r:id="rId30"/>
    <p:sldId id="553" r:id="rId31"/>
    <p:sldId id="554" r:id="rId32"/>
    <p:sldId id="555" r:id="rId33"/>
    <p:sldId id="556" r:id="rId34"/>
    <p:sldId id="557" r:id="rId35"/>
    <p:sldId id="558" r:id="rId36"/>
    <p:sldId id="559" r:id="rId37"/>
    <p:sldId id="560" r:id="rId38"/>
    <p:sldId id="561" r:id="rId39"/>
    <p:sldId id="562" r:id="rId40"/>
    <p:sldId id="563" r:id="rId41"/>
    <p:sldId id="564" r:id="rId42"/>
    <p:sldId id="565" r:id="rId43"/>
    <p:sldId id="566" r:id="rId44"/>
    <p:sldId id="567" r:id="rId45"/>
    <p:sldId id="568" r:id="rId46"/>
    <p:sldId id="629" r:id="rId47"/>
    <p:sldId id="569" r:id="rId48"/>
    <p:sldId id="570" r:id="rId49"/>
    <p:sldId id="571" r:id="rId50"/>
    <p:sldId id="572" r:id="rId51"/>
    <p:sldId id="574" r:id="rId52"/>
    <p:sldId id="573" r:id="rId53"/>
    <p:sldId id="575" r:id="rId54"/>
    <p:sldId id="576" r:id="rId55"/>
    <p:sldId id="577" r:id="rId56"/>
    <p:sldId id="579" r:id="rId57"/>
    <p:sldId id="580" r:id="rId58"/>
    <p:sldId id="581" r:id="rId59"/>
    <p:sldId id="582" r:id="rId60"/>
    <p:sldId id="584" r:id="rId61"/>
    <p:sldId id="583" r:id="rId62"/>
    <p:sldId id="585" r:id="rId63"/>
    <p:sldId id="586" r:id="rId64"/>
    <p:sldId id="587" r:id="rId65"/>
    <p:sldId id="588" r:id="rId66"/>
    <p:sldId id="589" r:id="rId67"/>
    <p:sldId id="590" r:id="rId68"/>
    <p:sldId id="591" r:id="rId69"/>
    <p:sldId id="592" r:id="rId70"/>
    <p:sldId id="593" r:id="rId71"/>
    <p:sldId id="594" r:id="rId72"/>
    <p:sldId id="596" r:id="rId73"/>
    <p:sldId id="597" r:id="rId74"/>
    <p:sldId id="598" r:id="rId75"/>
    <p:sldId id="599" r:id="rId76"/>
    <p:sldId id="595" r:id="rId77"/>
    <p:sldId id="600" r:id="rId78"/>
    <p:sldId id="601" r:id="rId79"/>
    <p:sldId id="602" r:id="rId80"/>
    <p:sldId id="603" r:id="rId81"/>
    <p:sldId id="604" r:id="rId82"/>
    <p:sldId id="605" r:id="rId83"/>
    <p:sldId id="607" r:id="rId84"/>
    <p:sldId id="609" r:id="rId85"/>
    <p:sldId id="610" r:id="rId86"/>
    <p:sldId id="611" r:id="rId87"/>
    <p:sldId id="612" r:id="rId88"/>
    <p:sldId id="613" r:id="rId89"/>
    <p:sldId id="614" r:id="rId90"/>
    <p:sldId id="615" r:id="rId91"/>
    <p:sldId id="616" r:id="rId92"/>
    <p:sldId id="617" r:id="rId93"/>
    <p:sldId id="618" r:id="rId94"/>
    <p:sldId id="619" r:id="rId95"/>
    <p:sldId id="620" r:id="rId96"/>
    <p:sldId id="608" r:id="rId97"/>
    <p:sldId id="621" r:id="rId98"/>
    <p:sldId id="622" r:id="rId99"/>
    <p:sldId id="623" r:id="rId100"/>
    <p:sldId id="624" r:id="rId101"/>
    <p:sldId id="625" r:id="rId102"/>
    <p:sldId id="606" r:id="rId103"/>
    <p:sldId id="626" r:id="rId104"/>
    <p:sldId id="627" r:id="rId105"/>
    <p:sldId id="628" r:id="rId10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81"/>
    <p:restoredTop sz="83608"/>
  </p:normalViewPr>
  <p:slideViewPr>
    <p:cSldViewPr snapToGrid="0" snapToObjects="1">
      <p:cViewPr varScale="1">
        <p:scale>
          <a:sx n="111" d="100"/>
          <a:sy n="111" d="100"/>
        </p:scale>
        <p:origin x="248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viewProps" Target="view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A31A9-199E-0040-B421-36D8B674C3C2}" type="datetimeFigureOut">
              <a:rPr kumimoji="1" lang="zh-CN" altLang="en-US" smtClean="0"/>
              <a:t>2023/5/17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91ABD9-FA3A-ED42-B2DF-4A75A1E7DD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0058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6B3782-2C2A-4249-98A3-D66C57BFD1C7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AA5F0-770B-410C-90B7-ECBA0CF9027F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912716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25118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84625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25735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30560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546775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286934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27563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694587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0630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610443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691543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28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455332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29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033068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30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22935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快速排序讲完了，后面介绍次序选择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1ABD9-FA3A-ED42-B2DF-4A75A1E7DD15}" type="slidenum">
              <a:rPr kumimoji="1" lang="zh-CN" altLang="en-US" smtClean="0"/>
              <a:t>45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95908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6B3782-2C2A-4249-98A3-D66C57BFD1C7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450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5"/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-3822065" y="-434340"/>
            <a:ext cx="7726680" cy="7726680"/>
          </a:xfrm>
          <a:prstGeom prst="rect">
            <a:avLst/>
          </a:prstGeom>
        </p:spPr>
      </p:pic>
      <p:pic>
        <p:nvPicPr>
          <p:cNvPr id="3" name="图片 2" descr="5"/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355330" y="-434340"/>
            <a:ext cx="7726680" cy="7726680"/>
          </a:xfrm>
          <a:prstGeom prst="rect">
            <a:avLst/>
          </a:prstGeom>
        </p:spPr>
      </p:pic>
      <p:sp>
        <p:nvSpPr>
          <p:cNvPr id="9" name="任意多边形: 形状 8"/>
          <p:cNvSpPr/>
          <p:nvPr userDrawn="1"/>
        </p:nvSpPr>
        <p:spPr>
          <a:xfrm rot="21413345">
            <a:off x="-107772" y="5889232"/>
            <a:ext cx="12369445" cy="1288985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 userDrawn="1"/>
        </p:nvSpPr>
        <p:spPr>
          <a:xfrm rot="21413345">
            <a:off x="-60722" y="5797965"/>
            <a:ext cx="12335849" cy="147093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 userDrawn="1"/>
        </p:nvSpPr>
        <p:spPr>
          <a:xfrm rot="21413345">
            <a:off x="-101880" y="5734499"/>
            <a:ext cx="12376686" cy="150727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468630" y="64930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300">
                <a:solidFill>
                  <a:schemeClr val="bg2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defRPr>
            </a:lvl1pPr>
          </a:lstStyle>
          <a:p>
            <a:r>
              <a:rPr lang="zh-CN" altLang="en-US" dirty="0"/>
              <a:t>百折不挠</a:t>
            </a:r>
            <a:r>
              <a:rPr lang="en-US" altLang="zh-CN" dirty="0"/>
              <a:t> </a:t>
            </a:r>
            <a:r>
              <a:rPr lang="zh-CN" altLang="en-US" dirty="0"/>
              <a:t>刚毅厚重</a:t>
            </a:r>
            <a:r>
              <a:rPr lang="en-US" altLang="zh-CN" dirty="0"/>
              <a:t> </a:t>
            </a:r>
            <a:r>
              <a:rPr lang="zh-CN" altLang="en-US" dirty="0"/>
              <a:t>勇承重载</a:t>
            </a:r>
          </a:p>
        </p:txBody>
      </p:sp>
    </p:spTree>
    <p:extLst>
      <p:ext uri="{BB962C8B-B14F-4D97-AF65-F5344CB8AC3E}">
        <p14:creationId xmlns:p14="http://schemas.microsoft.com/office/powerpoint/2010/main" val="1930393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C55D43-650A-8A4B-B4D9-196FB2C29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5E4EBA6-65F5-F74A-84A4-1DAA79C9FD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867305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F5F6E5-6A2C-7845-96D1-C3F40C702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972C42-3007-F74B-BAC1-5ECA14414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DA583F-A0A9-184A-920D-99C2970D07D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5">
            <a:extLst>
              <a:ext uri="{FF2B5EF4-FFF2-40B4-BE49-F238E27FC236}">
                <a16:creationId xmlns:a16="http://schemas.microsoft.com/office/drawing/2014/main" id="{59417B76-385F-8F47-9B73-0CC349ACC1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-3822065" y="-434340"/>
            <a:ext cx="7726680" cy="7726680"/>
          </a:xfrm>
          <a:prstGeom prst="rect">
            <a:avLst/>
          </a:prstGeom>
        </p:spPr>
      </p:pic>
      <p:pic>
        <p:nvPicPr>
          <p:cNvPr id="6" name="图片 5" descr="5">
            <a:extLst>
              <a:ext uri="{FF2B5EF4-FFF2-40B4-BE49-F238E27FC236}">
                <a16:creationId xmlns:a16="http://schemas.microsoft.com/office/drawing/2014/main" id="{B1FF307E-882A-204E-8371-C5B671C94F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355330" y="-434340"/>
            <a:ext cx="7726680" cy="7726680"/>
          </a:xfrm>
          <a:prstGeom prst="rect">
            <a:avLst/>
          </a:prstGeom>
        </p:spPr>
      </p:pic>
      <p:sp>
        <p:nvSpPr>
          <p:cNvPr id="7" name="任意多边形: 形状 8">
            <a:extLst>
              <a:ext uri="{FF2B5EF4-FFF2-40B4-BE49-F238E27FC236}">
                <a16:creationId xmlns:a16="http://schemas.microsoft.com/office/drawing/2014/main" id="{CD9F0C46-2A13-7B45-81EB-EFB03DDF0203}"/>
              </a:ext>
            </a:extLst>
          </p:cNvPr>
          <p:cNvSpPr/>
          <p:nvPr userDrawn="1"/>
        </p:nvSpPr>
        <p:spPr>
          <a:xfrm rot="21413345">
            <a:off x="-107772" y="5889232"/>
            <a:ext cx="12369445" cy="1288985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4DBBE2AB-3342-1A43-B2D9-3B6F8B655CDE}"/>
              </a:ext>
            </a:extLst>
          </p:cNvPr>
          <p:cNvSpPr/>
          <p:nvPr userDrawn="1"/>
        </p:nvSpPr>
        <p:spPr>
          <a:xfrm rot="21413345">
            <a:off x="-60722" y="5797965"/>
            <a:ext cx="12335849" cy="147093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6">
            <a:extLst>
              <a:ext uri="{FF2B5EF4-FFF2-40B4-BE49-F238E27FC236}">
                <a16:creationId xmlns:a16="http://schemas.microsoft.com/office/drawing/2014/main" id="{238E4E78-41CE-BF47-A793-D77629CA3E76}"/>
              </a:ext>
            </a:extLst>
          </p:cNvPr>
          <p:cNvSpPr/>
          <p:nvPr userDrawn="1"/>
        </p:nvSpPr>
        <p:spPr>
          <a:xfrm rot="21413345">
            <a:off x="-101880" y="5734499"/>
            <a:ext cx="12376686" cy="150727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EF31D326-2891-3944-8D5B-E4558A6F15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630" y="64930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300">
                <a:solidFill>
                  <a:schemeClr val="bg2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defRPr>
            </a:lvl1pPr>
          </a:lstStyle>
          <a:p>
            <a:r>
              <a:rPr lang="zh-CN" altLang="en-US" dirty="0"/>
              <a:t>百折不挠</a:t>
            </a:r>
            <a:r>
              <a:rPr lang="en-US" altLang="zh-CN" dirty="0"/>
              <a:t> </a:t>
            </a:r>
            <a:r>
              <a:rPr lang="zh-CN" altLang="en-US" dirty="0"/>
              <a:t>刚毅厚重</a:t>
            </a:r>
            <a:r>
              <a:rPr lang="en-US" altLang="zh-CN" dirty="0"/>
              <a:t> </a:t>
            </a:r>
            <a:r>
              <a:rPr lang="zh-CN" altLang="en-US" dirty="0"/>
              <a:t>勇承重载</a:t>
            </a:r>
          </a:p>
        </p:txBody>
      </p:sp>
    </p:spTree>
    <p:extLst>
      <p:ext uri="{BB962C8B-B14F-4D97-AF65-F5344CB8AC3E}">
        <p14:creationId xmlns:p14="http://schemas.microsoft.com/office/powerpoint/2010/main" val="2746427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7D2F9D-10B2-074B-8179-66513359D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2FD4FF-6442-7D42-B1EE-9A10919FD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44574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C3275C-4BF5-474C-80F4-71D90D9D3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4C7054-56E6-B54D-86C2-B62A7024A4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E159AA6-2DAB-3D4B-968C-0C2209838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906202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2E1A48-F79F-564A-B2C8-EB0F930EF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B51C87-D0E9-8B44-8CAB-1AE71AC39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EDA7B3-E5BE-FC4D-B7BF-2B58A04934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5D6C4BB-9DB3-5143-8B4A-DBAE48BA77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FE585AB-BE90-9748-958F-7AFFC1666F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300348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1C073C-34CE-AC4E-ABB7-C7FC12F3B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93825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3583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379DE3-176F-7442-91F0-E6732C334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9DB349-89E5-AF43-A214-0FF14DB1A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A0DD20-A8C2-9849-809E-627CE58CD8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11671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F92B43-D872-114B-9A28-B00848866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D339AFF-5EFD-7944-A43D-2353E09902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4B25B-91B6-DC42-9D31-70F2E52EA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408073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C22525-0C80-9541-BB3B-BC93FC851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8C1780-5833-6242-ABA7-FD54F283E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793547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81D9FF4-CA80-5F4D-AD5D-F4CDA27A74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123BF3-514A-1149-85D7-971F2301A7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537626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D2C13E-B573-714B-95DA-FE1C7233B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99F250F-66A4-CB44-B444-3B095FB2BB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7F82AD-DCFE-7E4E-BC3B-B8961D0D8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2023/5/17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56CDDD-056A-1A4C-95F9-15BE2F0C5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BCE82C-2DD0-3646-86EF-14086348D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21406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1E2E0D-F100-0B4D-BA37-588E52D6E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BA4034-A796-F141-8E93-7D05FA748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1E16C0-D6BE-0D44-807B-EE5C78EB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2023/5/17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0FBDA1-4D93-7443-974E-B17BB720E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B5421B-EACC-AE4F-B121-1D692C9CB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7817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60E980-962D-3F44-B0EA-A409EF1DA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A65C97-A96A-6A4D-927E-F838B2F04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2C3D4C-C0E9-CC4A-8470-334D0F88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2023/5/17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D69112-64F2-DB41-9DE9-D0C488E2C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4F072F-377D-184E-8A96-A3A16B3BD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28796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A1FDEA-62E9-A94A-B877-2CEE48D6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4BAE09-663E-5246-B2E4-5FB1D3203C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3204E9-1F8D-1441-9E4C-06E8C04E0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1DC6EB-2F6E-0244-93A2-A837744C5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2023/5/17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C55E37-181B-A148-966C-4DAF9A1A8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BCD124-A548-0943-8084-CC531D000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63232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C78BAB-2899-214C-BD61-A44AF5D1A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53B725-02FC-B943-BB4C-36416CD16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85D86A-09D3-C44C-B9F4-6E588BD2E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8530A9B-0EB2-7D46-9DBE-21F3FC0226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4191EEA-8572-9B4E-9BBC-22A9CFF172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A4ECD55-32DF-4F4E-87AB-7EA319859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2023/5/17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0257D9-AB89-CD48-8EAB-65F0C1A25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892495F-1C7B-FC49-9072-1A1CE7A02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67892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F79860-597F-4B4F-883A-07CEB0213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9DBCFC3-D3A4-C04F-BCEF-DEC58AC20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2023/5/17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C8B824B-4892-E447-B7D3-02DD4BE5F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F7D6A84-B6F8-E146-9356-7F8CA2E59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04938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5B2F9ED-98A6-1F40-B60C-87E353539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2023/5/17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4693E35-5555-584E-A717-28E84DBBC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FBD873-0F17-9343-9583-D51ABBFA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26514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3F2912-F3DA-C647-9CA0-A29982569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58FE21-107F-0A46-9DCC-01F8EFC19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677B0A-3D49-6F4A-A0BD-178A30EA53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78C4D0-E7BC-7346-A225-616065D0C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2023/5/17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455970-7EEC-9F4D-9441-ACCDA32EB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9A71E7-E4C1-0345-916A-B57A481A6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37452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964561-286B-E149-AE7F-1FF412E94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63A84CE-2FA0-6E48-A6C9-C447366AD0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4A75F7-3CD5-0848-9A3B-8CD193287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7D8C3B-237F-1C49-99C1-735A2D853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2023/5/17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92BEC2-2425-2742-8386-3ADBB0626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296E39-1419-7E45-BD69-DE0A3C7DC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48094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2AF69E-AF88-B64D-ABDD-04DB5D3E5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F59B29-31C7-A143-8657-8AE1CB8EF2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F5996D-ACFA-8F4D-B912-DF75E3CC1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2023/5/17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32A62C-C6DE-D04B-8735-FED3190F3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0D29B5-61B5-B74D-BE03-88925EFB3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67057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50B4B1E-E39D-DD4A-B7F7-1B2FF26C70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80FF54-B8C4-224E-8541-7902A00311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1664AE-D3DB-2A40-ACE1-DBC1E97AE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CF517-7373-6349-A426-5E433EDE14F4}" type="datetimeFigureOut">
              <a:rPr kumimoji="1" lang="zh-CN" altLang="en-US" smtClean="0"/>
              <a:t>2023/5/17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D85D98-2BB9-784B-8D6D-76BBD0EA2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5E00FF-4311-1C4D-A115-27DB4E71F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687004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/>
          <p:cNvCxnSpPr/>
          <p:nvPr userDrawn="1"/>
        </p:nvCxnSpPr>
        <p:spPr>
          <a:xfrm flipV="1">
            <a:off x="2784475" y="5851525"/>
            <a:ext cx="0" cy="265430"/>
          </a:xfrm>
          <a:prstGeom prst="line">
            <a:avLst/>
          </a:prstGeom>
          <a:ln w="28575" cap="rnd">
            <a:solidFill>
              <a:srgbClr val="005D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 userDrawn="1"/>
        </p:nvCxnSpPr>
        <p:spPr>
          <a:xfrm flipV="1">
            <a:off x="2861310" y="5899150"/>
            <a:ext cx="0" cy="170180"/>
          </a:xfrm>
          <a:prstGeom prst="line">
            <a:avLst/>
          </a:prstGeom>
          <a:ln w="28575" cap="rnd">
            <a:solidFill>
              <a:srgbClr val="005D96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 userDrawn="1"/>
        </p:nvCxnSpPr>
        <p:spPr>
          <a:xfrm rot="16200000">
            <a:off x="2880995" y="5984240"/>
            <a:ext cx="113665" cy="0"/>
          </a:xfrm>
          <a:prstGeom prst="line">
            <a:avLst/>
          </a:prstGeom>
          <a:ln w="28575" cap="rnd">
            <a:solidFill>
              <a:srgbClr val="005D96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 userDrawn="1"/>
        </p:nvCxnSpPr>
        <p:spPr>
          <a:xfrm rot="10800000" flipH="1" flipV="1">
            <a:off x="9404350" y="5851525"/>
            <a:ext cx="0" cy="265430"/>
          </a:xfrm>
          <a:prstGeom prst="line">
            <a:avLst/>
          </a:prstGeom>
          <a:ln w="28575" cap="rnd">
            <a:solidFill>
              <a:srgbClr val="005D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 userDrawn="1"/>
        </p:nvCxnSpPr>
        <p:spPr>
          <a:xfrm rot="10800000" flipH="1" flipV="1">
            <a:off x="9327515" y="5899150"/>
            <a:ext cx="0" cy="170180"/>
          </a:xfrm>
          <a:prstGeom prst="line">
            <a:avLst/>
          </a:prstGeom>
          <a:ln w="28575" cap="rnd">
            <a:solidFill>
              <a:srgbClr val="005D96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 userDrawn="1"/>
        </p:nvCxnSpPr>
        <p:spPr>
          <a:xfrm rot="5400000" flipH="1">
            <a:off x="9193530" y="5984240"/>
            <a:ext cx="113665" cy="0"/>
          </a:xfrm>
          <a:prstGeom prst="line">
            <a:avLst/>
          </a:prstGeom>
          <a:ln w="28575" cap="rnd">
            <a:solidFill>
              <a:srgbClr val="005D96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图片占位符 12"/>
          <p:cNvSpPr>
            <a:spLocks noGrp="1"/>
          </p:cNvSpPr>
          <p:nvPr>
            <p:ph type="pic" sz="quarter" idx="12"/>
          </p:nvPr>
        </p:nvSpPr>
        <p:spPr>
          <a:xfrm>
            <a:off x="126" y="-5114"/>
            <a:ext cx="12191748" cy="3616817"/>
          </a:xfrm>
        </p:spPr>
      </p:sp>
      <p:sp>
        <p:nvSpPr>
          <p:cNvPr id="40" name="任意多边形: 形状 39"/>
          <p:cNvSpPr/>
          <p:nvPr userDrawn="1"/>
        </p:nvSpPr>
        <p:spPr>
          <a:xfrm>
            <a:off x="0" y="-10810"/>
            <a:ext cx="12192000" cy="3621880"/>
          </a:xfrm>
          <a:custGeom>
            <a:avLst/>
            <a:gdLst>
              <a:gd name="connsiteX0" fmla="*/ 0 w 12192000"/>
              <a:gd name="connsiteY0" fmla="*/ 0 h 3621880"/>
              <a:gd name="connsiteX1" fmla="*/ 12192000 w 12192000"/>
              <a:gd name="connsiteY1" fmla="*/ 0 h 3621880"/>
              <a:gd name="connsiteX2" fmla="*/ 12192000 w 12192000"/>
              <a:gd name="connsiteY2" fmla="*/ 3505120 h 3621880"/>
              <a:gd name="connsiteX3" fmla="*/ 12178164 w 12192000"/>
              <a:gd name="connsiteY3" fmla="*/ 3496691 h 3621880"/>
              <a:gd name="connsiteX4" fmla="*/ 6188598 w 12192000"/>
              <a:gd name="connsiteY4" fmla="*/ 2384382 h 3621880"/>
              <a:gd name="connsiteX5" fmla="*/ 48605 w 12192000"/>
              <a:gd name="connsiteY5" fmla="*/ 3588334 h 3621880"/>
              <a:gd name="connsiteX6" fmla="*/ 0 w 12192000"/>
              <a:gd name="connsiteY6" fmla="*/ 3621880 h 3621880"/>
              <a:gd name="connsiteX7" fmla="*/ 0 w 12192000"/>
              <a:gd name="connsiteY7" fmla="*/ 0 h 362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621880">
                <a:moveTo>
                  <a:pt x="0" y="0"/>
                </a:moveTo>
                <a:lnTo>
                  <a:pt x="12192000" y="0"/>
                </a:lnTo>
                <a:lnTo>
                  <a:pt x="12192000" y="3505120"/>
                </a:lnTo>
                <a:lnTo>
                  <a:pt x="12178164" y="3496691"/>
                </a:lnTo>
                <a:cubicBezTo>
                  <a:pt x="11024675" y="2834150"/>
                  <a:pt x="8774972" y="2384382"/>
                  <a:pt x="6188598" y="2384382"/>
                </a:cubicBezTo>
                <a:cubicBezTo>
                  <a:pt x="3484661" y="2384382"/>
                  <a:pt x="1148698" y="2875967"/>
                  <a:pt x="48605" y="3588334"/>
                </a:cubicBezTo>
                <a:lnTo>
                  <a:pt x="0" y="362188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1" name="任意多边形: 形状 40"/>
          <p:cNvSpPr/>
          <p:nvPr userDrawn="1"/>
        </p:nvSpPr>
        <p:spPr>
          <a:xfrm>
            <a:off x="0" y="-10810"/>
            <a:ext cx="12192000" cy="3621880"/>
          </a:xfrm>
          <a:custGeom>
            <a:avLst/>
            <a:gdLst>
              <a:gd name="connsiteX0" fmla="*/ 0 w 12192000"/>
              <a:gd name="connsiteY0" fmla="*/ 0 h 3621880"/>
              <a:gd name="connsiteX1" fmla="*/ 12192000 w 12192000"/>
              <a:gd name="connsiteY1" fmla="*/ 0 h 3621880"/>
              <a:gd name="connsiteX2" fmla="*/ 12192000 w 12192000"/>
              <a:gd name="connsiteY2" fmla="*/ 3505120 h 3621880"/>
              <a:gd name="connsiteX3" fmla="*/ 12178164 w 12192000"/>
              <a:gd name="connsiteY3" fmla="*/ 3496691 h 3621880"/>
              <a:gd name="connsiteX4" fmla="*/ 6188598 w 12192000"/>
              <a:gd name="connsiteY4" fmla="*/ 2384382 h 3621880"/>
              <a:gd name="connsiteX5" fmla="*/ 48605 w 12192000"/>
              <a:gd name="connsiteY5" fmla="*/ 3588334 h 3621880"/>
              <a:gd name="connsiteX6" fmla="*/ 0 w 12192000"/>
              <a:gd name="connsiteY6" fmla="*/ 3621880 h 3621880"/>
              <a:gd name="connsiteX7" fmla="*/ 0 w 12192000"/>
              <a:gd name="connsiteY7" fmla="*/ 0 h 362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621880">
                <a:moveTo>
                  <a:pt x="0" y="0"/>
                </a:moveTo>
                <a:lnTo>
                  <a:pt x="12192000" y="0"/>
                </a:lnTo>
                <a:lnTo>
                  <a:pt x="12192000" y="3505120"/>
                </a:lnTo>
                <a:lnTo>
                  <a:pt x="12178164" y="3496691"/>
                </a:lnTo>
                <a:cubicBezTo>
                  <a:pt x="11024675" y="2834150"/>
                  <a:pt x="8774972" y="2384382"/>
                  <a:pt x="6188598" y="2384382"/>
                </a:cubicBezTo>
                <a:cubicBezTo>
                  <a:pt x="3484661" y="2384382"/>
                  <a:pt x="1148698" y="2875967"/>
                  <a:pt x="48605" y="3588334"/>
                </a:cubicBezTo>
                <a:lnTo>
                  <a:pt x="0" y="362188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  <a:effectLst>
            <a:outerShdw blurRad="190500" dist="38100" dir="5400000" algn="t" rotWithShape="0">
              <a:prstClr val="black">
                <a:alpha val="1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2" name="任意多边形: 形状 41"/>
          <p:cNvSpPr/>
          <p:nvPr userDrawn="1"/>
        </p:nvSpPr>
        <p:spPr>
          <a:xfrm>
            <a:off x="-170180" y="-10795"/>
            <a:ext cx="12532360" cy="3841115"/>
          </a:xfrm>
          <a:custGeom>
            <a:avLst/>
            <a:gdLst>
              <a:gd name="connsiteX0" fmla="*/ 0 w 12192000"/>
              <a:gd name="connsiteY0" fmla="*/ 0 h 3621880"/>
              <a:gd name="connsiteX1" fmla="*/ 12192000 w 12192000"/>
              <a:gd name="connsiteY1" fmla="*/ 0 h 3621880"/>
              <a:gd name="connsiteX2" fmla="*/ 12192000 w 12192000"/>
              <a:gd name="connsiteY2" fmla="*/ 3505120 h 3621880"/>
              <a:gd name="connsiteX3" fmla="*/ 12178164 w 12192000"/>
              <a:gd name="connsiteY3" fmla="*/ 3496691 h 3621880"/>
              <a:gd name="connsiteX4" fmla="*/ 6188598 w 12192000"/>
              <a:gd name="connsiteY4" fmla="*/ 2384382 h 3621880"/>
              <a:gd name="connsiteX5" fmla="*/ 48605 w 12192000"/>
              <a:gd name="connsiteY5" fmla="*/ 3588334 h 3621880"/>
              <a:gd name="connsiteX6" fmla="*/ 0 w 12192000"/>
              <a:gd name="connsiteY6" fmla="*/ 3621880 h 3621880"/>
              <a:gd name="connsiteX7" fmla="*/ 0 w 12192000"/>
              <a:gd name="connsiteY7" fmla="*/ 0 h 362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621880">
                <a:moveTo>
                  <a:pt x="0" y="0"/>
                </a:moveTo>
                <a:lnTo>
                  <a:pt x="12192000" y="0"/>
                </a:lnTo>
                <a:lnTo>
                  <a:pt x="12192000" y="3505120"/>
                </a:lnTo>
                <a:lnTo>
                  <a:pt x="12178164" y="3496691"/>
                </a:lnTo>
                <a:cubicBezTo>
                  <a:pt x="11024675" y="2834150"/>
                  <a:pt x="8774972" y="2384382"/>
                  <a:pt x="6188598" y="2384382"/>
                </a:cubicBezTo>
                <a:cubicBezTo>
                  <a:pt x="3484661" y="2384382"/>
                  <a:pt x="1148698" y="2875967"/>
                  <a:pt x="48605" y="3588334"/>
                </a:cubicBezTo>
                <a:lnTo>
                  <a:pt x="0" y="362188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FilmGrain grainSize="5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86" t="-64169" r="586" b="-25181"/>
            </a:stretch>
          </a:blip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19867" y="3935404"/>
            <a:ext cx="6752267" cy="652810"/>
          </a:xfrm>
        </p:spPr>
        <p:txBody>
          <a:bodyPr lIns="0" tIns="0" rIns="0" bIns="0"/>
          <a:lstStyle>
            <a:lvl1pPr>
              <a:defRPr b="1">
                <a:solidFill>
                  <a:srgbClr val="005D96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defRPr>
            </a:lvl1pPr>
          </a:lstStyle>
          <a:p>
            <a:pPr lvl="0"/>
            <a:r>
              <a:rPr lang="zh-CN" altLang="en-US" b="1" dirty="0"/>
              <a:t>青岛理工大学答辩答辩模板</a:t>
            </a:r>
            <a:endParaRPr kumimoji="0" lang="zh-CN" altLang="en-US" sz="8800" b="1" i="0" u="none" strike="noStrike" kern="1200" cap="none" spc="100" normalizeH="0" baseline="0" noProof="0" dirty="0">
              <a:ln>
                <a:noFill/>
              </a:ln>
              <a:effectLst/>
              <a:uLnTx/>
              <a:uFillTx/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sp>
        <p:nvSpPr>
          <p:cNvPr id="37" name="弧形 36"/>
          <p:cNvSpPr/>
          <p:nvPr userDrawn="1"/>
        </p:nvSpPr>
        <p:spPr>
          <a:xfrm>
            <a:off x="-912640" y="2648627"/>
            <a:ext cx="14352607" cy="5450476"/>
          </a:xfrm>
          <a:prstGeom prst="arc">
            <a:avLst>
              <a:gd name="adj1" fmla="val 11562219"/>
              <a:gd name="adj2" fmla="val 20729169"/>
            </a:avLst>
          </a:prstGeom>
          <a:ln w="53975">
            <a:solidFill>
              <a:srgbClr val="005D9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1" hasCustomPrompt="1"/>
          </p:nvPr>
        </p:nvSpPr>
        <p:spPr>
          <a:xfrm>
            <a:off x="515937" y="4657177"/>
            <a:ext cx="11160126" cy="337185"/>
          </a:xfrm>
          <a:prstGeom prst="rect">
            <a:avLst/>
          </a:prstGeom>
        </p:spPr>
        <p:txBody>
          <a:bodyPr vert="horz" wrap="square" lIns="0" tIns="45720" rIns="91440" bIns="45720" anchor="ctr" anchorCtr="0">
            <a:spAutoFit/>
          </a:bodyPr>
          <a:lstStyle>
            <a:lvl1pPr mar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200">
                <a:solidFill>
                  <a:srgbClr val="595959"/>
                </a:solidFill>
                <a:latin typeface="Arial" panose="020B0604020202020204" pitchFamily="34" charset="0"/>
                <a:ea typeface="微软雅黑 Light" panose="020B0502040204020203" pitchFamily="34" charset="-122"/>
                <a:sym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altLang="zh-CN" dirty="0"/>
              <a:t>Qingdao University of Technology PowerPoint Template</a:t>
            </a:r>
            <a:endParaRPr lang="zh-CN" altLang="en-US" dirty="0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2704260" y="5219564"/>
            <a:ext cx="6783480" cy="99986"/>
            <a:chOff x="628656" y="974915"/>
            <a:chExt cx="11038056" cy="24702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628656" y="975360"/>
              <a:ext cx="8627657" cy="0"/>
            </a:xfrm>
            <a:prstGeom prst="line">
              <a:avLst/>
            </a:prstGeom>
            <a:ln w="19050">
              <a:solidFill>
                <a:srgbClr val="005D96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9233073" y="974915"/>
              <a:ext cx="23240" cy="24702"/>
            </a:xfrm>
            <a:prstGeom prst="line">
              <a:avLst/>
            </a:prstGeom>
            <a:ln w="19050" cap="rnd">
              <a:solidFill>
                <a:srgbClr val="005D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V="1">
              <a:off x="9233070" y="975360"/>
              <a:ext cx="189380" cy="24257"/>
            </a:xfrm>
            <a:prstGeom prst="line">
              <a:avLst/>
            </a:prstGeom>
            <a:ln w="19050" cap="rnd">
              <a:solidFill>
                <a:srgbClr val="005D96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9422450" y="975360"/>
              <a:ext cx="2244262" cy="0"/>
            </a:xfrm>
            <a:prstGeom prst="line">
              <a:avLst/>
            </a:prstGeom>
            <a:ln w="19050">
              <a:solidFill>
                <a:srgbClr val="005D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文本占位符 52"/>
          <p:cNvSpPr>
            <a:spLocks noGrp="1"/>
          </p:cNvSpPr>
          <p:nvPr>
            <p:ph type="body" sz="quarter" idx="13" hasCustomPrompt="1"/>
          </p:nvPr>
        </p:nvSpPr>
        <p:spPr>
          <a:xfrm>
            <a:off x="3979414" y="5821985"/>
            <a:ext cx="1978489" cy="304165"/>
          </a:xfrm>
          <a:prstGeom prst="rect">
            <a:avLst/>
          </a:prstGeom>
        </p:spPr>
        <p:txBody>
          <a:bodyPr vert="horz" wrap="square" lIns="0" tIns="0" rIns="0" bIns="0" anchor="b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spc="0">
                <a:solidFill>
                  <a:srgbClr val="005D96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  <a:sym typeface="方正大标宋简体" panose="02010601030101010101" pitchFamily="2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汇报人：青小理</a:t>
            </a:r>
          </a:p>
        </p:txBody>
      </p:sp>
      <p:sp>
        <p:nvSpPr>
          <p:cNvPr id="44" name="文本占位符 1"/>
          <p:cNvSpPr>
            <a:spLocks noGrp="1"/>
          </p:cNvSpPr>
          <p:nvPr>
            <p:ph type="body" sz="quarter" idx="15" hasCustomPrompt="1"/>
          </p:nvPr>
        </p:nvSpPr>
        <p:spPr>
          <a:xfrm>
            <a:off x="6756211" y="5838317"/>
            <a:ext cx="1849890" cy="287836"/>
          </a:xfrm>
          <a:prstGeom prst="rect">
            <a:avLst/>
          </a:prstGeom>
        </p:spPr>
        <p:txBody>
          <a:bodyPr vert="horz" wrap="square" lIns="0" tIns="0" rIns="0" bIns="0" anchor="b" anchorCtr="0">
            <a:normAutofit/>
          </a:bodyPr>
          <a:lstStyle>
            <a:lvl1pPr mar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spc="0">
                <a:solidFill>
                  <a:srgbClr val="005D96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  <a:sym typeface="方正大标宋简体" panose="02010601030101010101" pitchFamily="2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指导老师：青老师</a:t>
            </a:r>
          </a:p>
        </p:txBody>
      </p:sp>
      <p:sp>
        <p:nvSpPr>
          <p:cNvPr id="17" name="任意多边形: 形状 41"/>
          <p:cNvSpPr/>
          <p:nvPr userDrawn="1"/>
        </p:nvSpPr>
        <p:spPr>
          <a:xfrm>
            <a:off x="-170180" y="-56515"/>
            <a:ext cx="12532360" cy="3908425"/>
          </a:xfrm>
          <a:custGeom>
            <a:avLst/>
            <a:gdLst>
              <a:gd name="connsiteX0" fmla="*/ 0 w 12192000"/>
              <a:gd name="connsiteY0" fmla="*/ 0 h 3621880"/>
              <a:gd name="connsiteX1" fmla="*/ 12192000 w 12192000"/>
              <a:gd name="connsiteY1" fmla="*/ 0 h 3621880"/>
              <a:gd name="connsiteX2" fmla="*/ 12192000 w 12192000"/>
              <a:gd name="connsiteY2" fmla="*/ 3505120 h 3621880"/>
              <a:gd name="connsiteX3" fmla="*/ 12178164 w 12192000"/>
              <a:gd name="connsiteY3" fmla="*/ 3496691 h 3621880"/>
              <a:gd name="connsiteX4" fmla="*/ 6188598 w 12192000"/>
              <a:gd name="connsiteY4" fmla="*/ 2384382 h 3621880"/>
              <a:gd name="connsiteX5" fmla="*/ 48605 w 12192000"/>
              <a:gd name="connsiteY5" fmla="*/ 3588334 h 3621880"/>
              <a:gd name="connsiteX6" fmla="*/ 0 w 12192000"/>
              <a:gd name="connsiteY6" fmla="*/ 3621880 h 3621880"/>
              <a:gd name="connsiteX7" fmla="*/ 0 w 12192000"/>
              <a:gd name="connsiteY7" fmla="*/ 0 h 362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621880">
                <a:moveTo>
                  <a:pt x="0" y="0"/>
                </a:moveTo>
                <a:lnTo>
                  <a:pt x="12192000" y="0"/>
                </a:lnTo>
                <a:lnTo>
                  <a:pt x="12192000" y="3505120"/>
                </a:lnTo>
                <a:lnTo>
                  <a:pt x="12178164" y="3496691"/>
                </a:lnTo>
                <a:cubicBezTo>
                  <a:pt x="11024675" y="2834150"/>
                  <a:pt x="8774972" y="2384382"/>
                  <a:pt x="6188598" y="2384382"/>
                </a:cubicBezTo>
                <a:cubicBezTo>
                  <a:pt x="3484661" y="2384382"/>
                  <a:pt x="1148698" y="2875967"/>
                  <a:pt x="48605" y="3588334"/>
                </a:cubicBezTo>
                <a:lnTo>
                  <a:pt x="0" y="3621880"/>
                </a:lnTo>
                <a:lnTo>
                  <a:pt x="0" y="0"/>
                </a:lnTo>
                <a:close/>
              </a:path>
            </a:pathLst>
          </a:custGeom>
          <a:solidFill>
            <a:srgbClr val="005D96">
              <a:alpha val="69000"/>
            </a:srgb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8" name="文本框 17"/>
          <p:cNvSpPr txBox="1"/>
          <p:nvPr userDrawn="1"/>
        </p:nvSpPr>
        <p:spPr>
          <a:xfrm>
            <a:off x="10196830" y="-135890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pic>
        <p:nvPicPr>
          <p:cNvPr id="19" name="图片 18" descr="青岛理工大学校徽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283835" y="1692910"/>
            <a:ext cx="1783715" cy="1783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3955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5"/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-3822065" y="-434340"/>
            <a:ext cx="7726680" cy="7726680"/>
          </a:xfrm>
          <a:prstGeom prst="rect">
            <a:avLst/>
          </a:prstGeom>
        </p:spPr>
      </p:pic>
      <p:pic>
        <p:nvPicPr>
          <p:cNvPr id="3" name="图片 2" descr="5"/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8355330" y="-434340"/>
            <a:ext cx="7726680" cy="7726680"/>
          </a:xfrm>
          <a:prstGeom prst="rect">
            <a:avLst/>
          </a:prstGeom>
        </p:spPr>
      </p:pic>
      <p:sp>
        <p:nvSpPr>
          <p:cNvPr id="9" name="任意多边形: 形状 8"/>
          <p:cNvSpPr/>
          <p:nvPr userDrawn="1"/>
        </p:nvSpPr>
        <p:spPr>
          <a:xfrm rot="21413345">
            <a:off x="-107772" y="5889232"/>
            <a:ext cx="12369445" cy="1288985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 userDrawn="1"/>
        </p:nvSpPr>
        <p:spPr>
          <a:xfrm rot="21413345">
            <a:off x="-60722" y="5797965"/>
            <a:ext cx="12335849" cy="147093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 userDrawn="1"/>
        </p:nvSpPr>
        <p:spPr>
          <a:xfrm rot="21413345">
            <a:off x="-101880" y="5734499"/>
            <a:ext cx="12376686" cy="150727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468630" y="64930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300">
                <a:solidFill>
                  <a:schemeClr val="bg2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defRPr>
            </a:lvl1pPr>
          </a:lstStyle>
          <a:p>
            <a:r>
              <a:rPr lang="zh-CN" altLang="en-US" dirty="0"/>
              <a:t>百折不挠</a:t>
            </a:r>
            <a:r>
              <a:rPr lang="en-US" altLang="zh-CN" dirty="0"/>
              <a:t> </a:t>
            </a:r>
            <a:r>
              <a:rPr lang="zh-CN" altLang="en-US" dirty="0"/>
              <a:t>刚毅厚重</a:t>
            </a:r>
            <a:r>
              <a:rPr lang="en-US" altLang="zh-CN" dirty="0"/>
              <a:t> </a:t>
            </a:r>
            <a:r>
              <a:rPr lang="zh-CN" altLang="en-US" dirty="0"/>
              <a:t>勇承重载</a:t>
            </a:r>
          </a:p>
        </p:txBody>
      </p:sp>
    </p:spTree>
    <p:extLst>
      <p:ext uri="{BB962C8B-B14F-4D97-AF65-F5344CB8AC3E}">
        <p14:creationId xmlns:p14="http://schemas.microsoft.com/office/powerpoint/2010/main" val="554457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D2D3ABB-1285-294F-A20A-F30083EB9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1A8907-74D6-0D45-95A8-836E4EC85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17F7AE-BD20-0A4F-80C4-18B0EDB6DE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5CF517-7373-6349-A426-5E433EDE14F4}" type="datetimeFigureOut">
              <a:rPr kumimoji="1" lang="zh-CN" altLang="en-US" smtClean="0"/>
              <a:t>2023/5/17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34DFE5-4086-414D-857D-C32B7481EA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6FCBA4-62E5-7A40-8979-12F1BF0DD7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729EF8-2028-4447-86E5-25060CA00E4D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487543E-91E5-5145-A581-4D7204F32DA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5">
            <a:extLst>
              <a:ext uri="{FF2B5EF4-FFF2-40B4-BE49-F238E27FC236}">
                <a16:creationId xmlns:a16="http://schemas.microsoft.com/office/drawing/2014/main" id="{86770886-93F4-434C-9FE2-AEFDCF90D23E}"/>
              </a:ext>
            </a:extLst>
          </p:cNvPr>
          <p:cNvPicPr>
            <a:picLocks noChangeAspect="1"/>
          </p:cNvPicPr>
          <p:nvPr userDrawn="1"/>
        </p:nvPicPr>
        <p:blipFill>
          <a:blip r:embed="rId27">
            <a:alphaModFix amt="30000"/>
          </a:blip>
          <a:stretch>
            <a:fillRect/>
          </a:stretch>
        </p:blipFill>
        <p:spPr>
          <a:xfrm>
            <a:off x="-3829050" y="-421622"/>
            <a:ext cx="7726680" cy="7726680"/>
          </a:xfrm>
          <a:prstGeom prst="rect">
            <a:avLst/>
          </a:prstGeom>
        </p:spPr>
      </p:pic>
      <p:pic>
        <p:nvPicPr>
          <p:cNvPr id="9" name="图片 8" descr="5">
            <a:extLst>
              <a:ext uri="{FF2B5EF4-FFF2-40B4-BE49-F238E27FC236}">
                <a16:creationId xmlns:a16="http://schemas.microsoft.com/office/drawing/2014/main" id="{33BEC999-C1B9-3948-9008-02B970DB7EAB}"/>
              </a:ext>
            </a:extLst>
          </p:cNvPr>
          <p:cNvPicPr>
            <a:picLocks noChangeAspect="1"/>
          </p:cNvPicPr>
          <p:nvPr userDrawn="1"/>
        </p:nvPicPr>
        <p:blipFill>
          <a:blip r:embed="rId27">
            <a:alphaModFix amt="30000"/>
          </a:blip>
          <a:stretch>
            <a:fillRect/>
          </a:stretch>
        </p:blipFill>
        <p:spPr>
          <a:xfrm>
            <a:off x="8328660" y="-434340"/>
            <a:ext cx="7726680" cy="7726680"/>
          </a:xfrm>
          <a:prstGeom prst="rect">
            <a:avLst/>
          </a:prstGeom>
        </p:spPr>
      </p:pic>
      <p:sp>
        <p:nvSpPr>
          <p:cNvPr id="10" name="任意多边形: 形状 8">
            <a:extLst>
              <a:ext uri="{FF2B5EF4-FFF2-40B4-BE49-F238E27FC236}">
                <a16:creationId xmlns:a16="http://schemas.microsoft.com/office/drawing/2014/main" id="{CF7A9872-9A2D-0544-B95E-53F0A0452969}"/>
              </a:ext>
            </a:extLst>
          </p:cNvPr>
          <p:cNvSpPr/>
          <p:nvPr userDrawn="1"/>
        </p:nvSpPr>
        <p:spPr>
          <a:xfrm rot="21413345">
            <a:off x="-107772" y="5889232"/>
            <a:ext cx="12369445" cy="1288985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任意多边形: 形状 7">
            <a:extLst>
              <a:ext uri="{FF2B5EF4-FFF2-40B4-BE49-F238E27FC236}">
                <a16:creationId xmlns:a16="http://schemas.microsoft.com/office/drawing/2014/main" id="{7990B218-ED19-EA44-9E8D-A10600CCD7A7}"/>
              </a:ext>
            </a:extLst>
          </p:cNvPr>
          <p:cNvSpPr/>
          <p:nvPr userDrawn="1"/>
        </p:nvSpPr>
        <p:spPr>
          <a:xfrm rot="21413345">
            <a:off x="-51285" y="5815216"/>
            <a:ext cx="12335849" cy="147093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任意多边形: 形状 6">
            <a:extLst>
              <a:ext uri="{FF2B5EF4-FFF2-40B4-BE49-F238E27FC236}">
                <a16:creationId xmlns:a16="http://schemas.microsoft.com/office/drawing/2014/main" id="{AF003127-AEDD-8E4C-9F09-DA9AF5FD300F}"/>
              </a:ext>
            </a:extLst>
          </p:cNvPr>
          <p:cNvSpPr/>
          <p:nvPr userDrawn="1"/>
        </p:nvSpPr>
        <p:spPr>
          <a:xfrm rot="21413345">
            <a:off x="-9274" y="5823247"/>
            <a:ext cx="12376686" cy="1507273"/>
          </a:xfrm>
          <a:custGeom>
            <a:avLst/>
            <a:gdLst>
              <a:gd name="connsiteX0" fmla="*/ 12401882 w 12401882"/>
              <a:gd name="connsiteY0" fmla="*/ 73849 h 1288985"/>
              <a:gd name="connsiteX1" fmla="*/ 12335841 w 12401882"/>
              <a:gd name="connsiteY1" fmla="*/ 1288985 h 1288985"/>
              <a:gd name="connsiteX2" fmla="*/ 0 w 12401882"/>
              <a:gd name="connsiteY2" fmla="*/ 618542 h 1288985"/>
              <a:gd name="connsiteX3" fmla="*/ 33618 w 12401882"/>
              <a:gd name="connsiteY3" fmla="*/ 0 h 1288985"/>
              <a:gd name="connsiteX4" fmla="*/ 103646 w 12401882"/>
              <a:gd name="connsiteY4" fmla="*/ 32857 h 1288985"/>
              <a:gd name="connsiteX5" fmla="*/ 6308538 w 12401882"/>
              <a:gd name="connsiteY5" fmla="*/ 553243 h 1288985"/>
              <a:gd name="connsiteX6" fmla="*/ 12326375 w 12401882"/>
              <a:gd name="connsiteY6" fmla="*/ 98014 h 1288985"/>
              <a:gd name="connsiteX7" fmla="*/ 12401882 w 12401882"/>
              <a:gd name="connsiteY7" fmla="*/ 73849 h 1288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01882" h="1288985">
                <a:moveTo>
                  <a:pt x="12401882" y="73849"/>
                </a:moveTo>
                <a:lnTo>
                  <a:pt x="12335841" y="1288985"/>
                </a:lnTo>
                <a:lnTo>
                  <a:pt x="0" y="618542"/>
                </a:lnTo>
                <a:lnTo>
                  <a:pt x="33618" y="0"/>
                </a:lnTo>
                <a:lnTo>
                  <a:pt x="103646" y="32857"/>
                </a:lnTo>
                <a:cubicBezTo>
                  <a:pt x="814657" y="332114"/>
                  <a:pt x="3323130" y="553243"/>
                  <a:pt x="6308538" y="553243"/>
                </a:cubicBezTo>
                <a:cubicBezTo>
                  <a:pt x="9072803" y="553244"/>
                  <a:pt x="11428175" y="363661"/>
                  <a:pt x="12326375" y="98014"/>
                </a:cubicBezTo>
                <a:lnTo>
                  <a:pt x="12401882" y="73849"/>
                </a:lnTo>
                <a:close/>
              </a:path>
            </a:pathLst>
          </a:custGeom>
          <a:solidFill>
            <a:srgbClr val="005D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日期占位符 9">
            <a:extLst>
              <a:ext uri="{FF2B5EF4-FFF2-40B4-BE49-F238E27FC236}">
                <a16:creationId xmlns:a16="http://schemas.microsoft.com/office/drawing/2014/main" id="{25D4FA56-C140-9844-933D-B552570A8775}"/>
              </a:ext>
            </a:extLst>
          </p:cNvPr>
          <p:cNvSpPr txBox="1">
            <a:spLocks/>
          </p:cNvSpPr>
          <p:nvPr userDrawn="1"/>
        </p:nvSpPr>
        <p:spPr>
          <a:xfrm>
            <a:off x="468630" y="64930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 spc="300">
                <a:solidFill>
                  <a:schemeClr val="bg2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百折不挠</a:t>
            </a:r>
            <a:r>
              <a:rPr lang="en-US" altLang="zh-CN"/>
              <a:t> </a:t>
            </a:r>
            <a:r>
              <a:rPr lang="zh-CN" altLang="en-US"/>
              <a:t>刚毅厚重</a:t>
            </a:r>
            <a:r>
              <a:rPr lang="en-US" altLang="zh-CN"/>
              <a:t> </a:t>
            </a:r>
            <a:r>
              <a:rPr lang="zh-CN" altLang="en-US"/>
              <a:t>勇承重载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3BF4C09-9862-DF42-BD08-3AFBEDF9DF09}"/>
              </a:ext>
            </a:extLst>
          </p:cNvPr>
          <p:cNvSpPr/>
          <p:nvPr userDrawn="1"/>
        </p:nvSpPr>
        <p:spPr>
          <a:xfrm>
            <a:off x="762000" y="0"/>
            <a:ext cx="333926" cy="944563"/>
          </a:xfrm>
          <a:prstGeom prst="rect">
            <a:avLst/>
          </a:prstGeom>
          <a:solidFill>
            <a:srgbClr val="005D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15" name="图片 14" descr="青岛理工大学校徽">
            <a:extLst>
              <a:ext uri="{FF2B5EF4-FFF2-40B4-BE49-F238E27FC236}">
                <a16:creationId xmlns:a16="http://schemas.microsoft.com/office/drawing/2014/main" id="{41EA12D9-A451-3B45-A579-CA2846C1C316}"/>
              </a:ext>
            </a:extLst>
          </p:cNvPr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973435" y="221615"/>
            <a:ext cx="723265" cy="72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865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49" r:id="rId13"/>
    <p:sldLayoutId id="2147483650" r:id="rId14"/>
    <p:sldLayoutId id="2147483651" r:id="rId15"/>
    <p:sldLayoutId id="2147483652" r:id="rId16"/>
    <p:sldLayoutId id="2147483653" r:id="rId17"/>
    <p:sldLayoutId id="2147483654" r:id="rId18"/>
    <p:sldLayoutId id="2147483655" r:id="rId19"/>
    <p:sldLayoutId id="2147483656" r:id="rId20"/>
    <p:sldLayoutId id="2147483657" r:id="rId21"/>
    <p:sldLayoutId id="2147483658" r:id="rId22"/>
    <p:sldLayoutId id="2147483659" r:id="rId23"/>
    <p:sldLayoutId id="2147483660" r:id="rId24"/>
    <p:sldLayoutId id="2147483661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2719705" y="3857271"/>
            <a:ext cx="7350125" cy="652780"/>
          </a:xfrm>
        </p:spPr>
        <p:txBody>
          <a:bodyPr>
            <a:normAutofit/>
          </a:bodyPr>
          <a:lstStyle/>
          <a:p>
            <a:pPr algn="ctr"/>
            <a:r>
              <a:rPr lang="zh-CN" altLang="en-US" dirty="0"/>
              <a:t>算法设计与分析</a:t>
            </a:r>
            <a:endParaRPr lang="zh-CN" altLang="en-US" dirty="0">
              <a:solidFill>
                <a:srgbClr val="005D96"/>
              </a:solidFill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2704260" y="5219564"/>
            <a:ext cx="6783480" cy="99986"/>
            <a:chOff x="628656" y="974915"/>
            <a:chExt cx="11038056" cy="24702"/>
          </a:xfrm>
        </p:grpSpPr>
        <p:cxnSp>
          <p:nvCxnSpPr>
            <p:cNvPr id="40" name="直接连接符 39"/>
            <p:cNvCxnSpPr/>
            <p:nvPr/>
          </p:nvCxnSpPr>
          <p:spPr>
            <a:xfrm>
              <a:off x="628656" y="975360"/>
              <a:ext cx="8627657" cy="0"/>
            </a:xfrm>
            <a:prstGeom prst="line">
              <a:avLst/>
            </a:prstGeom>
            <a:ln w="19050">
              <a:solidFill>
                <a:srgbClr val="005D96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9233073" y="974915"/>
              <a:ext cx="23240" cy="24702"/>
            </a:xfrm>
            <a:prstGeom prst="line">
              <a:avLst/>
            </a:prstGeom>
            <a:ln w="19050" cap="rnd">
              <a:solidFill>
                <a:srgbClr val="005D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V="1">
              <a:off x="9233070" y="975360"/>
              <a:ext cx="189380" cy="24257"/>
            </a:xfrm>
            <a:prstGeom prst="line">
              <a:avLst/>
            </a:prstGeom>
            <a:ln w="19050" cap="rnd">
              <a:solidFill>
                <a:srgbClr val="005D96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9422450" y="975360"/>
              <a:ext cx="2244262" cy="0"/>
            </a:xfrm>
            <a:prstGeom prst="line">
              <a:avLst/>
            </a:prstGeom>
            <a:ln w="19050">
              <a:solidFill>
                <a:srgbClr val="005D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5" name="直接连接符 94"/>
          <p:cNvCxnSpPr/>
          <p:nvPr/>
        </p:nvCxnSpPr>
        <p:spPr>
          <a:xfrm flipV="1">
            <a:off x="2784475" y="5848350"/>
            <a:ext cx="0" cy="265430"/>
          </a:xfrm>
          <a:prstGeom prst="line">
            <a:avLst/>
          </a:prstGeom>
          <a:ln w="28575" cap="rnd">
            <a:solidFill>
              <a:srgbClr val="005D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 flipV="1">
            <a:off x="2861310" y="5895340"/>
            <a:ext cx="0" cy="170180"/>
          </a:xfrm>
          <a:prstGeom prst="line">
            <a:avLst/>
          </a:prstGeom>
          <a:ln w="28575" cap="rnd">
            <a:solidFill>
              <a:srgbClr val="005D96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 rot="16200000">
            <a:off x="2880995" y="5981065"/>
            <a:ext cx="113665" cy="0"/>
          </a:xfrm>
          <a:prstGeom prst="line">
            <a:avLst/>
          </a:prstGeom>
          <a:ln w="28575" cap="rnd">
            <a:solidFill>
              <a:srgbClr val="005D96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组合 34"/>
          <p:cNvGrpSpPr/>
          <p:nvPr/>
        </p:nvGrpSpPr>
        <p:grpSpPr>
          <a:xfrm>
            <a:off x="3161491" y="5800840"/>
            <a:ext cx="5933868" cy="367111"/>
            <a:chOff x="3517041" y="5800840"/>
            <a:chExt cx="5082917" cy="367111"/>
          </a:xfrm>
        </p:grpSpPr>
        <p:sp>
          <p:nvSpPr>
            <p:cNvPr id="36" name="文本框 35"/>
            <p:cNvSpPr txBox="1"/>
            <p:nvPr/>
          </p:nvSpPr>
          <p:spPr>
            <a:xfrm>
              <a:off x="3826448" y="5856877"/>
              <a:ext cx="2349253" cy="283476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lvl="0" algn="r">
                <a:lnSpc>
                  <a:spcPct val="110000"/>
                </a:lnSpc>
                <a:defRPr/>
              </a:pPr>
              <a:r>
                <a:rPr lang="zh-CN" altLang="en-US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开课专业班级：软件</a:t>
              </a:r>
              <a:r>
                <a:rPr lang="en-US" altLang="zh-CN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211-3</a:t>
              </a: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5D96"/>
                  </a:solidFill>
                  <a:effectLst/>
                  <a:uLnTx/>
                  <a:uFillTx/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 </a:t>
              </a: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6830089" y="5810965"/>
              <a:ext cx="1769869" cy="314894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开课教师：</a:t>
              </a:r>
              <a:r>
                <a:rPr lang="zh-CN" altLang="en-US" sz="2000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赵浩然</a:t>
              </a:r>
            </a:p>
          </p:txBody>
        </p:sp>
        <p:sp>
          <p:nvSpPr>
            <p:cNvPr id="39" name="graduate_57239"/>
            <p:cNvSpPr>
              <a:spLocks noChangeAspect="1"/>
            </p:cNvSpPr>
            <p:nvPr/>
          </p:nvSpPr>
          <p:spPr bwMode="auto">
            <a:xfrm>
              <a:off x="3517041" y="5800840"/>
              <a:ext cx="247420" cy="360000"/>
            </a:xfrm>
            <a:custGeom>
              <a:avLst/>
              <a:gdLst>
                <a:gd name="connsiteX0" fmla="*/ 142468 w 412043"/>
                <a:gd name="connsiteY0" fmla="*/ 396851 h 599527"/>
                <a:gd name="connsiteX1" fmla="*/ 153964 w 412043"/>
                <a:gd name="connsiteY1" fmla="*/ 405753 h 599527"/>
                <a:gd name="connsiteX2" fmla="*/ 144814 w 412043"/>
                <a:gd name="connsiteY2" fmla="*/ 585910 h 599527"/>
                <a:gd name="connsiteX3" fmla="*/ 135898 w 412043"/>
                <a:gd name="connsiteY3" fmla="*/ 595046 h 599527"/>
                <a:gd name="connsiteX4" fmla="*/ 15768 w 412043"/>
                <a:gd name="connsiteY4" fmla="*/ 599498 h 599527"/>
                <a:gd name="connsiteX5" fmla="*/ 6383 w 412043"/>
                <a:gd name="connsiteY5" fmla="*/ 590127 h 599527"/>
                <a:gd name="connsiteX6" fmla="*/ 142468 w 412043"/>
                <a:gd name="connsiteY6" fmla="*/ 396851 h 599527"/>
                <a:gd name="connsiteX7" fmla="*/ 275305 w 412043"/>
                <a:gd name="connsiteY7" fmla="*/ 271238 h 599527"/>
                <a:gd name="connsiteX8" fmla="*/ 222034 w 412043"/>
                <a:gd name="connsiteY8" fmla="*/ 284828 h 599527"/>
                <a:gd name="connsiteX9" fmla="*/ 158437 w 412043"/>
                <a:gd name="connsiteY9" fmla="*/ 287640 h 599527"/>
                <a:gd name="connsiteX10" fmla="*/ 99299 w 412043"/>
                <a:gd name="connsiteY10" fmla="*/ 277096 h 599527"/>
                <a:gd name="connsiteX11" fmla="*/ 205137 w 412043"/>
                <a:gd name="connsiteY11" fmla="*/ 392382 h 599527"/>
                <a:gd name="connsiteX12" fmla="*/ 312148 w 412043"/>
                <a:gd name="connsiteY12" fmla="*/ 309432 h 599527"/>
                <a:gd name="connsiteX13" fmla="*/ 305108 w 412043"/>
                <a:gd name="connsiteY13" fmla="*/ 310604 h 599527"/>
                <a:gd name="connsiteX14" fmla="*/ 275305 w 412043"/>
                <a:gd name="connsiteY14" fmla="*/ 271238 h 599527"/>
                <a:gd name="connsiteX15" fmla="*/ 93667 w 412043"/>
                <a:gd name="connsiteY15" fmla="*/ 210314 h 599527"/>
                <a:gd name="connsiteX16" fmla="*/ 93667 w 412043"/>
                <a:gd name="connsiteY16" fmla="*/ 212892 h 599527"/>
                <a:gd name="connsiteX17" fmla="*/ 100003 w 412043"/>
                <a:gd name="connsiteY17" fmla="*/ 213595 h 599527"/>
                <a:gd name="connsiteX18" fmla="*/ 93667 w 412043"/>
                <a:gd name="connsiteY18" fmla="*/ 210314 h 599527"/>
                <a:gd name="connsiteX19" fmla="*/ 80202 w 412043"/>
                <a:gd name="connsiteY19" fmla="*/ 186355 h 599527"/>
                <a:gd name="connsiteX20" fmla="*/ 89443 w 412043"/>
                <a:gd name="connsiteY20" fmla="*/ 186413 h 599527"/>
                <a:gd name="connsiteX21" fmla="*/ 269203 w 412043"/>
                <a:gd name="connsiteY21" fmla="*/ 193209 h 599527"/>
                <a:gd name="connsiteX22" fmla="*/ 279059 w 412043"/>
                <a:gd name="connsiteY22" fmla="*/ 193209 h 599527"/>
                <a:gd name="connsiteX23" fmla="*/ 284222 w 412043"/>
                <a:gd name="connsiteY23" fmla="*/ 197661 h 599527"/>
                <a:gd name="connsiteX24" fmla="*/ 288681 w 412043"/>
                <a:gd name="connsiteY24" fmla="*/ 255304 h 599527"/>
                <a:gd name="connsiteX25" fmla="*/ 312383 w 412043"/>
                <a:gd name="connsiteY25" fmla="*/ 289280 h 599527"/>
                <a:gd name="connsiteX26" fmla="*/ 314965 w 412043"/>
                <a:gd name="connsiteY26" fmla="*/ 201175 h 599527"/>
                <a:gd name="connsiteX27" fmla="*/ 330688 w 412043"/>
                <a:gd name="connsiteY27" fmla="*/ 199067 h 599527"/>
                <a:gd name="connsiteX28" fmla="*/ 260051 w 412043"/>
                <a:gd name="connsiteY28" fmla="*/ 401287 h 599527"/>
                <a:gd name="connsiteX29" fmla="*/ 263102 w 412043"/>
                <a:gd name="connsiteY29" fmla="*/ 401990 h 599527"/>
                <a:gd name="connsiteX30" fmla="*/ 401325 w 412043"/>
                <a:gd name="connsiteY30" fmla="*/ 590150 h 599527"/>
                <a:gd name="connsiteX31" fmla="*/ 389591 w 412043"/>
                <a:gd name="connsiteY31" fmla="*/ 599289 h 599527"/>
                <a:gd name="connsiteX32" fmla="*/ 262867 w 412043"/>
                <a:gd name="connsiteY32" fmla="*/ 595071 h 599527"/>
                <a:gd name="connsiteX33" fmla="*/ 253480 w 412043"/>
                <a:gd name="connsiteY33" fmla="*/ 585698 h 599527"/>
                <a:gd name="connsiteX34" fmla="*/ 247144 w 412043"/>
                <a:gd name="connsiteY34" fmla="*/ 414643 h 599527"/>
                <a:gd name="connsiteX35" fmla="*/ 248786 w 412043"/>
                <a:gd name="connsiteY35" fmla="*/ 410660 h 599527"/>
                <a:gd name="connsiteX36" fmla="*/ 251603 w 412043"/>
                <a:gd name="connsiteY36" fmla="*/ 404802 h 599527"/>
                <a:gd name="connsiteX37" fmla="*/ 205137 w 412043"/>
                <a:gd name="connsiteY37" fmla="*/ 410894 h 599527"/>
                <a:gd name="connsiteX38" fmla="*/ 75362 w 412043"/>
                <a:gd name="connsiteY38" fmla="*/ 194380 h 599527"/>
                <a:gd name="connsiteX39" fmla="*/ 80202 w 412043"/>
                <a:gd name="connsiteY39" fmla="*/ 186355 h 599527"/>
                <a:gd name="connsiteX40" fmla="*/ 204675 w 412043"/>
                <a:gd name="connsiteY40" fmla="*/ 1071 h 599527"/>
                <a:gd name="connsiteX41" fmla="*/ 297143 w 412043"/>
                <a:gd name="connsiteY41" fmla="*/ 36212 h 599527"/>
                <a:gd name="connsiteX42" fmla="*/ 407917 w 412043"/>
                <a:gd name="connsiteY42" fmla="*/ 88689 h 599527"/>
                <a:gd name="connsiteX43" fmla="*/ 405335 w 412043"/>
                <a:gd name="connsiteY43" fmla="*/ 105790 h 599527"/>
                <a:gd name="connsiteX44" fmla="*/ 367785 w 412043"/>
                <a:gd name="connsiteY44" fmla="*/ 126172 h 599527"/>
                <a:gd name="connsiteX45" fmla="*/ 313102 w 412043"/>
                <a:gd name="connsiteY45" fmla="*/ 136948 h 599527"/>
                <a:gd name="connsiteX46" fmla="*/ 200216 w 412043"/>
                <a:gd name="connsiteY46" fmla="*/ 93608 h 599527"/>
                <a:gd name="connsiteX47" fmla="*/ 282123 w 412043"/>
                <a:gd name="connsiteY47" fmla="*/ 147256 h 599527"/>
                <a:gd name="connsiteX48" fmla="*/ 285643 w 412043"/>
                <a:gd name="connsiteY48" fmla="*/ 153347 h 599527"/>
                <a:gd name="connsiteX49" fmla="*/ 285174 w 412043"/>
                <a:gd name="connsiteY49" fmla="*/ 165530 h 599527"/>
                <a:gd name="connsiteX50" fmla="*/ 172757 w 412043"/>
                <a:gd name="connsiteY50" fmla="*/ 198328 h 599527"/>
                <a:gd name="connsiteX51" fmla="*/ 8474 w 412043"/>
                <a:gd name="connsiteY51" fmla="*/ 110242 h 599527"/>
                <a:gd name="connsiteX52" fmla="*/ 3310 w 412043"/>
                <a:gd name="connsiteY52" fmla="*/ 97122 h 599527"/>
                <a:gd name="connsiteX53" fmla="*/ 113146 w 412043"/>
                <a:gd name="connsiteY53" fmla="*/ 45114 h 599527"/>
                <a:gd name="connsiteX54" fmla="*/ 204675 w 412043"/>
                <a:gd name="connsiteY54" fmla="*/ 1071 h 599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12043" h="599527">
                  <a:moveTo>
                    <a:pt x="142468" y="396851"/>
                  </a:moveTo>
                  <a:cubicBezTo>
                    <a:pt x="148333" y="395679"/>
                    <a:pt x="153730" y="399662"/>
                    <a:pt x="153964" y="405753"/>
                  </a:cubicBezTo>
                  <a:cubicBezTo>
                    <a:pt x="156545" y="464556"/>
                    <a:pt x="165461" y="529215"/>
                    <a:pt x="144814" y="585910"/>
                  </a:cubicBezTo>
                  <a:cubicBezTo>
                    <a:pt x="145048" y="590595"/>
                    <a:pt x="142233" y="595515"/>
                    <a:pt x="135898" y="595046"/>
                  </a:cubicBezTo>
                  <a:cubicBezTo>
                    <a:pt x="95776" y="591532"/>
                    <a:pt x="55889" y="595046"/>
                    <a:pt x="15768" y="599498"/>
                  </a:cubicBezTo>
                  <a:cubicBezTo>
                    <a:pt x="10606" y="599966"/>
                    <a:pt x="6383" y="594812"/>
                    <a:pt x="6383" y="590127"/>
                  </a:cubicBezTo>
                  <a:cubicBezTo>
                    <a:pt x="5913" y="512348"/>
                    <a:pt x="62224" y="414655"/>
                    <a:pt x="142468" y="396851"/>
                  </a:cubicBezTo>
                  <a:close/>
                  <a:moveTo>
                    <a:pt x="275305" y="271238"/>
                  </a:moveTo>
                  <a:cubicBezTo>
                    <a:pt x="260285" y="280845"/>
                    <a:pt x="239165" y="282251"/>
                    <a:pt x="222034" y="284828"/>
                  </a:cubicBezTo>
                  <a:cubicBezTo>
                    <a:pt x="201148" y="287875"/>
                    <a:pt x="179557" y="289280"/>
                    <a:pt x="158437" y="287640"/>
                  </a:cubicBezTo>
                  <a:cubicBezTo>
                    <a:pt x="143887" y="286469"/>
                    <a:pt x="116899" y="285531"/>
                    <a:pt x="99299" y="277096"/>
                  </a:cubicBezTo>
                  <a:cubicBezTo>
                    <a:pt x="110329" y="336145"/>
                    <a:pt x="139663" y="391679"/>
                    <a:pt x="205137" y="392382"/>
                  </a:cubicBezTo>
                  <a:cubicBezTo>
                    <a:pt x="262163" y="392851"/>
                    <a:pt x="296895" y="356062"/>
                    <a:pt x="312148" y="309432"/>
                  </a:cubicBezTo>
                  <a:cubicBezTo>
                    <a:pt x="310036" y="310135"/>
                    <a:pt x="307690" y="310604"/>
                    <a:pt x="305108" y="310604"/>
                  </a:cubicBezTo>
                  <a:cubicBezTo>
                    <a:pt x="287977" y="310604"/>
                    <a:pt x="279294" y="293030"/>
                    <a:pt x="275305" y="271238"/>
                  </a:cubicBezTo>
                  <a:close/>
                  <a:moveTo>
                    <a:pt x="93667" y="210314"/>
                  </a:moveTo>
                  <a:cubicBezTo>
                    <a:pt x="93667" y="211251"/>
                    <a:pt x="93667" y="212189"/>
                    <a:pt x="93667" y="212892"/>
                  </a:cubicBezTo>
                  <a:cubicBezTo>
                    <a:pt x="95779" y="213126"/>
                    <a:pt x="97891" y="213360"/>
                    <a:pt x="100003" y="213595"/>
                  </a:cubicBezTo>
                  <a:cubicBezTo>
                    <a:pt x="97891" y="212423"/>
                    <a:pt x="95779" y="211486"/>
                    <a:pt x="93667" y="210314"/>
                  </a:cubicBezTo>
                  <a:close/>
                  <a:moveTo>
                    <a:pt x="80202" y="186355"/>
                  </a:moveTo>
                  <a:cubicBezTo>
                    <a:pt x="82872" y="184714"/>
                    <a:pt x="86275" y="184422"/>
                    <a:pt x="89443" y="186413"/>
                  </a:cubicBezTo>
                  <a:cubicBezTo>
                    <a:pt x="144356" y="220156"/>
                    <a:pt x="213820" y="232340"/>
                    <a:pt x="269203" y="193209"/>
                  </a:cubicBezTo>
                  <a:cubicBezTo>
                    <a:pt x="272958" y="190397"/>
                    <a:pt x="276713" y="191100"/>
                    <a:pt x="279059" y="193209"/>
                  </a:cubicBezTo>
                  <a:cubicBezTo>
                    <a:pt x="281641" y="192271"/>
                    <a:pt x="284692" y="194380"/>
                    <a:pt x="284222" y="197661"/>
                  </a:cubicBezTo>
                  <a:cubicBezTo>
                    <a:pt x="281876" y="216172"/>
                    <a:pt x="285630" y="237261"/>
                    <a:pt x="288681" y="255304"/>
                  </a:cubicBezTo>
                  <a:cubicBezTo>
                    <a:pt x="289620" y="261162"/>
                    <a:pt x="304404" y="314587"/>
                    <a:pt x="312383" y="289280"/>
                  </a:cubicBezTo>
                  <a:cubicBezTo>
                    <a:pt x="321301" y="261162"/>
                    <a:pt x="315434" y="229997"/>
                    <a:pt x="314965" y="201175"/>
                  </a:cubicBezTo>
                  <a:cubicBezTo>
                    <a:pt x="314730" y="192037"/>
                    <a:pt x="328341" y="190397"/>
                    <a:pt x="330688" y="199067"/>
                  </a:cubicBezTo>
                  <a:cubicBezTo>
                    <a:pt x="349227" y="270300"/>
                    <a:pt x="328576" y="369887"/>
                    <a:pt x="260051" y="401287"/>
                  </a:cubicBezTo>
                  <a:cubicBezTo>
                    <a:pt x="261224" y="401287"/>
                    <a:pt x="262163" y="401521"/>
                    <a:pt x="263102" y="401990"/>
                  </a:cubicBezTo>
                  <a:cubicBezTo>
                    <a:pt x="332330" y="431983"/>
                    <a:pt x="406018" y="510481"/>
                    <a:pt x="401325" y="590150"/>
                  </a:cubicBezTo>
                  <a:cubicBezTo>
                    <a:pt x="401090" y="596711"/>
                    <a:pt x="395693" y="600226"/>
                    <a:pt x="389591" y="599289"/>
                  </a:cubicBezTo>
                  <a:cubicBezTo>
                    <a:pt x="347584" y="591790"/>
                    <a:pt x="305108" y="600460"/>
                    <a:pt x="262867" y="595071"/>
                  </a:cubicBezTo>
                  <a:cubicBezTo>
                    <a:pt x="257704" y="594368"/>
                    <a:pt x="253480" y="591322"/>
                    <a:pt x="253480" y="585698"/>
                  </a:cubicBezTo>
                  <a:cubicBezTo>
                    <a:pt x="252776" y="529226"/>
                    <a:pt x="239634" y="471115"/>
                    <a:pt x="247144" y="414643"/>
                  </a:cubicBezTo>
                  <a:cubicBezTo>
                    <a:pt x="247378" y="413003"/>
                    <a:pt x="248082" y="411831"/>
                    <a:pt x="248786" y="410660"/>
                  </a:cubicBezTo>
                  <a:cubicBezTo>
                    <a:pt x="249021" y="408551"/>
                    <a:pt x="249960" y="406442"/>
                    <a:pt x="251603" y="404802"/>
                  </a:cubicBezTo>
                  <a:cubicBezTo>
                    <a:pt x="237757" y="409722"/>
                    <a:pt x="222268" y="411831"/>
                    <a:pt x="205137" y="410894"/>
                  </a:cubicBezTo>
                  <a:cubicBezTo>
                    <a:pt x="96248" y="404802"/>
                    <a:pt x="70903" y="284360"/>
                    <a:pt x="75362" y="194380"/>
                  </a:cubicBezTo>
                  <a:cubicBezTo>
                    <a:pt x="75597" y="190983"/>
                    <a:pt x="77533" y="187995"/>
                    <a:pt x="80202" y="186355"/>
                  </a:cubicBezTo>
                  <a:close/>
                  <a:moveTo>
                    <a:pt x="204675" y="1071"/>
                  </a:moveTo>
                  <a:cubicBezTo>
                    <a:pt x="234481" y="-6191"/>
                    <a:pt x="272031" y="25435"/>
                    <a:pt x="297143" y="36212"/>
                  </a:cubicBezTo>
                  <a:cubicBezTo>
                    <a:pt x="334459" y="52142"/>
                    <a:pt x="374121" y="65730"/>
                    <a:pt x="407917" y="88689"/>
                  </a:cubicBezTo>
                  <a:cubicBezTo>
                    <a:pt x="415192" y="93843"/>
                    <a:pt x="411907" y="104150"/>
                    <a:pt x="405335" y="105790"/>
                  </a:cubicBezTo>
                  <a:cubicBezTo>
                    <a:pt x="398295" y="117035"/>
                    <a:pt x="379519" y="122189"/>
                    <a:pt x="367785" y="126172"/>
                  </a:cubicBezTo>
                  <a:cubicBezTo>
                    <a:pt x="351122" y="132029"/>
                    <a:pt x="331173" y="139291"/>
                    <a:pt x="313102" y="136948"/>
                  </a:cubicBezTo>
                  <a:cubicBezTo>
                    <a:pt x="271562" y="131092"/>
                    <a:pt x="243164" y="83769"/>
                    <a:pt x="200216" y="93608"/>
                  </a:cubicBezTo>
                  <a:cubicBezTo>
                    <a:pt x="211481" y="122658"/>
                    <a:pt x="255368" y="139760"/>
                    <a:pt x="282123" y="147256"/>
                  </a:cubicBezTo>
                  <a:cubicBezTo>
                    <a:pt x="285174" y="148193"/>
                    <a:pt x="286113" y="150770"/>
                    <a:pt x="285643" y="153347"/>
                  </a:cubicBezTo>
                  <a:cubicBezTo>
                    <a:pt x="288459" y="156627"/>
                    <a:pt x="289398" y="161547"/>
                    <a:pt x="285174" y="165530"/>
                  </a:cubicBezTo>
                  <a:cubicBezTo>
                    <a:pt x="254899" y="193408"/>
                    <a:pt x="213358" y="214961"/>
                    <a:pt x="172757" y="198328"/>
                  </a:cubicBezTo>
                  <a:cubicBezTo>
                    <a:pt x="115493" y="174666"/>
                    <a:pt x="65738" y="134840"/>
                    <a:pt x="8474" y="110242"/>
                  </a:cubicBezTo>
                  <a:cubicBezTo>
                    <a:pt x="728" y="112584"/>
                    <a:pt x="-3261" y="101339"/>
                    <a:pt x="3310" y="97122"/>
                  </a:cubicBezTo>
                  <a:cubicBezTo>
                    <a:pt x="37341" y="75569"/>
                    <a:pt x="76769" y="61982"/>
                    <a:pt x="113146" y="45114"/>
                  </a:cubicBezTo>
                  <a:cubicBezTo>
                    <a:pt x="142482" y="31526"/>
                    <a:pt x="173226" y="8568"/>
                    <a:pt x="204675" y="1071"/>
                  </a:cubicBezTo>
                  <a:close/>
                </a:path>
              </a:pathLst>
            </a:custGeom>
            <a:solidFill>
              <a:srgbClr val="005D96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solidFill>
                  <a:schemeClr val="accent4"/>
                </a:solidFill>
              </a:endParaRPr>
            </a:p>
          </p:txBody>
        </p:sp>
        <p:sp>
          <p:nvSpPr>
            <p:cNvPr id="45" name="professor_53644"/>
            <p:cNvSpPr>
              <a:spLocks noChangeAspect="1"/>
            </p:cNvSpPr>
            <p:nvPr/>
          </p:nvSpPr>
          <p:spPr bwMode="auto">
            <a:xfrm>
              <a:off x="6601606" y="5807951"/>
              <a:ext cx="254137" cy="360000"/>
            </a:xfrm>
            <a:custGeom>
              <a:avLst/>
              <a:gdLst>
                <a:gd name="connsiteX0" fmla="*/ 274879 w 424808"/>
                <a:gd name="connsiteY0" fmla="*/ 445205 h 601764"/>
                <a:gd name="connsiteX1" fmla="*/ 274879 w 424808"/>
                <a:gd name="connsiteY1" fmla="*/ 470531 h 601764"/>
                <a:gd name="connsiteX2" fmla="*/ 332512 w 424808"/>
                <a:gd name="connsiteY2" fmla="*/ 470531 h 601764"/>
                <a:gd name="connsiteX3" fmla="*/ 332512 w 424808"/>
                <a:gd name="connsiteY3" fmla="*/ 445205 h 601764"/>
                <a:gd name="connsiteX4" fmla="*/ 107051 w 424808"/>
                <a:gd name="connsiteY4" fmla="*/ 280818 h 601764"/>
                <a:gd name="connsiteX5" fmla="*/ 183588 w 424808"/>
                <a:gd name="connsiteY5" fmla="*/ 420340 h 601764"/>
                <a:gd name="connsiteX6" fmla="*/ 191426 w 424808"/>
                <a:gd name="connsiteY6" fmla="*/ 393633 h 601764"/>
                <a:gd name="connsiteX7" fmla="*/ 179899 w 424808"/>
                <a:gd name="connsiteY7" fmla="*/ 369228 h 601764"/>
                <a:gd name="connsiteX8" fmla="*/ 212174 w 424808"/>
                <a:gd name="connsiteY8" fmla="*/ 336074 h 601764"/>
                <a:gd name="connsiteX9" fmla="*/ 244910 w 424808"/>
                <a:gd name="connsiteY9" fmla="*/ 369228 h 601764"/>
                <a:gd name="connsiteX10" fmla="*/ 233383 w 424808"/>
                <a:gd name="connsiteY10" fmla="*/ 393633 h 601764"/>
                <a:gd name="connsiteX11" fmla="*/ 240760 w 424808"/>
                <a:gd name="connsiteY11" fmla="*/ 420340 h 601764"/>
                <a:gd name="connsiteX12" fmla="*/ 317758 w 424808"/>
                <a:gd name="connsiteY12" fmla="*/ 280818 h 601764"/>
                <a:gd name="connsiteX13" fmla="*/ 424726 w 424808"/>
                <a:gd name="connsiteY13" fmla="*/ 513815 h 601764"/>
                <a:gd name="connsiteX14" fmla="*/ 388763 w 424808"/>
                <a:gd name="connsiteY14" fmla="*/ 559861 h 601764"/>
                <a:gd name="connsiteX15" fmla="*/ 347267 w 424808"/>
                <a:gd name="connsiteY15" fmla="*/ 561703 h 601764"/>
                <a:gd name="connsiteX16" fmla="*/ 213557 w 424808"/>
                <a:gd name="connsiteY16" fmla="*/ 601764 h 601764"/>
                <a:gd name="connsiteX17" fmla="*/ 78003 w 424808"/>
                <a:gd name="connsiteY17" fmla="*/ 561703 h 601764"/>
                <a:gd name="connsiteX18" fmla="*/ 36507 w 424808"/>
                <a:gd name="connsiteY18" fmla="*/ 559861 h 601764"/>
                <a:gd name="connsiteX19" fmla="*/ 83 w 424808"/>
                <a:gd name="connsiteY19" fmla="*/ 513815 h 601764"/>
                <a:gd name="connsiteX20" fmla="*/ 107051 w 424808"/>
                <a:gd name="connsiteY20" fmla="*/ 280818 h 601764"/>
                <a:gd name="connsiteX21" fmla="*/ 184977 w 424808"/>
                <a:gd name="connsiteY21" fmla="*/ 152406 h 601764"/>
                <a:gd name="connsiteX22" fmla="*/ 153631 w 424808"/>
                <a:gd name="connsiteY22" fmla="*/ 166680 h 601764"/>
                <a:gd name="connsiteX23" fmla="*/ 153631 w 424808"/>
                <a:gd name="connsiteY23" fmla="*/ 167601 h 601764"/>
                <a:gd name="connsiteX24" fmla="*/ 170226 w 424808"/>
                <a:gd name="connsiteY24" fmla="*/ 184637 h 601764"/>
                <a:gd name="connsiteX25" fmla="*/ 178062 w 424808"/>
                <a:gd name="connsiteY25" fmla="*/ 184637 h 601764"/>
                <a:gd name="connsiteX26" fmla="*/ 195118 w 424808"/>
                <a:gd name="connsiteY26" fmla="*/ 167601 h 601764"/>
                <a:gd name="connsiteX27" fmla="*/ 184977 w 424808"/>
                <a:gd name="connsiteY27" fmla="*/ 152406 h 601764"/>
                <a:gd name="connsiteX28" fmla="*/ 247208 w 424808"/>
                <a:gd name="connsiteY28" fmla="*/ 150564 h 601764"/>
                <a:gd name="connsiteX29" fmla="*/ 230152 w 424808"/>
                <a:gd name="connsiteY29" fmla="*/ 167601 h 601764"/>
                <a:gd name="connsiteX30" fmla="*/ 247208 w 424808"/>
                <a:gd name="connsiteY30" fmla="*/ 184637 h 601764"/>
                <a:gd name="connsiteX31" fmla="*/ 254583 w 424808"/>
                <a:gd name="connsiteY31" fmla="*/ 184637 h 601764"/>
                <a:gd name="connsiteX32" fmla="*/ 271639 w 424808"/>
                <a:gd name="connsiteY32" fmla="*/ 167601 h 601764"/>
                <a:gd name="connsiteX33" fmla="*/ 254583 w 424808"/>
                <a:gd name="connsiteY33" fmla="*/ 150564 h 601764"/>
                <a:gd name="connsiteX34" fmla="*/ 236144 w 424808"/>
                <a:gd name="connsiteY34" fmla="*/ 107283 h 601764"/>
                <a:gd name="connsiteX35" fmla="*/ 196040 w 424808"/>
                <a:gd name="connsiteY35" fmla="*/ 145039 h 601764"/>
                <a:gd name="connsiteX36" fmla="*/ 201572 w 424808"/>
                <a:gd name="connsiteY36" fmla="*/ 150564 h 601764"/>
                <a:gd name="connsiteX37" fmla="*/ 223237 w 424808"/>
                <a:gd name="connsiteY37" fmla="*/ 150564 h 601764"/>
                <a:gd name="connsiteX38" fmla="*/ 247208 w 424808"/>
                <a:gd name="connsiteY38" fmla="*/ 138593 h 601764"/>
                <a:gd name="connsiteX39" fmla="*/ 254583 w 424808"/>
                <a:gd name="connsiteY39" fmla="*/ 138593 h 601764"/>
                <a:gd name="connsiteX40" fmla="*/ 284085 w 424808"/>
                <a:gd name="connsiteY40" fmla="*/ 167601 h 601764"/>
                <a:gd name="connsiteX41" fmla="*/ 254583 w 424808"/>
                <a:gd name="connsiteY41" fmla="*/ 197069 h 601764"/>
                <a:gd name="connsiteX42" fmla="*/ 247208 w 424808"/>
                <a:gd name="connsiteY42" fmla="*/ 197069 h 601764"/>
                <a:gd name="connsiteX43" fmla="*/ 217706 w 424808"/>
                <a:gd name="connsiteY43" fmla="*/ 167601 h 601764"/>
                <a:gd name="connsiteX44" fmla="*/ 218167 w 424808"/>
                <a:gd name="connsiteY44" fmla="*/ 162996 h 601764"/>
                <a:gd name="connsiteX45" fmla="*/ 206642 w 424808"/>
                <a:gd name="connsiteY45" fmla="*/ 162996 h 601764"/>
                <a:gd name="connsiteX46" fmla="*/ 207103 w 424808"/>
                <a:gd name="connsiteY46" fmla="*/ 167601 h 601764"/>
                <a:gd name="connsiteX47" fmla="*/ 178062 w 424808"/>
                <a:gd name="connsiteY47" fmla="*/ 197069 h 601764"/>
                <a:gd name="connsiteX48" fmla="*/ 170226 w 424808"/>
                <a:gd name="connsiteY48" fmla="*/ 197069 h 601764"/>
                <a:gd name="connsiteX49" fmla="*/ 141185 w 424808"/>
                <a:gd name="connsiteY49" fmla="*/ 170363 h 601764"/>
                <a:gd name="connsiteX50" fmla="*/ 119519 w 424808"/>
                <a:gd name="connsiteY50" fmla="*/ 173586 h 601764"/>
                <a:gd name="connsiteX51" fmla="*/ 212635 w 424808"/>
                <a:gd name="connsiteY51" fmla="*/ 280869 h 601764"/>
                <a:gd name="connsiteX52" fmla="*/ 307594 w 424808"/>
                <a:gd name="connsiteY52" fmla="*/ 155629 h 601764"/>
                <a:gd name="connsiteX53" fmla="*/ 236144 w 424808"/>
                <a:gd name="connsiteY53" fmla="*/ 107283 h 601764"/>
                <a:gd name="connsiteX54" fmla="*/ 212635 w 424808"/>
                <a:gd name="connsiteY54" fmla="*/ 0 h 601764"/>
                <a:gd name="connsiteX55" fmla="*/ 340323 w 424808"/>
                <a:gd name="connsiteY55" fmla="*/ 127082 h 601764"/>
                <a:gd name="connsiteX56" fmla="*/ 365215 w 424808"/>
                <a:gd name="connsiteY56" fmla="*/ 175889 h 601764"/>
                <a:gd name="connsiteX57" fmla="*/ 326955 w 424808"/>
                <a:gd name="connsiteY57" fmla="*/ 224695 h 601764"/>
                <a:gd name="connsiteX58" fmla="*/ 212635 w 424808"/>
                <a:gd name="connsiteY58" fmla="*/ 317244 h 601764"/>
                <a:gd name="connsiteX59" fmla="*/ 98315 w 424808"/>
                <a:gd name="connsiteY59" fmla="*/ 224695 h 601764"/>
                <a:gd name="connsiteX60" fmla="*/ 59594 w 424808"/>
                <a:gd name="connsiteY60" fmla="*/ 175889 h 601764"/>
                <a:gd name="connsiteX61" fmla="*/ 84947 w 424808"/>
                <a:gd name="connsiteY61" fmla="*/ 127082 h 601764"/>
                <a:gd name="connsiteX62" fmla="*/ 212635 w 424808"/>
                <a:gd name="connsiteY62" fmla="*/ 0 h 601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424808" h="601764">
                  <a:moveTo>
                    <a:pt x="274879" y="445205"/>
                  </a:moveTo>
                  <a:lnTo>
                    <a:pt x="274879" y="470531"/>
                  </a:lnTo>
                  <a:lnTo>
                    <a:pt x="332512" y="470531"/>
                  </a:lnTo>
                  <a:lnTo>
                    <a:pt x="332512" y="445205"/>
                  </a:lnTo>
                  <a:close/>
                  <a:moveTo>
                    <a:pt x="107051" y="280818"/>
                  </a:moveTo>
                  <a:lnTo>
                    <a:pt x="183588" y="420340"/>
                  </a:lnTo>
                  <a:lnTo>
                    <a:pt x="191426" y="393633"/>
                  </a:lnTo>
                  <a:cubicBezTo>
                    <a:pt x="184510" y="387647"/>
                    <a:pt x="179899" y="378898"/>
                    <a:pt x="179899" y="369228"/>
                  </a:cubicBezTo>
                  <a:cubicBezTo>
                    <a:pt x="179899" y="350809"/>
                    <a:pt x="193731" y="336074"/>
                    <a:pt x="212174" y="336074"/>
                  </a:cubicBezTo>
                  <a:cubicBezTo>
                    <a:pt x="230156" y="336074"/>
                    <a:pt x="244910" y="350809"/>
                    <a:pt x="244910" y="369228"/>
                  </a:cubicBezTo>
                  <a:cubicBezTo>
                    <a:pt x="244910" y="378898"/>
                    <a:pt x="240299" y="387647"/>
                    <a:pt x="233383" y="393633"/>
                  </a:cubicBezTo>
                  <a:lnTo>
                    <a:pt x="240760" y="420340"/>
                  </a:lnTo>
                  <a:lnTo>
                    <a:pt x="317758" y="280818"/>
                  </a:lnTo>
                  <a:cubicBezTo>
                    <a:pt x="367092" y="310288"/>
                    <a:pt x="417810" y="377977"/>
                    <a:pt x="424726" y="513815"/>
                  </a:cubicBezTo>
                  <a:cubicBezTo>
                    <a:pt x="426109" y="537759"/>
                    <a:pt x="409972" y="558480"/>
                    <a:pt x="388763" y="559861"/>
                  </a:cubicBezTo>
                  <a:cubicBezTo>
                    <a:pt x="387840" y="559861"/>
                    <a:pt x="347267" y="561703"/>
                    <a:pt x="347267" y="561703"/>
                  </a:cubicBezTo>
                  <a:cubicBezTo>
                    <a:pt x="322830" y="588410"/>
                    <a:pt x="274879" y="601764"/>
                    <a:pt x="213557" y="601764"/>
                  </a:cubicBezTo>
                  <a:cubicBezTo>
                    <a:pt x="155463" y="601764"/>
                    <a:pt x="103362" y="590713"/>
                    <a:pt x="78003" y="561703"/>
                  </a:cubicBezTo>
                  <a:cubicBezTo>
                    <a:pt x="78003" y="561703"/>
                    <a:pt x="36969" y="559861"/>
                    <a:pt x="36507" y="559861"/>
                  </a:cubicBezTo>
                  <a:cubicBezTo>
                    <a:pt x="14837" y="558480"/>
                    <a:pt x="-1300" y="537759"/>
                    <a:pt x="83" y="513815"/>
                  </a:cubicBezTo>
                  <a:cubicBezTo>
                    <a:pt x="6999" y="377056"/>
                    <a:pt x="57717" y="309827"/>
                    <a:pt x="107051" y="280818"/>
                  </a:cubicBezTo>
                  <a:close/>
                  <a:moveTo>
                    <a:pt x="184977" y="152406"/>
                  </a:moveTo>
                  <a:cubicBezTo>
                    <a:pt x="175758" y="157931"/>
                    <a:pt x="165155" y="162996"/>
                    <a:pt x="153631" y="166680"/>
                  </a:cubicBezTo>
                  <a:cubicBezTo>
                    <a:pt x="153631" y="167140"/>
                    <a:pt x="153631" y="167601"/>
                    <a:pt x="153631" y="167601"/>
                  </a:cubicBezTo>
                  <a:cubicBezTo>
                    <a:pt x="153631" y="176809"/>
                    <a:pt x="161007" y="184637"/>
                    <a:pt x="170226" y="184637"/>
                  </a:cubicBezTo>
                  <a:lnTo>
                    <a:pt x="178062" y="184637"/>
                  </a:lnTo>
                  <a:cubicBezTo>
                    <a:pt x="187282" y="184637"/>
                    <a:pt x="195118" y="176809"/>
                    <a:pt x="195118" y="167601"/>
                  </a:cubicBezTo>
                  <a:cubicBezTo>
                    <a:pt x="195118" y="160694"/>
                    <a:pt x="190969" y="155169"/>
                    <a:pt x="184977" y="152406"/>
                  </a:cubicBezTo>
                  <a:close/>
                  <a:moveTo>
                    <a:pt x="247208" y="150564"/>
                  </a:moveTo>
                  <a:cubicBezTo>
                    <a:pt x="237527" y="150564"/>
                    <a:pt x="230152" y="158392"/>
                    <a:pt x="230152" y="167601"/>
                  </a:cubicBezTo>
                  <a:cubicBezTo>
                    <a:pt x="230152" y="176809"/>
                    <a:pt x="237527" y="184637"/>
                    <a:pt x="247208" y="184637"/>
                  </a:cubicBezTo>
                  <a:lnTo>
                    <a:pt x="254583" y="184637"/>
                  </a:lnTo>
                  <a:cubicBezTo>
                    <a:pt x="263802" y="184637"/>
                    <a:pt x="271639" y="176809"/>
                    <a:pt x="271639" y="167601"/>
                  </a:cubicBezTo>
                  <a:cubicBezTo>
                    <a:pt x="271639" y="158392"/>
                    <a:pt x="263802" y="150564"/>
                    <a:pt x="254583" y="150564"/>
                  </a:cubicBezTo>
                  <a:close/>
                  <a:moveTo>
                    <a:pt x="236144" y="107283"/>
                  </a:moveTo>
                  <a:cubicBezTo>
                    <a:pt x="232457" y="111887"/>
                    <a:pt x="218628" y="129384"/>
                    <a:pt x="196040" y="145039"/>
                  </a:cubicBezTo>
                  <a:cubicBezTo>
                    <a:pt x="198345" y="146420"/>
                    <a:pt x="200189" y="148723"/>
                    <a:pt x="201572" y="150564"/>
                  </a:cubicBezTo>
                  <a:lnTo>
                    <a:pt x="223237" y="150564"/>
                  </a:lnTo>
                  <a:cubicBezTo>
                    <a:pt x="228769" y="143197"/>
                    <a:pt x="237066" y="138593"/>
                    <a:pt x="247208" y="138593"/>
                  </a:cubicBezTo>
                  <a:lnTo>
                    <a:pt x="254583" y="138593"/>
                  </a:lnTo>
                  <a:cubicBezTo>
                    <a:pt x="270717" y="138593"/>
                    <a:pt x="284085" y="151485"/>
                    <a:pt x="284085" y="167601"/>
                  </a:cubicBezTo>
                  <a:cubicBezTo>
                    <a:pt x="284085" y="183716"/>
                    <a:pt x="270717" y="197069"/>
                    <a:pt x="254583" y="197069"/>
                  </a:cubicBezTo>
                  <a:lnTo>
                    <a:pt x="247208" y="197069"/>
                  </a:lnTo>
                  <a:cubicBezTo>
                    <a:pt x="231074" y="197069"/>
                    <a:pt x="217706" y="183716"/>
                    <a:pt x="217706" y="167601"/>
                  </a:cubicBezTo>
                  <a:cubicBezTo>
                    <a:pt x="217706" y="166219"/>
                    <a:pt x="218167" y="164378"/>
                    <a:pt x="218167" y="162996"/>
                  </a:cubicBezTo>
                  <a:lnTo>
                    <a:pt x="206642" y="162996"/>
                  </a:lnTo>
                  <a:cubicBezTo>
                    <a:pt x="207103" y="164378"/>
                    <a:pt x="207103" y="166219"/>
                    <a:pt x="207103" y="167601"/>
                  </a:cubicBezTo>
                  <a:cubicBezTo>
                    <a:pt x="207103" y="183716"/>
                    <a:pt x="194196" y="197069"/>
                    <a:pt x="178062" y="197069"/>
                  </a:cubicBezTo>
                  <a:lnTo>
                    <a:pt x="170226" y="197069"/>
                  </a:lnTo>
                  <a:cubicBezTo>
                    <a:pt x="155014" y="197069"/>
                    <a:pt x="142568" y="185097"/>
                    <a:pt x="141185" y="170363"/>
                  </a:cubicBezTo>
                  <a:cubicBezTo>
                    <a:pt x="134270" y="171745"/>
                    <a:pt x="126895" y="173126"/>
                    <a:pt x="119519" y="173586"/>
                  </a:cubicBezTo>
                  <a:cubicBezTo>
                    <a:pt x="129200" y="235746"/>
                    <a:pt x="163311" y="280869"/>
                    <a:pt x="212635" y="280869"/>
                  </a:cubicBezTo>
                  <a:cubicBezTo>
                    <a:pt x="264724" y="280869"/>
                    <a:pt x="302985" y="228839"/>
                    <a:pt x="307594" y="155629"/>
                  </a:cubicBezTo>
                  <a:cubicBezTo>
                    <a:pt x="260576" y="144579"/>
                    <a:pt x="242598" y="119715"/>
                    <a:pt x="236144" y="107283"/>
                  </a:cubicBezTo>
                  <a:close/>
                  <a:moveTo>
                    <a:pt x="212635" y="0"/>
                  </a:moveTo>
                  <a:cubicBezTo>
                    <a:pt x="313126" y="0"/>
                    <a:pt x="333870" y="55713"/>
                    <a:pt x="340323" y="127082"/>
                  </a:cubicBezTo>
                  <a:cubicBezTo>
                    <a:pt x="359684" y="130305"/>
                    <a:pt x="370286" y="145499"/>
                    <a:pt x="365215" y="175889"/>
                  </a:cubicBezTo>
                  <a:cubicBezTo>
                    <a:pt x="361067" y="201213"/>
                    <a:pt x="349081" y="222854"/>
                    <a:pt x="326955" y="224695"/>
                  </a:cubicBezTo>
                  <a:cubicBezTo>
                    <a:pt x="305290" y="281790"/>
                    <a:pt x="262420" y="317244"/>
                    <a:pt x="212635" y="317244"/>
                  </a:cubicBezTo>
                  <a:cubicBezTo>
                    <a:pt x="160546" y="317244"/>
                    <a:pt x="119980" y="280409"/>
                    <a:pt x="98315" y="224695"/>
                  </a:cubicBezTo>
                  <a:cubicBezTo>
                    <a:pt x="76188" y="222854"/>
                    <a:pt x="64203" y="201213"/>
                    <a:pt x="59594" y="175889"/>
                  </a:cubicBezTo>
                  <a:cubicBezTo>
                    <a:pt x="54523" y="145499"/>
                    <a:pt x="65586" y="130305"/>
                    <a:pt x="84947" y="127082"/>
                  </a:cubicBezTo>
                  <a:cubicBezTo>
                    <a:pt x="91400" y="55713"/>
                    <a:pt x="111222" y="0"/>
                    <a:pt x="212635" y="0"/>
                  </a:cubicBezTo>
                  <a:close/>
                </a:path>
              </a:pathLst>
            </a:custGeom>
            <a:solidFill>
              <a:srgbClr val="005D96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solidFill>
                  <a:schemeClr val="accent4"/>
                </a:solidFill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-114300" y="450215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DE574F-A14B-EE44-B58F-28595D784A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08922" y="4734940"/>
            <a:ext cx="5881922" cy="337185"/>
          </a:xfrm>
        </p:spPr>
        <p:txBody>
          <a:bodyPr/>
          <a:lstStyle/>
          <a:p>
            <a:r>
              <a:rPr lang="en-US" altLang="zh-CN" b="1" dirty="0">
                <a:solidFill>
                  <a:schemeClr val="tx1"/>
                </a:solidFill>
              </a:rPr>
              <a:t>----</a:t>
            </a:r>
            <a:r>
              <a:rPr lang="zh-CN" altLang="en-US" b="1" dirty="0">
                <a:solidFill>
                  <a:schemeClr val="tx1"/>
                </a:solidFill>
              </a:rPr>
              <a:t> 课程编号：</a:t>
            </a:r>
            <a:r>
              <a:rPr lang="en-US" altLang="zh-CN" b="1" dirty="0">
                <a:solidFill>
                  <a:schemeClr val="tx1"/>
                </a:solidFill>
              </a:rPr>
              <a:t>BK10504150-01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5483860" y="981075"/>
            <a:ext cx="1360805" cy="1334770"/>
          </a:xfrm>
          <a:prstGeom prst="ellipse">
            <a:avLst/>
          </a:prstGeom>
          <a:gradFill>
            <a:gsLst>
              <a:gs pos="0">
                <a:srgbClr val="005D96"/>
              </a:gs>
              <a:gs pos="100000">
                <a:srgbClr val="06253A"/>
              </a:gs>
            </a:gsLst>
            <a:lin ang="13500000" scaled="1"/>
          </a:gradFill>
          <a:ln>
            <a:solidFill>
              <a:srgbClr val="005D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0" dirty="0">
                <a:latin typeface="Times New Roman Regular" panose="02020603050405020304" charset="0"/>
                <a:ea typeface="+mj-ea"/>
                <a:cs typeface="Times New Roman Regular" panose="02020603050405020304" charset="0"/>
              </a:rPr>
              <a:t>04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944526" y="2794468"/>
            <a:ext cx="63017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chemeClr val="tx2">
                    <a:lumMod val="50000"/>
                  </a:schemeClr>
                </a:solidFill>
              </a:rPr>
              <a:t>第四章 基本的算法策略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89F25AF-86B9-C443-AC0F-408445C8B7A5}"/>
              </a:ext>
            </a:extLst>
          </p:cNvPr>
          <p:cNvSpPr txBox="1"/>
          <p:nvPr/>
        </p:nvSpPr>
        <p:spPr>
          <a:xfrm>
            <a:off x="1268729" y="232528"/>
            <a:ext cx="45410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分而治之法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6871972-7126-AE40-8810-E975CFED9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2873" y="1434464"/>
            <a:ext cx="7488237" cy="47148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b="1" dirty="0">
                <a:solidFill>
                  <a:srgbClr val="80808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4.1 </a:t>
            </a:r>
            <a:r>
              <a:rPr lang="zh-CN" altLang="en-US" b="1" dirty="0">
                <a:solidFill>
                  <a:srgbClr val="80808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迭代算法</a:t>
            </a:r>
          </a:p>
          <a:p>
            <a:pPr algn="just">
              <a:lnSpc>
                <a:spcPct val="150000"/>
              </a:lnSpc>
            </a:pPr>
            <a:r>
              <a:rPr lang="en-US" altLang="zh-CN" b="1" dirty="0">
                <a:solidFill>
                  <a:srgbClr val="80808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4.2 </a:t>
            </a:r>
            <a:r>
              <a:rPr lang="zh-CN" altLang="en-US" b="1" dirty="0">
                <a:solidFill>
                  <a:srgbClr val="80808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蛮力法</a:t>
            </a:r>
          </a:p>
          <a:p>
            <a:pPr algn="just">
              <a:lnSpc>
                <a:spcPct val="150000"/>
              </a:lnSpc>
            </a:pPr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4.3 </a:t>
            </a:r>
            <a:r>
              <a:rPr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分治算法</a:t>
            </a:r>
          </a:p>
          <a:p>
            <a:pPr algn="just">
              <a:lnSpc>
                <a:spcPct val="150000"/>
              </a:lnSpc>
            </a:pPr>
            <a:r>
              <a:rPr lang="en-US" altLang="zh-CN" b="1" dirty="0">
                <a:solidFill>
                  <a:srgbClr val="80808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4.4 </a:t>
            </a:r>
            <a:r>
              <a:rPr lang="zh-CN" altLang="en-US" b="1" dirty="0">
                <a:solidFill>
                  <a:srgbClr val="80808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贪婪算法</a:t>
            </a:r>
          </a:p>
          <a:p>
            <a:pPr algn="just">
              <a:lnSpc>
                <a:spcPct val="150000"/>
              </a:lnSpc>
            </a:pPr>
            <a:r>
              <a:rPr lang="en-US" altLang="zh-CN" b="1" dirty="0">
                <a:solidFill>
                  <a:srgbClr val="80808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4.5 </a:t>
            </a:r>
            <a:r>
              <a:rPr lang="zh-CN" altLang="en-US" b="1" dirty="0">
                <a:solidFill>
                  <a:srgbClr val="80808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动态规划</a:t>
            </a:r>
          </a:p>
          <a:p>
            <a:pPr algn="just">
              <a:lnSpc>
                <a:spcPct val="150000"/>
              </a:lnSpc>
            </a:pPr>
            <a:r>
              <a:rPr lang="en-US" altLang="zh-CN" b="1" dirty="0">
                <a:solidFill>
                  <a:srgbClr val="80808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4.6 </a:t>
            </a:r>
            <a:r>
              <a:rPr lang="zh-CN" altLang="en-US" b="1" dirty="0">
                <a:solidFill>
                  <a:srgbClr val="80808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算法策略间的比较</a:t>
            </a:r>
          </a:p>
        </p:txBody>
      </p:sp>
    </p:spTree>
    <p:extLst>
      <p:ext uri="{BB962C8B-B14F-4D97-AF65-F5344CB8AC3E}">
        <p14:creationId xmlns:p14="http://schemas.microsoft.com/office/powerpoint/2010/main" val="82794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EEC8EAB-113D-E944-8247-A200BF8FD4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49776" y="346867"/>
            <a:ext cx="4846224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3600" spc="-40" dirty="0">
                <a:latin typeface="SimSun" panose="02010600030101010101" pitchFamily="2" charset="-122"/>
                <a:ea typeface="SimSun" panose="02010600030101010101" pitchFamily="2" charset="-122"/>
              </a:rPr>
              <a:t>分而治之：一般步骤</a:t>
            </a:r>
            <a:endParaRPr sz="3600"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5E748A7F-0E30-CF40-90CB-B6B22C48576D}"/>
              </a:ext>
            </a:extLst>
          </p:cNvPr>
          <p:cNvSpPr/>
          <p:nvPr/>
        </p:nvSpPr>
        <p:spPr>
          <a:xfrm>
            <a:off x="1874139" y="1288569"/>
            <a:ext cx="2117725" cy="902335"/>
          </a:xfrm>
          <a:custGeom>
            <a:avLst/>
            <a:gdLst/>
            <a:ahLst/>
            <a:cxnLst/>
            <a:rect l="l" t="t" r="r" b="b"/>
            <a:pathLst>
              <a:path w="2117725" h="902335">
                <a:moveTo>
                  <a:pt x="2027427" y="0"/>
                </a:moveTo>
                <a:lnTo>
                  <a:pt x="90169" y="0"/>
                </a:lnTo>
                <a:lnTo>
                  <a:pt x="55078" y="7088"/>
                </a:lnTo>
                <a:lnTo>
                  <a:pt x="26415" y="26416"/>
                </a:lnTo>
                <a:lnTo>
                  <a:pt x="7088" y="55078"/>
                </a:lnTo>
                <a:lnTo>
                  <a:pt x="0" y="90170"/>
                </a:lnTo>
                <a:lnTo>
                  <a:pt x="0" y="812038"/>
                </a:lnTo>
                <a:lnTo>
                  <a:pt x="7088" y="847129"/>
                </a:lnTo>
                <a:lnTo>
                  <a:pt x="26415" y="875791"/>
                </a:lnTo>
                <a:lnTo>
                  <a:pt x="55078" y="895119"/>
                </a:lnTo>
                <a:lnTo>
                  <a:pt x="90169" y="902208"/>
                </a:lnTo>
                <a:lnTo>
                  <a:pt x="2027427" y="902208"/>
                </a:lnTo>
                <a:lnTo>
                  <a:pt x="2062519" y="895119"/>
                </a:lnTo>
                <a:lnTo>
                  <a:pt x="2091181" y="875791"/>
                </a:lnTo>
                <a:lnTo>
                  <a:pt x="2110509" y="847129"/>
                </a:lnTo>
                <a:lnTo>
                  <a:pt x="2117598" y="812038"/>
                </a:lnTo>
                <a:lnTo>
                  <a:pt x="2117598" y="90170"/>
                </a:lnTo>
                <a:lnTo>
                  <a:pt x="2110509" y="55078"/>
                </a:lnTo>
                <a:lnTo>
                  <a:pt x="2091181" y="26416"/>
                </a:lnTo>
                <a:lnTo>
                  <a:pt x="2062519" y="7088"/>
                </a:lnTo>
                <a:lnTo>
                  <a:pt x="2027427" y="0"/>
                </a:lnTo>
                <a:close/>
              </a:path>
            </a:pathLst>
          </a:custGeom>
          <a:solidFill>
            <a:srgbClr val="25AD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E767CB25-F465-ED41-B2D3-91C4D7F2BDAD}"/>
              </a:ext>
            </a:extLst>
          </p:cNvPr>
          <p:cNvSpPr txBox="1"/>
          <p:nvPr/>
        </p:nvSpPr>
        <p:spPr>
          <a:xfrm>
            <a:off x="2094992" y="1470560"/>
            <a:ext cx="167513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35">
                <a:solidFill>
                  <a:srgbClr val="FFC000"/>
                </a:solidFill>
                <a:latin typeface="宋体"/>
                <a:cs typeface="宋体"/>
              </a:rPr>
              <a:t>分解</a:t>
            </a:r>
            <a:r>
              <a:rPr sz="2600" spc="-35">
                <a:solidFill>
                  <a:srgbClr val="FFFFFF"/>
                </a:solidFill>
                <a:latin typeface="宋体"/>
                <a:cs typeface="宋体"/>
              </a:rPr>
              <a:t>原问</a:t>
            </a:r>
            <a:r>
              <a:rPr sz="2600" spc="-50">
                <a:solidFill>
                  <a:srgbClr val="FFFFFF"/>
                </a:solidFill>
                <a:latin typeface="宋体"/>
                <a:cs typeface="宋体"/>
              </a:rPr>
              <a:t>题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DC36A797-24A3-D148-87A5-FC83798DED3E}"/>
              </a:ext>
            </a:extLst>
          </p:cNvPr>
          <p:cNvSpPr/>
          <p:nvPr/>
        </p:nvSpPr>
        <p:spPr>
          <a:xfrm>
            <a:off x="2622804" y="2315364"/>
            <a:ext cx="620395" cy="750570"/>
          </a:xfrm>
          <a:custGeom>
            <a:avLst/>
            <a:gdLst/>
            <a:ahLst/>
            <a:cxnLst/>
            <a:rect l="l" t="t" r="r" b="b"/>
            <a:pathLst>
              <a:path w="620394" h="750569">
                <a:moveTo>
                  <a:pt x="496188" y="0"/>
                </a:moveTo>
                <a:lnTo>
                  <a:pt x="124078" y="0"/>
                </a:lnTo>
                <a:lnTo>
                  <a:pt x="124078" y="440436"/>
                </a:lnTo>
                <a:lnTo>
                  <a:pt x="0" y="440436"/>
                </a:lnTo>
                <a:lnTo>
                  <a:pt x="310133" y="750570"/>
                </a:lnTo>
                <a:lnTo>
                  <a:pt x="620268" y="440436"/>
                </a:lnTo>
                <a:lnTo>
                  <a:pt x="496188" y="440436"/>
                </a:lnTo>
                <a:lnTo>
                  <a:pt x="49618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FBDF4D93-B60A-304D-B9C3-1423734AE853}"/>
              </a:ext>
            </a:extLst>
          </p:cNvPr>
          <p:cNvSpPr/>
          <p:nvPr/>
        </p:nvSpPr>
        <p:spPr>
          <a:xfrm>
            <a:off x="1874139" y="3191283"/>
            <a:ext cx="2117725" cy="902335"/>
          </a:xfrm>
          <a:custGeom>
            <a:avLst/>
            <a:gdLst/>
            <a:ahLst/>
            <a:cxnLst/>
            <a:rect l="l" t="t" r="r" b="b"/>
            <a:pathLst>
              <a:path w="2117725" h="902335">
                <a:moveTo>
                  <a:pt x="2027427" y="0"/>
                </a:moveTo>
                <a:lnTo>
                  <a:pt x="90169" y="0"/>
                </a:lnTo>
                <a:lnTo>
                  <a:pt x="55078" y="7088"/>
                </a:lnTo>
                <a:lnTo>
                  <a:pt x="26415" y="26416"/>
                </a:lnTo>
                <a:lnTo>
                  <a:pt x="7088" y="55078"/>
                </a:lnTo>
                <a:lnTo>
                  <a:pt x="0" y="90170"/>
                </a:lnTo>
                <a:lnTo>
                  <a:pt x="0" y="812038"/>
                </a:lnTo>
                <a:lnTo>
                  <a:pt x="7088" y="847129"/>
                </a:lnTo>
                <a:lnTo>
                  <a:pt x="26415" y="875792"/>
                </a:lnTo>
                <a:lnTo>
                  <a:pt x="55078" y="895119"/>
                </a:lnTo>
                <a:lnTo>
                  <a:pt x="90169" y="902208"/>
                </a:lnTo>
                <a:lnTo>
                  <a:pt x="2027427" y="902208"/>
                </a:lnTo>
                <a:lnTo>
                  <a:pt x="2062519" y="895119"/>
                </a:lnTo>
                <a:lnTo>
                  <a:pt x="2091181" y="875792"/>
                </a:lnTo>
                <a:lnTo>
                  <a:pt x="2110509" y="847129"/>
                </a:lnTo>
                <a:lnTo>
                  <a:pt x="2117598" y="812038"/>
                </a:lnTo>
                <a:lnTo>
                  <a:pt x="2117598" y="90170"/>
                </a:lnTo>
                <a:lnTo>
                  <a:pt x="2110509" y="55078"/>
                </a:lnTo>
                <a:lnTo>
                  <a:pt x="2091181" y="26416"/>
                </a:lnTo>
                <a:lnTo>
                  <a:pt x="2062519" y="7088"/>
                </a:lnTo>
                <a:lnTo>
                  <a:pt x="2027427" y="0"/>
                </a:lnTo>
                <a:close/>
              </a:path>
            </a:pathLst>
          </a:custGeom>
          <a:solidFill>
            <a:srgbClr val="25AD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612B8261-623F-3843-8015-DF28C69DE7D1}"/>
              </a:ext>
            </a:extLst>
          </p:cNvPr>
          <p:cNvSpPr txBox="1"/>
          <p:nvPr/>
        </p:nvSpPr>
        <p:spPr>
          <a:xfrm>
            <a:off x="2094992" y="3372766"/>
            <a:ext cx="167513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35">
                <a:solidFill>
                  <a:srgbClr val="FFC000"/>
                </a:solidFill>
                <a:latin typeface="宋体"/>
                <a:cs typeface="宋体"/>
              </a:rPr>
              <a:t>解决</a:t>
            </a:r>
            <a:r>
              <a:rPr sz="2600" spc="-35">
                <a:solidFill>
                  <a:srgbClr val="FFFFFF"/>
                </a:solidFill>
                <a:latin typeface="宋体"/>
                <a:cs typeface="宋体"/>
              </a:rPr>
              <a:t>子问</a:t>
            </a:r>
            <a:r>
              <a:rPr sz="2600" spc="-50">
                <a:solidFill>
                  <a:srgbClr val="FFFFFF"/>
                </a:solidFill>
                <a:latin typeface="宋体"/>
                <a:cs typeface="宋体"/>
              </a:rPr>
              <a:t>题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90DED55D-B7B7-FD43-B038-F94E413DAC27}"/>
              </a:ext>
            </a:extLst>
          </p:cNvPr>
          <p:cNvSpPr/>
          <p:nvPr/>
        </p:nvSpPr>
        <p:spPr>
          <a:xfrm>
            <a:off x="2622804" y="4218079"/>
            <a:ext cx="620395" cy="749935"/>
          </a:xfrm>
          <a:custGeom>
            <a:avLst/>
            <a:gdLst/>
            <a:ahLst/>
            <a:cxnLst/>
            <a:rect l="l" t="t" r="r" b="b"/>
            <a:pathLst>
              <a:path w="620394" h="749935">
                <a:moveTo>
                  <a:pt x="496188" y="0"/>
                </a:moveTo>
                <a:lnTo>
                  <a:pt x="124078" y="0"/>
                </a:lnTo>
                <a:lnTo>
                  <a:pt x="124078" y="439674"/>
                </a:lnTo>
                <a:lnTo>
                  <a:pt x="0" y="439674"/>
                </a:lnTo>
                <a:lnTo>
                  <a:pt x="310133" y="749807"/>
                </a:lnTo>
                <a:lnTo>
                  <a:pt x="620268" y="439674"/>
                </a:lnTo>
                <a:lnTo>
                  <a:pt x="496188" y="439674"/>
                </a:lnTo>
                <a:lnTo>
                  <a:pt x="49618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BC99F854-136F-844D-B983-1EE965A3AC90}"/>
              </a:ext>
            </a:extLst>
          </p:cNvPr>
          <p:cNvSpPr/>
          <p:nvPr/>
        </p:nvSpPr>
        <p:spPr>
          <a:xfrm>
            <a:off x="1874139" y="5093236"/>
            <a:ext cx="2117725" cy="901700"/>
          </a:xfrm>
          <a:custGeom>
            <a:avLst/>
            <a:gdLst/>
            <a:ahLst/>
            <a:cxnLst/>
            <a:rect l="l" t="t" r="r" b="b"/>
            <a:pathLst>
              <a:path w="2117725" h="901700">
                <a:moveTo>
                  <a:pt x="2027427" y="0"/>
                </a:moveTo>
                <a:lnTo>
                  <a:pt x="90169" y="0"/>
                </a:lnTo>
                <a:lnTo>
                  <a:pt x="55078" y="7088"/>
                </a:lnTo>
                <a:lnTo>
                  <a:pt x="26415" y="26415"/>
                </a:lnTo>
                <a:lnTo>
                  <a:pt x="7088" y="55078"/>
                </a:lnTo>
                <a:lnTo>
                  <a:pt x="0" y="90169"/>
                </a:lnTo>
                <a:lnTo>
                  <a:pt x="0" y="811301"/>
                </a:lnTo>
                <a:lnTo>
                  <a:pt x="7088" y="846389"/>
                </a:lnTo>
                <a:lnTo>
                  <a:pt x="26415" y="875042"/>
                </a:lnTo>
                <a:lnTo>
                  <a:pt x="55078" y="894361"/>
                </a:lnTo>
                <a:lnTo>
                  <a:pt x="90169" y="901445"/>
                </a:lnTo>
                <a:lnTo>
                  <a:pt x="2027427" y="901445"/>
                </a:lnTo>
                <a:lnTo>
                  <a:pt x="2062519" y="894361"/>
                </a:lnTo>
                <a:lnTo>
                  <a:pt x="2091181" y="875042"/>
                </a:lnTo>
                <a:lnTo>
                  <a:pt x="2110509" y="846389"/>
                </a:lnTo>
                <a:lnTo>
                  <a:pt x="2117598" y="811301"/>
                </a:lnTo>
                <a:lnTo>
                  <a:pt x="2117598" y="90169"/>
                </a:lnTo>
                <a:lnTo>
                  <a:pt x="2110509" y="55078"/>
                </a:lnTo>
                <a:lnTo>
                  <a:pt x="2091181" y="26415"/>
                </a:lnTo>
                <a:lnTo>
                  <a:pt x="2062519" y="7088"/>
                </a:lnTo>
                <a:lnTo>
                  <a:pt x="2027427" y="0"/>
                </a:lnTo>
                <a:close/>
              </a:path>
            </a:pathLst>
          </a:custGeom>
          <a:solidFill>
            <a:srgbClr val="18A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E4D2940E-AB00-664C-BAB6-A519C499657E}"/>
              </a:ext>
            </a:extLst>
          </p:cNvPr>
          <p:cNvSpPr txBox="1"/>
          <p:nvPr/>
        </p:nvSpPr>
        <p:spPr>
          <a:xfrm>
            <a:off x="2094992" y="5274464"/>
            <a:ext cx="167513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0">
                <a:solidFill>
                  <a:srgbClr val="FFC000"/>
                </a:solidFill>
                <a:latin typeface="宋体"/>
                <a:cs typeface="宋体"/>
              </a:rPr>
              <a:t>合并</a:t>
            </a:r>
            <a:r>
              <a:rPr sz="2600" spc="-25">
                <a:solidFill>
                  <a:srgbClr val="FFFFFF"/>
                </a:solidFill>
                <a:latin typeface="宋体"/>
                <a:cs typeface="宋体"/>
              </a:rPr>
              <a:t>问题解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A7C01172-E82C-9742-8D5C-36FBD611B133}"/>
              </a:ext>
            </a:extLst>
          </p:cNvPr>
          <p:cNvSpPr txBox="1"/>
          <p:nvPr/>
        </p:nvSpPr>
        <p:spPr>
          <a:xfrm>
            <a:off x="5836539" y="1324383"/>
            <a:ext cx="4607560" cy="811530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165735" rIns="0" bIns="0" rtlCol="0">
            <a:spAutoFit/>
          </a:bodyPr>
          <a:lstStyle/>
          <a:p>
            <a:pPr marL="488315">
              <a:lnSpc>
                <a:spcPct val="100000"/>
              </a:lnSpc>
              <a:spcBef>
                <a:spcPts val="1305"/>
              </a:spcBef>
            </a:pPr>
            <a:r>
              <a:rPr sz="2600" spc="-35">
                <a:latin typeface="宋体"/>
                <a:cs typeface="宋体"/>
              </a:rPr>
              <a:t>原问题分解成多个子问</a:t>
            </a:r>
            <a:r>
              <a:rPr sz="2600" spc="-50">
                <a:latin typeface="宋体"/>
                <a:cs typeface="宋体"/>
              </a:rPr>
              <a:t>题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30F75F1E-E282-714B-A9FA-BC8B7B53C1F7}"/>
              </a:ext>
            </a:extLst>
          </p:cNvPr>
          <p:cNvSpPr txBox="1"/>
          <p:nvPr/>
        </p:nvSpPr>
        <p:spPr>
          <a:xfrm>
            <a:off x="5836539" y="3236242"/>
            <a:ext cx="4607560" cy="811530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1663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10"/>
              </a:spcBef>
            </a:pPr>
            <a:r>
              <a:rPr sz="2600" spc="-35">
                <a:latin typeface="宋体"/>
                <a:cs typeface="宋体"/>
              </a:rPr>
              <a:t>递归地求解各个子问</a:t>
            </a:r>
            <a:r>
              <a:rPr sz="2600" spc="-50">
                <a:latin typeface="宋体"/>
                <a:cs typeface="宋体"/>
              </a:rPr>
              <a:t>题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912C0C9D-5941-5642-93C0-79B369045C7F}"/>
              </a:ext>
            </a:extLst>
          </p:cNvPr>
          <p:cNvSpPr txBox="1"/>
          <p:nvPr/>
        </p:nvSpPr>
        <p:spPr>
          <a:xfrm>
            <a:off x="5836539" y="5124477"/>
            <a:ext cx="4607560" cy="810895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1657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5"/>
              </a:spcBef>
            </a:pPr>
            <a:r>
              <a:rPr sz="2600" spc="-35">
                <a:latin typeface="宋体"/>
                <a:cs typeface="宋体"/>
              </a:rPr>
              <a:t>将结果合并为原问题</a:t>
            </a:r>
            <a:r>
              <a:rPr sz="2600" spc="-50">
                <a:latin typeface="宋体"/>
                <a:cs typeface="宋体"/>
              </a:rPr>
              <a:t>解</a:t>
            </a:r>
            <a:endParaRPr sz="260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773132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C3536AF0-0F07-BE4E-A3A7-1F8B9009E4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5228" y="146917"/>
            <a:ext cx="641515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算法回顾：归并排</a:t>
            </a:r>
            <a:r>
              <a:rPr spc="-60" dirty="0" err="1">
                <a:latin typeface="SimSun" panose="02010600030101010101" pitchFamily="2" charset="-122"/>
                <a:ea typeface="SimSun" panose="02010600030101010101" pitchFamily="2" charset="-122"/>
              </a:rPr>
              <a:t>序</a:t>
            </a:r>
            <a:endParaRPr spc="-6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7ADD88DE-9C69-5A41-900D-D2768EFAD4CD}"/>
              </a:ext>
            </a:extLst>
          </p:cNvPr>
          <p:cNvSpPr/>
          <p:nvPr/>
        </p:nvSpPr>
        <p:spPr>
          <a:xfrm>
            <a:off x="1871472" y="1675383"/>
            <a:ext cx="5876290" cy="722630"/>
          </a:xfrm>
          <a:custGeom>
            <a:avLst/>
            <a:gdLst/>
            <a:ahLst/>
            <a:cxnLst/>
            <a:rect l="l" t="t" r="r" b="b"/>
            <a:pathLst>
              <a:path w="5876290" h="722630">
                <a:moveTo>
                  <a:pt x="5876036" y="687705"/>
                </a:moveTo>
                <a:lnTo>
                  <a:pt x="5872937" y="685165"/>
                </a:lnTo>
                <a:lnTo>
                  <a:pt x="5777357" y="606552"/>
                </a:lnTo>
                <a:lnTo>
                  <a:pt x="5768848" y="643724"/>
                </a:lnTo>
                <a:lnTo>
                  <a:pt x="2952369" y="0"/>
                </a:lnTo>
                <a:lnTo>
                  <a:pt x="2948140" y="18681"/>
                </a:lnTo>
                <a:lnTo>
                  <a:pt x="2943860" y="0"/>
                </a:lnTo>
                <a:lnTo>
                  <a:pt x="107162" y="648042"/>
                </a:lnTo>
                <a:lnTo>
                  <a:pt x="98679" y="610997"/>
                </a:lnTo>
                <a:lnTo>
                  <a:pt x="0" y="692150"/>
                </a:lnTo>
                <a:lnTo>
                  <a:pt x="124206" y="722376"/>
                </a:lnTo>
                <a:lnTo>
                  <a:pt x="116662" y="689483"/>
                </a:lnTo>
                <a:lnTo>
                  <a:pt x="115684" y="685253"/>
                </a:lnTo>
                <a:lnTo>
                  <a:pt x="2948165" y="38049"/>
                </a:lnTo>
                <a:lnTo>
                  <a:pt x="5760326" y="680897"/>
                </a:lnTo>
                <a:lnTo>
                  <a:pt x="5751830" y="718058"/>
                </a:lnTo>
                <a:lnTo>
                  <a:pt x="5876036" y="6877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4FEFA0BC-769C-0846-9543-70A137DC012C}"/>
              </a:ext>
            </a:extLst>
          </p:cNvPr>
          <p:cNvGraphicFramePr>
            <a:graphicFrameLocks noGrp="1"/>
          </p:cNvGraphicFramePr>
          <p:nvPr/>
        </p:nvGraphicFramePr>
        <p:xfrm>
          <a:off x="2496566" y="928877"/>
          <a:ext cx="4606924" cy="1035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7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87960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2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5715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510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6818EBE5-D618-0D4B-BB47-97A6BCEDBE95}"/>
              </a:ext>
            </a:extLst>
          </p:cNvPr>
          <p:cNvGraphicFramePr>
            <a:graphicFrameLocks noGrp="1"/>
          </p:cNvGraphicFramePr>
          <p:nvPr/>
        </p:nvGraphicFramePr>
        <p:xfrm>
          <a:off x="700595" y="2348864"/>
          <a:ext cx="2303779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C0DA81F2-1858-314A-8349-2C43857E36B6}"/>
              </a:ext>
            </a:extLst>
          </p:cNvPr>
          <p:cNvGraphicFramePr>
            <a:graphicFrameLocks noGrp="1"/>
          </p:cNvGraphicFramePr>
          <p:nvPr/>
        </p:nvGraphicFramePr>
        <p:xfrm>
          <a:off x="6576568" y="2344420"/>
          <a:ext cx="2303779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object 9">
            <a:extLst>
              <a:ext uri="{FF2B5EF4-FFF2-40B4-BE49-F238E27FC236}">
                <a16:creationId xmlns:a16="http://schemas.microsoft.com/office/drawing/2014/main" id="{C34F63F1-52DF-0E4D-8BD3-2C29271E4D57}"/>
              </a:ext>
            </a:extLst>
          </p:cNvPr>
          <p:cNvSpPr/>
          <p:nvPr/>
        </p:nvSpPr>
        <p:spPr>
          <a:xfrm>
            <a:off x="9819865" y="2257805"/>
            <a:ext cx="670560" cy="589280"/>
          </a:xfrm>
          <a:custGeom>
            <a:avLst/>
            <a:gdLst/>
            <a:ahLst/>
            <a:cxnLst/>
            <a:rect l="l" t="t" r="r" b="b"/>
            <a:pathLst>
              <a:path w="670559" h="589280">
                <a:moveTo>
                  <a:pt x="536448" y="0"/>
                </a:moveTo>
                <a:lnTo>
                  <a:pt x="134112" y="0"/>
                </a:lnTo>
                <a:lnTo>
                  <a:pt x="134112" y="294513"/>
                </a:lnTo>
                <a:lnTo>
                  <a:pt x="0" y="294513"/>
                </a:lnTo>
                <a:lnTo>
                  <a:pt x="335279" y="589026"/>
                </a:lnTo>
                <a:lnTo>
                  <a:pt x="670559" y="294513"/>
                </a:lnTo>
                <a:lnTo>
                  <a:pt x="536448" y="294513"/>
                </a:lnTo>
                <a:lnTo>
                  <a:pt x="53644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D1F8F53E-BFDD-0547-B47E-134BAE69B02B}"/>
              </a:ext>
            </a:extLst>
          </p:cNvPr>
          <p:cNvSpPr/>
          <p:nvPr/>
        </p:nvSpPr>
        <p:spPr>
          <a:xfrm>
            <a:off x="9096345" y="2945510"/>
            <a:ext cx="2117725" cy="976630"/>
          </a:xfrm>
          <a:custGeom>
            <a:avLst/>
            <a:gdLst/>
            <a:ahLst/>
            <a:cxnLst/>
            <a:rect l="l" t="t" r="r" b="b"/>
            <a:pathLst>
              <a:path w="2117725" h="976628">
                <a:moveTo>
                  <a:pt x="2019935" y="0"/>
                </a:moveTo>
                <a:lnTo>
                  <a:pt x="97663" y="0"/>
                </a:lnTo>
                <a:lnTo>
                  <a:pt x="59632" y="7669"/>
                </a:lnTo>
                <a:lnTo>
                  <a:pt x="28590" y="28590"/>
                </a:lnTo>
                <a:lnTo>
                  <a:pt x="7669" y="59632"/>
                </a:lnTo>
                <a:lnTo>
                  <a:pt x="0" y="97662"/>
                </a:lnTo>
                <a:lnTo>
                  <a:pt x="0" y="878458"/>
                </a:lnTo>
                <a:lnTo>
                  <a:pt x="7669" y="916489"/>
                </a:lnTo>
                <a:lnTo>
                  <a:pt x="28590" y="947531"/>
                </a:lnTo>
                <a:lnTo>
                  <a:pt x="59632" y="968452"/>
                </a:lnTo>
                <a:lnTo>
                  <a:pt x="97663" y="976121"/>
                </a:lnTo>
                <a:lnTo>
                  <a:pt x="2019935" y="976121"/>
                </a:lnTo>
                <a:lnTo>
                  <a:pt x="2057965" y="968452"/>
                </a:lnTo>
                <a:lnTo>
                  <a:pt x="2089007" y="947531"/>
                </a:lnTo>
                <a:lnTo>
                  <a:pt x="2109928" y="916489"/>
                </a:lnTo>
                <a:lnTo>
                  <a:pt x="2117598" y="878458"/>
                </a:lnTo>
                <a:lnTo>
                  <a:pt x="2117598" y="97662"/>
                </a:lnTo>
                <a:lnTo>
                  <a:pt x="2109928" y="59632"/>
                </a:lnTo>
                <a:lnTo>
                  <a:pt x="2089007" y="28590"/>
                </a:lnTo>
                <a:lnTo>
                  <a:pt x="2057965" y="7669"/>
                </a:lnTo>
                <a:lnTo>
                  <a:pt x="2019935" y="0"/>
                </a:lnTo>
                <a:close/>
              </a:path>
            </a:pathLst>
          </a:custGeom>
          <a:solidFill>
            <a:srgbClr val="25AD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055419BF-C8E9-BD48-8635-435A1C6EAA85}"/>
              </a:ext>
            </a:extLst>
          </p:cNvPr>
          <p:cNvSpPr txBox="1"/>
          <p:nvPr/>
        </p:nvSpPr>
        <p:spPr>
          <a:xfrm>
            <a:off x="9317453" y="3164332"/>
            <a:ext cx="167513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35">
                <a:solidFill>
                  <a:srgbClr val="FFC000"/>
                </a:solidFill>
                <a:latin typeface="宋体"/>
                <a:cs typeface="宋体"/>
              </a:rPr>
              <a:t>解决</a:t>
            </a:r>
            <a:r>
              <a:rPr sz="2600" spc="-35">
                <a:solidFill>
                  <a:srgbClr val="FFFFFF"/>
                </a:solidFill>
                <a:latin typeface="宋体"/>
                <a:cs typeface="宋体"/>
              </a:rPr>
              <a:t>子问</a:t>
            </a:r>
            <a:r>
              <a:rPr sz="2600" spc="-50">
                <a:solidFill>
                  <a:srgbClr val="FFFFFF"/>
                </a:solidFill>
                <a:latin typeface="宋体"/>
                <a:cs typeface="宋体"/>
              </a:rPr>
              <a:t>题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4C911962-7C88-194A-B2BD-C8690D3722CE}"/>
              </a:ext>
            </a:extLst>
          </p:cNvPr>
          <p:cNvSpPr/>
          <p:nvPr/>
        </p:nvSpPr>
        <p:spPr>
          <a:xfrm>
            <a:off x="9819865" y="4021073"/>
            <a:ext cx="670560" cy="600075"/>
          </a:xfrm>
          <a:custGeom>
            <a:avLst/>
            <a:gdLst/>
            <a:ahLst/>
            <a:cxnLst/>
            <a:rect l="l" t="t" r="r" b="b"/>
            <a:pathLst>
              <a:path w="670559" h="600075">
                <a:moveTo>
                  <a:pt x="536448" y="0"/>
                </a:moveTo>
                <a:lnTo>
                  <a:pt x="134112" y="0"/>
                </a:lnTo>
                <a:lnTo>
                  <a:pt x="134112" y="299846"/>
                </a:lnTo>
                <a:lnTo>
                  <a:pt x="0" y="299846"/>
                </a:lnTo>
                <a:lnTo>
                  <a:pt x="335279" y="599694"/>
                </a:lnTo>
                <a:lnTo>
                  <a:pt x="670559" y="299846"/>
                </a:lnTo>
                <a:lnTo>
                  <a:pt x="536448" y="299846"/>
                </a:lnTo>
                <a:lnTo>
                  <a:pt x="53644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2C2A3BE5-D46C-7348-AE8E-EE8C857771C1}"/>
              </a:ext>
            </a:extLst>
          </p:cNvPr>
          <p:cNvSpPr/>
          <p:nvPr/>
        </p:nvSpPr>
        <p:spPr>
          <a:xfrm>
            <a:off x="9096345" y="4720971"/>
            <a:ext cx="2117725" cy="975360"/>
          </a:xfrm>
          <a:custGeom>
            <a:avLst/>
            <a:gdLst/>
            <a:ahLst/>
            <a:cxnLst/>
            <a:rect l="l" t="t" r="r" b="b"/>
            <a:pathLst>
              <a:path w="2117725" h="975360">
                <a:moveTo>
                  <a:pt x="2020062" y="0"/>
                </a:moveTo>
                <a:lnTo>
                  <a:pt x="97536" y="0"/>
                </a:lnTo>
                <a:lnTo>
                  <a:pt x="59578" y="7667"/>
                </a:lnTo>
                <a:lnTo>
                  <a:pt x="28575" y="28574"/>
                </a:lnTo>
                <a:lnTo>
                  <a:pt x="7667" y="59578"/>
                </a:lnTo>
                <a:lnTo>
                  <a:pt x="0" y="97535"/>
                </a:lnTo>
                <a:lnTo>
                  <a:pt x="0" y="877823"/>
                </a:lnTo>
                <a:lnTo>
                  <a:pt x="7667" y="915791"/>
                </a:lnTo>
                <a:lnTo>
                  <a:pt x="28575" y="946794"/>
                </a:lnTo>
                <a:lnTo>
                  <a:pt x="59578" y="967695"/>
                </a:lnTo>
                <a:lnTo>
                  <a:pt x="97536" y="975359"/>
                </a:lnTo>
                <a:lnTo>
                  <a:pt x="2020062" y="975359"/>
                </a:lnTo>
                <a:lnTo>
                  <a:pt x="2058019" y="967695"/>
                </a:lnTo>
                <a:lnTo>
                  <a:pt x="2089023" y="946794"/>
                </a:lnTo>
                <a:lnTo>
                  <a:pt x="2109930" y="915791"/>
                </a:lnTo>
                <a:lnTo>
                  <a:pt x="2117598" y="877823"/>
                </a:lnTo>
                <a:lnTo>
                  <a:pt x="2117598" y="97535"/>
                </a:lnTo>
                <a:lnTo>
                  <a:pt x="2109930" y="59578"/>
                </a:lnTo>
                <a:lnTo>
                  <a:pt x="2089023" y="28574"/>
                </a:lnTo>
                <a:lnTo>
                  <a:pt x="2058019" y="7667"/>
                </a:lnTo>
                <a:lnTo>
                  <a:pt x="2020062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D2B732A5-1823-5B48-AA2A-8F9984610EE8}"/>
              </a:ext>
            </a:extLst>
          </p:cNvPr>
          <p:cNvSpPr txBox="1"/>
          <p:nvPr/>
        </p:nvSpPr>
        <p:spPr>
          <a:xfrm>
            <a:off x="9317453" y="4939791"/>
            <a:ext cx="167513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35">
                <a:solidFill>
                  <a:srgbClr val="FFC000"/>
                </a:solidFill>
                <a:latin typeface="宋体"/>
                <a:cs typeface="宋体"/>
              </a:rPr>
              <a:t>合并</a:t>
            </a:r>
            <a:r>
              <a:rPr sz="2600" spc="-35">
                <a:solidFill>
                  <a:srgbClr val="FFFFFF"/>
                </a:solidFill>
                <a:latin typeface="宋体"/>
                <a:cs typeface="宋体"/>
              </a:rPr>
              <a:t>问题</a:t>
            </a:r>
            <a:r>
              <a:rPr sz="2600" spc="-50">
                <a:solidFill>
                  <a:srgbClr val="FFFFFF"/>
                </a:solidFill>
                <a:latin typeface="宋体"/>
                <a:cs typeface="宋体"/>
              </a:rPr>
              <a:t>解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16" name="object 3">
            <a:extLst>
              <a:ext uri="{FF2B5EF4-FFF2-40B4-BE49-F238E27FC236}">
                <a16:creationId xmlns:a16="http://schemas.microsoft.com/office/drawing/2014/main" id="{6610A6E1-B630-9044-BCD2-AD964BA0B078}"/>
              </a:ext>
            </a:extLst>
          </p:cNvPr>
          <p:cNvSpPr/>
          <p:nvPr/>
        </p:nvSpPr>
        <p:spPr>
          <a:xfrm>
            <a:off x="9096345" y="1183766"/>
            <a:ext cx="2117725" cy="976630"/>
          </a:xfrm>
          <a:custGeom>
            <a:avLst/>
            <a:gdLst/>
            <a:ahLst/>
            <a:cxnLst/>
            <a:rect l="l" t="t" r="r" b="b"/>
            <a:pathLst>
              <a:path w="2117725" h="976630">
                <a:moveTo>
                  <a:pt x="2019935" y="0"/>
                </a:moveTo>
                <a:lnTo>
                  <a:pt x="97663" y="0"/>
                </a:lnTo>
                <a:lnTo>
                  <a:pt x="59632" y="7669"/>
                </a:lnTo>
                <a:lnTo>
                  <a:pt x="28590" y="28590"/>
                </a:lnTo>
                <a:lnTo>
                  <a:pt x="7669" y="59632"/>
                </a:lnTo>
                <a:lnTo>
                  <a:pt x="0" y="97662"/>
                </a:lnTo>
                <a:lnTo>
                  <a:pt x="0" y="878459"/>
                </a:lnTo>
                <a:lnTo>
                  <a:pt x="7669" y="916489"/>
                </a:lnTo>
                <a:lnTo>
                  <a:pt x="28590" y="947531"/>
                </a:lnTo>
                <a:lnTo>
                  <a:pt x="59632" y="968452"/>
                </a:lnTo>
                <a:lnTo>
                  <a:pt x="97663" y="976122"/>
                </a:lnTo>
                <a:lnTo>
                  <a:pt x="2019935" y="976122"/>
                </a:lnTo>
                <a:lnTo>
                  <a:pt x="2057965" y="968452"/>
                </a:lnTo>
                <a:lnTo>
                  <a:pt x="2089007" y="947531"/>
                </a:lnTo>
                <a:lnTo>
                  <a:pt x="2109928" y="916489"/>
                </a:lnTo>
                <a:lnTo>
                  <a:pt x="2117598" y="878459"/>
                </a:lnTo>
                <a:lnTo>
                  <a:pt x="2117598" y="97662"/>
                </a:lnTo>
                <a:lnTo>
                  <a:pt x="2109928" y="59632"/>
                </a:lnTo>
                <a:lnTo>
                  <a:pt x="2089007" y="28590"/>
                </a:lnTo>
                <a:lnTo>
                  <a:pt x="2057965" y="7669"/>
                </a:lnTo>
                <a:lnTo>
                  <a:pt x="2019935" y="0"/>
                </a:lnTo>
                <a:close/>
              </a:path>
            </a:pathLst>
          </a:custGeom>
          <a:solidFill>
            <a:srgbClr val="25ADEF"/>
          </a:solidFill>
        </p:spPr>
        <p:txBody>
          <a:bodyPr wrap="square" lIns="0" tIns="0" rIns="0" bIns="0" rtlCol="0"/>
          <a:lstStyle/>
          <a:p>
            <a:pPr marL="111760" marR="0" lvl="0" indent="0" defTabSz="914400" eaLnBrk="1" fontAlgn="auto" latinLnBrk="0" hangingPunct="1">
              <a:lnSpc>
                <a:spcPct val="100000"/>
              </a:lnSpc>
              <a:spcBef>
                <a:spcPts val="198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0" i="0" u="none" strike="noStrike" kern="0" cap="none" spc="-35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宋体"/>
                <a:cs typeface="宋体"/>
              </a:rPr>
              <a:t> 分解</a:t>
            </a:r>
            <a:r>
              <a:rPr kumimoji="0" lang="zh-CN" altLang="en-US" sz="26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/>
                <a:cs typeface="宋体"/>
              </a:rPr>
              <a:t>原问</a:t>
            </a:r>
            <a:r>
              <a:rPr kumimoji="0" lang="zh-CN" altLang="en-US" sz="260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/>
                <a:cs typeface="宋体"/>
              </a:rPr>
              <a:t>题</a:t>
            </a:r>
            <a:endParaRPr kumimoji="0" lang="zh-CN" altLang="en-US" sz="2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宋体"/>
              <a:cs typeface="宋体"/>
            </a:endParaRP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4273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C3536AF0-0F07-BE4E-A3A7-1F8B9009E4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5228" y="146917"/>
            <a:ext cx="641515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算法回顾：归并排</a:t>
            </a:r>
            <a:r>
              <a:rPr spc="-60" dirty="0" err="1">
                <a:latin typeface="SimSun" panose="02010600030101010101" pitchFamily="2" charset="-122"/>
                <a:ea typeface="SimSun" panose="02010600030101010101" pitchFamily="2" charset="-122"/>
              </a:rPr>
              <a:t>序</a:t>
            </a:r>
            <a:endParaRPr spc="-6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7ADD88DE-9C69-5A41-900D-D2768EFAD4CD}"/>
              </a:ext>
            </a:extLst>
          </p:cNvPr>
          <p:cNvSpPr/>
          <p:nvPr/>
        </p:nvSpPr>
        <p:spPr>
          <a:xfrm>
            <a:off x="1871472" y="1675383"/>
            <a:ext cx="5876290" cy="722630"/>
          </a:xfrm>
          <a:custGeom>
            <a:avLst/>
            <a:gdLst/>
            <a:ahLst/>
            <a:cxnLst/>
            <a:rect l="l" t="t" r="r" b="b"/>
            <a:pathLst>
              <a:path w="5876290" h="722630">
                <a:moveTo>
                  <a:pt x="5876036" y="687705"/>
                </a:moveTo>
                <a:lnTo>
                  <a:pt x="5872937" y="685165"/>
                </a:lnTo>
                <a:lnTo>
                  <a:pt x="5777357" y="606552"/>
                </a:lnTo>
                <a:lnTo>
                  <a:pt x="5768848" y="643724"/>
                </a:lnTo>
                <a:lnTo>
                  <a:pt x="2952369" y="0"/>
                </a:lnTo>
                <a:lnTo>
                  <a:pt x="2948140" y="18681"/>
                </a:lnTo>
                <a:lnTo>
                  <a:pt x="2943860" y="0"/>
                </a:lnTo>
                <a:lnTo>
                  <a:pt x="107162" y="648042"/>
                </a:lnTo>
                <a:lnTo>
                  <a:pt x="98679" y="610997"/>
                </a:lnTo>
                <a:lnTo>
                  <a:pt x="0" y="692150"/>
                </a:lnTo>
                <a:lnTo>
                  <a:pt x="124206" y="722376"/>
                </a:lnTo>
                <a:lnTo>
                  <a:pt x="116662" y="689483"/>
                </a:lnTo>
                <a:lnTo>
                  <a:pt x="115684" y="685253"/>
                </a:lnTo>
                <a:lnTo>
                  <a:pt x="2948165" y="38049"/>
                </a:lnTo>
                <a:lnTo>
                  <a:pt x="5760326" y="680897"/>
                </a:lnTo>
                <a:lnTo>
                  <a:pt x="5751830" y="718058"/>
                </a:lnTo>
                <a:lnTo>
                  <a:pt x="5876036" y="6877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4FEFA0BC-769C-0846-9543-70A137DC012C}"/>
              </a:ext>
            </a:extLst>
          </p:cNvPr>
          <p:cNvGraphicFramePr>
            <a:graphicFrameLocks noGrp="1"/>
          </p:cNvGraphicFramePr>
          <p:nvPr/>
        </p:nvGraphicFramePr>
        <p:xfrm>
          <a:off x="2496566" y="928877"/>
          <a:ext cx="4606924" cy="1035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7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87960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2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5715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510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6818EBE5-D618-0D4B-BB47-97A6BCEDBE95}"/>
              </a:ext>
            </a:extLst>
          </p:cNvPr>
          <p:cNvGraphicFramePr>
            <a:graphicFrameLocks noGrp="1"/>
          </p:cNvGraphicFramePr>
          <p:nvPr/>
        </p:nvGraphicFramePr>
        <p:xfrm>
          <a:off x="700595" y="2348864"/>
          <a:ext cx="2303779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C0DA81F2-1858-314A-8349-2C43857E36B6}"/>
              </a:ext>
            </a:extLst>
          </p:cNvPr>
          <p:cNvGraphicFramePr>
            <a:graphicFrameLocks noGrp="1"/>
          </p:cNvGraphicFramePr>
          <p:nvPr/>
        </p:nvGraphicFramePr>
        <p:xfrm>
          <a:off x="6576568" y="2344420"/>
          <a:ext cx="2303779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bject 7">
            <a:extLst>
              <a:ext uri="{FF2B5EF4-FFF2-40B4-BE49-F238E27FC236}">
                <a16:creationId xmlns:a16="http://schemas.microsoft.com/office/drawing/2014/main" id="{238E734F-29F0-6149-AD5B-04EE1C8D4740}"/>
              </a:ext>
            </a:extLst>
          </p:cNvPr>
          <p:cNvSpPr/>
          <p:nvPr/>
        </p:nvSpPr>
        <p:spPr>
          <a:xfrm>
            <a:off x="9096345" y="1183766"/>
            <a:ext cx="2117725" cy="976630"/>
          </a:xfrm>
          <a:custGeom>
            <a:avLst/>
            <a:gdLst/>
            <a:ahLst/>
            <a:cxnLst/>
            <a:rect l="l" t="t" r="r" b="b"/>
            <a:pathLst>
              <a:path w="2117725" h="976630">
                <a:moveTo>
                  <a:pt x="2019935" y="0"/>
                </a:moveTo>
                <a:lnTo>
                  <a:pt x="97663" y="0"/>
                </a:lnTo>
                <a:lnTo>
                  <a:pt x="59632" y="7669"/>
                </a:lnTo>
                <a:lnTo>
                  <a:pt x="28590" y="28590"/>
                </a:lnTo>
                <a:lnTo>
                  <a:pt x="7669" y="59632"/>
                </a:lnTo>
                <a:lnTo>
                  <a:pt x="0" y="97662"/>
                </a:lnTo>
                <a:lnTo>
                  <a:pt x="0" y="878459"/>
                </a:lnTo>
                <a:lnTo>
                  <a:pt x="7669" y="916489"/>
                </a:lnTo>
                <a:lnTo>
                  <a:pt x="28590" y="947531"/>
                </a:lnTo>
                <a:lnTo>
                  <a:pt x="59632" y="968452"/>
                </a:lnTo>
                <a:lnTo>
                  <a:pt x="97663" y="976122"/>
                </a:lnTo>
                <a:lnTo>
                  <a:pt x="2019935" y="976122"/>
                </a:lnTo>
                <a:lnTo>
                  <a:pt x="2057965" y="968452"/>
                </a:lnTo>
                <a:lnTo>
                  <a:pt x="2089007" y="947531"/>
                </a:lnTo>
                <a:lnTo>
                  <a:pt x="2109928" y="916489"/>
                </a:lnTo>
                <a:lnTo>
                  <a:pt x="2117598" y="878459"/>
                </a:lnTo>
                <a:lnTo>
                  <a:pt x="2117598" y="97662"/>
                </a:lnTo>
                <a:lnTo>
                  <a:pt x="2109928" y="59632"/>
                </a:lnTo>
                <a:lnTo>
                  <a:pt x="2089007" y="28590"/>
                </a:lnTo>
                <a:lnTo>
                  <a:pt x="2057965" y="7669"/>
                </a:lnTo>
                <a:lnTo>
                  <a:pt x="2019935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C34F63F1-52DF-0E4D-8BD3-2C29271E4D57}"/>
              </a:ext>
            </a:extLst>
          </p:cNvPr>
          <p:cNvSpPr/>
          <p:nvPr/>
        </p:nvSpPr>
        <p:spPr>
          <a:xfrm>
            <a:off x="9819865" y="2257805"/>
            <a:ext cx="670560" cy="589280"/>
          </a:xfrm>
          <a:custGeom>
            <a:avLst/>
            <a:gdLst/>
            <a:ahLst/>
            <a:cxnLst/>
            <a:rect l="l" t="t" r="r" b="b"/>
            <a:pathLst>
              <a:path w="670559" h="589280">
                <a:moveTo>
                  <a:pt x="536448" y="0"/>
                </a:moveTo>
                <a:lnTo>
                  <a:pt x="134112" y="0"/>
                </a:lnTo>
                <a:lnTo>
                  <a:pt x="134112" y="294513"/>
                </a:lnTo>
                <a:lnTo>
                  <a:pt x="0" y="294513"/>
                </a:lnTo>
                <a:lnTo>
                  <a:pt x="335279" y="589026"/>
                </a:lnTo>
                <a:lnTo>
                  <a:pt x="670559" y="294513"/>
                </a:lnTo>
                <a:lnTo>
                  <a:pt x="536448" y="294513"/>
                </a:lnTo>
                <a:lnTo>
                  <a:pt x="53644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D1F8F53E-BFDD-0547-B47E-134BAE69B02B}"/>
              </a:ext>
            </a:extLst>
          </p:cNvPr>
          <p:cNvSpPr/>
          <p:nvPr/>
        </p:nvSpPr>
        <p:spPr>
          <a:xfrm>
            <a:off x="9096345" y="2945510"/>
            <a:ext cx="2117725" cy="976630"/>
          </a:xfrm>
          <a:custGeom>
            <a:avLst/>
            <a:gdLst/>
            <a:ahLst/>
            <a:cxnLst/>
            <a:rect l="l" t="t" r="r" b="b"/>
            <a:pathLst>
              <a:path w="2117725" h="976628">
                <a:moveTo>
                  <a:pt x="2019935" y="0"/>
                </a:moveTo>
                <a:lnTo>
                  <a:pt x="97663" y="0"/>
                </a:lnTo>
                <a:lnTo>
                  <a:pt x="59632" y="7669"/>
                </a:lnTo>
                <a:lnTo>
                  <a:pt x="28590" y="28590"/>
                </a:lnTo>
                <a:lnTo>
                  <a:pt x="7669" y="59632"/>
                </a:lnTo>
                <a:lnTo>
                  <a:pt x="0" y="97662"/>
                </a:lnTo>
                <a:lnTo>
                  <a:pt x="0" y="878458"/>
                </a:lnTo>
                <a:lnTo>
                  <a:pt x="7669" y="916489"/>
                </a:lnTo>
                <a:lnTo>
                  <a:pt x="28590" y="947531"/>
                </a:lnTo>
                <a:lnTo>
                  <a:pt x="59632" y="968452"/>
                </a:lnTo>
                <a:lnTo>
                  <a:pt x="97663" y="976121"/>
                </a:lnTo>
                <a:lnTo>
                  <a:pt x="2019935" y="976121"/>
                </a:lnTo>
                <a:lnTo>
                  <a:pt x="2057965" y="968452"/>
                </a:lnTo>
                <a:lnTo>
                  <a:pt x="2089007" y="947531"/>
                </a:lnTo>
                <a:lnTo>
                  <a:pt x="2109928" y="916489"/>
                </a:lnTo>
                <a:lnTo>
                  <a:pt x="2117598" y="878458"/>
                </a:lnTo>
                <a:lnTo>
                  <a:pt x="2117598" y="97662"/>
                </a:lnTo>
                <a:lnTo>
                  <a:pt x="2109928" y="59632"/>
                </a:lnTo>
                <a:lnTo>
                  <a:pt x="2089007" y="28590"/>
                </a:lnTo>
                <a:lnTo>
                  <a:pt x="2057965" y="7669"/>
                </a:lnTo>
                <a:lnTo>
                  <a:pt x="2019935" y="0"/>
                </a:lnTo>
                <a:close/>
              </a:path>
            </a:pathLst>
          </a:custGeom>
          <a:solidFill>
            <a:srgbClr val="25AD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055419BF-C8E9-BD48-8635-435A1C6EAA85}"/>
              </a:ext>
            </a:extLst>
          </p:cNvPr>
          <p:cNvSpPr txBox="1"/>
          <p:nvPr/>
        </p:nvSpPr>
        <p:spPr>
          <a:xfrm>
            <a:off x="9317453" y="3164332"/>
            <a:ext cx="167513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35">
                <a:solidFill>
                  <a:srgbClr val="FFC000"/>
                </a:solidFill>
                <a:latin typeface="宋体"/>
                <a:cs typeface="宋体"/>
              </a:rPr>
              <a:t>解决</a:t>
            </a:r>
            <a:r>
              <a:rPr sz="2600" spc="-35">
                <a:solidFill>
                  <a:srgbClr val="FFFFFF"/>
                </a:solidFill>
                <a:latin typeface="宋体"/>
                <a:cs typeface="宋体"/>
              </a:rPr>
              <a:t>子问</a:t>
            </a:r>
            <a:r>
              <a:rPr sz="2600" spc="-50">
                <a:solidFill>
                  <a:srgbClr val="FFFFFF"/>
                </a:solidFill>
                <a:latin typeface="宋体"/>
                <a:cs typeface="宋体"/>
              </a:rPr>
              <a:t>题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4C911962-7C88-194A-B2BD-C8690D3722CE}"/>
              </a:ext>
            </a:extLst>
          </p:cNvPr>
          <p:cNvSpPr/>
          <p:nvPr/>
        </p:nvSpPr>
        <p:spPr>
          <a:xfrm>
            <a:off x="9819865" y="4021073"/>
            <a:ext cx="670560" cy="600075"/>
          </a:xfrm>
          <a:custGeom>
            <a:avLst/>
            <a:gdLst/>
            <a:ahLst/>
            <a:cxnLst/>
            <a:rect l="l" t="t" r="r" b="b"/>
            <a:pathLst>
              <a:path w="670559" h="600075">
                <a:moveTo>
                  <a:pt x="536448" y="0"/>
                </a:moveTo>
                <a:lnTo>
                  <a:pt x="134112" y="0"/>
                </a:lnTo>
                <a:lnTo>
                  <a:pt x="134112" y="299846"/>
                </a:lnTo>
                <a:lnTo>
                  <a:pt x="0" y="299846"/>
                </a:lnTo>
                <a:lnTo>
                  <a:pt x="335279" y="599694"/>
                </a:lnTo>
                <a:lnTo>
                  <a:pt x="670559" y="299846"/>
                </a:lnTo>
                <a:lnTo>
                  <a:pt x="536448" y="299846"/>
                </a:lnTo>
                <a:lnTo>
                  <a:pt x="53644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2C2A3BE5-D46C-7348-AE8E-EE8C857771C1}"/>
              </a:ext>
            </a:extLst>
          </p:cNvPr>
          <p:cNvSpPr/>
          <p:nvPr/>
        </p:nvSpPr>
        <p:spPr>
          <a:xfrm>
            <a:off x="9096345" y="4720971"/>
            <a:ext cx="2117725" cy="975360"/>
          </a:xfrm>
          <a:custGeom>
            <a:avLst/>
            <a:gdLst/>
            <a:ahLst/>
            <a:cxnLst/>
            <a:rect l="l" t="t" r="r" b="b"/>
            <a:pathLst>
              <a:path w="2117725" h="975360">
                <a:moveTo>
                  <a:pt x="2020062" y="0"/>
                </a:moveTo>
                <a:lnTo>
                  <a:pt x="97536" y="0"/>
                </a:lnTo>
                <a:lnTo>
                  <a:pt x="59578" y="7667"/>
                </a:lnTo>
                <a:lnTo>
                  <a:pt x="28575" y="28574"/>
                </a:lnTo>
                <a:lnTo>
                  <a:pt x="7667" y="59578"/>
                </a:lnTo>
                <a:lnTo>
                  <a:pt x="0" y="97535"/>
                </a:lnTo>
                <a:lnTo>
                  <a:pt x="0" y="877823"/>
                </a:lnTo>
                <a:lnTo>
                  <a:pt x="7667" y="915791"/>
                </a:lnTo>
                <a:lnTo>
                  <a:pt x="28575" y="946794"/>
                </a:lnTo>
                <a:lnTo>
                  <a:pt x="59578" y="967695"/>
                </a:lnTo>
                <a:lnTo>
                  <a:pt x="97536" y="975359"/>
                </a:lnTo>
                <a:lnTo>
                  <a:pt x="2020062" y="975359"/>
                </a:lnTo>
                <a:lnTo>
                  <a:pt x="2058019" y="967695"/>
                </a:lnTo>
                <a:lnTo>
                  <a:pt x="2089023" y="946794"/>
                </a:lnTo>
                <a:lnTo>
                  <a:pt x="2109930" y="915791"/>
                </a:lnTo>
                <a:lnTo>
                  <a:pt x="2117598" y="877823"/>
                </a:lnTo>
                <a:lnTo>
                  <a:pt x="2117598" y="97535"/>
                </a:lnTo>
                <a:lnTo>
                  <a:pt x="2109930" y="59578"/>
                </a:lnTo>
                <a:lnTo>
                  <a:pt x="2089023" y="28574"/>
                </a:lnTo>
                <a:lnTo>
                  <a:pt x="2058019" y="7667"/>
                </a:lnTo>
                <a:lnTo>
                  <a:pt x="2020062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D2B732A5-1823-5B48-AA2A-8F9984610EE8}"/>
              </a:ext>
            </a:extLst>
          </p:cNvPr>
          <p:cNvSpPr txBox="1"/>
          <p:nvPr/>
        </p:nvSpPr>
        <p:spPr>
          <a:xfrm>
            <a:off x="9317453" y="4939791"/>
            <a:ext cx="167513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35">
                <a:solidFill>
                  <a:srgbClr val="FFC000"/>
                </a:solidFill>
                <a:latin typeface="宋体"/>
                <a:cs typeface="宋体"/>
              </a:rPr>
              <a:t>合并</a:t>
            </a:r>
            <a:r>
              <a:rPr sz="2600" spc="-35">
                <a:solidFill>
                  <a:srgbClr val="FFFFFF"/>
                </a:solidFill>
                <a:latin typeface="宋体"/>
                <a:cs typeface="宋体"/>
              </a:rPr>
              <a:t>问题</a:t>
            </a:r>
            <a:r>
              <a:rPr sz="2600" spc="-50">
                <a:solidFill>
                  <a:srgbClr val="FFFFFF"/>
                </a:solidFill>
                <a:latin typeface="宋体"/>
                <a:cs typeface="宋体"/>
              </a:rPr>
              <a:t>解</a:t>
            </a:r>
            <a:endParaRPr sz="2600">
              <a:latin typeface="宋体"/>
              <a:cs typeface="宋体"/>
            </a:endParaRPr>
          </a:p>
        </p:txBody>
      </p: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C4A33D19-BBE0-B54D-8DB0-9B2B6D3AEEBD}"/>
              </a:ext>
            </a:extLst>
          </p:cNvPr>
          <p:cNvGraphicFramePr>
            <a:graphicFrameLocks noGrp="1"/>
          </p:cNvGraphicFramePr>
          <p:nvPr/>
        </p:nvGraphicFramePr>
        <p:xfrm>
          <a:off x="700595" y="3401948"/>
          <a:ext cx="2303779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3FE59D6E-8EAB-3540-8651-A3568748A1AC}"/>
              </a:ext>
            </a:extLst>
          </p:cNvPr>
          <p:cNvGraphicFramePr>
            <a:graphicFrameLocks noGrp="1"/>
          </p:cNvGraphicFramePr>
          <p:nvPr/>
        </p:nvGraphicFramePr>
        <p:xfrm>
          <a:off x="6576568" y="3330066"/>
          <a:ext cx="2303779" cy="577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721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object 17">
            <a:extLst>
              <a:ext uri="{FF2B5EF4-FFF2-40B4-BE49-F238E27FC236}">
                <a16:creationId xmlns:a16="http://schemas.microsoft.com/office/drawing/2014/main" id="{47853DA3-C3CE-2649-AB5C-232FBD9604F8}"/>
              </a:ext>
            </a:extLst>
          </p:cNvPr>
          <p:cNvSpPr/>
          <p:nvPr/>
        </p:nvSpPr>
        <p:spPr>
          <a:xfrm>
            <a:off x="1814322" y="2945129"/>
            <a:ext cx="114300" cy="476250"/>
          </a:xfrm>
          <a:custGeom>
            <a:avLst/>
            <a:gdLst/>
            <a:ahLst/>
            <a:cxnLst/>
            <a:rect l="l" t="t" r="r" b="b"/>
            <a:pathLst>
              <a:path w="114300" h="476250">
                <a:moveTo>
                  <a:pt x="38100" y="361696"/>
                </a:moveTo>
                <a:lnTo>
                  <a:pt x="0" y="361696"/>
                </a:lnTo>
                <a:lnTo>
                  <a:pt x="57150" y="475996"/>
                </a:lnTo>
                <a:lnTo>
                  <a:pt x="104775" y="380746"/>
                </a:lnTo>
                <a:lnTo>
                  <a:pt x="38100" y="380746"/>
                </a:lnTo>
                <a:lnTo>
                  <a:pt x="38100" y="361696"/>
                </a:lnTo>
                <a:close/>
              </a:path>
              <a:path w="114300" h="476250">
                <a:moveTo>
                  <a:pt x="76200" y="0"/>
                </a:moveTo>
                <a:lnTo>
                  <a:pt x="38100" y="0"/>
                </a:lnTo>
                <a:lnTo>
                  <a:pt x="38100" y="380746"/>
                </a:lnTo>
                <a:lnTo>
                  <a:pt x="76200" y="380746"/>
                </a:lnTo>
                <a:lnTo>
                  <a:pt x="76200" y="0"/>
                </a:lnTo>
                <a:close/>
              </a:path>
              <a:path w="114300" h="476250">
                <a:moveTo>
                  <a:pt x="114300" y="361696"/>
                </a:moveTo>
                <a:lnTo>
                  <a:pt x="76200" y="361696"/>
                </a:lnTo>
                <a:lnTo>
                  <a:pt x="76200" y="380746"/>
                </a:lnTo>
                <a:lnTo>
                  <a:pt x="104775" y="380746"/>
                </a:lnTo>
                <a:lnTo>
                  <a:pt x="114300" y="3616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8">
            <a:extLst>
              <a:ext uri="{FF2B5EF4-FFF2-40B4-BE49-F238E27FC236}">
                <a16:creationId xmlns:a16="http://schemas.microsoft.com/office/drawing/2014/main" id="{4594F6C6-C954-A441-BD7E-8D11686A0756}"/>
              </a:ext>
            </a:extLst>
          </p:cNvPr>
          <p:cNvSpPr/>
          <p:nvPr/>
        </p:nvSpPr>
        <p:spPr>
          <a:xfrm>
            <a:off x="7690866" y="2940557"/>
            <a:ext cx="114300" cy="408940"/>
          </a:xfrm>
          <a:custGeom>
            <a:avLst/>
            <a:gdLst/>
            <a:ahLst/>
            <a:cxnLst/>
            <a:rect l="l" t="t" r="r" b="b"/>
            <a:pathLst>
              <a:path w="114300" h="408939">
                <a:moveTo>
                  <a:pt x="38100" y="294131"/>
                </a:moveTo>
                <a:lnTo>
                  <a:pt x="0" y="294131"/>
                </a:lnTo>
                <a:lnTo>
                  <a:pt x="57150" y="408431"/>
                </a:lnTo>
                <a:lnTo>
                  <a:pt x="104775" y="313181"/>
                </a:lnTo>
                <a:lnTo>
                  <a:pt x="38100" y="313181"/>
                </a:lnTo>
                <a:lnTo>
                  <a:pt x="38100" y="294131"/>
                </a:lnTo>
                <a:close/>
              </a:path>
              <a:path w="114300" h="408939">
                <a:moveTo>
                  <a:pt x="76200" y="0"/>
                </a:moveTo>
                <a:lnTo>
                  <a:pt x="38100" y="0"/>
                </a:lnTo>
                <a:lnTo>
                  <a:pt x="38100" y="313181"/>
                </a:lnTo>
                <a:lnTo>
                  <a:pt x="76200" y="313181"/>
                </a:lnTo>
                <a:lnTo>
                  <a:pt x="76200" y="0"/>
                </a:lnTo>
                <a:close/>
              </a:path>
              <a:path w="114300" h="408939">
                <a:moveTo>
                  <a:pt x="114300" y="294131"/>
                </a:moveTo>
                <a:lnTo>
                  <a:pt x="76200" y="294131"/>
                </a:lnTo>
                <a:lnTo>
                  <a:pt x="76200" y="313181"/>
                </a:lnTo>
                <a:lnTo>
                  <a:pt x="104775" y="313181"/>
                </a:lnTo>
                <a:lnTo>
                  <a:pt x="114300" y="2941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3">
            <a:extLst>
              <a:ext uri="{FF2B5EF4-FFF2-40B4-BE49-F238E27FC236}">
                <a16:creationId xmlns:a16="http://schemas.microsoft.com/office/drawing/2014/main" id="{841F7E66-F10D-5D4C-AB35-2B1ED7A1E5EF}"/>
              </a:ext>
            </a:extLst>
          </p:cNvPr>
          <p:cNvSpPr/>
          <p:nvPr/>
        </p:nvSpPr>
        <p:spPr>
          <a:xfrm>
            <a:off x="9096345" y="1183766"/>
            <a:ext cx="2117725" cy="976630"/>
          </a:xfrm>
          <a:custGeom>
            <a:avLst/>
            <a:gdLst/>
            <a:ahLst/>
            <a:cxnLst/>
            <a:rect l="l" t="t" r="r" b="b"/>
            <a:pathLst>
              <a:path w="2117725" h="976630">
                <a:moveTo>
                  <a:pt x="2019935" y="0"/>
                </a:moveTo>
                <a:lnTo>
                  <a:pt x="97663" y="0"/>
                </a:lnTo>
                <a:lnTo>
                  <a:pt x="59632" y="7669"/>
                </a:lnTo>
                <a:lnTo>
                  <a:pt x="28590" y="28590"/>
                </a:lnTo>
                <a:lnTo>
                  <a:pt x="7669" y="59632"/>
                </a:lnTo>
                <a:lnTo>
                  <a:pt x="0" y="97662"/>
                </a:lnTo>
                <a:lnTo>
                  <a:pt x="0" y="878459"/>
                </a:lnTo>
                <a:lnTo>
                  <a:pt x="7669" y="916489"/>
                </a:lnTo>
                <a:lnTo>
                  <a:pt x="28590" y="947531"/>
                </a:lnTo>
                <a:lnTo>
                  <a:pt x="59632" y="968452"/>
                </a:lnTo>
                <a:lnTo>
                  <a:pt x="97663" y="976122"/>
                </a:lnTo>
                <a:lnTo>
                  <a:pt x="2019935" y="976122"/>
                </a:lnTo>
                <a:lnTo>
                  <a:pt x="2057965" y="968452"/>
                </a:lnTo>
                <a:lnTo>
                  <a:pt x="2089007" y="947531"/>
                </a:lnTo>
                <a:lnTo>
                  <a:pt x="2109928" y="916489"/>
                </a:lnTo>
                <a:lnTo>
                  <a:pt x="2117598" y="878459"/>
                </a:lnTo>
                <a:lnTo>
                  <a:pt x="2117598" y="97662"/>
                </a:lnTo>
                <a:lnTo>
                  <a:pt x="2109928" y="59632"/>
                </a:lnTo>
                <a:lnTo>
                  <a:pt x="2089007" y="28590"/>
                </a:lnTo>
                <a:lnTo>
                  <a:pt x="2057965" y="7669"/>
                </a:lnTo>
                <a:lnTo>
                  <a:pt x="2019935" y="0"/>
                </a:lnTo>
                <a:close/>
              </a:path>
            </a:pathLst>
          </a:custGeom>
          <a:solidFill>
            <a:srgbClr val="25ADEF"/>
          </a:solidFill>
        </p:spPr>
        <p:txBody>
          <a:bodyPr wrap="square" lIns="0" tIns="0" rIns="0" bIns="0" rtlCol="0"/>
          <a:lstStyle/>
          <a:p>
            <a:pPr marL="111760" marR="0" lvl="0" indent="0" defTabSz="914400" eaLnBrk="1" fontAlgn="auto" latinLnBrk="0" hangingPunct="1">
              <a:lnSpc>
                <a:spcPct val="100000"/>
              </a:lnSpc>
              <a:spcBef>
                <a:spcPts val="198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0" i="0" u="none" strike="noStrike" kern="0" cap="none" spc="-35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宋体"/>
                <a:cs typeface="宋体"/>
              </a:rPr>
              <a:t> 分解</a:t>
            </a:r>
            <a:r>
              <a:rPr kumimoji="0" lang="zh-CN" altLang="en-US" sz="26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/>
                <a:cs typeface="宋体"/>
              </a:rPr>
              <a:t>原问</a:t>
            </a:r>
            <a:r>
              <a:rPr kumimoji="0" lang="zh-CN" altLang="en-US" sz="260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/>
                <a:cs typeface="宋体"/>
              </a:rPr>
              <a:t>题</a:t>
            </a:r>
            <a:endParaRPr kumimoji="0" lang="zh-CN" altLang="en-US" sz="2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宋体"/>
              <a:cs typeface="宋体"/>
            </a:endParaRPr>
          </a:p>
          <a:p>
            <a:endParaRPr dirty="0"/>
          </a:p>
        </p:txBody>
      </p:sp>
      <p:graphicFrame>
        <p:nvGraphicFramePr>
          <p:cNvPr id="20" name="object 15">
            <a:extLst>
              <a:ext uri="{FF2B5EF4-FFF2-40B4-BE49-F238E27FC236}">
                <a16:creationId xmlns:a16="http://schemas.microsoft.com/office/drawing/2014/main" id="{42A47CF4-0EE0-CC49-8F5D-1647CDDE2A22}"/>
              </a:ext>
            </a:extLst>
          </p:cNvPr>
          <p:cNvGraphicFramePr>
            <a:graphicFrameLocks noGrp="1"/>
          </p:cNvGraphicFramePr>
          <p:nvPr/>
        </p:nvGraphicFramePr>
        <p:xfrm>
          <a:off x="2496566" y="4586478"/>
          <a:ext cx="4607558" cy="577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72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object 16">
            <a:extLst>
              <a:ext uri="{FF2B5EF4-FFF2-40B4-BE49-F238E27FC236}">
                <a16:creationId xmlns:a16="http://schemas.microsoft.com/office/drawing/2014/main" id="{D88124A4-BB3F-104A-8F9A-61EED9B8389A}"/>
              </a:ext>
            </a:extLst>
          </p:cNvPr>
          <p:cNvSpPr/>
          <p:nvPr/>
        </p:nvSpPr>
        <p:spPr>
          <a:xfrm>
            <a:off x="1867662" y="3908044"/>
            <a:ext cx="5884545" cy="730885"/>
          </a:xfrm>
          <a:custGeom>
            <a:avLst/>
            <a:gdLst/>
            <a:ahLst/>
            <a:cxnLst/>
            <a:rect l="l" t="t" r="r" b="b"/>
            <a:pathLst>
              <a:path w="5884545" h="730885">
                <a:moveTo>
                  <a:pt x="2946349" y="693153"/>
                </a:moveTo>
                <a:lnTo>
                  <a:pt x="2851531" y="618490"/>
                </a:lnTo>
                <a:lnTo>
                  <a:pt x="2843822" y="655802"/>
                </a:lnTo>
                <a:lnTo>
                  <a:pt x="7620" y="71501"/>
                </a:lnTo>
                <a:lnTo>
                  <a:pt x="0" y="108839"/>
                </a:lnTo>
                <a:lnTo>
                  <a:pt x="2836113" y="693153"/>
                </a:lnTo>
                <a:lnTo>
                  <a:pt x="2855493" y="693153"/>
                </a:lnTo>
                <a:lnTo>
                  <a:pt x="2946349" y="693153"/>
                </a:lnTo>
                <a:close/>
              </a:path>
              <a:path w="5884545" h="730885">
                <a:moveTo>
                  <a:pt x="2951861" y="697484"/>
                </a:moveTo>
                <a:lnTo>
                  <a:pt x="2951213" y="696976"/>
                </a:lnTo>
                <a:lnTo>
                  <a:pt x="2854706" y="696976"/>
                </a:lnTo>
                <a:lnTo>
                  <a:pt x="2835325" y="696976"/>
                </a:lnTo>
                <a:lnTo>
                  <a:pt x="2828417" y="730504"/>
                </a:lnTo>
                <a:lnTo>
                  <a:pt x="2951861" y="697484"/>
                </a:lnTo>
                <a:close/>
              </a:path>
              <a:path w="5884545" h="730885">
                <a:moveTo>
                  <a:pt x="5884164" y="37084"/>
                </a:moveTo>
                <a:lnTo>
                  <a:pt x="5875528" y="0"/>
                </a:lnTo>
                <a:lnTo>
                  <a:pt x="3058998" y="653453"/>
                </a:lnTo>
                <a:lnTo>
                  <a:pt x="3050413" y="616331"/>
                </a:lnTo>
                <a:lnTo>
                  <a:pt x="2951988" y="697865"/>
                </a:lnTo>
                <a:lnTo>
                  <a:pt x="3076194" y="727710"/>
                </a:lnTo>
                <a:lnTo>
                  <a:pt x="3068574" y="694817"/>
                </a:lnTo>
                <a:lnTo>
                  <a:pt x="3067570" y="690511"/>
                </a:lnTo>
                <a:lnTo>
                  <a:pt x="5884164" y="37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5">
            <a:extLst>
              <a:ext uri="{FF2B5EF4-FFF2-40B4-BE49-F238E27FC236}">
                <a16:creationId xmlns:a16="http://schemas.microsoft.com/office/drawing/2014/main" id="{BD812485-FD81-014A-8EDD-F97194C9C7E2}"/>
              </a:ext>
            </a:extLst>
          </p:cNvPr>
          <p:cNvSpPr txBox="1"/>
          <p:nvPr/>
        </p:nvSpPr>
        <p:spPr>
          <a:xfrm>
            <a:off x="4503165" y="3577082"/>
            <a:ext cx="8121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0" dirty="0">
                <a:latin typeface="Cambria Math"/>
                <a:cs typeface="Cambria Math"/>
              </a:rPr>
              <a:t>𝑶(𝒏)</a:t>
            </a:r>
            <a:endParaRPr sz="2800" dirty="0">
              <a:latin typeface="Cambria Math"/>
              <a:cs typeface="Cambria Math"/>
            </a:endParaRPr>
          </a:p>
        </p:txBody>
      </p:sp>
      <p:sp>
        <p:nvSpPr>
          <p:cNvPr id="24" name="object 26">
            <a:extLst>
              <a:ext uri="{FF2B5EF4-FFF2-40B4-BE49-F238E27FC236}">
                <a16:creationId xmlns:a16="http://schemas.microsoft.com/office/drawing/2014/main" id="{B4B3ED74-4666-9549-B478-BD5CB4E6A5C3}"/>
              </a:ext>
            </a:extLst>
          </p:cNvPr>
          <p:cNvSpPr txBox="1"/>
          <p:nvPr/>
        </p:nvSpPr>
        <p:spPr>
          <a:xfrm>
            <a:off x="4495038" y="2327148"/>
            <a:ext cx="7943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0">
                <a:latin typeface="Cambria Math"/>
                <a:cs typeface="Cambria Math"/>
              </a:rPr>
              <a:t>𝑶(𝟏)</a:t>
            </a:r>
            <a:endParaRPr sz="2800">
              <a:latin typeface="Cambria Math"/>
              <a:cs typeface="Cambria Math"/>
            </a:endParaRPr>
          </a:p>
        </p:txBody>
      </p:sp>
      <p:grpSp>
        <p:nvGrpSpPr>
          <p:cNvPr id="25" name="object 22">
            <a:extLst>
              <a:ext uri="{FF2B5EF4-FFF2-40B4-BE49-F238E27FC236}">
                <a16:creationId xmlns:a16="http://schemas.microsoft.com/office/drawing/2014/main" id="{980F5E5A-7872-DD49-B626-D411347B701F}"/>
              </a:ext>
            </a:extLst>
          </p:cNvPr>
          <p:cNvGrpSpPr/>
          <p:nvPr/>
        </p:nvGrpSpPr>
        <p:grpSpPr>
          <a:xfrm>
            <a:off x="3061589" y="2354452"/>
            <a:ext cx="3405504" cy="2053589"/>
            <a:chOff x="3061589" y="2354452"/>
            <a:chExt cx="3405504" cy="2053589"/>
          </a:xfrm>
        </p:grpSpPr>
        <p:sp>
          <p:nvSpPr>
            <p:cNvPr id="26" name="object 23">
              <a:extLst>
                <a:ext uri="{FF2B5EF4-FFF2-40B4-BE49-F238E27FC236}">
                  <a16:creationId xmlns:a16="http://schemas.microsoft.com/office/drawing/2014/main" id="{C1268F9D-E39B-654C-BF59-37A319EA18D9}"/>
                </a:ext>
              </a:extLst>
            </p:cNvPr>
            <p:cNvSpPr/>
            <p:nvPr/>
          </p:nvSpPr>
          <p:spPr>
            <a:xfrm>
              <a:off x="3409289" y="2354452"/>
              <a:ext cx="2829560" cy="1646555"/>
            </a:xfrm>
            <a:custGeom>
              <a:avLst/>
              <a:gdLst/>
              <a:ahLst/>
              <a:cxnLst/>
              <a:rect l="l" t="t" r="r" b="b"/>
              <a:pathLst>
                <a:path w="2829560" h="1646554">
                  <a:moveTo>
                    <a:pt x="921029" y="1467739"/>
                  </a:moveTo>
                  <a:lnTo>
                    <a:pt x="865454" y="1452765"/>
                  </a:lnTo>
                  <a:lnTo>
                    <a:pt x="811428" y="1436268"/>
                  </a:lnTo>
                  <a:lnTo>
                    <a:pt x="759040" y="1418272"/>
                  </a:lnTo>
                  <a:lnTo>
                    <a:pt x="708367" y="1398841"/>
                  </a:lnTo>
                  <a:lnTo>
                    <a:pt x="659511" y="1378000"/>
                  </a:lnTo>
                  <a:lnTo>
                    <a:pt x="612559" y="1355801"/>
                  </a:lnTo>
                  <a:lnTo>
                    <a:pt x="567588" y="1332280"/>
                  </a:lnTo>
                  <a:lnTo>
                    <a:pt x="524700" y="1307477"/>
                  </a:lnTo>
                  <a:lnTo>
                    <a:pt x="483971" y="1281442"/>
                  </a:lnTo>
                  <a:lnTo>
                    <a:pt x="445490" y="1254201"/>
                  </a:lnTo>
                  <a:lnTo>
                    <a:pt x="409346" y="1225816"/>
                  </a:lnTo>
                  <a:lnTo>
                    <a:pt x="373900" y="1194777"/>
                  </a:lnTo>
                  <a:lnTo>
                    <a:pt x="341706" y="1163078"/>
                  </a:lnTo>
                  <a:lnTo>
                    <a:pt x="312724" y="1130782"/>
                  </a:lnTo>
                  <a:lnTo>
                    <a:pt x="286943" y="1097965"/>
                  </a:lnTo>
                  <a:lnTo>
                    <a:pt x="264350" y="1064679"/>
                  </a:lnTo>
                  <a:lnTo>
                    <a:pt x="244906" y="1030986"/>
                  </a:lnTo>
                  <a:lnTo>
                    <a:pt x="215392" y="962698"/>
                  </a:lnTo>
                  <a:lnTo>
                    <a:pt x="198247" y="893622"/>
                  </a:lnTo>
                  <a:lnTo>
                    <a:pt x="193294" y="824293"/>
                  </a:lnTo>
                  <a:lnTo>
                    <a:pt x="195326" y="789711"/>
                  </a:lnTo>
                  <a:lnTo>
                    <a:pt x="208330" y="721017"/>
                  </a:lnTo>
                  <a:lnTo>
                    <a:pt x="233095" y="653427"/>
                  </a:lnTo>
                  <a:lnTo>
                    <a:pt x="269443" y="587463"/>
                  </a:lnTo>
                  <a:lnTo>
                    <a:pt x="291909" y="555256"/>
                  </a:lnTo>
                  <a:lnTo>
                    <a:pt x="317195" y="523659"/>
                  </a:lnTo>
                  <a:lnTo>
                    <a:pt x="345300" y="492734"/>
                  </a:lnTo>
                  <a:lnTo>
                    <a:pt x="376199" y="462559"/>
                  </a:lnTo>
                  <a:lnTo>
                    <a:pt x="409854" y="433197"/>
                  </a:lnTo>
                  <a:lnTo>
                    <a:pt x="446265" y="404698"/>
                  </a:lnTo>
                  <a:lnTo>
                    <a:pt x="485394" y="377151"/>
                  </a:lnTo>
                  <a:lnTo>
                    <a:pt x="527215" y="350621"/>
                  </a:lnTo>
                  <a:lnTo>
                    <a:pt x="571728" y="325158"/>
                  </a:lnTo>
                  <a:lnTo>
                    <a:pt x="618896" y="300837"/>
                  </a:lnTo>
                  <a:lnTo>
                    <a:pt x="668705" y="277736"/>
                  </a:lnTo>
                  <a:lnTo>
                    <a:pt x="721131" y="255905"/>
                  </a:lnTo>
                  <a:lnTo>
                    <a:pt x="799236" y="356870"/>
                  </a:lnTo>
                  <a:lnTo>
                    <a:pt x="857783" y="110363"/>
                  </a:lnTo>
                  <a:lnTo>
                    <a:pt x="523265" y="0"/>
                  </a:lnTo>
                  <a:lnTo>
                    <a:pt x="601370" y="101092"/>
                  </a:lnTo>
                  <a:lnTo>
                    <a:pt x="548906" y="125488"/>
                  </a:lnTo>
                  <a:lnTo>
                    <a:pt x="498411" y="151295"/>
                  </a:lnTo>
                  <a:lnTo>
                    <a:pt x="449935" y="178485"/>
                  </a:lnTo>
                  <a:lnTo>
                    <a:pt x="403555" y="206997"/>
                  </a:lnTo>
                  <a:lnTo>
                    <a:pt x="359321" y="236804"/>
                  </a:lnTo>
                  <a:lnTo>
                    <a:pt x="317309" y="267830"/>
                  </a:lnTo>
                  <a:lnTo>
                    <a:pt x="277583" y="300050"/>
                  </a:lnTo>
                  <a:lnTo>
                    <a:pt x="240207" y="333400"/>
                  </a:lnTo>
                  <a:lnTo>
                    <a:pt x="205270" y="367842"/>
                  </a:lnTo>
                  <a:lnTo>
                    <a:pt x="172796" y="403326"/>
                  </a:lnTo>
                  <a:lnTo>
                    <a:pt x="142900" y="439801"/>
                  </a:lnTo>
                  <a:lnTo>
                    <a:pt x="116535" y="475856"/>
                  </a:lnTo>
                  <a:lnTo>
                    <a:pt x="92938" y="512254"/>
                  </a:lnTo>
                  <a:lnTo>
                    <a:pt x="72059" y="548944"/>
                  </a:lnTo>
                  <a:lnTo>
                    <a:pt x="53886" y="585901"/>
                  </a:lnTo>
                  <a:lnTo>
                    <a:pt x="38379" y="623062"/>
                  </a:lnTo>
                  <a:lnTo>
                    <a:pt x="25514" y="660374"/>
                  </a:lnTo>
                  <a:lnTo>
                    <a:pt x="15278" y="697788"/>
                  </a:lnTo>
                  <a:lnTo>
                    <a:pt x="7632" y="735266"/>
                  </a:lnTo>
                  <a:lnTo>
                    <a:pt x="25" y="810221"/>
                  </a:lnTo>
                  <a:lnTo>
                    <a:pt x="0" y="847585"/>
                  </a:lnTo>
                  <a:lnTo>
                    <a:pt x="2463" y="884821"/>
                  </a:lnTo>
                  <a:lnTo>
                    <a:pt x="14757" y="958697"/>
                  </a:lnTo>
                  <a:lnTo>
                    <a:pt x="36677" y="1031468"/>
                  </a:lnTo>
                  <a:lnTo>
                    <a:pt x="51181" y="1067308"/>
                  </a:lnTo>
                  <a:lnTo>
                    <a:pt x="68021" y="1102728"/>
                  </a:lnTo>
                  <a:lnTo>
                    <a:pt x="87147" y="1137666"/>
                  </a:lnTo>
                  <a:lnTo>
                    <a:pt x="108559" y="1172095"/>
                  </a:lnTo>
                  <a:lnTo>
                    <a:pt x="132219" y="1205941"/>
                  </a:lnTo>
                  <a:lnTo>
                    <a:pt x="158115" y="1239177"/>
                  </a:lnTo>
                  <a:lnTo>
                    <a:pt x="186194" y="1271752"/>
                  </a:lnTo>
                  <a:lnTo>
                    <a:pt x="216433" y="1303604"/>
                  </a:lnTo>
                  <a:lnTo>
                    <a:pt x="248831" y="1334693"/>
                  </a:lnTo>
                  <a:lnTo>
                    <a:pt x="283337" y="1364983"/>
                  </a:lnTo>
                  <a:lnTo>
                    <a:pt x="319938" y="1394409"/>
                  </a:lnTo>
                  <a:lnTo>
                    <a:pt x="358597" y="1422920"/>
                  </a:lnTo>
                  <a:lnTo>
                    <a:pt x="399300" y="1450467"/>
                  </a:lnTo>
                  <a:lnTo>
                    <a:pt x="442010" y="1477022"/>
                  </a:lnTo>
                  <a:lnTo>
                    <a:pt x="486702" y="1502524"/>
                  </a:lnTo>
                  <a:lnTo>
                    <a:pt x="533349" y="1526921"/>
                  </a:lnTo>
                  <a:lnTo>
                    <a:pt x="581926" y="1550162"/>
                  </a:lnTo>
                  <a:lnTo>
                    <a:pt x="632421" y="1572221"/>
                  </a:lnTo>
                  <a:lnTo>
                    <a:pt x="684784" y="1593011"/>
                  </a:lnTo>
                  <a:lnTo>
                    <a:pt x="739000" y="1612519"/>
                  </a:lnTo>
                  <a:lnTo>
                    <a:pt x="795045" y="1630680"/>
                  </a:lnTo>
                  <a:lnTo>
                    <a:pt x="921029" y="1467739"/>
                  </a:lnTo>
                  <a:close/>
                </a:path>
                <a:path w="2829560" h="1646554">
                  <a:moveTo>
                    <a:pt x="2829306" y="821575"/>
                  </a:moveTo>
                  <a:lnTo>
                    <a:pt x="2827477" y="783323"/>
                  </a:lnTo>
                  <a:lnTo>
                    <a:pt x="2823197" y="745236"/>
                  </a:lnTo>
                  <a:lnTo>
                    <a:pt x="2816491" y="707377"/>
                  </a:lnTo>
                  <a:lnTo>
                    <a:pt x="2807398" y="669798"/>
                  </a:lnTo>
                  <a:lnTo>
                    <a:pt x="2795917" y="632548"/>
                  </a:lnTo>
                  <a:lnTo>
                    <a:pt x="2782087" y="595680"/>
                  </a:lnTo>
                  <a:lnTo>
                    <a:pt x="2765933" y="559244"/>
                  </a:lnTo>
                  <a:lnTo>
                    <a:pt x="2747480" y="523303"/>
                  </a:lnTo>
                  <a:lnTo>
                    <a:pt x="2726753" y="487908"/>
                  </a:lnTo>
                  <a:lnTo>
                    <a:pt x="2703779" y="453110"/>
                  </a:lnTo>
                  <a:lnTo>
                    <a:pt x="2678582" y="418947"/>
                  </a:lnTo>
                  <a:lnTo>
                    <a:pt x="2651188" y="385495"/>
                  </a:lnTo>
                  <a:lnTo>
                    <a:pt x="2621623" y="352793"/>
                  </a:lnTo>
                  <a:lnTo>
                    <a:pt x="2589911" y="320903"/>
                  </a:lnTo>
                  <a:lnTo>
                    <a:pt x="2556065" y="289864"/>
                  </a:lnTo>
                  <a:lnTo>
                    <a:pt x="2520137" y="259740"/>
                  </a:lnTo>
                  <a:lnTo>
                    <a:pt x="2482138" y="230593"/>
                  </a:lnTo>
                  <a:lnTo>
                    <a:pt x="2442083" y="202450"/>
                  </a:lnTo>
                  <a:lnTo>
                    <a:pt x="2400008" y="175387"/>
                  </a:lnTo>
                  <a:lnTo>
                    <a:pt x="2355939" y="149453"/>
                  </a:lnTo>
                  <a:lnTo>
                    <a:pt x="2309901" y="124688"/>
                  </a:lnTo>
                  <a:lnTo>
                    <a:pt x="2261920" y="101155"/>
                  </a:lnTo>
                  <a:lnTo>
                    <a:pt x="2212022" y="78917"/>
                  </a:lnTo>
                  <a:lnTo>
                    <a:pt x="2160232" y="58000"/>
                  </a:lnTo>
                  <a:lnTo>
                    <a:pt x="2106574" y="38481"/>
                  </a:lnTo>
                  <a:lnTo>
                    <a:pt x="1981987" y="199517"/>
                  </a:lnTo>
                  <a:lnTo>
                    <a:pt x="2032457" y="215049"/>
                  </a:lnTo>
                  <a:lnTo>
                    <a:pt x="2081504" y="232041"/>
                  </a:lnTo>
                  <a:lnTo>
                    <a:pt x="2129028" y="250444"/>
                  </a:lnTo>
                  <a:lnTo>
                    <a:pt x="2174951" y="270243"/>
                  </a:lnTo>
                  <a:lnTo>
                    <a:pt x="2219198" y="291376"/>
                  </a:lnTo>
                  <a:lnTo>
                    <a:pt x="2261692" y="313817"/>
                  </a:lnTo>
                  <a:lnTo>
                    <a:pt x="2302357" y="337515"/>
                  </a:lnTo>
                  <a:lnTo>
                    <a:pt x="2341092" y="362445"/>
                  </a:lnTo>
                  <a:lnTo>
                    <a:pt x="2377846" y="388556"/>
                  </a:lnTo>
                  <a:lnTo>
                    <a:pt x="2412517" y="415798"/>
                  </a:lnTo>
                  <a:lnTo>
                    <a:pt x="2449538" y="448284"/>
                  </a:lnTo>
                  <a:lnTo>
                    <a:pt x="2483142" y="481596"/>
                  </a:lnTo>
                  <a:lnTo>
                    <a:pt x="2513355" y="515632"/>
                  </a:lnTo>
                  <a:lnTo>
                    <a:pt x="2540190" y="550341"/>
                  </a:lnTo>
                  <a:lnTo>
                    <a:pt x="2563660" y="585622"/>
                  </a:lnTo>
                  <a:lnTo>
                    <a:pt x="2583789" y="621398"/>
                  </a:lnTo>
                  <a:lnTo>
                    <a:pt x="2600617" y="657580"/>
                  </a:lnTo>
                  <a:lnTo>
                    <a:pt x="2614130" y="694093"/>
                  </a:lnTo>
                  <a:lnTo>
                    <a:pt x="2624366" y="730846"/>
                  </a:lnTo>
                  <a:lnTo>
                    <a:pt x="2635110" y="804773"/>
                  </a:lnTo>
                  <a:lnTo>
                    <a:pt x="2635643" y="841781"/>
                  </a:lnTo>
                  <a:lnTo>
                    <a:pt x="2632976" y="878700"/>
                  </a:lnTo>
                  <a:lnTo>
                    <a:pt x="2618143" y="951953"/>
                  </a:lnTo>
                  <a:lnTo>
                    <a:pt x="2606002" y="988136"/>
                  </a:lnTo>
                  <a:lnTo>
                    <a:pt x="2590762" y="1023899"/>
                  </a:lnTo>
                  <a:lnTo>
                    <a:pt x="2572423" y="1059167"/>
                  </a:lnTo>
                  <a:lnTo>
                    <a:pt x="2551011" y="1093863"/>
                  </a:lnTo>
                  <a:lnTo>
                    <a:pt x="2526538" y="1127899"/>
                  </a:lnTo>
                  <a:lnTo>
                    <a:pt x="2499029" y="1161186"/>
                  </a:lnTo>
                  <a:lnTo>
                    <a:pt x="2468524" y="1193647"/>
                  </a:lnTo>
                  <a:lnTo>
                    <a:pt x="2435009" y="1225207"/>
                  </a:lnTo>
                  <a:lnTo>
                    <a:pt x="2398522" y="1255776"/>
                  </a:lnTo>
                  <a:lnTo>
                    <a:pt x="2359088" y="1285278"/>
                  </a:lnTo>
                  <a:lnTo>
                    <a:pt x="2316721" y="1313624"/>
                  </a:lnTo>
                  <a:lnTo>
                    <a:pt x="2271445" y="1340726"/>
                  </a:lnTo>
                  <a:lnTo>
                    <a:pt x="2223274" y="1366520"/>
                  </a:lnTo>
                  <a:lnTo>
                    <a:pt x="2172233" y="1390904"/>
                  </a:lnTo>
                  <a:lnTo>
                    <a:pt x="2093620" y="1289304"/>
                  </a:lnTo>
                  <a:lnTo>
                    <a:pt x="2044471" y="1541145"/>
                  </a:lnTo>
                  <a:lnTo>
                    <a:pt x="2369718" y="1646174"/>
                  </a:lnTo>
                  <a:lnTo>
                    <a:pt x="2291105" y="1544447"/>
                  </a:lnTo>
                  <a:lnTo>
                    <a:pt x="2339073" y="1519478"/>
                  </a:lnTo>
                  <a:lnTo>
                    <a:pt x="2385199" y="1493126"/>
                  </a:lnTo>
                  <a:lnTo>
                    <a:pt x="2429421" y="1465453"/>
                  </a:lnTo>
                  <a:lnTo>
                    <a:pt x="2471661" y="1436484"/>
                  </a:lnTo>
                  <a:lnTo>
                    <a:pt x="2511869" y="1406296"/>
                  </a:lnTo>
                  <a:lnTo>
                    <a:pt x="2549995" y="1374914"/>
                  </a:lnTo>
                  <a:lnTo>
                    <a:pt x="2585961" y="1342402"/>
                  </a:lnTo>
                  <a:lnTo>
                    <a:pt x="2619718" y="1308798"/>
                  </a:lnTo>
                  <a:lnTo>
                    <a:pt x="2651201" y="1274152"/>
                  </a:lnTo>
                  <a:lnTo>
                    <a:pt x="2680360" y="1238516"/>
                  </a:lnTo>
                  <a:lnTo>
                    <a:pt x="2707170" y="1201864"/>
                  </a:lnTo>
                  <a:lnTo>
                    <a:pt x="2731249" y="1164818"/>
                  </a:lnTo>
                  <a:lnTo>
                    <a:pt x="2752623" y="1127404"/>
                  </a:lnTo>
                  <a:lnTo>
                    <a:pt x="2771317" y="1089685"/>
                  </a:lnTo>
                  <a:lnTo>
                    <a:pt x="2787358" y="1051725"/>
                  </a:lnTo>
                  <a:lnTo>
                    <a:pt x="2800769" y="1013548"/>
                  </a:lnTo>
                  <a:lnTo>
                    <a:pt x="2811589" y="975233"/>
                  </a:lnTo>
                  <a:lnTo>
                    <a:pt x="2819819" y="936828"/>
                  </a:lnTo>
                  <a:lnTo>
                    <a:pt x="2825496" y="898385"/>
                  </a:lnTo>
                  <a:lnTo>
                    <a:pt x="2828645" y="859942"/>
                  </a:lnTo>
                  <a:lnTo>
                    <a:pt x="2829306" y="821575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4">
              <a:extLst>
                <a:ext uri="{FF2B5EF4-FFF2-40B4-BE49-F238E27FC236}">
                  <a16:creationId xmlns:a16="http://schemas.microsoft.com/office/drawing/2014/main" id="{0A2C73E0-AABB-2B40-A810-1B65D2418936}"/>
                </a:ext>
              </a:extLst>
            </p:cNvPr>
            <p:cNvSpPr/>
            <p:nvPr/>
          </p:nvSpPr>
          <p:spPr>
            <a:xfrm>
              <a:off x="3080639" y="4075917"/>
              <a:ext cx="3367404" cy="313690"/>
            </a:xfrm>
            <a:custGeom>
              <a:avLst/>
              <a:gdLst/>
              <a:ahLst/>
              <a:cxnLst/>
              <a:rect l="l" t="t" r="r" b="b"/>
              <a:pathLst>
                <a:path w="3367404" h="313689">
                  <a:moveTo>
                    <a:pt x="0" y="309011"/>
                  </a:moveTo>
                  <a:lnTo>
                    <a:pt x="32555" y="279527"/>
                  </a:lnTo>
                  <a:lnTo>
                    <a:pt x="74404" y="251136"/>
                  </a:lnTo>
                  <a:lnTo>
                    <a:pt x="125094" y="223906"/>
                  </a:lnTo>
                  <a:lnTo>
                    <a:pt x="184173" y="197902"/>
                  </a:lnTo>
                  <a:lnTo>
                    <a:pt x="251188" y="173191"/>
                  </a:lnTo>
                  <a:lnTo>
                    <a:pt x="287530" y="161342"/>
                  </a:lnTo>
                  <a:lnTo>
                    <a:pt x="325687" y="149841"/>
                  </a:lnTo>
                  <a:lnTo>
                    <a:pt x="365602" y="138697"/>
                  </a:lnTo>
                  <a:lnTo>
                    <a:pt x="407218" y="127919"/>
                  </a:lnTo>
                  <a:lnTo>
                    <a:pt x="450479" y="117513"/>
                  </a:lnTo>
                  <a:lnTo>
                    <a:pt x="495329" y="107490"/>
                  </a:lnTo>
                  <a:lnTo>
                    <a:pt x="541711" y="97857"/>
                  </a:lnTo>
                  <a:lnTo>
                    <a:pt x="589568" y="88622"/>
                  </a:lnTo>
                  <a:lnTo>
                    <a:pt x="638843" y="79794"/>
                  </a:lnTo>
                  <a:lnTo>
                    <a:pt x="689482" y="71382"/>
                  </a:lnTo>
                  <a:lnTo>
                    <a:pt x="741425" y="63393"/>
                  </a:lnTo>
                  <a:lnTo>
                    <a:pt x="794619" y="55836"/>
                  </a:lnTo>
                  <a:lnTo>
                    <a:pt x="849005" y="48720"/>
                  </a:lnTo>
                  <a:lnTo>
                    <a:pt x="904527" y="42052"/>
                  </a:lnTo>
                  <a:lnTo>
                    <a:pt x="961129" y="35841"/>
                  </a:lnTo>
                  <a:lnTo>
                    <a:pt x="1018754" y="30096"/>
                  </a:lnTo>
                  <a:lnTo>
                    <a:pt x="1077345" y="24824"/>
                  </a:lnTo>
                  <a:lnTo>
                    <a:pt x="1136847" y="20034"/>
                  </a:lnTo>
                  <a:lnTo>
                    <a:pt x="1197202" y="15735"/>
                  </a:lnTo>
                  <a:lnTo>
                    <a:pt x="1258355" y="11935"/>
                  </a:lnTo>
                  <a:lnTo>
                    <a:pt x="1320248" y="8642"/>
                  </a:lnTo>
                  <a:lnTo>
                    <a:pt x="1382825" y="5864"/>
                  </a:lnTo>
                  <a:lnTo>
                    <a:pt x="1446029" y="3610"/>
                  </a:lnTo>
                  <a:lnTo>
                    <a:pt x="1509804" y="1888"/>
                  </a:lnTo>
                  <a:lnTo>
                    <a:pt x="1574094" y="707"/>
                  </a:lnTo>
                  <a:lnTo>
                    <a:pt x="1638842" y="75"/>
                  </a:lnTo>
                  <a:lnTo>
                    <a:pt x="1703991" y="0"/>
                  </a:lnTo>
                  <a:lnTo>
                    <a:pt x="1769484" y="490"/>
                  </a:lnTo>
                  <a:lnTo>
                    <a:pt x="1835267" y="1555"/>
                  </a:lnTo>
                  <a:lnTo>
                    <a:pt x="1901280" y="3201"/>
                  </a:lnTo>
                  <a:lnTo>
                    <a:pt x="1967470" y="5439"/>
                  </a:lnTo>
                  <a:lnTo>
                    <a:pt x="2033777" y="8275"/>
                  </a:lnTo>
                  <a:lnTo>
                    <a:pt x="2105462" y="12025"/>
                  </a:lnTo>
                  <a:lnTo>
                    <a:pt x="2175937" y="16435"/>
                  </a:lnTo>
                  <a:lnTo>
                    <a:pt x="2245135" y="21489"/>
                  </a:lnTo>
                  <a:lnTo>
                    <a:pt x="2312992" y="27172"/>
                  </a:lnTo>
                  <a:lnTo>
                    <a:pt x="2379441" y="33469"/>
                  </a:lnTo>
                  <a:lnTo>
                    <a:pt x="2444416" y="40365"/>
                  </a:lnTo>
                  <a:lnTo>
                    <a:pt x="2507851" y="47846"/>
                  </a:lnTo>
                  <a:lnTo>
                    <a:pt x="2569680" y="55895"/>
                  </a:lnTo>
                  <a:lnTo>
                    <a:pt x="2629837" y="64497"/>
                  </a:lnTo>
                  <a:lnTo>
                    <a:pt x="2688256" y="73639"/>
                  </a:lnTo>
                  <a:lnTo>
                    <a:pt x="2744872" y="83304"/>
                  </a:lnTo>
                  <a:lnTo>
                    <a:pt x="2799617" y="93477"/>
                  </a:lnTo>
                  <a:lnTo>
                    <a:pt x="2852427" y="104144"/>
                  </a:lnTo>
                  <a:lnTo>
                    <a:pt x="2903235" y="115289"/>
                  </a:lnTo>
                  <a:lnTo>
                    <a:pt x="2951976" y="126897"/>
                  </a:lnTo>
                  <a:lnTo>
                    <a:pt x="2998582" y="138953"/>
                  </a:lnTo>
                  <a:lnTo>
                    <a:pt x="3042989" y="151442"/>
                  </a:lnTo>
                  <a:lnTo>
                    <a:pt x="3085130" y="164348"/>
                  </a:lnTo>
                  <a:lnTo>
                    <a:pt x="3124939" y="177658"/>
                  </a:lnTo>
                  <a:lnTo>
                    <a:pt x="3162350" y="191355"/>
                  </a:lnTo>
                  <a:lnTo>
                    <a:pt x="3229716" y="219852"/>
                  </a:lnTo>
                  <a:lnTo>
                    <a:pt x="3286699" y="249718"/>
                  </a:lnTo>
                  <a:lnTo>
                    <a:pt x="3332771" y="280833"/>
                  </a:lnTo>
                  <a:lnTo>
                    <a:pt x="3351551" y="296821"/>
                  </a:lnTo>
                  <a:lnTo>
                    <a:pt x="3367405" y="313075"/>
                  </a:lnTo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3">
            <a:extLst>
              <a:ext uri="{FF2B5EF4-FFF2-40B4-BE49-F238E27FC236}">
                <a16:creationId xmlns:a16="http://schemas.microsoft.com/office/drawing/2014/main" id="{39548DA0-C94C-EE48-B55A-7D37FAC332B6}"/>
              </a:ext>
            </a:extLst>
          </p:cNvPr>
          <p:cNvSpPr txBox="1"/>
          <p:nvPr/>
        </p:nvSpPr>
        <p:spPr>
          <a:xfrm>
            <a:off x="541196" y="5792702"/>
            <a:ext cx="8181340" cy="67945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8191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645"/>
              </a:spcBef>
            </a:pPr>
            <a:r>
              <a:rPr sz="2800" spc="-5">
                <a:solidFill>
                  <a:srgbClr val="FFFFFF"/>
                </a:solidFill>
                <a:latin typeface="宋体"/>
                <a:cs typeface="宋体"/>
              </a:rPr>
              <a:t>归并排序：简化分解，侧重合并</a:t>
            </a:r>
            <a:endParaRPr sz="280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539351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1" grpId="0" animBg="1"/>
      <p:bldP spid="23" grpId="0"/>
      <p:bldP spid="24" grpId="0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C3536AF0-0F07-BE4E-A3A7-1F8B9009E4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5228" y="146917"/>
            <a:ext cx="641515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算法回顾：归并排</a:t>
            </a:r>
            <a:r>
              <a:rPr spc="-60" dirty="0" err="1">
                <a:latin typeface="SimSun" panose="02010600030101010101" pitchFamily="2" charset="-122"/>
                <a:ea typeface="SimSun" panose="02010600030101010101" pitchFamily="2" charset="-122"/>
              </a:rPr>
              <a:t>序</a:t>
            </a:r>
            <a:endParaRPr spc="-6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4FEFA0BC-769C-0846-9543-70A137DC012C}"/>
              </a:ext>
            </a:extLst>
          </p:cNvPr>
          <p:cNvGraphicFramePr>
            <a:graphicFrameLocks noGrp="1"/>
          </p:cNvGraphicFramePr>
          <p:nvPr/>
        </p:nvGraphicFramePr>
        <p:xfrm>
          <a:off x="2496566" y="928877"/>
          <a:ext cx="4606924" cy="1035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7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87960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2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5715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510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bject 7">
            <a:extLst>
              <a:ext uri="{FF2B5EF4-FFF2-40B4-BE49-F238E27FC236}">
                <a16:creationId xmlns:a16="http://schemas.microsoft.com/office/drawing/2014/main" id="{238E734F-29F0-6149-AD5B-04EE1C8D4740}"/>
              </a:ext>
            </a:extLst>
          </p:cNvPr>
          <p:cNvSpPr/>
          <p:nvPr/>
        </p:nvSpPr>
        <p:spPr>
          <a:xfrm>
            <a:off x="9096345" y="1183766"/>
            <a:ext cx="2117725" cy="976630"/>
          </a:xfrm>
          <a:custGeom>
            <a:avLst/>
            <a:gdLst/>
            <a:ahLst/>
            <a:cxnLst/>
            <a:rect l="l" t="t" r="r" b="b"/>
            <a:pathLst>
              <a:path w="2117725" h="976630">
                <a:moveTo>
                  <a:pt x="2019935" y="0"/>
                </a:moveTo>
                <a:lnTo>
                  <a:pt x="97663" y="0"/>
                </a:lnTo>
                <a:lnTo>
                  <a:pt x="59632" y="7669"/>
                </a:lnTo>
                <a:lnTo>
                  <a:pt x="28590" y="28590"/>
                </a:lnTo>
                <a:lnTo>
                  <a:pt x="7669" y="59632"/>
                </a:lnTo>
                <a:lnTo>
                  <a:pt x="0" y="97662"/>
                </a:lnTo>
                <a:lnTo>
                  <a:pt x="0" y="878459"/>
                </a:lnTo>
                <a:lnTo>
                  <a:pt x="7669" y="916489"/>
                </a:lnTo>
                <a:lnTo>
                  <a:pt x="28590" y="947531"/>
                </a:lnTo>
                <a:lnTo>
                  <a:pt x="59632" y="968452"/>
                </a:lnTo>
                <a:lnTo>
                  <a:pt x="97663" y="976122"/>
                </a:lnTo>
                <a:lnTo>
                  <a:pt x="2019935" y="976122"/>
                </a:lnTo>
                <a:lnTo>
                  <a:pt x="2057965" y="968452"/>
                </a:lnTo>
                <a:lnTo>
                  <a:pt x="2089007" y="947531"/>
                </a:lnTo>
                <a:lnTo>
                  <a:pt x="2109928" y="916489"/>
                </a:lnTo>
                <a:lnTo>
                  <a:pt x="2117598" y="878459"/>
                </a:lnTo>
                <a:lnTo>
                  <a:pt x="2117598" y="97662"/>
                </a:lnTo>
                <a:lnTo>
                  <a:pt x="2109928" y="59632"/>
                </a:lnTo>
                <a:lnTo>
                  <a:pt x="2089007" y="28590"/>
                </a:lnTo>
                <a:lnTo>
                  <a:pt x="2057965" y="7669"/>
                </a:lnTo>
                <a:lnTo>
                  <a:pt x="2019935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C34F63F1-52DF-0E4D-8BD3-2C29271E4D57}"/>
              </a:ext>
            </a:extLst>
          </p:cNvPr>
          <p:cNvSpPr/>
          <p:nvPr/>
        </p:nvSpPr>
        <p:spPr>
          <a:xfrm>
            <a:off x="9819865" y="2257805"/>
            <a:ext cx="670560" cy="589280"/>
          </a:xfrm>
          <a:custGeom>
            <a:avLst/>
            <a:gdLst/>
            <a:ahLst/>
            <a:cxnLst/>
            <a:rect l="l" t="t" r="r" b="b"/>
            <a:pathLst>
              <a:path w="670559" h="589280">
                <a:moveTo>
                  <a:pt x="536448" y="0"/>
                </a:moveTo>
                <a:lnTo>
                  <a:pt x="134112" y="0"/>
                </a:lnTo>
                <a:lnTo>
                  <a:pt x="134112" y="294513"/>
                </a:lnTo>
                <a:lnTo>
                  <a:pt x="0" y="294513"/>
                </a:lnTo>
                <a:lnTo>
                  <a:pt x="335279" y="589026"/>
                </a:lnTo>
                <a:lnTo>
                  <a:pt x="670559" y="294513"/>
                </a:lnTo>
                <a:lnTo>
                  <a:pt x="536448" y="294513"/>
                </a:lnTo>
                <a:lnTo>
                  <a:pt x="53644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D1F8F53E-BFDD-0547-B47E-134BAE69B02B}"/>
              </a:ext>
            </a:extLst>
          </p:cNvPr>
          <p:cNvSpPr/>
          <p:nvPr/>
        </p:nvSpPr>
        <p:spPr>
          <a:xfrm>
            <a:off x="9096345" y="2945510"/>
            <a:ext cx="2117725" cy="976630"/>
          </a:xfrm>
          <a:custGeom>
            <a:avLst/>
            <a:gdLst/>
            <a:ahLst/>
            <a:cxnLst/>
            <a:rect l="l" t="t" r="r" b="b"/>
            <a:pathLst>
              <a:path w="2117725" h="976628">
                <a:moveTo>
                  <a:pt x="2019935" y="0"/>
                </a:moveTo>
                <a:lnTo>
                  <a:pt x="97663" y="0"/>
                </a:lnTo>
                <a:lnTo>
                  <a:pt x="59632" y="7669"/>
                </a:lnTo>
                <a:lnTo>
                  <a:pt x="28590" y="28590"/>
                </a:lnTo>
                <a:lnTo>
                  <a:pt x="7669" y="59632"/>
                </a:lnTo>
                <a:lnTo>
                  <a:pt x="0" y="97662"/>
                </a:lnTo>
                <a:lnTo>
                  <a:pt x="0" y="878458"/>
                </a:lnTo>
                <a:lnTo>
                  <a:pt x="7669" y="916489"/>
                </a:lnTo>
                <a:lnTo>
                  <a:pt x="28590" y="947531"/>
                </a:lnTo>
                <a:lnTo>
                  <a:pt x="59632" y="968452"/>
                </a:lnTo>
                <a:lnTo>
                  <a:pt x="97663" y="976121"/>
                </a:lnTo>
                <a:lnTo>
                  <a:pt x="2019935" y="976121"/>
                </a:lnTo>
                <a:lnTo>
                  <a:pt x="2057965" y="968452"/>
                </a:lnTo>
                <a:lnTo>
                  <a:pt x="2089007" y="947531"/>
                </a:lnTo>
                <a:lnTo>
                  <a:pt x="2109928" y="916489"/>
                </a:lnTo>
                <a:lnTo>
                  <a:pt x="2117598" y="878458"/>
                </a:lnTo>
                <a:lnTo>
                  <a:pt x="2117598" y="97662"/>
                </a:lnTo>
                <a:lnTo>
                  <a:pt x="2109928" y="59632"/>
                </a:lnTo>
                <a:lnTo>
                  <a:pt x="2089007" y="28590"/>
                </a:lnTo>
                <a:lnTo>
                  <a:pt x="2057965" y="7669"/>
                </a:lnTo>
                <a:lnTo>
                  <a:pt x="2019935" y="0"/>
                </a:lnTo>
                <a:close/>
              </a:path>
            </a:pathLst>
          </a:custGeom>
          <a:solidFill>
            <a:srgbClr val="25AD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055419BF-C8E9-BD48-8635-435A1C6EAA85}"/>
              </a:ext>
            </a:extLst>
          </p:cNvPr>
          <p:cNvSpPr txBox="1"/>
          <p:nvPr/>
        </p:nvSpPr>
        <p:spPr>
          <a:xfrm>
            <a:off x="9317453" y="3164332"/>
            <a:ext cx="167513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35">
                <a:solidFill>
                  <a:srgbClr val="FFC000"/>
                </a:solidFill>
                <a:latin typeface="宋体"/>
                <a:cs typeface="宋体"/>
              </a:rPr>
              <a:t>解决</a:t>
            </a:r>
            <a:r>
              <a:rPr sz="2600" spc="-35">
                <a:solidFill>
                  <a:srgbClr val="FFFFFF"/>
                </a:solidFill>
                <a:latin typeface="宋体"/>
                <a:cs typeface="宋体"/>
              </a:rPr>
              <a:t>子问</a:t>
            </a:r>
            <a:r>
              <a:rPr sz="2600" spc="-50">
                <a:solidFill>
                  <a:srgbClr val="FFFFFF"/>
                </a:solidFill>
                <a:latin typeface="宋体"/>
                <a:cs typeface="宋体"/>
              </a:rPr>
              <a:t>题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4C911962-7C88-194A-B2BD-C8690D3722CE}"/>
              </a:ext>
            </a:extLst>
          </p:cNvPr>
          <p:cNvSpPr/>
          <p:nvPr/>
        </p:nvSpPr>
        <p:spPr>
          <a:xfrm>
            <a:off x="9819865" y="4021073"/>
            <a:ext cx="670560" cy="600075"/>
          </a:xfrm>
          <a:custGeom>
            <a:avLst/>
            <a:gdLst/>
            <a:ahLst/>
            <a:cxnLst/>
            <a:rect l="l" t="t" r="r" b="b"/>
            <a:pathLst>
              <a:path w="670559" h="600075">
                <a:moveTo>
                  <a:pt x="536448" y="0"/>
                </a:moveTo>
                <a:lnTo>
                  <a:pt x="134112" y="0"/>
                </a:lnTo>
                <a:lnTo>
                  <a:pt x="134112" y="299846"/>
                </a:lnTo>
                <a:lnTo>
                  <a:pt x="0" y="299846"/>
                </a:lnTo>
                <a:lnTo>
                  <a:pt x="335279" y="599694"/>
                </a:lnTo>
                <a:lnTo>
                  <a:pt x="670559" y="299846"/>
                </a:lnTo>
                <a:lnTo>
                  <a:pt x="536448" y="299846"/>
                </a:lnTo>
                <a:lnTo>
                  <a:pt x="53644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2C2A3BE5-D46C-7348-AE8E-EE8C857771C1}"/>
              </a:ext>
            </a:extLst>
          </p:cNvPr>
          <p:cNvSpPr/>
          <p:nvPr/>
        </p:nvSpPr>
        <p:spPr>
          <a:xfrm>
            <a:off x="9096345" y="4720971"/>
            <a:ext cx="2117725" cy="975360"/>
          </a:xfrm>
          <a:custGeom>
            <a:avLst/>
            <a:gdLst/>
            <a:ahLst/>
            <a:cxnLst/>
            <a:rect l="l" t="t" r="r" b="b"/>
            <a:pathLst>
              <a:path w="2117725" h="975360">
                <a:moveTo>
                  <a:pt x="2020062" y="0"/>
                </a:moveTo>
                <a:lnTo>
                  <a:pt x="97536" y="0"/>
                </a:lnTo>
                <a:lnTo>
                  <a:pt x="59578" y="7667"/>
                </a:lnTo>
                <a:lnTo>
                  <a:pt x="28575" y="28574"/>
                </a:lnTo>
                <a:lnTo>
                  <a:pt x="7667" y="59578"/>
                </a:lnTo>
                <a:lnTo>
                  <a:pt x="0" y="97535"/>
                </a:lnTo>
                <a:lnTo>
                  <a:pt x="0" y="877823"/>
                </a:lnTo>
                <a:lnTo>
                  <a:pt x="7667" y="915791"/>
                </a:lnTo>
                <a:lnTo>
                  <a:pt x="28575" y="946794"/>
                </a:lnTo>
                <a:lnTo>
                  <a:pt x="59578" y="967695"/>
                </a:lnTo>
                <a:lnTo>
                  <a:pt x="97536" y="975359"/>
                </a:lnTo>
                <a:lnTo>
                  <a:pt x="2020062" y="975359"/>
                </a:lnTo>
                <a:lnTo>
                  <a:pt x="2058019" y="967695"/>
                </a:lnTo>
                <a:lnTo>
                  <a:pt x="2089023" y="946794"/>
                </a:lnTo>
                <a:lnTo>
                  <a:pt x="2109930" y="915791"/>
                </a:lnTo>
                <a:lnTo>
                  <a:pt x="2117598" y="877823"/>
                </a:lnTo>
                <a:lnTo>
                  <a:pt x="2117598" y="97535"/>
                </a:lnTo>
                <a:lnTo>
                  <a:pt x="2109930" y="59578"/>
                </a:lnTo>
                <a:lnTo>
                  <a:pt x="2089023" y="28574"/>
                </a:lnTo>
                <a:lnTo>
                  <a:pt x="2058019" y="7667"/>
                </a:lnTo>
                <a:lnTo>
                  <a:pt x="2020062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D2B732A5-1823-5B48-AA2A-8F9984610EE8}"/>
              </a:ext>
            </a:extLst>
          </p:cNvPr>
          <p:cNvSpPr txBox="1"/>
          <p:nvPr/>
        </p:nvSpPr>
        <p:spPr>
          <a:xfrm>
            <a:off x="9317453" y="4939791"/>
            <a:ext cx="167513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35">
                <a:solidFill>
                  <a:srgbClr val="FFC000"/>
                </a:solidFill>
                <a:latin typeface="宋体"/>
                <a:cs typeface="宋体"/>
              </a:rPr>
              <a:t>合并</a:t>
            </a:r>
            <a:r>
              <a:rPr sz="2600" spc="-35">
                <a:solidFill>
                  <a:srgbClr val="FFFFFF"/>
                </a:solidFill>
                <a:latin typeface="宋体"/>
                <a:cs typeface="宋体"/>
              </a:rPr>
              <a:t>问题</a:t>
            </a:r>
            <a:r>
              <a:rPr sz="2600" spc="-50">
                <a:solidFill>
                  <a:srgbClr val="FFFFFF"/>
                </a:solidFill>
                <a:latin typeface="宋体"/>
                <a:cs typeface="宋体"/>
              </a:rPr>
              <a:t>解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22" name="object 3">
            <a:extLst>
              <a:ext uri="{FF2B5EF4-FFF2-40B4-BE49-F238E27FC236}">
                <a16:creationId xmlns:a16="http://schemas.microsoft.com/office/drawing/2014/main" id="{841F7E66-F10D-5D4C-AB35-2B1ED7A1E5EF}"/>
              </a:ext>
            </a:extLst>
          </p:cNvPr>
          <p:cNvSpPr/>
          <p:nvPr/>
        </p:nvSpPr>
        <p:spPr>
          <a:xfrm>
            <a:off x="9096345" y="1183766"/>
            <a:ext cx="2117725" cy="976630"/>
          </a:xfrm>
          <a:custGeom>
            <a:avLst/>
            <a:gdLst/>
            <a:ahLst/>
            <a:cxnLst/>
            <a:rect l="l" t="t" r="r" b="b"/>
            <a:pathLst>
              <a:path w="2117725" h="976630">
                <a:moveTo>
                  <a:pt x="2019935" y="0"/>
                </a:moveTo>
                <a:lnTo>
                  <a:pt x="97663" y="0"/>
                </a:lnTo>
                <a:lnTo>
                  <a:pt x="59632" y="7669"/>
                </a:lnTo>
                <a:lnTo>
                  <a:pt x="28590" y="28590"/>
                </a:lnTo>
                <a:lnTo>
                  <a:pt x="7669" y="59632"/>
                </a:lnTo>
                <a:lnTo>
                  <a:pt x="0" y="97662"/>
                </a:lnTo>
                <a:lnTo>
                  <a:pt x="0" y="878459"/>
                </a:lnTo>
                <a:lnTo>
                  <a:pt x="7669" y="916489"/>
                </a:lnTo>
                <a:lnTo>
                  <a:pt x="28590" y="947531"/>
                </a:lnTo>
                <a:lnTo>
                  <a:pt x="59632" y="968452"/>
                </a:lnTo>
                <a:lnTo>
                  <a:pt x="97663" y="976122"/>
                </a:lnTo>
                <a:lnTo>
                  <a:pt x="2019935" y="976122"/>
                </a:lnTo>
                <a:lnTo>
                  <a:pt x="2057965" y="968452"/>
                </a:lnTo>
                <a:lnTo>
                  <a:pt x="2089007" y="947531"/>
                </a:lnTo>
                <a:lnTo>
                  <a:pt x="2109928" y="916489"/>
                </a:lnTo>
                <a:lnTo>
                  <a:pt x="2117598" y="878459"/>
                </a:lnTo>
                <a:lnTo>
                  <a:pt x="2117598" y="97662"/>
                </a:lnTo>
                <a:lnTo>
                  <a:pt x="2109928" y="59632"/>
                </a:lnTo>
                <a:lnTo>
                  <a:pt x="2089007" y="28590"/>
                </a:lnTo>
                <a:lnTo>
                  <a:pt x="2057965" y="7669"/>
                </a:lnTo>
                <a:lnTo>
                  <a:pt x="2019935" y="0"/>
                </a:lnTo>
                <a:close/>
              </a:path>
            </a:pathLst>
          </a:custGeom>
          <a:solidFill>
            <a:srgbClr val="25ADEF"/>
          </a:solidFill>
        </p:spPr>
        <p:txBody>
          <a:bodyPr wrap="square" lIns="0" tIns="0" rIns="0" bIns="0" rtlCol="0"/>
          <a:lstStyle/>
          <a:p>
            <a:pPr marL="111760" marR="0" lvl="0" indent="0" defTabSz="914400" eaLnBrk="1" fontAlgn="auto" latinLnBrk="0" hangingPunct="1">
              <a:lnSpc>
                <a:spcPct val="100000"/>
              </a:lnSpc>
              <a:spcBef>
                <a:spcPts val="198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0" i="0" u="none" strike="noStrike" kern="0" cap="none" spc="-35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宋体"/>
                <a:cs typeface="宋体"/>
              </a:rPr>
              <a:t> 分解</a:t>
            </a:r>
            <a:r>
              <a:rPr kumimoji="0" lang="zh-CN" altLang="en-US" sz="26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/>
                <a:cs typeface="宋体"/>
              </a:rPr>
              <a:t>原问</a:t>
            </a:r>
            <a:r>
              <a:rPr kumimoji="0" lang="zh-CN" altLang="en-US" sz="260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/>
                <a:cs typeface="宋体"/>
              </a:rPr>
              <a:t>题</a:t>
            </a:r>
            <a:endParaRPr kumimoji="0" lang="zh-CN" altLang="en-US" sz="2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宋体"/>
              <a:cs typeface="宋体"/>
            </a:endParaRPr>
          </a:p>
          <a:p>
            <a:endParaRPr dirty="0"/>
          </a:p>
        </p:txBody>
      </p:sp>
      <p:sp>
        <p:nvSpPr>
          <p:cNvPr id="29" name="object 11">
            <a:extLst>
              <a:ext uri="{FF2B5EF4-FFF2-40B4-BE49-F238E27FC236}">
                <a16:creationId xmlns:a16="http://schemas.microsoft.com/office/drawing/2014/main" id="{B41656C0-FBC4-3548-91D2-B019D6963AD4}"/>
              </a:ext>
            </a:extLst>
          </p:cNvPr>
          <p:cNvSpPr/>
          <p:nvPr/>
        </p:nvSpPr>
        <p:spPr>
          <a:xfrm>
            <a:off x="1867662" y="1675383"/>
            <a:ext cx="5884545" cy="2963545"/>
          </a:xfrm>
          <a:custGeom>
            <a:avLst/>
            <a:gdLst/>
            <a:ahLst/>
            <a:cxnLst/>
            <a:rect l="l" t="t" r="r" b="b"/>
            <a:pathLst>
              <a:path w="5884545" h="2963545">
                <a:moveTo>
                  <a:pt x="2946349" y="2925813"/>
                </a:moveTo>
                <a:lnTo>
                  <a:pt x="2851531" y="2851150"/>
                </a:lnTo>
                <a:lnTo>
                  <a:pt x="2843822" y="2888462"/>
                </a:lnTo>
                <a:lnTo>
                  <a:pt x="7620" y="2304161"/>
                </a:lnTo>
                <a:lnTo>
                  <a:pt x="0" y="2341499"/>
                </a:lnTo>
                <a:lnTo>
                  <a:pt x="2836113" y="2925813"/>
                </a:lnTo>
                <a:lnTo>
                  <a:pt x="2855493" y="2925813"/>
                </a:lnTo>
                <a:lnTo>
                  <a:pt x="2946349" y="2925813"/>
                </a:lnTo>
                <a:close/>
              </a:path>
              <a:path w="5884545" h="2963545">
                <a:moveTo>
                  <a:pt x="2951861" y="2930144"/>
                </a:moveTo>
                <a:lnTo>
                  <a:pt x="2951213" y="2929636"/>
                </a:lnTo>
                <a:lnTo>
                  <a:pt x="2854706" y="2929636"/>
                </a:lnTo>
                <a:lnTo>
                  <a:pt x="2835325" y="2929636"/>
                </a:lnTo>
                <a:lnTo>
                  <a:pt x="2828417" y="2963164"/>
                </a:lnTo>
                <a:lnTo>
                  <a:pt x="2951861" y="2930144"/>
                </a:lnTo>
                <a:close/>
              </a:path>
              <a:path w="5884545" h="2963545">
                <a:moveTo>
                  <a:pt x="5879846" y="687705"/>
                </a:moveTo>
                <a:lnTo>
                  <a:pt x="5876747" y="685165"/>
                </a:lnTo>
                <a:lnTo>
                  <a:pt x="5781167" y="606552"/>
                </a:lnTo>
                <a:lnTo>
                  <a:pt x="5772658" y="643724"/>
                </a:lnTo>
                <a:lnTo>
                  <a:pt x="2956179" y="0"/>
                </a:lnTo>
                <a:lnTo>
                  <a:pt x="2951950" y="18681"/>
                </a:lnTo>
                <a:lnTo>
                  <a:pt x="2947670" y="0"/>
                </a:lnTo>
                <a:lnTo>
                  <a:pt x="110972" y="648042"/>
                </a:lnTo>
                <a:lnTo>
                  <a:pt x="102489" y="610997"/>
                </a:lnTo>
                <a:lnTo>
                  <a:pt x="3810" y="692150"/>
                </a:lnTo>
                <a:lnTo>
                  <a:pt x="128016" y="722376"/>
                </a:lnTo>
                <a:lnTo>
                  <a:pt x="120472" y="689483"/>
                </a:lnTo>
                <a:lnTo>
                  <a:pt x="119494" y="685253"/>
                </a:lnTo>
                <a:lnTo>
                  <a:pt x="2951975" y="38049"/>
                </a:lnTo>
                <a:lnTo>
                  <a:pt x="5764136" y="680897"/>
                </a:lnTo>
                <a:lnTo>
                  <a:pt x="5755640" y="718058"/>
                </a:lnTo>
                <a:lnTo>
                  <a:pt x="5879846" y="687705"/>
                </a:lnTo>
                <a:close/>
              </a:path>
              <a:path w="5884545" h="2963545">
                <a:moveTo>
                  <a:pt x="5884164" y="2269744"/>
                </a:moveTo>
                <a:lnTo>
                  <a:pt x="5875528" y="2232660"/>
                </a:lnTo>
                <a:lnTo>
                  <a:pt x="3058998" y="2886113"/>
                </a:lnTo>
                <a:lnTo>
                  <a:pt x="3050413" y="2848991"/>
                </a:lnTo>
                <a:lnTo>
                  <a:pt x="2951988" y="2930525"/>
                </a:lnTo>
                <a:lnTo>
                  <a:pt x="3076194" y="2960370"/>
                </a:lnTo>
                <a:lnTo>
                  <a:pt x="3068574" y="2927477"/>
                </a:lnTo>
                <a:lnTo>
                  <a:pt x="3067570" y="2923171"/>
                </a:lnTo>
                <a:lnTo>
                  <a:pt x="5884164" y="22697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0" name="object 13">
            <a:extLst>
              <a:ext uri="{FF2B5EF4-FFF2-40B4-BE49-F238E27FC236}">
                <a16:creationId xmlns:a16="http://schemas.microsoft.com/office/drawing/2014/main" id="{9A45E076-3E61-D546-ADE6-EFA97BB68342}"/>
              </a:ext>
            </a:extLst>
          </p:cNvPr>
          <p:cNvGraphicFramePr>
            <a:graphicFrameLocks noGrp="1"/>
          </p:cNvGraphicFramePr>
          <p:nvPr/>
        </p:nvGraphicFramePr>
        <p:xfrm>
          <a:off x="700595" y="2348864"/>
          <a:ext cx="2303779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object 14">
            <a:extLst>
              <a:ext uri="{FF2B5EF4-FFF2-40B4-BE49-F238E27FC236}">
                <a16:creationId xmlns:a16="http://schemas.microsoft.com/office/drawing/2014/main" id="{8E1F088F-2528-6541-8B48-F29ACFF3B6AC}"/>
              </a:ext>
            </a:extLst>
          </p:cNvPr>
          <p:cNvGraphicFramePr>
            <a:graphicFrameLocks noGrp="1"/>
          </p:cNvGraphicFramePr>
          <p:nvPr/>
        </p:nvGraphicFramePr>
        <p:xfrm>
          <a:off x="6576568" y="2344420"/>
          <a:ext cx="2303779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object 15">
            <a:extLst>
              <a:ext uri="{FF2B5EF4-FFF2-40B4-BE49-F238E27FC236}">
                <a16:creationId xmlns:a16="http://schemas.microsoft.com/office/drawing/2014/main" id="{35641339-CF2F-F644-8E3D-902F54B44C12}"/>
              </a:ext>
            </a:extLst>
          </p:cNvPr>
          <p:cNvGraphicFramePr>
            <a:graphicFrameLocks noGrp="1"/>
          </p:cNvGraphicFramePr>
          <p:nvPr/>
        </p:nvGraphicFramePr>
        <p:xfrm>
          <a:off x="2496566" y="4586478"/>
          <a:ext cx="4607558" cy="577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72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object 16">
            <a:extLst>
              <a:ext uri="{FF2B5EF4-FFF2-40B4-BE49-F238E27FC236}">
                <a16:creationId xmlns:a16="http://schemas.microsoft.com/office/drawing/2014/main" id="{9890D544-A77B-3C47-995F-9CE75037EAC1}"/>
              </a:ext>
            </a:extLst>
          </p:cNvPr>
          <p:cNvGraphicFramePr>
            <a:graphicFrameLocks noGrp="1"/>
          </p:cNvGraphicFramePr>
          <p:nvPr/>
        </p:nvGraphicFramePr>
        <p:xfrm>
          <a:off x="700595" y="3401948"/>
          <a:ext cx="2303779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object 17">
            <a:extLst>
              <a:ext uri="{FF2B5EF4-FFF2-40B4-BE49-F238E27FC236}">
                <a16:creationId xmlns:a16="http://schemas.microsoft.com/office/drawing/2014/main" id="{4E6D8E2B-A9EF-9F4E-A47E-441C4923FBBF}"/>
              </a:ext>
            </a:extLst>
          </p:cNvPr>
          <p:cNvGraphicFramePr>
            <a:graphicFrameLocks noGrp="1"/>
          </p:cNvGraphicFramePr>
          <p:nvPr/>
        </p:nvGraphicFramePr>
        <p:xfrm>
          <a:off x="6576568" y="3330066"/>
          <a:ext cx="2303779" cy="577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721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" name="object 18">
            <a:extLst>
              <a:ext uri="{FF2B5EF4-FFF2-40B4-BE49-F238E27FC236}">
                <a16:creationId xmlns:a16="http://schemas.microsoft.com/office/drawing/2014/main" id="{8F4A746F-A9D8-B346-87B2-4B5F74EEC383}"/>
              </a:ext>
            </a:extLst>
          </p:cNvPr>
          <p:cNvSpPr/>
          <p:nvPr/>
        </p:nvSpPr>
        <p:spPr>
          <a:xfrm>
            <a:off x="1814322" y="2945129"/>
            <a:ext cx="114300" cy="476250"/>
          </a:xfrm>
          <a:custGeom>
            <a:avLst/>
            <a:gdLst/>
            <a:ahLst/>
            <a:cxnLst/>
            <a:rect l="l" t="t" r="r" b="b"/>
            <a:pathLst>
              <a:path w="114300" h="476250">
                <a:moveTo>
                  <a:pt x="38100" y="361696"/>
                </a:moveTo>
                <a:lnTo>
                  <a:pt x="0" y="361696"/>
                </a:lnTo>
                <a:lnTo>
                  <a:pt x="57150" y="475996"/>
                </a:lnTo>
                <a:lnTo>
                  <a:pt x="104775" y="380746"/>
                </a:lnTo>
                <a:lnTo>
                  <a:pt x="38100" y="380746"/>
                </a:lnTo>
                <a:lnTo>
                  <a:pt x="38100" y="361696"/>
                </a:lnTo>
                <a:close/>
              </a:path>
              <a:path w="114300" h="476250">
                <a:moveTo>
                  <a:pt x="76200" y="0"/>
                </a:moveTo>
                <a:lnTo>
                  <a:pt x="38100" y="0"/>
                </a:lnTo>
                <a:lnTo>
                  <a:pt x="38100" y="380746"/>
                </a:lnTo>
                <a:lnTo>
                  <a:pt x="76200" y="380746"/>
                </a:lnTo>
                <a:lnTo>
                  <a:pt x="76200" y="0"/>
                </a:lnTo>
                <a:close/>
              </a:path>
              <a:path w="114300" h="476250">
                <a:moveTo>
                  <a:pt x="114300" y="361696"/>
                </a:moveTo>
                <a:lnTo>
                  <a:pt x="76200" y="361696"/>
                </a:lnTo>
                <a:lnTo>
                  <a:pt x="76200" y="380746"/>
                </a:lnTo>
                <a:lnTo>
                  <a:pt x="104775" y="380746"/>
                </a:lnTo>
                <a:lnTo>
                  <a:pt x="114300" y="3616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9">
            <a:extLst>
              <a:ext uri="{FF2B5EF4-FFF2-40B4-BE49-F238E27FC236}">
                <a16:creationId xmlns:a16="http://schemas.microsoft.com/office/drawing/2014/main" id="{53BCA594-DE1B-8341-B8EA-758867FD0017}"/>
              </a:ext>
            </a:extLst>
          </p:cNvPr>
          <p:cNvSpPr/>
          <p:nvPr/>
        </p:nvSpPr>
        <p:spPr>
          <a:xfrm>
            <a:off x="7690866" y="2940557"/>
            <a:ext cx="114300" cy="408940"/>
          </a:xfrm>
          <a:custGeom>
            <a:avLst/>
            <a:gdLst/>
            <a:ahLst/>
            <a:cxnLst/>
            <a:rect l="l" t="t" r="r" b="b"/>
            <a:pathLst>
              <a:path w="114300" h="408939">
                <a:moveTo>
                  <a:pt x="38100" y="294131"/>
                </a:moveTo>
                <a:lnTo>
                  <a:pt x="0" y="294131"/>
                </a:lnTo>
                <a:lnTo>
                  <a:pt x="57150" y="408431"/>
                </a:lnTo>
                <a:lnTo>
                  <a:pt x="104775" y="313181"/>
                </a:lnTo>
                <a:lnTo>
                  <a:pt x="38100" y="313181"/>
                </a:lnTo>
                <a:lnTo>
                  <a:pt x="38100" y="294131"/>
                </a:lnTo>
                <a:close/>
              </a:path>
              <a:path w="114300" h="408939">
                <a:moveTo>
                  <a:pt x="76200" y="0"/>
                </a:moveTo>
                <a:lnTo>
                  <a:pt x="38100" y="0"/>
                </a:lnTo>
                <a:lnTo>
                  <a:pt x="38100" y="313181"/>
                </a:lnTo>
                <a:lnTo>
                  <a:pt x="76200" y="313181"/>
                </a:lnTo>
                <a:lnTo>
                  <a:pt x="76200" y="0"/>
                </a:lnTo>
                <a:close/>
              </a:path>
              <a:path w="114300" h="408939">
                <a:moveTo>
                  <a:pt x="114300" y="294131"/>
                </a:moveTo>
                <a:lnTo>
                  <a:pt x="76200" y="294131"/>
                </a:lnTo>
                <a:lnTo>
                  <a:pt x="76200" y="313181"/>
                </a:lnTo>
                <a:lnTo>
                  <a:pt x="104775" y="313181"/>
                </a:lnTo>
                <a:lnTo>
                  <a:pt x="114300" y="2941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7" name="object 21">
            <a:extLst>
              <a:ext uri="{FF2B5EF4-FFF2-40B4-BE49-F238E27FC236}">
                <a16:creationId xmlns:a16="http://schemas.microsoft.com/office/drawing/2014/main" id="{5C5DEB7B-BB36-2447-9079-E936274F9104}"/>
              </a:ext>
            </a:extLst>
          </p:cNvPr>
          <p:cNvGrpSpPr/>
          <p:nvPr/>
        </p:nvGrpSpPr>
        <p:grpSpPr>
          <a:xfrm>
            <a:off x="3061589" y="2354452"/>
            <a:ext cx="3405504" cy="2053589"/>
            <a:chOff x="3061589" y="2354452"/>
            <a:chExt cx="3405504" cy="2053589"/>
          </a:xfrm>
        </p:grpSpPr>
        <p:sp>
          <p:nvSpPr>
            <p:cNvPr id="38" name="object 22">
              <a:extLst>
                <a:ext uri="{FF2B5EF4-FFF2-40B4-BE49-F238E27FC236}">
                  <a16:creationId xmlns:a16="http://schemas.microsoft.com/office/drawing/2014/main" id="{02445501-F358-CE48-ADDF-352ECACB930B}"/>
                </a:ext>
              </a:extLst>
            </p:cNvPr>
            <p:cNvSpPr/>
            <p:nvPr/>
          </p:nvSpPr>
          <p:spPr>
            <a:xfrm>
              <a:off x="3080639" y="4075917"/>
              <a:ext cx="3367404" cy="313690"/>
            </a:xfrm>
            <a:custGeom>
              <a:avLst/>
              <a:gdLst/>
              <a:ahLst/>
              <a:cxnLst/>
              <a:rect l="l" t="t" r="r" b="b"/>
              <a:pathLst>
                <a:path w="3367404" h="313689">
                  <a:moveTo>
                    <a:pt x="0" y="309011"/>
                  </a:moveTo>
                  <a:lnTo>
                    <a:pt x="32555" y="279527"/>
                  </a:lnTo>
                  <a:lnTo>
                    <a:pt x="74404" y="251136"/>
                  </a:lnTo>
                  <a:lnTo>
                    <a:pt x="125094" y="223906"/>
                  </a:lnTo>
                  <a:lnTo>
                    <a:pt x="184173" y="197902"/>
                  </a:lnTo>
                  <a:lnTo>
                    <a:pt x="251188" y="173191"/>
                  </a:lnTo>
                  <a:lnTo>
                    <a:pt x="287530" y="161342"/>
                  </a:lnTo>
                  <a:lnTo>
                    <a:pt x="325687" y="149841"/>
                  </a:lnTo>
                  <a:lnTo>
                    <a:pt x="365602" y="138697"/>
                  </a:lnTo>
                  <a:lnTo>
                    <a:pt x="407218" y="127919"/>
                  </a:lnTo>
                  <a:lnTo>
                    <a:pt x="450479" y="117513"/>
                  </a:lnTo>
                  <a:lnTo>
                    <a:pt x="495329" y="107490"/>
                  </a:lnTo>
                  <a:lnTo>
                    <a:pt x="541711" y="97857"/>
                  </a:lnTo>
                  <a:lnTo>
                    <a:pt x="589568" y="88622"/>
                  </a:lnTo>
                  <a:lnTo>
                    <a:pt x="638843" y="79794"/>
                  </a:lnTo>
                  <a:lnTo>
                    <a:pt x="689482" y="71382"/>
                  </a:lnTo>
                  <a:lnTo>
                    <a:pt x="741425" y="63393"/>
                  </a:lnTo>
                  <a:lnTo>
                    <a:pt x="794619" y="55836"/>
                  </a:lnTo>
                  <a:lnTo>
                    <a:pt x="849005" y="48720"/>
                  </a:lnTo>
                  <a:lnTo>
                    <a:pt x="904527" y="42052"/>
                  </a:lnTo>
                  <a:lnTo>
                    <a:pt x="961129" y="35841"/>
                  </a:lnTo>
                  <a:lnTo>
                    <a:pt x="1018754" y="30096"/>
                  </a:lnTo>
                  <a:lnTo>
                    <a:pt x="1077345" y="24824"/>
                  </a:lnTo>
                  <a:lnTo>
                    <a:pt x="1136847" y="20034"/>
                  </a:lnTo>
                  <a:lnTo>
                    <a:pt x="1197202" y="15735"/>
                  </a:lnTo>
                  <a:lnTo>
                    <a:pt x="1258355" y="11935"/>
                  </a:lnTo>
                  <a:lnTo>
                    <a:pt x="1320248" y="8642"/>
                  </a:lnTo>
                  <a:lnTo>
                    <a:pt x="1382825" y="5864"/>
                  </a:lnTo>
                  <a:lnTo>
                    <a:pt x="1446029" y="3610"/>
                  </a:lnTo>
                  <a:lnTo>
                    <a:pt x="1509804" y="1888"/>
                  </a:lnTo>
                  <a:lnTo>
                    <a:pt x="1574094" y="707"/>
                  </a:lnTo>
                  <a:lnTo>
                    <a:pt x="1638842" y="75"/>
                  </a:lnTo>
                  <a:lnTo>
                    <a:pt x="1703991" y="0"/>
                  </a:lnTo>
                  <a:lnTo>
                    <a:pt x="1769484" y="490"/>
                  </a:lnTo>
                  <a:lnTo>
                    <a:pt x="1835267" y="1555"/>
                  </a:lnTo>
                  <a:lnTo>
                    <a:pt x="1901280" y="3201"/>
                  </a:lnTo>
                  <a:lnTo>
                    <a:pt x="1967470" y="5439"/>
                  </a:lnTo>
                  <a:lnTo>
                    <a:pt x="2033777" y="8275"/>
                  </a:lnTo>
                  <a:lnTo>
                    <a:pt x="2105462" y="12025"/>
                  </a:lnTo>
                  <a:lnTo>
                    <a:pt x="2175937" y="16435"/>
                  </a:lnTo>
                  <a:lnTo>
                    <a:pt x="2245135" y="21489"/>
                  </a:lnTo>
                  <a:lnTo>
                    <a:pt x="2312992" y="27172"/>
                  </a:lnTo>
                  <a:lnTo>
                    <a:pt x="2379441" y="33469"/>
                  </a:lnTo>
                  <a:lnTo>
                    <a:pt x="2444416" y="40365"/>
                  </a:lnTo>
                  <a:lnTo>
                    <a:pt x="2507851" y="47846"/>
                  </a:lnTo>
                  <a:lnTo>
                    <a:pt x="2569680" y="55895"/>
                  </a:lnTo>
                  <a:lnTo>
                    <a:pt x="2629837" y="64497"/>
                  </a:lnTo>
                  <a:lnTo>
                    <a:pt x="2688256" y="73639"/>
                  </a:lnTo>
                  <a:lnTo>
                    <a:pt x="2744872" y="83304"/>
                  </a:lnTo>
                  <a:lnTo>
                    <a:pt x="2799617" y="93477"/>
                  </a:lnTo>
                  <a:lnTo>
                    <a:pt x="2852427" y="104144"/>
                  </a:lnTo>
                  <a:lnTo>
                    <a:pt x="2903235" y="115289"/>
                  </a:lnTo>
                  <a:lnTo>
                    <a:pt x="2951976" y="126897"/>
                  </a:lnTo>
                  <a:lnTo>
                    <a:pt x="2998582" y="138953"/>
                  </a:lnTo>
                  <a:lnTo>
                    <a:pt x="3042989" y="151442"/>
                  </a:lnTo>
                  <a:lnTo>
                    <a:pt x="3085130" y="164348"/>
                  </a:lnTo>
                  <a:lnTo>
                    <a:pt x="3124939" y="177658"/>
                  </a:lnTo>
                  <a:lnTo>
                    <a:pt x="3162350" y="191355"/>
                  </a:lnTo>
                  <a:lnTo>
                    <a:pt x="3229716" y="219852"/>
                  </a:lnTo>
                  <a:lnTo>
                    <a:pt x="3286699" y="249718"/>
                  </a:lnTo>
                  <a:lnTo>
                    <a:pt x="3332771" y="280833"/>
                  </a:lnTo>
                  <a:lnTo>
                    <a:pt x="3351551" y="296821"/>
                  </a:lnTo>
                  <a:lnTo>
                    <a:pt x="3367405" y="313075"/>
                  </a:lnTo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23">
              <a:extLst>
                <a:ext uri="{FF2B5EF4-FFF2-40B4-BE49-F238E27FC236}">
                  <a16:creationId xmlns:a16="http://schemas.microsoft.com/office/drawing/2014/main" id="{A620D93B-B2E2-8647-BF76-FD5516C14C23}"/>
                </a:ext>
              </a:extLst>
            </p:cNvPr>
            <p:cNvSpPr/>
            <p:nvPr/>
          </p:nvSpPr>
          <p:spPr>
            <a:xfrm>
              <a:off x="3409289" y="2354452"/>
              <a:ext cx="2829560" cy="1646555"/>
            </a:xfrm>
            <a:custGeom>
              <a:avLst/>
              <a:gdLst/>
              <a:ahLst/>
              <a:cxnLst/>
              <a:rect l="l" t="t" r="r" b="b"/>
              <a:pathLst>
                <a:path w="2829560" h="1646554">
                  <a:moveTo>
                    <a:pt x="921029" y="1467739"/>
                  </a:moveTo>
                  <a:lnTo>
                    <a:pt x="865454" y="1452765"/>
                  </a:lnTo>
                  <a:lnTo>
                    <a:pt x="811428" y="1436268"/>
                  </a:lnTo>
                  <a:lnTo>
                    <a:pt x="759040" y="1418272"/>
                  </a:lnTo>
                  <a:lnTo>
                    <a:pt x="708367" y="1398841"/>
                  </a:lnTo>
                  <a:lnTo>
                    <a:pt x="659511" y="1378000"/>
                  </a:lnTo>
                  <a:lnTo>
                    <a:pt x="612559" y="1355801"/>
                  </a:lnTo>
                  <a:lnTo>
                    <a:pt x="567588" y="1332280"/>
                  </a:lnTo>
                  <a:lnTo>
                    <a:pt x="524700" y="1307477"/>
                  </a:lnTo>
                  <a:lnTo>
                    <a:pt x="483971" y="1281442"/>
                  </a:lnTo>
                  <a:lnTo>
                    <a:pt x="445490" y="1254201"/>
                  </a:lnTo>
                  <a:lnTo>
                    <a:pt x="409346" y="1225816"/>
                  </a:lnTo>
                  <a:lnTo>
                    <a:pt x="373900" y="1194777"/>
                  </a:lnTo>
                  <a:lnTo>
                    <a:pt x="341706" y="1163078"/>
                  </a:lnTo>
                  <a:lnTo>
                    <a:pt x="312724" y="1130782"/>
                  </a:lnTo>
                  <a:lnTo>
                    <a:pt x="286943" y="1097965"/>
                  </a:lnTo>
                  <a:lnTo>
                    <a:pt x="264350" y="1064679"/>
                  </a:lnTo>
                  <a:lnTo>
                    <a:pt x="244906" y="1030986"/>
                  </a:lnTo>
                  <a:lnTo>
                    <a:pt x="215392" y="962698"/>
                  </a:lnTo>
                  <a:lnTo>
                    <a:pt x="198247" y="893622"/>
                  </a:lnTo>
                  <a:lnTo>
                    <a:pt x="193294" y="824293"/>
                  </a:lnTo>
                  <a:lnTo>
                    <a:pt x="195326" y="789711"/>
                  </a:lnTo>
                  <a:lnTo>
                    <a:pt x="208330" y="721017"/>
                  </a:lnTo>
                  <a:lnTo>
                    <a:pt x="233095" y="653427"/>
                  </a:lnTo>
                  <a:lnTo>
                    <a:pt x="269443" y="587463"/>
                  </a:lnTo>
                  <a:lnTo>
                    <a:pt x="291909" y="555256"/>
                  </a:lnTo>
                  <a:lnTo>
                    <a:pt x="317195" y="523659"/>
                  </a:lnTo>
                  <a:lnTo>
                    <a:pt x="345300" y="492734"/>
                  </a:lnTo>
                  <a:lnTo>
                    <a:pt x="376199" y="462559"/>
                  </a:lnTo>
                  <a:lnTo>
                    <a:pt x="409854" y="433197"/>
                  </a:lnTo>
                  <a:lnTo>
                    <a:pt x="446265" y="404698"/>
                  </a:lnTo>
                  <a:lnTo>
                    <a:pt x="485394" y="377151"/>
                  </a:lnTo>
                  <a:lnTo>
                    <a:pt x="527215" y="350621"/>
                  </a:lnTo>
                  <a:lnTo>
                    <a:pt x="571728" y="325158"/>
                  </a:lnTo>
                  <a:lnTo>
                    <a:pt x="618896" y="300837"/>
                  </a:lnTo>
                  <a:lnTo>
                    <a:pt x="668705" y="277736"/>
                  </a:lnTo>
                  <a:lnTo>
                    <a:pt x="721131" y="255905"/>
                  </a:lnTo>
                  <a:lnTo>
                    <a:pt x="799236" y="356870"/>
                  </a:lnTo>
                  <a:lnTo>
                    <a:pt x="857783" y="110363"/>
                  </a:lnTo>
                  <a:lnTo>
                    <a:pt x="523265" y="0"/>
                  </a:lnTo>
                  <a:lnTo>
                    <a:pt x="601370" y="101092"/>
                  </a:lnTo>
                  <a:lnTo>
                    <a:pt x="548906" y="125488"/>
                  </a:lnTo>
                  <a:lnTo>
                    <a:pt x="498411" y="151295"/>
                  </a:lnTo>
                  <a:lnTo>
                    <a:pt x="449935" y="178485"/>
                  </a:lnTo>
                  <a:lnTo>
                    <a:pt x="403555" y="206997"/>
                  </a:lnTo>
                  <a:lnTo>
                    <a:pt x="359321" y="236804"/>
                  </a:lnTo>
                  <a:lnTo>
                    <a:pt x="317309" y="267830"/>
                  </a:lnTo>
                  <a:lnTo>
                    <a:pt x="277583" y="300050"/>
                  </a:lnTo>
                  <a:lnTo>
                    <a:pt x="240207" y="333400"/>
                  </a:lnTo>
                  <a:lnTo>
                    <a:pt x="205270" y="367842"/>
                  </a:lnTo>
                  <a:lnTo>
                    <a:pt x="172796" y="403326"/>
                  </a:lnTo>
                  <a:lnTo>
                    <a:pt x="142900" y="439801"/>
                  </a:lnTo>
                  <a:lnTo>
                    <a:pt x="116535" y="475856"/>
                  </a:lnTo>
                  <a:lnTo>
                    <a:pt x="92938" y="512254"/>
                  </a:lnTo>
                  <a:lnTo>
                    <a:pt x="72059" y="548944"/>
                  </a:lnTo>
                  <a:lnTo>
                    <a:pt x="53886" y="585901"/>
                  </a:lnTo>
                  <a:lnTo>
                    <a:pt x="38379" y="623062"/>
                  </a:lnTo>
                  <a:lnTo>
                    <a:pt x="25514" y="660374"/>
                  </a:lnTo>
                  <a:lnTo>
                    <a:pt x="15278" y="697788"/>
                  </a:lnTo>
                  <a:lnTo>
                    <a:pt x="7632" y="735266"/>
                  </a:lnTo>
                  <a:lnTo>
                    <a:pt x="25" y="810221"/>
                  </a:lnTo>
                  <a:lnTo>
                    <a:pt x="0" y="847585"/>
                  </a:lnTo>
                  <a:lnTo>
                    <a:pt x="2463" y="884821"/>
                  </a:lnTo>
                  <a:lnTo>
                    <a:pt x="14757" y="958697"/>
                  </a:lnTo>
                  <a:lnTo>
                    <a:pt x="36677" y="1031468"/>
                  </a:lnTo>
                  <a:lnTo>
                    <a:pt x="51181" y="1067308"/>
                  </a:lnTo>
                  <a:lnTo>
                    <a:pt x="68021" y="1102728"/>
                  </a:lnTo>
                  <a:lnTo>
                    <a:pt x="87147" y="1137666"/>
                  </a:lnTo>
                  <a:lnTo>
                    <a:pt x="108559" y="1172095"/>
                  </a:lnTo>
                  <a:lnTo>
                    <a:pt x="132219" y="1205941"/>
                  </a:lnTo>
                  <a:lnTo>
                    <a:pt x="158115" y="1239177"/>
                  </a:lnTo>
                  <a:lnTo>
                    <a:pt x="186194" y="1271752"/>
                  </a:lnTo>
                  <a:lnTo>
                    <a:pt x="216433" y="1303604"/>
                  </a:lnTo>
                  <a:lnTo>
                    <a:pt x="248831" y="1334693"/>
                  </a:lnTo>
                  <a:lnTo>
                    <a:pt x="283337" y="1364983"/>
                  </a:lnTo>
                  <a:lnTo>
                    <a:pt x="319938" y="1394409"/>
                  </a:lnTo>
                  <a:lnTo>
                    <a:pt x="358597" y="1422920"/>
                  </a:lnTo>
                  <a:lnTo>
                    <a:pt x="399300" y="1450467"/>
                  </a:lnTo>
                  <a:lnTo>
                    <a:pt x="442010" y="1477022"/>
                  </a:lnTo>
                  <a:lnTo>
                    <a:pt x="486702" y="1502524"/>
                  </a:lnTo>
                  <a:lnTo>
                    <a:pt x="533349" y="1526921"/>
                  </a:lnTo>
                  <a:lnTo>
                    <a:pt x="581926" y="1550162"/>
                  </a:lnTo>
                  <a:lnTo>
                    <a:pt x="632421" y="1572221"/>
                  </a:lnTo>
                  <a:lnTo>
                    <a:pt x="684784" y="1593011"/>
                  </a:lnTo>
                  <a:lnTo>
                    <a:pt x="739000" y="1612519"/>
                  </a:lnTo>
                  <a:lnTo>
                    <a:pt x="795045" y="1630680"/>
                  </a:lnTo>
                  <a:lnTo>
                    <a:pt x="921029" y="1467739"/>
                  </a:lnTo>
                  <a:close/>
                </a:path>
                <a:path w="2829560" h="1646554">
                  <a:moveTo>
                    <a:pt x="2829306" y="821575"/>
                  </a:moveTo>
                  <a:lnTo>
                    <a:pt x="2827477" y="783323"/>
                  </a:lnTo>
                  <a:lnTo>
                    <a:pt x="2823197" y="745236"/>
                  </a:lnTo>
                  <a:lnTo>
                    <a:pt x="2816491" y="707377"/>
                  </a:lnTo>
                  <a:lnTo>
                    <a:pt x="2807398" y="669798"/>
                  </a:lnTo>
                  <a:lnTo>
                    <a:pt x="2795917" y="632548"/>
                  </a:lnTo>
                  <a:lnTo>
                    <a:pt x="2782087" y="595680"/>
                  </a:lnTo>
                  <a:lnTo>
                    <a:pt x="2765933" y="559244"/>
                  </a:lnTo>
                  <a:lnTo>
                    <a:pt x="2747480" y="523303"/>
                  </a:lnTo>
                  <a:lnTo>
                    <a:pt x="2726753" y="487908"/>
                  </a:lnTo>
                  <a:lnTo>
                    <a:pt x="2703779" y="453110"/>
                  </a:lnTo>
                  <a:lnTo>
                    <a:pt x="2678582" y="418947"/>
                  </a:lnTo>
                  <a:lnTo>
                    <a:pt x="2651188" y="385495"/>
                  </a:lnTo>
                  <a:lnTo>
                    <a:pt x="2621623" y="352793"/>
                  </a:lnTo>
                  <a:lnTo>
                    <a:pt x="2589911" y="320903"/>
                  </a:lnTo>
                  <a:lnTo>
                    <a:pt x="2556065" y="289864"/>
                  </a:lnTo>
                  <a:lnTo>
                    <a:pt x="2520137" y="259740"/>
                  </a:lnTo>
                  <a:lnTo>
                    <a:pt x="2482138" y="230593"/>
                  </a:lnTo>
                  <a:lnTo>
                    <a:pt x="2442083" y="202450"/>
                  </a:lnTo>
                  <a:lnTo>
                    <a:pt x="2400008" y="175387"/>
                  </a:lnTo>
                  <a:lnTo>
                    <a:pt x="2355939" y="149453"/>
                  </a:lnTo>
                  <a:lnTo>
                    <a:pt x="2309901" y="124688"/>
                  </a:lnTo>
                  <a:lnTo>
                    <a:pt x="2261920" y="101155"/>
                  </a:lnTo>
                  <a:lnTo>
                    <a:pt x="2212022" y="78917"/>
                  </a:lnTo>
                  <a:lnTo>
                    <a:pt x="2160232" y="58000"/>
                  </a:lnTo>
                  <a:lnTo>
                    <a:pt x="2106574" y="38481"/>
                  </a:lnTo>
                  <a:lnTo>
                    <a:pt x="1981987" y="199517"/>
                  </a:lnTo>
                  <a:lnTo>
                    <a:pt x="2032457" y="215049"/>
                  </a:lnTo>
                  <a:lnTo>
                    <a:pt x="2081504" y="232041"/>
                  </a:lnTo>
                  <a:lnTo>
                    <a:pt x="2129028" y="250444"/>
                  </a:lnTo>
                  <a:lnTo>
                    <a:pt x="2174951" y="270243"/>
                  </a:lnTo>
                  <a:lnTo>
                    <a:pt x="2219198" y="291376"/>
                  </a:lnTo>
                  <a:lnTo>
                    <a:pt x="2261692" y="313817"/>
                  </a:lnTo>
                  <a:lnTo>
                    <a:pt x="2302357" y="337515"/>
                  </a:lnTo>
                  <a:lnTo>
                    <a:pt x="2341092" y="362445"/>
                  </a:lnTo>
                  <a:lnTo>
                    <a:pt x="2377846" y="388556"/>
                  </a:lnTo>
                  <a:lnTo>
                    <a:pt x="2412517" y="415798"/>
                  </a:lnTo>
                  <a:lnTo>
                    <a:pt x="2449538" y="448284"/>
                  </a:lnTo>
                  <a:lnTo>
                    <a:pt x="2483142" y="481596"/>
                  </a:lnTo>
                  <a:lnTo>
                    <a:pt x="2513355" y="515632"/>
                  </a:lnTo>
                  <a:lnTo>
                    <a:pt x="2540190" y="550341"/>
                  </a:lnTo>
                  <a:lnTo>
                    <a:pt x="2563660" y="585622"/>
                  </a:lnTo>
                  <a:lnTo>
                    <a:pt x="2583789" y="621398"/>
                  </a:lnTo>
                  <a:lnTo>
                    <a:pt x="2600617" y="657580"/>
                  </a:lnTo>
                  <a:lnTo>
                    <a:pt x="2614130" y="694093"/>
                  </a:lnTo>
                  <a:lnTo>
                    <a:pt x="2624366" y="730846"/>
                  </a:lnTo>
                  <a:lnTo>
                    <a:pt x="2635110" y="804773"/>
                  </a:lnTo>
                  <a:lnTo>
                    <a:pt x="2635643" y="841781"/>
                  </a:lnTo>
                  <a:lnTo>
                    <a:pt x="2632976" y="878700"/>
                  </a:lnTo>
                  <a:lnTo>
                    <a:pt x="2618143" y="951953"/>
                  </a:lnTo>
                  <a:lnTo>
                    <a:pt x="2606002" y="988136"/>
                  </a:lnTo>
                  <a:lnTo>
                    <a:pt x="2590762" y="1023899"/>
                  </a:lnTo>
                  <a:lnTo>
                    <a:pt x="2572423" y="1059167"/>
                  </a:lnTo>
                  <a:lnTo>
                    <a:pt x="2551011" y="1093863"/>
                  </a:lnTo>
                  <a:lnTo>
                    <a:pt x="2526538" y="1127899"/>
                  </a:lnTo>
                  <a:lnTo>
                    <a:pt x="2499029" y="1161186"/>
                  </a:lnTo>
                  <a:lnTo>
                    <a:pt x="2468524" y="1193647"/>
                  </a:lnTo>
                  <a:lnTo>
                    <a:pt x="2435009" y="1225207"/>
                  </a:lnTo>
                  <a:lnTo>
                    <a:pt x="2398522" y="1255776"/>
                  </a:lnTo>
                  <a:lnTo>
                    <a:pt x="2359088" y="1285278"/>
                  </a:lnTo>
                  <a:lnTo>
                    <a:pt x="2316721" y="1313624"/>
                  </a:lnTo>
                  <a:lnTo>
                    <a:pt x="2271445" y="1340726"/>
                  </a:lnTo>
                  <a:lnTo>
                    <a:pt x="2223274" y="1366520"/>
                  </a:lnTo>
                  <a:lnTo>
                    <a:pt x="2172233" y="1390904"/>
                  </a:lnTo>
                  <a:lnTo>
                    <a:pt x="2093620" y="1289304"/>
                  </a:lnTo>
                  <a:lnTo>
                    <a:pt x="2044471" y="1541145"/>
                  </a:lnTo>
                  <a:lnTo>
                    <a:pt x="2369718" y="1646174"/>
                  </a:lnTo>
                  <a:lnTo>
                    <a:pt x="2291105" y="1544447"/>
                  </a:lnTo>
                  <a:lnTo>
                    <a:pt x="2339073" y="1519478"/>
                  </a:lnTo>
                  <a:lnTo>
                    <a:pt x="2385199" y="1493126"/>
                  </a:lnTo>
                  <a:lnTo>
                    <a:pt x="2429421" y="1465453"/>
                  </a:lnTo>
                  <a:lnTo>
                    <a:pt x="2471661" y="1436484"/>
                  </a:lnTo>
                  <a:lnTo>
                    <a:pt x="2511869" y="1406296"/>
                  </a:lnTo>
                  <a:lnTo>
                    <a:pt x="2549995" y="1374914"/>
                  </a:lnTo>
                  <a:lnTo>
                    <a:pt x="2585961" y="1342402"/>
                  </a:lnTo>
                  <a:lnTo>
                    <a:pt x="2619718" y="1308798"/>
                  </a:lnTo>
                  <a:lnTo>
                    <a:pt x="2651201" y="1274152"/>
                  </a:lnTo>
                  <a:lnTo>
                    <a:pt x="2680360" y="1238516"/>
                  </a:lnTo>
                  <a:lnTo>
                    <a:pt x="2707170" y="1201864"/>
                  </a:lnTo>
                  <a:lnTo>
                    <a:pt x="2731249" y="1164818"/>
                  </a:lnTo>
                  <a:lnTo>
                    <a:pt x="2752623" y="1127404"/>
                  </a:lnTo>
                  <a:lnTo>
                    <a:pt x="2771317" y="1089685"/>
                  </a:lnTo>
                  <a:lnTo>
                    <a:pt x="2787358" y="1051725"/>
                  </a:lnTo>
                  <a:lnTo>
                    <a:pt x="2800769" y="1013548"/>
                  </a:lnTo>
                  <a:lnTo>
                    <a:pt x="2811589" y="975233"/>
                  </a:lnTo>
                  <a:lnTo>
                    <a:pt x="2819819" y="936828"/>
                  </a:lnTo>
                  <a:lnTo>
                    <a:pt x="2825496" y="898385"/>
                  </a:lnTo>
                  <a:lnTo>
                    <a:pt x="2828645" y="859942"/>
                  </a:lnTo>
                  <a:lnTo>
                    <a:pt x="2829306" y="821575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24">
            <a:extLst>
              <a:ext uri="{FF2B5EF4-FFF2-40B4-BE49-F238E27FC236}">
                <a16:creationId xmlns:a16="http://schemas.microsoft.com/office/drawing/2014/main" id="{5EB70C62-8B22-D741-A4E0-5C5AFF75D799}"/>
              </a:ext>
            </a:extLst>
          </p:cNvPr>
          <p:cNvSpPr txBox="1"/>
          <p:nvPr/>
        </p:nvSpPr>
        <p:spPr>
          <a:xfrm>
            <a:off x="4503165" y="3577082"/>
            <a:ext cx="7943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0">
                <a:solidFill>
                  <a:srgbClr val="FF0000"/>
                </a:solidFill>
                <a:latin typeface="Cambria Math"/>
                <a:cs typeface="Cambria Math"/>
              </a:rPr>
              <a:t>𝑶(𝟏)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1" name="object 25">
            <a:extLst>
              <a:ext uri="{FF2B5EF4-FFF2-40B4-BE49-F238E27FC236}">
                <a16:creationId xmlns:a16="http://schemas.microsoft.com/office/drawing/2014/main" id="{46364A54-F088-5844-B945-2A5F3DA243D6}"/>
              </a:ext>
            </a:extLst>
          </p:cNvPr>
          <p:cNvSpPr txBox="1"/>
          <p:nvPr/>
        </p:nvSpPr>
        <p:spPr>
          <a:xfrm>
            <a:off x="4495038" y="2327148"/>
            <a:ext cx="7912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>
                <a:solidFill>
                  <a:srgbClr val="FF0000"/>
                </a:solidFill>
                <a:latin typeface="Cambria Math"/>
                <a:cs typeface="Cambria Math"/>
              </a:rPr>
              <a:t>𝑶(?</a:t>
            </a:r>
            <a:r>
              <a:rPr sz="2800" spc="-13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800" spc="-50">
                <a:solidFill>
                  <a:srgbClr val="FF0000"/>
                </a:solidFill>
                <a:latin typeface="Cambria Math"/>
                <a:cs typeface="Cambria Math"/>
              </a:rPr>
              <a:t>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42" name="object 20">
            <a:extLst>
              <a:ext uri="{FF2B5EF4-FFF2-40B4-BE49-F238E27FC236}">
                <a16:creationId xmlns:a16="http://schemas.microsoft.com/office/drawing/2014/main" id="{D464965F-BD93-AE42-8C3E-D0C84A9145EB}"/>
              </a:ext>
            </a:extLst>
          </p:cNvPr>
          <p:cNvSpPr/>
          <p:nvPr/>
        </p:nvSpPr>
        <p:spPr>
          <a:xfrm>
            <a:off x="719327" y="5750736"/>
            <a:ext cx="8181340" cy="679450"/>
          </a:xfrm>
          <a:custGeom>
            <a:avLst/>
            <a:gdLst/>
            <a:ahLst/>
            <a:cxnLst/>
            <a:rect l="l" t="t" r="r" b="b"/>
            <a:pathLst>
              <a:path w="8181340" h="679450">
                <a:moveTo>
                  <a:pt x="8180832" y="0"/>
                </a:moveTo>
                <a:lnTo>
                  <a:pt x="0" y="0"/>
                </a:lnTo>
                <a:lnTo>
                  <a:pt x="0" y="678942"/>
                </a:lnTo>
                <a:lnTo>
                  <a:pt x="8180832" y="678942"/>
                </a:lnTo>
                <a:lnTo>
                  <a:pt x="8180832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6">
            <a:extLst>
              <a:ext uri="{FF2B5EF4-FFF2-40B4-BE49-F238E27FC236}">
                <a16:creationId xmlns:a16="http://schemas.microsoft.com/office/drawing/2014/main" id="{3330EE6F-2303-0740-B174-1B23B73ADF43}"/>
              </a:ext>
            </a:extLst>
          </p:cNvPr>
          <p:cNvSpPr txBox="1"/>
          <p:nvPr/>
        </p:nvSpPr>
        <p:spPr>
          <a:xfrm>
            <a:off x="2307082" y="5857610"/>
            <a:ext cx="5007610" cy="462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65"/>
              </a:lnSpc>
            </a:pPr>
            <a:r>
              <a:rPr sz="2800" spc="-5" dirty="0" err="1">
                <a:solidFill>
                  <a:srgbClr val="FFFFFF"/>
                </a:solidFill>
                <a:latin typeface="宋体"/>
                <a:cs typeface="宋体"/>
              </a:rPr>
              <a:t>快速排序：侧重分解，简化合并</a:t>
            </a:r>
            <a:endParaRPr sz="2800" dirty="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172469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C3536AF0-0F07-BE4E-A3A7-1F8B9009E4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5228" y="146917"/>
            <a:ext cx="641515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算法回顾：归并排</a:t>
            </a:r>
            <a:r>
              <a:rPr spc="-60" dirty="0" err="1">
                <a:latin typeface="SimSun" panose="02010600030101010101" pitchFamily="2" charset="-122"/>
                <a:ea typeface="SimSun" panose="02010600030101010101" pitchFamily="2" charset="-122"/>
              </a:rPr>
              <a:t>序</a:t>
            </a:r>
            <a:endParaRPr spc="-6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4FEFA0BC-769C-0846-9543-70A137DC012C}"/>
              </a:ext>
            </a:extLst>
          </p:cNvPr>
          <p:cNvGraphicFramePr>
            <a:graphicFrameLocks noGrp="1"/>
          </p:cNvGraphicFramePr>
          <p:nvPr/>
        </p:nvGraphicFramePr>
        <p:xfrm>
          <a:off x="2496566" y="928877"/>
          <a:ext cx="4606924" cy="1035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7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87960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2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5715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510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bject 7">
            <a:extLst>
              <a:ext uri="{FF2B5EF4-FFF2-40B4-BE49-F238E27FC236}">
                <a16:creationId xmlns:a16="http://schemas.microsoft.com/office/drawing/2014/main" id="{238E734F-29F0-6149-AD5B-04EE1C8D4740}"/>
              </a:ext>
            </a:extLst>
          </p:cNvPr>
          <p:cNvSpPr/>
          <p:nvPr/>
        </p:nvSpPr>
        <p:spPr>
          <a:xfrm>
            <a:off x="9096345" y="1183766"/>
            <a:ext cx="2117725" cy="976630"/>
          </a:xfrm>
          <a:custGeom>
            <a:avLst/>
            <a:gdLst/>
            <a:ahLst/>
            <a:cxnLst/>
            <a:rect l="l" t="t" r="r" b="b"/>
            <a:pathLst>
              <a:path w="2117725" h="976630">
                <a:moveTo>
                  <a:pt x="2019935" y="0"/>
                </a:moveTo>
                <a:lnTo>
                  <a:pt x="97663" y="0"/>
                </a:lnTo>
                <a:lnTo>
                  <a:pt x="59632" y="7669"/>
                </a:lnTo>
                <a:lnTo>
                  <a:pt x="28590" y="28590"/>
                </a:lnTo>
                <a:lnTo>
                  <a:pt x="7669" y="59632"/>
                </a:lnTo>
                <a:lnTo>
                  <a:pt x="0" y="97662"/>
                </a:lnTo>
                <a:lnTo>
                  <a:pt x="0" y="878459"/>
                </a:lnTo>
                <a:lnTo>
                  <a:pt x="7669" y="916489"/>
                </a:lnTo>
                <a:lnTo>
                  <a:pt x="28590" y="947531"/>
                </a:lnTo>
                <a:lnTo>
                  <a:pt x="59632" y="968452"/>
                </a:lnTo>
                <a:lnTo>
                  <a:pt x="97663" y="976122"/>
                </a:lnTo>
                <a:lnTo>
                  <a:pt x="2019935" y="976122"/>
                </a:lnTo>
                <a:lnTo>
                  <a:pt x="2057965" y="968452"/>
                </a:lnTo>
                <a:lnTo>
                  <a:pt x="2089007" y="947531"/>
                </a:lnTo>
                <a:lnTo>
                  <a:pt x="2109928" y="916489"/>
                </a:lnTo>
                <a:lnTo>
                  <a:pt x="2117598" y="878459"/>
                </a:lnTo>
                <a:lnTo>
                  <a:pt x="2117598" y="97662"/>
                </a:lnTo>
                <a:lnTo>
                  <a:pt x="2109928" y="59632"/>
                </a:lnTo>
                <a:lnTo>
                  <a:pt x="2089007" y="28590"/>
                </a:lnTo>
                <a:lnTo>
                  <a:pt x="2057965" y="7669"/>
                </a:lnTo>
                <a:lnTo>
                  <a:pt x="2019935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C34F63F1-52DF-0E4D-8BD3-2C29271E4D57}"/>
              </a:ext>
            </a:extLst>
          </p:cNvPr>
          <p:cNvSpPr/>
          <p:nvPr/>
        </p:nvSpPr>
        <p:spPr>
          <a:xfrm>
            <a:off x="9819865" y="2257805"/>
            <a:ext cx="670560" cy="589280"/>
          </a:xfrm>
          <a:custGeom>
            <a:avLst/>
            <a:gdLst/>
            <a:ahLst/>
            <a:cxnLst/>
            <a:rect l="l" t="t" r="r" b="b"/>
            <a:pathLst>
              <a:path w="670559" h="589280">
                <a:moveTo>
                  <a:pt x="536448" y="0"/>
                </a:moveTo>
                <a:lnTo>
                  <a:pt x="134112" y="0"/>
                </a:lnTo>
                <a:lnTo>
                  <a:pt x="134112" y="294513"/>
                </a:lnTo>
                <a:lnTo>
                  <a:pt x="0" y="294513"/>
                </a:lnTo>
                <a:lnTo>
                  <a:pt x="335279" y="589026"/>
                </a:lnTo>
                <a:lnTo>
                  <a:pt x="670559" y="294513"/>
                </a:lnTo>
                <a:lnTo>
                  <a:pt x="536448" y="294513"/>
                </a:lnTo>
                <a:lnTo>
                  <a:pt x="53644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D1F8F53E-BFDD-0547-B47E-134BAE69B02B}"/>
              </a:ext>
            </a:extLst>
          </p:cNvPr>
          <p:cNvSpPr/>
          <p:nvPr/>
        </p:nvSpPr>
        <p:spPr>
          <a:xfrm>
            <a:off x="9096345" y="2945510"/>
            <a:ext cx="2117725" cy="976630"/>
          </a:xfrm>
          <a:custGeom>
            <a:avLst/>
            <a:gdLst/>
            <a:ahLst/>
            <a:cxnLst/>
            <a:rect l="l" t="t" r="r" b="b"/>
            <a:pathLst>
              <a:path w="2117725" h="976628">
                <a:moveTo>
                  <a:pt x="2019935" y="0"/>
                </a:moveTo>
                <a:lnTo>
                  <a:pt x="97663" y="0"/>
                </a:lnTo>
                <a:lnTo>
                  <a:pt x="59632" y="7669"/>
                </a:lnTo>
                <a:lnTo>
                  <a:pt x="28590" y="28590"/>
                </a:lnTo>
                <a:lnTo>
                  <a:pt x="7669" y="59632"/>
                </a:lnTo>
                <a:lnTo>
                  <a:pt x="0" y="97662"/>
                </a:lnTo>
                <a:lnTo>
                  <a:pt x="0" y="878458"/>
                </a:lnTo>
                <a:lnTo>
                  <a:pt x="7669" y="916489"/>
                </a:lnTo>
                <a:lnTo>
                  <a:pt x="28590" y="947531"/>
                </a:lnTo>
                <a:lnTo>
                  <a:pt x="59632" y="968452"/>
                </a:lnTo>
                <a:lnTo>
                  <a:pt x="97663" y="976121"/>
                </a:lnTo>
                <a:lnTo>
                  <a:pt x="2019935" y="976121"/>
                </a:lnTo>
                <a:lnTo>
                  <a:pt x="2057965" y="968452"/>
                </a:lnTo>
                <a:lnTo>
                  <a:pt x="2089007" y="947531"/>
                </a:lnTo>
                <a:lnTo>
                  <a:pt x="2109928" y="916489"/>
                </a:lnTo>
                <a:lnTo>
                  <a:pt x="2117598" y="878458"/>
                </a:lnTo>
                <a:lnTo>
                  <a:pt x="2117598" y="97662"/>
                </a:lnTo>
                <a:lnTo>
                  <a:pt x="2109928" y="59632"/>
                </a:lnTo>
                <a:lnTo>
                  <a:pt x="2089007" y="28590"/>
                </a:lnTo>
                <a:lnTo>
                  <a:pt x="2057965" y="7669"/>
                </a:lnTo>
                <a:lnTo>
                  <a:pt x="2019935" y="0"/>
                </a:lnTo>
                <a:close/>
              </a:path>
            </a:pathLst>
          </a:custGeom>
          <a:solidFill>
            <a:srgbClr val="25AD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055419BF-C8E9-BD48-8635-435A1C6EAA85}"/>
              </a:ext>
            </a:extLst>
          </p:cNvPr>
          <p:cNvSpPr txBox="1"/>
          <p:nvPr/>
        </p:nvSpPr>
        <p:spPr>
          <a:xfrm>
            <a:off x="9317453" y="3164332"/>
            <a:ext cx="167513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35">
                <a:solidFill>
                  <a:srgbClr val="FFC000"/>
                </a:solidFill>
                <a:latin typeface="宋体"/>
                <a:cs typeface="宋体"/>
              </a:rPr>
              <a:t>解决</a:t>
            </a:r>
            <a:r>
              <a:rPr sz="2600" spc="-35">
                <a:solidFill>
                  <a:srgbClr val="FFFFFF"/>
                </a:solidFill>
                <a:latin typeface="宋体"/>
                <a:cs typeface="宋体"/>
              </a:rPr>
              <a:t>子问</a:t>
            </a:r>
            <a:r>
              <a:rPr sz="2600" spc="-50">
                <a:solidFill>
                  <a:srgbClr val="FFFFFF"/>
                </a:solidFill>
                <a:latin typeface="宋体"/>
                <a:cs typeface="宋体"/>
              </a:rPr>
              <a:t>题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4C911962-7C88-194A-B2BD-C8690D3722CE}"/>
              </a:ext>
            </a:extLst>
          </p:cNvPr>
          <p:cNvSpPr/>
          <p:nvPr/>
        </p:nvSpPr>
        <p:spPr>
          <a:xfrm>
            <a:off x="9819865" y="4021073"/>
            <a:ext cx="670560" cy="600075"/>
          </a:xfrm>
          <a:custGeom>
            <a:avLst/>
            <a:gdLst/>
            <a:ahLst/>
            <a:cxnLst/>
            <a:rect l="l" t="t" r="r" b="b"/>
            <a:pathLst>
              <a:path w="670559" h="600075">
                <a:moveTo>
                  <a:pt x="536448" y="0"/>
                </a:moveTo>
                <a:lnTo>
                  <a:pt x="134112" y="0"/>
                </a:lnTo>
                <a:lnTo>
                  <a:pt x="134112" y="299846"/>
                </a:lnTo>
                <a:lnTo>
                  <a:pt x="0" y="299846"/>
                </a:lnTo>
                <a:lnTo>
                  <a:pt x="335279" y="599694"/>
                </a:lnTo>
                <a:lnTo>
                  <a:pt x="670559" y="299846"/>
                </a:lnTo>
                <a:lnTo>
                  <a:pt x="536448" y="299846"/>
                </a:lnTo>
                <a:lnTo>
                  <a:pt x="53644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2C2A3BE5-D46C-7348-AE8E-EE8C857771C1}"/>
              </a:ext>
            </a:extLst>
          </p:cNvPr>
          <p:cNvSpPr/>
          <p:nvPr/>
        </p:nvSpPr>
        <p:spPr>
          <a:xfrm>
            <a:off x="9096345" y="4720971"/>
            <a:ext cx="2117725" cy="975360"/>
          </a:xfrm>
          <a:custGeom>
            <a:avLst/>
            <a:gdLst/>
            <a:ahLst/>
            <a:cxnLst/>
            <a:rect l="l" t="t" r="r" b="b"/>
            <a:pathLst>
              <a:path w="2117725" h="975360">
                <a:moveTo>
                  <a:pt x="2020062" y="0"/>
                </a:moveTo>
                <a:lnTo>
                  <a:pt x="97536" y="0"/>
                </a:lnTo>
                <a:lnTo>
                  <a:pt x="59578" y="7667"/>
                </a:lnTo>
                <a:lnTo>
                  <a:pt x="28575" y="28574"/>
                </a:lnTo>
                <a:lnTo>
                  <a:pt x="7667" y="59578"/>
                </a:lnTo>
                <a:lnTo>
                  <a:pt x="0" y="97535"/>
                </a:lnTo>
                <a:lnTo>
                  <a:pt x="0" y="877823"/>
                </a:lnTo>
                <a:lnTo>
                  <a:pt x="7667" y="915791"/>
                </a:lnTo>
                <a:lnTo>
                  <a:pt x="28575" y="946794"/>
                </a:lnTo>
                <a:lnTo>
                  <a:pt x="59578" y="967695"/>
                </a:lnTo>
                <a:lnTo>
                  <a:pt x="97536" y="975359"/>
                </a:lnTo>
                <a:lnTo>
                  <a:pt x="2020062" y="975359"/>
                </a:lnTo>
                <a:lnTo>
                  <a:pt x="2058019" y="967695"/>
                </a:lnTo>
                <a:lnTo>
                  <a:pt x="2089023" y="946794"/>
                </a:lnTo>
                <a:lnTo>
                  <a:pt x="2109930" y="915791"/>
                </a:lnTo>
                <a:lnTo>
                  <a:pt x="2117598" y="877823"/>
                </a:lnTo>
                <a:lnTo>
                  <a:pt x="2117598" y="97535"/>
                </a:lnTo>
                <a:lnTo>
                  <a:pt x="2109930" y="59578"/>
                </a:lnTo>
                <a:lnTo>
                  <a:pt x="2089023" y="28574"/>
                </a:lnTo>
                <a:lnTo>
                  <a:pt x="2058019" y="7667"/>
                </a:lnTo>
                <a:lnTo>
                  <a:pt x="2020062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D2B732A5-1823-5B48-AA2A-8F9984610EE8}"/>
              </a:ext>
            </a:extLst>
          </p:cNvPr>
          <p:cNvSpPr txBox="1"/>
          <p:nvPr/>
        </p:nvSpPr>
        <p:spPr>
          <a:xfrm>
            <a:off x="9317453" y="4939791"/>
            <a:ext cx="167513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35">
                <a:solidFill>
                  <a:srgbClr val="FFC000"/>
                </a:solidFill>
                <a:latin typeface="宋体"/>
                <a:cs typeface="宋体"/>
              </a:rPr>
              <a:t>合并</a:t>
            </a:r>
            <a:r>
              <a:rPr sz="2600" spc="-35">
                <a:solidFill>
                  <a:srgbClr val="FFFFFF"/>
                </a:solidFill>
                <a:latin typeface="宋体"/>
                <a:cs typeface="宋体"/>
              </a:rPr>
              <a:t>问题</a:t>
            </a:r>
            <a:r>
              <a:rPr sz="2600" spc="-50">
                <a:solidFill>
                  <a:srgbClr val="FFFFFF"/>
                </a:solidFill>
                <a:latin typeface="宋体"/>
                <a:cs typeface="宋体"/>
              </a:rPr>
              <a:t>解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22" name="object 3">
            <a:extLst>
              <a:ext uri="{FF2B5EF4-FFF2-40B4-BE49-F238E27FC236}">
                <a16:creationId xmlns:a16="http://schemas.microsoft.com/office/drawing/2014/main" id="{841F7E66-F10D-5D4C-AB35-2B1ED7A1E5EF}"/>
              </a:ext>
            </a:extLst>
          </p:cNvPr>
          <p:cNvSpPr/>
          <p:nvPr/>
        </p:nvSpPr>
        <p:spPr>
          <a:xfrm>
            <a:off x="9096345" y="1183766"/>
            <a:ext cx="2117725" cy="976630"/>
          </a:xfrm>
          <a:custGeom>
            <a:avLst/>
            <a:gdLst/>
            <a:ahLst/>
            <a:cxnLst/>
            <a:rect l="l" t="t" r="r" b="b"/>
            <a:pathLst>
              <a:path w="2117725" h="976630">
                <a:moveTo>
                  <a:pt x="2019935" y="0"/>
                </a:moveTo>
                <a:lnTo>
                  <a:pt x="97663" y="0"/>
                </a:lnTo>
                <a:lnTo>
                  <a:pt x="59632" y="7669"/>
                </a:lnTo>
                <a:lnTo>
                  <a:pt x="28590" y="28590"/>
                </a:lnTo>
                <a:lnTo>
                  <a:pt x="7669" y="59632"/>
                </a:lnTo>
                <a:lnTo>
                  <a:pt x="0" y="97662"/>
                </a:lnTo>
                <a:lnTo>
                  <a:pt x="0" y="878459"/>
                </a:lnTo>
                <a:lnTo>
                  <a:pt x="7669" y="916489"/>
                </a:lnTo>
                <a:lnTo>
                  <a:pt x="28590" y="947531"/>
                </a:lnTo>
                <a:lnTo>
                  <a:pt x="59632" y="968452"/>
                </a:lnTo>
                <a:lnTo>
                  <a:pt x="97663" y="976122"/>
                </a:lnTo>
                <a:lnTo>
                  <a:pt x="2019935" y="976122"/>
                </a:lnTo>
                <a:lnTo>
                  <a:pt x="2057965" y="968452"/>
                </a:lnTo>
                <a:lnTo>
                  <a:pt x="2089007" y="947531"/>
                </a:lnTo>
                <a:lnTo>
                  <a:pt x="2109928" y="916489"/>
                </a:lnTo>
                <a:lnTo>
                  <a:pt x="2117598" y="878459"/>
                </a:lnTo>
                <a:lnTo>
                  <a:pt x="2117598" y="97662"/>
                </a:lnTo>
                <a:lnTo>
                  <a:pt x="2109928" y="59632"/>
                </a:lnTo>
                <a:lnTo>
                  <a:pt x="2089007" y="28590"/>
                </a:lnTo>
                <a:lnTo>
                  <a:pt x="2057965" y="7669"/>
                </a:lnTo>
                <a:lnTo>
                  <a:pt x="2019935" y="0"/>
                </a:lnTo>
                <a:close/>
              </a:path>
            </a:pathLst>
          </a:custGeom>
          <a:solidFill>
            <a:srgbClr val="25ADEF"/>
          </a:solidFill>
        </p:spPr>
        <p:txBody>
          <a:bodyPr wrap="square" lIns="0" tIns="0" rIns="0" bIns="0" rtlCol="0"/>
          <a:lstStyle/>
          <a:p>
            <a:pPr marL="111760" marR="0" lvl="0" indent="0" defTabSz="914400" eaLnBrk="1" fontAlgn="auto" latinLnBrk="0" hangingPunct="1">
              <a:lnSpc>
                <a:spcPct val="100000"/>
              </a:lnSpc>
              <a:spcBef>
                <a:spcPts val="198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0" i="0" u="none" strike="noStrike" kern="0" cap="none" spc="-35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宋体"/>
                <a:cs typeface="宋体"/>
              </a:rPr>
              <a:t> 分解</a:t>
            </a:r>
            <a:r>
              <a:rPr kumimoji="0" lang="zh-CN" altLang="en-US" sz="26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/>
                <a:cs typeface="宋体"/>
              </a:rPr>
              <a:t>原问</a:t>
            </a:r>
            <a:r>
              <a:rPr kumimoji="0" lang="zh-CN" altLang="en-US" sz="260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/>
                <a:cs typeface="宋体"/>
              </a:rPr>
              <a:t>题</a:t>
            </a:r>
            <a:endParaRPr kumimoji="0" lang="zh-CN" altLang="en-US" sz="2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宋体"/>
              <a:cs typeface="宋体"/>
            </a:endParaRPr>
          </a:p>
          <a:p>
            <a:endParaRPr dirty="0"/>
          </a:p>
        </p:txBody>
      </p:sp>
      <p:sp>
        <p:nvSpPr>
          <p:cNvPr id="29" name="object 11">
            <a:extLst>
              <a:ext uri="{FF2B5EF4-FFF2-40B4-BE49-F238E27FC236}">
                <a16:creationId xmlns:a16="http://schemas.microsoft.com/office/drawing/2014/main" id="{B41656C0-FBC4-3548-91D2-B019D6963AD4}"/>
              </a:ext>
            </a:extLst>
          </p:cNvPr>
          <p:cNvSpPr/>
          <p:nvPr/>
        </p:nvSpPr>
        <p:spPr>
          <a:xfrm>
            <a:off x="1867662" y="1675383"/>
            <a:ext cx="5884545" cy="2963545"/>
          </a:xfrm>
          <a:custGeom>
            <a:avLst/>
            <a:gdLst/>
            <a:ahLst/>
            <a:cxnLst/>
            <a:rect l="l" t="t" r="r" b="b"/>
            <a:pathLst>
              <a:path w="5884545" h="2963545">
                <a:moveTo>
                  <a:pt x="2946349" y="2925813"/>
                </a:moveTo>
                <a:lnTo>
                  <a:pt x="2851531" y="2851150"/>
                </a:lnTo>
                <a:lnTo>
                  <a:pt x="2843822" y="2888462"/>
                </a:lnTo>
                <a:lnTo>
                  <a:pt x="7620" y="2304161"/>
                </a:lnTo>
                <a:lnTo>
                  <a:pt x="0" y="2341499"/>
                </a:lnTo>
                <a:lnTo>
                  <a:pt x="2836113" y="2925813"/>
                </a:lnTo>
                <a:lnTo>
                  <a:pt x="2855493" y="2925813"/>
                </a:lnTo>
                <a:lnTo>
                  <a:pt x="2946349" y="2925813"/>
                </a:lnTo>
                <a:close/>
              </a:path>
              <a:path w="5884545" h="2963545">
                <a:moveTo>
                  <a:pt x="2951861" y="2930144"/>
                </a:moveTo>
                <a:lnTo>
                  <a:pt x="2951213" y="2929636"/>
                </a:lnTo>
                <a:lnTo>
                  <a:pt x="2854706" y="2929636"/>
                </a:lnTo>
                <a:lnTo>
                  <a:pt x="2835325" y="2929636"/>
                </a:lnTo>
                <a:lnTo>
                  <a:pt x="2828417" y="2963164"/>
                </a:lnTo>
                <a:lnTo>
                  <a:pt x="2951861" y="2930144"/>
                </a:lnTo>
                <a:close/>
              </a:path>
              <a:path w="5884545" h="2963545">
                <a:moveTo>
                  <a:pt x="5879846" y="687705"/>
                </a:moveTo>
                <a:lnTo>
                  <a:pt x="5876747" y="685165"/>
                </a:lnTo>
                <a:lnTo>
                  <a:pt x="5781167" y="606552"/>
                </a:lnTo>
                <a:lnTo>
                  <a:pt x="5772658" y="643724"/>
                </a:lnTo>
                <a:lnTo>
                  <a:pt x="2956179" y="0"/>
                </a:lnTo>
                <a:lnTo>
                  <a:pt x="2951950" y="18681"/>
                </a:lnTo>
                <a:lnTo>
                  <a:pt x="2947670" y="0"/>
                </a:lnTo>
                <a:lnTo>
                  <a:pt x="110972" y="648042"/>
                </a:lnTo>
                <a:lnTo>
                  <a:pt x="102489" y="610997"/>
                </a:lnTo>
                <a:lnTo>
                  <a:pt x="3810" y="692150"/>
                </a:lnTo>
                <a:lnTo>
                  <a:pt x="128016" y="722376"/>
                </a:lnTo>
                <a:lnTo>
                  <a:pt x="120472" y="689483"/>
                </a:lnTo>
                <a:lnTo>
                  <a:pt x="119494" y="685253"/>
                </a:lnTo>
                <a:lnTo>
                  <a:pt x="2951975" y="38049"/>
                </a:lnTo>
                <a:lnTo>
                  <a:pt x="5764136" y="680897"/>
                </a:lnTo>
                <a:lnTo>
                  <a:pt x="5755640" y="718058"/>
                </a:lnTo>
                <a:lnTo>
                  <a:pt x="5879846" y="687705"/>
                </a:lnTo>
                <a:close/>
              </a:path>
              <a:path w="5884545" h="2963545">
                <a:moveTo>
                  <a:pt x="5884164" y="2269744"/>
                </a:moveTo>
                <a:lnTo>
                  <a:pt x="5875528" y="2232660"/>
                </a:lnTo>
                <a:lnTo>
                  <a:pt x="3058998" y="2886113"/>
                </a:lnTo>
                <a:lnTo>
                  <a:pt x="3050413" y="2848991"/>
                </a:lnTo>
                <a:lnTo>
                  <a:pt x="2951988" y="2930525"/>
                </a:lnTo>
                <a:lnTo>
                  <a:pt x="3076194" y="2960370"/>
                </a:lnTo>
                <a:lnTo>
                  <a:pt x="3068574" y="2927477"/>
                </a:lnTo>
                <a:lnTo>
                  <a:pt x="3067570" y="2923171"/>
                </a:lnTo>
                <a:lnTo>
                  <a:pt x="5884164" y="22697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0" name="object 13">
            <a:extLst>
              <a:ext uri="{FF2B5EF4-FFF2-40B4-BE49-F238E27FC236}">
                <a16:creationId xmlns:a16="http://schemas.microsoft.com/office/drawing/2014/main" id="{9A45E076-3E61-D546-ADE6-EFA97BB68342}"/>
              </a:ext>
            </a:extLst>
          </p:cNvPr>
          <p:cNvGraphicFramePr>
            <a:graphicFrameLocks noGrp="1"/>
          </p:cNvGraphicFramePr>
          <p:nvPr/>
        </p:nvGraphicFramePr>
        <p:xfrm>
          <a:off x="700595" y="2348864"/>
          <a:ext cx="2303779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object 14">
            <a:extLst>
              <a:ext uri="{FF2B5EF4-FFF2-40B4-BE49-F238E27FC236}">
                <a16:creationId xmlns:a16="http://schemas.microsoft.com/office/drawing/2014/main" id="{8E1F088F-2528-6541-8B48-F29ACFF3B6AC}"/>
              </a:ext>
            </a:extLst>
          </p:cNvPr>
          <p:cNvGraphicFramePr>
            <a:graphicFrameLocks noGrp="1"/>
          </p:cNvGraphicFramePr>
          <p:nvPr/>
        </p:nvGraphicFramePr>
        <p:xfrm>
          <a:off x="6576568" y="2344420"/>
          <a:ext cx="2303779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object 15">
            <a:extLst>
              <a:ext uri="{FF2B5EF4-FFF2-40B4-BE49-F238E27FC236}">
                <a16:creationId xmlns:a16="http://schemas.microsoft.com/office/drawing/2014/main" id="{35641339-CF2F-F644-8E3D-902F54B44C12}"/>
              </a:ext>
            </a:extLst>
          </p:cNvPr>
          <p:cNvGraphicFramePr>
            <a:graphicFrameLocks noGrp="1"/>
          </p:cNvGraphicFramePr>
          <p:nvPr/>
        </p:nvGraphicFramePr>
        <p:xfrm>
          <a:off x="2496566" y="4586478"/>
          <a:ext cx="4607558" cy="577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72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object 16">
            <a:extLst>
              <a:ext uri="{FF2B5EF4-FFF2-40B4-BE49-F238E27FC236}">
                <a16:creationId xmlns:a16="http://schemas.microsoft.com/office/drawing/2014/main" id="{9890D544-A77B-3C47-995F-9CE75037EAC1}"/>
              </a:ext>
            </a:extLst>
          </p:cNvPr>
          <p:cNvGraphicFramePr>
            <a:graphicFrameLocks noGrp="1"/>
          </p:cNvGraphicFramePr>
          <p:nvPr/>
        </p:nvGraphicFramePr>
        <p:xfrm>
          <a:off x="700595" y="3401948"/>
          <a:ext cx="2303779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object 17">
            <a:extLst>
              <a:ext uri="{FF2B5EF4-FFF2-40B4-BE49-F238E27FC236}">
                <a16:creationId xmlns:a16="http://schemas.microsoft.com/office/drawing/2014/main" id="{4E6D8E2B-A9EF-9F4E-A47E-441C4923FBBF}"/>
              </a:ext>
            </a:extLst>
          </p:cNvPr>
          <p:cNvGraphicFramePr>
            <a:graphicFrameLocks noGrp="1"/>
          </p:cNvGraphicFramePr>
          <p:nvPr/>
        </p:nvGraphicFramePr>
        <p:xfrm>
          <a:off x="6576568" y="3330066"/>
          <a:ext cx="2303779" cy="577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721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" name="object 18">
            <a:extLst>
              <a:ext uri="{FF2B5EF4-FFF2-40B4-BE49-F238E27FC236}">
                <a16:creationId xmlns:a16="http://schemas.microsoft.com/office/drawing/2014/main" id="{8F4A746F-A9D8-B346-87B2-4B5F74EEC383}"/>
              </a:ext>
            </a:extLst>
          </p:cNvPr>
          <p:cNvSpPr/>
          <p:nvPr/>
        </p:nvSpPr>
        <p:spPr>
          <a:xfrm>
            <a:off x="1814322" y="2945129"/>
            <a:ext cx="114300" cy="476250"/>
          </a:xfrm>
          <a:custGeom>
            <a:avLst/>
            <a:gdLst/>
            <a:ahLst/>
            <a:cxnLst/>
            <a:rect l="l" t="t" r="r" b="b"/>
            <a:pathLst>
              <a:path w="114300" h="476250">
                <a:moveTo>
                  <a:pt x="38100" y="361696"/>
                </a:moveTo>
                <a:lnTo>
                  <a:pt x="0" y="361696"/>
                </a:lnTo>
                <a:lnTo>
                  <a:pt x="57150" y="475996"/>
                </a:lnTo>
                <a:lnTo>
                  <a:pt x="104775" y="380746"/>
                </a:lnTo>
                <a:lnTo>
                  <a:pt x="38100" y="380746"/>
                </a:lnTo>
                <a:lnTo>
                  <a:pt x="38100" y="361696"/>
                </a:lnTo>
                <a:close/>
              </a:path>
              <a:path w="114300" h="476250">
                <a:moveTo>
                  <a:pt x="76200" y="0"/>
                </a:moveTo>
                <a:lnTo>
                  <a:pt x="38100" y="0"/>
                </a:lnTo>
                <a:lnTo>
                  <a:pt x="38100" y="380746"/>
                </a:lnTo>
                <a:lnTo>
                  <a:pt x="76200" y="380746"/>
                </a:lnTo>
                <a:lnTo>
                  <a:pt x="76200" y="0"/>
                </a:lnTo>
                <a:close/>
              </a:path>
              <a:path w="114300" h="476250">
                <a:moveTo>
                  <a:pt x="114300" y="361696"/>
                </a:moveTo>
                <a:lnTo>
                  <a:pt x="76200" y="361696"/>
                </a:lnTo>
                <a:lnTo>
                  <a:pt x="76200" y="380746"/>
                </a:lnTo>
                <a:lnTo>
                  <a:pt x="104775" y="380746"/>
                </a:lnTo>
                <a:lnTo>
                  <a:pt x="114300" y="3616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9">
            <a:extLst>
              <a:ext uri="{FF2B5EF4-FFF2-40B4-BE49-F238E27FC236}">
                <a16:creationId xmlns:a16="http://schemas.microsoft.com/office/drawing/2014/main" id="{53BCA594-DE1B-8341-B8EA-758867FD0017}"/>
              </a:ext>
            </a:extLst>
          </p:cNvPr>
          <p:cNvSpPr/>
          <p:nvPr/>
        </p:nvSpPr>
        <p:spPr>
          <a:xfrm>
            <a:off x="7690866" y="2940557"/>
            <a:ext cx="114300" cy="408940"/>
          </a:xfrm>
          <a:custGeom>
            <a:avLst/>
            <a:gdLst/>
            <a:ahLst/>
            <a:cxnLst/>
            <a:rect l="l" t="t" r="r" b="b"/>
            <a:pathLst>
              <a:path w="114300" h="408939">
                <a:moveTo>
                  <a:pt x="38100" y="294131"/>
                </a:moveTo>
                <a:lnTo>
                  <a:pt x="0" y="294131"/>
                </a:lnTo>
                <a:lnTo>
                  <a:pt x="57150" y="408431"/>
                </a:lnTo>
                <a:lnTo>
                  <a:pt x="104775" y="313181"/>
                </a:lnTo>
                <a:lnTo>
                  <a:pt x="38100" y="313181"/>
                </a:lnTo>
                <a:lnTo>
                  <a:pt x="38100" y="294131"/>
                </a:lnTo>
                <a:close/>
              </a:path>
              <a:path w="114300" h="408939">
                <a:moveTo>
                  <a:pt x="76200" y="0"/>
                </a:moveTo>
                <a:lnTo>
                  <a:pt x="38100" y="0"/>
                </a:lnTo>
                <a:lnTo>
                  <a:pt x="38100" y="313181"/>
                </a:lnTo>
                <a:lnTo>
                  <a:pt x="76200" y="313181"/>
                </a:lnTo>
                <a:lnTo>
                  <a:pt x="76200" y="0"/>
                </a:lnTo>
                <a:close/>
              </a:path>
              <a:path w="114300" h="408939">
                <a:moveTo>
                  <a:pt x="114300" y="294131"/>
                </a:moveTo>
                <a:lnTo>
                  <a:pt x="76200" y="294131"/>
                </a:lnTo>
                <a:lnTo>
                  <a:pt x="76200" y="313181"/>
                </a:lnTo>
                <a:lnTo>
                  <a:pt x="104775" y="313181"/>
                </a:lnTo>
                <a:lnTo>
                  <a:pt x="114300" y="2941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0">
            <a:extLst>
              <a:ext uri="{FF2B5EF4-FFF2-40B4-BE49-F238E27FC236}">
                <a16:creationId xmlns:a16="http://schemas.microsoft.com/office/drawing/2014/main" id="{D464965F-BD93-AE42-8C3E-D0C84A9145EB}"/>
              </a:ext>
            </a:extLst>
          </p:cNvPr>
          <p:cNvSpPr/>
          <p:nvPr/>
        </p:nvSpPr>
        <p:spPr>
          <a:xfrm>
            <a:off x="719327" y="5750736"/>
            <a:ext cx="8181340" cy="679450"/>
          </a:xfrm>
          <a:custGeom>
            <a:avLst/>
            <a:gdLst/>
            <a:ahLst/>
            <a:cxnLst/>
            <a:rect l="l" t="t" r="r" b="b"/>
            <a:pathLst>
              <a:path w="8181340" h="679450">
                <a:moveTo>
                  <a:pt x="8180832" y="0"/>
                </a:moveTo>
                <a:lnTo>
                  <a:pt x="0" y="0"/>
                </a:lnTo>
                <a:lnTo>
                  <a:pt x="0" y="678942"/>
                </a:lnTo>
                <a:lnTo>
                  <a:pt x="8180832" y="678942"/>
                </a:lnTo>
                <a:lnTo>
                  <a:pt x="8180832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6">
            <a:extLst>
              <a:ext uri="{FF2B5EF4-FFF2-40B4-BE49-F238E27FC236}">
                <a16:creationId xmlns:a16="http://schemas.microsoft.com/office/drawing/2014/main" id="{3330EE6F-2303-0740-B174-1B23B73ADF43}"/>
              </a:ext>
            </a:extLst>
          </p:cNvPr>
          <p:cNvSpPr txBox="1"/>
          <p:nvPr/>
        </p:nvSpPr>
        <p:spPr>
          <a:xfrm>
            <a:off x="2307082" y="5857610"/>
            <a:ext cx="5007610" cy="462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65"/>
              </a:lnSpc>
            </a:pPr>
            <a:r>
              <a:rPr sz="2800" spc="-5" dirty="0" err="1">
                <a:solidFill>
                  <a:srgbClr val="FFFFFF"/>
                </a:solidFill>
                <a:latin typeface="宋体"/>
                <a:cs typeface="宋体"/>
              </a:rPr>
              <a:t>快速排序：侧重分解，简化合并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27" name="object 21">
            <a:extLst>
              <a:ext uri="{FF2B5EF4-FFF2-40B4-BE49-F238E27FC236}">
                <a16:creationId xmlns:a16="http://schemas.microsoft.com/office/drawing/2014/main" id="{12CFF71C-D19A-0F46-ACBF-AFD7B971EF6A}"/>
              </a:ext>
            </a:extLst>
          </p:cNvPr>
          <p:cNvSpPr txBox="1"/>
          <p:nvPr/>
        </p:nvSpPr>
        <p:spPr>
          <a:xfrm>
            <a:off x="3345941" y="2294382"/>
            <a:ext cx="2927985" cy="718185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100965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795"/>
              </a:spcBef>
            </a:pPr>
            <a:r>
              <a:rPr sz="2800" spc="-20">
                <a:latin typeface="宋体"/>
                <a:cs typeface="宋体"/>
              </a:rPr>
              <a:t>问题：如何分解？</a:t>
            </a:r>
            <a:endParaRPr sz="280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875947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96DA5638-1663-8A4E-985D-81B10CCF078A}"/>
              </a:ext>
            </a:extLst>
          </p:cNvPr>
          <p:cNvSpPr txBox="1"/>
          <p:nvPr/>
        </p:nvSpPr>
        <p:spPr>
          <a:xfrm>
            <a:off x="795216" y="1102926"/>
            <a:ext cx="8788171" cy="1004761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宋体"/>
                <a:cs typeface="宋体"/>
              </a:rPr>
              <a:t>基本思想</a:t>
            </a:r>
            <a:endParaRPr sz="28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8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任选元素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dirty="0" err="1">
                <a:latin typeface="宋体"/>
                <a:cs typeface="宋体"/>
              </a:rPr>
              <a:t>作为分界线，称为</a:t>
            </a:r>
            <a:r>
              <a:rPr sz="2400" spc="-25" dirty="0" err="1">
                <a:solidFill>
                  <a:srgbClr val="FF0000"/>
                </a:solidFill>
                <a:latin typeface="宋体"/>
                <a:cs typeface="宋体"/>
              </a:rPr>
              <a:t>主元</a:t>
            </a:r>
            <a:r>
              <a:rPr sz="2400" spc="-25" dirty="0">
                <a:solidFill>
                  <a:srgbClr val="FF0000"/>
                </a:solidFill>
                <a:latin typeface="宋体"/>
                <a:cs typeface="宋体"/>
              </a:rPr>
              <a:t>(</a:t>
            </a:r>
            <a:r>
              <a:rPr sz="2400" b="1" spc="-75" dirty="0">
                <a:solidFill>
                  <a:srgbClr val="FF0000"/>
                </a:solidFill>
                <a:latin typeface="Times New Roman"/>
                <a:cs typeface="Times New Roman"/>
              </a:rPr>
              <a:t>pivot</a:t>
            </a:r>
            <a:r>
              <a:rPr sz="2400" spc="-75" dirty="0">
                <a:solidFill>
                  <a:srgbClr val="FF0000"/>
                </a:solidFill>
                <a:latin typeface="宋体"/>
                <a:cs typeface="宋体"/>
              </a:rPr>
              <a:t>)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7665D0A3-6C0F-A941-843F-8FDAD20817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09582" y="171829"/>
            <a:ext cx="444307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数组划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分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14" name="object 4">
            <a:extLst>
              <a:ext uri="{FF2B5EF4-FFF2-40B4-BE49-F238E27FC236}">
                <a16:creationId xmlns:a16="http://schemas.microsoft.com/office/drawing/2014/main" id="{55BFB26E-918D-9246-93B5-E0C66F19884B}"/>
              </a:ext>
            </a:extLst>
          </p:cNvPr>
          <p:cNvGraphicFramePr>
            <a:graphicFrameLocks noGrp="1"/>
          </p:cNvGraphicFramePr>
          <p:nvPr/>
        </p:nvGraphicFramePr>
        <p:xfrm>
          <a:off x="3772661" y="4178934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object 5">
            <a:extLst>
              <a:ext uri="{FF2B5EF4-FFF2-40B4-BE49-F238E27FC236}">
                <a16:creationId xmlns:a16="http://schemas.microsoft.com/office/drawing/2014/main" id="{9EB384EE-2C3A-D04A-B79D-3C6EA7626841}"/>
              </a:ext>
            </a:extLst>
          </p:cNvPr>
          <p:cNvSpPr txBox="1"/>
          <p:nvPr/>
        </p:nvSpPr>
        <p:spPr>
          <a:xfrm>
            <a:off x="7830057" y="3428238"/>
            <a:ext cx="5848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5">
                <a:latin typeface="宋体"/>
                <a:cs typeface="宋体"/>
              </a:rPr>
              <a:t>主元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16" name="object 6">
            <a:extLst>
              <a:ext uri="{FF2B5EF4-FFF2-40B4-BE49-F238E27FC236}">
                <a16:creationId xmlns:a16="http://schemas.microsoft.com/office/drawing/2014/main" id="{5CABD822-189C-7D45-A7B9-1C41730F1312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26204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96DA5638-1663-8A4E-985D-81B10CCF078A}"/>
              </a:ext>
            </a:extLst>
          </p:cNvPr>
          <p:cNvSpPr txBox="1"/>
          <p:nvPr/>
        </p:nvSpPr>
        <p:spPr>
          <a:xfrm>
            <a:off x="795216" y="1102926"/>
            <a:ext cx="8788171" cy="144399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宋体"/>
                <a:cs typeface="宋体"/>
              </a:rPr>
              <a:t>基本思想</a:t>
            </a:r>
            <a:endParaRPr sz="28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8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任选元素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dirty="0" err="1">
                <a:latin typeface="宋体"/>
                <a:cs typeface="宋体"/>
              </a:rPr>
              <a:t>作为分界线，称为</a:t>
            </a:r>
            <a:r>
              <a:rPr sz="2400" spc="-25" dirty="0" err="1">
                <a:solidFill>
                  <a:srgbClr val="FF0000"/>
                </a:solidFill>
                <a:latin typeface="宋体"/>
                <a:cs typeface="宋体"/>
              </a:rPr>
              <a:t>主元</a:t>
            </a:r>
            <a:r>
              <a:rPr sz="2400" spc="-25" dirty="0">
                <a:solidFill>
                  <a:srgbClr val="FF0000"/>
                </a:solidFill>
                <a:latin typeface="宋体"/>
                <a:cs typeface="宋体"/>
              </a:rPr>
              <a:t>(</a:t>
            </a:r>
            <a:r>
              <a:rPr sz="2400" b="1" spc="-75" dirty="0">
                <a:solidFill>
                  <a:srgbClr val="FF0000"/>
                </a:solidFill>
                <a:latin typeface="Times New Roman"/>
                <a:cs typeface="Times New Roman"/>
              </a:rPr>
              <a:t>pivot</a:t>
            </a:r>
            <a:r>
              <a:rPr sz="2400" spc="-75" dirty="0">
                <a:solidFill>
                  <a:srgbClr val="FF0000"/>
                </a:solidFill>
                <a:latin typeface="宋体"/>
                <a:cs typeface="宋体"/>
              </a:rPr>
              <a:t>)</a:t>
            </a:r>
            <a:endParaRPr sz="24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57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交换重排，满足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spc="-10" dirty="0" err="1">
                <a:latin typeface="宋体"/>
                <a:cs typeface="宋体"/>
              </a:rPr>
              <a:t>左侧元素小于右侧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7665D0A3-6C0F-A941-843F-8FDAD20817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09582" y="171829"/>
            <a:ext cx="444307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数组划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分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D029DC7B-D0C8-B04F-BFF4-7072BF2ACB98}"/>
              </a:ext>
            </a:extLst>
          </p:cNvPr>
          <p:cNvGraphicFramePr>
            <a:graphicFrameLocks noGrp="1"/>
          </p:cNvGraphicFramePr>
          <p:nvPr/>
        </p:nvGraphicFramePr>
        <p:xfrm>
          <a:off x="3772661" y="4178934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object 5">
            <a:extLst>
              <a:ext uri="{FF2B5EF4-FFF2-40B4-BE49-F238E27FC236}">
                <a16:creationId xmlns:a16="http://schemas.microsoft.com/office/drawing/2014/main" id="{E83D6BBA-4A20-B444-B8BD-FD8940F5E585}"/>
              </a:ext>
            </a:extLst>
          </p:cNvPr>
          <p:cNvSpPr txBox="1"/>
          <p:nvPr/>
        </p:nvSpPr>
        <p:spPr>
          <a:xfrm>
            <a:off x="5544058" y="3433572"/>
            <a:ext cx="74612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宋体"/>
                <a:cs typeface="宋体"/>
              </a:rPr>
              <a:t>主元</a:t>
            </a:r>
            <a:r>
              <a:rPr sz="2200" spc="-50">
                <a:latin typeface="Cambria Math"/>
                <a:cs typeface="Cambria Math"/>
              </a:rPr>
              <a:t>𝒙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B05D8D26-1BD7-E942-AE36-4999FD356920}"/>
              </a:ext>
            </a:extLst>
          </p:cNvPr>
          <p:cNvSpPr txBox="1"/>
          <p:nvPr/>
        </p:nvSpPr>
        <p:spPr>
          <a:xfrm>
            <a:off x="5402834" y="5773420"/>
            <a:ext cx="864869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0">
                <a:latin typeface="宋体"/>
                <a:cs typeface="宋体"/>
              </a:rPr>
              <a:t>分界线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A31A9D3B-74BA-7A47-A74B-956A435C1217}"/>
              </a:ext>
            </a:extLst>
          </p:cNvPr>
          <p:cNvSpPr/>
          <p:nvPr/>
        </p:nvSpPr>
        <p:spPr>
          <a:xfrm>
            <a:off x="3975353" y="5135879"/>
            <a:ext cx="1489710" cy="114300"/>
          </a:xfrm>
          <a:custGeom>
            <a:avLst/>
            <a:gdLst/>
            <a:ahLst/>
            <a:cxnLst/>
            <a:rect l="l" t="t" r="r" b="b"/>
            <a:pathLst>
              <a:path w="148971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148971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1489710" h="114300">
                <a:moveTo>
                  <a:pt x="1489202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1489202" y="76200"/>
                </a:lnTo>
                <a:lnTo>
                  <a:pt x="1489202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F56E253B-DD21-8144-92E6-0A42A9FDE9DE}"/>
              </a:ext>
            </a:extLst>
          </p:cNvPr>
          <p:cNvSpPr/>
          <p:nvPr/>
        </p:nvSpPr>
        <p:spPr>
          <a:xfrm>
            <a:off x="6205728" y="5135879"/>
            <a:ext cx="2195195" cy="114300"/>
          </a:xfrm>
          <a:custGeom>
            <a:avLst/>
            <a:gdLst/>
            <a:ahLst/>
            <a:cxnLst/>
            <a:rect l="l" t="t" r="r" b="b"/>
            <a:pathLst>
              <a:path w="2195195" h="114300">
                <a:moveTo>
                  <a:pt x="2080641" y="0"/>
                </a:moveTo>
                <a:lnTo>
                  <a:pt x="2080641" y="114300"/>
                </a:lnTo>
                <a:lnTo>
                  <a:pt x="2156841" y="76200"/>
                </a:lnTo>
                <a:lnTo>
                  <a:pt x="2099691" y="76200"/>
                </a:lnTo>
                <a:lnTo>
                  <a:pt x="2099691" y="38100"/>
                </a:lnTo>
                <a:lnTo>
                  <a:pt x="2156841" y="38100"/>
                </a:lnTo>
                <a:lnTo>
                  <a:pt x="2080641" y="0"/>
                </a:lnTo>
                <a:close/>
              </a:path>
              <a:path w="2195195" h="114300">
                <a:moveTo>
                  <a:pt x="208064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080641" y="76200"/>
                </a:lnTo>
                <a:lnTo>
                  <a:pt x="2080641" y="38100"/>
                </a:lnTo>
                <a:close/>
              </a:path>
              <a:path w="2195195" h="114300">
                <a:moveTo>
                  <a:pt x="2156841" y="38100"/>
                </a:moveTo>
                <a:lnTo>
                  <a:pt x="2099691" y="38100"/>
                </a:lnTo>
                <a:lnTo>
                  <a:pt x="2099691" y="76200"/>
                </a:lnTo>
                <a:lnTo>
                  <a:pt x="2156841" y="76200"/>
                </a:lnTo>
                <a:lnTo>
                  <a:pt x="2194941" y="57150"/>
                </a:lnTo>
                <a:lnTo>
                  <a:pt x="2156841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D0616627-CD9D-6445-AD15-DC9C6CE5BD92}"/>
              </a:ext>
            </a:extLst>
          </p:cNvPr>
          <p:cNvSpPr txBox="1"/>
          <p:nvPr/>
        </p:nvSpPr>
        <p:spPr>
          <a:xfrm>
            <a:off x="4473447" y="5352796"/>
            <a:ext cx="47434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≤</a:t>
            </a:r>
            <a:r>
              <a:rPr sz="2200" spc="13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𝒙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23A6A9AC-93C1-4B45-BCF5-2F56E2AADCCF}"/>
              </a:ext>
            </a:extLst>
          </p:cNvPr>
          <p:cNvSpPr txBox="1"/>
          <p:nvPr/>
        </p:nvSpPr>
        <p:spPr>
          <a:xfrm>
            <a:off x="7086345" y="5352796"/>
            <a:ext cx="47434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&gt;</a:t>
            </a:r>
            <a:r>
              <a:rPr sz="2200" spc="125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𝒙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28D7B12C-9E95-8340-BDDA-2BF0243F41E2}"/>
              </a:ext>
            </a:extLst>
          </p:cNvPr>
          <p:cNvSpPr/>
          <p:nvPr/>
        </p:nvSpPr>
        <p:spPr>
          <a:xfrm>
            <a:off x="5769864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A9A07932-46DE-1543-BC48-865367B3F3CD}"/>
              </a:ext>
            </a:extLst>
          </p:cNvPr>
          <p:cNvSpPr/>
          <p:nvPr/>
        </p:nvSpPr>
        <p:spPr>
          <a:xfrm>
            <a:off x="5770371" y="4775453"/>
            <a:ext cx="114300" cy="982980"/>
          </a:xfrm>
          <a:custGeom>
            <a:avLst/>
            <a:gdLst/>
            <a:ahLst/>
            <a:cxnLst/>
            <a:rect l="l" t="t" r="r" b="b"/>
            <a:pathLst>
              <a:path w="114300" h="982978">
                <a:moveTo>
                  <a:pt x="76200" y="95250"/>
                </a:moveTo>
                <a:lnTo>
                  <a:pt x="38100" y="95250"/>
                </a:lnTo>
                <a:lnTo>
                  <a:pt x="37591" y="982586"/>
                </a:lnTo>
                <a:lnTo>
                  <a:pt x="75691" y="982599"/>
                </a:lnTo>
                <a:lnTo>
                  <a:pt x="76200" y="95250"/>
                </a:lnTo>
                <a:close/>
              </a:path>
              <a:path w="114300" h="982978">
                <a:moveTo>
                  <a:pt x="57150" y="0"/>
                </a:moveTo>
                <a:lnTo>
                  <a:pt x="0" y="114300"/>
                </a:lnTo>
                <a:lnTo>
                  <a:pt x="38089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982978">
                <a:moveTo>
                  <a:pt x="104775" y="95250"/>
                </a:moveTo>
                <a:lnTo>
                  <a:pt x="76200" y="95250"/>
                </a:lnTo>
                <a:lnTo>
                  <a:pt x="76189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98599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>
            <a:extLst>
              <a:ext uri="{FF2B5EF4-FFF2-40B4-BE49-F238E27FC236}">
                <a16:creationId xmlns:a16="http://schemas.microsoft.com/office/drawing/2014/main" id="{9E5C0D9D-1A5E-E043-9D56-A0D19D56D1D0}"/>
              </a:ext>
            </a:extLst>
          </p:cNvPr>
          <p:cNvSpPr txBox="1"/>
          <p:nvPr/>
        </p:nvSpPr>
        <p:spPr>
          <a:xfrm>
            <a:off x="810641" y="1116729"/>
            <a:ext cx="5214620" cy="981038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宋体"/>
                <a:cs typeface="宋体"/>
              </a:rPr>
              <a:t>实现方法</a:t>
            </a:r>
            <a:endParaRPr sz="28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1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选取固定位置主元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dirty="0">
                <a:latin typeface="宋体"/>
                <a:cs typeface="宋体"/>
              </a:rPr>
              <a:t>（</a:t>
            </a:r>
            <a:r>
              <a:rPr sz="2400" dirty="0" err="1">
                <a:latin typeface="宋体"/>
                <a:cs typeface="宋体"/>
              </a:rPr>
              <a:t>如尾元素</a:t>
            </a:r>
            <a:r>
              <a:rPr sz="2400" spc="-50" dirty="0">
                <a:latin typeface="宋体"/>
                <a:cs typeface="宋体"/>
              </a:rPr>
              <a:t>）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DC786AE0-1C2B-B34F-BA04-C19C6AE5C2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3334" y="155137"/>
            <a:ext cx="393243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数组划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分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260CBC1A-2BA8-4D4A-8E1D-5258FCD40D18}"/>
              </a:ext>
            </a:extLst>
          </p:cNvPr>
          <p:cNvGraphicFramePr>
            <a:graphicFrameLocks noGrp="1"/>
          </p:cNvGraphicFramePr>
          <p:nvPr/>
        </p:nvGraphicFramePr>
        <p:xfrm>
          <a:off x="3772661" y="4178934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bject 7">
            <a:extLst>
              <a:ext uri="{FF2B5EF4-FFF2-40B4-BE49-F238E27FC236}">
                <a16:creationId xmlns:a16="http://schemas.microsoft.com/office/drawing/2014/main" id="{F56788C3-C5EB-E54D-AAC8-F05D434D8641}"/>
              </a:ext>
            </a:extLst>
          </p:cNvPr>
          <p:cNvSpPr txBox="1"/>
          <p:nvPr/>
        </p:nvSpPr>
        <p:spPr>
          <a:xfrm>
            <a:off x="7830057" y="3428238"/>
            <a:ext cx="5848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5">
                <a:latin typeface="宋体"/>
                <a:cs typeface="宋体"/>
              </a:rPr>
              <a:t>主元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483AC5AB-ADA7-814F-9517-0973E0313F72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94799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28F3ACF1-C2FA-064D-8E76-B83D14D14925}"/>
              </a:ext>
            </a:extLst>
          </p:cNvPr>
          <p:cNvSpPr/>
          <p:nvPr/>
        </p:nvSpPr>
        <p:spPr>
          <a:xfrm>
            <a:off x="3762444" y="2659278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305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F3BC2B55-DC54-9E49-B82D-D641281A762A}"/>
              </a:ext>
            </a:extLst>
          </p:cNvPr>
          <p:cNvSpPr/>
          <p:nvPr/>
        </p:nvSpPr>
        <p:spPr>
          <a:xfrm>
            <a:off x="3564451" y="2659278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24765" y="27305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9E5C0D9D-1A5E-E043-9D56-A0D19D56D1D0}"/>
              </a:ext>
            </a:extLst>
          </p:cNvPr>
          <p:cNvSpPr txBox="1"/>
          <p:nvPr/>
        </p:nvSpPr>
        <p:spPr>
          <a:xfrm>
            <a:off x="810641" y="1116729"/>
            <a:ext cx="5214620" cy="186436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宋体"/>
                <a:cs typeface="宋体"/>
              </a:rPr>
              <a:t>实现方法</a:t>
            </a:r>
            <a:endParaRPr sz="28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1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选取固定位置主元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dirty="0">
                <a:latin typeface="宋体"/>
                <a:cs typeface="宋体"/>
              </a:rPr>
              <a:t>（</a:t>
            </a:r>
            <a:r>
              <a:rPr sz="2400" dirty="0" err="1">
                <a:latin typeface="宋体"/>
                <a:cs typeface="宋体"/>
              </a:rPr>
              <a:t>如尾元素</a:t>
            </a:r>
            <a:r>
              <a:rPr sz="2400" spc="-50" dirty="0">
                <a:latin typeface="宋体"/>
                <a:cs typeface="宋体"/>
              </a:rPr>
              <a:t>）</a:t>
            </a:r>
            <a:endParaRPr sz="24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维护两个部分的右端点变量</a:t>
            </a:r>
            <a:r>
              <a:rPr sz="2400" spc="-10" dirty="0">
                <a:latin typeface="Cambria Math"/>
                <a:cs typeface="Cambria Math"/>
              </a:rPr>
              <a:t>𝒊</a:t>
            </a:r>
            <a:r>
              <a:rPr sz="2400" spc="-75" dirty="0">
                <a:latin typeface="Cambria Math"/>
                <a:cs typeface="Cambria Math"/>
              </a:rPr>
              <a:t>, </a:t>
            </a:r>
            <a:r>
              <a:rPr sz="2400" spc="-50" dirty="0">
                <a:latin typeface="Cambria Math"/>
                <a:cs typeface="Cambria Math"/>
              </a:rPr>
              <a:t>𝒋</a:t>
            </a:r>
            <a:endParaRPr sz="2400" dirty="0">
              <a:latin typeface="Cambria Math"/>
              <a:cs typeface="Cambria Math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考察数组元素</a:t>
            </a:r>
            <a:r>
              <a:rPr sz="2400" dirty="0">
                <a:latin typeface="Cambria Math"/>
                <a:cs typeface="Cambria Math"/>
              </a:rPr>
              <a:t>𝑨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𝒋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400" dirty="0">
                <a:latin typeface="宋体"/>
                <a:cs typeface="宋体"/>
              </a:rPr>
              <a:t>，</a:t>
            </a:r>
            <a:r>
              <a:rPr sz="2400" spc="-10" dirty="0" err="1">
                <a:solidFill>
                  <a:srgbClr val="FF0000"/>
                </a:solidFill>
                <a:latin typeface="宋体"/>
                <a:cs typeface="宋体"/>
              </a:rPr>
              <a:t>只和主元比较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DC786AE0-1C2B-B34F-BA04-C19C6AE5C2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3334" y="155137"/>
            <a:ext cx="393243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数组划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分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260CBC1A-2BA8-4D4A-8E1D-5258FCD40D18}"/>
              </a:ext>
            </a:extLst>
          </p:cNvPr>
          <p:cNvGraphicFramePr>
            <a:graphicFrameLocks noGrp="1"/>
          </p:cNvGraphicFramePr>
          <p:nvPr/>
        </p:nvGraphicFramePr>
        <p:xfrm>
          <a:off x="3772661" y="4178934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bject 7">
            <a:extLst>
              <a:ext uri="{FF2B5EF4-FFF2-40B4-BE49-F238E27FC236}">
                <a16:creationId xmlns:a16="http://schemas.microsoft.com/office/drawing/2014/main" id="{F56788C3-C5EB-E54D-AAC8-F05D434D8641}"/>
              </a:ext>
            </a:extLst>
          </p:cNvPr>
          <p:cNvSpPr txBox="1"/>
          <p:nvPr/>
        </p:nvSpPr>
        <p:spPr>
          <a:xfrm>
            <a:off x="7830057" y="3428238"/>
            <a:ext cx="5848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5">
                <a:latin typeface="宋体"/>
                <a:cs typeface="宋体"/>
              </a:rPr>
              <a:t>主元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483AC5AB-ADA7-814F-9517-0973E0313F72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CFDD5E02-988A-5E4F-863B-606ECDEF4A40}"/>
              </a:ext>
            </a:extLst>
          </p:cNvPr>
          <p:cNvSpPr/>
          <p:nvPr/>
        </p:nvSpPr>
        <p:spPr>
          <a:xfrm>
            <a:off x="3518153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FF22335E-C99F-C246-9361-AC863FD5905F}"/>
              </a:ext>
            </a:extLst>
          </p:cNvPr>
          <p:cNvSpPr/>
          <p:nvPr/>
        </p:nvSpPr>
        <p:spPr>
          <a:xfrm>
            <a:off x="4021835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A97F6C9E-23AB-2F49-B8AD-AB37D7F6FE55}"/>
              </a:ext>
            </a:extLst>
          </p:cNvPr>
          <p:cNvGraphicFramePr>
            <a:graphicFrameLocks noGrp="1"/>
          </p:cNvGraphicFramePr>
          <p:nvPr/>
        </p:nvGraphicFramePr>
        <p:xfrm>
          <a:off x="6954901" y="1016761"/>
          <a:ext cx="4607558" cy="584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7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1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835">
                <a:tc>
                  <a:txBody>
                    <a:bodyPr/>
                    <a:lstStyle/>
                    <a:p>
                      <a:pPr marL="5581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>
                          <a:latin typeface="Cambria Math"/>
                          <a:cs typeface="Cambria Math"/>
                        </a:rPr>
                        <a:t>≤</a:t>
                      </a:r>
                      <a:r>
                        <a:rPr sz="2600" spc="1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600" spc="-50"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27051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>
                          <a:latin typeface="Cambria Math"/>
                          <a:cs typeface="Cambria Math"/>
                        </a:rPr>
                        <a:t>&gt;</a:t>
                      </a:r>
                      <a:r>
                        <a:rPr sz="2600" spc="1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600" spc="-50"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200" spc="-20">
                          <a:latin typeface="宋体"/>
                          <a:cs typeface="宋体"/>
                        </a:rPr>
                        <a:t>待考察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T="901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object 12">
            <a:extLst>
              <a:ext uri="{FF2B5EF4-FFF2-40B4-BE49-F238E27FC236}">
                <a16:creationId xmlns:a16="http://schemas.microsoft.com/office/drawing/2014/main" id="{C2671A58-D833-804A-9367-BD6F289041A9}"/>
              </a:ext>
            </a:extLst>
          </p:cNvPr>
          <p:cNvSpPr/>
          <p:nvPr/>
        </p:nvSpPr>
        <p:spPr>
          <a:xfrm>
            <a:off x="8643366" y="1646682"/>
            <a:ext cx="114300" cy="335915"/>
          </a:xfrm>
          <a:custGeom>
            <a:avLst/>
            <a:gdLst/>
            <a:ahLst/>
            <a:cxnLst/>
            <a:rect l="l" t="t" r="r" b="b"/>
            <a:pathLst>
              <a:path w="114300" h="335914">
                <a:moveTo>
                  <a:pt x="76200" y="95250"/>
                </a:moveTo>
                <a:lnTo>
                  <a:pt x="38100" y="95250"/>
                </a:lnTo>
                <a:lnTo>
                  <a:pt x="38100" y="335788"/>
                </a:lnTo>
                <a:lnTo>
                  <a:pt x="76200" y="335788"/>
                </a:lnTo>
                <a:lnTo>
                  <a:pt x="76200" y="95250"/>
                </a:lnTo>
                <a:close/>
              </a:path>
              <a:path w="114300" h="335914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335914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D6580AAE-2011-D54F-AD29-B848A18F9B79}"/>
              </a:ext>
            </a:extLst>
          </p:cNvPr>
          <p:cNvSpPr txBox="1"/>
          <p:nvPr/>
        </p:nvSpPr>
        <p:spPr>
          <a:xfrm>
            <a:off x="8636254" y="1991613"/>
            <a:ext cx="129539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06AFC6E8-C47A-6440-8FA1-97D8CEE0D16C}"/>
              </a:ext>
            </a:extLst>
          </p:cNvPr>
          <p:cNvSpPr/>
          <p:nvPr/>
        </p:nvSpPr>
        <p:spPr>
          <a:xfrm>
            <a:off x="9792461" y="1652777"/>
            <a:ext cx="114300" cy="358140"/>
          </a:xfrm>
          <a:custGeom>
            <a:avLst/>
            <a:gdLst/>
            <a:ahLst/>
            <a:cxnLst/>
            <a:rect l="l" t="t" r="r" b="b"/>
            <a:pathLst>
              <a:path w="114300" h="358139">
                <a:moveTo>
                  <a:pt x="76202" y="114172"/>
                </a:moveTo>
                <a:lnTo>
                  <a:pt x="38102" y="114426"/>
                </a:lnTo>
                <a:lnTo>
                  <a:pt x="39751" y="357886"/>
                </a:lnTo>
                <a:lnTo>
                  <a:pt x="77851" y="357632"/>
                </a:lnTo>
                <a:lnTo>
                  <a:pt x="76202" y="114172"/>
                </a:lnTo>
                <a:close/>
              </a:path>
              <a:path w="114300" h="358139">
                <a:moveTo>
                  <a:pt x="56388" y="0"/>
                </a:moveTo>
                <a:lnTo>
                  <a:pt x="0" y="114681"/>
                </a:lnTo>
                <a:lnTo>
                  <a:pt x="38102" y="114426"/>
                </a:lnTo>
                <a:lnTo>
                  <a:pt x="37973" y="95376"/>
                </a:lnTo>
                <a:lnTo>
                  <a:pt x="104744" y="95123"/>
                </a:lnTo>
                <a:lnTo>
                  <a:pt x="56388" y="0"/>
                </a:lnTo>
                <a:close/>
              </a:path>
              <a:path w="114300" h="358139">
                <a:moveTo>
                  <a:pt x="76073" y="95123"/>
                </a:moveTo>
                <a:lnTo>
                  <a:pt x="37973" y="95376"/>
                </a:lnTo>
                <a:lnTo>
                  <a:pt x="38102" y="114426"/>
                </a:lnTo>
                <a:lnTo>
                  <a:pt x="76202" y="114172"/>
                </a:lnTo>
                <a:lnTo>
                  <a:pt x="76073" y="95123"/>
                </a:lnTo>
                <a:close/>
              </a:path>
              <a:path w="114300" h="358139">
                <a:moveTo>
                  <a:pt x="104744" y="95123"/>
                </a:moveTo>
                <a:lnTo>
                  <a:pt x="76073" y="95123"/>
                </a:lnTo>
                <a:lnTo>
                  <a:pt x="76202" y="114172"/>
                </a:lnTo>
                <a:lnTo>
                  <a:pt x="114300" y="113919"/>
                </a:lnTo>
                <a:lnTo>
                  <a:pt x="104744" y="951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6673C368-16C0-A042-B136-CF9B71C68CB2}"/>
              </a:ext>
            </a:extLst>
          </p:cNvPr>
          <p:cNvSpPr txBox="1"/>
          <p:nvPr/>
        </p:nvSpPr>
        <p:spPr>
          <a:xfrm>
            <a:off x="9785095" y="1982977"/>
            <a:ext cx="13462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D8400F5D-390B-A14D-9B43-C95BFF89BCAB}"/>
              </a:ext>
            </a:extLst>
          </p:cNvPr>
          <p:cNvSpPr txBox="1"/>
          <p:nvPr/>
        </p:nvSpPr>
        <p:spPr>
          <a:xfrm>
            <a:off x="3507232" y="5362075"/>
            <a:ext cx="129539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1E88B588-D69D-BC44-8927-10EDB6280471}"/>
              </a:ext>
            </a:extLst>
          </p:cNvPr>
          <p:cNvSpPr txBox="1"/>
          <p:nvPr/>
        </p:nvSpPr>
        <p:spPr>
          <a:xfrm>
            <a:off x="4008120" y="5380109"/>
            <a:ext cx="134620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830673B-00DE-A84A-A27F-FD5DDC946169}"/>
              </a:ext>
            </a:extLst>
          </p:cNvPr>
          <p:cNvSpPr txBox="1"/>
          <p:nvPr/>
        </p:nvSpPr>
        <p:spPr>
          <a:xfrm>
            <a:off x="1137062" y="3076744"/>
            <a:ext cx="9945584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  <a:tabLst>
                <a:tab pos="306705" algn="l"/>
                <a:tab pos="1151255" algn="l"/>
              </a:tabLst>
            </a:pPr>
            <a:r>
              <a:rPr lang="en" altLang="zh-CN" sz="120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lang="en" altLang="zh-CN" sz="120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lang="zh-CN" altLang="en-US" sz="1800" dirty="0">
                <a:latin typeface="宋体"/>
                <a:cs typeface="宋体"/>
              </a:rPr>
              <a:t>若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zh-CN" altLang="en-US" sz="1800" spc="260" dirty="0">
                <a:latin typeface="Cambria Math"/>
                <a:cs typeface="Cambria Math"/>
              </a:rPr>
              <a:t> </a:t>
            </a:r>
            <a:r>
              <a:rPr lang="zh-CN" altLang="en-US" sz="1800" spc="-5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Cambria Math"/>
                <a:cs typeface="Cambria Math"/>
              </a:rPr>
              <a:t>	≤</a:t>
            </a:r>
            <a:r>
              <a:rPr lang="zh-CN" altLang="en-US" sz="1800" spc="150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𝒙</a:t>
            </a:r>
            <a:r>
              <a:rPr lang="zh-CN" altLang="en-US" sz="1800" spc="-10" dirty="0">
                <a:latin typeface="宋体"/>
                <a:cs typeface="宋体"/>
              </a:rPr>
              <a:t>，</a:t>
            </a:r>
            <a:r>
              <a:rPr lang="zh-CN" altLang="en-US" sz="1800" dirty="0">
                <a:latin typeface="宋体"/>
                <a:cs typeface="宋体"/>
              </a:rPr>
              <a:t>则交换</a:t>
            </a:r>
            <a:r>
              <a:rPr lang="zh-CN" altLang="en-US" sz="1800" spc="-10" dirty="0">
                <a:latin typeface="Cambria Math"/>
                <a:cs typeface="Cambria Math"/>
              </a:rPr>
              <a:t>𝑨</a:t>
            </a:r>
            <a:r>
              <a:rPr lang="en-US" altLang="zh-CN" sz="1800" spc="-10" dirty="0">
                <a:latin typeface="Cambria Math"/>
                <a:cs typeface="Cambria Math"/>
              </a:rPr>
              <a:t>[𝒋]</a:t>
            </a:r>
            <a:r>
              <a:rPr lang="zh-CN" altLang="en-US" sz="1800" dirty="0">
                <a:latin typeface="宋体"/>
                <a:cs typeface="宋体"/>
              </a:rPr>
              <a:t>和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en-US" altLang="zh-CN" sz="1800" dirty="0">
                <a:latin typeface="Cambria Math"/>
                <a:cs typeface="Cambria Math"/>
              </a:rPr>
              <a:t>[𝒊</a:t>
            </a:r>
            <a:r>
              <a:rPr lang="zh-CN" altLang="en-US" sz="1800" spc="20" dirty="0">
                <a:latin typeface="Cambria Math"/>
                <a:cs typeface="Cambria Math"/>
              </a:rPr>
              <a:t> </a:t>
            </a:r>
            <a:r>
              <a:rPr lang="en-US" altLang="zh-CN" sz="1800" dirty="0">
                <a:latin typeface="Cambria Math"/>
                <a:cs typeface="Cambria Math"/>
              </a:rPr>
              <a:t>+</a:t>
            </a:r>
            <a:r>
              <a:rPr lang="zh-CN" altLang="en-US" sz="1800" spc="20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𝟏</a:t>
            </a:r>
            <a:r>
              <a:rPr lang="en-US" altLang="zh-CN" sz="1800" spc="-10" dirty="0">
                <a:latin typeface="Cambria Math"/>
                <a:cs typeface="Cambria Math"/>
              </a:rPr>
              <a:t>]</a:t>
            </a:r>
            <a:r>
              <a:rPr lang="zh-CN" altLang="en-US" sz="1800" b="1" spc="-10" dirty="0">
                <a:latin typeface="微软雅黑"/>
                <a:cs typeface="微软雅黑"/>
              </a:rPr>
              <a:t>，</a:t>
            </a:r>
            <a:r>
              <a:rPr lang="zh-CN" altLang="en-US" sz="1800" spc="-10" dirty="0">
                <a:latin typeface="Cambria Math"/>
                <a:cs typeface="Cambria Math"/>
              </a:rPr>
              <a:t>𝒊</a:t>
            </a:r>
            <a:r>
              <a:rPr lang="en-US" altLang="zh-CN" sz="1800" spc="-10" dirty="0">
                <a:latin typeface="Cambria Math"/>
                <a:cs typeface="Cambria Math"/>
              </a:rPr>
              <a:t>,</a:t>
            </a:r>
            <a:r>
              <a:rPr lang="zh-CN" altLang="en-US" sz="1800" spc="-110" dirty="0">
                <a:latin typeface="Cambria Math"/>
                <a:cs typeface="Cambria Math"/>
              </a:rPr>
              <a:t> </a:t>
            </a:r>
            <a:r>
              <a:rPr lang="zh-CN" altLang="en-US" sz="1800" spc="-15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宋体"/>
                <a:cs typeface="宋体"/>
              </a:rPr>
              <a:t>右</a:t>
            </a:r>
            <a:r>
              <a:rPr lang="zh-CN" altLang="en-US" sz="1800" spc="-50" dirty="0">
                <a:latin typeface="宋体"/>
                <a:cs typeface="宋体"/>
              </a:rPr>
              <a:t>移</a:t>
            </a:r>
            <a:endParaRPr lang="zh-CN" altLang="en-US" sz="18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  <a:tabLst>
                <a:tab pos="306705" algn="l"/>
                <a:tab pos="1151255" algn="l"/>
              </a:tabLst>
            </a:pPr>
            <a:r>
              <a:rPr lang="en" altLang="zh-CN" sz="120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lang="en" altLang="zh-CN" sz="120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lang="zh-CN" altLang="en-US" sz="1800" dirty="0">
                <a:latin typeface="宋体"/>
                <a:cs typeface="宋体"/>
              </a:rPr>
              <a:t>若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zh-CN" altLang="en-US" sz="1800" spc="260" dirty="0">
                <a:latin typeface="Cambria Math"/>
                <a:cs typeface="Cambria Math"/>
              </a:rPr>
              <a:t> </a:t>
            </a:r>
            <a:r>
              <a:rPr lang="zh-CN" altLang="en-US" sz="1800" spc="-5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Cambria Math"/>
                <a:cs typeface="Cambria Math"/>
              </a:rPr>
              <a:t>	</a:t>
            </a:r>
            <a:r>
              <a:rPr lang="en-US" altLang="zh-CN" sz="1800" dirty="0">
                <a:latin typeface="Cambria Math"/>
                <a:cs typeface="Cambria Math"/>
              </a:rPr>
              <a:t>&gt;</a:t>
            </a:r>
            <a:r>
              <a:rPr lang="zh-CN" altLang="en-US" sz="1800" spc="145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𝒙</a:t>
            </a:r>
            <a:r>
              <a:rPr lang="zh-CN" altLang="en-US" sz="1800" spc="-10" dirty="0">
                <a:latin typeface="宋体"/>
                <a:cs typeface="宋体"/>
              </a:rPr>
              <a:t>，</a:t>
            </a:r>
            <a:r>
              <a:rPr lang="zh-CN" altLang="en-US" sz="1800" dirty="0">
                <a:latin typeface="宋体"/>
                <a:cs typeface="宋体"/>
              </a:rPr>
              <a:t>则</a:t>
            </a:r>
            <a:r>
              <a:rPr lang="zh-CN" altLang="en-US" sz="1800" spc="-1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宋体"/>
                <a:cs typeface="宋体"/>
              </a:rPr>
              <a:t>右</a:t>
            </a:r>
            <a:r>
              <a:rPr lang="zh-CN" altLang="en-US" sz="1800" spc="-50" dirty="0">
                <a:latin typeface="宋体"/>
                <a:cs typeface="宋体"/>
              </a:rPr>
              <a:t>移</a:t>
            </a:r>
            <a:endParaRPr lang="zh-CN" altLang="en-US" sz="1800" dirty="0">
              <a:latin typeface="宋体"/>
              <a:cs typeface="宋体"/>
            </a:endParaRPr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70F2CA58-0D9B-154C-ABA0-FD5263B6C2A3}"/>
              </a:ext>
            </a:extLst>
          </p:cNvPr>
          <p:cNvSpPr/>
          <p:nvPr/>
        </p:nvSpPr>
        <p:spPr>
          <a:xfrm>
            <a:off x="2114848" y="313604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5019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F3181DB3-0DC6-4E47-A5ED-B272C280CCAB}"/>
              </a:ext>
            </a:extLst>
          </p:cNvPr>
          <p:cNvSpPr/>
          <p:nvPr/>
        </p:nvSpPr>
        <p:spPr>
          <a:xfrm>
            <a:off x="1934381" y="313604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22733" y="25019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7">
            <a:extLst>
              <a:ext uri="{FF2B5EF4-FFF2-40B4-BE49-F238E27FC236}">
                <a16:creationId xmlns:a16="http://schemas.microsoft.com/office/drawing/2014/main" id="{9999564C-C17F-254B-B95F-026DCE16BBAF}"/>
              </a:ext>
            </a:extLst>
          </p:cNvPr>
          <p:cNvSpPr/>
          <p:nvPr/>
        </p:nvSpPr>
        <p:spPr>
          <a:xfrm>
            <a:off x="2114848" y="3503005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4892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8">
            <a:extLst>
              <a:ext uri="{FF2B5EF4-FFF2-40B4-BE49-F238E27FC236}">
                <a16:creationId xmlns:a16="http://schemas.microsoft.com/office/drawing/2014/main" id="{8F94B17B-AA7E-6742-8381-BE6E36501F3B}"/>
              </a:ext>
            </a:extLst>
          </p:cNvPr>
          <p:cNvSpPr/>
          <p:nvPr/>
        </p:nvSpPr>
        <p:spPr>
          <a:xfrm>
            <a:off x="1934381" y="3503005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22733" y="24892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FE23FCF-AA05-6349-8D54-32036D2DC13D}"/>
              </a:ext>
            </a:extLst>
          </p:cNvPr>
          <p:cNvSpPr txBox="1"/>
          <p:nvPr/>
        </p:nvSpPr>
        <p:spPr>
          <a:xfrm>
            <a:off x="-160489" y="3735744"/>
            <a:ext cx="99455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528445" algn="ctr">
              <a:lnSpc>
                <a:spcPct val="100000"/>
              </a:lnSpc>
              <a:spcBef>
                <a:spcPts val="85"/>
              </a:spcBef>
            </a:pPr>
            <a:r>
              <a:rPr lang="en-US" altLang="zh-CN" sz="1800" b="1" dirty="0">
                <a:latin typeface="Times New Roman"/>
                <a:cs typeface="Times New Roman"/>
              </a:rPr>
              <a:t>2 &lt;</a:t>
            </a:r>
            <a:r>
              <a:rPr lang="zh-CN" altLang="en-US" sz="1800" b="1" spc="-10" dirty="0">
                <a:latin typeface="Times New Roman"/>
                <a:cs typeface="Times New Roman"/>
              </a:rPr>
              <a:t> </a:t>
            </a:r>
            <a:r>
              <a:rPr lang="en-US" altLang="zh-CN" sz="1800" b="1" spc="-50" dirty="0">
                <a:latin typeface="Times New Roman"/>
                <a:cs typeface="Times New Roman"/>
              </a:rPr>
              <a:t>4</a:t>
            </a:r>
            <a:endParaRPr lang="zh-CN" altLang="en-US"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53060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animBg="1"/>
      <p:bldP spid="21" grpId="0" animBg="1"/>
      <p:bldP spid="22" grpId="0" animBg="1"/>
      <p:bldP spid="23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28F3ACF1-C2FA-064D-8E76-B83D14D14925}"/>
              </a:ext>
            </a:extLst>
          </p:cNvPr>
          <p:cNvSpPr/>
          <p:nvPr/>
        </p:nvSpPr>
        <p:spPr>
          <a:xfrm>
            <a:off x="3762444" y="2659278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305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F3BC2B55-DC54-9E49-B82D-D641281A762A}"/>
              </a:ext>
            </a:extLst>
          </p:cNvPr>
          <p:cNvSpPr/>
          <p:nvPr/>
        </p:nvSpPr>
        <p:spPr>
          <a:xfrm>
            <a:off x="3564451" y="2659278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24765" y="27305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9E5C0D9D-1A5E-E043-9D56-A0D19D56D1D0}"/>
              </a:ext>
            </a:extLst>
          </p:cNvPr>
          <p:cNvSpPr txBox="1"/>
          <p:nvPr/>
        </p:nvSpPr>
        <p:spPr>
          <a:xfrm>
            <a:off x="810641" y="1116729"/>
            <a:ext cx="5214620" cy="186436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宋体"/>
                <a:cs typeface="宋体"/>
              </a:rPr>
              <a:t>实现方法</a:t>
            </a:r>
            <a:endParaRPr sz="28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1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选取固定位置主元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dirty="0">
                <a:latin typeface="宋体"/>
                <a:cs typeface="宋体"/>
              </a:rPr>
              <a:t>（</a:t>
            </a:r>
            <a:r>
              <a:rPr sz="2400" dirty="0" err="1">
                <a:latin typeface="宋体"/>
                <a:cs typeface="宋体"/>
              </a:rPr>
              <a:t>如尾元素</a:t>
            </a:r>
            <a:r>
              <a:rPr sz="2400" spc="-50" dirty="0">
                <a:latin typeface="宋体"/>
                <a:cs typeface="宋体"/>
              </a:rPr>
              <a:t>）</a:t>
            </a:r>
            <a:endParaRPr sz="24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维护两个部分的右端点变量</a:t>
            </a:r>
            <a:r>
              <a:rPr sz="2400" spc="-10" dirty="0">
                <a:latin typeface="Cambria Math"/>
                <a:cs typeface="Cambria Math"/>
              </a:rPr>
              <a:t>𝒊</a:t>
            </a:r>
            <a:r>
              <a:rPr sz="2400" spc="-75" dirty="0">
                <a:latin typeface="Cambria Math"/>
                <a:cs typeface="Cambria Math"/>
              </a:rPr>
              <a:t>, </a:t>
            </a:r>
            <a:r>
              <a:rPr sz="2400" spc="-50" dirty="0">
                <a:latin typeface="Cambria Math"/>
                <a:cs typeface="Cambria Math"/>
              </a:rPr>
              <a:t>𝒋</a:t>
            </a:r>
            <a:endParaRPr sz="2400" dirty="0">
              <a:latin typeface="Cambria Math"/>
              <a:cs typeface="Cambria Math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考察数组元素</a:t>
            </a:r>
            <a:r>
              <a:rPr sz="2400" dirty="0">
                <a:latin typeface="Cambria Math"/>
                <a:cs typeface="Cambria Math"/>
              </a:rPr>
              <a:t>𝑨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𝒋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400" dirty="0">
                <a:latin typeface="宋体"/>
                <a:cs typeface="宋体"/>
              </a:rPr>
              <a:t>，</a:t>
            </a:r>
            <a:r>
              <a:rPr sz="2400" spc="-10" dirty="0" err="1">
                <a:solidFill>
                  <a:srgbClr val="FF0000"/>
                </a:solidFill>
                <a:latin typeface="宋体"/>
                <a:cs typeface="宋体"/>
              </a:rPr>
              <a:t>只和主元比较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DC786AE0-1C2B-B34F-BA04-C19C6AE5C2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3334" y="155137"/>
            <a:ext cx="393243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数组划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分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A97F6C9E-23AB-2F49-B8AD-AB37D7F6FE55}"/>
              </a:ext>
            </a:extLst>
          </p:cNvPr>
          <p:cNvGraphicFramePr>
            <a:graphicFrameLocks noGrp="1"/>
          </p:cNvGraphicFramePr>
          <p:nvPr/>
        </p:nvGraphicFramePr>
        <p:xfrm>
          <a:off x="6954901" y="1016761"/>
          <a:ext cx="4607558" cy="584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7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1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835">
                <a:tc>
                  <a:txBody>
                    <a:bodyPr/>
                    <a:lstStyle/>
                    <a:p>
                      <a:pPr marL="5581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>
                          <a:latin typeface="Cambria Math"/>
                          <a:cs typeface="Cambria Math"/>
                        </a:rPr>
                        <a:t>≤</a:t>
                      </a:r>
                      <a:r>
                        <a:rPr sz="2600" spc="1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600" spc="-50"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27051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>
                          <a:latin typeface="Cambria Math"/>
                          <a:cs typeface="Cambria Math"/>
                        </a:rPr>
                        <a:t>&gt;</a:t>
                      </a:r>
                      <a:r>
                        <a:rPr sz="2600" spc="1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600" spc="-50"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200" spc="-20">
                          <a:latin typeface="宋体"/>
                          <a:cs typeface="宋体"/>
                        </a:rPr>
                        <a:t>待考察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T="901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object 12">
            <a:extLst>
              <a:ext uri="{FF2B5EF4-FFF2-40B4-BE49-F238E27FC236}">
                <a16:creationId xmlns:a16="http://schemas.microsoft.com/office/drawing/2014/main" id="{C2671A58-D833-804A-9367-BD6F289041A9}"/>
              </a:ext>
            </a:extLst>
          </p:cNvPr>
          <p:cNvSpPr/>
          <p:nvPr/>
        </p:nvSpPr>
        <p:spPr>
          <a:xfrm>
            <a:off x="8643366" y="1646682"/>
            <a:ext cx="114300" cy="335915"/>
          </a:xfrm>
          <a:custGeom>
            <a:avLst/>
            <a:gdLst/>
            <a:ahLst/>
            <a:cxnLst/>
            <a:rect l="l" t="t" r="r" b="b"/>
            <a:pathLst>
              <a:path w="114300" h="335914">
                <a:moveTo>
                  <a:pt x="76200" y="95250"/>
                </a:moveTo>
                <a:lnTo>
                  <a:pt x="38100" y="95250"/>
                </a:lnTo>
                <a:lnTo>
                  <a:pt x="38100" y="335788"/>
                </a:lnTo>
                <a:lnTo>
                  <a:pt x="76200" y="335788"/>
                </a:lnTo>
                <a:lnTo>
                  <a:pt x="76200" y="95250"/>
                </a:lnTo>
                <a:close/>
              </a:path>
              <a:path w="114300" h="335914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335914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D6580AAE-2011-D54F-AD29-B848A18F9B79}"/>
              </a:ext>
            </a:extLst>
          </p:cNvPr>
          <p:cNvSpPr txBox="1"/>
          <p:nvPr/>
        </p:nvSpPr>
        <p:spPr>
          <a:xfrm>
            <a:off x="8636254" y="1991613"/>
            <a:ext cx="129539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06AFC6E8-C47A-6440-8FA1-97D8CEE0D16C}"/>
              </a:ext>
            </a:extLst>
          </p:cNvPr>
          <p:cNvSpPr/>
          <p:nvPr/>
        </p:nvSpPr>
        <p:spPr>
          <a:xfrm>
            <a:off x="9792461" y="1652777"/>
            <a:ext cx="114300" cy="358140"/>
          </a:xfrm>
          <a:custGeom>
            <a:avLst/>
            <a:gdLst/>
            <a:ahLst/>
            <a:cxnLst/>
            <a:rect l="l" t="t" r="r" b="b"/>
            <a:pathLst>
              <a:path w="114300" h="358139">
                <a:moveTo>
                  <a:pt x="76202" y="114172"/>
                </a:moveTo>
                <a:lnTo>
                  <a:pt x="38102" y="114426"/>
                </a:lnTo>
                <a:lnTo>
                  <a:pt x="39751" y="357886"/>
                </a:lnTo>
                <a:lnTo>
                  <a:pt x="77851" y="357632"/>
                </a:lnTo>
                <a:lnTo>
                  <a:pt x="76202" y="114172"/>
                </a:lnTo>
                <a:close/>
              </a:path>
              <a:path w="114300" h="358139">
                <a:moveTo>
                  <a:pt x="56388" y="0"/>
                </a:moveTo>
                <a:lnTo>
                  <a:pt x="0" y="114681"/>
                </a:lnTo>
                <a:lnTo>
                  <a:pt x="38102" y="114426"/>
                </a:lnTo>
                <a:lnTo>
                  <a:pt x="37973" y="95376"/>
                </a:lnTo>
                <a:lnTo>
                  <a:pt x="104744" y="95123"/>
                </a:lnTo>
                <a:lnTo>
                  <a:pt x="56388" y="0"/>
                </a:lnTo>
                <a:close/>
              </a:path>
              <a:path w="114300" h="358139">
                <a:moveTo>
                  <a:pt x="76073" y="95123"/>
                </a:moveTo>
                <a:lnTo>
                  <a:pt x="37973" y="95376"/>
                </a:lnTo>
                <a:lnTo>
                  <a:pt x="38102" y="114426"/>
                </a:lnTo>
                <a:lnTo>
                  <a:pt x="76202" y="114172"/>
                </a:lnTo>
                <a:lnTo>
                  <a:pt x="76073" y="95123"/>
                </a:lnTo>
                <a:close/>
              </a:path>
              <a:path w="114300" h="358139">
                <a:moveTo>
                  <a:pt x="104744" y="95123"/>
                </a:moveTo>
                <a:lnTo>
                  <a:pt x="76073" y="95123"/>
                </a:lnTo>
                <a:lnTo>
                  <a:pt x="76202" y="114172"/>
                </a:lnTo>
                <a:lnTo>
                  <a:pt x="114300" y="113919"/>
                </a:lnTo>
                <a:lnTo>
                  <a:pt x="104744" y="951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6673C368-16C0-A042-B136-CF9B71C68CB2}"/>
              </a:ext>
            </a:extLst>
          </p:cNvPr>
          <p:cNvSpPr txBox="1"/>
          <p:nvPr/>
        </p:nvSpPr>
        <p:spPr>
          <a:xfrm>
            <a:off x="9785095" y="1982977"/>
            <a:ext cx="13462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830673B-00DE-A84A-A27F-FD5DDC946169}"/>
              </a:ext>
            </a:extLst>
          </p:cNvPr>
          <p:cNvSpPr txBox="1"/>
          <p:nvPr/>
        </p:nvSpPr>
        <p:spPr>
          <a:xfrm>
            <a:off x="1137062" y="3076744"/>
            <a:ext cx="9945584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  <a:tabLst>
                <a:tab pos="306705" algn="l"/>
                <a:tab pos="1151255" algn="l"/>
              </a:tabLst>
            </a:pPr>
            <a:r>
              <a:rPr lang="en" altLang="zh-CN" sz="120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lang="en" altLang="zh-CN" sz="120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lang="zh-CN" altLang="en-US" sz="1800" dirty="0">
                <a:latin typeface="宋体"/>
                <a:cs typeface="宋体"/>
              </a:rPr>
              <a:t>若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zh-CN" altLang="en-US" sz="1800" spc="260" dirty="0">
                <a:latin typeface="Cambria Math"/>
                <a:cs typeface="Cambria Math"/>
              </a:rPr>
              <a:t> </a:t>
            </a:r>
            <a:r>
              <a:rPr lang="zh-CN" altLang="en-US" sz="1800" spc="-5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Cambria Math"/>
                <a:cs typeface="Cambria Math"/>
              </a:rPr>
              <a:t>	≤</a:t>
            </a:r>
            <a:r>
              <a:rPr lang="zh-CN" altLang="en-US" sz="1800" spc="150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𝒙</a:t>
            </a:r>
            <a:r>
              <a:rPr lang="zh-CN" altLang="en-US" sz="1800" spc="-10" dirty="0">
                <a:latin typeface="宋体"/>
                <a:cs typeface="宋体"/>
              </a:rPr>
              <a:t>，</a:t>
            </a:r>
            <a:r>
              <a:rPr lang="zh-CN" altLang="en-US" sz="1800" dirty="0">
                <a:latin typeface="宋体"/>
                <a:cs typeface="宋体"/>
              </a:rPr>
              <a:t>则交换</a:t>
            </a:r>
            <a:r>
              <a:rPr lang="zh-CN" altLang="en-US" sz="1800" spc="-10" dirty="0">
                <a:latin typeface="Cambria Math"/>
                <a:cs typeface="Cambria Math"/>
              </a:rPr>
              <a:t>𝑨</a:t>
            </a:r>
            <a:r>
              <a:rPr lang="en-US" altLang="zh-CN" sz="1800" spc="-10" dirty="0">
                <a:latin typeface="Cambria Math"/>
                <a:cs typeface="Cambria Math"/>
              </a:rPr>
              <a:t>[𝒋]</a:t>
            </a:r>
            <a:r>
              <a:rPr lang="zh-CN" altLang="en-US" sz="1800" dirty="0">
                <a:latin typeface="宋体"/>
                <a:cs typeface="宋体"/>
              </a:rPr>
              <a:t>和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en-US" altLang="zh-CN" sz="1800" dirty="0">
                <a:latin typeface="Cambria Math"/>
                <a:cs typeface="Cambria Math"/>
              </a:rPr>
              <a:t>[𝒊</a:t>
            </a:r>
            <a:r>
              <a:rPr lang="zh-CN" altLang="en-US" sz="1800" spc="20" dirty="0">
                <a:latin typeface="Cambria Math"/>
                <a:cs typeface="Cambria Math"/>
              </a:rPr>
              <a:t> </a:t>
            </a:r>
            <a:r>
              <a:rPr lang="en-US" altLang="zh-CN" sz="1800" dirty="0">
                <a:latin typeface="Cambria Math"/>
                <a:cs typeface="Cambria Math"/>
              </a:rPr>
              <a:t>+</a:t>
            </a:r>
            <a:r>
              <a:rPr lang="zh-CN" altLang="en-US" sz="1800" spc="20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𝟏</a:t>
            </a:r>
            <a:r>
              <a:rPr lang="en-US" altLang="zh-CN" sz="1800" spc="-10" dirty="0">
                <a:latin typeface="Cambria Math"/>
                <a:cs typeface="Cambria Math"/>
              </a:rPr>
              <a:t>]</a:t>
            </a:r>
            <a:r>
              <a:rPr lang="zh-CN" altLang="en-US" sz="1800" b="1" spc="-10" dirty="0">
                <a:latin typeface="微软雅黑"/>
                <a:cs typeface="微软雅黑"/>
              </a:rPr>
              <a:t>，</a:t>
            </a:r>
            <a:r>
              <a:rPr lang="zh-CN" altLang="en-US" sz="1800" spc="-10" dirty="0">
                <a:latin typeface="Cambria Math"/>
                <a:cs typeface="Cambria Math"/>
              </a:rPr>
              <a:t>𝒊</a:t>
            </a:r>
            <a:r>
              <a:rPr lang="en-US" altLang="zh-CN" sz="1800" spc="-10" dirty="0">
                <a:latin typeface="Cambria Math"/>
                <a:cs typeface="Cambria Math"/>
              </a:rPr>
              <a:t>,</a:t>
            </a:r>
            <a:r>
              <a:rPr lang="zh-CN" altLang="en-US" sz="1800" spc="-110" dirty="0">
                <a:latin typeface="Cambria Math"/>
                <a:cs typeface="Cambria Math"/>
              </a:rPr>
              <a:t> </a:t>
            </a:r>
            <a:r>
              <a:rPr lang="zh-CN" altLang="en-US" sz="1800" spc="-15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宋体"/>
                <a:cs typeface="宋体"/>
              </a:rPr>
              <a:t>右</a:t>
            </a:r>
            <a:r>
              <a:rPr lang="zh-CN" altLang="en-US" sz="1800" spc="-50" dirty="0">
                <a:latin typeface="宋体"/>
                <a:cs typeface="宋体"/>
              </a:rPr>
              <a:t>移</a:t>
            </a:r>
            <a:endParaRPr lang="zh-CN" altLang="en-US" sz="18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  <a:tabLst>
                <a:tab pos="306705" algn="l"/>
                <a:tab pos="1151255" algn="l"/>
              </a:tabLst>
            </a:pPr>
            <a:r>
              <a:rPr lang="en" altLang="zh-CN" sz="120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lang="en" altLang="zh-CN" sz="120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lang="zh-CN" altLang="en-US" sz="1800" dirty="0">
                <a:latin typeface="宋体"/>
                <a:cs typeface="宋体"/>
              </a:rPr>
              <a:t>若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zh-CN" altLang="en-US" sz="1800" spc="260" dirty="0">
                <a:latin typeface="Cambria Math"/>
                <a:cs typeface="Cambria Math"/>
              </a:rPr>
              <a:t> </a:t>
            </a:r>
            <a:r>
              <a:rPr lang="zh-CN" altLang="en-US" sz="1800" spc="-5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Cambria Math"/>
                <a:cs typeface="Cambria Math"/>
              </a:rPr>
              <a:t>	</a:t>
            </a:r>
            <a:r>
              <a:rPr lang="en-US" altLang="zh-CN" sz="1800" dirty="0">
                <a:latin typeface="Cambria Math"/>
                <a:cs typeface="Cambria Math"/>
              </a:rPr>
              <a:t>&gt;</a:t>
            </a:r>
            <a:r>
              <a:rPr lang="zh-CN" altLang="en-US" sz="1800" spc="145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𝒙</a:t>
            </a:r>
            <a:r>
              <a:rPr lang="zh-CN" altLang="en-US" sz="1800" spc="-10" dirty="0">
                <a:latin typeface="宋体"/>
                <a:cs typeface="宋体"/>
              </a:rPr>
              <a:t>，</a:t>
            </a:r>
            <a:r>
              <a:rPr lang="zh-CN" altLang="en-US" sz="1800" dirty="0">
                <a:latin typeface="宋体"/>
                <a:cs typeface="宋体"/>
              </a:rPr>
              <a:t>则</a:t>
            </a:r>
            <a:r>
              <a:rPr lang="zh-CN" altLang="en-US" sz="1800" spc="-1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宋体"/>
                <a:cs typeface="宋体"/>
              </a:rPr>
              <a:t>右</a:t>
            </a:r>
            <a:r>
              <a:rPr lang="zh-CN" altLang="en-US" sz="1800" spc="-50" dirty="0">
                <a:latin typeface="宋体"/>
                <a:cs typeface="宋体"/>
              </a:rPr>
              <a:t>移</a:t>
            </a:r>
            <a:endParaRPr lang="zh-CN" altLang="en-US" sz="1800" dirty="0">
              <a:latin typeface="宋体"/>
              <a:cs typeface="宋体"/>
            </a:endParaRPr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70F2CA58-0D9B-154C-ABA0-FD5263B6C2A3}"/>
              </a:ext>
            </a:extLst>
          </p:cNvPr>
          <p:cNvSpPr/>
          <p:nvPr/>
        </p:nvSpPr>
        <p:spPr>
          <a:xfrm>
            <a:off x="2114848" y="313604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5019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F3181DB3-0DC6-4E47-A5ED-B272C280CCAB}"/>
              </a:ext>
            </a:extLst>
          </p:cNvPr>
          <p:cNvSpPr/>
          <p:nvPr/>
        </p:nvSpPr>
        <p:spPr>
          <a:xfrm>
            <a:off x="1934381" y="313604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22733" y="25019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4" name="object 10">
            <a:extLst>
              <a:ext uri="{FF2B5EF4-FFF2-40B4-BE49-F238E27FC236}">
                <a16:creationId xmlns:a16="http://schemas.microsoft.com/office/drawing/2014/main" id="{AEA13A66-F409-2C45-97F0-71B4076C0A9E}"/>
              </a:ext>
            </a:extLst>
          </p:cNvPr>
          <p:cNvGraphicFramePr>
            <a:graphicFrameLocks noGrp="1"/>
          </p:cNvGraphicFramePr>
          <p:nvPr/>
        </p:nvGraphicFramePr>
        <p:xfrm>
          <a:off x="3772661" y="4178934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" name="object 12">
            <a:extLst>
              <a:ext uri="{FF2B5EF4-FFF2-40B4-BE49-F238E27FC236}">
                <a16:creationId xmlns:a16="http://schemas.microsoft.com/office/drawing/2014/main" id="{0C85E0C3-2DED-964E-905D-C53EAE00D85A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13">
            <a:extLst>
              <a:ext uri="{FF2B5EF4-FFF2-40B4-BE49-F238E27FC236}">
                <a16:creationId xmlns:a16="http://schemas.microsoft.com/office/drawing/2014/main" id="{316A9903-650F-A944-853E-85388E462493}"/>
              </a:ext>
            </a:extLst>
          </p:cNvPr>
          <p:cNvSpPr/>
          <p:nvPr/>
        </p:nvSpPr>
        <p:spPr>
          <a:xfrm>
            <a:off x="3800094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14">
            <a:extLst>
              <a:ext uri="{FF2B5EF4-FFF2-40B4-BE49-F238E27FC236}">
                <a16:creationId xmlns:a16="http://schemas.microsoft.com/office/drawing/2014/main" id="{E9529996-850E-6541-BB83-8C2CCAE78F0E}"/>
              </a:ext>
            </a:extLst>
          </p:cNvPr>
          <p:cNvSpPr/>
          <p:nvPr/>
        </p:nvSpPr>
        <p:spPr>
          <a:xfrm>
            <a:off x="4021835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0">
            <a:extLst>
              <a:ext uri="{FF2B5EF4-FFF2-40B4-BE49-F238E27FC236}">
                <a16:creationId xmlns:a16="http://schemas.microsoft.com/office/drawing/2014/main" id="{4F1745E3-081C-7E4A-86AC-9AC97CF797D0}"/>
              </a:ext>
            </a:extLst>
          </p:cNvPr>
          <p:cNvSpPr txBox="1"/>
          <p:nvPr/>
        </p:nvSpPr>
        <p:spPr>
          <a:xfrm>
            <a:off x="3790441" y="5362075"/>
            <a:ext cx="129539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30" name="object 21">
            <a:extLst>
              <a:ext uri="{FF2B5EF4-FFF2-40B4-BE49-F238E27FC236}">
                <a16:creationId xmlns:a16="http://schemas.microsoft.com/office/drawing/2014/main" id="{1A426F05-88DD-C649-BAB5-55C4B1BA3B53}"/>
              </a:ext>
            </a:extLst>
          </p:cNvPr>
          <p:cNvSpPr txBox="1"/>
          <p:nvPr/>
        </p:nvSpPr>
        <p:spPr>
          <a:xfrm>
            <a:off x="4008120" y="5380109"/>
            <a:ext cx="134620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889E6EE-331E-3646-A3C8-066039F436A5}"/>
              </a:ext>
            </a:extLst>
          </p:cNvPr>
          <p:cNvSpPr txBox="1"/>
          <p:nvPr/>
        </p:nvSpPr>
        <p:spPr>
          <a:xfrm>
            <a:off x="-95973" y="3745400"/>
            <a:ext cx="99455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528445" algn="ctr">
              <a:lnSpc>
                <a:spcPct val="100000"/>
              </a:lnSpc>
              <a:spcBef>
                <a:spcPts val="85"/>
              </a:spcBef>
            </a:pPr>
            <a:r>
              <a:rPr lang="en-US" altLang="zh-CN" sz="1800" b="1" dirty="0">
                <a:latin typeface="Times New Roman"/>
                <a:cs typeface="Times New Roman"/>
              </a:rPr>
              <a:t>2 &lt;</a:t>
            </a:r>
            <a:r>
              <a:rPr lang="zh-CN" altLang="en-US" sz="1800" b="1" spc="-10" dirty="0">
                <a:latin typeface="Times New Roman"/>
                <a:cs typeface="Times New Roman"/>
              </a:rPr>
              <a:t> </a:t>
            </a:r>
            <a:r>
              <a:rPr lang="en-US" altLang="zh-CN" sz="1800" b="1" spc="-50" dirty="0">
                <a:latin typeface="Times New Roman"/>
                <a:cs typeface="Times New Roman"/>
              </a:rPr>
              <a:t>4</a:t>
            </a:r>
            <a:endParaRPr lang="zh-CN" altLang="en-US" sz="1800" dirty="0">
              <a:latin typeface="Times New Roman"/>
              <a:cs typeface="Times New Roman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28BD6B7-DC6E-9E45-8373-53CF4F912970}"/>
              </a:ext>
            </a:extLst>
          </p:cNvPr>
          <p:cNvSpPr txBox="1"/>
          <p:nvPr/>
        </p:nvSpPr>
        <p:spPr>
          <a:xfrm>
            <a:off x="7742712" y="3493582"/>
            <a:ext cx="697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080" algn="r">
              <a:lnSpc>
                <a:spcPct val="100000"/>
              </a:lnSpc>
              <a:spcBef>
                <a:spcPts val="695"/>
              </a:spcBef>
            </a:pPr>
            <a:r>
              <a:rPr lang="zh-CN" altLang="en-US" sz="1800" spc="-25" dirty="0">
                <a:latin typeface="宋体"/>
                <a:cs typeface="宋体"/>
              </a:rPr>
              <a:t>主元</a:t>
            </a:r>
            <a:endParaRPr lang="zh-CN" altLang="en-US" sz="1800" dirty="0">
              <a:latin typeface="宋体"/>
              <a:cs typeface="宋体"/>
            </a:endParaRPr>
          </a:p>
        </p:txBody>
      </p:sp>
      <p:sp>
        <p:nvSpPr>
          <p:cNvPr id="22" name="object 7">
            <a:extLst>
              <a:ext uri="{FF2B5EF4-FFF2-40B4-BE49-F238E27FC236}">
                <a16:creationId xmlns:a16="http://schemas.microsoft.com/office/drawing/2014/main" id="{73AB579C-028F-9142-B15E-1585936E7EAD}"/>
              </a:ext>
            </a:extLst>
          </p:cNvPr>
          <p:cNvSpPr/>
          <p:nvPr/>
        </p:nvSpPr>
        <p:spPr>
          <a:xfrm>
            <a:off x="2114848" y="3503005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4892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8">
            <a:extLst>
              <a:ext uri="{FF2B5EF4-FFF2-40B4-BE49-F238E27FC236}">
                <a16:creationId xmlns:a16="http://schemas.microsoft.com/office/drawing/2014/main" id="{ABB9EAA1-2C1A-7A45-9D2D-BB058C42D232}"/>
              </a:ext>
            </a:extLst>
          </p:cNvPr>
          <p:cNvSpPr/>
          <p:nvPr/>
        </p:nvSpPr>
        <p:spPr>
          <a:xfrm>
            <a:off x="1934381" y="3503005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22733" y="24892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82412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28F3ACF1-C2FA-064D-8E76-B83D14D14925}"/>
              </a:ext>
            </a:extLst>
          </p:cNvPr>
          <p:cNvSpPr/>
          <p:nvPr/>
        </p:nvSpPr>
        <p:spPr>
          <a:xfrm>
            <a:off x="3762444" y="2659278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305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F3BC2B55-DC54-9E49-B82D-D641281A762A}"/>
              </a:ext>
            </a:extLst>
          </p:cNvPr>
          <p:cNvSpPr/>
          <p:nvPr/>
        </p:nvSpPr>
        <p:spPr>
          <a:xfrm>
            <a:off x="3564451" y="2659278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24765" y="27305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9E5C0D9D-1A5E-E043-9D56-A0D19D56D1D0}"/>
              </a:ext>
            </a:extLst>
          </p:cNvPr>
          <p:cNvSpPr txBox="1"/>
          <p:nvPr/>
        </p:nvSpPr>
        <p:spPr>
          <a:xfrm>
            <a:off x="810641" y="1116729"/>
            <a:ext cx="5214620" cy="186436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宋体"/>
                <a:cs typeface="宋体"/>
              </a:rPr>
              <a:t>实现方法</a:t>
            </a:r>
            <a:endParaRPr sz="28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1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选取固定位置主元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dirty="0">
                <a:latin typeface="宋体"/>
                <a:cs typeface="宋体"/>
              </a:rPr>
              <a:t>（</a:t>
            </a:r>
            <a:r>
              <a:rPr sz="2400" dirty="0" err="1">
                <a:latin typeface="宋体"/>
                <a:cs typeface="宋体"/>
              </a:rPr>
              <a:t>如尾元素</a:t>
            </a:r>
            <a:r>
              <a:rPr sz="2400" spc="-50" dirty="0">
                <a:latin typeface="宋体"/>
                <a:cs typeface="宋体"/>
              </a:rPr>
              <a:t>）</a:t>
            </a:r>
            <a:endParaRPr sz="24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维护两个部分的右端点变量</a:t>
            </a:r>
            <a:r>
              <a:rPr sz="2400" spc="-10" dirty="0">
                <a:latin typeface="Cambria Math"/>
                <a:cs typeface="Cambria Math"/>
              </a:rPr>
              <a:t>𝒊</a:t>
            </a:r>
            <a:r>
              <a:rPr sz="2400" spc="-75" dirty="0">
                <a:latin typeface="Cambria Math"/>
                <a:cs typeface="Cambria Math"/>
              </a:rPr>
              <a:t>, </a:t>
            </a:r>
            <a:r>
              <a:rPr sz="2400" spc="-50" dirty="0">
                <a:latin typeface="Cambria Math"/>
                <a:cs typeface="Cambria Math"/>
              </a:rPr>
              <a:t>𝒋</a:t>
            </a:r>
            <a:endParaRPr sz="2400" dirty="0">
              <a:latin typeface="Cambria Math"/>
              <a:cs typeface="Cambria Math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考察数组元素</a:t>
            </a:r>
            <a:r>
              <a:rPr sz="2400" dirty="0">
                <a:latin typeface="Cambria Math"/>
                <a:cs typeface="Cambria Math"/>
              </a:rPr>
              <a:t>𝑨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𝒋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400" dirty="0">
                <a:latin typeface="宋体"/>
                <a:cs typeface="宋体"/>
              </a:rPr>
              <a:t>，</a:t>
            </a:r>
            <a:r>
              <a:rPr sz="2400" spc="-10" dirty="0" err="1">
                <a:solidFill>
                  <a:srgbClr val="FF0000"/>
                </a:solidFill>
                <a:latin typeface="宋体"/>
                <a:cs typeface="宋体"/>
              </a:rPr>
              <a:t>只和主元比较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DC786AE0-1C2B-B34F-BA04-C19C6AE5C2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3334" y="155137"/>
            <a:ext cx="393243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数组划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分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A97F6C9E-23AB-2F49-B8AD-AB37D7F6FE55}"/>
              </a:ext>
            </a:extLst>
          </p:cNvPr>
          <p:cNvGraphicFramePr>
            <a:graphicFrameLocks noGrp="1"/>
          </p:cNvGraphicFramePr>
          <p:nvPr/>
        </p:nvGraphicFramePr>
        <p:xfrm>
          <a:off x="6954901" y="1016761"/>
          <a:ext cx="4607558" cy="584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7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1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835">
                <a:tc>
                  <a:txBody>
                    <a:bodyPr/>
                    <a:lstStyle/>
                    <a:p>
                      <a:pPr marL="5581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>
                          <a:latin typeface="Cambria Math"/>
                          <a:cs typeface="Cambria Math"/>
                        </a:rPr>
                        <a:t>≤</a:t>
                      </a:r>
                      <a:r>
                        <a:rPr sz="2600" spc="1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600" spc="-50"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27051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>
                          <a:latin typeface="Cambria Math"/>
                          <a:cs typeface="Cambria Math"/>
                        </a:rPr>
                        <a:t>&gt;</a:t>
                      </a:r>
                      <a:r>
                        <a:rPr sz="2600" spc="1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600" spc="-50"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200" spc="-20">
                          <a:latin typeface="宋体"/>
                          <a:cs typeface="宋体"/>
                        </a:rPr>
                        <a:t>待考察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T="901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object 12">
            <a:extLst>
              <a:ext uri="{FF2B5EF4-FFF2-40B4-BE49-F238E27FC236}">
                <a16:creationId xmlns:a16="http://schemas.microsoft.com/office/drawing/2014/main" id="{C2671A58-D833-804A-9367-BD6F289041A9}"/>
              </a:ext>
            </a:extLst>
          </p:cNvPr>
          <p:cNvSpPr/>
          <p:nvPr/>
        </p:nvSpPr>
        <p:spPr>
          <a:xfrm>
            <a:off x="8643366" y="1646682"/>
            <a:ext cx="114300" cy="335915"/>
          </a:xfrm>
          <a:custGeom>
            <a:avLst/>
            <a:gdLst/>
            <a:ahLst/>
            <a:cxnLst/>
            <a:rect l="l" t="t" r="r" b="b"/>
            <a:pathLst>
              <a:path w="114300" h="335914">
                <a:moveTo>
                  <a:pt x="76200" y="95250"/>
                </a:moveTo>
                <a:lnTo>
                  <a:pt x="38100" y="95250"/>
                </a:lnTo>
                <a:lnTo>
                  <a:pt x="38100" y="335788"/>
                </a:lnTo>
                <a:lnTo>
                  <a:pt x="76200" y="335788"/>
                </a:lnTo>
                <a:lnTo>
                  <a:pt x="76200" y="95250"/>
                </a:lnTo>
                <a:close/>
              </a:path>
              <a:path w="114300" h="335914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335914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D6580AAE-2011-D54F-AD29-B848A18F9B79}"/>
              </a:ext>
            </a:extLst>
          </p:cNvPr>
          <p:cNvSpPr txBox="1"/>
          <p:nvPr/>
        </p:nvSpPr>
        <p:spPr>
          <a:xfrm>
            <a:off x="8636254" y="1991613"/>
            <a:ext cx="129539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06AFC6E8-C47A-6440-8FA1-97D8CEE0D16C}"/>
              </a:ext>
            </a:extLst>
          </p:cNvPr>
          <p:cNvSpPr/>
          <p:nvPr/>
        </p:nvSpPr>
        <p:spPr>
          <a:xfrm>
            <a:off x="9792461" y="1652777"/>
            <a:ext cx="114300" cy="358140"/>
          </a:xfrm>
          <a:custGeom>
            <a:avLst/>
            <a:gdLst/>
            <a:ahLst/>
            <a:cxnLst/>
            <a:rect l="l" t="t" r="r" b="b"/>
            <a:pathLst>
              <a:path w="114300" h="358139">
                <a:moveTo>
                  <a:pt x="76202" y="114172"/>
                </a:moveTo>
                <a:lnTo>
                  <a:pt x="38102" y="114426"/>
                </a:lnTo>
                <a:lnTo>
                  <a:pt x="39751" y="357886"/>
                </a:lnTo>
                <a:lnTo>
                  <a:pt x="77851" y="357632"/>
                </a:lnTo>
                <a:lnTo>
                  <a:pt x="76202" y="114172"/>
                </a:lnTo>
                <a:close/>
              </a:path>
              <a:path w="114300" h="358139">
                <a:moveTo>
                  <a:pt x="56388" y="0"/>
                </a:moveTo>
                <a:lnTo>
                  <a:pt x="0" y="114681"/>
                </a:lnTo>
                <a:lnTo>
                  <a:pt x="38102" y="114426"/>
                </a:lnTo>
                <a:lnTo>
                  <a:pt x="37973" y="95376"/>
                </a:lnTo>
                <a:lnTo>
                  <a:pt x="104744" y="95123"/>
                </a:lnTo>
                <a:lnTo>
                  <a:pt x="56388" y="0"/>
                </a:lnTo>
                <a:close/>
              </a:path>
              <a:path w="114300" h="358139">
                <a:moveTo>
                  <a:pt x="76073" y="95123"/>
                </a:moveTo>
                <a:lnTo>
                  <a:pt x="37973" y="95376"/>
                </a:lnTo>
                <a:lnTo>
                  <a:pt x="38102" y="114426"/>
                </a:lnTo>
                <a:lnTo>
                  <a:pt x="76202" y="114172"/>
                </a:lnTo>
                <a:lnTo>
                  <a:pt x="76073" y="95123"/>
                </a:lnTo>
                <a:close/>
              </a:path>
              <a:path w="114300" h="358139">
                <a:moveTo>
                  <a:pt x="104744" y="95123"/>
                </a:moveTo>
                <a:lnTo>
                  <a:pt x="76073" y="95123"/>
                </a:lnTo>
                <a:lnTo>
                  <a:pt x="76202" y="114172"/>
                </a:lnTo>
                <a:lnTo>
                  <a:pt x="114300" y="113919"/>
                </a:lnTo>
                <a:lnTo>
                  <a:pt x="104744" y="951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6673C368-16C0-A042-B136-CF9B71C68CB2}"/>
              </a:ext>
            </a:extLst>
          </p:cNvPr>
          <p:cNvSpPr txBox="1"/>
          <p:nvPr/>
        </p:nvSpPr>
        <p:spPr>
          <a:xfrm>
            <a:off x="9785095" y="1982977"/>
            <a:ext cx="13462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830673B-00DE-A84A-A27F-FD5DDC946169}"/>
              </a:ext>
            </a:extLst>
          </p:cNvPr>
          <p:cNvSpPr txBox="1"/>
          <p:nvPr/>
        </p:nvSpPr>
        <p:spPr>
          <a:xfrm>
            <a:off x="1137062" y="3076744"/>
            <a:ext cx="9945584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  <a:tabLst>
                <a:tab pos="306705" algn="l"/>
                <a:tab pos="1151255" algn="l"/>
              </a:tabLst>
            </a:pPr>
            <a:r>
              <a:rPr lang="en" altLang="zh-CN" sz="120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lang="en" altLang="zh-CN" sz="120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lang="zh-CN" altLang="en-US" sz="1800" dirty="0">
                <a:latin typeface="宋体"/>
                <a:cs typeface="宋体"/>
              </a:rPr>
              <a:t>若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zh-CN" altLang="en-US" sz="1800" spc="260" dirty="0">
                <a:latin typeface="Cambria Math"/>
                <a:cs typeface="Cambria Math"/>
              </a:rPr>
              <a:t> </a:t>
            </a:r>
            <a:r>
              <a:rPr lang="zh-CN" altLang="en-US" sz="1800" spc="-5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Cambria Math"/>
                <a:cs typeface="Cambria Math"/>
              </a:rPr>
              <a:t>	≤</a:t>
            </a:r>
            <a:r>
              <a:rPr lang="zh-CN" altLang="en-US" sz="1800" spc="150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𝒙</a:t>
            </a:r>
            <a:r>
              <a:rPr lang="zh-CN" altLang="en-US" sz="1800" spc="-10" dirty="0">
                <a:latin typeface="宋体"/>
                <a:cs typeface="宋体"/>
              </a:rPr>
              <a:t>，</a:t>
            </a:r>
            <a:r>
              <a:rPr lang="zh-CN" altLang="en-US" sz="1800" dirty="0">
                <a:latin typeface="宋体"/>
                <a:cs typeface="宋体"/>
              </a:rPr>
              <a:t>则交换</a:t>
            </a:r>
            <a:r>
              <a:rPr lang="zh-CN" altLang="en-US" sz="1800" spc="-10" dirty="0">
                <a:latin typeface="Cambria Math"/>
                <a:cs typeface="Cambria Math"/>
              </a:rPr>
              <a:t>𝑨</a:t>
            </a:r>
            <a:r>
              <a:rPr lang="en-US" altLang="zh-CN" sz="1800" spc="-10" dirty="0">
                <a:latin typeface="Cambria Math"/>
                <a:cs typeface="Cambria Math"/>
              </a:rPr>
              <a:t>[𝒋]</a:t>
            </a:r>
            <a:r>
              <a:rPr lang="zh-CN" altLang="en-US" sz="1800" dirty="0">
                <a:latin typeface="宋体"/>
                <a:cs typeface="宋体"/>
              </a:rPr>
              <a:t>和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en-US" altLang="zh-CN" sz="1800" dirty="0">
                <a:latin typeface="Cambria Math"/>
                <a:cs typeface="Cambria Math"/>
              </a:rPr>
              <a:t>[𝒊</a:t>
            </a:r>
            <a:r>
              <a:rPr lang="zh-CN" altLang="en-US" sz="1800" spc="20" dirty="0">
                <a:latin typeface="Cambria Math"/>
                <a:cs typeface="Cambria Math"/>
              </a:rPr>
              <a:t> </a:t>
            </a:r>
            <a:r>
              <a:rPr lang="en-US" altLang="zh-CN" sz="1800" dirty="0">
                <a:latin typeface="Cambria Math"/>
                <a:cs typeface="Cambria Math"/>
              </a:rPr>
              <a:t>+</a:t>
            </a:r>
            <a:r>
              <a:rPr lang="zh-CN" altLang="en-US" sz="1800" spc="20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𝟏</a:t>
            </a:r>
            <a:r>
              <a:rPr lang="en-US" altLang="zh-CN" sz="1800" spc="-10" dirty="0">
                <a:latin typeface="Cambria Math"/>
                <a:cs typeface="Cambria Math"/>
              </a:rPr>
              <a:t>]</a:t>
            </a:r>
            <a:r>
              <a:rPr lang="zh-CN" altLang="en-US" sz="1800" b="1" spc="-10" dirty="0">
                <a:latin typeface="微软雅黑"/>
                <a:cs typeface="微软雅黑"/>
              </a:rPr>
              <a:t>，</a:t>
            </a:r>
            <a:r>
              <a:rPr lang="zh-CN" altLang="en-US" sz="1800" spc="-10" dirty="0">
                <a:latin typeface="Cambria Math"/>
                <a:cs typeface="Cambria Math"/>
              </a:rPr>
              <a:t>𝒊</a:t>
            </a:r>
            <a:r>
              <a:rPr lang="en-US" altLang="zh-CN" sz="1800" spc="-10" dirty="0">
                <a:latin typeface="Cambria Math"/>
                <a:cs typeface="Cambria Math"/>
              </a:rPr>
              <a:t>,</a:t>
            </a:r>
            <a:r>
              <a:rPr lang="zh-CN" altLang="en-US" sz="1800" spc="-110" dirty="0">
                <a:latin typeface="Cambria Math"/>
                <a:cs typeface="Cambria Math"/>
              </a:rPr>
              <a:t> </a:t>
            </a:r>
            <a:r>
              <a:rPr lang="zh-CN" altLang="en-US" sz="1800" spc="-15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宋体"/>
                <a:cs typeface="宋体"/>
              </a:rPr>
              <a:t>右</a:t>
            </a:r>
            <a:r>
              <a:rPr lang="zh-CN" altLang="en-US" sz="1800" spc="-50" dirty="0">
                <a:latin typeface="宋体"/>
                <a:cs typeface="宋体"/>
              </a:rPr>
              <a:t>移</a:t>
            </a:r>
            <a:endParaRPr lang="zh-CN" altLang="en-US" sz="18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  <a:tabLst>
                <a:tab pos="306705" algn="l"/>
                <a:tab pos="1151255" algn="l"/>
              </a:tabLst>
            </a:pPr>
            <a:r>
              <a:rPr lang="en" altLang="zh-CN" sz="120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lang="en" altLang="zh-CN" sz="120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lang="zh-CN" altLang="en-US" sz="1800" dirty="0">
                <a:latin typeface="宋体"/>
                <a:cs typeface="宋体"/>
              </a:rPr>
              <a:t>若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zh-CN" altLang="en-US" sz="1800" spc="260" dirty="0">
                <a:latin typeface="Cambria Math"/>
                <a:cs typeface="Cambria Math"/>
              </a:rPr>
              <a:t> </a:t>
            </a:r>
            <a:r>
              <a:rPr lang="zh-CN" altLang="en-US" sz="1800" spc="-5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Cambria Math"/>
                <a:cs typeface="Cambria Math"/>
              </a:rPr>
              <a:t>	</a:t>
            </a:r>
            <a:r>
              <a:rPr lang="en-US" altLang="zh-CN" sz="1800" dirty="0">
                <a:latin typeface="Cambria Math"/>
                <a:cs typeface="Cambria Math"/>
              </a:rPr>
              <a:t>&gt;</a:t>
            </a:r>
            <a:r>
              <a:rPr lang="zh-CN" altLang="en-US" sz="1800" spc="145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𝒙</a:t>
            </a:r>
            <a:r>
              <a:rPr lang="zh-CN" altLang="en-US" sz="1800" spc="-10" dirty="0">
                <a:latin typeface="宋体"/>
                <a:cs typeface="宋体"/>
              </a:rPr>
              <a:t>，</a:t>
            </a:r>
            <a:r>
              <a:rPr lang="zh-CN" altLang="en-US" sz="1800" dirty="0">
                <a:latin typeface="宋体"/>
                <a:cs typeface="宋体"/>
              </a:rPr>
              <a:t>则</a:t>
            </a:r>
            <a:r>
              <a:rPr lang="zh-CN" altLang="en-US" sz="1800" spc="-1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宋体"/>
                <a:cs typeface="宋体"/>
              </a:rPr>
              <a:t>右</a:t>
            </a:r>
            <a:r>
              <a:rPr lang="zh-CN" altLang="en-US" sz="1800" spc="-50" dirty="0">
                <a:latin typeface="宋体"/>
                <a:cs typeface="宋体"/>
              </a:rPr>
              <a:t>移</a:t>
            </a:r>
            <a:endParaRPr lang="zh-CN" altLang="en-US" sz="1800" dirty="0">
              <a:latin typeface="宋体"/>
              <a:cs typeface="宋体"/>
            </a:endParaRPr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70F2CA58-0D9B-154C-ABA0-FD5263B6C2A3}"/>
              </a:ext>
            </a:extLst>
          </p:cNvPr>
          <p:cNvSpPr/>
          <p:nvPr/>
        </p:nvSpPr>
        <p:spPr>
          <a:xfrm>
            <a:off x="2114848" y="313604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5019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F3181DB3-0DC6-4E47-A5ED-B272C280CCAB}"/>
              </a:ext>
            </a:extLst>
          </p:cNvPr>
          <p:cNvSpPr/>
          <p:nvPr/>
        </p:nvSpPr>
        <p:spPr>
          <a:xfrm>
            <a:off x="1934381" y="313604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22733" y="25019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7" name="object 10">
            <a:extLst>
              <a:ext uri="{FF2B5EF4-FFF2-40B4-BE49-F238E27FC236}">
                <a16:creationId xmlns:a16="http://schemas.microsoft.com/office/drawing/2014/main" id="{37EB0977-A133-2342-B91F-E7AF74A183E2}"/>
              </a:ext>
            </a:extLst>
          </p:cNvPr>
          <p:cNvGraphicFramePr>
            <a:graphicFrameLocks noGrp="1"/>
          </p:cNvGraphicFramePr>
          <p:nvPr/>
        </p:nvGraphicFramePr>
        <p:xfrm>
          <a:off x="3772661" y="4178934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object 12">
            <a:extLst>
              <a:ext uri="{FF2B5EF4-FFF2-40B4-BE49-F238E27FC236}">
                <a16:creationId xmlns:a16="http://schemas.microsoft.com/office/drawing/2014/main" id="{2D26B2BD-935E-9546-908E-EAC91F49E14D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3">
            <a:extLst>
              <a:ext uri="{FF2B5EF4-FFF2-40B4-BE49-F238E27FC236}">
                <a16:creationId xmlns:a16="http://schemas.microsoft.com/office/drawing/2014/main" id="{68C081C5-6D51-334D-84FB-C67CD4CD7BE7}"/>
              </a:ext>
            </a:extLst>
          </p:cNvPr>
          <p:cNvSpPr/>
          <p:nvPr/>
        </p:nvSpPr>
        <p:spPr>
          <a:xfrm>
            <a:off x="3898391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4">
            <a:extLst>
              <a:ext uri="{FF2B5EF4-FFF2-40B4-BE49-F238E27FC236}">
                <a16:creationId xmlns:a16="http://schemas.microsoft.com/office/drawing/2014/main" id="{01C2FFA2-B039-394F-9538-C968B3127A31}"/>
              </a:ext>
            </a:extLst>
          </p:cNvPr>
          <p:cNvSpPr/>
          <p:nvPr/>
        </p:nvSpPr>
        <p:spPr>
          <a:xfrm>
            <a:off x="4584191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0">
            <a:extLst>
              <a:ext uri="{FF2B5EF4-FFF2-40B4-BE49-F238E27FC236}">
                <a16:creationId xmlns:a16="http://schemas.microsoft.com/office/drawing/2014/main" id="{39FC201F-6641-D544-9659-CBEB379F5442}"/>
              </a:ext>
            </a:extLst>
          </p:cNvPr>
          <p:cNvSpPr txBox="1"/>
          <p:nvPr/>
        </p:nvSpPr>
        <p:spPr>
          <a:xfrm>
            <a:off x="3892041" y="5362075"/>
            <a:ext cx="129539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5" name="object 21">
            <a:extLst>
              <a:ext uri="{FF2B5EF4-FFF2-40B4-BE49-F238E27FC236}">
                <a16:creationId xmlns:a16="http://schemas.microsoft.com/office/drawing/2014/main" id="{1587D77C-B517-F543-B21D-73C9916E7030}"/>
              </a:ext>
            </a:extLst>
          </p:cNvPr>
          <p:cNvSpPr txBox="1"/>
          <p:nvPr/>
        </p:nvSpPr>
        <p:spPr>
          <a:xfrm>
            <a:off x="4583938" y="5380109"/>
            <a:ext cx="134620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C13D10C-0EFA-8842-B991-79B89E498C99}"/>
              </a:ext>
            </a:extLst>
          </p:cNvPr>
          <p:cNvSpPr txBox="1"/>
          <p:nvPr/>
        </p:nvSpPr>
        <p:spPr>
          <a:xfrm>
            <a:off x="4275118" y="3704905"/>
            <a:ext cx="1211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16255" algn="ctr">
              <a:lnSpc>
                <a:spcPct val="100000"/>
              </a:lnSpc>
              <a:spcBef>
                <a:spcPts val="85"/>
              </a:spcBef>
            </a:pPr>
            <a:r>
              <a:rPr lang="en-US" altLang="zh-CN" sz="1800" b="1" dirty="0">
                <a:latin typeface="Times New Roman"/>
                <a:cs typeface="Times New Roman"/>
              </a:rPr>
              <a:t>6 &gt;</a:t>
            </a:r>
            <a:r>
              <a:rPr lang="zh-CN" altLang="en-US" sz="1800" b="1" spc="-10" dirty="0">
                <a:latin typeface="Times New Roman"/>
                <a:cs typeface="Times New Roman"/>
              </a:rPr>
              <a:t> </a:t>
            </a:r>
            <a:r>
              <a:rPr lang="en-US" altLang="zh-CN" sz="1800" b="1" spc="-50" dirty="0">
                <a:latin typeface="Times New Roman"/>
                <a:cs typeface="Times New Roman"/>
              </a:rPr>
              <a:t>4</a:t>
            </a:r>
            <a:endParaRPr lang="zh-CN" altLang="en-US" sz="1800" dirty="0">
              <a:latin typeface="Times New Roman"/>
              <a:cs typeface="Times New Roman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40B5EAC-078E-FA49-80B7-46C30FD3F58F}"/>
              </a:ext>
            </a:extLst>
          </p:cNvPr>
          <p:cNvSpPr txBox="1"/>
          <p:nvPr/>
        </p:nvSpPr>
        <p:spPr>
          <a:xfrm>
            <a:off x="7742712" y="3493582"/>
            <a:ext cx="697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080" algn="r">
              <a:lnSpc>
                <a:spcPct val="100000"/>
              </a:lnSpc>
              <a:spcBef>
                <a:spcPts val="695"/>
              </a:spcBef>
            </a:pPr>
            <a:r>
              <a:rPr lang="zh-CN" altLang="en-US" sz="1800" spc="-25" dirty="0">
                <a:latin typeface="宋体"/>
                <a:cs typeface="宋体"/>
              </a:rPr>
              <a:t>主元</a:t>
            </a:r>
            <a:endParaRPr lang="zh-CN" altLang="en-US" sz="1800" dirty="0">
              <a:latin typeface="宋体"/>
              <a:cs typeface="宋体"/>
            </a:endParaRPr>
          </a:p>
        </p:txBody>
      </p:sp>
      <p:sp>
        <p:nvSpPr>
          <p:cNvPr id="28" name="object 7">
            <a:extLst>
              <a:ext uri="{FF2B5EF4-FFF2-40B4-BE49-F238E27FC236}">
                <a16:creationId xmlns:a16="http://schemas.microsoft.com/office/drawing/2014/main" id="{0988A4BB-2D1C-7C4A-8BE9-171C8181CE0C}"/>
              </a:ext>
            </a:extLst>
          </p:cNvPr>
          <p:cNvSpPr/>
          <p:nvPr/>
        </p:nvSpPr>
        <p:spPr>
          <a:xfrm>
            <a:off x="2114848" y="3503005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4892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8">
            <a:extLst>
              <a:ext uri="{FF2B5EF4-FFF2-40B4-BE49-F238E27FC236}">
                <a16:creationId xmlns:a16="http://schemas.microsoft.com/office/drawing/2014/main" id="{8CD5B12A-35D4-7240-A6D0-B410AEC78B82}"/>
              </a:ext>
            </a:extLst>
          </p:cNvPr>
          <p:cNvSpPr/>
          <p:nvPr/>
        </p:nvSpPr>
        <p:spPr>
          <a:xfrm>
            <a:off x="1934381" y="3503005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22733" y="24892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71367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28F3ACF1-C2FA-064D-8E76-B83D14D14925}"/>
              </a:ext>
            </a:extLst>
          </p:cNvPr>
          <p:cNvSpPr/>
          <p:nvPr/>
        </p:nvSpPr>
        <p:spPr>
          <a:xfrm>
            <a:off x="3762444" y="2659278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305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F3BC2B55-DC54-9E49-B82D-D641281A762A}"/>
              </a:ext>
            </a:extLst>
          </p:cNvPr>
          <p:cNvSpPr/>
          <p:nvPr/>
        </p:nvSpPr>
        <p:spPr>
          <a:xfrm>
            <a:off x="3564451" y="2659278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24765" y="27305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9E5C0D9D-1A5E-E043-9D56-A0D19D56D1D0}"/>
              </a:ext>
            </a:extLst>
          </p:cNvPr>
          <p:cNvSpPr txBox="1"/>
          <p:nvPr/>
        </p:nvSpPr>
        <p:spPr>
          <a:xfrm>
            <a:off x="810641" y="1116729"/>
            <a:ext cx="5214620" cy="186436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宋体"/>
                <a:cs typeface="宋体"/>
              </a:rPr>
              <a:t>实现方法</a:t>
            </a:r>
            <a:endParaRPr sz="28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1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选取固定位置主元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dirty="0">
                <a:latin typeface="宋体"/>
                <a:cs typeface="宋体"/>
              </a:rPr>
              <a:t>（</a:t>
            </a:r>
            <a:r>
              <a:rPr sz="2400" dirty="0" err="1">
                <a:latin typeface="宋体"/>
                <a:cs typeface="宋体"/>
              </a:rPr>
              <a:t>如尾元素</a:t>
            </a:r>
            <a:r>
              <a:rPr sz="2400" spc="-50" dirty="0">
                <a:latin typeface="宋体"/>
                <a:cs typeface="宋体"/>
              </a:rPr>
              <a:t>）</a:t>
            </a:r>
            <a:endParaRPr sz="24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维护两个部分的右端点变量</a:t>
            </a:r>
            <a:r>
              <a:rPr sz="2400" spc="-10" dirty="0">
                <a:latin typeface="Cambria Math"/>
                <a:cs typeface="Cambria Math"/>
              </a:rPr>
              <a:t>𝒊</a:t>
            </a:r>
            <a:r>
              <a:rPr sz="2400" spc="-75" dirty="0">
                <a:latin typeface="Cambria Math"/>
                <a:cs typeface="Cambria Math"/>
              </a:rPr>
              <a:t>, </a:t>
            </a:r>
            <a:r>
              <a:rPr sz="2400" spc="-50" dirty="0">
                <a:latin typeface="Cambria Math"/>
                <a:cs typeface="Cambria Math"/>
              </a:rPr>
              <a:t>𝒋</a:t>
            </a:r>
            <a:endParaRPr sz="2400" dirty="0">
              <a:latin typeface="Cambria Math"/>
              <a:cs typeface="Cambria Math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考察数组元素</a:t>
            </a:r>
            <a:r>
              <a:rPr sz="2400" dirty="0">
                <a:latin typeface="Cambria Math"/>
                <a:cs typeface="Cambria Math"/>
              </a:rPr>
              <a:t>𝑨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𝒋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400" dirty="0">
                <a:latin typeface="宋体"/>
                <a:cs typeface="宋体"/>
              </a:rPr>
              <a:t>，</a:t>
            </a:r>
            <a:r>
              <a:rPr sz="2400" spc="-10" dirty="0" err="1">
                <a:solidFill>
                  <a:srgbClr val="FF0000"/>
                </a:solidFill>
                <a:latin typeface="宋体"/>
                <a:cs typeface="宋体"/>
              </a:rPr>
              <a:t>只和主元比较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DC786AE0-1C2B-B34F-BA04-C19C6AE5C2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3334" y="155137"/>
            <a:ext cx="393243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数组划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分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A97F6C9E-23AB-2F49-B8AD-AB37D7F6FE55}"/>
              </a:ext>
            </a:extLst>
          </p:cNvPr>
          <p:cNvGraphicFramePr>
            <a:graphicFrameLocks noGrp="1"/>
          </p:cNvGraphicFramePr>
          <p:nvPr/>
        </p:nvGraphicFramePr>
        <p:xfrm>
          <a:off x="6954901" y="1016761"/>
          <a:ext cx="4607558" cy="584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7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1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835">
                <a:tc>
                  <a:txBody>
                    <a:bodyPr/>
                    <a:lstStyle/>
                    <a:p>
                      <a:pPr marL="5581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>
                          <a:latin typeface="Cambria Math"/>
                          <a:cs typeface="Cambria Math"/>
                        </a:rPr>
                        <a:t>≤</a:t>
                      </a:r>
                      <a:r>
                        <a:rPr sz="2600" spc="1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600" spc="-50"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27051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>
                          <a:latin typeface="Cambria Math"/>
                          <a:cs typeface="Cambria Math"/>
                        </a:rPr>
                        <a:t>&gt;</a:t>
                      </a:r>
                      <a:r>
                        <a:rPr sz="2600" spc="1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600" spc="-50"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200" spc="-20">
                          <a:latin typeface="宋体"/>
                          <a:cs typeface="宋体"/>
                        </a:rPr>
                        <a:t>待考察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T="901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object 12">
            <a:extLst>
              <a:ext uri="{FF2B5EF4-FFF2-40B4-BE49-F238E27FC236}">
                <a16:creationId xmlns:a16="http://schemas.microsoft.com/office/drawing/2014/main" id="{C2671A58-D833-804A-9367-BD6F289041A9}"/>
              </a:ext>
            </a:extLst>
          </p:cNvPr>
          <p:cNvSpPr/>
          <p:nvPr/>
        </p:nvSpPr>
        <p:spPr>
          <a:xfrm>
            <a:off x="8643366" y="1646682"/>
            <a:ext cx="114300" cy="335915"/>
          </a:xfrm>
          <a:custGeom>
            <a:avLst/>
            <a:gdLst/>
            <a:ahLst/>
            <a:cxnLst/>
            <a:rect l="l" t="t" r="r" b="b"/>
            <a:pathLst>
              <a:path w="114300" h="335914">
                <a:moveTo>
                  <a:pt x="76200" y="95250"/>
                </a:moveTo>
                <a:lnTo>
                  <a:pt x="38100" y="95250"/>
                </a:lnTo>
                <a:lnTo>
                  <a:pt x="38100" y="335788"/>
                </a:lnTo>
                <a:lnTo>
                  <a:pt x="76200" y="335788"/>
                </a:lnTo>
                <a:lnTo>
                  <a:pt x="76200" y="95250"/>
                </a:lnTo>
                <a:close/>
              </a:path>
              <a:path w="114300" h="335914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335914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D6580AAE-2011-D54F-AD29-B848A18F9B79}"/>
              </a:ext>
            </a:extLst>
          </p:cNvPr>
          <p:cNvSpPr txBox="1"/>
          <p:nvPr/>
        </p:nvSpPr>
        <p:spPr>
          <a:xfrm>
            <a:off x="8636254" y="1991613"/>
            <a:ext cx="129539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06AFC6E8-C47A-6440-8FA1-97D8CEE0D16C}"/>
              </a:ext>
            </a:extLst>
          </p:cNvPr>
          <p:cNvSpPr/>
          <p:nvPr/>
        </p:nvSpPr>
        <p:spPr>
          <a:xfrm>
            <a:off x="9792461" y="1652777"/>
            <a:ext cx="114300" cy="358140"/>
          </a:xfrm>
          <a:custGeom>
            <a:avLst/>
            <a:gdLst/>
            <a:ahLst/>
            <a:cxnLst/>
            <a:rect l="l" t="t" r="r" b="b"/>
            <a:pathLst>
              <a:path w="114300" h="358139">
                <a:moveTo>
                  <a:pt x="76202" y="114172"/>
                </a:moveTo>
                <a:lnTo>
                  <a:pt x="38102" y="114426"/>
                </a:lnTo>
                <a:lnTo>
                  <a:pt x="39751" y="357886"/>
                </a:lnTo>
                <a:lnTo>
                  <a:pt x="77851" y="357632"/>
                </a:lnTo>
                <a:lnTo>
                  <a:pt x="76202" y="114172"/>
                </a:lnTo>
                <a:close/>
              </a:path>
              <a:path w="114300" h="358139">
                <a:moveTo>
                  <a:pt x="56388" y="0"/>
                </a:moveTo>
                <a:lnTo>
                  <a:pt x="0" y="114681"/>
                </a:lnTo>
                <a:lnTo>
                  <a:pt x="38102" y="114426"/>
                </a:lnTo>
                <a:lnTo>
                  <a:pt x="37973" y="95376"/>
                </a:lnTo>
                <a:lnTo>
                  <a:pt x="104744" y="95123"/>
                </a:lnTo>
                <a:lnTo>
                  <a:pt x="56388" y="0"/>
                </a:lnTo>
                <a:close/>
              </a:path>
              <a:path w="114300" h="358139">
                <a:moveTo>
                  <a:pt x="76073" y="95123"/>
                </a:moveTo>
                <a:lnTo>
                  <a:pt x="37973" y="95376"/>
                </a:lnTo>
                <a:lnTo>
                  <a:pt x="38102" y="114426"/>
                </a:lnTo>
                <a:lnTo>
                  <a:pt x="76202" y="114172"/>
                </a:lnTo>
                <a:lnTo>
                  <a:pt x="76073" y="95123"/>
                </a:lnTo>
                <a:close/>
              </a:path>
              <a:path w="114300" h="358139">
                <a:moveTo>
                  <a:pt x="104744" y="95123"/>
                </a:moveTo>
                <a:lnTo>
                  <a:pt x="76073" y="95123"/>
                </a:lnTo>
                <a:lnTo>
                  <a:pt x="76202" y="114172"/>
                </a:lnTo>
                <a:lnTo>
                  <a:pt x="114300" y="113919"/>
                </a:lnTo>
                <a:lnTo>
                  <a:pt x="104744" y="951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6673C368-16C0-A042-B136-CF9B71C68CB2}"/>
              </a:ext>
            </a:extLst>
          </p:cNvPr>
          <p:cNvSpPr txBox="1"/>
          <p:nvPr/>
        </p:nvSpPr>
        <p:spPr>
          <a:xfrm>
            <a:off x="9785095" y="1982977"/>
            <a:ext cx="13462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830673B-00DE-A84A-A27F-FD5DDC946169}"/>
              </a:ext>
            </a:extLst>
          </p:cNvPr>
          <p:cNvSpPr txBox="1"/>
          <p:nvPr/>
        </p:nvSpPr>
        <p:spPr>
          <a:xfrm>
            <a:off x="1137062" y="3076744"/>
            <a:ext cx="9945584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  <a:tabLst>
                <a:tab pos="306705" algn="l"/>
                <a:tab pos="1151255" algn="l"/>
              </a:tabLst>
            </a:pPr>
            <a:r>
              <a:rPr lang="en" altLang="zh-CN" sz="120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lang="en" altLang="zh-CN" sz="120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lang="zh-CN" altLang="en-US" sz="1800" dirty="0">
                <a:latin typeface="宋体"/>
                <a:cs typeface="宋体"/>
              </a:rPr>
              <a:t>若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zh-CN" altLang="en-US" sz="1800" spc="260" dirty="0">
                <a:latin typeface="Cambria Math"/>
                <a:cs typeface="Cambria Math"/>
              </a:rPr>
              <a:t> </a:t>
            </a:r>
            <a:r>
              <a:rPr lang="zh-CN" altLang="en-US" sz="1800" spc="-5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Cambria Math"/>
                <a:cs typeface="Cambria Math"/>
              </a:rPr>
              <a:t>	≤</a:t>
            </a:r>
            <a:r>
              <a:rPr lang="zh-CN" altLang="en-US" sz="1800" spc="150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𝒙</a:t>
            </a:r>
            <a:r>
              <a:rPr lang="zh-CN" altLang="en-US" sz="1800" spc="-10" dirty="0">
                <a:latin typeface="宋体"/>
                <a:cs typeface="宋体"/>
              </a:rPr>
              <a:t>，</a:t>
            </a:r>
            <a:r>
              <a:rPr lang="zh-CN" altLang="en-US" sz="1800" dirty="0">
                <a:latin typeface="宋体"/>
                <a:cs typeface="宋体"/>
              </a:rPr>
              <a:t>则交换</a:t>
            </a:r>
            <a:r>
              <a:rPr lang="zh-CN" altLang="en-US" sz="1800" spc="-10" dirty="0">
                <a:latin typeface="Cambria Math"/>
                <a:cs typeface="Cambria Math"/>
              </a:rPr>
              <a:t>𝑨</a:t>
            </a:r>
            <a:r>
              <a:rPr lang="en-US" altLang="zh-CN" sz="1800" spc="-10" dirty="0">
                <a:latin typeface="Cambria Math"/>
                <a:cs typeface="Cambria Math"/>
              </a:rPr>
              <a:t>[𝒋]</a:t>
            </a:r>
            <a:r>
              <a:rPr lang="zh-CN" altLang="en-US" sz="1800" dirty="0">
                <a:latin typeface="宋体"/>
                <a:cs typeface="宋体"/>
              </a:rPr>
              <a:t>和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en-US" altLang="zh-CN" sz="1800" dirty="0">
                <a:latin typeface="Cambria Math"/>
                <a:cs typeface="Cambria Math"/>
              </a:rPr>
              <a:t>[𝒊</a:t>
            </a:r>
            <a:r>
              <a:rPr lang="zh-CN" altLang="en-US" sz="1800" spc="20" dirty="0">
                <a:latin typeface="Cambria Math"/>
                <a:cs typeface="Cambria Math"/>
              </a:rPr>
              <a:t> </a:t>
            </a:r>
            <a:r>
              <a:rPr lang="en-US" altLang="zh-CN" sz="1800" dirty="0">
                <a:latin typeface="Cambria Math"/>
                <a:cs typeface="Cambria Math"/>
              </a:rPr>
              <a:t>+</a:t>
            </a:r>
            <a:r>
              <a:rPr lang="zh-CN" altLang="en-US" sz="1800" spc="20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𝟏</a:t>
            </a:r>
            <a:r>
              <a:rPr lang="en-US" altLang="zh-CN" sz="1800" spc="-10" dirty="0">
                <a:latin typeface="Cambria Math"/>
                <a:cs typeface="Cambria Math"/>
              </a:rPr>
              <a:t>]</a:t>
            </a:r>
            <a:r>
              <a:rPr lang="zh-CN" altLang="en-US" sz="1800" b="1" spc="-10" dirty="0">
                <a:latin typeface="微软雅黑"/>
                <a:cs typeface="微软雅黑"/>
              </a:rPr>
              <a:t>，</a:t>
            </a:r>
            <a:r>
              <a:rPr lang="zh-CN" altLang="en-US" sz="1800" spc="-10" dirty="0">
                <a:latin typeface="Cambria Math"/>
                <a:cs typeface="Cambria Math"/>
              </a:rPr>
              <a:t>𝒊</a:t>
            </a:r>
            <a:r>
              <a:rPr lang="en-US" altLang="zh-CN" sz="1800" spc="-10" dirty="0">
                <a:latin typeface="Cambria Math"/>
                <a:cs typeface="Cambria Math"/>
              </a:rPr>
              <a:t>,</a:t>
            </a:r>
            <a:r>
              <a:rPr lang="zh-CN" altLang="en-US" sz="1800" spc="-110" dirty="0">
                <a:latin typeface="Cambria Math"/>
                <a:cs typeface="Cambria Math"/>
              </a:rPr>
              <a:t> </a:t>
            </a:r>
            <a:r>
              <a:rPr lang="zh-CN" altLang="en-US" sz="1800" spc="-15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宋体"/>
                <a:cs typeface="宋体"/>
              </a:rPr>
              <a:t>右</a:t>
            </a:r>
            <a:r>
              <a:rPr lang="zh-CN" altLang="en-US" sz="1800" spc="-50" dirty="0">
                <a:latin typeface="宋体"/>
                <a:cs typeface="宋体"/>
              </a:rPr>
              <a:t>移</a:t>
            </a:r>
            <a:endParaRPr lang="zh-CN" altLang="en-US" sz="18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  <a:tabLst>
                <a:tab pos="306705" algn="l"/>
                <a:tab pos="1151255" algn="l"/>
              </a:tabLst>
            </a:pPr>
            <a:r>
              <a:rPr lang="en" altLang="zh-CN" sz="120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lang="en" altLang="zh-CN" sz="120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lang="zh-CN" altLang="en-US" sz="1800" dirty="0">
                <a:latin typeface="宋体"/>
                <a:cs typeface="宋体"/>
              </a:rPr>
              <a:t>若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zh-CN" altLang="en-US" sz="1800" spc="260" dirty="0">
                <a:latin typeface="Cambria Math"/>
                <a:cs typeface="Cambria Math"/>
              </a:rPr>
              <a:t> </a:t>
            </a:r>
            <a:r>
              <a:rPr lang="zh-CN" altLang="en-US" sz="1800" spc="-5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Cambria Math"/>
                <a:cs typeface="Cambria Math"/>
              </a:rPr>
              <a:t>	</a:t>
            </a:r>
            <a:r>
              <a:rPr lang="en-US" altLang="zh-CN" sz="1800" dirty="0">
                <a:latin typeface="Cambria Math"/>
                <a:cs typeface="Cambria Math"/>
              </a:rPr>
              <a:t>&gt;</a:t>
            </a:r>
            <a:r>
              <a:rPr lang="zh-CN" altLang="en-US" sz="1800" spc="145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𝒙</a:t>
            </a:r>
            <a:r>
              <a:rPr lang="zh-CN" altLang="en-US" sz="1800" spc="-10" dirty="0">
                <a:latin typeface="宋体"/>
                <a:cs typeface="宋体"/>
              </a:rPr>
              <a:t>，</a:t>
            </a:r>
            <a:r>
              <a:rPr lang="zh-CN" altLang="en-US" sz="1800" dirty="0">
                <a:latin typeface="宋体"/>
                <a:cs typeface="宋体"/>
              </a:rPr>
              <a:t>则</a:t>
            </a:r>
            <a:r>
              <a:rPr lang="zh-CN" altLang="en-US" sz="1800" spc="-1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宋体"/>
                <a:cs typeface="宋体"/>
              </a:rPr>
              <a:t>右</a:t>
            </a:r>
            <a:r>
              <a:rPr lang="zh-CN" altLang="en-US" sz="1800" spc="-50" dirty="0">
                <a:latin typeface="宋体"/>
                <a:cs typeface="宋体"/>
              </a:rPr>
              <a:t>移</a:t>
            </a:r>
            <a:endParaRPr lang="zh-CN" altLang="en-US" sz="1800" dirty="0">
              <a:latin typeface="宋体"/>
              <a:cs typeface="宋体"/>
            </a:endParaRPr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70F2CA58-0D9B-154C-ABA0-FD5263B6C2A3}"/>
              </a:ext>
            </a:extLst>
          </p:cNvPr>
          <p:cNvSpPr/>
          <p:nvPr/>
        </p:nvSpPr>
        <p:spPr>
          <a:xfrm>
            <a:off x="2114848" y="313604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5019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F3181DB3-0DC6-4E47-A5ED-B272C280CCAB}"/>
              </a:ext>
            </a:extLst>
          </p:cNvPr>
          <p:cNvSpPr/>
          <p:nvPr/>
        </p:nvSpPr>
        <p:spPr>
          <a:xfrm>
            <a:off x="1934381" y="313604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22733" y="25019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7" name="object 10">
            <a:extLst>
              <a:ext uri="{FF2B5EF4-FFF2-40B4-BE49-F238E27FC236}">
                <a16:creationId xmlns:a16="http://schemas.microsoft.com/office/drawing/2014/main" id="{780DA802-52D5-4F43-B2F9-8889FF868930}"/>
              </a:ext>
            </a:extLst>
          </p:cNvPr>
          <p:cNvGraphicFramePr>
            <a:graphicFrameLocks noGrp="1"/>
          </p:cNvGraphicFramePr>
          <p:nvPr/>
        </p:nvGraphicFramePr>
        <p:xfrm>
          <a:off x="3772661" y="4178934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object 12">
            <a:extLst>
              <a:ext uri="{FF2B5EF4-FFF2-40B4-BE49-F238E27FC236}">
                <a16:creationId xmlns:a16="http://schemas.microsoft.com/office/drawing/2014/main" id="{1A4B17E6-73C7-C94B-B147-7828540ECF10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3">
            <a:extLst>
              <a:ext uri="{FF2B5EF4-FFF2-40B4-BE49-F238E27FC236}">
                <a16:creationId xmlns:a16="http://schemas.microsoft.com/office/drawing/2014/main" id="{28BEE797-11E4-464B-86A5-85956CA65B80}"/>
              </a:ext>
            </a:extLst>
          </p:cNvPr>
          <p:cNvSpPr/>
          <p:nvPr/>
        </p:nvSpPr>
        <p:spPr>
          <a:xfrm>
            <a:off x="3898391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4">
            <a:extLst>
              <a:ext uri="{FF2B5EF4-FFF2-40B4-BE49-F238E27FC236}">
                <a16:creationId xmlns:a16="http://schemas.microsoft.com/office/drawing/2014/main" id="{D747247E-CC90-7B48-9EDB-29E1F3C5B03B}"/>
              </a:ext>
            </a:extLst>
          </p:cNvPr>
          <p:cNvSpPr/>
          <p:nvPr/>
        </p:nvSpPr>
        <p:spPr>
          <a:xfrm>
            <a:off x="4584191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0">
            <a:extLst>
              <a:ext uri="{FF2B5EF4-FFF2-40B4-BE49-F238E27FC236}">
                <a16:creationId xmlns:a16="http://schemas.microsoft.com/office/drawing/2014/main" id="{B054E876-7D74-124C-8F1B-9379DD7210C5}"/>
              </a:ext>
            </a:extLst>
          </p:cNvPr>
          <p:cNvSpPr txBox="1"/>
          <p:nvPr/>
        </p:nvSpPr>
        <p:spPr>
          <a:xfrm>
            <a:off x="3892041" y="5362075"/>
            <a:ext cx="129539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5" name="object 21">
            <a:extLst>
              <a:ext uri="{FF2B5EF4-FFF2-40B4-BE49-F238E27FC236}">
                <a16:creationId xmlns:a16="http://schemas.microsoft.com/office/drawing/2014/main" id="{BB9575B8-7C41-6042-B2EA-A3A82A11F961}"/>
              </a:ext>
            </a:extLst>
          </p:cNvPr>
          <p:cNvSpPr txBox="1"/>
          <p:nvPr/>
        </p:nvSpPr>
        <p:spPr>
          <a:xfrm>
            <a:off x="4583938" y="5380109"/>
            <a:ext cx="134620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27D1613-B085-DF47-8A79-A561C2AEEBCB}"/>
              </a:ext>
            </a:extLst>
          </p:cNvPr>
          <p:cNvSpPr txBox="1"/>
          <p:nvPr/>
        </p:nvSpPr>
        <p:spPr>
          <a:xfrm>
            <a:off x="4275118" y="3704905"/>
            <a:ext cx="1211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16255" algn="ctr">
              <a:lnSpc>
                <a:spcPct val="100000"/>
              </a:lnSpc>
              <a:spcBef>
                <a:spcPts val="85"/>
              </a:spcBef>
            </a:pPr>
            <a:r>
              <a:rPr lang="en-US" altLang="zh-CN" sz="1800" b="1" dirty="0">
                <a:latin typeface="Times New Roman"/>
                <a:cs typeface="Times New Roman"/>
              </a:rPr>
              <a:t>6 &gt;</a:t>
            </a:r>
            <a:r>
              <a:rPr lang="zh-CN" altLang="en-US" sz="1800" b="1" spc="-10" dirty="0">
                <a:latin typeface="Times New Roman"/>
                <a:cs typeface="Times New Roman"/>
              </a:rPr>
              <a:t> </a:t>
            </a:r>
            <a:r>
              <a:rPr lang="en-US" altLang="zh-CN" sz="1800" b="1" spc="-50" dirty="0">
                <a:latin typeface="Times New Roman"/>
                <a:cs typeface="Times New Roman"/>
              </a:rPr>
              <a:t>4</a:t>
            </a:r>
            <a:endParaRPr lang="zh-CN" altLang="en-US" sz="1800" dirty="0">
              <a:latin typeface="Times New Roman"/>
              <a:cs typeface="Times New Roman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7336018-FA28-0745-914D-8EC0FD8B7B3D}"/>
              </a:ext>
            </a:extLst>
          </p:cNvPr>
          <p:cNvSpPr txBox="1"/>
          <p:nvPr/>
        </p:nvSpPr>
        <p:spPr>
          <a:xfrm>
            <a:off x="7742712" y="3493582"/>
            <a:ext cx="697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080" algn="r">
              <a:lnSpc>
                <a:spcPct val="100000"/>
              </a:lnSpc>
              <a:spcBef>
                <a:spcPts val="695"/>
              </a:spcBef>
            </a:pPr>
            <a:r>
              <a:rPr lang="zh-CN" altLang="en-US" sz="1800" spc="-25" dirty="0">
                <a:latin typeface="宋体"/>
                <a:cs typeface="宋体"/>
              </a:rPr>
              <a:t>主元</a:t>
            </a:r>
            <a:endParaRPr lang="zh-CN" altLang="en-US" sz="1800" dirty="0">
              <a:latin typeface="宋体"/>
              <a:cs typeface="宋体"/>
            </a:endParaRPr>
          </a:p>
        </p:txBody>
      </p:sp>
      <p:sp>
        <p:nvSpPr>
          <p:cNvPr id="28" name="object 7">
            <a:extLst>
              <a:ext uri="{FF2B5EF4-FFF2-40B4-BE49-F238E27FC236}">
                <a16:creationId xmlns:a16="http://schemas.microsoft.com/office/drawing/2014/main" id="{D321D3A9-D58A-5E4E-AE9A-847FD9F7DBF5}"/>
              </a:ext>
            </a:extLst>
          </p:cNvPr>
          <p:cNvSpPr/>
          <p:nvPr/>
        </p:nvSpPr>
        <p:spPr>
          <a:xfrm>
            <a:off x="2114848" y="3503005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4892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8">
            <a:extLst>
              <a:ext uri="{FF2B5EF4-FFF2-40B4-BE49-F238E27FC236}">
                <a16:creationId xmlns:a16="http://schemas.microsoft.com/office/drawing/2014/main" id="{202969A9-40CD-5A44-8635-0EEB327E0C1A}"/>
              </a:ext>
            </a:extLst>
          </p:cNvPr>
          <p:cNvSpPr/>
          <p:nvPr/>
        </p:nvSpPr>
        <p:spPr>
          <a:xfrm>
            <a:off x="1934381" y="3503005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22733" y="24892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58493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28F3ACF1-C2FA-064D-8E76-B83D14D14925}"/>
              </a:ext>
            </a:extLst>
          </p:cNvPr>
          <p:cNvSpPr/>
          <p:nvPr/>
        </p:nvSpPr>
        <p:spPr>
          <a:xfrm>
            <a:off x="3762444" y="2659278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305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F3BC2B55-DC54-9E49-B82D-D641281A762A}"/>
              </a:ext>
            </a:extLst>
          </p:cNvPr>
          <p:cNvSpPr/>
          <p:nvPr/>
        </p:nvSpPr>
        <p:spPr>
          <a:xfrm>
            <a:off x="3564451" y="2659278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24765" y="27305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9E5C0D9D-1A5E-E043-9D56-A0D19D56D1D0}"/>
              </a:ext>
            </a:extLst>
          </p:cNvPr>
          <p:cNvSpPr txBox="1"/>
          <p:nvPr/>
        </p:nvSpPr>
        <p:spPr>
          <a:xfrm>
            <a:off x="810641" y="1116729"/>
            <a:ext cx="5214620" cy="186436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宋体"/>
                <a:cs typeface="宋体"/>
              </a:rPr>
              <a:t>实现方法</a:t>
            </a:r>
            <a:endParaRPr sz="28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1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选取固定位置主元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dirty="0">
                <a:latin typeface="宋体"/>
                <a:cs typeface="宋体"/>
              </a:rPr>
              <a:t>（</a:t>
            </a:r>
            <a:r>
              <a:rPr sz="2400" dirty="0" err="1">
                <a:latin typeface="宋体"/>
                <a:cs typeface="宋体"/>
              </a:rPr>
              <a:t>如尾元素</a:t>
            </a:r>
            <a:r>
              <a:rPr sz="2400" spc="-50" dirty="0">
                <a:latin typeface="宋体"/>
                <a:cs typeface="宋体"/>
              </a:rPr>
              <a:t>）</a:t>
            </a:r>
            <a:endParaRPr sz="24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维护两个部分的右端点变量</a:t>
            </a:r>
            <a:r>
              <a:rPr sz="2400" spc="-10" dirty="0">
                <a:latin typeface="Cambria Math"/>
                <a:cs typeface="Cambria Math"/>
              </a:rPr>
              <a:t>𝒊</a:t>
            </a:r>
            <a:r>
              <a:rPr sz="2400" spc="-75" dirty="0">
                <a:latin typeface="Cambria Math"/>
                <a:cs typeface="Cambria Math"/>
              </a:rPr>
              <a:t>, </a:t>
            </a:r>
            <a:r>
              <a:rPr sz="2400" spc="-50" dirty="0">
                <a:latin typeface="Cambria Math"/>
                <a:cs typeface="Cambria Math"/>
              </a:rPr>
              <a:t>𝒋</a:t>
            </a:r>
            <a:endParaRPr sz="2400" dirty="0">
              <a:latin typeface="Cambria Math"/>
              <a:cs typeface="Cambria Math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考察数组元素</a:t>
            </a:r>
            <a:r>
              <a:rPr sz="2400" dirty="0">
                <a:latin typeface="Cambria Math"/>
                <a:cs typeface="Cambria Math"/>
              </a:rPr>
              <a:t>𝑨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𝒋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400" dirty="0">
                <a:latin typeface="宋体"/>
                <a:cs typeface="宋体"/>
              </a:rPr>
              <a:t>，</a:t>
            </a:r>
            <a:r>
              <a:rPr sz="2400" spc="-10" dirty="0" err="1">
                <a:solidFill>
                  <a:srgbClr val="FF0000"/>
                </a:solidFill>
                <a:latin typeface="宋体"/>
                <a:cs typeface="宋体"/>
              </a:rPr>
              <a:t>只和主元比较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DC786AE0-1C2B-B34F-BA04-C19C6AE5C2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3334" y="155137"/>
            <a:ext cx="393243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数组划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分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A97F6C9E-23AB-2F49-B8AD-AB37D7F6FE55}"/>
              </a:ext>
            </a:extLst>
          </p:cNvPr>
          <p:cNvGraphicFramePr>
            <a:graphicFrameLocks noGrp="1"/>
          </p:cNvGraphicFramePr>
          <p:nvPr/>
        </p:nvGraphicFramePr>
        <p:xfrm>
          <a:off x="6954901" y="1016761"/>
          <a:ext cx="4607558" cy="584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7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1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835">
                <a:tc>
                  <a:txBody>
                    <a:bodyPr/>
                    <a:lstStyle/>
                    <a:p>
                      <a:pPr marL="5581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>
                          <a:latin typeface="Cambria Math"/>
                          <a:cs typeface="Cambria Math"/>
                        </a:rPr>
                        <a:t>≤</a:t>
                      </a:r>
                      <a:r>
                        <a:rPr sz="2600" spc="1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600" spc="-50"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27051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>
                          <a:latin typeface="Cambria Math"/>
                          <a:cs typeface="Cambria Math"/>
                        </a:rPr>
                        <a:t>&gt;</a:t>
                      </a:r>
                      <a:r>
                        <a:rPr sz="2600" spc="1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600" spc="-50"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200" spc="-20">
                          <a:latin typeface="宋体"/>
                          <a:cs typeface="宋体"/>
                        </a:rPr>
                        <a:t>待考察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T="901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object 12">
            <a:extLst>
              <a:ext uri="{FF2B5EF4-FFF2-40B4-BE49-F238E27FC236}">
                <a16:creationId xmlns:a16="http://schemas.microsoft.com/office/drawing/2014/main" id="{C2671A58-D833-804A-9367-BD6F289041A9}"/>
              </a:ext>
            </a:extLst>
          </p:cNvPr>
          <p:cNvSpPr/>
          <p:nvPr/>
        </p:nvSpPr>
        <p:spPr>
          <a:xfrm>
            <a:off x="8643366" y="1646682"/>
            <a:ext cx="114300" cy="335915"/>
          </a:xfrm>
          <a:custGeom>
            <a:avLst/>
            <a:gdLst/>
            <a:ahLst/>
            <a:cxnLst/>
            <a:rect l="l" t="t" r="r" b="b"/>
            <a:pathLst>
              <a:path w="114300" h="335914">
                <a:moveTo>
                  <a:pt x="76200" y="95250"/>
                </a:moveTo>
                <a:lnTo>
                  <a:pt x="38100" y="95250"/>
                </a:lnTo>
                <a:lnTo>
                  <a:pt x="38100" y="335788"/>
                </a:lnTo>
                <a:lnTo>
                  <a:pt x="76200" y="335788"/>
                </a:lnTo>
                <a:lnTo>
                  <a:pt x="76200" y="95250"/>
                </a:lnTo>
                <a:close/>
              </a:path>
              <a:path w="114300" h="335914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335914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D6580AAE-2011-D54F-AD29-B848A18F9B79}"/>
              </a:ext>
            </a:extLst>
          </p:cNvPr>
          <p:cNvSpPr txBox="1"/>
          <p:nvPr/>
        </p:nvSpPr>
        <p:spPr>
          <a:xfrm>
            <a:off x="8636254" y="1991613"/>
            <a:ext cx="129539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06AFC6E8-C47A-6440-8FA1-97D8CEE0D16C}"/>
              </a:ext>
            </a:extLst>
          </p:cNvPr>
          <p:cNvSpPr/>
          <p:nvPr/>
        </p:nvSpPr>
        <p:spPr>
          <a:xfrm>
            <a:off x="9792461" y="1652777"/>
            <a:ext cx="114300" cy="358140"/>
          </a:xfrm>
          <a:custGeom>
            <a:avLst/>
            <a:gdLst/>
            <a:ahLst/>
            <a:cxnLst/>
            <a:rect l="l" t="t" r="r" b="b"/>
            <a:pathLst>
              <a:path w="114300" h="358139">
                <a:moveTo>
                  <a:pt x="76202" y="114172"/>
                </a:moveTo>
                <a:lnTo>
                  <a:pt x="38102" y="114426"/>
                </a:lnTo>
                <a:lnTo>
                  <a:pt x="39751" y="357886"/>
                </a:lnTo>
                <a:lnTo>
                  <a:pt x="77851" y="357632"/>
                </a:lnTo>
                <a:lnTo>
                  <a:pt x="76202" y="114172"/>
                </a:lnTo>
                <a:close/>
              </a:path>
              <a:path w="114300" h="358139">
                <a:moveTo>
                  <a:pt x="56388" y="0"/>
                </a:moveTo>
                <a:lnTo>
                  <a:pt x="0" y="114681"/>
                </a:lnTo>
                <a:lnTo>
                  <a:pt x="38102" y="114426"/>
                </a:lnTo>
                <a:lnTo>
                  <a:pt x="37973" y="95376"/>
                </a:lnTo>
                <a:lnTo>
                  <a:pt x="104744" y="95123"/>
                </a:lnTo>
                <a:lnTo>
                  <a:pt x="56388" y="0"/>
                </a:lnTo>
                <a:close/>
              </a:path>
              <a:path w="114300" h="358139">
                <a:moveTo>
                  <a:pt x="76073" y="95123"/>
                </a:moveTo>
                <a:lnTo>
                  <a:pt x="37973" y="95376"/>
                </a:lnTo>
                <a:lnTo>
                  <a:pt x="38102" y="114426"/>
                </a:lnTo>
                <a:lnTo>
                  <a:pt x="76202" y="114172"/>
                </a:lnTo>
                <a:lnTo>
                  <a:pt x="76073" y="95123"/>
                </a:lnTo>
                <a:close/>
              </a:path>
              <a:path w="114300" h="358139">
                <a:moveTo>
                  <a:pt x="104744" y="95123"/>
                </a:moveTo>
                <a:lnTo>
                  <a:pt x="76073" y="95123"/>
                </a:lnTo>
                <a:lnTo>
                  <a:pt x="76202" y="114172"/>
                </a:lnTo>
                <a:lnTo>
                  <a:pt x="114300" y="113919"/>
                </a:lnTo>
                <a:lnTo>
                  <a:pt x="104744" y="951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6673C368-16C0-A042-B136-CF9B71C68CB2}"/>
              </a:ext>
            </a:extLst>
          </p:cNvPr>
          <p:cNvSpPr txBox="1"/>
          <p:nvPr/>
        </p:nvSpPr>
        <p:spPr>
          <a:xfrm>
            <a:off x="9785095" y="1982977"/>
            <a:ext cx="13462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830673B-00DE-A84A-A27F-FD5DDC946169}"/>
              </a:ext>
            </a:extLst>
          </p:cNvPr>
          <p:cNvSpPr txBox="1"/>
          <p:nvPr/>
        </p:nvSpPr>
        <p:spPr>
          <a:xfrm>
            <a:off x="1137062" y="3076744"/>
            <a:ext cx="9945584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  <a:tabLst>
                <a:tab pos="306705" algn="l"/>
                <a:tab pos="1151255" algn="l"/>
              </a:tabLst>
            </a:pPr>
            <a:r>
              <a:rPr lang="en" altLang="zh-CN" sz="120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lang="en" altLang="zh-CN" sz="120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lang="zh-CN" altLang="en-US" sz="1800" dirty="0">
                <a:latin typeface="宋体"/>
                <a:cs typeface="宋体"/>
              </a:rPr>
              <a:t>若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zh-CN" altLang="en-US" sz="1800" spc="260" dirty="0">
                <a:latin typeface="Cambria Math"/>
                <a:cs typeface="Cambria Math"/>
              </a:rPr>
              <a:t> </a:t>
            </a:r>
            <a:r>
              <a:rPr lang="zh-CN" altLang="en-US" sz="1800" spc="-5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Cambria Math"/>
                <a:cs typeface="Cambria Math"/>
              </a:rPr>
              <a:t>	≤</a:t>
            </a:r>
            <a:r>
              <a:rPr lang="zh-CN" altLang="en-US" sz="1800" spc="150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𝒙</a:t>
            </a:r>
            <a:r>
              <a:rPr lang="zh-CN" altLang="en-US" sz="1800" spc="-10" dirty="0">
                <a:latin typeface="宋体"/>
                <a:cs typeface="宋体"/>
              </a:rPr>
              <a:t>，</a:t>
            </a:r>
            <a:r>
              <a:rPr lang="zh-CN" altLang="en-US" sz="1800" dirty="0">
                <a:latin typeface="宋体"/>
                <a:cs typeface="宋体"/>
              </a:rPr>
              <a:t>则交换</a:t>
            </a:r>
            <a:r>
              <a:rPr lang="zh-CN" altLang="en-US" sz="1800" spc="-10" dirty="0">
                <a:latin typeface="Cambria Math"/>
                <a:cs typeface="Cambria Math"/>
              </a:rPr>
              <a:t>𝑨</a:t>
            </a:r>
            <a:r>
              <a:rPr lang="en-US" altLang="zh-CN" sz="1800" spc="-10" dirty="0">
                <a:latin typeface="Cambria Math"/>
                <a:cs typeface="Cambria Math"/>
              </a:rPr>
              <a:t>[𝒋]</a:t>
            </a:r>
            <a:r>
              <a:rPr lang="zh-CN" altLang="en-US" sz="1800" dirty="0">
                <a:latin typeface="宋体"/>
                <a:cs typeface="宋体"/>
              </a:rPr>
              <a:t>和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en-US" altLang="zh-CN" sz="1800" dirty="0">
                <a:latin typeface="Cambria Math"/>
                <a:cs typeface="Cambria Math"/>
              </a:rPr>
              <a:t>[𝒊</a:t>
            </a:r>
            <a:r>
              <a:rPr lang="zh-CN" altLang="en-US" sz="1800" spc="20" dirty="0">
                <a:latin typeface="Cambria Math"/>
                <a:cs typeface="Cambria Math"/>
              </a:rPr>
              <a:t> </a:t>
            </a:r>
            <a:r>
              <a:rPr lang="en-US" altLang="zh-CN" sz="1800" dirty="0">
                <a:latin typeface="Cambria Math"/>
                <a:cs typeface="Cambria Math"/>
              </a:rPr>
              <a:t>+</a:t>
            </a:r>
            <a:r>
              <a:rPr lang="zh-CN" altLang="en-US" sz="1800" spc="20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𝟏</a:t>
            </a:r>
            <a:r>
              <a:rPr lang="en-US" altLang="zh-CN" sz="1800" spc="-10" dirty="0">
                <a:latin typeface="Cambria Math"/>
                <a:cs typeface="Cambria Math"/>
              </a:rPr>
              <a:t>]</a:t>
            </a:r>
            <a:r>
              <a:rPr lang="zh-CN" altLang="en-US" sz="1800" b="1" spc="-10" dirty="0">
                <a:latin typeface="微软雅黑"/>
                <a:cs typeface="微软雅黑"/>
              </a:rPr>
              <a:t>，</a:t>
            </a:r>
            <a:r>
              <a:rPr lang="zh-CN" altLang="en-US" sz="1800" spc="-10" dirty="0">
                <a:latin typeface="Cambria Math"/>
                <a:cs typeface="Cambria Math"/>
              </a:rPr>
              <a:t>𝒊</a:t>
            </a:r>
            <a:r>
              <a:rPr lang="en-US" altLang="zh-CN" sz="1800" spc="-10" dirty="0">
                <a:latin typeface="Cambria Math"/>
                <a:cs typeface="Cambria Math"/>
              </a:rPr>
              <a:t>,</a:t>
            </a:r>
            <a:r>
              <a:rPr lang="zh-CN" altLang="en-US" sz="1800" spc="-110" dirty="0">
                <a:latin typeface="Cambria Math"/>
                <a:cs typeface="Cambria Math"/>
              </a:rPr>
              <a:t> </a:t>
            </a:r>
            <a:r>
              <a:rPr lang="zh-CN" altLang="en-US" sz="1800" spc="-15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宋体"/>
                <a:cs typeface="宋体"/>
              </a:rPr>
              <a:t>右</a:t>
            </a:r>
            <a:r>
              <a:rPr lang="zh-CN" altLang="en-US" sz="1800" spc="-50" dirty="0">
                <a:latin typeface="宋体"/>
                <a:cs typeface="宋体"/>
              </a:rPr>
              <a:t>移</a:t>
            </a:r>
            <a:endParaRPr lang="zh-CN" altLang="en-US" sz="18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  <a:tabLst>
                <a:tab pos="306705" algn="l"/>
                <a:tab pos="1151255" algn="l"/>
              </a:tabLst>
            </a:pPr>
            <a:r>
              <a:rPr lang="en" altLang="zh-CN" sz="120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lang="en" altLang="zh-CN" sz="120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lang="zh-CN" altLang="en-US" sz="1800" dirty="0">
                <a:latin typeface="宋体"/>
                <a:cs typeface="宋体"/>
              </a:rPr>
              <a:t>若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zh-CN" altLang="en-US" sz="1800" spc="260" dirty="0">
                <a:latin typeface="Cambria Math"/>
                <a:cs typeface="Cambria Math"/>
              </a:rPr>
              <a:t> </a:t>
            </a:r>
            <a:r>
              <a:rPr lang="zh-CN" altLang="en-US" sz="1800" spc="-5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Cambria Math"/>
                <a:cs typeface="Cambria Math"/>
              </a:rPr>
              <a:t>	</a:t>
            </a:r>
            <a:r>
              <a:rPr lang="en-US" altLang="zh-CN" sz="1800" dirty="0">
                <a:latin typeface="Cambria Math"/>
                <a:cs typeface="Cambria Math"/>
              </a:rPr>
              <a:t>&gt;</a:t>
            </a:r>
            <a:r>
              <a:rPr lang="zh-CN" altLang="en-US" sz="1800" spc="145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𝒙</a:t>
            </a:r>
            <a:r>
              <a:rPr lang="zh-CN" altLang="en-US" sz="1800" spc="-10" dirty="0">
                <a:latin typeface="宋体"/>
                <a:cs typeface="宋体"/>
              </a:rPr>
              <a:t>，</a:t>
            </a:r>
            <a:r>
              <a:rPr lang="zh-CN" altLang="en-US" sz="1800" dirty="0">
                <a:latin typeface="宋体"/>
                <a:cs typeface="宋体"/>
              </a:rPr>
              <a:t>则</a:t>
            </a:r>
            <a:r>
              <a:rPr lang="zh-CN" altLang="en-US" sz="1800" spc="-1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宋体"/>
                <a:cs typeface="宋体"/>
              </a:rPr>
              <a:t>右</a:t>
            </a:r>
            <a:r>
              <a:rPr lang="zh-CN" altLang="en-US" sz="1800" spc="-50" dirty="0">
                <a:latin typeface="宋体"/>
                <a:cs typeface="宋体"/>
              </a:rPr>
              <a:t>移</a:t>
            </a:r>
            <a:endParaRPr lang="zh-CN" altLang="en-US" sz="1800" dirty="0">
              <a:latin typeface="宋体"/>
              <a:cs typeface="宋体"/>
            </a:endParaRPr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70F2CA58-0D9B-154C-ABA0-FD5263B6C2A3}"/>
              </a:ext>
            </a:extLst>
          </p:cNvPr>
          <p:cNvSpPr/>
          <p:nvPr/>
        </p:nvSpPr>
        <p:spPr>
          <a:xfrm>
            <a:off x="2114848" y="313604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5019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F3181DB3-0DC6-4E47-A5ED-B272C280CCAB}"/>
              </a:ext>
            </a:extLst>
          </p:cNvPr>
          <p:cNvSpPr/>
          <p:nvPr/>
        </p:nvSpPr>
        <p:spPr>
          <a:xfrm>
            <a:off x="1934381" y="313604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22733" y="25019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7" name="object 10">
            <a:extLst>
              <a:ext uri="{FF2B5EF4-FFF2-40B4-BE49-F238E27FC236}">
                <a16:creationId xmlns:a16="http://schemas.microsoft.com/office/drawing/2014/main" id="{4A278C26-9288-3345-BCCB-F7D38A2B47C4}"/>
              </a:ext>
            </a:extLst>
          </p:cNvPr>
          <p:cNvGraphicFramePr>
            <a:graphicFrameLocks noGrp="1"/>
          </p:cNvGraphicFramePr>
          <p:nvPr/>
        </p:nvGraphicFramePr>
        <p:xfrm>
          <a:off x="3772661" y="4178934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object 12">
            <a:extLst>
              <a:ext uri="{FF2B5EF4-FFF2-40B4-BE49-F238E27FC236}">
                <a16:creationId xmlns:a16="http://schemas.microsoft.com/office/drawing/2014/main" id="{9373365A-77F0-7946-A7E9-66644E03E6E7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3">
            <a:extLst>
              <a:ext uri="{FF2B5EF4-FFF2-40B4-BE49-F238E27FC236}">
                <a16:creationId xmlns:a16="http://schemas.microsoft.com/office/drawing/2014/main" id="{A0FCFDEF-ED19-BB44-9A35-B23B2D63E466}"/>
              </a:ext>
            </a:extLst>
          </p:cNvPr>
          <p:cNvSpPr/>
          <p:nvPr/>
        </p:nvSpPr>
        <p:spPr>
          <a:xfrm>
            <a:off x="3898391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4">
            <a:extLst>
              <a:ext uri="{FF2B5EF4-FFF2-40B4-BE49-F238E27FC236}">
                <a16:creationId xmlns:a16="http://schemas.microsoft.com/office/drawing/2014/main" id="{B69E0A4B-F085-A548-86FF-BBB523A8EE20}"/>
              </a:ext>
            </a:extLst>
          </p:cNvPr>
          <p:cNvSpPr/>
          <p:nvPr/>
        </p:nvSpPr>
        <p:spPr>
          <a:xfrm>
            <a:off x="5203697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0">
            <a:extLst>
              <a:ext uri="{FF2B5EF4-FFF2-40B4-BE49-F238E27FC236}">
                <a16:creationId xmlns:a16="http://schemas.microsoft.com/office/drawing/2014/main" id="{2B19F6A0-2F10-1145-AF46-23E099245B8D}"/>
              </a:ext>
            </a:extLst>
          </p:cNvPr>
          <p:cNvSpPr txBox="1"/>
          <p:nvPr/>
        </p:nvSpPr>
        <p:spPr>
          <a:xfrm>
            <a:off x="3892041" y="5362075"/>
            <a:ext cx="129539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5" name="object 21">
            <a:extLst>
              <a:ext uri="{FF2B5EF4-FFF2-40B4-BE49-F238E27FC236}">
                <a16:creationId xmlns:a16="http://schemas.microsoft.com/office/drawing/2014/main" id="{863B9EE9-1A95-E043-BC24-B5E1D00B3A68}"/>
              </a:ext>
            </a:extLst>
          </p:cNvPr>
          <p:cNvSpPr txBox="1"/>
          <p:nvPr/>
        </p:nvSpPr>
        <p:spPr>
          <a:xfrm>
            <a:off x="5189982" y="5380109"/>
            <a:ext cx="134620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BAA07E5-D026-CC46-B282-E1274A5953C1}"/>
              </a:ext>
            </a:extLst>
          </p:cNvPr>
          <p:cNvSpPr txBox="1"/>
          <p:nvPr/>
        </p:nvSpPr>
        <p:spPr>
          <a:xfrm>
            <a:off x="7742712" y="3493582"/>
            <a:ext cx="697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080" algn="r">
              <a:lnSpc>
                <a:spcPct val="100000"/>
              </a:lnSpc>
              <a:spcBef>
                <a:spcPts val="695"/>
              </a:spcBef>
            </a:pPr>
            <a:r>
              <a:rPr lang="zh-CN" altLang="en-US" sz="1800" spc="-25" dirty="0">
                <a:latin typeface="宋体"/>
                <a:cs typeface="宋体"/>
              </a:rPr>
              <a:t>主元</a:t>
            </a:r>
            <a:endParaRPr lang="zh-CN" altLang="en-US" sz="1800" dirty="0">
              <a:latin typeface="宋体"/>
              <a:cs typeface="宋体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EBB9305-957B-AF4E-9210-56A81AEB1A56}"/>
              </a:ext>
            </a:extLst>
          </p:cNvPr>
          <p:cNvSpPr txBox="1"/>
          <p:nvPr/>
        </p:nvSpPr>
        <p:spPr>
          <a:xfrm>
            <a:off x="3834147" y="3684452"/>
            <a:ext cx="2127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9285" algn="ctr">
              <a:lnSpc>
                <a:spcPct val="100000"/>
              </a:lnSpc>
              <a:spcBef>
                <a:spcPts val="85"/>
              </a:spcBef>
            </a:pPr>
            <a:r>
              <a:rPr lang="en-US" altLang="zh-CN" sz="1800" b="1" dirty="0">
                <a:latin typeface="Times New Roman"/>
                <a:cs typeface="Times New Roman"/>
              </a:rPr>
              <a:t>7 &gt;</a:t>
            </a:r>
            <a:r>
              <a:rPr lang="zh-CN" altLang="en-US" sz="1800" b="1" spc="-10" dirty="0">
                <a:latin typeface="Times New Roman"/>
                <a:cs typeface="Times New Roman"/>
              </a:rPr>
              <a:t> </a:t>
            </a:r>
            <a:r>
              <a:rPr lang="en-US" altLang="zh-CN" sz="1800" b="1" spc="-50" dirty="0">
                <a:latin typeface="Times New Roman"/>
                <a:cs typeface="Times New Roman"/>
              </a:rPr>
              <a:t>4</a:t>
            </a:r>
            <a:endParaRPr lang="zh-CN" altLang="en-US" sz="1800" dirty="0">
              <a:latin typeface="Times New Roman"/>
              <a:cs typeface="Times New Roman"/>
            </a:endParaRPr>
          </a:p>
        </p:txBody>
      </p:sp>
      <p:sp>
        <p:nvSpPr>
          <p:cNvPr id="28" name="object 7">
            <a:extLst>
              <a:ext uri="{FF2B5EF4-FFF2-40B4-BE49-F238E27FC236}">
                <a16:creationId xmlns:a16="http://schemas.microsoft.com/office/drawing/2014/main" id="{EEC2A944-2B05-2D41-921C-420EA29D0749}"/>
              </a:ext>
            </a:extLst>
          </p:cNvPr>
          <p:cNvSpPr/>
          <p:nvPr/>
        </p:nvSpPr>
        <p:spPr>
          <a:xfrm>
            <a:off x="2114848" y="3503005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4892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8">
            <a:extLst>
              <a:ext uri="{FF2B5EF4-FFF2-40B4-BE49-F238E27FC236}">
                <a16:creationId xmlns:a16="http://schemas.microsoft.com/office/drawing/2014/main" id="{5549A52E-2167-0A47-BC12-69E26A9C2755}"/>
              </a:ext>
            </a:extLst>
          </p:cNvPr>
          <p:cNvSpPr/>
          <p:nvPr/>
        </p:nvSpPr>
        <p:spPr>
          <a:xfrm>
            <a:off x="1934381" y="3503005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22733" y="24892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88495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28F3ACF1-C2FA-064D-8E76-B83D14D14925}"/>
              </a:ext>
            </a:extLst>
          </p:cNvPr>
          <p:cNvSpPr/>
          <p:nvPr/>
        </p:nvSpPr>
        <p:spPr>
          <a:xfrm>
            <a:off x="3762444" y="2659278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305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F3BC2B55-DC54-9E49-B82D-D641281A762A}"/>
              </a:ext>
            </a:extLst>
          </p:cNvPr>
          <p:cNvSpPr/>
          <p:nvPr/>
        </p:nvSpPr>
        <p:spPr>
          <a:xfrm>
            <a:off x="3564451" y="2659278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24765" y="27305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9E5C0D9D-1A5E-E043-9D56-A0D19D56D1D0}"/>
              </a:ext>
            </a:extLst>
          </p:cNvPr>
          <p:cNvSpPr txBox="1"/>
          <p:nvPr/>
        </p:nvSpPr>
        <p:spPr>
          <a:xfrm>
            <a:off x="810641" y="1116729"/>
            <a:ext cx="5214620" cy="186436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宋体"/>
                <a:cs typeface="宋体"/>
              </a:rPr>
              <a:t>实现方法</a:t>
            </a:r>
            <a:endParaRPr sz="28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1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选取固定位置主元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dirty="0">
                <a:latin typeface="宋体"/>
                <a:cs typeface="宋体"/>
              </a:rPr>
              <a:t>（</a:t>
            </a:r>
            <a:r>
              <a:rPr sz="2400" dirty="0" err="1">
                <a:latin typeface="宋体"/>
                <a:cs typeface="宋体"/>
              </a:rPr>
              <a:t>如尾元素</a:t>
            </a:r>
            <a:r>
              <a:rPr sz="2400" spc="-50" dirty="0">
                <a:latin typeface="宋体"/>
                <a:cs typeface="宋体"/>
              </a:rPr>
              <a:t>）</a:t>
            </a:r>
            <a:endParaRPr sz="24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维护两个部分的右端点变量</a:t>
            </a:r>
            <a:r>
              <a:rPr sz="2400" spc="-10" dirty="0">
                <a:latin typeface="Cambria Math"/>
                <a:cs typeface="Cambria Math"/>
              </a:rPr>
              <a:t>𝒊</a:t>
            </a:r>
            <a:r>
              <a:rPr sz="2400" spc="-75" dirty="0">
                <a:latin typeface="Cambria Math"/>
                <a:cs typeface="Cambria Math"/>
              </a:rPr>
              <a:t>, </a:t>
            </a:r>
            <a:r>
              <a:rPr sz="2400" spc="-50" dirty="0">
                <a:latin typeface="Cambria Math"/>
                <a:cs typeface="Cambria Math"/>
              </a:rPr>
              <a:t>𝒋</a:t>
            </a:r>
            <a:endParaRPr sz="2400" dirty="0">
              <a:latin typeface="Cambria Math"/>
              <a:cs typeface="Cambria Math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考察数组元素</a:t>
            </a:r>
            <a:r>
              <a:rPr sz="2400" dirty="0">
                <a:latin typeface="Cambria Math"/>
                <a:cs typeface="Cambria Math"/>
              </a:rPr>
              <a:t>𝑨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𝒋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400" dirty="0">
                <a:latin typeface="宋体"/>
                <a:cs typeface="宋体"/>
              </a:rPr>
              <a:t>，</a:t>
            </a:r>
            <a:r>
              <a:rPr sz="2400" spc="-10" dirty="0" err="1">
                <a:solidFill>
                  <a:srgbClr val="FF0000"/>
                </a:solidFill>
                <a:latin typeface="宋体"/>
                <a:cs typeface="宋体"/>
              </a:rPr>
              <a:t>只和主元比较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DC786AE0-1C2B-B34F-BA04-C19C6AE5C2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3334" y="155137"/>
            <a:ext cx="393243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数组划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分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A97F6C9E-23AB-2F49-B8AD-AB37D7F6FE55}"/>
              </a:ext>
            </a:extLst>
          </p:cNvPr>
          <p:cNvGraphicFramePr>
            <a:graphicFrameLocks noGrp="1"/>
          </p:cNvGraphicFramePr>
          <p:nvPr/>
        </p:nvGraphicFramePr>
        <p:xfrm>
          <a:off x="6954901" y="1016761"/>
          <a:ext cx="4607558" cy="584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7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1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835">
                <a:tc>
                  <a:txBody>
                    <a:bodyPr/>
                    <a:lstStyle/>
                    <a:p>
                      <a:pPr marL="5581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>
                          <a:latin typeface="Cambria Math"/>
                          <a:cs typeface="Cambria Math"/>
                        </a:rPr>
                        <a:t>≤</a:t>
                      </a:r>
                      <a:r>
                        <a:rPr sz="2600" spc="1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600" spc="-50"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27051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>
                          <a:latin typeface="Cambria Math"/>
                          <a:cs typeface="Cambria Math"/>
                        </a:rPr>
                        <a:t>&gt;</a:t>
                      </a:r>
                      <a:r>
                        <a:rPr sz="2600" spc="1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600" spc="-50"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200" spc="-20">
                          <a:latin typeface="宋体"/>
                          <a:cs typeface="宋体"/>
                        </a:rPr>
                        <a:t>待考察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T="901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object 12">
            <a:extLst>
              <a:ext uri="{FF2B5EF4-FFF2-40B4-BE49-F238E27FC236}">
                <a16:creationId xmlns:a16="http://schemas.microsoft.com/office/drawing/2014/main" id="{C2671A58-D833-804A-9367-BD6F289041A9}"/>
              </a:ext>
            </a:extLst>
          </p:cNvPr>
          <p:cNvSpPr/>
          <p:nvPr/>
        </p:nvSpPr>
        <p:spPr>
          <a:xfrm>
            <a:off x="8643366" y="1646682"/>
            <a:ext cx="114300" cy="335915"/>
          </a:xfrm>
          <a:custGeom>
            <a:avLst/>
            <a:gdLst/>
            <a:ahLst/>
            <a:cxnLst/>
            <a:rect l="l" t="t" r="r" b="b"/>
            <a:pathLst>
              <a:path w="114300" h="335914">
                <a:moveTo>
                  <a:pt x="76200" y="95250"/>
                </a:moveTo>
                <a:lnTo>
                  <a:pt x="38100" y="95250"/>
                </a:lnTo>
                <a:lnTo>
                  <a:pt x="38100" y="335788"/>
                </a:lnTo>
                <a:lnTo>
                  <a:pt x="76200" y="335788"/>
                </a:lnTo>
                <a:lnTo>
                  <a:pt x="76200" y="95250"/>
                </a:lnTo>
                <a:close/>
              </a:path>
              <a:path w="114300" h="335914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335914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D6580AAE-2011-D54F-AD29-B848A18F9B79}"/>
              </a:ext>
            </a:extLst>
          </p:cNvPr>
          <p:cNvSpPr txBox="1"/>
          <p:nvPr/>
        </p:nvSpPr>
        <p:spPr>
          <a:xfrm>
            <a:off x="8636254" y="1991613"/>
            <a:ext cx="129539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06AFC6E8-C47A-6440-8FA1-97D8CEE0D16C}"/>
              </a:ext>
            </a:extLst>
          </p:cNvPr>
          <p:cNvSpPr/>
          <p:nvPr/>
        </p:nvSpPr>
        <p:spPr>
          <a:xfrm>
            <a:off x="9792461" y="1652777"/>
            <a:ext cx="114300" cy="358140"/>
          </a:xfrm>
          <a:custGeom>
            <a:avLst/>
            <a:gdLst/>
            <a:ahLst/>
            <a:cxnLst/>
            <a:rect l="l" t="t" r="r" b="b"/>
            <a:pathLst>
              <a:path w="114300" h="358139">
                <a:moveTo>
                  <a:pt x="76202" y="114172"/>
                </a:moveTo>
                <a:lnTo>
                  <a:pt x="38102" y="114426"/>
                </a:lnTo>
                <a:lnTo>
                  <a:pt x="39751" y="357886"/>
                </a:lnTo>
                <a:lnTo>
                  <a:pt x="77851" y="357632"/>
                </a:lnTo>
                <a:lnTo>
                  <a:pt x="76202" y="114172"/>
                </a:lnTo>
                <a:close/>
              </a:path>
              <a:path w="114300" h="358139">
                <a:moveTo>
                  <a:pt x="56388" y="0"/>
                </a:moveTo>
                <a:lnTo>
                  <a:pt x="0" y="114681"/>
                </a:lnTo>
                <a:lnTo>
                  <a:pt x="38102" y="114426"/>
                </a:lnTo>
                <a:lnTo>
                  <a:pt x="37973" y="95376"/>
                </a:lnTo>
                <a:lnTo>
                  <a:pt x="104744" y="95123"/>
                </a:lnTo>
                <a:lnTo>
                  <a:pt x="56388" y="0"/>
                </a:lnTo>
                <a:close/>
              </a:path>
              <a:path w="114300" h="358139">
                <a:moveTo>
                  <a:pt x="76073" y="95123"/>
                </a:moveTo>
                <a:lnTo>
                  <a:pt x="37973" y="95376"/>
                </a:lnTo>
                <a:lnTo>
                  <a:pt x="38102" y="114426"/>
                </a:lnTo>
                <a:lnTo>
                  <a:pt x="76202" y="114172"/>
                </a:lnTo>
                <a:lnTo>
                  <a:pt x="76073" y="95123"/>
                </a:lnTo>
                <a:close/>
              </a:path>
              <a:path w="114300" h="358139">
                <a:moveTo>
                  <a:pt x="104744" y="95123"/>
                </a:moveTo>
                <a:lnTo>
                  <a:pt x="76073" y="95123"/>
                </a:lnTo>
                <a:lnTo>
                  <a:pt x="76202" y="114172"/>
                </a:lnTo>
                <a:lnTo>
                  <a:pt x="114300" y="113919"/>
                </a:lnTo>
                <a:lnTo>
                  <a:pt x="104744" y="951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6673C368-16C0-A042-B136-CF9B71C68CB2}"/>
              </a:ext>
            </a:extLst>
          </p:cNvPr>
          <p:cNvSpPr txBox="1"/>
          <p:nvPr/>
        </p:nvSpPr>
        <p:spPr>
          <a:xfrm>
            <a:off x="9785095" y="1982977"/>
            <a:ext cx="13462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830673B-00DE-A84A-A27F-FD5DDC946169}"/>
              </a:ext>
            </a:extLst>
          </p:cNvPr>
          <p:cNvSpPr txBox="1"/>
          <p:nvPr/>
        </p:nvSpPr>
        <p:spPr>
          <a:xfrm>
            <a:off x="1137062" y="3076744"/>
            <a:ext cx="9945584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  <a:tabLst>
                <a:tab pos="306705" algn="l"/>
                <a:tab pos="1151255" algn="l"/>
              </a:tabLst>
            </a:pPr>
            <a:r>
              <a:rPr lang="en" altLang="zh-CN" sz="120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lang="en" altLang="zh-CN" sz="120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lang="zh-CN" altLang="en-US" sz="1800" dirty="0">
                <a:latin typeface="宋体"/>
                <a:cs typeface="宋体"/>
              </a:rPr>
              <a:t>若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zh-CN" altLang="en-US" sz="1800" spc="260" dirty="0">
                <a:latin typeface="Cambria Math"/>
                <a:cs typeface="Cambria Math"/>
              </a:rPr>
              <a:t> </a:t>
            </a:r>
            <a:r>
              <a:rPr lang="zh-CN" altLang="en-US" sz="1800" spc="-5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Cambria Math"/>
                <a:cs typeface="Cambria Math"/>
              </a:rPr>
              <a:t>	≤</a:t>
            </a:r>
            <a:r>
              <a:rPr lang="zh-CN" altLang="en-US" sz="1800" spc="150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𝒙</a:t>
            </a:r>
            <a:r>
              <a:rPr lang="zh-CN" altLang="en-US" sz="1800" spc="-10" dirty="0">
                <a:latin typeface="宋体"/>
                <a:cs typeface="宋体"/>
              </a:rPr>
              <a:t>，</a:t>
            </a:r>
            <a:r>
              <a:rPr lang="zh-CN" altLang="en-US" sz="1800" dirty="0">
                <a:latin typeface="宋体"/>
                <a:cs typeface="宋体"/>
              </a:rPr>
              <a:t>则交换</a:t>
            </a:r>
            <a:r>
              <a:rPr lang="zh-CN" altLang="en-US" sz="1800" spc="-10" dirty="0">
                <a:latin typeface="Cambria Math"/>
                <a:cs typeface="Cambria Math"/>
              </a:rPr>
              <a:t>𝑨</a:t>
            </a:r>
            <a:r>
              <a:rPr lang="en-US" altLang="zh-CN" sz="1800" spc="-10" dirty="0">
                <a:latin typeface="Cambria Math"/>
                <a:cs typeface="Cambria Math"/>
              </a:rPr>
              <a:t>[𝒋]</a:t>
            </a:r>
            <a:r>
              <a:rPr lang="zh-CN" altLang="en-US" sz="1800" dirty="0">
                <a:latin typeface="宋体"/>
                <a:cs typeface="宋体"/>
              </a:rPr>
              <a:t>和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en-US" altLang="zh-CN" sz="1800" dirty="0">
                <a:latin typeface="Cambria Math"/>
                <a:cs typeface="Cambria Math"/>
              </a:rPr>
              <a:t>[𝒊</a:t>
            </a:r>
            <a:r>
              <a:rPr lang="zh-CN" altLang="en-US" sz="1800" spc="20" dirty="0">
                <a:latin typeface="Cambria Math"/>
                <a:cs typeface="Cambria Math"/>
              </a:rPr>
              <a:t> </a:t>
            </a:r>
            <a:r>
              <a:rPr lang="en-US" altLang="zh-CN" sz="1800" dirty="0">
                <a:latin typeface="Cambria Math"/>
                <a:cs typeface="Cambria Math"/>
              </a:rPr>
              <a:t>+</a:t>
            </a:r>
            <a:r>
              <a:rPr lang="zh-CN" altLang="en-US" sz="1800" spc="20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𝟏</a:t>
            </a:r>
            <a:r>
              <a:rPr lang="en-US" altLang="zh-CN" sz="1800" spc="-10" dirty="0">
                <a:latin typeface="Cambria Math"/>
                <a:cs typeface="Cambria Math"/>
              </a:rPr>
              <a:t>]</a:t>
            </a:r>
            <a:r>
              <a:rPr lang="zh-CN" altLang="en-US" sz="1800" b="1" spc="-10" dirty="0">
                <a:latin typeface="微软雅黑"/>
                <a:cs typeface="微软雅黑"/>
              </a:rPr>
              <a:t>，</a:t>
            </a:r>
            <a:r>
              <a:rPr lang="zh-CN" altLang="en-US" sz="1800" spc="-10" dirty="0">
                <a:latin typeface="Cambria Math"/>
                <a:cs typeface="Cambria Math"/>
              </a:rPr>
              <a:t>𝒊</a:t>
            </a:r>
            <a:r>
              <a:rPr lang="en-US" altLang="zh-CN" sz="1800" spc="-10" dirty="0">
                <a:latin typeface="Cambria Math"/>
                <a:cs typeface="Cambria Math"/>
              </a:rPr>
              <a:t>,</a:t>
            </a:r>
            <a:r>
              <a:rPr lang="zh-CN" altLang="en-US" sz="1800" spc="-110" dirty="0">
                <a:latin typeface="Cambria Math"/>
                <a:cs typeface="Cambria Math"/>
              </a:rPr>
              <a:t> </a:t>
            </a:r>
            <a:r>
              <a:rPr lang="zh-CN" altLang="en-US" sz="1800" spc="-15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宋体"/>
                <a:cs typeface="宋体"/>
              </a:rPr>
              <a:t>右</a:t>
            </a:r>
            <a:r>
              <a:rPr lang="zh-CN" altLang="en-US" sz="1800" spc="-50" dirty="0">
                <a:latin typeface="宋体"/>
                <a:cs typeface="宋体"/>
              </a:rPr>
              <a:t>移</a:t>
            </a:r>
            <a:endParaRPr lang="zh-CN" altLang="en-US" sz="18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  <a:tabLst>
                <a:tab pos="306705" algn="l"/>
                <a:tab pos="1151255" algn="l"/>
              </a:tabLst>
            </a:pPr>
            <a:r>
              <a:rPr lang="en" altLang="zh-CN" sz="120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lang="en" altLang="zh-CN" sz="120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lang="zh-CN" altLang="en-US" sz="1800" dirty="0">
                <a:latin typeface="宋体"/>
                <a:cs typeface="宋体"/>
              </a:rPr>
              <a:t>若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zh-CN" altLang="en-US" sz="1800" spc="260" dirty="0">
                <a:latin typeface="Cambria Math"/>
                <a:cs typeface="Cambria Math"/>
              </a:rPr>
              <a:t> </a:t>
            </a:r>
            <a:r>
              <a:rPr lang="zh-CN" altLang="en-US" sz="1800" spc="-5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Cambria Math"/>
                <a:cs typeface="Cambria Math"/>
              </a:rPr>
              <a:t>	</a:t>
            </a:r>
            <a:r>
              <a:rPr lang="en-US" altLang="zh-CN" sz="1800" dirty="0">
                <a:latin typeface="Cambria Math"/>
                <a:cs typeface="Cambria Math"/>
              </a:rPr>
              <a:t>&gt;</a:t>
            </a:r>
            <a:r>
              <a:rPr lang="zh-CN" altLang="en-US" sz="1800" spc="145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𝒙</a:t>
            </a:r>
            <a:r>
              <a:rPr lang="zh-CN" altLang="en-US" sz="1800" spc="-10" dirty="0">
                <a:latin typeface="宋体"/>
                <a:cs typeface="宋体"/>
              </a:rPr>
              <a:t>，</a:t>
            </a:r>
            <a:r>
              <a:rPr lang="zh-CN" altLang="en-US" sz="1800" dirty="0">
                <a:latin typeface="宋体"/>
                <a:cs typeface="宋体"/>
              </a:rPr>
              <a:t>则</a:t>
            </a:r>
            <a:r>
              <a:rPr lang="zh-CN" altLang="en-US" sz="1800" spc="-1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宋体"/>
                <a:cs typeface="宋体"/>
              </a:rPr>
              <a:t>右</a:t>
            </a:r>
            <a:r>
              <a:rPr lang="zh-CN" altLang="en-US" sz="1800" spc="-50" dirty="0">
                <a:latin typeface="宋体"/>
                <a:cs typeface="宋体"/>
              </a:rPr>
              <a:t>移</a:t>
            </a:r>
            <a:endParaRPr lang="zh-CN" altLang="en-US" sz="1800" dirty="0">
              <a:latin typeface="宋体"/>
              <a:cs typeface="宋体"/>
            </a:endParaRPr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70F2CA58-0D9B-154C-ABA0-FD5263B6C2A3}"/>
              </a:ext>
            </a:extLst>
          </p:cNvPr>
          <p:cNvSpPr/>
          <p:nvPr/>
        </p:nvSpPr>
        <p:spPr>
          <a:xfrm>
            <a:off x="2114848" y="313604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5019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F3181DB3-0DC6-4E47-A5ED-B272C280CCAB}"/>
              </a:ext>
            </a:extLst>
          </p:cNvPr>
          <p:cNvSpPr/>
          <p:nvPr/>
        </p:nvSpPr>
        <p:spPr>
          <a:xfrm>
            <a:off x="1934381" y="313604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22733" y="25019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BAA07E5-D026-CC46-B282-E1274A5953C1}"/>
              </a:ext>
            </a:extLst>
          </p:cNvPr>
          <p:cNvSpPr txBox="1"/>
          <p:nvPr/>
        </p:nvSpPr>
        <p:spPr>
          <a:xfrm>
            <a:off x="7742712" y="3493582"/>
            <a:ext cx="697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080" algn="r">
              <a:lnSpc>
                <a:spcPct val="100000"/>
              </a:lnSpc>
              <a:spcBef>
                <a:spcPts val="695"/>
              </a:spcBef>
            </a:pPr>
            <a:r>
              <a:rPr lang="zh-CN" altLang="en-US" sz="1800" spc="-25" dirty="0">
                <a:latin typeface="宋体"/>
                <a:cs typeface="宋体"/>
              </a:rPr>
              <a:t>主元</a:t>
            </a:r>
            <a:endParaRPr lang="zh-CN" altLang="en-US" sz="1800" dirty="0">
              <a:latin typeface="宋体"/>
              <a:cs typeface="宋体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EBB9305-957B-AF4E-9210-56A81AEB1A56}"/>
              </a:ext>
            </a:extLst>
          </p:cNvPr>
          <p:cNvSpPr txBox="1"/>
          <p:nvPr/>
        </p:nvSpPr>
        <p:spPr>
          <a:xfrm>
            <a:off x="3834147" y="3684452"/>
            <a:ext cx="2127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9285" algn="ctr">
              <a:lnSpc>
                <a:spcPct val="100000"/>
              </a:lnSpc>
              <a:spcBef>
                <a:spcPts val="85"/>
              </a:spcBef>
            </a:pPr>
            <a:r>
              <a:rPr lang="en-US" altLang="zh-CN" sz="1800" b="1" dirty="0">
                <a:latin typeface="Times New Roman"/>
                <a:cs typeface="Times New Roman"/>
              </a:rPr>
              <a:t>7 &gt;</a:t>
            </a:r>
            <a:r>
              <a:rPr lang="zh-CN" altLang="en-US" sz="1800" b="1" spc="-10" dirty="0">
                <a:latin typeface="Times New Roman"/>
                <a:cs typeface="Times New Roman"/>
              </a:rPr>
              <a:t> </a:t>
            </a:r>
            <a:r>
              <a:rPr lang="en-US" altLang="zh-CN" sz="1800" b="1" spc="-50" dirty="0">
                <a:latin typeface="Times New Roman"/>
                <a:cs typeface="Times New Roman"/>
              </a:rPr>
              <a:t>4</a:t>
            </a:r>
            <a:endParaRPr lang="zh-CN" altLang="en-US" sz="1800" dirty="0">
              <a:latin typeface="Times New Roman"/>
              <a:cs typeface="Times New Roman"/>
            </a:endParaRPr>
          </a:p>
        </p:txBody>
      </p:sp>
      <p:graphicFrame>
        <p:nvGraphicFramePr>
          <p:cNvPr id="28" name="object 10">
            <a:extLst>
              <a:ext uri="{FF2B5EF4-FFF2-40B4-BE49-F238E27FC236}">
                <a16:creationId xmlns:a16="http://schemas.microsoft.com/office/drawing/2014/main" id="{195FFBAD-2043-B444-99B4-03139C99D58E}"/>
              </a:ext>
            </a:extLst>
          </p:cNvPr>
          <p:cNvGraphicFramePr>
            <a:graphicFrameLocks noGrp="1"/>
          </p:cNvGraphicFramePr>
          <p:nvPr/>
        </p:nvGraphicFramePr>
        <p:xfrm>
          <a:off x="3772661" y="4178934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" name="object 12">
            <a:extLst>
              <a:ext uri="{FF2B5EF4-FFF2-40B4-BE49-F238E27FC236}">
                <a16:creationId xmlns:a16="http://schemas.microsoft.com/office/drawing/2014/main" id="{DD3A33CF-5F2D-974C-866D-9FE3F7647F7B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3">
            <a:extLst>
              <a:ext uri="{FF2B5EF4-FFF2-40B4-BE49-F238E27FC236}">
                <a16:creationId xmlns:a16="http://schemas.microsoft.com/office/drawing/2014/main" id="{69BD5181-911A-5945-AA37-9F6DC7811BE1}"/>
              </a:ext>
            </a:extLst>
          </p:cNvPr>
          <p:cNvSpPr/>
          <p:nvPr/>
        </p:nvSpPr>
        <p:spPr>
          <a:xfrm>
            <a:off x="3898391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4">
            <a:extLst>
              <a:ext uri="{FF2B5EF4-FFF2-40B4-BE49-F238E27FC236}">
                <a16:creationId xmlns:a16="http://schemas.microsoft.com/office/drawing/2014/main" id="{6B85C9FA-E619-D24A-9AE8-FCD188D56D76}"/>
              </a:ext>
            </a:extLst>
          </p:cNvPr>
          <p:cNvSpPr/>
          <p:nvPr/>
        </p:nvSpPr>
        <p:spPr>
          <a:xfrm>
            <a:off x="5203697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20">
            <a:extLst>
              <a:ext uri="{FF2B5EF4-FFF2-40B4-BE49-F238E27FC236}">
                <a16:creationId xmlns:a16="http://schemas.microsoft.com/office/drawing/2014/main" id="{A5948FF1-8D4E-8D4A-8D4D-FFACCB5A007F}"/>
              </a:ext>
            </a:extLst>
          </p:cNvPr>
          <p:cNvSpPr txBox="1"/>
          <p:nvPr/>
        </p:nvSpPr>
        <p:spPr>
          <a:xfrm>
            <a:off x="3892041" y="5362075"/>
            <a:ext cx="129539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33" name="object 21">
            <a:extLst>
              <a:ext uri="{FF2B5EF4-FFF2-40B4-BE49-F238E27FC236}">
                <a16:creationId xmlns:a16="http://schemas.microsoft.com/office/drawing/2014/main" id="{04166C9A-60DB-6F42-AB66-1B42ED5D04F5}"/>
              </a:ext>
            </a:extLst>
          </p:cNvPr>
          <p:cNvSpPr txBox="1"/>
          <p:nvPr/>
        </p:nvSpPr>
        <p:spPr>
          <a:xfrm>
            <a:off x="5189982" y="5380109"/>
            <a:ext cx="134620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2" name="object 7">
            <a:extLst>
              <a:ext uri="{FF2B5EF4-FFF2-40B4-BE49-F238E27FC236}">
                <a16:creationId xmlns:a16="http://schemas.microsoft.com/office/drawing/2014/main" id="{386EBC05-0D62-194F-BA2A-634313DD5BB6}"/>
              </a:ext>
            </a:extLst>
          </p:cNvPr>
          <p:cNvSpPr/>
          <p:nvPr/>
        </p:nvSpPr>
        <p:spPr>
          <a:xfrm>
            <a:off x="2114848" y="3503005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4892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8">
            <a:extLst>
              <a:ext uri="{FF2B5EF4-FFF2-40B4-BE49-F238E27FC236}">
                <a16:creationId xmlns:a16="http://schemas.microsoft.com/office/drawing/2014/main" id="{9967EA7D-A197-8C4A-AABB-01BA72E39035}"/>
              </a:ext>
            </a:extLst>
          </p:cNvPr>
          <p:cNvSpPr/>
          <p:nvPr/>
        </p:nvSpPr>
        <p:spPr>
          <a:xfrm>
            <a:off x="1934381" y="3503005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22733" y="24892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31220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28F3ACF1-C2FA-064D-8E76-B83D14D14925}"/>
              </a:ext>
            </a:extLst>
          </p:cNvPr>
          <p:cNvSpPr/>
          <p:nvPr/>
        </p:nvSpPr>
        <p:spPr>
          <a:xfrm>
            <a:off x="3762444" y="2659278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305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F3BC2B55-DC54-9E49-B82D-D641281A762A}"/>
              </a:ext>
            </a:extLst>
          </p:cNvPr>
          <p:cNvSpPr/>
          <p:nvPr/>
        </p:nvSpPr>
        <p:spPr>
          <a:xfrm>
            <a:off x="3564451" y="2659278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24765" y="27305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9E5C0D9D-1A5E-E043-9D56-A0D19D56D1D0}"/>
              </a:ext>
            </a:extLst>
          </p:cNvPr>
          <p:cNvSpPr txBox="1"/>
          <p:nvPr/>
        </p:nvSpPr>
        <p:spPr>
          <a:xfrm>
            <a:off x="810641" y="1116729"/>
            <a:ext cx="5214620" cy="186436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宋体"/>
                <a:cs typeface="宋体"/>
              </a:rPr>
              <a:t>实现方法</a:t>
            </a:r>
            <a:endParaRPr sz="28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1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选取固定位置主元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dirty="0">
                <a:latin typeface="宋体"/>
                <a:cs typeface="宋体"/>
              </a:rPr>
              <a:t>（</a:t>
            </a:r>
            <a:r>
              <a:rPr sz="2400" dirty="0" err="1">
                <a:latin typeface="宋体"/>
                <a:cs typeface="宋体"/>
              </a:rPr>
              <a:t>如尾元素</a:t>
            </a:r>
            <a:r>
              <a:rPr sz="2400" spc="-50" dirty="0">
                <a:latin typeface="宋体"/>
                <a:cs typeface="宋体"/>
              </a:rPr>
              <a:t>）</a:t>
            </a:r>
            <a:endParaRPr sz="24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维护两个部分的右端点变量</a:t>
            </a:r>
            <a:r>
              <a:rPr sz="2400" spc="-10" dirty="0">
                <a:latin typeface="Cambria Math"/>
                <a:cs typeface="Cambria Math"/>
              </a:rPr>
              <a:t>𝒊</a:t>
            </a:r>
            <a:r>
              <a:rPr sz="2400" spc="-75" dirty="0">
                <a:latin typeface="Cambria Math"/>
                <a:cs typeface="Cambria Math"/>
              </a:rPr>
              <a:t>, </a:t>
            </a:r>
            <a:r>
              <a:rPr sz="2400" spc="-50" dirty="0">
                <a:latin typeface="Cambria Math"/>
                <a:cs typeface="Cambria Math"/>
              </a:rPr>
              <a:t>𝒋</a:t>
            </a:r>
            <a:endParaRPr sz="2400" dirty="0">
              <a:latin typeface="Cambria Math"/>
              <a:cs typeface="Cambria Math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考察数组元素</a:t>
            </a:r>
            <a:r>
              <a:rPr sz="2400" dirty="0">
                <a:latin typeface="Cambria Math"/>
                <a:cs typeface="Cambria Math"/>
              </a:rPr>
              <a:t>𝑨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𝒋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400" dirty="0">
                <a:latin typeface="宋体"/>
                <a:cs typeface="宋体"/>
              </a:rPr>
              <a:t>，</a:t>
            </a:r>
            <a:r>
              <a:rPr sz="2400" spc="-10" dirty="0" err="1">
                <a:solidFill>
                  <a:srgbClr val="FF0000"/>
                </a:solidFill>
                <a:latin typeface="宋体"/>
                <a:cs typeface="宋体"/>
              </a:rPr>
              <a:t>只和主元比较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DC786AE0-1C2B-B34F-BA04-C19C6AE5C2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3334" y="155137"/>
            <a:ext cx="393243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数组划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分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A97F6C9E-23AB-2F49-B8AD-AB37D7F6FE55}"/>
              </a:ext>
            </a:extLst>
          </p:cNvPr>
          <p:cNvGraphicFramePr>
            <a:graphicFrameLocks noGrp="1"/>
          </p:cNvGraphicFramePr>
          <p:nvPr/>
        </p:nvGraphicFramePr>
        <p:xfrm>
          <a:off x="6954901" y="1016761"/>
          <a:ext cx="4607558" cy="584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7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1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835">
                <a:tc>
                  <a:txBody>
                    <a:bodyPr/>
                    <a:lstStyle/>
                    <a:p>
                      <a:pPr marL="5581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>
                          <a:latin typeface="Cambria Math"/>
                          <a:cs typeface="Cambria Math"/>
                        </a:rPr>
                        <a:t>≤</a:t>
                      </a:r>
                      <a:r>
                        <a:rPr sz="2600" spc="1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600" spc="-50"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27051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>
                          <a:latin typeface="Cambria Math"/>
                          <a:cs typeface="Cambria Math"/>
                        </a:rPr>
                        <a:t>&gt;</a:t>
                      </a:r>
                      <a:r>
                        <a:rPr sz="2600" spc="1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600" spc="-50"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200" spc="-20">
                          <a:latin typeface="宋体"/>
                          <a:cs typeface="宋体"/>
                        </a:rPr>
                        <a:t>待考察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T="901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object 12">
            <a:extLst>
              <a:ext uri="{FF2B5EF4-FFF2-40B4-BE49-F238E27FC236}">
                <a16:creationId xmlns:a16="http://schemas.microsoft.com/office/drawing/2014/main" id="{C2671A58-D833-804A-9367-BD6F289041A9}"/>
              </a:ext>
            </a:extLst>
          </p:cNvPr>
          <p:cNvSpPr/>
          <p:nvPr/>
        </p:nvSpPr>
        <p:spPr>
          <a:xfrm>
            <a:off x="8643366" y="1646682"/>
            <a:ext cx="114300" cy="335915"/>
          </a:xfrm>
          <a:custGeom>
            <a:avLst/>
            <a:gdLst/>
            <a:ahLst/>
            <a:cxnLst/>
            <a:rect l="l" t="t" r="r" b="b"/>
            <a:pathLst>
              <a:path w="114300" h="335914">
                <a:moveTo>
                  <a:pt x="76200" y="95250"/>
                </a:moveTo>
                <a:lnTo>
                  <a:pt x="38100" y="95250"/>
                </a:lnTo>
                <a:lnTo>
                  <a:pt x="38100" y="335788"/>
                </a:lnTo>
                <a:lnTo>
                  <a:pt x="76200" y="335788"/>
                </a:lnTo>
                <a:lnTo>
                  <a:pt x="76200" y="95250"/>
                </a:lnTo>
                <a:close/>
              </a:path>
              <a:path w="114300" h="335914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335914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D6580AAE-2011-D54F-AD29-B848A18F9B79}"/>
              </a:ext>
            </a:extLst>
          </p:cNvPr>
          <p:cNvSpPr txBox="1"/>
          <p:nvPr/>
        </p:nvSpPr>
        <p:spPr>
          <a:xfrm>
            <a:off x="8636254" y="1991613"/>
            <a:ext cx="129539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06AFC6E8-C47A-6440-8FA1-97D8CEE0D16C}"/>
              </a:ext>
            </a:extLst>
          </p:cNvPr>
          <p:cNvSpPr/>
          <p:nvPr/>
        </p:nvSpPr>
        <p:spPr>
          <a:xfrm>
            <a:off x="9792461" y="1652777"/>
            <a:ext cx="114300" cy="358140"/>
          </a:xfrm>
          <a:custGeom>
            <a:avLst/>
            <a:gdLst/>
            <a:ahLst/>
            <a:cxnLst/>
            <a:rect l="l" t="t" r="r" b="b"/>
            <a:pathLst>
              <a:path w="114300" h="358139">
                <a:moveTo>
                  <a:pt x="76202" y="114172"/>
                </a:moveTo>
                <a:lnTo>
                  <a:pt x="38102" y="114426"/>
                </a:lnTo>
                <a:lnTo>
                  <a:pt x="39751" y="357886"/>
                </a:lnTo>
                <a:lnTo>
                  <a:pt x="77851" y="357632"/>
                </a:lnTo>
                <a:lnTo>
                  <a:pt x="76202" y="114172"/>
                </a:lnTo>
                <a:close/>
              </a:path>
              <a:path w="114300" h="358139">
                <a:moveTo>
                  <a:pt x="56388" y="0"/>
                </a:moveTo>
                <a:lnTo>
                  <a:pt x="0" y="114681"/>
                </a:lnTo>
                <a:lnTo>
                  <a:pt x="38102" y="114426"/>
                </a:lnTo>
                <a:lnTo>
                  <a:pt x="37973" y="95376"/>
                </a:lnTo>
                <a:lnTo>
                  <a:pt x="104744" y="95123"/>
                </a:lnTo>
                <a:lnTo>
                  <a:pt x="56388" y="0"/>
                </a:lnTo>
                <a:close/>
              </a:path>
              <a:path w="114300" h="358139">
                <a:moveTo>
                  <a:pt x="76073" y="95123"/>
                </a:moveTo>
                <a:lnTo>
                  <a:pt x="37973" y="95376"/>
                </a:lnTo>
                <a:lnTo>
                  <a:pt x="38102" y="114426"/>
                </a:lnTo>
                <a:lnTo>
                  <a:pt x="76202" y="114172"/>
                </a:lnTo>
                <a:lnTo>
                  <a:pt x="76073" y="95123"/>
                </a:lnTo>
                <a:close/>
              </a:path>
              <a:path w="114300" h="358139">
                <a:moveTo>
                  <a:pt x="104744" y="95123"/>
                </a:moveTo>
                <a:lnTo>
                  <a:pt x="76073" y="95123"/>
                </a:lnTo>
                <a:lnTo>
                  <a:pt x="76202" y="114172"/>
                </a:lnTo>
                <a:lnTo>
                  <a:pt x="114300" y="113919"/>
                </a:lnTo>
                <a:lnTo>
                  <a:pt x="104744" y="951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6673C368-16C0-A042-B136-CF9B71C68CB2}"/>
              </a:ext>
            </a:extLst>
          </p:cNvPr>
          <p:cNvSpPr txBox="1"/>
          <p:nvPr/>
        </p:nvSpPr>
        <p:spPr>
          <a:xfrm>
            <a:off x="9785095" y="1982977"/>
            <a:ext cx="13462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830673B-00DE-A84A-A27F-FD5DDC946169}"/>
              </a:ext>
            </a:extLst>
          </p:cNvPr>
          <p:cNvSpPr txBox="1"/>
          <p:nvPr/>
        </p:nvSpPr>
        <p:spPr>
          <a:xfrm>
            <a:off x="1137062" y="3076744"/>
            <a:ext cx="9945584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  <a:tabLst>
                <a:tab pos="306705" algn="l"/>
                <a:tab pos="1151255" algn="l"/>
              </a:tabLst>
            </a:pPr>
            <a:r>
              <a:rPr lang="en" altLang="zh-CN" sz="120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lang="en" altLang="zh-CN" sz="120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lang="zh-CN" altLang="en-US" sz="1800" dirty="0">
                <a:latin typeface="宋体"/>
                <a:cs typeface="宋体"/>
              </a:rPr>
              <a:t>若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zh-CN" altLang="en-US" sz="1800" spc="260" dirty="0">
                <a:latin typeface="Cambria Math"/>
                <a:cs typeface="Cambria Math"/>
              </a:rPr>
              <a:t> </a:t>
            </a:r>
            <a:r>
              <a:rPr lang="zh-CN" altLang="en-US" sz="1800" spc="-5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Cambria Math"/>
                <a:cs typeface="Cambria Math"/>
              </a:rPr>
              <a:t>	≤</a:t>
            </a:r>
            <a:r>
              <a:rPr lang="zh-CN" altLang="en-US" sz="1800" spc="150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𝒙</a:t>
            </a:r>
            <a:r>
              <a:rPr lang="zh-CN" altLang="en-US" sz="1800" spc="-10" dirty="0">
                <a:latin typeface="宋体"/>
                <a:cs typeface="宋体"/>
              </a:rPr>
              <a:t>，</a:t>
            </a:r>
            <a:r>
              <a:rPr lang="zh-CN" altLang="en-US" sz="1800" dirty="0">
                <a:latin typeface="宋体"/>
                <a:cs typeface="宋体"/>
              </a:rPr>
              <a:t>则交换</a:t>
            </a:r>
            <a:r>
              <a:rPr lang="zh-CN" altLang="en-US" sz="1800" spc="-10" dirty="0">
                <a:latin typeface="Cambria Math"/>
                <a:cs typeface="Cambria Math"/>
              </a:rPr>
              <a:t>𝑨</a:t>
            </a:r>
            <a:r>
              <a:rPr lang="en-US" altLang="zh-CN" sz="1800" spc="-10" dirty="0">
                <a:latin typeface="Cambria Math"/>
                <a:cs typeface="Cambria Math"/>
              </a:rPr>
              <a:t>[𝒋]</a:t>
            </a:r>
            <a:r>
              <a:rPr lang="zh-CN" altLang="en-US" sz="1800" dirty="0">
                <a:latin typeface="宋体"/>
                <a:cs typeface="宋体"/>
              </a:rPr>
              <a:t>和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en-US" altLang="zh-CN" sz="1800" dirty="0">
                <a:latin typeface="Cambria Math"/>
                <a:cs typeface="Cambria Math"/>
              </a:rPr>
              <a:t>[𝒊</a:t>
            </a:r>
            <a:r>
              <a:rPr lang="zh-CN" altLang="en-US" sz="1800" spc="20" dirty="0">
                <a:latin typeface="Cambria Math"/>
                <a:cs typeface="Cambria Math"/>
              </a:rPr>
              <a:t> </a:t>
            </a:r>
            <a:r>
              <a:rPr lang="en-US" altLang="zh-CN" sz="1800" dirty="0">
                <a:latin typeface="Cambria Math"/>
                <a:cs typeface="Cambria Math"/>
              </a:rPr>
              <a:t>+</a:t>
            </a:r>
            <a:r>
              <a:rPr lang="zh-CN" altLang="en-US" sz="1800" spc="20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𝟏</a:t>
            </a:r>
            <a:r>
              <a:rPr lang="en-US" altLang="zh-CN" sz="1800" spc="-10" dirty="0">
                <a:latin typeface="Cambria Math"/>
                <a:cs typeface="Cambria Math"/>
              </a:rPr>
              <a:t>]</a:t>
            </a:r>
            <a:r>
              <a:rPr lang="zh-CN" altLang="en-US" sz="1800" b="1" spc="-10" dirty="0">
                <a:latin typeface="微软雅黑"/>
                <a:cs typeface="微软雅黑"/>
              </a:rPr>
              <a:t>，</a:t>
            </a:r>
            <a:r>
              <a:rPr lang="zh-CN" altLang="en-US" sz="1800" spc="-10" dirty="0">
                <a:latin typeface="Cambria Math"/>
                <a:cs typeface="Cambria Math"/>
              </a:rPr>
              <a:t>𝒊</a:t>
            </a:r>
            <a:r>
              <a:rPr lang="en-US" altLang="zh-CN" sz="1800" spc="-10" dirty="0">
                <a:latin typeface="Cambria Math"/>
                <a:cs typeface="Cambria Math"/>
              </a:rPr>
              <a:t>,</a:t>
            </a:r>
            <a:r>
              <a:rPr lang="zh-CN" altLang="en-US" sz="1800" spc="-110" dirty="0">
                <a:latin typeface="Cambria Math"/>
                <a:cs typeface="Cambria Math"/>
              </a:rPr>
              <a:t> </a:t>
            </a:r>
            <a:r>
              <a:rPr lang="zh-CN" altLang="en-US" sz="1800" spc="-15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宋体"/>
                <a:cs typeface="宋体"/>
              </a:rPr>
              <a:t>右</a:t>
            </a:r>
            <a:r>
              <a:rPr lang="zh-CN" altLang="en-US" sz="1800" spc="-50" dirty="0">
                <a:latin typeface="宋体"/>
                <a:cs typeface="宋体"/>
              </a:rPr>
              <a:t>移</a:t>
            </a:r>
            <a:endParaRPr lang="zh-CN" altLang="en-US" sz="18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  <a:tabLst>
                <a:tab pos="306705" algn="l"/>
                <a:tab pos="1151255" algn="l"/>
              </a:tabLst>
            </a:pPr>
            <a:r>
              <a:rPr lang="en" altLang="zh-CN" sz="120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lang="en" altLang="zh-CN" sz="120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lang="zh-CN" altLang="en-US" sz="1800" dirty="0">
                <a:latin typeface="宋体"/>
                <a:cs typeface="宋体"/>
              </a:rPr>
              <a:t>若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zh-CN" altLang="en-US" sz="1800" spc="260" dirty="0">
                <a:latin typeface="Cambria Math"/>
                <a:cs typeface="Cambria Math"/>
              </a:rPr>
              <a:t> </a:t>
            </a:r>
            <a:r>
              <a:rPr lang="zh-CN" altLang="en-US" sz="1800" spc="-5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Cambria Math"/>
                <a:cs typeface="Cambria Math"/>
              </a:rPr>
              <a:t>	</a:t>
            </a:r>
            <a:r>
              <a:rPr lang="en-US" altLang="zh-CN" sz="1800" dirty="0">
                <a:latin typeface="Cambria Math"/>
                <a:cs typeface="Cambria Math"/>
              </a:rPr>
              <a:t>&gt;</a:t>
            </a:r>
            <a:r>
              <a:rPr lang="zh-CN" altLang="en-US" sz="1800" spc="145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𝒙</a:t>
            </a:r>
            <a:r>
              <a:rPr lang="zh-CN" altLang="en-US" sz="1800" spc="-10" dirty="0">
                <a:latin typeface="宋体"/>
                <a:cs typeface="宋体"/>
              </a:rPr>
              <a:t>，</a:t>
            </a:r>
            <a:r>
              <a:rPr lang="zh-CN" altLang="en-US" sz="1800" dirty="0">
                <a:latin typeface="宋体"/>
                <a:cs typeface="宋体"/>
              </a:rPr>
              <a:t>则</a:t>
            </a:r>
            <a:r>
              <a:rPr lang="zh-CN" altLang="en-US" sz="1800" spc="-1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宋体"/>
                <a:cs typeface="宋体"/>
              </a:rPr>
              <a:t>右</a:t>
            </a:r>
            <a:r>
              <a:rPr lang="zh-CN" altLang="en-US" sz="1800" spc="-50" dirty="0">
                <a:latin typeface="宋体"/>
                <a:cs typeface="宋体"/>
              </a:rPr>
              <a:t>移</a:t>
            </a:r>
            <a:endParaRPr lang="zh-CN" altLang="en-US" sz="1800" dirty="0">
              <a:latin typeface="宋体"/>
              <a:cs typeface="宋体"/>
            </a:endParaRPr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70F2CA58-0D9B-154C-ABA0-FD5263B6C2A3}"/>
              </a:ext>
            </a:extLst>
          </p:cNvPr>
          <p:cNvSpPr/>
          <p:nvPr/>
        </p:nvSpPr>
        <p:spPr>
          <a:xfrm>
            <a:off x="2114848" y="313604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5019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F3181DB3-0DC6-4E47-A5ED-B272C280CCAB}"/>
              </a:ext>
            </a:extLst>
          </p:cNvPr>
          <p:cNvSpPr/>
          <p:nvPr/>
        </p:nvSpPr>
        <p:spPr>
          <a:xfrm>
            <a:off x="1934381" y="313604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22733" y="25019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BAA07E5-D026-CC46-B282-E1274A5953C1}"/>
              </a:ext>
            </a:extLst>
          </p:cNvPr>
          <p:cNvSpPr txBox="1"/>
          <p:nvPr/>
        </p:nvSpPr>
        <p:spPr>
          <a:xfrm>
            <a:off x="7742712" y="3493582"/>
            <a:ext cx="697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080" algn="r">
              <a:lnSpc>
                <a:spcPct val="100000"/>
              </a:lnSpc>
              <a:spcBef>
                <a:spcPts val="695"/>
              </a:spcBef>
            </a:pPr>
            <a:r>
              <a:rPr lang="zh-CN" altLang="en-US" sz="1800" spc="-25" dirty="0">
                <a:latin typeface="宋体"/>
                <a:cs typeface="宋体"/>
              </a:rPr>
              <a:t>主元</a:t>
            </a:r>
            <a:endParaRPr lang="zh-CN" altLang="en-US" sz="1800" dirty="0">
              <a:latin typeface="宋体"/>
              <a:cs typeface="宋体"/>
            </a:endParaRPr>
          </a:p>
        </p:txBody>
      </p:sp>
      <p:graphicFrame>
        <p:nvGraphicFramePr>
          <p:cNvPr id="22" name="object 10">
            <a:extLst>
              <a:ext uri="{FF2B5EF4-FFF2-40B4-BE49-F238E27FC236}">
                <a16:creationId xmlns:a16="http://schemas.microsoft.com/office/drawing/2014/main" id="{632B22E5-8A46-DC45-9B4C-B0DC55AAA2BD}"/>
              </a:ext>
            </a:extLst>
          </p:cNvPr>
          <p:cNvGraphicFramePr>
            <a:graphicFrameLocks noGrp="1"/>
          </p:cNvGraphicFramePr>
          <p:nvPr/>
        </p:nvGraphicFramePr>
        <p:xfrm>
          <a:off x="3772661" y="4178934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object 12">
            <a:extLst>
              <a:ext uri="{FF2B5EF4-FFF2-40B4-BE49-F238E27FC236}">
                <a16:creationId xmlns:a16="http://schemas.microsoft.com/office/drawing/2014/main" id="{9C88812B-C544-7D4E-BC18-5A6259FF5736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3">
            <a:extLst>
              <a:ext uri="{FF2B5EF4-FFF2-40B4-BE49-F238E27FC236}">
                <a16:creationId xmlns:a16="http://schemas.microsoft.com/office/drawing/2014/main" id="{CC3404CC-D0B8-E64E-9C59-66D3A767C6BA}"/>
              </a:ext>
            </a:extLst>
          </p:cNvPr>
          <p:cNvSpPr/>
          <p:nvPr/>
        </p:nvSpPr>
        <p:spPr>
          <a:xfrm>
            <a:off x="3898391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4">
            <a:extLst>
              <a:ext uri="{FF2B5EF4-FFF2-40B4-BE49-F238E27FC236}">
                <a16:creationId xmlns:a16="http://schemas.microsoft.com/office/drawing/2014/main" id="{58029776-AD3A-1440-A358-6AA6278F4F65}"/>
              </a:ext>
            </a:extLst>
          </p:cNvPr>
          <p:cNvSpPr/>
          <p:nvPr/>
        </p:nvSpPr>
        <p:spPr>
          <a:xfrm>
            <a:off x="5794247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20">
            <a:extLst>
              <a:ext uri="{FF2B5EF4-FFF2-40B4-BE49-F238E27FC236}">
                <a16:creationId xmlns:a16="http://schemas.microsoft.com/office/drawing/2014/main" id="{891AF908-E77F-CE4D-8A80-34CC6A0AB9B7}"/>
              </a:ext>
            </a:extLst>
          </p:cNvPr>
          <p:cNvSpPr txBox="1"/>
          <p:nvPr/>
        </p:nvSpPr>
        <p:spPr>
          <a:xfrm>
            <a:off x="3892041" y="5362075"/>
            <a:ext cx="129539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35" name="object 21">
            <a:extLst>
              <a:ext uri="{FF2B5EF4-FFF2-40B4-BE49-F238E27FC236}">
                <a16:creationId xmlns:a16="http://schemas.microsoft.com/office/drawing/2014/main" id="{3778D35E-1E95-164D-ABD3-DEF66BF037C0}"/>
              </a:ext>
            </a:extLst>
          </p:cNvPr>
          <p:cNvSpPr txBox="1"/>
          <p:nvPr/>
        </p:nvSpPr>
        <p:spPr>
          <a:xfrm>
            <a:off x="5778500" y="5380109"/>
            <a:ext cx="134620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2264476-3280-E14F-92BB-D8D0B6024898}"/>
              </a:ext>
            </a:extLst>
          </p:cNvPr>
          <p:cNvSpPr txBox="1"/>
          <p:nvPr/>
        </p:nvSpPr>
        <p:spPr>
          <a:xfrm>
            <a:off x="1350818" y="3734319"/>
            <a:ext cx="99455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133215">
              <a:lnSpc>
                <a:spcPct val="100000"/>
              </a:lnSpc>
              <a:spcBef>
                <a:spcPts val="85"/>
              </a:spcBef>
            </a:pPr>
            <a:r>
              <a:rPr lang="en-US" altLang="zh-CN" sz="1800" b="1" dirty="0">
                <a:latin typeface="Times New Roman"/>
                <a:cs typeface="Times New Roman"/>
              </a:rPr>
              <a:t>1 &lt;</a:t>
            </a:r>
            <a:r>
              <a:rPr lang="zh-CN" altLang="en-US" sz="1800" b="1" spc="-10" dirty="0">
                <a:latin typeface="Times New Roman"/>
                <a:cs typeface="Times New Roman"/>
              </a:rPr>
              <a:t> </a:t>
            </a:r>
            <a:r>
              <a:rPr lang="en-US" altLang="zh-CN" sz="1800" b="1" spc="-50" dirty="0">
                <a:latin typeface="Times New Roman"/>
                <a:cs typeface="Times New Roman"/>
              </a:rPr>
              <a:t>4</a:t>
            </a:r>
            <a:endParaRPr lang="zh-CN" altLang="en-US" sz="1800" dirty="0">
              <a:latin typeface="Times New Roman"/>
              <a:cs typeface="Times New Roman"/>
            </a:endParaRPr>
          </a:p>
        </p:txBody>
      </p:sp>
      <p:sp>
        <p:nvSpPr>
          <p:cNvPr id="27" name="object 7">
            <a:extLst>
              <a:ext uri="{FF2B5EF4-FFF2-40B4-BE49-F238E27FC236}">
                <a16:creationId xmlns:a16="http://schemas.microsoft.com/office/drawing/2014/main" id="{646A2B8D-B5FC-C94F-BC1A-2808BF5024A1}"/>
              </a:ext>
            </a:extLst>
          </p:cNvPr>
          <p:cNvSpPr/>
          <p:nvPr/>
        </p:nvSpPr>
        <p:spPr>
          <a:xfrm>
            <a:off x="2114848" y="3503005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4892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8">
            <a:extLst>
              <a:ext uri="{FF2B5EF4-FFF2-40B4-BE49-F238E27FC236}">
                <a16:creationId xmlns:a16="http://schemas.microsoft.com/office/drawing/2014/main" id="{A3BEF368-E736-B64D-B32D-77CB2767801B}"/>
              </a:ext>
            </a:extLst>
          </p:cNvPr>
          <p:cNvSpPr/>
          <p:nvPr/>
        </p:nvSpPr>
        <p:spPr>
          <a:xfrm>
            <a:off x="1934381" y="3503005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22733" y="24892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3178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28F3ACF1-C2FA-064D-8E76-B83D14D14925}"/>
              </a:ext>
            </a:extLst>
          </p:cNvPr>
          <p:cNvSpPr/>
          <p:nvPr/>
        </p:nvSpPr>
        <p:spPr>
          <a:xfrm>
            <a:off x="3762444" y="2659278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305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F3BC2B55-DC54-9E49-B82D-D641281A762A}"/>
              </a:ext>
            </a:extLst>
          </p:cNvPr>
          <p:cNvSpPr/>
          <p:nvPr/>
        </p:nvSpPr>
        <p:spPr>
          <a:xfrm>
            <a:off x="3564451" y="2659278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24765" y="27305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9E5C0D9D-1A5E-E043-9D56-A0D19D56D1D0}"/>
              </a:ext>
            </a:extLst>
          </p:cNvPr>
          <p:cNvSpPr txBox="1"/>
          <p:nvPr/>
        </p:nvSpPr>
        <p:spPr>
          <a:xfrm>
            <a:off x="810641" y="1116729"/>
            <a:ext cx="5214620" cy="186436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宋体"/>
                <a:cs typeface="宋体"/>
              </a:rPr>
              <a:t>实现方法</a:t>
            </a:r>
            <a:endParaRPr sz="28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1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选取固定位置主元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dirty="0">
                <a:latin typeface="宋体"/>
                <a:cs typeface="宋体"/>
              </a:rPr>
              <a:t>（</a:t>
            </a:r>
            <a:r>
              <a:rPr sz="2400" dirty="0" err="1">
                <a:latin typeface="宋体"/>
                <a:cs typeface="宋体"/>
              </a:rPr>
              <a:t>如尾元素</a:t>
            </a:r>
            <a:r>
              <a:rPr sz="2400" spc="-50" dirty="0">
                <a:latin typeface="宋体"/>
                <a:cs typeface="宋体"/>
              </a:rPr>
              <a:t>）</a:t>
            </a:r>
            <a:endParaRPr sz="24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维护两个部分的右端点变量</a:t>
            </a:r>
            <a:r>
              <a:rPr sz="2400" spc="-10" dirty="0">
                <a:latin typeface="Cambria Math"/>
                <a:cs typeface="Cambria Math"/>
              </a:rPr>
              <a:t>𝒊</a:t>
            </a:r>
            <a:r>
              <a:rPr sz="2400" spc="-75" dirty="0">
                <a:latin typeface="Cambria Math"/>
                <a:cs typeface="Cambria Math"/>
              </a:rPr>
              <a:t>, </a:t>
            </a:r>
            <a:r>
              <a:rPr sz="2400" spc="-50" dirty="0">
                <a:latin typeface="Cambria Math"/>
                <a:cs typeface="Cambria Math"/>
              </a:rPr>
              <a:t>𝒋</a:t>
            </a:r>
            <a:endParaRPr sz="2400" dirty="0">
              <a:latin typeface="Cambria Math"/>
              <a:cs typeface="Cambria Math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考察数组元素</a:t>
            </a:r>
            <a:r>
              <a:rPr sz="2400" dirty="0">
                <a:latin typeface="Cambria Math"/>
                <a:cs typeface="Cambria Math"/>
              </a:rPr>
              <a:t>𝑨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𝒋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400" dirty="0">
                <a:latin typeface="宋体"/>
                <a:cs typeface="宋体"/>
              </a:rPr>
              <a:t>，</a:t>
            </a:r>
            <a:r>
              <a:rPr sz="2400" spc="-10" dirty="0" err="1">
                <a:solidFill>
                  <a:srgbClr val="FF0000"/>
                </a:solidFill>
                <a:latin typeface="宋体"/>
                <a:cs typeface="宋体"/>
              </a:rPr>
              <a:t>只和主元比较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DC786AE0-1C2B-B34F-BA04-C19C6AE5C2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3334" y="155137"/>
            <a:ext cx="393243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数组划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分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A97F6C9E-23AB-2F49-B8AD-AB37D7F6FE55}"/>
              </a:ext>
            </a:extLst>
          </p:cNvPr>
          <p:cNvGraphicFramePr>
            <a:graphicFrameLocks noGrp="1"/>
          </p:cNvGraphicFramePr>
          <p:nvPr/>
        </p:nvGraphicFramePr>
        <p:xfrm>
          <a:off x="6954901" y="1016761"/>
          <a:ext cx="4607558" cy="584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7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1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835">
                <a:tc>
                  <a:txBody>
                    <a:bodyPr/>
                    <a:lstStyle/>
                    <a:p>
                      <a:pPr marL="5581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>
                          <a:latin typeface="Cambria Math"/>
                          <a:cs typeface="Cambria Math"/>
                        </a:rPr>
                        <a:t>≤</a:t>
                      </a:r>
                      <a:r>
                        <a:rPr sz="2600" spc="1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600" spc="-50"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27051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>
                          <a:latin typeface="Cambria Math"/>
                          <a:cs typeface="Cambria Math"/>
                        </a:rPr>
                        <a:t>&gt;</a:t>
                      </a:r>
                      <a:r>
                        <a:rPr sz="2600" spc="1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600" spc="-50"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200" spc="-20">
                          <a:latin typeface="宋体"/>
                          <a:cs typeface="宋体"/>
                        </a:rPr>
                        <a:t>待考察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T="901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object 12">
            <a:extLst>
              <a:ext uri="{FF2B5EF4-FFF2-40B4-BE49-F238E27FC236}">
                <a16:creationId xmlns:a16="http://schemas.microsoft.com/office/drawing/2014/main" id="{C2671A58-D833-804A-9367-BD6F289041A9}"/>
              </a:ext>
            </a:extLst>
          </p:cNvPr>
          <p:cNvSpPr/>
          <p:nvPr/>
        </p:nvSpPr>
        <p:spPr>
          <a:xfrm>
            <a:off x="8643366" y="1646682"/>
            <a:ext cx="114300" cy="335915"/>
          </a:xfrm>
          <a:custGeom>
            <a:avLst/>
            <a:gdLst/>
            <a:ahLst/>
            <a:cxnLst/>
            <a:rect l="l" t="t" r="r" b="b"/>
            <a:pathLst>
              <a:path w="114300" h="335914">
                <a:moveTo>
                  <a:pt x="76200" y="95250"/>
                </a:moveTo>
                <a:lnTo>
                  <a:pt x="38100" y="95250"/>
                </a:lnTo>
                <a:lnTo>
                  <a:pt x="38100" y="335788"/>
                </a:lnTo>
                <a:lnTo>
                  <a:pt x="76200" y="335788"/>
                </a:lnTo>
                <a:lnTo>
                  <a:pt x="76200" y="95250"/>
                </a:lnTo>
                <a:close/>
              </a:path>
              <a:path w="114300" h="335914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335914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D6580AAE-2011-D54F-AD29-B848A18F9B79}"/>
              </a:ext>
            </a:extLst>
          </p:cNvPr>
          <p:cNvSpPr txBox="1"/>
          <p:nvPr/>
        </p:nvSpPr>
        <p:spPr>
          <a:xfrm>
            <a:off x="8636254" y="1991613"/>
            <a:ext cx="129539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06AFC6E8-C47A-6440-8FA1-97D8CEE0D16C}"/>
              </a:ext>
            </a:extLst>
          </p:cNvPr>
          <p:cNvSpPr/>
          <p:nvPr/>
        </p:nvSpPr>
        <p:spPr>
          <a:xfrm>
            <a:off x="9792461" y="1652777"/>
            <a:ext cx="114300" cy="358140"/>
          </a:xfrm>
          <a:custGeom>
            <a:avLst/>
            <a:gdLst/>
            <a:ahLst/>
            <a:cxnLst/>
            <a:rect l="l" t="t" r="r" b="b"/>
            <a:pathLst>
              <a:path w="114300" h="358139">
                <a:moveTo>
                  <a:pt x="76202" y="114172"/>
                </a:moveTo>
                <a:lnTo>
                  <a:pt x="38102" y="114426"/>
                </a:lnTo>
                <a:lnTo>
                  <a:pt x="39751" y="357886"/>
                </a:lnTo>
                <a:lnTo>
                  <a:pt x="77851" y="357632"/>
                </a:lnTo>
                <a:lnTo>
                  <a:pt x="76202" y="114172"/>
                </a:lnTo>
                <a:close/>
              </a:path>
              <a:path w="114300" h="358139">
                <a:moveTo>
                  <a:pt x="56388" y="0"/>
                </a:moveTo>
                <a:lnTo>
                  <a:pt x="0" y="114681"/>
                </a:lnTo>
                <a:lnTo>
                  <a:pt x="38102" y="114426"/>
                </a:lnTo>
                <a:lnTo>
                  <a:pt x="37973" y="95376"/>
                </a:lnTo>
                <a:lnTo>
                  <a:pt x="104744" y="95123"/>
                </a:lnTo>
                <a:lnTo>
                  <a:pt x="56388" y="0"/>
                </a:lnTo>
                <a:close/>
              </a:path>
              <a:path w="114300" h="358139">
                <a:moveTo>
                  <a:pt x="76073" y="95123"/>
                </a:moveTo>
                <a:lnTo>
                  <a:pt x="37973" y="95376"/>
                </a:lnTo>
                <a:lnTo>
                  <a:pt x="38102" y="114426"/>
                </a:lnTo>
                <a:lnTo>
                  <a:pt x="76202" y="114172"/>
                </a:lnTo>
                <a:lnTo>
                  <a:pt x="76073" y="95123"/>
                </a:lnTo>
                <a:close/>
              </a:path>
              <a:path w="114300" h="358139">
                <a:moveTo>
                  <a:pt x="104744" y="95123"/>
                </a:moveTo>
                <a:lnTo>
                  <a:pt x="76073" y="95123"/>
                </a:lnTo>
                <a:lnTo>
                  <a:pt x="76202" y="114172"/>
                </a:lnTo>
                <a:lnTo>
                  <a:pt x="114300" y="113919"/>
                </a:lnTo>
                <a:lnTo>
                  <a:pt x="104744" y="951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6673C368-16C0-A042-B136-CF9B71C68CB2}"/>
              </a:ext>
            </a:extLst>
          </p:cNvPr>
          <p:cNvSpPr txBox="1"/>
          <p:nvPr/>
        </p:nvSpPr>
        <p:spPr>
          <a:xfrm>
            <a:off x="9785095" y="1982977"/>
            <a:ext cx="13462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830673B-00DE-A84A-A27F-FD5DDC946169}"/>
              </a:ext>
            </a:extLst>
          </p:cNvPr>
          <p:cNvSpPr txBox="1"/>
          <p:nvPr/>
        </p:nvSpPr>
        <p:spPr>
          <a:xfrm>
            <a:off x="1137062" y="3076744"/>
            <a:ext cx="9945584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  <a:tabLst>
                <a:tab pos="306705" algn="l"/>
                <a:tab pos="1151255" algn="l"/>
              </a:tabLst>
            </a:pPr>
            <a:r>
              <a:rPr lang="en" altLang="zh-CN" sz="120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lang="en" altLang="zh-CN" sz="120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lang="zh-CN" altLang="en-US" sz="1800" dirty="0">
                <a:latin typeface="宋体"/>
                <a:cs typeface="宋体"/>
              </a:rPr>
              <a:t>若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zh-CN" altLang="en-US" sz="1800" spc="260" dirty="0">
                <a:latin typeface="Cambria Math"/>
                <a:cs typeface="Cambria Math"/>
              </a:rPr>
              <a:t> </a:t>
            </a:r>
            <a:r>
              <a:rPr lang="zh-CN" altLang="en-US" sz="1800" spc="-5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Cambria Math"/>
                <a:cs typeface="Cambria Math"/>
              </a:rPr>
              <a:t>	≤</a:t>
            </a:r>
            <a:r>
              <a:rPr lang="zh-CN" altLang="en-US" sz="1800" spc="150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𝒙</a:t>
            </a:r>
            <a:r>
              <a:rPr lang="zh-CN" altLang="en-US" sz="1800" spc="-10" dirty="0">
                <a:latin typeface="宋体"/>
                <a:cs typeface="宋体"/>
              </a:rPr>
              <a:t>，</a:t>
            </a:r>
            <a:r>
              <a:rPr lang="zh-CN" altLang="en-US" sz="1800" dirty="0">
                <a:latin typeface="宋体"/>
                <a:cs typeface="宋体"/>
              </a:rPr>
              <a:t>则交换</a:t>
            </a:r>
            <a:r>
              <a:rPr lang="zh-CN" altLang="en-US" sz="1800" spc="-10" dirty="0">
                <a:latin typeface="Cambria Math"/>
                <a:cs typeface="Cambria Math"/>
              </a:rPr>
              <a:t>𝑨</a:t>
            </a:r>
            <a:r>
              <a:rPr lang="en-US" altLang="zh-CN" sz="1800" spc="-10" dirty="0">
                <a:latin typeface="Cambria Math"/>
                <a:cs typeface="Cambria Math"/>
              </a:rPr>
              <a:t>[𝒋]</a:t>
            </a:r>
            <a:r>
              <a:rPr lang="zh-CN" altLang="en-US" sz="1800" dirty="0">
                <a:latin typeface="宋体"/>
                <a:cs typeface="宋体"/>
              </a:rPr>
              <a:t>和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en-US" altLang="zh-CN" sz="1800" dirty="0">
                <a:latin typeface="Cambria Math"/>
                <a:cs typeface="Cambria Math"/>
              </a:rPr>
              <a:t>[𝒊</a:t>
            </a:r>
            <a:r>
              <a:rPr lang="zh-CN" altLang="en-US" sz="1800" spc="20" dirty="0">
                <a:latin typeface="Cambria Math"/>
                <a:cs typeface="Cambria Math"/>
              </a:rPr>
              <a:t> </a:t>
            </a:r>
            <a:r>
              <a:rPr lang="en-US" altLang="zh-CN" sz="1800" dirty="0">
                <a:latin typeface="Cambria Math"/>
                <a:cs typeface="Cambria Math"/>
              </a:rPr>
              <a:t>+</a:t>
            </a:r>
            <a:r>
              <a:rPr lang="zh-CN" altLang="en-US" sz="1800" spc="20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𝟏</a:t>
            </a:r>
            <a:r>
              <a:rPr lang="en-US" altLang="zh-CN" sz="1800" spc="-10" dirty="0">
                <a:latin typeface="Cambria Math"/>
                <a:cs typeface="Cambria Math"/>
              </a:rPr>
              <a:t>]</a:t>
            </a:r>
            <a:r>
              <a:rPr lang="zh-CN" altLang="en-US" sz="1800" b="1" spc="-10" dirty="0">
                <a:latin typeface="微软雅黑"/>
                <a:cs typeface="微软雅黑"/>
              </a:rPr>
              <a:t>，</a:t>
            </a:r>
            <a:r>
              <a:rPr lang="zh-CN" altLang="en-US" sz="1800" spc="-10" dirty="0">
                <a:latin typeface="Cambria Math"/>
                <a:cs typeface="Cambria Math"/>
              </a:rPr>
              <a:t>𝒊</a:t>
            </a:r>
            <a:r>
              <a:rPr lang="en-US" altLang="zh-CN" sz="1800" spc="-10" dirty="0">
                <a:latin typeface="Cambria Math"/>
                <a:cs typeface="Cambria Math"/>
              </a:rPr>
              <a:t>,</a:t>
            </a:r>
            <a:r>
              <a:rPr lang="zh-CN" altLang="en-US" sz="1800" spc="-110" dirty="0">
                <a:latin typeface="Cambria Math"/>
                <a:cs typeface="Cambria Math"/>
              </a:rPr>
              <a:t> </a:t>
            </a:r>
            <a:r>
              <a:rPr lang="zh-CN" altLang="en-US" sz="1800" spc="-15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宋体"/>
                <a:cs typeface="宋体"/>
              </a:rPr>
              <a:t>右</a:t>
            </a:r>
            <a:r>
              <a:rPr lang="zh-CN" altLang="en-US" sz="1800" spc="-50" dirty="0">
                <a:latin typeface="宋体"/>
                <a:cs typeface="宋体"/>
              </a:rPr>
              <a:t>移</a:t>
            </a:r>
            <a:endParaRPr lang="zh-CN" altLang="en-US" sz="18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  <a:tabLst>
                <a:tab pos="306705" algn="l"/>
                <a:tab pos="1151255" algn="l"/>
              </a:tabLst>
            </a:pPr>
            <a:r>
              <a:rPr lang="en" altLang="zh-CN" sz="120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lang="en" altLang="zh-CN" sz="120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lang="zh-CN" altLang="en-US" sz="1800" dirty="0">
                <a:latin typeface="宋体"/>
                <a:cs typeface="宋体"/>
              </a:rPr>
              <a:t>若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zh-CN" altLang="en-US" sz="1800" spc="260" dirty="0">
                <a:latin typeface="Cambria Math"/>
                <a:cs typeface="Cambria Math"/>
              </a:rPr>
              <a:t> </a:t>
            </a:r>
            <a:r>
              <a:rPr lang="zh-CN" altLang="en-US" sz="1800" spc="-5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Cambria Math"/>
                <a:cs typeface="Cambria Math"/>
              </a:rPr>
              <a:t>	</a:t>
            </a:r>
            <a:r>
              <a:rPr lang="en-US" altLang="zh-CN" sz="1800" dirty="0">
                <a:latin typeface="Cambria Math"/>
                <a:cs typeface="Cambria Math"/>
              </a:rPr>
              <a:t>&gt;</a:t>
            </a:r>
            <a:r>
              <a:rPr lang="zh-CN" altLang="en-US" sz="1800" spc="145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𝒙</a:t>
            </a:r>
            <a:r>
              <a:rPr lang="zh-CN" altLang="en-US" sz="1800" spc="-10" dirty="0">
                <a:latin typeface="宋体"/>
                <a:cs typeface="宋体"/>
              </a:rPr>
              <a:t>，</a:t>
            </a:r>
            <a:r>
              <a:rPr lang="zh-CN" altLang="en-US" sz="1800" dirty="0">
                <a:latin typeface="宋体"/>
                <a:cs typeface="宋体"/>
              </a:rPr>
              <a:t>则</a:t>
            </a:r>
            <a:r>
              <a:rPr lang="zh-CN" altLang="en-US" sz="1800" spc="-1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宋体"/>
                <a:cs typeface="宋体"/>
              </a:rPr>
              <a:t>右</a:t>
            </a:r>
            <a:r>
              <a:rPr lang="zh-CN" altLang="en-US" sz="1800" spc="-50" dirty="0">
                <a:latin typeface="宋体"/>
                <a:cs typeface="宋体"/>
              </a:rPr>
              <a:t>移</a:t>
            </a:r>
            <a:endParaRPr lang="zh-CN" altLang="en-US" sz="1800" dirty="0">
              <a:latin typeface="宋体"/>
              <a:cs typeface="宋体"/>
            </a:endParaRPr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70F2CA58-0D9B-154C-ABA0-FD5263B6C2A3}"/>
              </a:ext>
            </a:extLst>
          </p:cNvPr>
          <p:cNvSpPr/>
          <p:nvPr/>
        </p:nvSpPr>
        <p:spPr>
          <a:xfrm>
            <a:off x="2114848" y="313604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5019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F3181DB3-0DC6-4E47-A5ED-B272C280CCAB}"/>
              </a:ext>
            </a:extLst>
          </p:cNvPr>
          <p:cNvSpPr/>
          <p:nvPr/>
        </p:nvSpPr>
        <p:spPr>
          <a:xfrm>
            <a:off x="1934381" y="313604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22733" y="25019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BAA07E5-D026-CC46-B282-E1274A5953C1}"/>
              </a:ext>
            </a:extLst>
          </p:cNvPr>
          <p:cNvSpPr txBox="1"/>
          <p:nvPr/>
        </p:nvSpPr>
        <p:spPr>
          <a:xfrm>
            <a:off x="7742712" y="3493582"/>
            <a:ext cx="697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080" algn="r">
              <a:lnSpc>
                <a:spcPct val="100000"/>
              </a:lnSpc>
              <a:spcBef>
                <a:spcPts val="695"/>
              </a:spcBef>
            </a:pPr>
            <a:r>
              <a:rPr lang="zh-CN" altLang="en-US" sz="1800" spc="-25" dirty="0">
                <a:latin typeface="宋体"/>
                <a:cs typeface="宋体"/>
              </a:rPr>
              <a:t>主元</a:t>
            </a:r>
            <a:endParaRPr lang="zh-CN" altLang="en-US" sz="1800" dirty="0">
              <a:latin typeface="宋体"/>
              <a:cs typeface="宋体"/>
            </a:endParaRPr>
          </a:p>
        </p:txBody>
      </p:sp>
      <p:graphicFrame>
        <p:nvGraphicFramePr>
          <p:cNvPr id="17" name="object 11">
            <a:extLst>
              <a:ext uri="{FF2B5EF4-FFF2-40B4-BE49-F238E27FC236}">
                <a16:creationId xmlns:a16="http://schemas.microsoft.com/office/drawing/2014/main" id="{E5070C50-02EE-0242-8565-C7503D7DC94D}"/>
              </a:ext>
            </a:extLst>
          </p:cNvPr>
          <p:cNvGraphicFramePr>
            <a:graphicFrameLocks noGrp="1"/>
          </p:cNvGraphicFramePr>
          <p:nvPr/>
        </p:nvGraphicFramePr>
        <p:xfrm>
          <a:off x="3772661" y="4178934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object 12">
            <a:extLst>
              <a:ext uri="{FF2B5EF4-FFF2-40B4-BE49-F238E27FC236}">
                <a16:creationId xmlns:a16="http://schemas.microsoft.com/office/drawing/2014/main" id="{C35994E7-90A1-E347-9937-11B43DBC16A1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3">
            <a:extLst>
              <a:ext uri="{FF2B5EF4-FFF2-40B4-BE49-F238E27FC236}">
                <a16:creationId xmlns:a16="http://schemas.microsoft.com/office/drawing/2014/main" id="{FBA9EB81-32A9-B34E-A8F8-6DB3BA9F9BC8}"/>
              </a:ext>
            </a:extLst>
          </p:cNvPr>
          <p:cNvSpPr/>
          <p:nvPr/>
        </p:nvSpPr>
        <p:spPr>
          <a:xfrm>
            <a:off x="3898391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4">
            <a:extLst>
              <a:ext uri="{FF2B5EF4-FFF2-40B4-BE49-F238E27FC236}">
                <a16:creationId xmlns:a16="http://schemas.microsoft.com/office/drawing/2014/main" id="{F196487E-090B-9E47-8E1D-8E93CD04E1C7}"/>
              </a:ext>
            </a:extLst>
          </p:cNvPr>
          <p:cNvSpPr/>
          <p:nvPr/>
        </p:nvSpPr>
        <p:spPr>
          <a:xfrm>
            <a:off x="4604766" y="4791455"/>
            <a:ext cx="1304290" cy="384175"/>
          </a:xfrm>
          <a:custGeom>
            <a:avLst/>
            <a:gdLst/>
            <a:ahLst/>
            <a:cxnLst/>
            <a:rect l="l" t="t" r="r" b="b"/>
            <a:pathLst>
              <a:path w="1304289" h="384175">
                <a:moveTo>
                  <a:pt x="1162050" y="96012"/>
                </a:moveTo>
                <a:lnTo>
                  <a:pt x="1066038" y="0"/>
                </a:lnTo>
                <a:lnTo>
                  <a:pt x="970026" y="96012"/>
                </a:lnTo>
                <a:lnTo>
                  <a:pt x="1046099" y="96012"/>
                </a:lnTo>
                <a:lnTo>
                  <a:pt x="1046099" y="344297"/>
                </a:lnTo>
                <a:lnTo>
                  <a:pt x="564642" y="344297"/>
                </a:lnTo>
                <a:lnTo>
                  <a:pt x="537210" y="344297"/>
                </a:lnTo>
                <a:lnTo>
                  <a:pt x="115951" y="344297"/>
                </a:lnTo>
                <a:lnTo>
                  <a:pt x="115951" y="96012"/>
                </a:lnTo>
                <a:lnTo>
                  <a:pt x="192024" y="96012"/>
                </a:lnTo>
                <a:lnTo>
                  <a:pt x="96012" y="0"/>
                </a:lnTo>
                <a:lnTo>
                  <a:pt x="0" y="96012"/>
                </a:lnTo>
                <a:lnTo>
                  <a:pt x="76073" y="96012"/>
                </a:lnTo>
                <a:lnTo>
                  <a:pt x="76073" y="384048"/>
                </a:lnTo>
                <a:lnTo>
                  <a:pt x="537210" y="384048"/>
                </a:lnTo>
                <a:lnTo>
                  <a:pt x="564642" y="384048"/>
                </a:lnTo>
                <a:lnTo>
                  <a:pt x="1085977" y="384048"/>
                </a:lnTo>
                <a:lnTo>
                  <a:pt x="1085977" y="96012"/>
                </a:lnTo>
                <a:lnTo>
                  <a:pt x="1162050" y="96012"/>
                </a:lnTo>
                <a:close/>
              </a:path>
              <a:path w="1304289" h="384175">
                <a:moveTo>
                  <a:pt x="1303782" y="190500"/>
                </a:moveTo>
                <a:lnTo>
                  <a:pt x="1294257" y="171450"/>
                </a:lnTo>
                <a:lnTo>
                  <a:pt x="1246632" y="76200"/>
                </a:lnTo>
                <a:lnTo>
                  <a:pt x="1189482" y="190500"/>
                </a:lnTo>
                <a:lnTo>
                  <a:pt x="1227582" y="190500"/>
                </a:lnTo>
                <a:lnTo>
                  <a:pt x="1227582" y="368046"/>
                </a:lnTo>
                <a:lnTo>
                  <a:pt x="1265682" y="368046"/>
                </a:lnTo>
                <a:lnTo>
                  <a:pt x="1265682" y="190500"/>
                </a:lnTo>
                <a:lnTo>
                  <a:pt x="1303782" y="190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0">
            <a:extLst>
              <a:ext uri="{FF2B5EF4-FFF2-40B4-BE49-F238E27FC236}">
                <a16:creationId xmlns:a16="http://schemas.microsoft.com/office/drawing/2014/main" id="{C424033F-6FB4-E544-A1C6-EE60F5BDB88B}"/>
              </a:ext>
            </a:extLst>
          </p:cNvPr>
          <p:cNvSpPr txBox="1"/>
          <p:nvPr/>
        </p:nvSpPr>
        <p:spPr>
          <a:xfrm>
            <a:off x="4869179" y="5221254"/>
            <a:ext cx="58483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10"/>
              </a:lnSpc>
            </a:pPr>
            <a:r>
              <a:rPr sz="2200" spc="-25">
                <a:latin typeface="宋体"/>
                <a:cs typeface="宋体"/>
              </a:rPr>
              <a:t>交换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25" name="object 21">
            <a:extLst>
              <a:ext uri="{FF2B5EF4-FFF2-40B4-BE49-F238E27FC236}">
                <a16:creationId xmlns:a16="http://schemas.microsoft.com/office/drawing/2014/main" id="{CAD31A80-E89A-F447-A5DE-DD0F8C5B377D}"/>
              </a:ext>
            </a:extLst>
          </p:cNvPr>
          <p:cNvSpPr txBox="1"/>
          <p:nvPr/>
        </p:nvSpPr>
        <p:spPr>
          <a:xfrm>
            <a:off x="3892041" y="5362075"/>
            <a:ext cx="129539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7" name="object 22">
            <a:extLst>
              <a:ext uri="{FF2B5EF4-FFF2-40B4-BE49-F238E27FC236}">
                <a16:creationId xmlns:a16="http://schemas.microsoft.com/office/drawing/2014/main" id="{31609E78-7CEC-F641-BEAE-71EDBCE2AEE5}"/>
              </a:ext>
            </a:extLst>
          </p:cNvPr>
          <p:cNvSpPr txBox="1"/>
          <p:nvPr/>
        </p:nvSpPr>
        <p:spPr>
          <a:xfrm>
            <a:off x="5778500" y="5380109"/>
            <a:ext cx="134620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8" name="object 7">
            <a:extLst>
              <a:ext uri="{FF2B5EF4-FFF2-40B4-BE49-F238E27FC236}">
                <a16:creationId xmlns:a16="http://schemas.microsoft.com/office/drawing/2014/main" id="{7145D4FF-258B-EE4F-91E5-FA446DF800D3}"/>
              </a:ext>
            </a:extLst>
          </p:cNvPr>
          <p:cNvSpPr/>
          <p:nvPr/>
        </p:nvSpPr>
        <p:spPr>
          <a:xfrm>
            <a:off x="2114848" y="3503005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4892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8">
            <a:extLst>
              <a:ext uri="{FF2B5EF4-FFF2-40B4-BE49-F238E27FC236}">
                <a16:creationId xmlns:a16="http://schemas.microsoft.com/office/drawing/2014/main" id="{771FC369-8961-D442-B128-5E8877676053}"/>
              </a:ext>
            </a:extLst>
          </p:cNvPr>
          <p:cNvSpPr/>
          <p:nvPr/>
        </p:nvSpPr>
        <p:spPr>
          <a:xfrm>
            <a:off x="1934381" y="3503005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22733" y="24892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88679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28F3ACF1-C2FA-064D-8E76-B83D14D14925}"/>
              </a:ext>
            </a:extLst>
          </p:cNvPr>
          <p:cNvSpPr/>
          <p:nvPr/>
        </p:nvSpPr>
        <p:spPr>
          <a:xfrm>
            <a:off x="3762444" y="2659278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305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F3BC2B55-DC54-9E49-B82D-D641281A762A}"/>
              </a:ext>
            </a:extLst>
          </p:cNvPr>
          <p:cNvSpPr/>
          <p:nvPr/>
        </p:nvSpPr>
        <p:spPr>
          <a:xfrm>
            <a:off x="3564451" y="2659278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24765" y="27305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9E5C0D9D-1A5E-E043-9D56-A0D19D56D1D0}"/>
              </a:ext>
            </a:extLst>
          </p:cNvPr>
          <p:cNvSpPr txBox="1"/>
          <p:nvPr/>
        </p:nvSpPr>
        <p:spPr>
          <a:xfrm>
            <a:off x="810641" y="1116729"/>
            <a:ext cx="5214620" cy="186436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宋体"/>
                <a:cs typeface="宋体"/>
              </a:rPr>
              <a:t>实现方法</a:t>
            </a:r>
            <a:endParaRPr sz="28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1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选取固定位置主元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dirty="0">
                <a:latin typeface="宋体"/>
                <a:cs typeface="宋体"/>
              </a:rPr>
              <a:t>（</a:t>
            </a:r>
            <a:r>
              <a:rPr sz="2400" dirty="0" err="1">
                <a:latin typeface="宋体"/>
                <a:cs typeface="宋体"/>
              </a:rPr>
              <a:t>如尾元素</a:t>
            </a:r>
            <a:r>
              <a:rPr sz="2400" spc="-50" dirty="0">
                <a:latin typeface="宋体"/>
                <a:cs typeface="宋体"/>
              </a:rPr>
              <a:t>）</a:t>
            </a:r>
            <a:endParaRPr sz="24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维护两个部分的右端点变量</a:t>
            </a:r>
            <a:r>
              <a:rPr sz="2400" spc="-10" dirty="0">
                <a:latin typeface="Cambria Math"/>
                <a:cs typeface="Cambria Math"/>
              </a:rPr>
              <a:t>𝒊</a:t>
            </a:r>
            <a:r>
              <a:rPr sz="2400" spc="-75" dirty="0">
                <a:latin typeface="Cambria Math"/>
                <a:cs typeface="Cambria Math"/>
              </a:rPr>
              <a:t>, </a:t>
            </a:r>
            <a:r>
              <a:rPr sz="2400" spc="-50" dirty="0">
                <a:latin typeface="Cambria Math"/>
                <a:cs typeface="Cambria Math"/>
              </a:rPr>
              <a:t>𝒋</a:t>
            </a:r>
            <a:endParaRPr sz="2400" dirty="0">
              <a:latin typeface="Cambria Math"/>
              <a:cs typeface="Cambria Math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考察数组元素</a:t>
            </a:r>
            <a:r>
              <a:rPr sz="2400" dirty="0">
                <a:latin typeface="Cambria Math"/>
                <a:cs typeface="Cambria Math"/>
              </a:rPr>
              <a:t>𝑨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𝒋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400" dirty="0">
                <a:latin typeface="宋体"/>
                <a:cs typeface="宋体"/>
              </a:rPr>
              <a:t>，</a:t>
            </a:r>
            <a:r>
              <a:rPr sz="2400" spc="-10" dirty="0" err="1">
                <a:solidFill>
                  <a:srgbClr val="FF0000"/>
                </a:solidFill>
                <a:latin typeface="宋体"/>
                <a:cs typeface="宋体"/>
              </a:rPr>
              <a:t>只和主元比较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DC786AE0-1C2B-B34F-BA04-C19C6AE5C2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3334" y="155137"/>
            <a:ext cx="393243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数组划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分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A97F6C9E-23AB-2F49-B8AD-AB37D7F6FE55}"/>
              </a:ext>
            </a:extLst>
          </p:cNvPr>
          <p:cNvGraphicFramePr>
            <a:graphicFrameLocks noGrp="1"/>
          </p:cNvGraphicFramePr>
          <p:nvPr/>
        </p:nvGraphicFramePr>
        <p:xfrm>
          <a:off x="6954901" y="1016761"/>
          <a:ext cx="4607558" cy="584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7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1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835">
                <a:tc>
                  <a:txBody>
                    <a:bodyPr/>
                    <a:lstStyle/>
                    <a:p>
                      <a:pPr marL="5581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>
                          <a:latin typeface="Cambria Math"/>
                          <a:cs typeface="Cambria Math"/>
                        </a:rPr>
                        <a:t>≤</a:t>
                      </a:r>
                      <a:r>
                        <a:rPr sz="2600" spc="1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600" spc="-50"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27051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>
                          <a:latin typeface="Cambria Math"/>
                          <a:cs typeface="Cambria Math"/>
                        </a:rPr>
                        <a:t>&gt;</a:t>
                      </a:r>
                      <a:r>
                        <a:rPr sz="2600" spc="1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600" spc="-50"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200" spc="-20">
                          <a:latin typeface="宋体"/>
                          <a:cs typeface="宋体"/>
                        </a:rPr>
                        <a:t>待考察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T="901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object 12">
            <a:extLst>
              <a:ext uri="{FF2B5EF4-FFF2-40B4-BE49-F238E27FC236}">
                <a16:creationId xmlns:a16="http://schemas.microsoft.com/office/drawing/2014/main" id="{C2671A58-D833-804A-9367-BD6F289041A9}"/>
              </a:ext>
            </a:extLst>
          </p:cNvPr>
          <p:cNvSpPr/>
          <p:nvPr/>
        </p:nvSpPr>
        <p:spPr>
          <a:xfrm>
            <a:off x="8643366" y="1646682"/>
            <a:ext cx="114300" cy="335915"/>
          </a:xfrm>
          <a:custGeom>
            <a:avLst/>
            <a:gdLst/>
            <a:ahLst/>
            <a:cxnLst/>
            <a:rect l="l" t="t" r="r" b="b"/>
            <a:pathLst>
              <a:path w="114300" h="335914">
                <a:moveTo>
                  <a:pt x="76200" y="95250"/>
                </a:moveTo>
                <a:lnTo>
                  <a:pt x="38100" y="95250"/>
                </a:lnTo>
                <a:lnTo>
                  <a:pt x="38100" y="335788"/>
                </a:lnTo>
                <a:lnTo>
                  <a:pt x="76200" y="335788"/>
                </a:lnTo>
                <a:lnTo>
                  <a:pt x="76200" y="95250"/>
                </a:lnTo>
                <a:close/>
              </a:path>
              <a:path w="114300" h="335914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335914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D6580AAE-2011-D54F-AD29-B848A18F9B79}"/>
              </a:ext>
            </a:extLst>
          </p:cNvPr>
          <p:cNvSpPr txBox="1"/>
          <p:nvPr/>
        </p:nvSpPr>
        <p:spPr>
          <a:xfrm>
            <a:off x="8636254" y="1991613"/>
            <a:ext cx="129539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06AFC6E8-C47A-6440-8FA1-97D8CEE0D16C}"/>
              </a:ext>
            </a:extLst>
          </p:cNvPr>
          <p:cNvSpPr/>
          <p:nvPr/>
        </p:nvSpPr>
        <p:spPr>
          <a:xfrm>
            <a:off x="9792461" y="1652777"/>
            <a:ext cx="114300" cy="358140"/>
          </a:xfrm>
          <a:custGeom>
            <a:avLst/>
            <a:gdLst/>
            <a:ahLst/>
            <a:cxnLst/>
            <a:rect l="l" t="t" r="r" b="b"/>
            <a:pathLst>
              <a:path w="114300" h="358139">
                <a:moveTo>
                  <a:pt x="76202" y="114172"/>
                </a:moveTo>
                <a:lnTo>
                  <a:pt x="38102" y="114426"/>
                </a:lnTo>
                <a:lnTo>
                  <a:pt x="39751" y="357886"/>
                </a:lnTo>
                <a:lnTo>
                  <a:pt x="77851" y="357632"/>
                </a:lnTo>
                <a:lnTo>
                  <a:pt x="76202" y="114172"/>
                </a:lnTo>
                <a:close/>
              </a:path>
              <a:path w="114300" h="358139">
                <a:moveTo>
                  <a:pt x="56388" y="0"/>
                </a:moveTo>
                <a:lnTo>
                  <a:pt x="0" y="114681"/>
                </a:lnTo>
                <a:lnTo>
                  <a:pt x="38102" y="114426"/>
                </a:lnTo>
                <a:lnTo>
                  <a:pt x="37973" y="95376"/>
                </a:lnTo>
                <a:lnTo>
                  <a:pt x="104744" y="95123"/>
                </a:lnTo>
                <a:lnTo>
                  <a:pt x="56388" y="0"/>
                </a:lnTo>
                <a:close/>
              </a:path>
              <a:path w="114300" h="358139">
                <a:moveTo>
                  <a:pt x="76073" y="95123"/>
                </a:moveTo>
                <a:lnTo>
                  <a:pt x="37973" y="95376"/>
                </a:lnTo>
                <a:lnTo>
                  <a:pt x="38102" y="114426"/>
                </a:lnTo>
                <a:lnTo>
                  <a:pt x="76202" y="114172"/>
                </a:lnTo>
                <a:lnTo>
                  <a:pt x="76073" y="95123"/>
                </a:lnTo>
                <a:close/>
              </a:path>
              <a:path w="114300" h="358139">
                <a:moveTo>
                  <a:pt x="104744" y="95123"/>
                </a:moveTo>
                <a:lnTo>
                  <a:pt x="76073" y="95123"/>
                </a:lnTo>
                <a:lnTo>
                  <a:pt x="76202" y="114172"/>
                </a:lnTo>
                <a:lnTo>
                  <a:pt x="114300" y="113919"/>
                </a:lnTo>
                <a:lnTo>
                  <a:pt x="104744" y="951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6673C368-16C0-A042-B136-CF9B71C68CB2}"/>
              </a:ext>
            </a:extLst>
          </p:cNvPr>
          <p:cNvSpPr txBox="1"/>
          <p:nvPr/>
        </p:nvSpPr>
        <p:spPr>
          <a:xfrm>
            <a:off x="9785095" y="1982977"/>
            <a:ext cx="13462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830673B-00DE-A84A-A27F-FD5DDC946169}"/>
              </a:ext>
            </a:extLst>
          </p:cNvPr>
          <p:cNvSpPr txBox="1"/>
          <p:nvPr/>
        </p:nvSpPr>
        <p:spPr>
          <a:xfrm>
            <a:off x="1137062" y="3076744"/>
            <a:ext cx="9945584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  <a:tabLst>
                <a:tab pos="306705" algn="l"/>
                <a:tab pos="1151255" algn="l"/>
              </a:tabLst>
            </a:pPr>
            <a:r>
              <a:rPr lang="en" altLang="zh-CN" sz="120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lang="en" altLang="zh-CN" sz="120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lang="zh-CN" altLang="en-US" sz="1800" dirty="0">
                <a:latin typeface="宋体"/>
                <a:cs typeface="宋体"/>
              </a:rPr>
              <a:t>若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zh-CN" altLang="en-US" sz="1800" spc="260" dirty="0">
                <a:latin typeface="Cambria Math"/>
                <a:cs typeface="Cambria Math"/>
              </a:rPr>
              <a:t> </a:t>
            </a:r>
            <a:r>
              <a:rPr lang="zh-CN" altLang="en-US" sz="1800" spc="-5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Cambria Math"/>
                <a:cs typeface="Cambria Math"/>
              </a:rPr>
              <a:t>	≤</a:t>
            </a:r>
            <a:r>
              <a:rPr lang="zh-CN" altLang="en-US" sz="1800" spc="150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𝒙</a:t>
            </a:r>
            <a:r>
              <a:rPr lang="zh-CN" altLang="en-US" sz="1800" spc="-10" dirty="0">
                <a:latin typeface="宋体"/>
                <a:cs typeface="宋体"/>
              </a:rPr>
              <a:t>，</a:t>
            </a:r>
            <a:r>
              <a:rPr lang="zh-CN" altLang="en-US" sz="1800" dirty="0">
                <a:latin typeface="宋体"/>
                <a:cs typeface="宋体"/>
              </a:rPr>
              <a:t>则交换</a:t>
            </a:r>
            <a:r>
              <a:rPr lang="zh-CN" altLang="en-US" sz="1800" spc="-10" dirty="0">
                <a:latin typeface="Cambria Math"/>
                <a:cs typeface="Cambria Math"/>
              </a:rPr>
              <a:t>𝑨</a:t>
            </a:r>
            <a:r>
              <a:rPr lang="en-US" altLang="zh-CN" sz="1800" spc="-10" dirty="0">
                <a:latin typeface="Cambria Math"/>
                <a:cs typeface="Cambria Math"/>
              </a:rPr>
              <a:t>[𝒋]</a:t>
            </a:r>
            <a:r>
              <a:rPr lang="zh-CN" altLang="en-US" sz="1800" dirty="0">
                <a:latin typeface="宋体"/>
                <a:cs typeface="宋体"/>
              </a:rPr>
              <a:t>和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en-US" altLang="zh-CN" sz="1800" dirty="0">
                <a:latin typeface="Cambria Math"/>
                <a:cs typeface="Cambria Math"/>
              </a:rPr>
              <a:t>[𝒊</a:t>
            </a:r>
            <a:r>
              <a:rPr lang="zh-CN" altLang="en-US" sz="1800" spc="20" dirty="0">
                <a:latin typeface="Cambria Math"/>
                <a:cs typeface="Cambria Math"/>
              </a:rPr>
              <a:t> </a:t>
            </a:r>
            <a:r>
              <a:rPr lang="en-US" altLang="zh-CN" sz="1800" dirty="0">
                <a:latin typeface="Cambria Math"/>
                <a:cs typeface="Cambria Math"/>
              </a:rPr>
              <a:t>+</a:t>
            </a:r>
            <a:r>
              <a:rPr lang="zh-CN" altLang="en-US" sz="1800" spc="20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𝟏</a:t>
            </a:r>
            <a:r>
              <a:rPr lang="en-US" altLang="zh-CN" sz="1800" spc="-10" dirty="0">
                <a:latin typeface="Cambria Math"/>
                <a:cs typeface="Cambria Math"/>
              </a:rPr>
              <a:t>]</a:t>
            </a:r>
            <a:r>
              <a:rPr lang="zh-CN" altLang="en-US" sz="1800" b="1" spc="-10" dirty="0">
                <a:latin typeface="微软雅黑"/>
                <a:cs typeface="微软雅黑"/>
              </a:rPr>
              <a:t>，</a:t>
            </a:r>
            <a:r>
              <a:rPr lang="zh-CN" altLang="en-US" sz="1800" spc="-10" dirty="0">
                <a:latin typeface="Cambria Math"/>
                <a:cs typeface="Cambria Math"/>
              </a:rPr>
              <a:t>𝒊</a:t>
            </a:r>
            <a:r>
              <a:rPr lang="en-US" altLang="zh-CN" sz="1800" spc="-10" dirty="0">
                <a:latin typeface="Cambria Math"/>
                <a:cs typeface="Cambria Math"/>
              </a:rPr>
              <a:t>,</a:t>
            </a:r>
            <a:r>
              <a:rPr lang="zh-CN" altLang="en-US" sz="1800" spc="-110" dirty="0">
                <a:latin typeface="Cambria Math"/>
                <a:cs typeface="Cambria Math"/>
              </a:rPr>
              <a:t> </a:t>
            </a:r>
            <a:r>
              <a:rPr lang="zh-CN" altLang="en-US" sz="1800" spc="-15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宋体"/>
                <a:cs typeface="宋体"/>
              </a:rPr>
              <a:t>右</a:t>
            </a:r>
            <a:r>
              <a:rPr lang="zh-CN" altLang="en-US" sz="1800" spc="-50" dirty="0">
                <a:latin typeface="宋体"/>
                <a:cs typeface="宋体"/>
              </a:rPr>
              <a:t>移</a:t>
            </a:r>
            <a:endParaRPr lang="zh-CN" altLang="en-US" sz="18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  <a:tabLst>
                <a:tab pos="306705" algn="l"/>
                <a:tab pos="1151255" algn="l"/>
              </a:tabLst>
            </a:pPr>
            <a:r>
              <a:rPr lang="en" altLang="zh-CN" sz="120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lang="en" altLang="zh-CN" sz="120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lang="zh-CN" altLang="en-US" sz="1800" dirty="0">
                <a:latin typeface="宋体"/>
                <a:cs typeface="宋体"/>
              </a:rPr>
              <a:t>若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zh-CN" altLang="en-US" sz="1800" spc="260" dirty="0">
                <a:latin typeface="Cambria Math"/>
                <a:cs typeface="Cambria Math"/>
              </a:rPr>
              <a:t> </a:t>
            </a:r>
            <a:r>
              <a:rPr lang="zh-CN" altLang="en-US" sz="1800" spc="-5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Cambria Math"/>
                <a:cs typeface="Cambria Math"/>
              </a:rPr>
              <a:t>	</a:t>
            </a:r>
            <a:r>
              <a:rPr lang="en-US" altLang="zh-CN" sz="1800" dirty="0">
                <a:latin typeface="Cambria Math"/>
                <a:cs typeface="Cambria Math"/>
              </a:rPr>
              <a:t>&gt;</a:t>
            </a:r>
            <a:r>
              <a:rPr lang="zh-CN" altLang="en-US" sz="1800" spc="145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𝒙</a:t>
            </a:r>
            <a:r>
              <a:rPr lang="zh-CN" altLang="en-US" sz="1800" spc="-10" dirty="0">
                <a:latin typeface="宋体"/>
                <a:cs typeface="宋体"/>
              </a:rPr>
              <a:t>，</a:t>
            </a:r>
            <a:r>
              <a:rPr lang="zh-CN" altLang="en-US" sz="1800" dirty="0">
                <a:latin typeface="宋体"/>
                <a:cs typeface="宋体"/>
              </a:rPr>
              <a:t>则</a:t>
            </a:r>
            <a:r>
              <a:rPr lang="zh-CN" altLang="en-US" sz="1800" spc="-1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宋体"/>
                <a:cs typeface="宋体"/>
              </a:rPr>
              <a:t>右</a:t>
            </a:r>
            <a:r>
              <a:rPr lang="zh-CN" altLang="en-US" sz="1800" spc="-50" dirty="0">
                <a:latin typeface="宋体"/>
                <a:cs typeface="宋体"/>
              </a:rPr>
              <a:t>移</a:t>
            </a:r>
            <a:endParaRPr lang="zh-CN" altLang="en-US" sz="1800" dirty="0">
              <a:latin typeface="宋体"/>
              <a:cs typeface="宋体"/>
            </a:endParaRPr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70F2CA58-0D9B-154C-ABA0-FD5263B6C2A3}"/>
              </a:ext>
            </a:extLst>
          </p:cNvPr>
          <p:cNvSpPr/>
          <p:nvPr/>
        </p:nvSpPr>
        <p:spPr>
          <a:xfrm>
            <a:off x="2114848" y="313604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5019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F3181DB3-0DC6-4E47-A5ED-B272C280CCAB}"/>
              </a:ext>
            </a:extLst>
          </p:cNvPr>
          <p:cNvSpPr/>
          <p:nvPr/>
        </p:nvSpPr>
        <p:spPr>
          <a:xfrm>
            <a:off x="1934381" y="313604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22733" y="25019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BAA07E5-D026-CC46-B282-E1274A5953C1}"/>
              </a:ext>
            </a:extLst>
          </p:cNvPr>
          <p:cNvSpPr txBox="1"/>
          <p:nvPr/>
        </p:nvSpPr>
        <p:spPr>
          <a:xfrm>
            <a:off x="7742712" y="3493582"/>
            <a:ext cx="697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080" algn="r">
              <a:lnSpc>
                <a:spcPct val="100000"/>
              </a:lnSpc>
              <a:spcBef>
                <a:spcPts val="695"/>
              </a:spcBef>
            </a:pPr>
            <a:r>
              <a:rPr lang="zh-CN" altLang="en-US" sz="1800" spc="-25" dirty="0">
                <a:latin typeface="宋体"/>
                <a:cs typeface="宋体"/>
              </a:rPr>
              <a:t>主元</a:t>
            </a:r>
            <a:endParaRPr lang="zh-CN" altLang="en-US" sz="1800" dirty="0">
              <a:latin typeface="宋体"/>
              <a:cs typeface="宋体"/>
            </a:endParaRPr>
          </a:p>
        </p:txBody>
      </p:sp>
      <p:graphicFrame>
        <p:nvGraphicFramePr>
          <p:cNvPr id="17" name="object 11">
            <a:extLst>
              <a:ext uri="{FF2B5EF4-FFF2-40B4-BE49-F238E27FC236}">
                <a16:creationId xmlns:a16="http://schemas.microsoft.com/office/drawing/2014/main" id="{7E296B7A-F796-1F41-8FBE-8C7D121765CE}"/>
              </a:ext>
            </a:extLst>
          </p:cNvPr>
          <p:cNvGraphicFramePr>
            <a:graphicFrameLocks noGrp="1"/>
          </p:cNvGraphicFramePr>
          <p:nvPr/>
        </p:nvGraphicFramePr>
        <p:xfrm>
          <a:off x="3772661" y="4178934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object 12">
            <a:extLst>
              <a:ext uri="{FF2B5EF4-FFF2-40B4-BE49-F238E27FC236}">
                <a16:creationId xmlns:a16="http://schemas.microsoft.com/office/drawing/2014/main" id="{580566B1-9D6F-5A45-BD38-40EE284D1075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3">
            <a:extLst>
              <a:ext uri="{FF2B5EF4-FFF2-40B4-BE49-F238E27FC236}">
                <a16:creationId xmlns:a16="http://schemas.microsoft.com/office/drawing/2014/main" id="{9804E832-2704-9C4A-9911-7F82F743CD3C}"/>
              </a:ext>
            </a:extLst>
          </p:cNvPr>
          <p:cNvSpPr/>
          <p:nvPr/>
        </p:nvSpPr>
        <p:spPr>
          <a:xfrm>
            <a:off x="4559808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4">
            <a:extLst>
              <a:ext uri="{FF2B5EF4-FFF2-40B4-BE49-F238E27FC236}">
                <a16:creationId xmlns:a16="http://schemas.microsoft.com/office/drawing/2014/main" id="{1E979675-BA5F-F94C-B7AD-C4FCCE5A4720}"/>
              </a:ext>
            </a:extLst>
          </p:cNvPr>
          <p:cNvSpPr/>
          <p:nvPr/>
        </p:nvSpPr>
        <p:spPr>
          <a:xfrm>
            <a:off x="5794247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0">
            <a:extLst>
              <a:ext uri="{FF2B5EF4-FFF2-40B4-BE49-F238E27FC236}">
                <a16:creationId xmlns:a16="http://schemas.microsoft.com/office/drawing/2014/main" id="{C120C66B-AF1C-594D-8B08-3F4B5D479620}"/>
              </a:ext>
            </a:extLst>
          </p:cNvPr>
          <p:cNvSpPr txBox="1"/>
          <p:nvPr/>
        </p:nvSpPr>
        <p:spPr>
          <a:xfrm>
            <a:off x="4536440" y="5362075"/>
            <a:ext cx="129539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5" name="object 21">
            <a:extLst>
              <a:ext uri="{FF2B5EF4-FFF2-40B4-BE49-F238E27FC236}">
                <a16:creationId xmlns:a16="http://schemas.microsoft.com/office/drawing/2014/main" id="{2DA57FBB-1E32-6D4C-BC18-87691B940951}"/>
              </a:ext>
            </a:extLst>
          </p:cNvPr>
          <p:cNvSpPr txBox="1"/>
          <p:nvPr/>
        </p:nvSpPr>
        <p:spPr>
          <a:xfrm>
            <a:off x="5778500" y="5380109"/>
            <a:ext cx="134620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7" name="object 7">
            <a:extLst>
              <a:ext uri="{FF2B5EF4-FFF2-40B4-BE49-F238E27FC236}">
                <a16:creationId xmlns:a16="http://schemas.microsoft.com/office/drawing/2014/main" id="{1FDFC030-91C4-C047-84D2-B79B82013B89}"/>
              </a:ext>
            </a:extLst>
          </p:cNvPr>
          <p:cNvSpPr/>
          <p:nvPr/>
        </p:nvSpPr>
        <p:spPr>
          <a:xfrm>
            <a:off x="2114848" y="3503005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4892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8">
            <a:extLst>
              <a:ext uri="{FF2B5EF4-FFF2-40B4-BE49-F238E27FC236}">
                <a16:creationId xmlns:a16="http://schemas.microsoft.com/office/drawing/2014/main" id="{BA4CA7BE-FA82-5A4C-BC22-BD04EF514166}"/>
              </a:ext>
            </a:extLst>
          </p:cNvPr>
          <p:cNvSpPr/>
          <p:nvPr/>
        </p:nvSpPr>
        <p:spPr>
          <a:xfrm>
            <a:off x="1934381" y="3503005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22733" y="24892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4152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28F3ACF1-C2FA-064D-8E76-B83D14D14925}"/>
              </a:ext>
            </a:extLst>
          </p:cNvPr>
          <p:cNvSpPr/>
          <p:nvPr/>
        </p:nvSpPr>
        <p:spPr>
          <a:xfrm>
            <a:off x="3762444" y="2659278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305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F3BC2B55-DC54-9E49-B82D-D641281A762A}"/>
              </a:ext>
            </a:extLst>
          </p:cNvPr>
          <p:cNvSpPr/>
          <p:nvPr/>
        </p:nvSpPr>
        <p:spPr>
          <a:xfrm>
            <a:off x="3564451" y="2659278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24765" y="27305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9E5C0D9D-1A5E-E043-9D56-A0D19D56D1D0}"/>
              </a:ext>
            </a:extLst>
          </p:cNvPr>
          <p:cNvSpPr txBox="1"/>
          <p:nvPr/>
        </p:nvSpPr>
        <p:spPr>
          <a:xfrm>
            <a:off x="810641" y="1116729"/>
            <a:ext cx="5214620" cy="186436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宋体"/>
                <a:cs typeface="宋体"/>
              </a:rPr>
              <a:t>实现方法</a:t>
            </a:r>
            <a:endParaRPr sz="28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1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选取固定位置主元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dirty="0">
                <a:latin typeface="宋体"/>
                <a:cs typeface="宋体"/>
              </a:rPr>
              <a:t>（</a:t>
            </a:r>
            <a:r>
              <a:rPr sz="2400" dirty="0" err="1">
                <a:latin typeface="宋体"/>
                <a:cs typeface="宋体"/>
              </a:rPr>
              <a:t>如尾元素</a:t>
            </a:r>
            <a:r>
              <a:rPr sz="2400" spc="-50" dirty="0">
                <a:latin typeface="宋体"/>
                <a:cs typeface="宋体"/>
              </a:rPr>
              <a:t>）</a:t>
            </a:r>
            <a:endParaRPr sz="24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维护两个部分的右端点变量</a:t>
            </a:r>
            <a:r>
              <a:rPr sz="2400" spc="-10" dirty="0">
                <a:latin typeface="Cambria Math"/>
                <a:cs typeface="Cambria Math"/>
              </a:rPr>
              <a:t>𝒊</a:t>
            </a:r>
            <a:r>
              <a:rPr sz="2400" spc="-75" dirty="0">
                <a:latin typeface="Cambria Math"/>
                <a:cs typeface="Cambria Math"/>
              </a:rPr>
              <a:t>, </a:t>
            </a:r>
            <a:r>
              <a:rPr sz="2400" spc="-50" dirty="0">
                <a:latin typeface="Cambria Math"/>
                <a:cs typeface="Cambria Math"/>
              </a:rPr>
              <a:t>𝒋</a:t>
            </a:r>
            <a:endParaRPr sz="2400" dirty="0">
              <a:latin typeface="Cambria Math"/>
              <a:cs typeface="Cambria Math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考察数组元素</a:t>
            </a:r>
            <a:r>
              <a:rPr sz="2400" dirty="0">
                <a:latin typeface="Cambria Math"/>
                <a:cs typeface="Cambria Math"/>
              </a:rPr>
              <a:t>𝑨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𝒋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400" dirty="0">
                <a:latin typeface="宋体"/>
                <a:cs typeface="宋体"/>
              </a:rPr>
              <a:t>，</a:t>
            </a:r>
            <a:r>
              <a:rPr sz="2400" spc="-10" dirty="0" err="1">
                <a:solidFill>
                  <a:srgbClr val="FF0000"/>
                </a:solidFill>
                <a:latin typeface="宋体"/>
                <a:cs typeface="宋体"/>
              </a:rPr>
              <a:t>只和主元比较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DC786AE0-1C2B-B34F-BA04-C19C6AE5C2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3334" y="155137"/>
            <a:ext cx="393243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数组划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分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A97F6C9E-23AB-2F49-B8AD-AB37D7F6FE55}"/>
              </a:ext>
            </a:extLst>
          </p:cNvPr>
          <p:cNvGraphicFramePr>
            <a:graphicFrameLocks noGrp="1"/>
          </p:cNvGraphicFramePr>
          <p:nvPr/>
        </p:nvGraphicFramePr>
        <p:xfrm>
          <a:off x="6954901" y="1016761"/>
          <a:ext cx="4607558" cy="584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7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1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835">
                <a:tc>
                  <a:txBody>
                    <a:bodyPr/>
                    <a:lstStyle/>
                    <a:p>
                      <a:pPr marL="5581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>
                          <a:latin typeface="Cambria Math"/>
                          <a:cs typeface="Cambria Math"/>
                        </a:rPr>
                        <a:t>≤</a:t>
                      </a:r>
                      <a:r>
                        <a:rPr sz="2600" spc="1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600" spc="-50"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27051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>
                          <a:latin typeface="Cambria Math"/>
                          <a:cs typeface="Cambria Math"/>
                        </a:rPr>
                        <a:t>&gt;</a:t>
                      </a:r>
                      <a:r>
                        <a:rPr sz="2600" spc="1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600" spc="-50"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200" spc="-20">
                          <a:latin typeface="宋体"/>
                          <a:cs typeface="宋体"/>
                        </a:rPr>
                        <a:t>待考察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T="901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object 12">
            <a:extLst>
              <a:ext uri="{FF2B5EF4-FFF2-40B4-BE49-F238E27FC236}">
                <a16:creationId xmlns:a16="http://schemas.microsoft.com/office/drawing/2014/main" id="{C2671A58-D833-804A-9367-BD6F289041A9}"/>
              </a:ext>
            </a:extLst>
          </p:cNvPr>
          <p:cNvSpPr/>
          <p:nvPr/>
        </p:nvSpPr>
        <p:spPr>
          <a:xfrm>
            <a:off x="8643366" y="1646682"/>
            <a:ext cx="114300" cy="335915"/>
          </a:xfrm>
          <a:custGeom>
            <a:avLst/>
            <a:gdLst/>
            <a:ahLst/>
            <a:cxnLst/>
            <a:rect l="l" t="t" r="r" b="b"/>
            <a:pathLst>
              <a:path w="114300" h="335914">
                <a:moveTo>
                  <a:pt x="76200" y="95250"/>
                </a:moveTo>
                <a:lnTo>
                  <a:pt x="38100" y="95250"/>
                </a:lnTo>
                <a:lnTo>
                  <a:pt x="38100" y="335788"/>
                </a:lnTo>
                <a:lnTo>
                  <a:pt x="76200" y="335788"/>
                </a:lnTo>
                <a:lnTo>
                  <a:pt x="76200" y="95250"/>
                </a:lnTo>
                <a:close/>
              </a:path>
              <a:path w="114300" h="335914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335914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D6580AAE-2011-D54F-AD29-B848A18F9B79}"/>
              </a:ext>
            </a:extLst>
          </p:cNvPr>
          <p:cNvSpPr txBox="1"/>
          <p:nvPr/>
        </p:nvSpPr>
        <p:spPr>
          <a:xfrm>
            <a:off x="8636254" y="1991613"/>
            <a:ext cx="129539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06AFC6E8-C47A-6440-8FA1-97D8CEE0D16C}"/>
              </a:ext>
            </a:extLst>
          </p:cNvPr>
          <p:cNvSpPr/>
          <p:nvPr/>
        </p:nvSpPr>
        <p:spPr>
          <a:xfrm>
            <a:off x="9792461" y="1652777"/>
            <a:ext cx="114300" cy="358140"/>
          </a:xfrm>
          <a:custGeom>
            <a:avLst/>
            <a:gdLst/>
            <a:ahLst/>
            <a:cxnLst/>
            <a:rect l="l" t="t" r="r" b="b"/>
            <a:pathLst>
              <a:path w="114300" h="358139">
                <a:moveTo>
                  <a:pt x="76202" y="114172"/>
                </a:moveTo>
                <a:lnTo>
                  <a:pt x="38102" y="114426"/>
                </a:lnTo>
                <a:lnTo>
                  <a:pt x="39751" y="357886"/>
                </a:lnTo>
                <a:lnTo>
                  <a:pt x="77851" y="357632"/>
                </a:lnTo>
                <a:lnTo>
                  <a:pt x="76202" y="114172"/>
                </a:lnTo>
                <a:close/>
              </a:path>
              <a:path w="114300" h="358139">
                <a:moveTo>
                  <a:pt x="56388" y="0"/>
                </a:moveTo>
                <a:lnTo>
                  <a:pt x="0" y="114681"/>
                </a:lnTo>
                <a:lnTo>
                  <a:pt x="38102" y="114426"/>
                </a:lnTo>
                <a:lnTo>
                  <a:pt x="37973" y="95376"/>
                </a:lnTo>
                <a:lnTo>
                  <a:pt x="104744" y="95123"/>
                </a:lnTo>
                <a:lnTo>
                  <a:pt x="56388" y="0"/>
                </a:lnTo>
                <a:close/>
              </a:path>
              <a:path w="114300" h="358139">
                <a:moveTo>
                  <a:pt x="76073" y="95123"/>
                </a:moveTo>
                <a:lnTo>
                  <a:pt x="37973" y="95376"/>
                </a:lnTo>
                <a:lnTo>
                  <a:pt x="38102" y="114426"/>
                </a:lnTo>
                <a:lnTo>
                  <a:pt x="76202" y="114172"/>
                </a:lnTo>
                <a:lnTo>
                  <a:pt x="76073" y="95123"/>
                </a:lnTo>
                <a:close/>
              </a:path>
              <a:path w="114300" h="358139">
                <a:moveTo>
                  <a:pt x="104744" y="95123"/>
                </a:moveTo>
                <a:lnTo>
                  <a:pt x="76073" y="95123"/>
                </a:lnTo>
                <a:lnTo>
                  <a:pt x="76202" y="114172"/>
                </a:lnTo>
                <a:lnTo>
                  <a:pt x="114300" y="113919"/>
                </a:lnTo>
                <a:lnTo>
                  <a:pt x="104744" y="951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6673C368-16C0-A042-B136-CF9B71C68CB2}"/>
              </a:ext>
            </a:extLst>
          </p:cNvPr>
          <p:cNvSpPr txBox="1"/>
          <p:nvPr/>
        </p:nvSpPr>
        <p:spPr>
          <a:xfrm>
            <a:off x="9785095" y="1982977"/>
            <a:ext cx="13462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830673B-00DE-A84A-A27F-FD5DDC946169}"/>
              </a:ext>
            </a:extLst>
          </p:cNvPr>
          <p:cNvSpPr txBox="1"/>
          <p:nvPr/>
        </p:nvSpPr>
        <p:spPr>
          <a:xfrm>
            <a:off x="1137062" y="3076744"/>
            <a:ext cx="9945584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  <a:tabLst>
                <a:tab pos="306705" algn="l"/>
                <a:tab pos="1151255" algn="l"/>
              </a:tabLst>
            </a:pPr>
            <a:r>
              <a:rPr lang="en" altLang="zh-CN" sz="120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lang="en" altLang="zh-CN" sz="120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lang="zh-CN" altLang="en-US" sz="1800" dirty="0">
                <a:latin typeface="宋体"/>
                <a:cs typeface="宋体"/>
              </a:rPr>
              <a:t>若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zh-CN" altLang="en-US" sz="1800" spc="260" dirty="0">
                <a:latin typeface="Cambria Math"/>
                <a:cs typeface="Cambria Math"/>
              </a:rPr>
              <a:t> </a:t>
            </a:r>
            <a:r>
              <a:rPr lang="zh-CN" altLang="en-US" sz="1800" spc="-5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Cambria Math"/>
                <a:cs typeface="Cambria Math"/>
              </a:rPr>
              <a:t>	≤</a:t>
            </a:r>
            <a:r>
              <a:rPr lang="zh-CN" altLang="en-US" sz="1800" spc="150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𝒙</a:t>
            </a:r>
            <a:r>
              <a:rPr lang="zh-CN" altLang="en-US" sz="1800" spc="-10" dirty="0">
                <a:latin typeface="宋体"/>
                <a:cs typeface="宋体"/>
              </a:rPr>
              <a:t>，</a:t>
            </a:r>
            <a:r>
              <a:rPr lang="zh-CN" altLang="en-US" sz="1800" dirty="0">
                <a:latin typeface="宋体"/>
                <a:cs typeface="宋体"/>
              </a:rPr>
              <a:t>则交换</a:t>
            </a:r>
            <a:r>
              <a:rPr lang="zh-CN" altLang="en-US" sz="1800" spc="-10" dirty="0">
                <a:latin typeface="Cambria Math"/>
                <a:cs typeface="Cambria Math"/>
              </a:rPr>
              <a:t>𝑨</a:t>
            </a:r>
            <a:r>
              <a:rPr lang="en-US" altLang="zh-CN" sz="1800" spc="-10" dirty="0">
                <a:latin typeface="Cambria Math"/>
                <a:cs typeface="Cambria Math"/>
              </a:rPr>
              <a:t>[𝒋]</a:t>
            </a:r>
            <a:r>
              <a:rPr lang="zh-CN" altLang="en-US" sz="1800" dirty="0">
                <a:latin typeface="宋体"/>
                <a:cs typeface="宋体"/>
              </a:rPr>
              <a:t>和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en-US" altLang="zh-CN" sz="1800" dirty="0">
                <a:latin typeface="Cambria Math"/>
                <a:cs typeface="Cambria Math"/>
              </a:rPr>
              <a:t>[𝒊</a:t>
            </a:r>
            <a:r>
              <a:rPr lang="zh-CN" altLang="en-US" sz="1800" spc="20" dirty="0">
                <a:latin typeface="Cambria Math"/>
                <a:cs typeface="Cambria Math"/>
              </a:rPr>
              <a:t> </a:t>
            </a:r>
            <a:r>
              <a:rPr lang="en-US" altLang="zh-CN" sz="1800" dirty="0">
                <a:latin typeface="Cambria Math"/>
                <a:cs typeface="Cambria Math"/>
              </a:rPr>
              <a:t>+</a:t>
            </a:r>
            <a:r>
              <a:rPr lang="zh-CN" altLang="en-US" sz="1800" spc="20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𝟏</a:t>
            </a:r>
            <a:r>
              <a:rPr lang="en-US" altLang="zh-CN" sz="1800" spc="-10" dirty="0">
                <a:latin typeface="Cambria Math"/>
                <a:cs typeface="Cambria Math"/>
              </a:rPr>
              <a:t>]</a:t>
            </a:r>
            <a:r>
              <a:rPr lang="zh-CN" altLang="en-US" sz="1800" b="1" spc="-10" dirty="0">
                <a:latin typeface="微软雅黑"/>
                <a:cs typeface="微软雅黑"/>
              </a:rPr>
              <a:t>，</a:t>
            </a:r>
            <a:r>
              <a:rPr lang="zh-CN" altLang="en-US" sz="1800" spc="-10" dirty="0">
                <a:latin typeface="Cambria Math"/>
                <a:cs typeface="Cambria Math"/>
              </a:rPr>
              <a:t>𝒊</a:t>
            </a:r>
            <a:r>
              <a:rPr lang="en-US" altLang="zh-CN" sz="1800" spc="-10" dirty="0">
                <a:latin typeface="Cambria Math"/>
                <a:cs typeface="Cambria Math"/>
              </a:rPr>
              <a:t>,</a:t>
            </a:r>
            <a:r>
              <a:rPr lang="zh-CN" altLang="en-US" sz="1800" spc="-110" dirty="0">
                <a:latin typeface="Cambria Math"/>
                <a:cs typeface="Cambria Math"/>
              </a:rPr>
              <a:t> </a:t>
            </a:r>
            <a:r>
              <a:rPr lang="zh-CN" altLang="en-US" sz="1800" spc="-15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宋体"/>
                <a:cs typeface="宋体"/>
              </a:rPr>
              <a:t>右</a:t>
            </a:r>
            <a:r>
              <a:rPr lang="zh-CN" altLang="en-US" sz="1800" spc="-50" dirty="0">
                <a:latin typeface="宋体"/>
                <a:cs typeface="宋体"/>
              </a:rPr>
              <a:t>移</a:t>
            </a:r>
            <a:endParaRPr lang="zh-CN" altLang="en-US" sz="18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  <a:tabLst>
                <a:tab pos="306705" algn="l"/>
                <a:tab pos="1151255" algn="l"/>
              </a:tabLst>
            </a:pPr>
            <a:r>
              <a:rPr lang="en" altLang="zh-CN" sz="120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lang="en" altLang="zh-CN" sz="120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lang="zh-CN" altLang="en-US" sz="1800" dirty="0">
                <a:latin typeface="宋体"/>
                <a:cs typeface="宋体"/>
              </a:rPr>
              <a:t>若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zh-CN" altLang="en-US" sz="1800" spc="260" dirty="0">
                <a:latin typeface="Cambria Math"/>
                <a:cs typeface="Cambria Math"/>
              </a:rPr>
              <a:t> </a:t>
            </a:r>
            <a:r>
              <a:rPr lang="zh-CN" altLang="en-US" sz="1800" spc="-5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Cambria Math"/>
                <a:cs typeface="Cambria Math"/>
              </a:rPr>
              <a:t>	</a:t>
            </a:r>
            <a:r>
              <a:rPr lang="en-US" altLang="zh-CN" sz="1800" dirty="0">
                <a:latin typeface="Cambria Math"/>
                <a:cs typeface="Cambria Math"/>
              </a:rPr>
              <a:t>&gt;</a:t>
            </a:r>
            <a:r>
              <a:rPr lang="zh-CN" altLang="en-US" sz="1800" spc="145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𝒙</a:t>
            </a:r>
            <a:r>
              <a:rPr lang="zh-CN" altLang="en-US" sz="1800" spc="-10" dirty="0">
                <a:latin typeface="宋体"/>
                <a:cs typeface="宋体"/>
              </a:rPr>
              <a:t>，</a:t>
            </a:r>
            <a:r>
              <a:rPr lang="zh-CN" altLang="en-US" sz="1800" dirty="0">
                <a:latin typeface="宋体"/>
                <a:cs typeface="宋体"/>
              </a:rPr>
              <a:t>则</a:t>
            </a:r>
            <a:r>
              <a:rPr lang="zh-CN" altLang="en-US" sz="1800" spc="-1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宋体"/>
                <a:cs typeface="宋体"/>
              </a:rPr>
              <a:t>右</a:t>
            </a:r>
            <a:r>
              <a:rPr lang="zh-CN" altLang="en-US" sz="1800" spc="-50" dirty="0">
                <a:latin typeface="宋体"/>
                <a:cs typeface="宋体"/>
              </a:rPr>
              <a:t>移</a:t>
            </a:r>
            <a:endParaRPr lang="zh-CN" altLang="en-US" sz="1800" dirty="0">
              <a:latin typeface="宋体"/>
              <a:cs typeface="宋体"/>
            </a:endParaRPr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70F2CA58-0D9B-154C-ABA0-FD5263B6C2A3}"/>
              </a:ext>
            </a:extLst>
          </p:cNvPr>
          <p:cNvSpPr/>
          <p:nvPr/>
        </p:nvSpPr>
        <p:spPr>
          <a:xfrm>
            <a:off x="2114848" y="313604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5019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F3181DB3-0DC6-4E47-A5ED-B272C280CCAB}"/>
              </a:ext>
            </a:extLst>
          </p:cNvPr>
          <p:cNvSpPr/>
          <p:nvPr/>
        </p:nvSpPr>
        <p:spPr>
          <a:xfrm>
            <a:off x="1934381" y="313604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22733" y="25019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BAA07E5-D026-CC46-B282-E1274A5953C1}"/>
              </a:ext>
            </a:extLst>
          </p:cNvPr>
          <p:cNvSpPr txBox="1"/>
          <p:nvPr/>
        </p:nvSpPr>
        <p:spPr>
          <a:xfrm>
            <a:off x="7742712" y="3493582"/>
            <a:ext cx="697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080" algn="r">
              <a:lnSpc>
                <a:spcPct val="100000"/>
              </a:lnSpc>
              <a:spcBef>
                <a:spcPts val="695"/>
              </a:spcBef>
            </a:pPr>
            <a:r>
              <a:rPr lang="zh-CN" altLang="en-US" sz="1800" spc="-25" dirty="0">
                <a:latin typeface="宋体"/>
                <a:cs typeface="宋体"/>
              </a:rPr>
              <a:t>主元</a:t>
            </a:r>
            <a:endParaRPr lang="zh-CN" altLang="en-US" sz="1800" dirty="0">
              <a:latin typeface="宋体"/>
              <a:cs typeface="宋体"/>
            </a:endParaRPr>
          </a:p>
        </p:txBody>
      </p:sp>
      <p:graphicFrame>
        <p:nvGraphicFramePr>
          <p:cNvPr id="17" name="object 10">
            <a:extLst>
              <a:ext uri="{FF2B5EF4-FFF2-40B4-BE49-F238E27FC236}">
                <a16:creationId xmlns:a16="http://schemas.microsoft.com/office/drawing/2014/main" id="{031416C2-2EE3-5C44-8659-C4205F178015}"/>
              </a:ext>
            </a:extLst>
          </p:cNvPr>
          <p:cNvGraphicFramePr>
            <a:graphicFrameLocks noGrp="1"/>
          </p:cNvGraphicFramePr>
          <p:nvPr/>
        </p:nvGraphicFramePr>
        <p:xfrm>
          <a:off x="3772661" y="4178934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object 12">
            <a:extLst>
              <a:ext uri="{FF2B5EF4-FFF2-40B4-BE49-F238E27FC236}">
                <a16:creationId xmlns:a16="http://schemas.microsoft.com/office/drawing/2014/main" id="{B666256F-0B56-444A-ACD2-191E5FA70185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3">
            <a:extLst>
              <a:ext uri="{FF2B5EF4-FFF2-40B4-BE49-F238E27FC236}">
                <a16:creationId xmlns:a16="http://schemas.microsoft.com/office/drawing/2014/main" id="{2B7E2861-08D5-DE4A-BEBB-EFA6F0BB922D}"/>
              </a:ext>
            </a:extLst>
          </p:cNvPr>
          <p:cNvSpPr/>
          <p:nvPr/>
        </p:nvSpPr>
        <p:spPr>
          <a:xfrm>
            <a:off x="4559808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4">
            <a:extLst>
              <a:ext uri="{FF2B5EF4-FFF2-40B4-BE49-F238E27FC236}">
                <a16:creationId xmlns:a16="http://schemas.microsoft.com/office/drawing/2014/main" id="{32082217-A724-DB4D-86CD-40C7A5A1FA93}"/>
              </a:ext>
            </a:extLst>
          </p:cNvPr>
          <p:cNvSpPr/>
          <p:nvPr/>
        </p:nvSpPr>
        <p:spPr>
          <a:xfrm>
            <a:off x="5223510" y="4791455"/>
            <a:ext cx="1262380" cy="384175"/>
          </a:xfrm>
          <a:custGeom>
            <a:avLst/>
            <a:gdLst/>
            <a:ahLst/>
            <a:cxnLst/>
            <a:rect l="l" t="t" r="r" b="b"/>
            <a:pathLst>
              <a:path w="1262379" h="384175">
                <a:moveTo>
                  <a:pt x="1162050" y="96012"/>
                </a:moveTo>
                <a:lnTo>
                  <a:pt x="1066038" y="0"/>
                </a:lnTo>
                <a:lnTo>
                  <a:pt x="970026" y="96012"/>
                </a:lnTo>
                <a:lnTo>
                  <a:pt x="1046099" y="96012"/>
                </a:lnTo>
                <a:lnTo>
                  <a:pt x="1046099" y="344297"/>
                </a:lnTo>
                <a:lnTo>
                  <a:pt x="564642" y="344297"/>
                </a:lnTo>
                <a:lnTo>
                  <a:pt x="537972" y="344297"/>
                </a:lnTo>
                <a:lnTo>
                  <a:pt x="115951" y="344297"/>
                </a:lnTo>
                <a:lnTo>
                  <a:pt x="115951" y="96012"/>
                </a:lnTo>
                <a:lnTo>
                  <a:pt x="192024" y="96012"/>
                </a:lnTo>
                <a:lnTo>
                  <a:pt x="96012" y="0"/>
                </a:lnTo>
                <a:lnTo>
                  <a:pt x="0" y="96012"/>
                </a:lnTo>
                <a:lnTo>
                  <a:pt x="76073" y="96012"/>
                </a:lnTo>
                <a:lnTo>
                  <a:pt x="76073" y="384048"/>
                </a:lnTo>
                <a:lnTo>
                  <a:pt x="537972" y="384048"/>
                </a:lnTo>
                <a:lnTo>
                  <a:pt x="564642" y="384048"/>
                </a:lnTo>
                <a:lnTo>
                  <a:pt x="1085977" y="384048"/>
                </a:lnTo>
                <a:lnTo>
                  <a:pt x="1085977" y="96012"/>
                </a:lnTo>
                <a:lnTo>
                  <a:pt x="1162050" y="96012"/>
                </a:lnTo>
                <a:close/>
              </a:path>
              <a:path w="1262379" h="384175">
                <a:moveTo>
                  <a:pt x="1261872" y="190500"/>
                </a:moveTo>
                <a:lnTo>
                  <a:pt x="1252347" y="171450"/>
                </a:lnTo>
                <a:lnTo>
                  <a:pt x="1204722" y="76200"/>
                </a:lnTo>
                <a:lnTo>
                  <a:pt x="1147572" y="190500"/>
                </a:lnTo>
                <a:lnTo>
                  <a:pt x="1185672" y="190500"/>
                </a:lnTo>
                <a:lnTo>
                  <a:pt x="1185672" y="368046"/>
                </a:lnTo>
                <a:lnTo>
                  <a:pt x="1223772" y="368046"/>
                </a:lnTo>
                <a:lnTo>
                  <a:pt x="1223772" y="190500"/>
                </a:lnTo>
                <a:lnTo>
                  <a:pt x="1261872" y="190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0">
            <a:extLst>
              <a:ext uri="{FF2B5EF4-FFF2-40B4-BE49-F238E27FC236}">
                <a16:creationId xmlns:a16="http://schemas.microsoft.com/office/drawing/2014/main" id="{8C0FE5AA-3111-DC4A-A8AA-EB9880217CEB}"/>
              </a:ext>
            </a:extLst>
          </p:cNvPr>
          <p:cNvSpPr txBox="1"/>
          <p:nvPr/>
        </p:nvSpPr>
        <p:spPr>
          <a:xfrm>
            <a:off x="5488178" y="5221254"/>
            <a:ext cx="58483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10"/>
              </a:lnSpc>
            </a:pPr>
            <a:r>
              <a:rPr sz="2200" spc="-25">
                <a:latin typeface="宋体"/>
                <a:cs typeface="宋体"/>
              </a:rPr>
              <a:t>交换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25" name="object 21">
            <a:extLst>
              <a:ext uri="{FF2B5EF4-FFF2-40B4-BE49-F238E27FC236}">
                <a16:creationId xmlns:a16="http://schemas.microsoft.com/office/drawing/2014/main" id="{8E0346EA-4201-FF47-A294-C0256377BB1C}"/>
              </a:ext>
            </a:extLst>
          </p:cNvPr>
          <p:cNvSpPr txBox="1"/>
          <p:nvPr/>
        </p:nvSpPr>
        <p:spPr>
          <a:xfrm>
            <a:off x="4536440" y="5362075"/>
            <a:ext cx="129539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7" name="object 22">
            <a:extLst>
              <a:ext uri="{FF2B5EF4-FFF2-40B4-BE49-F238E27FC236}">
                <a16:creationId xmlns:a16="http://schemas.microsoft.com/office/drawing/2014/main" id="{6E5A3936-03D4-4A4A-900E-1F0BC516B87B}"/>
              </a:ext>
            </a:extLst>
          </p:cNvPr>
          <p:cNvSpPr txBox="1"/>
          <p:nvPr/>
        </p:nvSpPr>
        <p:spPr>
          <a:xfrm>
            <a:off x="6375146" y="5380109"/>
            <a:ext cx="134620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AF8F02F-C3D2-CA4C-973F-34E88D5EAA20}"/>
              </a:ext>
            </a:extLst>
          </p:cNvPr>
          <p:cNvSpPr txBox="1"/>
          <p:nvPr/>
        </p:nvSpPr>
        <p:spPr>
          <a:xfrm>
            <a:off x="4484914" y="3723887"/>
            <a:ext cx="3957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736725" algn="r">
              <a:lnSpc>
                <a:spcPct val="100000"/>
              </a:lnSpc>
              <a:spcBef>
                <a:spcPts val="85"/>
              </a:spcBef>
            </a:pPr>
            <a:r>
              <a:rPr lang="en-US" altLang="zh-CN" sz="1800" b="1" dirty="0">
                <a:latin typeface="Times New Roman"/>
                <a:cs typeface="Times New Roman"/>
              </a:rPr>
              <a:t>3 &lt;</a:t>
            </a:r>
            <a:r>
              <a:rPr lang="zh-CN" altLang="en-US" sz="1800" b="1" spc="-10" dirty="0">
                <a:latin typeface="Times New Roman"/>
                <a:cs typeface="Times New Roman"/>
              </a:rPr>
              <a:t> </a:t>
            </a:r>
            <a:r>
              <a:rPr lang="en-US" altLang="zh-CN" sz="1800" b="1" spc="-50" dirty="0">
                <a:latin typeface="Times New Roman"/>
                <a:cs typeface="Times New Roman"/>
              </a:rPr>
              <a:t>4</a:t>
            </a:r>
            <a:endParaRPr lang="zh-CN" altLang="en-US" sz="1800" dirty="0">
              <a:latin typeface="Times New Roman"/>
              <a:cs typeface="Times New Roman"/>
            </a:endParaRPr>
          </a:p>
        </p:txBody>
      </p:sp>
      <p:sp>
        <p:nvSpPr>
          <p:cNvPr id="29" name="object 7">
            <a:extLst>
              <a:ext uri="{FF2B5EF4-FFF2-40B4-BE49-F238E27FC236}">
                <a16:creationId xmlns:a16="http://schemas.microsoft.com/office/drawing/2014/main" id="{9F427F9E-D19A-7248-8947-991F9E477EE0}"/>
              </a:ext>
            </a:extLst>
          </p:cNvPr>
          <p:cNvSpPr/>
          <p:nvPr/>
        </p:nvSpPr>
        <p:spPr>
          <a:xfrm>
            <a:off x="2114848" y="3503005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4892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8">
            <a:extLst>
              <a:ext uri="{FF2B5EF4-FFF2-40B4-BE49-F238E27FC236}">
                <a16:creationId xmlns:a16="http://schemas.microsoft.com/office/drawing/2014/main" id="{F8B08A77-9624-D540-B1E9-01C3E0358C6C}"/>
              </a:ext>
            </a:extLst>
          </p:cNvPr>
          <p:cNvSpPr/>
          <p:nvPr/>
        </p:nvSpPr>
        <p:spPr>
          <a:xfrm>
            <a:off x="1934381" y="3503005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22733" y="24892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5204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28F3ACF1-C2FA-064D-8E76-B83D14D14925}"/>
              </a:ext>
            </a:extLst>
          </p:cNvPr>
          <p:cNvSpPr/>
          <p:nvPr/>
        </p:nvSpPr>
        <p:spPr>
          <a:xfrm>
            <a:off x="3762444" y="2659278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305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F3BC2B55-DC54-9E49-B82D-D641281A762A}"/>
              </a:ext>
            </a:extLst>
          </p:cNvPr>
          <p:cNvSpPr/>
          <p:nvPr/>
        </p:nvSpPr>
        <p:spPr>
          <a:xfrm>
            <a:off x="3564451" y="2659278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24765" y="27305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9E5C0D9D-1A5E-E043-9D56-A0D19D56D1D0}"/>
              </a:ext>
            </a:extLst>
          </p:cNvPr>
          <p:cNvSpPr txBox="1"/>
          <p:nvPr/>
        </p:nvSpPr>
        <p:spPr>
          <a:xfrm>
            <a:off x="810641" y="1116729"/>
            <a:ext cx="5214620" cy="186436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宋体"/>
                <a:cs typeface="宋体"/>
              </a:rPr>
              <a:t>实现方法</a:t>
            </a:r>
            <a:endParaRPr sz="28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1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选取固定位置主元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dirty="0">
                <a:latin typeface="宋体"/>
                <a:cs typeface="宋体"/>
              </a:rPr>
              <a:t>（</a:t>
            </a:r>
            <a:r>
              <a:rPr sz="2400" dirty="0" err="1">
                <a:latin typeface="宋体"/>
                <a:cs typeface="宋体"/>
              </a:rPr>
              <a:t>如尾元素</a:t>
            </a:r>
            <a:r>
              <a:rPr sz="2400" spc="-50" dirty="0">
                <a:latin typeface="宋体"/>
                <a:cs typeface="宋体"/>
              </a:rPr>
              <a:t>）</a:t>
            </a:r>
            <a:endParaRPr sz="24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维护两个部分的右端点变量</a:t>
            </a:r>
            <a:r>
              <a:rPr sz="2400" spc="-10" dirty="0">
                <a:latin typeface="Cambria Math"/>
                <a:cs typeface="Cambria Math"/>
              </a:rPr>
              <a:t>𝒊</a:t>
            </a:r>
            <a:r>
              <a:rPr sz="2400" spc="-75" dirty="0">
                <a:latin typeface="Cambria Math"/>
                <a:cs typeface="Cambria Math"/>
              </a:rPr>
              <a:t>, </a:t>
            </a:r>
            <a:r>
              <a:rPr sz="2400" spc="-50" dirty="0">
                <a:latin typeface="Cambria Math"/>
                <a:cs typeface="Cambria Math"/>
              </a:rPr>
              <a:t>𝒋</a:t>
            </a:r>
            <a:endParaRPr sz="2400" dirty="0">
              <a:latin typeface="Cambria Math"/>
              <a:cs typeface="Cambria Math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考察数组元素</a:t>
            </a:r>
            <a:r>
              <a:rPr sz="2400" dirty="0">
                <a:latin typeface="Cambria Math"/>
                <a:cs typeface="Cambria Math"/>
              </a:rPr>
              <a:t>𝑨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𝒋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400" dirty="0">
                <a:latin typeface="宋体"/>
                <a:cs typeface="宋体"/>
              </a:rPr>
              <a:t>，</a:t>
            </a:r>
            <a:r>
              <a:rPr sz="2400" spc="-10" dirty="0" err="1">
                <a:solidFill>
                  <a:srgbClr val="FF0000"/>
                </a:solidFill>
                <a:latin typeface="宋体"/>
                <a:cs typeface="宋体"/>
              </a:rPr>
              <a:t>只和主元比较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DC786AE0-1C2B-B34F-BA04-C19C6AE5C2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3334" y="155137"/>
            <a:ext cx="393243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数组划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分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A97F6C9E-23AB-2F49-B8AD-AB37D7F6FE55}"/>
              </a:ext>
            </a:extLst>
          </p:cNvPr>
          <p:cNvGraphicFramePr>
            <a:graphicFrameLocks noGrp="1"/>
          </p:cNvGraphicFramePr>
          <p:nvPr/>
        </p:nvGraphicFramePr>
        <p:xfrm>
          <a:off x="6954901" y="1016761"/>
          <a:ext cx="4607558" cy="584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7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1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835">
                <a:tc>
                  <a:txBody>
                    <a:bodyPr/>
                    <a:lstStyle/>
                    <a:p>
                      <a:pPr marL="5581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>
                          <a:latin typeface="Cambria Math"/>
                          <a:cs typeface="Cambria Math"/>
                        </a:rPr>
                        <a:t>≤</a:t>
                      </a:r>
                      <a:r>
                        <a:rPr sz="2600" spc="1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600" spc="-50"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27051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>
                          <a:latin typeface="Cambria Math"/>
                          <a:cs typeface="Cambria Math"/>
                        </a:rPr>
                        <a:t>&gt;</a:t>
                      </a:r>
                      <a:r>
                        <a:rPr sz="2600" spc="1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600" spc="-50"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200" spc="-20">
                          <a:latin typeface="宋体"/>
                          <a:cs typeface="宋体"/>
                        </a:rPr>
                        <a:t>待考察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T="901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object 12">
            <a:extLst>
              <a:ext uri="{FF2B5EF4-FFF2-40B4-BE49-F238E27FC236}">
                <a16:creationId xmlns:a16="http://schemas.microsoft.com/office/drawing/2014/main" id="{C2671A58-D833-804A-9367-BD6F289041A9}"/>
              </a:ext>
            </a:extLst>
          </p:cNvPr>
          <p:cNvSpPr/>
          <p:nvPr/>
        </p:nvSpPr>
        <p:spPr>
          <a:xfrm>
            <a:off x="8643366" y="1646682"/>
            <a:ext cx="114300" cy="335915"/>
          </a:xfrm>
          <a:custGeom>
            <a:avLst/>
            <a:gdLst/>
            <a:ahLst/>
            <a:cxnLst/>
            <a:rect l="l" t="t" r="r" b="b"/>
            <a:pathLst>
              <a:path w="114300" h="335914">
                <a:moveTo>
                  <a:pt x="76200" y="95250"/>
                </a:moveTo>
                <a:lnTo>
                  <a:pt x="38100" y="95250"/>
                </a:lnTo>
                <a:lnTo>
                  <a:pt x="38100" y="335788"/>
                </a:lnTo>
                <a:lnTo>
                  <a:pt x="76200" y="335788"/>
                </a:lnTo>
                <a:lnTo>
                  <a:pt x="76200" y="95250"/>
                </a:lnTo>
                <a:close/>
              </a:path>
              <a:path w="114300" h="335914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335914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D6580AAE-2011-D54F-AD29-B848A18F9B79}"/>
              </a:ext>
            </a:extLst>
          </p:cNvPr>
          <p:cNvSpPr txBox="1"/>
          <p:nvPr/>
        </p:nvSpPr>
        <p:spPr>
          <a:xfrm>
            <a:off x="8636254" y="1991613"/>
            <a:ext cx="129539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06AFC6E8-C47A-6440-8FA1-97D8CEE0D16C}"/>
              </a:ext>
            </a:extLst>
          </p:cNvPr>
          <p:cNvSpPr/>
          <p:nvPr/>
        </p:nvSpPr>
        <p:spPr>
          <a:xfrm>
            <a:off x="9792461" y="1652777"/>
            <a:ext cx="114300" cy="358140"/>
          </a:xfrm>
          <a:custGeom>
            <a:avLst/>
            <a:gdLst/>
            <a:ahLst/>
            <a:cxnLst/>
            <a:rect l="l" t="t" r="r" b="b"/>
            <a:pathLst>
              <a:path w="114300" h="358139">
                <a:moveTo>
                  <a:pt x="76202" y="114172"/>
                </a:moveTo>
                <a:lnTo>
                  <a:pt x="38102" y="114426"/>
                </a:lnTo>
                <a:lnTo>
                  <a:pt x="39751" y="357886"/>
                </a:lnTo>
                <a:lnTo>
                  <a:pt x="77851" y="357632"/>
                </a:lnTo>
                <a:lnTo>
                  <a:pt x="76202" y="114172"/>
                </a:lnTo>
                <a:close/>
              </a:path>
              <a:path w="114300" h="358139">
                <a:moveTo>
                  <a:pt x="56388" y="0"/>
                </a:moveTo>
                <a:lnTo>
                  <a:pt x="0" y="114681"/>
                </a:lnTo>
                <a:lnTo>
                  <a:pt x="38102" y="114426"/>
                </a:lnTo>
                <a:lnTo>
                  <a:pt x="37973" y="95376"/>
                </a:lnTo>
                <a:lnTo>
                  <a:pt x="104744" y="95123"/>
                </a:lnTo>
                <a:lnTo>
                  <a:pt x="56388" y="0"/>
                </a:lnTo>
                <a:close/>
              </a:path>
              <a:path w="114300" h="358139">
                <a:moveTo>
                  <a:pt x="76073" y="95123"/>
                </a:moveTo>
                <a:lnTo>
                  <a:pt x="37973" y="95376"/>
                </a:lnTo>
                <a:lnTo>
                  <a:pt x="38102" y="114426"/>
                </a:lnTo>
                <a:lnTo>
                  <a:pt x="76202" y="114172"/>
                </a:lnTo>
                <a:lnTo>
                  <a:pt x="76073" y="95123"/>
                </a:lnTo>
                <a:close/>
              </a:path>
              <a:path w="114300" h="358139">
                <a:moveTo>
                  <a:pt x="104744" y="95123"/>
                </a:moveTo>
                <a:lnTo>
                  <a:pt x="76073" y="95123"/>
                </a:lnTo>
                <a:lnTo>
                  <a:pt x="76202" y="114172"/>
                </a:lnTo>
                <a:lnTo>
                  <a:pt x="114300" y="113919"/>
                </a:lnTo>
                <a:lnTo>
                  <a:pt x="104744" y="951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6673C368-16C0-A042-B136-CF9B71C68CB2}"/>
              </a:ext>
            </a:extLst>
          </p:cNvPr>
          <p:cNvSpPr txBox="1"/>
          <p:nvPr/>
        </p:nvSpPr>
        <p:spPr>
          <a:xfrm>
            <a:off x="9785095" y="1982977"/>
            <a:ext cx="13462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830673B-00DE-A84A-A27F-FD5DDC946169}"/>
              </a:ext>
            </a:extLst>
          </p:cNvPr>
          <p:cNvSpPr txBox="1"/>
          <p:nvPr/>
        </p:nvSpPr>
        <p:spPr>
          <a:xfrm>
            <a:off x="1137062" y="3076744"/>
            <a:ext cx="9945584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  <a:tabLst>
                <a:tab pos="306705" algn="l"/>
                <a:tab pos="1151255" algn="l"/>
              </a:tabLst>
            </a:pPr>
            <a:r>
              <a:rPr lang="en" altLang="zh-CN" sz="120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lang="en" altLang="zh-CN" sz="120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lang="zh-CN" altLang="en-US" sz="1800" dirty="0">
                <a:latin typeface="宋体"/>
                <a:cs typeface="宋体"/>
              </a:rPr>
              <a:t>若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zh-CN" altLang="en-US" sz="1800" spc="260" dirty="0">
                <a:latin typeface="Cambria Math"/>
                <a:cs typeface="Cambria Math"/>
              </a:rPr>
              <a:t> </a:t>
            </a:r>
            <a:r>
              <a:rPr lang="zh-CN" altLang="en-US" sz="1800" spc="-5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Cambria Math"/>
                <a:cs typeface="Cambria Math"/>
              </a:rPr>
              <a:t>	≤</a:t>
            </a:r>
            <a:r>
              <a:rPr lang="zh-CN" altLang="en-US" sz="1800" spc="150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𝒙</a:t>
            </a:r>
            <a:r>
              <a:rPr lang="zh-CN" altLang="en-US" sz="1800" spc="-10" dirty="0">
                <a:latin typeface="宋体"/>
                <a:cs typeface="宋体"/>
              </a:rPr>
              <a:t>，</a:t>
            </a:r>
            <a:r>
              <a:rPr lang="zh-CN" altLang="en-US" sz="1800" dirty="0">
                <a:latin typeface="宋体"/>
                <a:cs typeface="宋体"/>
              </a:rPr>
              <a:t>则交换</a:t>
            </a:r>
            <a:r>
              <a:rPr lang="zh-CN" altLang="en-US" sz="1800" spc="-10" dirty="0">
                <a:latin typeface="Cambria Math"/>
                <a:cs typeface="Cambria Math"/>
              </a:rPr>
              <a:t>𝑨</a:t>
            </a:r>
            <a:r>
              <a:rPr lang="en-US" altLang="zh-CN" sz="1800" spc="-10" dirty="0">
                <a:latin typeface="Cambria Math"/>
                <a:cs typeface="Cambria Math"/>
              </a:rPr>
              <a:t>[𝒋]</a:t>
            </a:r>
            <a:r>
              <a:rPr lang="zh-CN" altLang="en-US" sz="1800" dirty="0">
                <a:latin typeface="宋体"/>
                <a:cs typeface="宋体"/>
              </a:rPr>
              <a:t>和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en-US" altLang="zh-CN" sz="1800" dirty="0">
                <a:latin typeface="Cambria Math"/>
                <a:cs typeface="Cambria Math"/>
              </a:rPr>
              <a:t>[𝒊</a:t>
            </a:r>
            <a:r>
              <a:rPr lang="zh-CN" altLang="en-US" sz="1800" spc="20" dirty="0">
                <a:latin typeface="Cambria Math"/>
                <a:cs typeface="Cambria Math"/>
              </a:rPr>
              <a:t> </a:t>
            </a:r>
            <a:r>
              <a:rPr lang="en-US" altLang="zh-CN" sz="1800" dirty="0">
                <a:latin typeface="Cambria Math"/>
                <a:cs typeface="Cambria Math"/>
              </a:rPr>
              <a:t>+</a:t>
            </a:r>
            <a:r>
              <a:rPr lang="zh-CN" altLang="en-US" sz="1800" spc="20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𝟏</a:t>
            </a:r>
            <a:r>
              <a:rPr lang="en-US" altLang="zh-CN" sz="1800" spc="-10" dirty="0">
                <a:latin typeface="Cambria Math"/>
                <a:cs typeface="Cambria Math"/>
              </a:rPr>
              <a:t>]</a:t>
            </a:r>
            <a:r>
              <a:rPr lang="zh-CN" altLang="en-US" sz="1800" b="1" spc="-10" dirty="0">
                <a:latin typeface="微软雅黑"/>
                <a:cs typeface="微软雅黑"/>
              </a:rPr>
              <a:t>，</a:t>
            </a:r>
            <a:r>
              <a:rPr lang="zh-CN" altLang="en-US" sz="1800" spc="-10" dirty="0">
                <a:latin typeface="Cambria Math"/>
                <a:cs typeface="Cambria Math"/>
              </a:rPr>
              <a:t>𝒊</a:t>
            </a:r>
            <a:r>
              <a:rPr lang="en-US" altLang="zh-CN" sz="1800" spc="-10" dirty="0">
                <a:latin typeface="Cambria Math"/>
                <a:cs typeface="Cambria Math"/>
              </a:rPr>
              <a:t>,</a:t>
            </a:r>
            <a:r>
              <a:rPr lang="zh-CN" altLang="en-US" sz="1800" spc="-110" dirty="0">
                <a:latin typeface="Cambria Math"/>
                <a:cs typeface="Cambria Math"/>
              </a:rPr>
              <a:t> </a:t>
            </a:r>
            <a:r>
              <a:rPr lang="zh-CN" altLang="en-US" sz="1800" spc="-15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宋体"/>
                <a:cs typeface="宋体"/>
              </a:rPr>
              <a:t>右</a:t>
            </a:r>
            <a:r>
              <a:rPr lang="zh-CN" altLang="en-US" sz="1800" spc="-50" dirty="0">
                <a:latin typeface="宋体"/>
                <a:cs typeface="宋体"/>
              </a:rPr>
              <a:t>移</a:t>
            </a:r>
            <a:endParaRPr lang="zh-CN" altLang="en-US" sz="18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  <a:tabLst>
                <a:tab pos="306705" algn="l"/>
                <a:tab pos="1151255" algn="l"/>
              </a:tabLst>
            </a:pPr>
            <a:r>
              <a:rPr lang="en" altLang="zh-CN" sz="120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lang="en" altLang="zh-CN" sz="120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lang="zh-CN" altLang="en-US" sz="1800" dirty="0">
                <a:latin typeface="宋体"/>
                <a:cs typeface="宋体"/>
              </a:rPr>
              <a:t>若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zh-CN" altLang="en-US" sz="1800" spc="260" dirty="0">
                <a:latin typeface="Cambria Math"/>
                <a:cs typeface="Cambria Math"/>
              </a:rPr>
              <a:t> </a:t>
            </a:r>
            <a:r>
              <a:rPr lang="zh-CN" altLang="en-US" sz="1800" spc="-5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Cambria Math"/>
                <a:cs typeface="Cambria Math"/>
              </a:rPr>
              <a:t>	</a:t>
            </a:r>
            <a:r>
              <a:rPr lang="en-US" altLang="zh-CN" sz="1800" dirty="0">
                <a:latin typeface="Cambria Math"/>
                <a:cs typeface="Cambria Math"/>
              </a:rPr>
              <a:t>&gt;</a:t>
            </a:r>
            <a:r>
              <a:rPr lang="zh-CN" altLang="en-US" sz="1800" spc="145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𝒙</a:t>
            </a:r>
            <a:r>
              <a:rPr lang="zh-CN" altLang="en-US" sz="1800" spc="-10" dirty="0">
                <a:latin typeface="宋体"/>
                <a:cs typeface="宋体"/>
              </a:rPr>
              <a:t>，</a:t>
            </a:r>
            <a:r>
              <a:rPr lang="zh-CN" altLang="en-US" sz="1800" dirty="0">
                <a:latin typeface="宋体"/>
                <a:cs typeface="宋体"/>
              </a:rPr>
              <a:t>则</a:t>
            </a:r>
            <a:r>
              <a:rPr lang="zh-CN" altLang="en-US" sz="1800" spc="-1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宋体"/>
                <a:cs typeface="宋体"/>
              </a:rPr>
              <a:t>右</a:t>
            </a:r>
            <a:r>
              <a:rPr lang="zh-CN" altLang="en-US" sz="1800" spc="-50" dirty="0">
                <a:latin typeface="宋体"/>
                <a:cs typeface="宋体"/>
              </a:rPr>
              <a:t>移</a:t>
            </a:r>
            <a:endParaRPr lang="zh-CN" altLang="en-US" sz="1800" dirty="0">
              <a:latin typeface="宋体"/>
              <a:cs typeface="宋体"/>
            </a:endParaRPr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70F2CA58-0D9B-154C-ABA0-FD5263B6C2A3}"/>
              </a:ext>
            </a:extLst>
          </p:cNvPr>
          <p:cNvSpPr/>
          <p:nvPr/>
        </p:nvSpPr>
        <p:spPr>
          <a:xfrm>
            <a:off x="2114848" y="313604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5019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F3181DB3-0DC6-4E47-A5ED-B272C280CCAB}"/>
              </a:ext>
            </a:extLst>
          </p:cNvPr>
          <p:cNvSpPr/>
          <p:nvPr/>
        </p:nvSpPr>
        <p:spPr>
          <a:xfrm>
            <a:off x="1934381" y="313604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22733" y="25019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BAA07E5-D026-CC46-B282-E1274A5953C1}"/>
              </a:ext>
            </a:extLst>
          </p:cNvPr>
          <p:cNvSpPr txBox="1"/>
          <p:nvPr/>
        </p:nvSpPr>
        <p:spPr>
          <a:xfrm>
            <a:off x="7742712" y="3493582"/>
            <a:ext cx="697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080" algn="r">
              <a:lnSpc>
                <a:spcPct val="100000"/>
              </a:lnSpc>
              <a:spcBef>
                <a:spcPts val="695"/>
              </a:spcBef>
            </a:pPr>
            <a:r>
              <a:rPr lang="zh-CN" altLang="en-US" sz="1800" spc="-25" dirty="0">
                <a:latin typeface="宋体"/>
                <a:cs typeface="宋体"/>
              </a:rPr>
              <a:t>主元</a:t>
            </a:r>
            <a:endParaRPr lang="zh-CN" altLang="en-US" sz="1800" dirty="0">
              <a:latin typeface="宋体"/>
              <a:cs typeface="宋体"/>
            </a:endParaRPr>
          </a:p>
        </p:txBody>
      </p:sp>
      <p:graphicFrame>
        <p:nvGraphicFramePr>
          <p:cNvPr id="17" name="object 11">
            <a:extLst>
              <a:ext uri="{FF2B5EF4-FFF2-40B4-BE49-F238E27FC236}">
                <a16:creationId xmlns:a16="http://schemas.microsoft.com/office/drawing/2014/main" id="{84E08299-7C12-8F44-B2E8-782BC0A7EB47}"/>
              </a:ext>
            </a:extLst>
          </p:cNvPr>
          <p:cNvGraphicFramePr>
            <a:graphicFrameLocks noGrp="1"/>
          </p:cNvGraphicFramePr>
          <p:nvPr/>
        </p:nvGraphicFramePr>
        <p:xfrm>
          <a:off x="3772661" y="4178934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object 12">
            <a:extLst>
              <a:ext uri="{FF2B5EF4-FFF2-40B4-BE49-F238E27FC236}">
                <a16:creationId xmlns:a16="http://schemas.microsoft.com/office/drawing/2014/main" id="{0D29E23F-C7EE-704A-A21D-CE5A1789809E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3">
            <a:extLst>
              <a:ext uri="{FF2B5EF4-FFF2-40B4-BE49-F238E27FC236}">
                <a16:creationId xmlns:a16="http://schemas.microsoft.com/office/drawing/2014/main" id="{D6E23AD7-4DA5-8548-B940-94F834F975BA}"/>
              </a:ext>
            </a:extLst>
          </p:cNvPr>
          <p:cNvSpPr/>
          <p:nvPr/>
        </p:nvSpPr>
        <p:spPr>
          <a:xfrm>
            <a:off x="4559808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4">
            <a:extLst>
              <a:ext uri="{FF2B5EF4-FFF2-40B4-BE49-F238E27FC236}">
                <a16:creationId xmlns:a16="http://schemas.microsoft.com/office/drawing/2014/main" id="{25F1CC32-F5AE-6943-942A-B2DD5DF01B9F}"/>
              </a:ext>
            </a:extLst>
          </p:cNvPr>
          <p:cNvSpPr/>
          <p:nvPr/>
        </p:nvSpPr>
        <p:spPr>
          <a:xfrm>
            <a:off x="5223510" y="4791455"/>
            <a:ext cx="1262380" cy="384175"/>
          </a:xfrm>
          <a:custGeom>
            <a:avLst/>
            <a:gdLst/>
            <a:ahLst/>
            <a:cxnLst/>
            <a:rect l="l" t="t" r="r" b="b"/>
            <a:pathLst>
              <a:path w="1262379" h="384175">
                <a:moveTo>
                  <a:pt x="1162050" y="96012"/>
                </a:moveTo>
                <a:lnTo>
                  <a:pt x="1066038" y="0"/>
                </a:lnTo>
                <a:lnTo>
                  <a:pt x="970026" y="96012"/>
                </a:lnTo>
                <a:lnTo>
                  <a:pt x="1046099" y="96012"/>
                </a:lnTo>
                <a:lnTo>
                  <a:pt x="1046099" y="344297"/>
                </a:lnTo>
                <a:lnTo>
                  <a:pt x="564642" y="344297"/>
                </a:lnTo>
                <a:lnTo>
                  <a:pt x="537972" y="344297"/>
                </a:lnTo>
                <a:lnTo>
                  <a:pt x="115951" y="344297"/>
                </a:lnTo>
                <a:lnTo>
                  <a:pt x="115951" y="96012"/>
                </a:lnTo>
                <a:lnTo>
                  <a:pt x="192024" y="96012"/>
                </a:lnTo>
                <a:lnTo>
                  <a:pt x="96012" y="0"/>
                </a:lnTo>
                <a:lnTo>
                  <a:pt x="0" y="96012"/>
                </a:lnTo>
                <a:lnTo>
                  <a:pt x="76073" y="96012"/>
                </a:lnTo>
                <a:lnTo>
                  <a:pt x="76073" y="384048"/>
                </a:lnTo>
                <a:lnTo>
                  <a:pt x="537972" y="384048"/>
                </a:lnTo>
                <a:lnTo>
                  <a:pt x="564642" y="384048"/>
                </a:lnTo>
                <a:lnTo>
                  <a:pt x="1085977" y="384048"/>
                </a:lnTo>
                <a:lnTo>
                  <a:pt x="1085977" y="96012"/>
                </a:lnTo>
                <a:lnTo>
                  <a:pt x="1162050" y="96012"/>
                </a:lnTo>
                <a:close/>
              </a:path>
              <a:path w="1262379" h="384175">
                <a:moveTo>
                  <a:pt x="1261872" y="190500"/>
                </a:moveTo>
                <a:lnTo>
                  <a:pt x="1252347" y="171450"/>
                </a:lnTo>
                <a:lnTo>
                  <a:pt x="1204722" y="76200"/>
                </a:lnTo>
                <a:lnTo>
                  <a:pt x="1147572" y="190500"/>
                </a:lnTo>
                <a:lnTo>
                  <a:pt x="1185672" y="190500"/>
                </a:lnTo>
                <a:lnTo>
                  <a:pt x="1185672" y="368046"/>
                </a:lnTo>
                <a:lnTo>
                  <a:pt x="1223772" y="368046"/>
                </a:lnTo>
                <a:lnTo>
                  <a:pt x="1223772" y="190500"/>
                </a:lnTo>
                <a:lnTo>
                  <a:pt x="1261872" y="190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0">
            <a:extLst>
              <a:ext uri="{FF2B5EF4-FFF2-40B4-BE49-F238E27FC236}">
                <a16:creationId xmlns:a16="http://schemas.microsoft.com/office/drawing/2014/main" id="{5553AED3-50C8-6140-8C29-614FA5DFACF8}"/>
              </a:ext>
            </a:extLst>
          </p:cNvPr>
          <p:cNvSpPr txBox="1"/>
          <p:nvPr/>
        </p:nvSpPr>
        <p:spPr>
          <a:xfrm>
            <a:off x="5488178" y="5221254"/>
            <a:ext cx="58483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10"/>
              </a:lnSpc>
            </a:pPr>
            <a:r>
              <a:rPr sz="2200" spc="-25">
                <a:latin typeface="宋体"/>
                <a:cs typeface="宋体"/>
              </a:rPr>
              <a:t>交换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25" name="object 21">
            <a:extLst>
              <a:ext uri="{FF2B5EF4-FFF2-40B4-BE49-F238E27FC236}">
                <a16:creationId xmlns:a16="http://schemas.microsoft.com/office/drawing/2014/main" id="{145C18B0-445C-A746-BC2E-956CCBE10EE9}"/>
              </a:ext>
            </a:extLst>
          </p:cNvPr>
          <p:cNvSpPr txBox="1"/>
          <p:nvPr/>
        </p:nvSpPr>
        <p:spPr>
          <a:xfrm>
            <a:off x="4536440" y="5362075"/>
            <a:ext cx="129539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7" name="object 22">
            <a:extLst>
              <a:ext uri="{FF2B5EF4-FFF2-40B4-BE49-F238E27FC236}">
                <a16:creationId xmlns:a16="http://schemas.microsoft.com/office/drawing/2014/main" id="{8E0CD105-3DE9-594F-B564-482C330A44ED}"/>
              </a:ext>
            </a:extLst>
          </p:cNvPr>
          <p:cNvSpPr txBox="1"/>
          <p:nvPr/>
        </p:nvSpPr>
        <p:spPr>
          <a:xfrm>
            <a:off x="6375146" y="5380109"/>
            <a:ext cx="134620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8" name="object 7">
            <a:extLst>
              <a:ext uri="{FF2B5EF4-FFF2-40B4-BE49-F238E27FC236}">
                <a16:creationId xmlns:a16="http://schemas.microsoft.com/office/drawing/2014/main" id="{EA28FEA3-DBA7-F84D-AF71-EBA00902BB57}"/>
              </a:ext>
            </a:extLst>
          </p:cNvPr>
          <p:cNvSpPr/>
          <p:nvPr/>
        </p:nvSpPr>
        <p:spPr>
          <a:xfrm>
            <a:off x="2114848" y="3503005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4892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8">
            <a:extLst>
              <a:ext uri="{FF2B5EF4-FFF2-40B4-BE49-F238E27FC236}">
                <a16:creationId xmlns:a16="http://schemas.microsoft.com/office/drawing/2014/main" id="{D0950A3F-6A08-9E4A-B5D7-589AF681F247}"/>
              </a:ext>
            </a:extLst>
          </p:cNvPr>
          <p:cNvSpPr/>
          <p:nvPr/>
        </p:nvSpPr>
        <p:spPr>
          <a:xfrm>
            <a:off x="1934381" y="3503005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22733" y="24892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34435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28F3ACF1-C2FA-064D-8E76-B83D14D14925}"/>
              </a:ext>
            </a:extLst>
          </p:cNvPr>
          <p:cNvSpPr/>
          <p:nvPr/>
        </p:nvSpPr>
        <p:spPr>
          <a:xfrm>
            <a:off x="3762444" y="2659278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305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F3BC2B55-DC54-9E49-B82D-D641281A762A}"/>
              </a:ext>
            </a:extLst>
          </p:cNvPr>
          <p:cNvSpPr/>
          <p:nvPr/>
        </p:nvSpPr>
        <p:spPr>
          <a:xfrm>
            <a:off x="3564451" y="2659278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24765" y="27305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9E5C0D9D-1A5E-E043-9D56-A0D19D56D1D0}"/>
              </a:ext>
            </a:extLst>
          </p:cNvPr>
          <p:cNvSpPr txBox="1"/>
          <p:nvPr/>
        </p:nvSpPr>
        <p:spPr>
          <a:xfrm>
            <a:off x="810641" y="1116729"/>
            <a:ext cx="5214620" cy="186436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宋体"/>
                <a:cs typeface="宋体"/>
              </a:rPr>
              <a:t>实现方法</a:t>
            </a:r>
            <a:endParaRPr sz="28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1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选取固定位置主元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dirty="0">
                <a:latin typeface="宋体"/>
                <a:cs typeface="宋体"/>
              </a:rPr>
              <a:t>（</a:t>
            </a:r>
            <a:r>
              <a:rPr sz="2400" dirty="0" err="1">
                <a:latin typeface="宋体"/>
                <a:cs typeface="宋体"/>
              </a:rPr>
              <a:t>如尾元素</a:t>
            </a:r>
            <a:r>
              <a:rPr sz="2400" spc="-50" dirty="0">
                <a:latin typeface="宋体"/>
                <a:cs typeface="宋体"/>
              </a:rPr>
              <a:t>）</a:t>
            </a:r>
            <a:endParaRPr sz="24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维护两个部分的右端点变量</a:t>
            </a:r>
            <a:r>
              <a:rPr sz="2400" spc="-10" dirty="0">
                <a:latin typeface="Cambria Math"/>
                <a:cs typeface="Cambria Math"/>
              </a:rPr>
              <a:t>𝒊</a:t>
            </a:r>
            <a:r>
              <a:rPr sz="2400" spc="-75" dirty="0">
                <a:latin typeface="Cambria Math"/>
                <a:cs typeface="Cambria Math"/>
              </a:rPr>
              <a:t>, </a:t>
            </a:r>
            <a:r>
              <a:rPr sz="2400" spc="-50" dirty="0">
                <a:latin typeface="Cambria Math"/>
                <a:cs typeface="Cambria Math"/>
              </a:rPr>
              <a:t>𝒋</a:t>
            </a:r>
            <a:endParaRPr sz="2400" dirty="0">
              <a:latin typeface="Cambria Math"/>
              <a:cs typeface="Cambria Math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考察数组元素</a:t>
            </a:r>
            <a:r>
              <a:rPr sz="2400" dirty="0">
                <a:latin typeface="Cambria Math"/>
                <a:cs typeface="Cambria Math"/>
              </a:rPr>
              <a:t>𝑨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𝒋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400" dirty="0">
                <a:latin typeface="宋体"/>
                <a:cs typeface="宋体"/>
              </a:rPr>
              <a:t>，</a:t>
            </a:r>
            <a:r>
              <a:rPr sz="2400" spc="-10" dirty="0" err="1">
                <a:solidFill>
                  <a:srgbClr val="FF0000"/>
                </a:solidFill>
                <a:latin typeface="宋体"/>
                <a:cs typeface="宋体"/>
              </a:rPr>
              <a:t>只和主元比较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DC786AE0-1C2B-B34F-BA04-C19C6AE5C2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3334" y="155137"/>
            <a:ext cx="393243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数组划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分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A97F6C9E-23AB-2F49-B8AD-AB37D7F6FE55}"/>
              </a:ext>
            </a:extLst>
          </p:cNvPr>
          <p:cNvGraphicFramePr>
            <a:graphicFrameLocks noGrp="1"/>
          </p:cNvGraphicFramePr>
          <p:nvPr/>
        </p:nvGraphicFramePr>
        <p:xfrm>
          <a:off x="6954901" y="1016761"/>
          <a:ext cx="4607558" cy="584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7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1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835">
                <a:tc>
                  <a:txBody>
                    <a:bodyPr/>
                    <a:lstStyle/>
                    <a:p>
                      <a:pPr marL="5581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>
                          <a:latin typeface="Cambria Math"/>
                          <a:cs typeface="Cambria Math"/>
                        </a:rPr>
                        <a:t>≤</a:t>
                      </a:r>
                      <a:r>
                        <a:rPr sz="2600" spc="1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600" spc="-50"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27051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>
                          <a:latin typeface="Cambria Math"/>
                          <a:cs typeface="Cambria Math"/>
                        </a:rPr>
                        <a:t>&gt;</a:t>
                      </a:r>
                      <a:r>
                        <a:rPr sz="2600" spc="1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600" spc="-50"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200" spc="-20">
                          <a:latin typeface="宋体"/>
                          <a:cs typeface="宋体"/>
                        </a:rPr>
                        <a:t>待考察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T="901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object 12">
            <a:extLst>
              <a:ext uri="{FF2B5EF4-FFF2-40B4-BE49-F238E27FC236}">
                <a16:creationId xmlns:a16="http://schemas.microsoft.com/office/drawing/2014/main" id="{C2671A58-D833-804A-9367-BD6F289041A9}"/>
              </a:ext>
            </a:extLst>
          </p:cNvPr>
          <p:cNvSpPr/>
          <p:nvPr/>
        </p:nvSpPr>
        <p:spPr>
          <a:xfrm>
            <a:off x="8643366" y="1646682"/>
            <a:ext cx="114300" cy="335915"/>
          </a:xfrm>
          <a:custGeom>
            <a:avLst/>
            <a:gdLst/>
            <a:ahLst/>
            <a:cxnLst/>
            <a:rect l="l" t="t" r="r" b="b"/>
            <a:pathLst>
              <a:path w="114300" h="335914">
                <a:moveTo>
                  <a:pt x="76200" y="95250"/>
                </a:moveTo>
                <a:lnTo>
                  <a:pt x="38100" y="95250"/>
                </a:lnTo>
                <a:lnTo>
                  <a:pt x="38100" y="335788"/>
                </a:lnTo>
                <a:lnTo>
                  <a:pt x="76200" y="335788"/>
                </a:lnTo>
                <a:lnTo>
                  <a:pt x="76200" y="95250"/>
                </a:lnTo>
                <a:close/>
              </a:path>
              <a:path w="114300" h="335914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335914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D6580AAE-2011-D54F-AD29-B848A18F9B79}"/>
              </a:ext>
            </a:extLst>
          </p:cNvPr>
          <p:cNvSpPr txBox="1"/>
          <p:nvPr/>
        </p:nvSpPr>
        <p:spPr>
          <a:xfrm>
            <a:off x="8636254" y="1991613"/>
            <a:ext cx="129539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06AFC6E8-C47A-6440-8FA1-97D8CEE0D16C}"/>
              </a:ext>
            </a:extLst>
          </p:cNvPr>
          <p:cNvSpPr/>
          <p:nvPr/>
        </p:nvSpPr>
        <p:spPr>
          <a:xfrm>
            <a:off x="9792461" y="1652777"/>
            <a:ext cx="114300" cy="358140"/>
          </a:xfrm>
          <a:custGeom>
            <a:avLst/>
            <a:gdLst/>
            <a:ahLst/>
            <a:cxnLst/>
            <a:rect l="l" t="t" r="r" b="b"/>
            <a:pathLst>
              <a:path w="114300" h="358139">
                <a:moveTo>
                  <a:pt x="76202" y="114172"/>
                </a:moveTo>
                <a:lnTo>
                  <a:pt x="38102" y="114426"/>
                </a:lnTo>
                <a:lnTo>
                  <a:pt x="39751" y="357886"/>
                </a:lnTo>
                <a:lnTo>
                  <a:pt x="77851" y="357632"/>
                </a:lnTo>
                <a:lnTo>
                  <a:pt x="76202" y="114172"/>
                </a:lnTo>
                <a:close/>
              </a:path>
              <a:path w="114300" h="358139">
                <a:moveTo>
                  <a:pt x="56388" y="0"/>
                </a:moveTo>
                <a:lnTo>
                  <a:pt x="0" y="114681"/>
                </a:lnTo>
                <a:lnTo>
                  <a:pt x="38102" y="114426"/>
                </a:lnTo>
                <a:lnTo>
                  <a:pt x="37973" y="95376"/>
                </a:lnTo>
                <a:lnTo>
                  <a:pt x="104744" y="95123"/>
                </a:lnTo>
                <a:lnTo>
                  <a:pt x="56388" y="0"/>
                </a:lnTo>
                <a:close/>
              </a:path>
              <a:path w="114300" h="358139">
                <a:moveTo>
                  <a:pt x="76073" y="95123"/>
                </a:moveTo>
                <a:lnTo>
                  <a:pt x="37973" y="95376"/>
                </a:lnTo>
                <a:lnTo>
                  <a:pt x="38102" y="114426"/>
                </a:lnTo>
                <a:lnTo>
                  <a:pt x="76202" y="114172"/>
                </a:lnTo>
                <a:lnTo>
                  <a:pt x="76073" y="95123"/>
                </a:lnTo>
                <a:close/>
              </a:path>
              <a:path w="114300" h="358139">
                <a:moveTo>
                  <a:pt x="104744" y="95123"/>
                </a:moveTo>
                <a:lnTo>
                  <a:pt x="76073" y="95123"/>
                </a:lnTo>
                <a:lnTo>
                  <a:pt x="76202" y="114172"/>
                </a:lnTo>
                <a:lnTo>
                  <a:pt x="114300" y="113919"/>
                </a:lnTo>
                <a:lnTo>
                  <a:pt x="104744" y="951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6673C368-16C0-A042-B136-CF9B71C68CB2}"/>
              </a:ext>
            </a:extLst>
          </p:cNvPr>
          <p:cNvSpPr txBox="1"/>
          <p:nvPr/>
        </p:nvSpPr>
        <p:spPr>
          <a:xfrm>
            <a:off x="9785095" y="1982977"/>
            <a:ext cx="13462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830673B-00DE-A84A-A27F-FD5DDC946169}"/>
              </a:ext>
            </a:extLst>
          </p:cNvPr>
          <p:cNvSpPr txBox="1"/>
          <p:nvPr/>
        </p:nvSpPr>
        <p:spPr>
          <a:xfrm>
            <a:off x="1137062" y="3076744"/>
            <a:ext cx="9945584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  <a:tabLst>
                <a:tab pos="306705" algn="l"/>
                <a:tab pos="1151255" algn="l"/>
              </a:tabLst>
            </a:pPr>
            <a:r>
              <a:rPr lang="en" altLang="zh-CN" sz="120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lang="en" altLang="zh-CN" sz="120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lang="zh-CN" altLang="en-US" sz="1800" dirty="0">
                <a:latin typeface="宋体"/>
                <a:cs typeface="宋体"/>
              </a:rPr>
              <a:t>若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zh-CN" altLang="en-US" sz="1800" spc="260" dirty="0">
                <a:latin typeface="Cambria Math"/>
                <a:cs typeface="Cambria Math"/>
              </a:rPr>
              <a:t> </a:t>
            </a:r>
            <a:r>
              <a:rPr lang="zh-CN" altLang="en-US" sz="1800" spc="-5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Cambria Math"/>
                <a:cs typeface="Cambria Math"/>
              </a:rPr>
              <a:t>	≤</a:t>
            </a:r>
            <a:r>
              <a:rPr lang="zh-CN" altLang="en-US" sz="1800" spc="150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𝒙</a:t>
            </a:r>
            <a:r>
              <a:rPr lang="zh-CN" altLang="en-US" sz="1800" spc="-10" dirty="0">
                <a:latin typeface="宋体"/>
                <a:cs typeface="宋体"/>
              </a:rPr>
              <a:t>，</a:t>
            </a:r>
            <a:r>
              <a:rPr lang="zh-CN" altLang="en-US" sz="1800" dirty="0">
                <a:latin typeface="宋体"/>
                <a:cs typeface="宋体"/>
              </a:rPr>
              <a:t>则交换</a:t>
            </a:r>
            <a:r>
              <a:rPr lang="zh-CN" altLang="en-US" sz="1800" spc="-10" dirty="0">
                <a:latin typeface="Cambria Math"/>
                <a:cs typeface="Cambria Math"/>
              </a:rPr>
              <a:t>𝑨</a:t>
            </a:r>
            <a:r>
              <a:rPr lang="en-US" altLang="zh-CN" sz="1800" spc="-10" dirty="0">
                <a:latin typeface="Cambria Math"/>
                <a:cs typeface="Cambria Math"/>
              </a:rPr>
              <a:t>[𝒋]</a:t>
            </a:r>
            <a:r>
              <a:rPr lang="zh-CN" altLang="en-US" sz="1800" dirty="0">
                <a:latin typeface="宋体"/>
                <a:cs typeface="宋体"/>
              </a:rPr>
              <a:t>和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en-US" altLang="zh-CN" sz="1800" dirty="0">
                <a:latin typeface="Cambria Math"/>
                <a:cs typeface="Cambria Math"/>
              </a:rPr>
              <a:t>[𝒊</a:t>
            </a:r>
            <a:r>
              <a:rPr lang="zh-CN" altLang="en-US" sz="1800" spc="20" dirty="0">
                <a:latin typeface="Cambria Math"/>
                <a:cs typeface="Cambria Math"/>
              </a:rPr>
              <a:t> </a:t>
            </a:r>
            <a:r>
              <a:rPr lang="en-US" altLang="zh-CN" sz="1800" dirty="0">
                <a:latin typeface="Cambria Math"/>
                <a:cs typeface="Cambria Math"/>
              </a:rPr>
              <a:t>+</a:t>
            </a:r>
            <a:r>
              <a:rPr lang="zh-CN" altLang="en-US" sz="1800" spc="20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𝟏</a:t>
            </a:r>
            <a:r>
              <a:rPr lang="en-US" altLang="zh-CN" sz="1800" spc="-10" dirty="0">
                <a:latin typeface="Cambria Math"/>
                <a:cs typeface="Cambria Math"/>
              </a:rPr>
              <a:t>]</a:t>
            </a:r>
            <a:r>
              <a:rPr lang="zh-CN" altLang="en-US" sz="1800" b="1" spc="-10" dirty="0">
                <a:latin typeface="微软雅黑"/>
                <a:cs typeface="微软雅黑"/>
              </a:rPr>
              <a:t>，</a:t>
            </a:r>
            <a:r>
              <a:rPr lang="zh-CN" altLang="en-US" sz="1800" spc="-10" dirty="0">
                <a:latin typeface="Cambria Math"/>
                <a:cs typeface="Cambria Math"/>
              </a:rPr>
              <a:t>𝒊</a:t>
            </a:r>
            <a:r>
              <a:rPr lang="en-US" altLang="zh-CN" sz="1800" spc="-10" dirty="0">
                <a:latin typeface="Cambria Math"/>
                <a:cs typeface="Cambria Math"/>
              </a:rPr>
              <a:t>,</a:t>
            </a:r>
            <a:r>
              <a:rPr lang="zh-CN" altLang="en-US" sz="1800" spc="-110" dirty="0">
                <a:latin typeface="Cambria Math"/>
                <a:cs typeface="Cambria Math"/>
              </a:rPr>
              <a:t> </a:t>
            </a:r>
            <a:r>
              <a:rPr lang="zh-CN" altLang="en-US" sz="1800" spc="-15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宋体"/>
                <a:cs typeface="宋体"/>
              </a:rPr>
              <a:t>右</a:t>
            </a:r>
            <a:r>
              <a:rPr lang="zh-CN" altLang="en-US" sz="1800" spc="-50" dirty="0">
                <a:latin typeface="宋体"/>
                <a:cs typeface="宋体"/>
              </a:rPr>
              <a:t>移</a:t>
            </a:r>
            <a:endParaRPr lang="zh-CN" altLang="en-US" sz="18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  <a:tabLst>
                <a:tab pos="306705" algn="l"/>
                <a:tab pos="1151255" algn="l"/>
              </a:tabLst>
            </a:pPr>
            <a:r>
              <a:rPr lang="en" altLang="zh-CN" sz="120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lang="en" altLang="zh-CN" sz="120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lang="zh-CN" altLang="en-US" sz="1800" dirty="0">
                <a:latin typeface="宋体"/>
                <a:cs typeface="宋体"/>
              </a:rPr>
              <a:t>若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zh-CN" altLang="en-US" sz="1800" spc="260" dirty="0">
                <a:latin typeface="Cambria Math"/>
                <a:cs typeface="Cambria Math"/>
              </a:rPr>
              <a:t> </a:t>
            </a:r>
            <a:r>
              <a:rPr lang="zh-CN" altLang="en-US" sz="1800" spc="-5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Cambria Math"/>
                <a:cs typeface="Cambria Math"/>
              </a:rPr>
              <a:t>	</a:t>
            </a:r>
            <a:r>
              <a:rPr lang="en-US" altLang="zh-CN" sz="1800" dirty="0">
                <a:latin typeface="Cambria Math"/>
                <a:cs typeface="Cambria Math"/>
              </a:rPr>
              <a:t>&gt;</a:t>
            </a:r>
            <a:r>
              <a:rPr lang="zh-CN" altLang="en-US" sz="1800" spc="145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𝒙</a:t>
            </a:r>
            <a:r>
              <a:rPr lang="zh-CN" altLang="en-US" sz="1800" spc="-10" dirty="0">
                <a:latin typeface="宋体"/>
                <a:cs typeface="宋体"/>
              </a:rPr>
              <a:t>，</a:t>
            </a:r>
            <a:r>
              <a:rPr lang="zh-CN" altLang="en-US" sz="1800" dirty="0">
                <a:latin typeface="宋体"/>
                <a:cs typeface="宋体"/>
              </a:rPr>
              <a:t>则</a:t>
            </a:r>
            <a:r>
              <a:rPr lang="zh-CN" altLang="en-US" sz="1800" spc="-1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宋体"/>
                <a:cs typeface="宋体"/>
              </a:rPr>
              <a:t>右</a:t>
            </a:r>
            <a:r>
              <a:rPr lang="zh-CN" altLang="en-US" sz="1800" spc="-50" dirty="0">
                <a:latin typeface="宋体"/>
                <a:cs typeface="宋体"/>
              </a:rPr>
              <a:t>移</a:t>
            </a:r>
            <a:endParaRPr lang="zh-CN" altLang="en-US" sz="1800" dirty="0">
              <a:latin typeface="宋体"/>
              <a:cs typeface="宋体"/>
            </a:endParaRPr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70F2CA58-0D9B-154C-ABA0-FD5263B6C2A3}"/>
              </a:ext>
            </a:extLst>
          </p:cNvPr>
          <p:cNvSpPr/>
          <p:nvPr/>
        </p:nvSpPr>
        <p:spPr>
          <a:xfrm>
            <a:off x="2114848" y="313604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5019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F3181DB3-0DC6-4E47-A5ED-B272C280CCAB}"/>
              </a:ext>
            </a:extLst>
          </p:cNvPr>
          <p:cNvSpPr/>
          <p:nvPr/>
        </p:nvSpPr>
        <p:spPr>
          <a:xfrm>
            <a:off x="1934381" y="313604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22733" y="25019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BAA07E5-D026-CC46-B282-E1274A5953C1}"/>
              </a:ext>
            </a:extLst>
          </p:cNvPr>
          <p:cNvSpPr txBox="1"/>
          <p:nvPr/>
        </p:nvSpPr>
        <p:spPr>
          <a:xfrm>
            <a:off x="7742712" y="3493582"/>
            <a:ext cx="697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080" algn="r">
              <a:lnSpc>
                <a:spcPct val="100000"/>
              </a:lnSpc>
              <a:spcBef>
                <a:spcPts val="695"/>
              </a:spcBef>
            </a:pPr>
            <a:r>
              <a:rPr lang="zh-CN" altLang="en-US" sz="1800" spc="-25" dirty="0">
                <a:latin typeface="宋体"/>
                <a:cs typeface="宋体"/>
              </a:rPr>
              <a:t>主元</a:t>
            </a:r>
            <a:endParaRPr lang="zh-CN" altLang="en-US" sz="1800" dirty="0">
              <a:latin typeface="宋体"/>
              <a:cs typeface="宋体"/>
            </a:endParaRPr>
          </a:p>
        </p:txBody>
      </p:sp>
      <p:graphicFrame>
        <p:nvGraphicFramePr>
          <p:cNvPr id="17" name="object 11">
            <a:extLst>
              <a:ext uri="{FF2B5EF4-FFF2-40B4-BE49-F238E27FC236}">
                <a16:creationId xmlns:a16="http://schemas.microsoft.com/office/drawing/2014/main" id="{9491727C-B59E-9C45-B085-41ED6FDEF1DD}"/>
              </a:ext>
            </a:extLst>
          </p:cNvPr>
          <p:cNvGraphicFramePr>
            <a:graphicFrameLocks noGrp="1"/>
          </p:cNvGraphicFramePr>
          <p:nvPr/>
        </p:nvGraphicFramePr>
        <p:xfrm>
          <a:off x="3772661" y="4178934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object 12">
            <a:extLst>
              <a:ext uri="{FF2B5EF4-FFF2-40B4-BE49-F238E27FC236}">
                <a16:creationId xmlns:a16="http://schemas.microsoft.com/office/drawing/2014/main" id="{7DCBB58B-3A2C-2B4B-8B92-C30380CBAF55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3">
            <a:extLst>
              <a:ext uri="{FF2B5EF4-FFF2-40B4-BE49-F238E27FC236}">
                <a16:creationId xmlns:a16="http://schemas.microsoft.com/office/drawing/2014/main" id="{3FB19A91-1B50-D241-98F6-7EF234430563}"/>
              </a:ext>
            </a:extLst>
          </p:cNvPr>
          <p:cNvSpPr/>
          <p:nvPr/>
        </p:nvSpPr>
        <p:spPr>
          <a:xfrm>
            <a:off x="5108447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4">
            <a:extLst>
              <a:ext uri="{FF2B5EF4-FFF2-40B4-BE49-F238E27FC236}">
                <a16:creationId xmlns:a16="http://schemas.microsoft.com/office/drawing/2014/main" id="{2FE06C9E-ED60-2E49-8E26-7C0F9B3D93FE}"/>
              </a:ext>
            </a:extLst>
          </p:cNvPr>
          <p:cNvSpPr/>
          <p:nvPr/>
        </p:nvSpPr>
        <p:spPr>
          <a:xfrm>
            <a:off x="6371082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0">
            <a:extLst>
              <a:ext uri="{FF2B5EF4-FFF2-40B4-BE49-F238E27FC236}">
                <a16:creationId xmlns:a16="http://schemas.microsoft.com/office/drawing/2014/main" id="{01DA7F54-4777-DF4B-AF86-69CC74BE50D0}"/>
              </a:ext>
            </a:extLst>
          </p:cNvPr>
          <p:cNvSpPr txBox="1"/>
          <p:nvPr/>
        </p:nvSpPr>
        <p:spPr>
          <a:xfrm>
            <a:off x="5121655" y="5362075"/>
            <a:ext cx="129539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5" name="object 21">
            <a:extLst>
              <a:ext uri="{FF2B5EF4-FFF2-40B4-BE49-F238E27FC236}">
                <a16:creationId xmlns:a16="http://schemas.microsoft.com/office/drawing/2014/main" id="{EB9D1ED4-CF9D-C847-A19E-E595B4A2E062}"/>
              </a:ext>
            </a:extLst>
          </p:cNvPr>
          <p:cNvSpPr txBox="1"/>
          <p:nvPr/>
        </p:nvSpPr>
        <p:spPr>
          <a:xfrm>
            <a:off x="6375146" y="5380109"/>
            <a:ext cx="134620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7" name="object 7">
            <a:extLst>
              <a:ext uri="{FF2B5EF4-FFF2-40B4-BE49-F238E27FC236}">
                <a16:creationId xmlns:a16="http://schemas.microsoft.com/office/drawing/2014/main" id="{C5D0BA99-3713-A44E-8E05-BB938A0DD4F6}"/>
              </a:ext>
            </a:extLst>
          </p:cNvPr>
          <p:cNvSpPr/>
          <p:nvPr/>
        </p:nvSpPr>
        <p:spPr>
          <a:xfrm>
            <a:off x="2114848" y="3503005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4892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8">
            <a:extLst>
              <a:ext uri="{FF2B5EF4-FFF2-40B4-BE49-F238E27FC236}">
                <a16:creationId xmlns:a16="http://schemas.microsoft.com/office/drawing/2014/main" id="{916B82F8-9162-864A-B524-8BC50B42D08B}"/>
              </a:ext>
            </a:extLst>
          </p:cNvPr>
          <p:cNvSpPr/>
          <p:nvPr/>
        </p:nvSpPr>
        <p:spPr>
          <a:xfrm>
            <a:off x="1934381" y="3503005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22733" y="24892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18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28F3ACF1-C2FA-064D-8E76-B83D14D14925}"/>
              </a:ext>
            </a:extLst>
          </p:cNvPr>
          <p:cNvSpPr/>
          <p:nvPr/>
        </p:nvSpPr>
        <p:spPr>
          <a:xfrm>
            <a:off x="3762444" y="2659278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305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F3BC2B55-DC54-9E49-B82D-D641281A762A}"/>
              </a:ext>
            </a:extLst>
          </p:cNvPr>
          <p:cNvSpPr/>
          <p:nvPr/>
        </p:nvSpPr>
        <p:spPr>
          <a:xfrm>
            <a:off x="3564451" y="2659278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24765" y="27305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9E5C0D9D-1A5E-E043-9D56-A0D19D56D1D0}"/>
              </a:ext>
            </a:extLst>
          </p:cNvPr>
          <p:cNvSpPr txBox="1"/>
          <p:nvPr/>
        </p:nvSpPr>
        <p:spPr>
          <a:xfrm>
            <a:off x="810641" y="1116729"/>
            <a:ext cx="5214620" cy="186436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宋体"/>
                <a:cs typeface="宋体"/>
              </a:rPr>
              <a:t>实现方法</a:t>
            </a:r>
            <a:endParaRPr sz="28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1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选取固定位置主元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dirty="0">
                <a:latin typeface="宋体"/>
                <a:cs typeface="宋体"/>
              </a:rPr>
              <a:t>（</a:t>
            </a:r>
            <a:r>
              <a:rPr sz="2400" dirty="0" err="1">
                <a:latin typeface="宋体"/>
                <a:cs typeface="宋体"/>
              </a:rPr>
              <a:t>如尾元素</a:t>
            </a:r>
            <a:r>
              <a:rPr sz="2400" spc="-50" dirty="0">
                <a:latin typeface="宋体"/>
                <a:cs typeface="宋体"/>
              </a:rPr>
              <a:t>）</a:t>
            </a:r>
            <a:endParaRPr sz="24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维护两个部分的右端点变量</a:t>
            </a:r>
            <a:r>
              <a:rPr sz="2400" spc="-10" dirty="0">
                <a:latin typeface="Cambria Math"/>
                <a:cs typeface="Cambria Math"/>
              </a:rPr>
              <a:t>𝒊</a:t>
            </a:r>
            <a:r>
              <a:rPr sz="2400" spc="-75" dirty="0">
                <a:latin typeface="Cambria Math"/>
                <a:cs typeface="Cambria Math"/>
              </a:rPr>
              <a:t>, </a:t>
            </a:r>
            <a:r>
              <a:rPr sz="2400" spc="-50" dirty="0">
                <a:latin typeface="Cambria Math"/>
                <a:cs typeface="Cambria Math"/>
              </a:rPr>
              <a:t>𝒋</a:t>
            </a:r>
            <a:endParaRPr sz="2400" dirty="0">
              <a:latin typeface="Cambria Math"/>
              <a:cs typeface="Cambria Math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考察数组元素</a:t>
            </a:r>
            <a:r>
              <a:rPr sz="2400" dirty="0">
                <a:latin typeface="Cambria Math"/>
                <a:cs typeface="Cambria Math"/>
              </a:rPr>
              <a:t>𝑨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𝒋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400" dirty="0">
                <a:latin typeface="宋体"/>
                <a:cs typeface="宋体"/>
              </a:rPr>
              <a:t>，</a:t>
            </a:r>
            <a:r>
              <a:rPr sz="2400" spc="-10" dirty="0" err="1">
                <a:solidFill>
                  <a:srgbClr val="FF0000"/>
                </a:solidFill>
                <a:latin typeface="宋体"/>
                <a:cs typeface="宋体"/>
              </a:rPr>
              <a:t>只和主元比较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DC786AE0-1C2B-B34F-BA04-C19C6AE5C2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3334" y="155137"/>
            <a:ext cx="393243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数组划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分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A97F6C9E-23AB-2F49-B8AD-AB37D7F6FE55}"/>
              </a:ext>
            </a:extLst>
          </p:cNvPr>
          <p:cNvGraphicFramePr>
            <a:graphicFrameLocks noGrp="1"/>
          </p:cNvGraphicFramePr>
          <p:nvPr/>
        </p:nvGraphicFramePr>
        <p:xfrm>
          <a:off x="6954901" y="1016761"/>
          <a:ext cx="4607558" cy="584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7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1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835">
                <a:tc>
                  <a:txBody>
                    <a:bodyPr/>
                    <a:lstStyle/>
                    <a:p>
                      <a:pPr marL="5581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>
                          <a:latin typeface="Cambria Math"/>
                          <a:cs typeface="Cambria Math"/>
                        </a:rPr>
                        <a:t>≤</a:t>
                      </a:r>
                      <a:r>
                        <a:rPr sz="2600" spc="1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600" spc="-50"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27051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>
                          <a:latin typeface="Cambria Math"/>
                          <a:cs typeface="Cambria Math"/>
                        </a:rPr>
                        <a:t>&gt;</a:t>
                      </a:r>
                      <a:r>
                        <a:rPr sz="2600" spc="1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600" spc="-50"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200" spc="-20">
                          <a:latin typeface="宋体"/>
                          <a:cs typeface="宋体"/>
                        </a:rPr>
                        <a:t>待考察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T="901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object 12">
            <a:extLst>
              <a:ext uri="{FF2B5EF4-FFF2-40B4-BE49-F238E27FC236}">
                <a16:creationId xmlns:a16="http://schemas.microsoft.com/office/drawing/2014/main" id="{C2671A58-D833-804A-9367-BD6F289041A9}"/>
              </a:ext>
            </a:extLst>
          </p:cNvPr>
          <p:cNvSpPr/>
          <p:nvPr/>
        </p:nvSpPr>
        <p:spPr>
          <a:xfrm>
            <a:off x="8643366" y="1646682"/>
            <a:ext cx="114300" cy="335915"/>
          </a:xfrm>
          <a:custGeom>
            <a:avLst/>
            <a:gdLst/>
            <a:ahLst/>
            <a:cxnLst/>
            <a:rect l="l" t="t" r="r" b="b"/>
            <a:pathLst>
              <a:path w="114300" h="335914">
                <a:moveTo>
                  <a:pt x="76200" y="95250"/>
                </a:moveTo>
                <a:lnTo>
                  <a:pt x="38100" y="95250"/>
                </a:lnTo>
                <a:lnTo>
                  <a:pt x="38100" y="335788"/>
                </a:lnTo>
                <a:lnTo>
                  <a:pt x="76200" y="335788"/>
                </a:lnTo>
                <a:lnTo>
                  <a:pt x="76200" y="95250"/>
                </a:lnTo>
                <a:close/>
              </a:path>
              <a:path w="114300" h="335914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335914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D6580AAE-2011-D54F-AD29-B848A18F9B79}"/>
              </a:ext>
            </a:extLst>
          </p:cNvPr>
          <p:cNvSpPr txBox="1"/>
          <p:nvPr/>
        </p:nvSpPr>
        <p:spPr>
          <a:xfrm>
            <a:off x="8636254" y="1991613"/>
            <a:ext cx="129539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06AFC6E8-C47A-6440-8FA1-97D8CEE0D16C}"/>
              </a:ext>
            </a:extLst>
          </p:cNvPr>
          <p:cNvSpPr/>
          <p:nvPr/>
        </p:nvSpPr>
        <p:spPr>
          <a:xfrm>
            <a:off x="9792461" y="1652777"/>
            <a:ext cx="114300" cy="358140"/>
          </a:xfrm>
          <a:custGeom>
            <a:avLst/>
            <a:gdLst/>
            <a:ahLst/>
            <a:cxnLst/>
            <a:rect l="l" t="t" r="r" b="b"/>
            <a:pathLst>
              <a:path w="114300" h="358139">
                <a:moveTo>
                  <a:pt x="76202" y="114172"/>
                </a:moveTo>
                <a:lnTo>
                  <a:pt x="38102" y="114426"/>
                </a:lnTo>
                <a:lnTo>
                  <a:pt x="39751" y="357886"/>
                </a:lnTo>
                <a:lnTo>
                  <a:pt x="77851" y="357632"/>
                </a:lnTo>
                <a:lnTo>
                  <a:pt x="76202" y="114172"/>
                </a:lnTo>
                <a:close/>
              </a:path>
              <a:path w="114300" h="358139">
                <a:moveTo>
                  <a:pt x="56388" y="0"/>
                </a:moveTo>
                <a:lnTo>
                  <a:pt x="0" y="114681"/>
                </a:lnTo>
                <a:lnTo>
                  <a:pt x="38102" y="114426"/>
                </a:lnTo>
                <a:lnTo>
                  <a:pt x="37973" y="95376"/>
                </a:lnTo>
                <a:lnTo>
                  <a:pt x="104744" y="95123"/>
                </a:lnTo>
                <a:lnTo>
                  <a:pt x="56388" y="0"/>
                </a:lnTo>
                <a:close/>
              </a:path>
              <a:path w="114300" h="358139">
                <a:moveTo>
                  <a:pt x="76073" y="95123"/>
                </a:moveTo>
                <a:lnTo>
                  <a:pt x="37973" y="95376"/>
                </a:lnTo>
                <a:lnTo>
                  <a:pt x="38102" y="114426"/>
                </a:lnTo>
                <a:lnTo>
                  <a:pt x="76202" y="114172"/>
                </a:lnTo>
                <a:lnTo>
                  <a:pt x="76073" y="95123"/>
                </a:lnTo>
                <a:close/>
              </a:path>
              <a:path w="114300" h="358139">
                <a:moveTo>
                  <a:pt x="104744" y="95123"/>
                </a:moveTo>
                <a:lnTo>
                  <a:pt x="76073" y="95123"/>
                </a:lnTo>
                <a:lnTo>
                  <a:pt x="76202" y="114172"/>
                </a:lnTo>
                <a:lnTo>
                  <a:pt x="114300" y="113919"/>
                </a:lnTo>
                <a:lnTo>
                  <a:pt x="104744" y="951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6673C368-16C0-A042-B136-CF9B71C68CB2}"/>
              </a:ext>
            </a:extLst>
          </p:cNvPr>
          <p:cNvSpPr txBox="1"/>
          <p:nvPr/>
        </p:nvSpPr>
        <p:spPr>
          <a:xfrm>
            <a:off x="9785095" y="1982977"/>
            <a:ext cx="13462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830673B-00DE-A84A-A27F-FD5DDC946169}"/>
              </a:ext>
            </a:extLst>
          </p:cNvPr>
          <p:cNvSpPr txBox="1"/>
          <p:nvPr/>
        </p:nvSpPr>
        <p:spPr>
          <a:xfrm>
            <a:off x="1137062" y="3076744"/>
            <a:ext cx="9945584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  <a:tabLst>
                <a:tab pos="306705" algn="l"/>
                <a:tab pos="1151255" algn="l"/>
              </a:tabLst>
            </a:pPr>
            <a:r>
              <a:rPr lang="en" altLang="zh-CN" sz="120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lang="en" altLang="zh-CN" sz="120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lang="zh-CN" altLang="en-US" sz="1800" dirty="0">
                <a:latin typeface="宋体"/>
                <a:cs typeface="宋体"/>
              </a:rPr>
              <a:t>若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zh-CN" altLang="en-US" sz="1800" spc="260" dirty="0">
                <a:latin typeface="Cambria Math"/>
                <a:cs typeface="Cambria Math"/>
              </a:rPr>
              <a:t> </a:t>
            </a:r>
            <a:r>
              <a:rPr lang="zh-CN" altLang="en-US" sz="1800" spc="-5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Cambria Math"/>
                <a:cs typeface="Cambria Math"/>
              </a:rPr>
              <a:t>	≤</a:t>
            </a:r>
            <a:r>
              <a:rPr lang="zh-CN" altLang="en-US" sz="1800" spc="150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𝒙</a:t>
            </a:r>
            <a:r>
              <a:rPr lang="zh-CN" altLang="en-US" sz="1800" spc="-10" dirty="0">
                <a:latin typeface="宋体"/>
                <a:cs typeface="宋体"/>
              </a:rPr>
              <a:t>，</a:t>
            </a:r>
            <a:r>
              <a:rPr lang="zh-CN" altLang="en-US" sz="1800" dirty="0">
                <a:latin typeface="宋体"/>
                <a:cs typeface="宋体"/>
              </a:rPr>
              <a:t>则交换</a:t>
            </a:r>
            <a:r>
              <a:rPr lang="zh-CN" altLang="en-US" sz="1800" spc="-10" dirty="0">
                <a:latin typeface="Cambria Math"/>
                <a:cs typeface="Cambria Math"/>
              </a:rPr>
              <a:t>𝑨</a:t>
            </a:r>
            <a:r>
              <a:rPr lang="en-US" altLang="zh-CN" sz="1800" spc="-10" dirty="0">
                <a:latin typeface="Cambria Math"/>
                <a:cs typeface="Cambria Math"/>
              </a:rPr>
              <a:t>[𝒋]</a:t>
            </a:r>
            <a:r>
              <a:rPr lang="zh-CN" altLang="en-US" sz="1800" dirty="0">
                <a:latin typeface="宋体"/>
                <a:cs typeface="宋体"/>
              </a:rPr>
              <a:t>和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en-US" altLang="zh-CN" sz="1800" dirty="0">
                <a:latin typeface="Cambria Math"/>
                <a:cs typeface="Cambria Math"/>
              </a:rPr>
              <a:t>[𝒊</a:t>
            </a:r>
            <a:r>
              <a:rPr lang="zh-CN" altLang="en-US" sz="1800" spc="20" dirty="0">
                <a:latin typeface="Cambria Math"/>
                <a:cs typeface="Cambria Math"/>
              </a:rPr>
              <a:t> </a:t>
            </a:r>
            <a:r>
              <a:rPr lang="en-US" altLang="zh-CN" sz="1800" dirty="0">
                <a:latin typeface="Cambria Math"/>
                <a:cs typeface="Cambria Math"/>
              </a:rPr>
              <a:t>+</a:t>
            </a:r>
            <a:r>
              <a:rPr lang="zh-CN" altLang="en-US" sz="1800" spc="20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𝟏</a:t>
            </a:r>
            <a:r>
              <a:rPr lang="en-US" altLang="zh-CN" sz="1800" spc="-10" dirty="0">
                <a:latin typeface="Cambria Math"/>
                <a:cs typeface="Cambria Math"/>
              </a:rPr>
              <a:t>]</a:t>
            </a:r>
            <a:r>
              <a:rPr lang="zh-CN" altLang="en-US" sz="1800" b="1" spc="-10" dirty="0">
                <a:latin typeface="微软雅黑"/>
                <a:cs typeface="微软雅黑"/>
              </a:rPr>
              <a:t>，</a:t>
            </a:r>
            <a:r>
              <a:rPr lang="zh-CN" altLang="en-US" sz="1800" spc="-10" dirty="0">
                <a:latin typeface="Cambria Math"/>
                <a:cs typeface="Cambria Math"/>
              </a:rPr>
              <a:t>𝒊</a:t>
            </a:r>
            <a:r>
              <a:rPr lang="en-US" altLang="zh-CN" sz="1800" spc="-10" dirty="0">
                <a:latin typeface="Cambria Math"/>
                <a:cs typeface="Cambria Math"/>
              </a:rPr>
              <a:t>,</a:t>
            </a:r>
            <a:r>
              <a:rPr lang="zh-CN" altLang="en-US" sz="1800" spc="-110" dirty="0">
                <a:latin typeface="Cambria Math"/>
                <a:cs typeface="Cambria Math"/>
              </a:rPr>
              <a:t> </a:t>
            </a:r>
            <a:r>
              <a:rPr lang="zh-CN" altLang="en-US" sz="1800" spc="-15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宋体"/>
                <a:cs typeface="宋体"/>
              </a:rPr>
              <a:t>右</a:t>
            </a:r>
            <a:r>
              <a:rPr lang="zh-CN" altLang="en-US" sz="1800" spc="-50" dirty="0">
                <a:latin typeface="宋体"/>
                <a:cs typeface="宋体"/>
              </a:rPr>
              <a:t>移</a:t>
            </a:r>
            <a:endParaRPr lang="zh-CN" altLang="en-US" sz="18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  <a:tabLst>
                <a:tab pos="306705" algn="l"/>
                <a:tab pos="1151255" algn="l"/>
              </a:tabLst>
            </a:pPr>
            <a:r>
              <a:rPr lang="en" altLang="zh-CN" sz="120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lang="en" altLang="zh-CN" sz="120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lang="zh-CN" altLang="en-US" sz="1800" dirty="0">
                <a:latin typeface="宋体"/>
                <a:cs typeface="宋体"/>
              </a:rPr>
              <a:t>若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zh-CN" altLang="en-US" sz="1800" spc="260" dirty="0">
                <a:latin typeface="Cambria Math"/>
                <a:cs typeface="Cambria Math"/>
              </a:rPr>
              <a:t> </a:t>
            </a:r>
            <a:r>
              <a:rPr lang="zh-CN" altLang="en-US" sz="1800" spc="-5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Cambria Math"/>
                <a:cs typeface="Cambria Math"/>
              </a:rPr>
              <a:t>	</a:t>
            </a:r>
            <a:r>
              <a:rPr lang="en-US" altLang="zh-CN" sz="1800" dirty="0">
                <a:latin typeface="Cambria Math"/>
                <a:cs typeface="Cambria Math"/>
              </a:rPr>
              <a:t>&gt;</a:t>
            </a:r>
            <a:r>
              <a:rPr lang="zh-CN" altLang="en-US" sz="1800" spc="145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𝒙</a:t>
            </a:r>
            <a:r>
              <a:rPr lang="zh-CN" altLang="en-US" sz="1800" spc="-10" dirty="0">
                <a:latin typeface="宋体"/>
                <a:cs typeface="宋体"/>
              </a:rPr>
              <a:t>，</a:t>
            </a:r>
            <a:r>
              <a:rPr lang="zh-CN" altLang="en-US" sz="1800" dirty="0">
                <a:latin typeface="宋体"/>
                <a:cs typeface="宋体"/>
              </a:rPr>
              <a:t>则</a:t>
            </a:r>
            <a:r>
              <a:rPr lang="zh-CN" altLang="en-US" sz="1800" spc="-1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宋体"/>
                <a:cs typeface="宋体"/>
              </a:rPr>
              <a:t>右</a:t>
            </a:r>
            <a:r>
              <a:rPr lang="zh-CN" altLang="en-US" sz="1800" spc="-50" dirty="0">
                <a:latin typeface="宋体"/>
                <a:cs typeface="宋体"/>
              </a:rPr>
              <a:t>移</a:t>
            </a:r>
            <a:endParaRPr lang="zh-CN" altLang="en-US" sz="1800" dirty="0">
              <a:latin typeface="宋体"/>
              <a:cs typeface="宋体"/>
            </a:endParaRPr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70F2CA58-0D9B-154C-ABA0-FD5263B6C2A3}"/>
              </a:ext>
            </a:extLst>
          </p:cNvPr>
          <p:cNvSpPr/>
          <p:nvPr/>
        </p:nvSpPr>
        <p:spPr>
          <a:xfrm>
            <a:off x="2114848" y="313604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5019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F3181DB3-0DC6-4E47-A5ED-B272C280CCAB}"/>
              </a:ext>
            </a:extLst>
          </p:cNvPr>
          <p:cNvSpPr/>
          <p:nvPr/>
        </p:nvSpPr>
        <p:spPr>
          <a:xfrm>
            <a:off x="1934381" y="313604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22733" y="25019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BAA07E5-D026-CC46-B282-E1274A5953C1}"/>
              </a:ext>
            </a:extLst>
          </p:cNvPr>
          <p:cNvSpPr txBox="1"/>
          <p:nvPr/>
        </p:nvSpPr>
        <p:spPr>
          <a:xfrm>
            <a:off x="7742712" y="3493582"/>
            <a:ext cx="697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080" algn="r">
              <a:lnSpc>
                <a:spcPct val="100000"/>
              </a:lnSpc>
              <a:spcBef>
                <a:spcPts val="695"/>
              </a:spcBef>
            </a:pPr>
            <a:r>
              <a:rPr lang="zh-CN" altLang="en-US" sz="1800" spc="-25" dirty="0">
                <a:latin typeface="宋体"/>
                <a:cs typeface="宋体"/>
              </a:rPr>
              <a:t>主元</a:t>
            </a:r>
            <a:endParaRPr lang="zh-CN" altLang="en-US" sz="1800" dirty="0">
              <a:latin typeface="宋体"/>
              <a:cs typeface="宋体"/>
            </a:endParaRPr>
          </a:p>
        </p:txBody>
      </p:sp>
      <p:graphicFrame>
        <p:nvGraphicFramePr>
          <p:cNvPr id="17" name="object 10">
            <a:extLst>
              <a:ext uri="{FF2B5EF4-FFF2-40B4-BE49-F238E27FC236}">
                <a16:creationId xmlns:a16="http://schemas.microsoft.com/office/drawing/2014/main" id="{E0816584-CB5F-4F4A-B0DE-0151449B1B50}"/>
              </a:ext>
            </a:extLst>
          </p:cNvPr>
          <p:cNvGraphicFramePr>
            <a:graphicFrameLocks noGrp="1"/>
          </p:cNvGraphicFramePr>
          <p:nvPr/>
        </p:nvGraphicFramePr>
        <p:xfrm>
          <a:off x="3772661" y="4178934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object 12">
            <a:extLst>
              <a:ext uri="{FF2B5EF4-FFF2-40B4-BE49-F238E27FC236}">
                <a16:creationId xmlns:a16="http://schemas.microsoft.com/office/drawing/2014/main" id="{7D55754B-4C7F-B042-98AF-D7D8C01F00DF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3">
            <a:extLst>
              <a:ext uri="{FF2B5EF4-FFF2-40B4-BE49-F238E27FC236}">
                <a16:creationId xmlns:a16="http://schemas.microsoft.com/office/drawing/2014/main" id="{3AE9A913-5316-BF46-B80A-1C26AB58A220}"/>
              </a:ext>
            </a:extLst>
          </p:cNvPr>
          <p:cNvSpPr/>
          <p:nvPr/>
        </p:nvSpPr>
        <p:spPr>
          <a:xfrm>
            <a:off x="5108447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4">
            <a:extLst>
              <a:ext uri="{FF2B5EF4-FFF2-40B4-BE49-F238E27FC236}">
                <a16:creationId xmlns:a16="http://schemas.microsoft.com/office/drawing/2014/main" id="{E246F53A-6310-E149-AFBD-A18D08E0849A}"/>
              </a:ext>
            </a:extLst>
          </p:cNvPr>
          <p:cNvSpPr/>
          <p:nvPr/>
        </p:nvSpPr>
        <p:spPr>
          <a:xfrm>
            <a:off x="6905243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0">
            <a:extLst>
              <a:ext uri="{FF2B5EF4-FFF2-40B4-BE49-F238E27FC236}">
                <a16:creationId xmlns:a16="http://schemas.microsoft.com/office/drawing/2014/main" id="{578AD181-5D32-A447-8CAE-E03F33D64C97}"/>
              </a:ext>
            </a:extLst>
          </p:cNvPr>
          <p:cNvSpPr txBox="1"/>
          <p:nvPr/>
        </p:nvSpPr>
        <p:spPr>
          <a:xfrm>
            <a:off x="5121655" y="5362075"/>
            <a:ext cx="129539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5" name="object 21">
            <a:extLst>
              <a:ext uri="{FF2B5EF4-FFF2-40B4-BE49-F238E27FC236}">
                <a16:creationId xmlns:a16="http://schemas.microsoft.com/office/drawing/2014/main" id="{CC07C7AB-A4C9-E049-912B-0A27E9FA3B8B}"/>
              </a:ext>
            </a:extLst>
          </p:cNvPr>
          <p:cNvSpPr txBox="1"/>
          <p:nvPr/>
        </p:nvSpPr>
        <p:spPr>
          <a:xfrm>
            <a:off x="6901180" y="5380109"/>
            <a:ext cx="134620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BC4A5E7-2AFF-2941-8DC8-B397BCAE4691}"/>
              </a:ext>
            </a:extLst>
          </p:cNvPr>
          <p:cNvSpPr txBox="1"/>
          <p:nvPr/>
        </p:nvSpPr>
        <p:spPr>
          <a:xfrm>
            <a:off x="6025261" y="3696857"/>
            <a:ext cx="24816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230630" algn="r">
              <a:lnSpc>
                <a:spcPct val="100000"/>
              </a:lnSpc>
              <a:spcBef>
                <a:spcPts val="85"/>
              </a:spcBef>
            </a:pPr>
            <a:r>
              <a:rPr lang="en-US" altLang="zh-CN" sz="1800" b="1" dirty="0">
                <a:latin typeface="Times New Roman"/>
                <a:cs typeface="Times New Roman"/>
              </a:rPr>
              <a:t>5 &gt;</a:t>
            </a:r>
            <a:r>
              <a:rPr lang="zh-CN" altLang="en-US" sz="1800" b="1" spc="-10" dirty="0">
                <a:latin typeface="Times New Roman"/>
                <a:cs typeface="Times New Roman"/>
              </a:rPr>
              <a:t> </a:t>
            </a:r>
            <a:r>
              <a:rPr lang="en-US" altLang="zh-CN" sz="1800" b="1" spc="-50" dirty="0">
                <a:latin typeface="Times New Roman"/>
                <a:cs typeface="Times New Roman"/>
              </a:rPr>
              <a:t>4</a:t>
            </a:r>
            <a:endParaRPr lang="zh-CN" altLang="en-US" sz="1800" dirty="0">
              <a:latin typeface="Times New Roman"/>
              <a:cs typeface="Times New Roman"/>
            </a:endParaRPr>
          </a:p>
        </p:txBody>
      </p:sp>
      <p:sp>
        <p:nvSpPr>
          <p:cNvPr id="28" name="object 7">
            <a:extLst>
              <a:ext uri="{FF2B5EF4-FFF2-40B4-BE49-F238E27FC236}">
                <a16:creationId xmlns:a16="http://schemas.microsoft.com/office/drawing/2014/main" id="{4447539E-C085-ED48-ADD7-B6EEC33502BD}"/>
              </a:ext>
            </a:extLst>
          </p:cNvPr>
          <p:cNvSpPr/>
          <p:nvPr/>
        </p:nvSpPr>
        <p:spPr>
          <a:xfrm>
            <a:off x="2114848" y="3503005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4892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8">
            <a:extLst>
              <a:ext uri="{FF2B5EF4-FFF2-40B4-BE49-F238E27FC236}">
                <a16:creationId xmlns:a16="http://schemas.microsoft.com/office/drawing/2014/main" id="{00565735-B5D2-E246-B6BA-EDD16EA85CBF}"/>
              </a:ext>
            </a:extLst>
          </p:cNvPr>
          <p:cNvSpPr/>
          <p:nvPr/>
        </p:nvSpPr>
        <p:spPr>
          <a:xfrm>
            <a:off x="1934381" y="3503005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22733" y="24892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08650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28F3ACF1-C2FA-064D-8E76-B83D14D14925}"/>
              </a:ext>
            </a:extLst>
          </p:cNvPr>
          <p:cNvSpPr/>
          <p:nvPr/>
        </p:nvSpPr>
        <p:spPr>
          <a:xfrm>
            <a:off x="3762444" y="2659278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305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F3BC2B55-DC54-9E49-B82D-D641281A762A}"/>
              </a:ext>
            </a:extLst>
          </p:cNvPr>
          <p:cNvSpPr/>
          <p:nvPr/>
        </p:nvSpPr>
        <p:spPr>
          <a:xfrm>
            <a:off x="3564451" y="2659278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24765" y="27305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9E5C0D9D-1A5E-E043-9D56-A0D19D56D1D0}"/>
              </a:ext>
            </a:extLst>
          </p:cNvPr>
          <p:cNvSpPr txBox="1"/>
          <p:nvPr/>
        </p:nvSpPr>
        <p:spPr>
          <a:xfrm>
            <a:off x="810641" y="1116729"/>
            <a:ext cx="5214620" cy="186436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宋体"/>
                <a:cs typeface="宋体"/>
              </a:rPr>
              <a:t>实现方法</a:t>
            </a:r>
            <a:endParaRPr sz="28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1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选取固定位置主元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dirty="0">
                <a:latin typeface="宋体"/>
                <a:cs typeface="宋体"/>
              </a:rPr>
              <a:t>（</a:t>
            </a:r>
            <a:r>
              <a:rPr sz="2400" dirty="0" err="1">
                <a:latin typeface="宋体"/>
                <a:cs typeface="宋体"/>
              </a:rPr>
              <a:t>如尾元素</a:t>
            </a:r>
            <a:r>
              <a:rPr sz="2400" spc="-50" dirty="0">
                <a:latin typeface="宋体"/>
                <a:cs typeface="宋体"/>
              </a:rPr>
              <a:t>）</a:t>
            </a:r>
            <a:endParaRPr sz="24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维护两个部分的右端点变量</a:t>
            </a:r>
            <a:r>
              <a:rPr sz="2400" spc="-10" dirty="0">
                <a:latin typeface="Cambria Math"/>
                <a:cs typeface="Cambria Math"/>
              </a:rPr>
              <a:t>𝒊</a:t>
            </a:r>
            <a:r>
              <a:rPr sz="2400" spc="-75" dirty="0">
                <a:latin typeface="Cambria Math"/>
                <a:cs typeface="Cambria Math"/>
              </a:rPr>
              <a:t>, </a:t>
            </a:r>
            <a:r>
              <a:rPr sz="2400" spc="-50" dirty="0">
                <a:latin typeface="Cambria Math"/>
                <a:cs typeface="Cambria Math"/>
              </a:rPr>
              <a:t>𝒋</a:t>
            </a:r>
            <a:endParaRPr sz="2400" dirty="0">
              <a:latin typeface="Cambria Math"/>
              <a:cs typeface="Cambria Math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考察数组元素</a:t>
            </a:r>
            <a:r>
              <a:rPr sz="2400" dirty="0">
                <a:latin typeface="Cambria Math"/>
                <a:cs typeface="Cambria Math"/>
              </a:rPr>
              <a:t>𝑨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𝒋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400" dirty="0">
                <a:latin typeface="宋体"/>
                <a:cs typeface="宋体"/>
              </a:rPr>
              <a:t>，</a:t>
            </a:r>
            <a:r>
              <a:rPr sz="2400" spc="-10" dirty="0" err="1">
                <a:solidFill>
                  <a:srgbClr val="FF0000"/>
                </a:solidFill>
                <a:latin typeface="宋体"/>
                <a:cs typeface="宋体"/>
              </a:rPr>
              <a:t>只和主元比较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DC786AE0-1C2B-B34F-BA04-C19C6AE5C2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3334" y="155137"/>
            <a:ext cx="393243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数组划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分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A97F6C9E-23AB-2F49-B8AD-AB37D7F6FE55}"/>
              </a:ext>
            </a:extLst>
          </p:cNvPr>
          <p:cNvGraphicFramePr>
            <a:graphicFrameLocks noGrp="1"/>
          </p:cNvGraphicFramePr>
          <p:nvPr/>
        </p:nvGraphicFramePr>
        <p:xfrm>
          <a:off x="6954901" y="1016761"/>
          <a:ext cx="4607558" cy="584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7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1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835">
                <a:tc>
                  <a:txBody>
                    <a:bodyPr/>
                    <a:lstStyle/>
                    <a:p>
                      <a:pPr marL="5581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>
                          <a:latin typeface="Cambria Math"/>
                          <a:cs typeface="Cambria Math"/>
                        </a:rPr>
                        <a:t>≤</a:t>
                      </a:r>
                      <a:r>
                        <a:rPr sz="2600" spc="1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600" spc="-50"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27051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>
                          <a:latin typeface="Cambria Math"/>
                          <a:cs typeface="Cambria Math"/>
                        </a:rPr>
                        <a:t>&gt;</a:t>
                      </a:r>
                      <a:r>
                        <a:rPr sz="2600" spc="1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600" spc="-50"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200" spc="-20">
                          <a:latin typeface="宋体"/>
                          <a:cs typeface="宋体"/>
                        </a:rPr>
                        <a:t>待考察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T="901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object 12">
            <a:extLst>
              <a:ext uri="{FF2B5EF4-FFF2-40B4-BE49-F238E27FC236}">
                <a16:creationId xmlns:a16="http://schemas.microsoft.com/office/drawing/2014/main" id="{C2671A58-D833-804A-9367-BD6F289041A9}"/>
              </a:ext>
            </a:extLst>
          </p:cNvPr>
          <p:cNvSpPr/>
          <p:nvPr/>
        </p:nvSpPr>
        <p:spPr>
          <a:xfrm>
            <a:off x="8643366" y="1646682"/>
            <a:ext cx="114300" cy="335915"/>
          </a:xfrm>
          <a:custGeom>
            <a:avLst/>
            <a:gdLst/>
            <a:ahLst/>
            <a:cxnLst/>
            <a:rect l="l" t="t" r="r" b="b"/>
            <a:pathLst>
              <a:path w="114300" h="335914">
                <a:moveTo>
                  <a:pt x="76200" y="95250"/>
                </a:moveTo>
                <a:lnTo>
                  <a:pt x="38100" y="95250"/>
                </a:lnTo>
                <a:lnTo>
                  <a:pt x="38100" y="335788"/>
                </a:lnTo>
                <a:lnTo>
                  <a:pt x="76200" y="335788"/>
                </a:lnTo>
                <a:lnTo>
                  <a:pt x="76200" y="95250"/>
                </a:lnTo>
                <a:close/>
              </a:path>
              <a:path w="114300" h="335914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335914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D6580AAE-2011-D54F-AD29-B848A18F9B79}"/>
              </a:ext>
            </a:extLst>
          </p:cNvPr>
          <p:cNvSpPr txBox="1"/>
          <p:nvPr/>
        </p:nvSpPr>
        <p:spPr>
          <a:xfrm>
            <a:off x="8636254" y="1991613"/>
            <a:ext cx="129539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06AFC6E8-C47A-6440-8FA1-97D8CEE0D16C}"/>
              </a:ext>
            </a:extLst>
          </p:cNvPr>
          <p:cNvSpPr/>
          <p:nvPr/>
        </p:nvSpPr>
        <p:spPr>
          <a:xfrm>
            <a:off x="9792461" y="1652777"/>
            <a:ext cx="114300" cy="358140"/>
          </a:xfrm>
          <a:custGeom>
            <a:avLst/>
            <a:gdLst/>
            <a:ahLst/>
            <a:cxnLst/>
            <a:rect l="l" t="t" r="r" b="b"/>
            <a:pathLst>
              <a:path w="114300" h="358139">
                <a:moveTo>
                  <a:pt x="76202" y="114172"/>
                </a:moveTo>
                <a:lnTo>
                  <a:pt x="38102" y="114426"/>
                </a:lnTo>
                <a:lnTo>
                  <a:pt x="39751" y="357886"/>
                </a:lnTo>
                <a:lnTo>
                  <a:pt x="77851" y="357632"/>
                </a:lnTo>
                <a:lnTo>
                  <a:pt x="76202" y="114172"/>
                </a:lnTo>
                <a:close/>
              </a:path>
              <a:path w="114300" h="358139">
                <a:moveTo>
                  <a:pt x="56388" y="0"/>
                </a:moveTo>
                <a:lnTo>
                  <a:pt x="0" y="114681"/>
                </a:lnTo>
                <a:lnTo>
                  <a:pt x="38102" y="114426"/>
                </a:lnTo>
                <a:lnTo>
                  <a:pt x="37973" y="95376"/>
                </a:lnTo>
                <a:lnTo>
                  <a:pt x="104744" y="95123"/>
                </a:lnTo>
                <a:lnTo>
                  <a:pt x="56388" y="0"/>
                </a:lnTo>
                <a:close/>
              </a:path>
              <a:path w="114300" h="358139">
                <a:moveTo>
                  <a:pt x="76073" y="95123"/>
                </a:moveTo>
                <a:lnTo>
                  <a:pt x="37973" y="95376"/>
                </a:lnTo>
                <a:lnTo>
                  <a:pt x="38102" y="114426"/>
                </a:lnTo>
                <a:lnTo>
                  <a:pt x="76202" y="114172"/>
                </a:lnTo>
                <a:lnTo>
                  <a:pt x="76073" y="95123"/>
                </a:lnTo>
                <a:close/>
              </a:path>
              <a:path w="114300" h="358139">
                <a:moveTo>
                  <a:pt x="104744" y="95123"/>
                </a:moveTo>
                <a:lnTo>
                  <a:pt x="76073" y="95123"/>
                </a:lnTo>
                <a:lnTo>
                  <a:pt x="76202" y="114172"/>
                </a:lnTo>
                <a:lnTo>
                  <a:pt x="114300" y="113919"/>
                </a:lnTo>
                <a:lnTo>
                  <a:pt x="104744" y="951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6673C368-16C0-A042-B136-CF9B71C68CB2}"/>
              </a:ext>
            </a:extLst>
          </p:cNvPr>
          <p:cNvSpPr txBox="1"/>
          <p:nvPr/>
        </p:nvSpPr>
        <p:spPr>
          <a:xfrm>
            <a:off x="9785095" y="1982977"/>
            <a:ext cx="13462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830673B-00DE-A84A-A27F-FD5DDC946169}"/>
              </a:ext>
            </a:extLst>
          </p:cNvPr>
          <p:cNvSpPr txBox="1"/>
          <p:nvPr/>
        </p:nvSpPr>
        <p:spPr>
          <a:xfrm>
            <a:off x="1137062" y="3076744"/>
            <a:ext cx="9945584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  <a:tabLst>
                <a:tab pos="306705" algn="l"/>
                <a:tab pos="1151255" algn="l"/>
              </a:tabLst>
            </a:pPr>
            <a:r>
              <a:rPr lang="en" altLang="zh-CN" sz="120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lang="en" altLang="zh-CN" sz="120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lang="zh-CN" altLang="en-US" sz="1800" dirty="0">
                <a:latin typeface="宋体"/>
                <a:cs typeface="宋体"/>
              </a:rPr>
              <a:t>若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zh-CN" altLang="en-US" sz="1800" spc="260" dirty="0">
                <a:latin typeface="Cambria Math"/>
                <a:cs typeface="Cambria Math"/>
              </a:rPr>
              <a:t> </a:t>
            </a:r>
            <a:r>
              <a:rPr lang="zh-CN" altLang="en-US" sz="1800" spc="-5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Cambria Math"/>
                <a:cs typeface="Cambria Math"/>
              </a:rPr>
              <a:t>	≤</a:t>
            </a:r>
            <a:r>
              <a:rPr lang="zh-CN" altLang="en-US" sz="1800" spc="150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𝒙</a:t>
            </a:r>
            <a:r>
              <a:rPr lang="zh-CN" altLang="en-US" sz="1800" spc="-10" dirty="0">
                <a:latin typeface="宋体"/>
                <a:cs typeface="宋体"/>
              </a:rPr>
              <a:t>，</a:t>
            </a:r>
            <a:r>
              <a:rPr lang="zh-CN" altLang="en-US" sz="1800" dirty="0">
                <a:latin typeface="宋体"/>
                <a:cs typeface="宋体"/>
              </a:rPr>
              <a:t>则交换</a:t>
            </a:r>
            <a:r>
              <a:rPr lang="zh-CN" altLang="en-US" sz="1800" spc="-10" dirty="0">
                <a:latin typeface="Cambria Math"/>
                <a:cs typeface="Cambria Math"/>
              </a:rPr>
              <a:t>𝑨</a:t>
            </a:r>
            <a:r>
              <a:rPr lang="en-US" altLang="zh-CN" sz="1800" spc="-10" dirty="0">
                <a:latin typeface="Cambria Math"/>
                <a:cs typeface="Cambria Math"/>
              </a:rPr>
              <a:t>[𝒋]</a:t>
            </a:r>
            <a:r>
              <a:rPr lang="zh-CN" altLang="en-US" sz="1800" dirty="0">
                <a:latin typeface="宋体"/>
                <a:cs typeface="宋体"/>
              </a:rPr>
              <a:t>和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en-US" altLang="zh-CN" sz="1800" dirty="0">
                <a:latin typeface="Cambria Math"/>
                <a:cs typeface="Cambria Math"/>
              </a:rPr>
              <a:t>[𝒊</a:t>
            </a:r>
            <a:r>
              <a:rPr lang="zh-CN" altLang="en-US" sz="1800" spc="20" dirty="0">
                <a:latin typeface="Cambria Math"/>
                <a:cs typeface="Cambria Math"/>
              </a:rPr>
              <a:t> </a:t>
            </a:r>
            <a:r>
              <a:rPr lang="en-US" altLang="zh-CN" sz="1800" dirty="0">
                <a:latin typeface="Cambria Math"/>
                <a:cs typeface="Cambria Math"/>
              </a:rPr>
              <a:t>+</a:t>
            </a:r>
            <a:r>
              <a:rPr lang="zh-CN" altLang="en-US" sz="1800" spc="20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𝟏</a:t>
            </a:r>
            <a:r>
              <a:rPr lang="en-US" altLang="zh-CN" sz="1800" spc="-10" dirty="0">
                <a:latin typeface="Cambria Math"/>
                <a:cs typeface="Cambria Math"/>
              </a:rPr>
              <a:t>]</a:t>
            </a:r>
            <a:r>
              <a:rPr lang="zh-CN" altLang="en-US" sz="1800" b="1" spc="-10" dirty="0">
                <a:latin typeface="微软雅黑"/>
                <a:cs typeface="微软雅黑"/>
              </a:rPr>
              <a:t>，</a:t>
            </a:r>
            <a:r>
              <a:rPr lang="zh-CN" altLang="en-US" sz="1800" spc="-10" dirty="0">
                <a:latin typeface="Cambria Math"/>
                <a:cs typeface="Cambria Math"/>
              </a:rPr>
              <a:t>𝒊</a:t>
            </a:r>
            <a:r>
              <a:rPr lang="en-US" altLang="zh-CN" sz="1800" spc="-10" dirty="0">
                <a:latin typeface="Cambria Math"/>
                <a:cs typeface="Cambria Math"/>
              </a:rPr>
              <a:t>,</a:t>
            </a:r>
            <a:r>
              <a:rPr lang="zh-CN" altLang="en-US" sz="1800" spc="-110" dirty="0">
                <a:latin typeface="Cambria Math"/>
                <a:cs typeface="Cambria Math"/>
              </a:rPr>
              <a:t> </a:t>
            </a:r>
            <a:r>
              <a:rPr lang="zh-CN" altLang="en-US" sz="1800" spc="-15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宋体"/>
                <a:cs typeface="宋体"/>
              </a:rPr>
              <a:t>右</a:t>
            </a:r>
            <a:r>
              <a:rPr lang="zh-CN" altLang="en-US" sz="1800" spc="-50" dirty="0">
                <a:latin typeface="宋体"/>
                <a:cs typeface="宋体"/>
              </a:rPr>
              <a:t>移</a:t>
            </a:r>
            <a:endParaRPr lang="zh-CN" altLang="en-US" sz="18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  <a:tabLst>
                <a:tab pos="306705" algn="l"/>
                <a:tab pos="1151255" algn="l"/>
              </a:tabLst>
            </a:pPr>
            <a:r>
              <a:rPr lang="en" altLang="zh-CN" sz="120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lang="en" altLang="zh-CN" sz="120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lang="zh-CN" altLang="en-US" sz="1800" dirty="0">
                <a:latin typeface="宋体"/>
                <a:cs typeface="宋体"/>
              </a:rPr>
              <a:t>若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zh-CN" altLang="en-US" sz="1800" spc="260" dirty="0">
                <a:latin typeface="Cambria Math"/>
                <a:cs typeface="Cambria Math"/>
              </a:rPr>
              <a:t> </a:t>
            </a:r>
            <a:r>
              <a:rPr lang="zh-CN" altLang="en-US" sz="1800" spc="-5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Cambria Math"/>
                <a:cs typeface="Cambria Math"/>
              </a:rPr>
              <a:t>	</a:t>
            </a:r>
            <a:r>
              <a:rPr lang="en-US" altLang="zh-CN" sz="1800" dirty="0">
                <a:latin typeface="Cambria Math"/>
                <a:cs typeface="Cambria Math"/>
              </a:rPr>
              <a:t>&gt;</a:t>
            </a:r>
            <a:r>
              <a:rPr lang="zh-CN" altLang="en-US" sz="1800" spc="145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𝒙</a:t>
            </a:r>
            <a:r>
              <a:rPr lang="zh-CN" altLang="en-US" sz="1800" spc="-10" dirty="0">
                <a:latin typeface="宋体"/>
                <a:cs typeface="宋体"/>
              </a:rPr>
              <a:t>，</a:t>
            </a:r>
            <a:r>
              <a:rPr lang="zh-CN" altLang="en-US" sz="1800" dirty="0">
                <a:latin typeface="宋体"/>
                <a:cs typeface="宋体"/>
              </a:rPr>
              <a:t>则</a:t>
            </a:r>
            <a:r>
              <a:rPr lang="zh-CN" altLang="en-US" sz="1800" spc="-1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宋体"/>
                <a:cs typeface="宋体"/>
              </a:rPr>
              <a:t>右</a:t>
            </a:r>
            <a:r>
              <a:rPr lang="zh-CN" altLang="en-US" sz="1800" spc="-50" dirty="0">
                <a:latin typeface="宋体"/>
                <a:cs typeface="宋体"/>
              </a:rPr>
              <a:t>移</a:t>
            </a:r>
            <a:endParaRPr lang="zh-CN" altLang="en-US" sz="1800" dirty="0">
              <a:latin typeface="宋体"/>
              <a:cs typeface="宋体"/>
            </a:endParaRPr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70F2CA58-0D9B-154C-ABA0-FD5263B6C2A3}"/>
              </a:ext>
            </a:extLst>
          </p:cNvPr>
          <p:cNvSpPr/>
          <p:nvPr/>
        </p:nvSpPr>
        <p:spPr>
          <a:xfrm>
            <a:off x="2114848" y="313604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5019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F3181DB3-0DC6-4E47-A5ED-B272C280CCAB}"/>
              </a:ext>
            </a:extLst>
          </p:cNvPr>
          <p:cNvSpPr/>
          <p:nvPr/>
        </p:nvSpPr>
        <p:spPr>
          <a:xfrm>
            <a:off x="1934381" y="313604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22733" y="25019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BAA07E5-D026-CC46-B282-E1274A5953C1}"/>
              </a:ext>
            </a:extLst>
          </p:cNvPr>
          <p:cNvSpPr txBox="1"/>
          <p:nvPr/>
        </p:nvSpPr>
        <p:spPr>
          <a:xfrm>
            <a:off x="7742712" y="3493582"/>
            <a:ext cx="697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080" algn="r">
              <a:lnSpc>
                <a:spcPct val="100000"/>
              </a:lnSpc>
              <a:spcBef>
                <a:spcPts val="695"/>
              </a:spcBef>
            </a:pPr>
            <a:r>
              <a:rPr lang="zh-CN" altLang="en-US" sz="1800" spc="-25" dirty="0">
                <a:latin typeface="宋体"/>
                <a:cs typeface="宋体"/>
              </a:rPr>
              <a:t>主元</a:t>
            </a:r>
            <a:endParaRPr lang="zh-CN" altLang="en-US" sz="1800" dirty="0">
              <a:latin typeface="宋体"/>
              <a:cs typeface="宋体"/>
            </a:endParaRPr>
          </a:p>
        </p:txBody>
      </p:sp>
      <p:graphicFrame>
        <p:nvGraphicFramePr>
          <p:cNvPr id="17" name="object 10">
            <a:extLst>
              <a:ext uri="{FF2B5EF4-FFF2-40B4-BE49-F238E27FC236}">
                <a16:creationId xmlns:a16="http://schemas.microsoft.com/office/drawing/2014/main" id="{962252BF-A5DC-A441-A136-ED353BFE9EDA}"/>
              </a:ext>
            </a:extLst>
          </p:cNvPr>
          <p:cNvGraphicFramePr>
            <a:graphicFrameLocks noGrp="1"/>
          </p:cNvGraphicFramePr>
          <p:nvPr/>
        </p:nvGraphicFramePr>
        <p:xfrm>
          <a:off x="3772661" y="4178934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object 12">
            <a:extLst>
              <a:ext uri="{FF2B5EF4-FFF2-40B4-BE49-F238E27FC236}">
                <a16:creationId xmlns:a16="http://schemas.microsoft.com/office/drawing/2014/main" id="{018FE10C-770E-4E4E-A61C-4E43B7670C65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3">
            <a:extLst>
              <a:ext uri="{FF2B5EF4-FFF2-40B4-BE49-F238E27FC236}">
                <a16:creationId xmlns:a16="http://schemas.microsoft.com/office/drawing/2014/main" id="{877CB77E-90F4-C74D-8F80-C6CA907AAC22}"/>
              </a:ext>
            </a:extLst>
          </p:cNvPr>
          <p:cNvSpPr/>
          <p:nvPr/>
        </p:nvSpPr>
        <p:spPr>
          <a:xfrm>
            <a:off x="5108447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4">
            <a:extLst>
              <a:ext uri="{FF2B5EF4-FFF2-40B4-BE49-F238E27FC236}">
                <a16:creationId xmlns:a16="http://schemas.microsoft.com/office/drawing/2014/main" id="{7D37A114-8160-F742-BA63-A8368A7644C9}"/>
              </a:ext>
            </a:extLst>
          </p:cNvPr>
          <p:cNvSpPr/>
          <p:nvPr/>
        </p:nvSpPr>
        <p:spPr>
          <a:xfrm>
            <a:off x="6905243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0">
            <a:extLst>
              <a:ext uri="{FF2B5EF4-FFF2-40B4-BE49-F238E27FC236}">
                <a16:creationId xmlns:a16="http://schemas.microsoft.com/office/drawing/2014/main" id="{C02018EC-B259-F545-B533-AFB3857E9D37}"/>
              </a:ext>
            </a:extLst>
          </p:cNvPr>
          <p:cNvSpPr txBox="1"/>
          <p:nvPr/>
        </p:nvSpPr>
        <p:spPr>
          <a:xfrm>
            <a:off x="5121655" y="5362075"/>
            <a:ext cx="129539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5" name="object 21">
            <a:extLst>
              <a:ext uri="{FF2B5EF4-FFF2-40B4-BE49-F238E27FC236}">
                <a16:creationId xmlns:a16="http://schemas.microsoft.com/office/drawing/2014/main" id="{2D8205C4-8A32-E942-9465-9315D222E900}"/>
              </a:ext>
            </a:extLst>
          </p:cNvPr>
          <p:cNvSpPr txBox="1"/>
          <p:nvPr/>
        </p:nvSpPr>
        <p:spPr>
          <a:xfrm>
            <a:off x="6901180" y="5380109"/>
            <a:ext cx="134620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2FC6114-553D-854E-A9D5-11B4EB320BD9}"/>
              </a:ext>
            </a:extLst>
          </p:cNvPr>
          <p:cNvSpPr txBox="1"/>
          <p:nvPr/>
        </p:nvSpPr>
        <p:spPr>
          <a:xfrm>
            <a:off x="6025261" y="3696857"/>
            <a:ext cx="24816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230630" algn="r">
              <a:lnSpc>
                <a:spcPct val="100000"/>
              </a:lnSpc>
              <a:spcBef>
                <a:spcPts val="85"/>
              </a:spcBef>
            </a:pPr>
            <a:r>
              <a:rPr lang="en-US" altLang="zh-CN" sz="1800" b="1" dirty="0">
                <a:latin typeface="Times New Roman"/>
                <a:cs typeface="Times New Roman"/>
              </a:rPr>
              <a:t>5 &gt;</a:t>
            </a:r>
            <a:r>
              <a:rPr lang="zh-CN" altLang="en-US" sz="1800" b="1" spc="-10" dirty="0">
                <a:latin typeface="Times New Roman"/>
                <a:cs typeface="Times New Roman"/>
              </a:rPr>
              <a:t> </a:t>
            </a:r>
            <a:r>
              <a:rPr lang="en-US" altLang="zh-CN" sz="1800" b="1" spc="-50" dirty="0">
                <a:latin typeface="Times New Roman"/>
                <a:cs typeface="Times New Roman"/>
              </a:rPr>
              <a:t>4</a:t>
            </a:r>
            <a:endParaRPr lang="zh-CN" altLang="en-US" sz="1800" dirty="0">
              <a:latin typeface="Times New Roman"/>
              <a:cs typeface="Times New Roman"/>
            </a:endParaRPr>
          </a:p>
        </p:txBody>
      </p:sp>
      <p:sp>
        <p:nvSpPr>
          <p:cNvPr id="28" name="object 7">
            <a:extLst>
              <a:ext uri="{FF2B5EF4-FFF2-40B4-BE49-F238E27FC236}">
                <a16:creationId xmlns:a16="http://schemas.microsoft.com/office/drawing/2014/main" id="{071DB890-D700-9F42-9C1B-EA9469835D61}"/>
              </a:ext>
            </a:extLst>
          </p:cNvPr>
          <p:cNvSpPr/>
          <p:nvPr/>
        </p:nvSpPr>
        <p:spPr>
          <a:xfrm>
            <a:off x="2114848" y="3503005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4892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8">
            <a:extLst>
              <a:ext uri="{FF2B5EF4-FFF2-40B4-BE49-F238E27FC236}">
                <a16:creationId xmlns:a16="http://schemas.microsoft.com/office/drawing/2014/main" id="{2E906809-CFEC-8140-8927-49CA055D1D9F}"/>
              </a:ext>
            </a:extLst>
          </p:cNvPr>
          <p:cNvSpPr/>
          <p:nvPr/>
        </p:nvSpPr>
        <p:spPr>
          <a:xfrm>
            <a:off x="1934381" y="3503005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22733" y="24892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74643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28F3ACF1-C2FA-064D-8E76-B83D14D14925}"/>
              </a:ext>
            </a:extLst>
          </p:cNvPr>
          <p:cNvSpPr/>
          <p:nvPr/>
        </p:nvSpPr>
        <p:spPr>
          <a:xfrm>
            <a:off x="3762444" y="2659278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305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F3BC2B55-DC54-9E49-B82D-D641281A762A}"/>
              </a:ext>
            </a:extLst>
          </p:cNvPr>
          <p:cNvSpPr/>
          <p:nvPr/>
        </p:nvSpPr>
        <p:spPr>
          <a:xfrm>
            <a:off x="3564451" y="2659278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24765" y="27305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9E5C0D9D-1A5E-E043-9D56-A0D19D56D1D0}"/>
              </a:ext>
            </a:extLst>
          </p:cNvPr>
          <p:cNvSpPr txBox="1"/>
          <p:nvPr/>
        </p:nvSpPr>
        <p:spPr>
          <a:xfrm>
            <a:off x="810641" y="1116729"/>
            <a:ext cx="5214620" cy="186436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宋体"/>
                <a:cs typeface="宋体"/>
              </a:rPr>
              <a:t>实现方法</a:t>
            </a:r>
            <a:endParaRPr sz="28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1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选取固定位置主元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dirty="0">
                <a:latin typeface="宋体"/>
                <a:cs typeface="宋体"/>
              </a:rPr>
              <a:t>（</a:t>
            </a:r>
            <a:r>
              <a:rPr sz="2400" dirty="0" err="1">
                <a:latin typeface="宋体"/>
                <a:cs typeface="宋体"/>
              </a:rPr>
              <a:t>如尾元素</a:t>
            </a:r>
            <a:r>
              <a:rPr sz="2400" spc="-50" dirty="0">
                <a:latin typeface="宋体"/>
                <a:cs typeface="宋体"/>
              </a:rPr>
              <a:t>）</a:t>
            </a:r>
            <a:endParaRPr sz="24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维护两个部分的右端点变量</a:t>
            </a:r>
            <a:r>
              <a:rPr sz="2400" spc="-10" dirty="0">
                <a:latin typeface="Cambria Math"/>
                <a:cs typeface="Cambria Math"/>
              </a:rPr>
              <a:t>𝒊</a:t>
            </a:r>
            <a:r>
              <a:rPr sz="2400" spc="-75" dirty="0">
                <a:latin typeface="Cambria Math"/>
                <a:cs typeface="Cambria Math"/>
              </a:rPr>
              <a:t>, </a:t>
            </a:r>
            <a:r>
              <a:rPr sz="2400" spc="-50" dirty="0">
                <a:latin typeface="Cambria Math"/>
                <a:cs typeface="Cambria Math"/>
              </a:rPr>
              <a:t>𝒋</a:t>
            </a:r>
            <a:endParaRPr sz="2400" dirty="0">
              <a:latin typeface="Cambria Math"/>
              <a:cs typeface="Cambria Math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考察数组元素</a:t>
            </a:r>
            <a:r>
              <a:rPr sz="2400" dirty="0">
                <a:latin typeface="Cambria Math"/>
                <a:cs typeface="Cambria Math"/>
              </a:rPr>
              <a:t>𝑨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𝒋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400" dirty="0">
                <a:latin typeface="宋体"/>
                <a:cs typeface="宋体"/>
              </a:rPr>
              <a:t>，</a:t>
            </a:r>
            <a:r>
              <a:rPr sz="2400" spc="-10" dirty="0" err="1">
                <a:solidFill>
                  <a:srgbClr val="FF0000"/>
                </a:solidFill>
                <a:latin typeface="宋体"/>
                <a:cs typeface="宋体"/>
              </a:rPr>
              <a:t>只和主元比较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DC786AE0-1C2B-B34F-BA04-C19C6AE5C2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3334" y="155137"/>
            <a:ext cx="393243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数组划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分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A97F6C9E-23AB-2F49-B8AD-AB37D7F6FE55}"/>
              </a:ext>
            </a:extLst>
          </p:cNvPr>
          <p:cNvGraphicFramePr>
            <a:graphicFrameLocks noGrp="1"/>
          </p:cNvGraphicFramePr>
          <p:nvPr/>
        </p:nvGraphicFramePr>
        <p:xfrm>
          <a:off x="6954901" y="1016761"/>
          <a:ext cx="4607558" cy="584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7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1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835">
                <a:tc>
                  <a:txBody>
                    <a:bodyPr/>
                    <a:lstStyle/>
                    <a:p>
                      <a:pPr marL="5581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>
                          <a:latin typeface="Cambria Math"/>
                          <a:cs typeface="Cambria Math"/>
                        </a:rPr>
                        <a:t>≤</a:t>
                      </a:r>
                      <a:r>
                        <a:rPr sz="2600" spc="1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600" spc="-50"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27051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>
                          <a:latin typeface="Cambria Math"/>
                          <a:cs typeface="Cambria Math"/>
                        </a:rPr>
                        <a:t>&gt;</a:t>
                      </a:r>
                      <a:r>
                        <a:rPr sz="2600" spc="1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600" spc="-50"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200" spc="-20">
                          <a:latin typeface="宋体"/>
                          <a:cs typeface="宋体"/>
                        </a:rPr>
                        <a:t>待考察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T="901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object 12">
            <a:extLst>
              <a:ext uri="{FF2B5EF4-FFF2-40B4-BE49-F238E27FC236}">
                <a16:creationId xmlns:a16="http://schemas.microsoft.com/office/drawing/2014/main" id="{C2671A58-D833-804A-9367-BD6F289041A9}"/>
              </a:ext>
            </a:extLst>
          </p:cNvPr>
          <p:cNvSpPr/>
          <p:nvPr/>
        </p:nvSpPr>
        <p:spPr>
          <a:xfrm>
            <a:off x="8643366" y="1646682"/>
            <a:ext cx="114300" cy="335915"/>
          </a:xfrm>
          <a:custGeom>
            <a:avLst/>
            <a:gdLst/>
            <a:ahLst/>
            <a:cxnLst/>
            <a:rect l="l" t="t" r="r" b="b"/>
            <a:pathLst>
              <a:path w="114300" h="335914">
                <a:moveTo>
                  <a:pt x="76200" y="95250"/>
                </a:moveTo>
                <a:lnTo>
                  <a:pt x="38100" y="95250"/>
                </a:lnTo>
                <a:lnTo>
                  <a:pt x="38100" y="335788"/>
                </a:lnTo>
                <a:lnTo>
                  <a:pt x="76200" y="335788"/>
                </a:lnTo>
                <a:lnTo>
                  <a:pt x="76200" y="95250"/>
                </a:lnTo>
                <a:close/>
              </a:path>
              <a:path w="114300" h="335914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335914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D6580AAE-2011-D54F-AD29-B848A18F9B79}"/>
              </a:ext>
            </a:extLst>
          </p:cNvPr>
          <p:cNvSpPr txBox="1"/>
          <p:nvPr/>
        </p:nvSpPr>
        <p:spPr>
          <a:xfrm>
            <a:off x="8636254" y="1991613"/>
            <a:ext cx="129539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06AFC6E8-C47A-6440-8FA1-97D8CEE0D16C}"/>
              </a:ext>
            </a:extLst>
          </p:cNvPr>
          <p:cNvSpPr/>
          <p:nvPr/>
        </p:nvSpPr>
        <p:spPr>
          <a:xfrm>
            <a:off x="9792461" y="1652777"/>
            <a:ext cx="114300" cy="358140"/>
          </a:xfrm>
          <a:custGeom>
            <a:avLst/>
            <a:gdLst/>
            <a:ahLst/>
            <a:cxnLst/>
            <a:rect l="l" t="t" r="r" b="b"/>
            <a:pathLst>
              <a:path w="114300" h="358139">
                <a:moveTo>
                  <a:pt x="76202" y="114172"/>
                </a:moveTo>
                <a:lnTo>
                  <a:pt x="38102" y="114426"/>
                </a:lnTo>
                <a:lnTo>
                  <a:pt x="39751" y="357886"/>
                </a:lnTo>
                <a:lnTo>
                  <a:pt x="77851" y="357632"/>
                </a:lnTo>
                <a:lnTo>
                  <a:pt x="76202" y="114172"/>
                </a:lnTo>
                <a:close/>
              </a:path>
              <a:path w="114300" h="358139">
                <a:moveTo>
                  <a:pt x="56388" y="0"/>
                </a:moveTo>
                <a:lnTo>
                  <a:pt x="0" y="114681"/>
                </a:lnTo>
                <a:lnTo>
                  <a:pt x="38102" y="114426"/>
                </a:lnTo>
                <a:lnTo>
                  <a:pt x="37973" y="95376"/>
                </a:lnTo>
                <a:lnTo>
                  <a:pt x="104744" y="95123"/>
                </a:lnTo>
                <a:lnTo>
                  <a:pt x="56388" y="0"/>
                </a:lnTo>
                <a:close/>
              </a:path>
              <a:path w="114300" h="358139">
                <a:moveTo>
                  <a:pt x="76073" y="95123"/>
                </a:moveTo>
                <a:lnTo>
                  <a:pt x="37973" y="95376"/>
                </a:lnTo>
                <a:lnTo>
                  <a:pt x="38102" y="114426"/>
                </a:lnTo>
                <a:lnTo>
                  <a:pt x="76202" y="114172"/>
                </a:lnTo>
                <a:lnTo>
                  <a:pt x="76073" y="95123"/>
                </a:lnTo>
                <a:close/>
              </a:path>
              <a:path w="114300" h="358139">
                <a:moveTo>
                  <a:pt x="104744" y="95123"/>
                </a:moveTo>
                <a:lnTo>
                  <a:pt x="76073" y="95123"/>
                </a:lnTo>
                <a:lnTo>
                  <a:pt x="76202" y="114172"/>
                </a:lnTo>
                <a:lnTo>
                  <a:pt x="114300" y="113919"/>
                </a:lnTo>
                <a:lnTo>
                  <a:pt x="104744" y="951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6673C368-16C0-A042-B136-CF9B71C68CB2}"/>
              </a:ext>
            </a:extLst>
          </p:cNvPr>
          <p:cNvSpPr txBox="1"/>
          <p:nvPr/>
        </p:nvSpPr>
        <p:spPr>
          <a:xfrm>
            <a:off x="9785095" y="1982977"/>
            <a:ext cx="13462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830673B-00DE-A84A-A27F-FD5DDC946169}"/>
              </a:ext>
            </a:extLst>
          </p:cNvPr>
          <p:cNvSpPr txBox="1"/>
          <p:nvPr/>
        </p:nvSpPr>
        <p:spPr>
          <a:xfrm>
            <a:off x="1137062" y="3076744"/>
            <a:ext cx="9945584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  <a:tabLst>
                <a:tab pos="306705" algn="l"/>
                <a:tab pos="1151255" algn="l"/>
              </a:tabLst>
            </a:pPr>
            <a:r>
              <a:rPr lang="en" altLang="zh-CN" sz="120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lang="en" altLang="zh-CN" sz="120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lang="zh-CN" altLang="en-US" sz="1800" dirty="0">
                <a:latin typeface="宋体"/>
                <a:cs typeface="宋体"/>
              </a:rPr>
              <a:t>若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zh-CN" altLang="en-US" sz="1800" spc="260" dirty="0">
                <a:latin typeface="Cambria Math"/>
                <a:cs typeface="Cambria Math"/>
              </a:rPr>
              <a:t> </a:t>
            </a:r>
            <a:r>
              <a:rPr lang="zh-CN" altLang="en-US" sz="1800" spc="-5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Cambria Math"/>
                <a:cs typeface="Cambria Math"/>
              </a:rPr>
              <a:t>	≤</a:t>
            </a:r>
            <a:r>
              <a:rPr lang="zh-CN" altLang="en-US" sz="1800" spc="150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𝒙</a:t>
            </a:r>
            <a:r>
              <a:rPr lang="zh-CN" altLang="en-US" sz="1800" spc="-10" dirty="0">
                <a:latin typeface="宋体"/>
                <a:cs typeface="宋体"/>
              </a:rPr>
              <a:t>，</a:t>
            </a:r>
            <a:r>
              <a:rPr lang="zh-CN" altLang="en-US" sz="1800" dirty="0">
                <a:latin typeface="宋体"/>
                <a:cs typeface="宋体"/>
              </a:rPr>
              <a:t>则交换</a:t>
            </a:r>
            <a:r>
              <a:rPr lang="zh-CN" altLang="en-US" sz="1800" spc="-10" dirty="0">
                <a:latin typeface="Cambria Math"/>
                <a:cs typeface="Cambria Math"/>
              </a:rPr>
              <a:t>𝑨</a:t>
            </a:r>
            <a:r>
              <a:rPr lang="en-US" altLang="zh-CN" sz="1800" spc="-10" dirty="0">
                <a:latin typeface="Cambria Math"/>
                <a:cs typeface="Cambria Math"/>
              </a:rPr>
              <a:t>[𝒋]</a:t>
            </a:r>
            <a:r>
              <a:rPr lang="zh-CN" altLang="en-US" sz="1800" dirty="0">
                <a:latin typeface="宋体"/>
                <a:cs typeface="宋体"/>
              </a:rPr>
              <a:t>和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en-US" altLang="zh-CN" sz="1800" dirty="0">
                <a:latin typeface="Cambria Math"/>
                <a:cs typeface="Cambria Math"/>
              </a:rPr>
              <a:t>[𝒊</a:t>
            </a:r>
            <a:r>
              <a:rPr lang="zh-CN" altLang="en-US" sz="1800" spc="20" dirty="0">
                <a:latin typeface="Cambria Math"/>
                <a:cs typeface="Cambria Math"/>
              </a:rPr>
              <a:t> </a:t>
            </a:r>
            <a:r>
              <a:rPr lang="en-US" altLang="zh-CN" sz="1800" dirty="0">
                <a:latin typeface="Cambria Math"/>
                <a:cs typeface="Cambria Math"/>
              </a:rPr>
              <a:t>+</a:t>
            </a:r>
            <a:r>
              <a:rPr lang="zh-CN" altLang="en-US" sz="1800" spc="20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𝟏</a:t>
            </a:r>
            <a:r>
              <a:rPr lang="en-US" altLang="zh-CN" sz="1800" spc="-10" dirty="0">
                <a:latin typeface="Cambria Math"/>
                <a:cs typeface="Cambria Math"/>
              </a:rPr>
              <a:t>]</a:t>
            </a:r>
            <a:r>
              <a:rPr lang="zh-CN" altLang="en-US" sz="1800" b="1" spc="-10" dirty="0">
                <a:latin typeface="微软雅黑"/>
                <a:cs typeface="微软雅黑"/>
              </a:rPr>
              <a:t>，</a:t>
            </a:r>
            <a:r>
              <a:rPr lang="zh-CN" altLang="en-US" sz="1800" spc="-10" dirty="0">
                <a:latin typeface="Cambria Math"/>
                <a:cs typeface="Cambria Math"/>
              </a:rPr>
              <a:t>𝒊</a:t>
            </a:r>
            <a:r>
              <a:rPr lang="en-US" altLang="zh-CN" sz="1800" spc="-10" dirty="0">
                <a:latin typeface="Cambria Math"/>
                <a:cs typeface="Cambria Math"/>
              </a:rPr>
              <a:t>,</a:t>
            </a:r>
            <a:r>
              <a:rPr lang="zh-CN" altLang="en-US" sz="1800" spc="-110" dirty="0">
                <a:latin typeface="Cambria Math"/>
                <a:cs typeface="Cambria Math"/>
              </a:rPr>
              <a:t> </a:t>
            </a:r>
            <a:r>
              <a:rPr lang="zh-CN" altLang="en-US" sz="1800" spc="-15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宋体"/>
                <a:cs typeface="宋体"/>
              </a:rPr>
              <a:t>右</a:t>
            </a:r>
            <a:r>
              <a:rPr lang="zh-CN" altLang="en-US" sz="1800" spc="-50" dirty="0">
                <a:latin typeface="宋体"/>
                <a:cs typeface="宋体"/>
              </a:rPr>
              <a:t>移</a:t>
            </a:r>
            <a:endParaRPr lang="zh-CN" altLang="en-US" sz="18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  <a:tabLst>
                <a:tab pos="306705" algn="l"/>
                <a:tab pos="1151255" algn="l"/>
              </a:tabLst>
            </a:pPr>
            <a:r>
              <a:rPr lang="en" altLang="zh-CN" sz="120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lang="en" altLang="zh-CN" sz="120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lang="zh-CN" altLang="en-US" sz="1800" dirty="0">
                <a:latin typeface="宋体"/>
                <a:cs typeface="宋体"/>
              </a:rPr>
              <a:t>若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zh-CN" altLang="en-US" sz="1800" spc="260" dirty="0">
                <a:latin typeface="Cambria Math"/>
                <a:cs typeface="Cambria Math"/>
              </a:rPr>
              <a:t> </a:t>
            </a:r>
            <a:r>
              <a:rPr lang="zh-CN" altLang="en-US" sz="1800" spc="-5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Cambria Math"/>
                <a:cs typeface="Cambria Math"/>
              </a:rPr>
              <a:t>	</a:t>
            </a:r>
            <a:r>
              <a:rPr lang="en-US" altLang="zh-CN" sz="1800" dirty="0">
                <a:latin typeface="Cambria Math"/>
                <a:cs typeface="Cambria Math"/>
              </a:rPr>
              <a:t>&gt;</a:t>
            </a:r>
            <a:r>
              <a:rPr lang="zh-CN" altLang="en-US" sz="1800" spc="145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𝒙</a:t>
            </a:r>
            <a:r>
              <a:rPr lang="zh-CN" altLang="en-US" sz="1800" spc="-10" dirty="0">
                <a:latin typeface="宋体"/>
                <a:cs typeface="宋体"/>
              </a:rPr>
              <a:t>，</a:t>
            </a:r>
            <a:r>
              <a:rPr lang="zh-CN" altLang="en-US" sz="1800" dirty="0">
                <a:latin typeface="宋体"/>
                <a:cs typeface="宋体"/>
              </a:rPr>
              <a:t>则</a:t>
            </a:r>
            <a:r>
              <a:rPr lang="zh-CN" altLang="en-US" sz="1800" spc="-1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宋体"/>
                <a:cs typeface="宋体"/>
              </a:rPr>
              <a:t>右</a:t>
            </a:r>
            <a:r>
              <a:rPr lang="zh-CN" altLang="en-US" sz="1800" spc="-50" dirty="0">
                <a:latin typeface="宋体"/>
                <a:cs typeface="宋体"/>
              </a:rPr>
              <a:t>移</a:t>
            </a:r>
            <a:endParaRPr lang="zh-CN" altLang="en-US" sz="1800" dirty="0">
              <a:latin typeface="宋体"/>
              <a:cs typeface="宋体"/>
            </a:endParaRPr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70F2CA58-0D9B-154C-ABA0-FD5263B6C2A3}"/>
              </a:ext>
            </a:extLst>
          </p:cNvPr>
          <p:cNvSpPr/>
          <p:nvPr/>
        </p:nvSpPr>
        <p:spPr>
          <a:xfrm>
            <a:off x="2114848" y="313604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5019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F3181DB3-0DC6-4E47-A5ED-B272C280CCAB}"/>
              </a:ext>
            </a:extLst>
          </p:cNvPr>
          <p:cNvSpPr/>
          <p:nvPr/>
        </p:nvSpPr>
        <p:spPr>
          <a:xfrm>
            <a:off x="1934381" y="313604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22733" y="25019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BAA07E5-D026-CC46-B282-E1274A5953C1}"/>
              </a:ext>
            </a:extLst>
          </p:cNvPr>
          <p:cNvSpPr txBox="1"/>
          <p:nvPr/>
        </p:nvSpPr>
        <p:spPr>
          <a:xfrm>
            <a:off x="7742712" y="3493582"/>
            <a:ext cx="697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080" algn="r">
              <a:lnSpc>
                <a:spcPct val="100000"/>
              </a:lnSpc>
              <a:spcBef>
                <a:spcPts val="695"/>
              </a:spcBef>
            </a:pPr>
            <a:r>
              <a:rPr lang="zh-CN" altLang="en-US" sz="1800" spc="-25" dirty="0">
                <a:latin typeface="宋体"/>
                <a:cs typeface="宋体"/>
              </a:rPr>
              <a:t>主元</a:t>
            </a:r>
            <a:endParaRPr lang="zh-CN" altLang="en-US" sz="1800" dirty="0">
              <a:latin typeface="宋体"/>
              <a:cs typeface="宋体"/>
            </a:endParaRPr>
          </a:p>
        </p:txBody>
      </p:sp>
      <p:graphicFrame>
        <p:nvGraphicFramePr>
          <p:cNvPr id="17" name="object 10">
            <a:extLst>
              <a:ext uri="{FF2B5EF4-FFF2-40B4-BE49-F238E27FC236}">
                <a16:creationId xmlns:a16="http://schemas.microsoft.com/office/drawing/2014/main" id="{0498BFAD-14FF-2549-BB6C-0FCF5F65CF4C}"/>
              </a:ext>
            </a:extLst>
          </p:cNvPr>
          <p:cNvGraphicFramePr>
            <a:graphicFrameLocks noGrp="1"/>
          </p:cNvGraphicFramePr>
          <p:nvPr/>
        </p:nvGraphicFramePr>
        <p:xfrm>
          <a:off x="3772661" y="4178934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object 12">
            <a:extLst>
              <a:ext uri="{FF2B5EF4-FFF2-40B4-BE49-F238E27FC236}">
                <a16:creationId xmlns:a16="http://schemas.microsoft.com/office/drawing/2014/main" id="{DEB20750-929D-684A-B8B3-7D4ADEBF0132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3">
            <a:extLst>
              <a:ext uri="{FF2B5EF4-FFF2-40B4-BE49-F238E27FC236}">
                <a16:creationId xmlns:a16="http://schemas.microsoft.com/office/drawing/2014/main" id="{B83FC2E6-C835-9B44-9CFF-9E60A7FC41DD}"/>
              </a:ext>
            </a:extLst>
          </p:cNvPr>
          <p:cNvSpPr/>
          <p:nvPr/>
        </p:nvSpPr>
        <p:spPr>
          <a:xfrm>
            <a:off x="5108447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4">
            <a:extLst>
              <a:ext uri="{FF2B5EF4-FFF2-40B4-BE49-F238E27FC236}">
                <a16:creationId xmlns:a16="http://schemas.microsoft.com/office/drawing/2014/main" id="{3D8EED82-E8EB-0848-936A-F3DA2D8BB618}"/>
              </a:ext>
            </a:extLst>
          </p:cNvPr>
          <p:cNvSpPr/>
          <p:nvPr/>
        </p:nvSpPr>
        <p:spPr>
          <a:xfrm>
            <a:off x="7566659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0">
            <a:extLst>
              <a:ext uri="{FF2B5EF4-FFF2-40B4-BE49-F238E27FC236}">
                <a16:creationId xmlns:a16="http://schemas.microsoft.com/office/drawing/2014/main" id="{CAC181DF-1408-C24F-84C4-9079CB0B3920}"/>
              </a:ext>
            </a:extLst>
          </p:cNvPr>
          <p:cNvSpPr txBox="1"/>
          <p:nvPr/>
        </p:nvSpPr>
        <p:spPr>
          <a:xfrm>
            <a:off x="5121655" y="5362075"/>
            <a:ext cx="129539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5" name="object 21">
            <a:extLst>
              <a:ext uri="{FF2B5EF4-FFF2-40B4-BE49-F238E27FC236}">
                <a16:creationId xmlns:a16="http://schemas.microsoft.com/office/drawing/2014/main" id="{BC81908D-02CF-C745-AC8E-E3CE6D4F5787}"/>
              </a:ext>
            </a:extLst>
          </p:cNvPr>
          <p:cNvSpPr txBox="1"/>
          <p:nvPr/>
        </p:nvSpPr>
        <p:spPr>
          <a:xfrm>
            <a:off x="7561580" y="5380109"/>
            <a:ext cx="134620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8DE302F-6748-5F44-A0DE-3F9600D0A19B}"/>
              </a:ext>
            </a:extLst>
          </p:cNvPr>
          <p:cNvSpPr txBox="1"/>
          <p:nvPr/>
        </p:nvSpPr>
        <p:spPr>
          <a:xfrm>
            <a:off x="6489731" y="3712706"/>
            <a:ext cx="19505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621030" algn="r">
              <a:lnSpc>
                <a:spcPct val="100000"/>
              </a:lnSpc>
              <a:spcBef>
                <a:spcPts val="85"/>
              </a:spcBef>
            </a:pPr>
            <a:r>
              <a:rPr lang="en-US" altLang="zh-CN" sz="1800" b="1" dirty="0">
                <a:latin typeface="Times New Roman"/>
                <a:cs typeface="Times New Roman"/>
              </a:rPr>
              <a:t>6 &gt;</a:t>
            </a:r>
            <a:r>
              <a:rPr lang="zh-CN" altLang="en-US" sz="1800" b="1" spc="-10" dirty="0">
                <a:latin typeface="Times New Roman"/>
                <a:cs typeface="Times New Roman"/>
              </a:rPr>
              <a:t> </a:t>
            </a:r>
            <a:r>
              <a:rPr lang="en-US" altLang="zh-CN" sz="1800" b="1" spc="-50" dirty="0">
                <a:latin typeface="Times New Roman"/>
                <a:cs typeface="Times New Roman"/>
              </a:rPr>
              <a:t>4</a:t>
            </a:r>
            <a:endParaRPr lang="zh-CN" altLang="en-US" sz="1800" dirty="0">
              <a:latin typeface="Times New Roman"/>
              <a:cs typeface="Times New Roman"/>
            </a:endParaRPr>
          </a:p>
        </p:txBody>
      </p:sp>
      <p:sp>
        <p:nvSpPr>
          <p:cNvPr id="28" name="object 7">
            <a:extLst>
              <a:ext uri="{FF2B5EF4-FFF2-40B4-BE49-F238E27FC236}">
                <a16:creationId xmlns:a16="http://schemas.microsoft.com/office/drawing/2014/main" id="{9E4E040D-2082-584E-8375-3B8B0A66B152}"/>
              </a:ext>
            </a:extLst>
          </p:cNvPr>
          <p:cNvSpPr/>
          <p:nvPr/>
        </p:nvSpPr>
        <p:spPr>
          <a:xfrm>
            <a:off x="2114848" y="3503005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4892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8">
            <a:extLst>
              <a:ext uri="{FF2B5EF4-FFF2-40B4-BE49-F238E27FC236}">
                <a16:creationId xmlns:a16="http://schemas.microsoft.com/office/drawing/2014/main" id="{365923DC-729A-3F47-828F-2F0F51A46F76}"/>
              </a:ext>
            </a:extLst>
          </p:cNvPr>
          <p:cNvSpPr/>
          <p:nvPr/>
        </p:nvSpPr>
        <p:spPr>
          <a:xfrm>
            <a:off x="1934381" y="3503005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22733" y="24892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29441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28F3ACF1-C2FA-064D-8E76-B83D14D14925}"/>
              </a:ext>
            </a:extLst>
          </p:cNvPr>
          <p:cNvSpPr/>
          <p:nvPr/>
        </p:nvSpPr>
        <p:spPr>
          <a:xfrm>
            <a:off x="3762444" y="2659278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305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F3BC2B55-DC54-9E49-B82D-D641281A762A}"/>
              </a:ext>
            </a:extLst>
          </p:cNvPr>
          <p:cNvSpPr/>
          <p:nvPr/>
        </p:nvSpPr>
        <p:spPr>
          <a:xfrm>
            <a:off x="3564451" y="2659278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24765" y="27305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9E5C0D9D-1A5E-E043-9D56-A0D19D56D1D0}"/>
              </a:ext>
            </a:extLst>
          </p:cNvPr>
          <p:cNvSpPr txBox="1"/>
          <p:nvPr/>
        </p:nvSpPr>
        <p:spPr>
          <a:xfrm>
            <a:off x="810641" y="1116729"/>
            <a:ext cx="5214620" cy="186436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宋体"/>
                <a:cs typeface="宋体"/>
              </a:rPr>
              <a:t>实现方法</a:t>
            </a:r>
            <a:endParaRPr sz="28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1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选取固定位置主元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dirty="0">
                <a:latin typeface="宋体"/>
                <a:cs typeface="宋体"/>
              </a:rPr>
              <a:t>（</a:t>
            </a:r>
            <a:r>
              <a:rPr sz="2400" dirty="0" err="1">
                <a:latin typeface="宋体"/>
                <a:cs typeface="宋体"/>
              </a:rPr>
              <a:t>如尾元素</a:t>
            </a:r>
            <a:r>
              <a:rPr sz="2400" spc="-50" dirty="0">
                <a:latin typeface="宋体"/>
                <a:cs typeface="宋体"/>
              </a:rPr>
              <a:t>）</a:t>
            </a:r>
            <a:endParaRPr sz="24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维护两个部分的右端点变量</a:t>
            </a:r>
            <a:r>
              <a:rPr sz="2400" spc="-10" dirty="0">
                <a:latin typeface="Cambria Math"/>
                <a:cs typeface="Cambria Math"/>
              </a:rPr>
              <a:t>𝒊</a:t>
            </a:r>
            <a:r>
              <a:rPr sz="2400" spc="-75" dirty="0">
                <a:latin typeface="Cambria Math"/>
                <a:cs typeface="Cambria Math"/>
              </a:rPr>
              <a:t>, </a:t>
            </a:r>
            <a:r>
              <a:rPr sz="2400" spc="-50" dirty="0">
                <a:latin typeface="Cambria Math"/>
                <a:cs typeface="Cambria Math"/>
              </a:rPr>
              <a:t>𝒋</a:t>
            </a:r>
            <a:endParaRPr sz="2400" dirty="0">
              <a:latin typeface="Cambria Math"/>
              <a:cs typeface="Cambria Math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考察数组元素</a:t>
            </a:r>
            <a:r>
              <a:rPr sz="2400" dirty="0">
                <a:latin typeface="Cambria Math"/>
                <a:cs typeface="Cambria Math"/>
              </a:rPr>
              <a:t>𝑨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𝒋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400" dirty="0">
                <a:latin typeface="宋体"/>
                <a:cs typeface="宋体"/>
              </a:rPr>
              <a:t>，</a:t>
            </a:r>
            <a:r>
              <a:rPr sz="2400" spc="-10" dirty="0" err="1">
                <a:solidFill>
                  <a:srgbClr val="FF0000"/>
                </a:solidFill>
                <a:latin typeface="宋体"/>
                <a:cs typeface="宋体"/>
              </a:rPr>
              <a:t>只和主元比较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DC786AE0-1C2B-B34F-BA04-C19C6AE5C2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3334" y="155137"/>
            <a:ext cx="393243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数组划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分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A97F6C9E-23AB-2F49-B8AD-AB37D7F6FE55}"/>
              </a:ext>
            </a:extLst>
          </p:cNvPr>
          <p:cNvGraphicFramePr>
            <a:graphicFrameLocks noGrp="1"/>
          </p:cNvGraphicFramePr>
          <p:nvPr/>
        </p:nvGraphicFramePr>
        <p:xfrm>
          <a:off x="6954901" y="1016761"/>
          <a:ext cx="4607558" cy="584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7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1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835">
                <a:tc>
                  <a:txBody>
                    <a:bodyPr/>
                    <a:lstStyle/>
                    <a:p>
                      <a:pPr marL="5581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>
                          <a:latin typeface="Cambria Math"/>
                          <a:cs typeface="Cambria Math"/>
                        </a:rPr>
                        <a:t>≤</a:t>
                      </a:r>
                      <a:r>
                        <a:rPr sz="2600" spc="1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600" spc="-50"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27051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>
                          <a:latin typeface="Cambria Math"/>
                          <a:cs typeface="Cambria Math"/>
                        </a:rPr>
                        <a:t>&gt;</a:t>
                      </a:r>
                      <a:r>
                        <a:rPr sz="2600" spc="1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600" spc="-50"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200" spc="-20">
                          <a:latin typeface="宋体"/>
                          <a:cs typeface="宋体"/>
                        </a:rPr>
                        <a:t>待考察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T="901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object 12">
            <a:extLst>
              <a:ext uri="{FF2B5EF4-FFF2-40B4-BE49-F238E27FC236}">
                <a16:creationId xmlns:a16="http://schemas.microsoft.com/office/drawing/2014/main" id="{C2671A58-D833-804A-9367-BD6F289041A9}"/>
              </a:ext>
            </a:extLst>
          </p:cNvPr>
          <p:cNvSpPr/>
          <p:nvPr/>
        </p:nvSpPr>
        <p:spPr>
          <a:xfrm>
            <a:off x="8643366" y="1646682"/>
            <a:ext cx="114300" cy="335915"/>
          </a:xfrm>
          <a:custGeom>
            <a:avLst/>
            <a:gdLst/>
            <a:ahLst/>
            <a:cxnLst/>
            <a:rect l="l" t="t" r="r" b="b"/>
            <a:pathLst>
              <a:path w="114300" h="335914">
                <a:moveTo>
                  <a:pt x="76200" y="95250"/>
                </a:moveTo>
                <a:lnTo>
                  <a:pt x="38100" y="95250"/>
                </a:lnTo>
                <a:lnTo>
                  <a:pt x="38100" y="335788"/>
                </a:lnTo>
                <a:lnTo>
                  <a:pt x="76200" y="335788"/>
                </a:lnTo>
                <a:lnTo>
                  <a:pt x="76200" y="95250"/>
                </a:lnTo>
                <a:close/>
              </a:path>
              <a:path w="114300" h="335914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335914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D6580AAE-2011-D54F-AD29-B848A18F9B79}"/>
              </a:ext>
            </a:extLst>
          </p:cNvPr>
          <p:cNvSpPr txBox="1"/>
          <p:nvPr/>
        </p:nvSpPr>
        <p:spPr>
          <a:xfrm>
            <a:off x="8636254" y="1991613"/>
            <a:ext cx="129539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06AFC6E8-C47A-6440-8FA1-97D8CEE0D16C}"/>
              </a:ext>
            </a:extLst>
          </p:cNvPr>
          <p:cNvSpPr/>
          <p:nvPr/>
        </p:nvSpPr>
        <p:spPr>
          <a:xfrm>
            <a:off x="9792461" y="1652777"/>
            <a:ext cx="114300" cy="358140"/>
          </a:xfrm>
          <a:custGeom>
            <a:avLst/>
            <a:gdLst/>
            <a:ahLst/>
            <a:cxnLst/>
            <a:rect l="l" t="t" r="r" b="b"/>
            <a:pathLst>
              <a:path w="114300" h="358139">
                <a:moveTo>
                  <a:pt x="76202" y="114172"/>
                </a:moveTo>
                <a:lnTo>
                  <a:pt x="38102" y="114426"/>
                </a:lnTo>
                <a:lnTo>
                  <a:pt x="39751" y="357886"/>
                </a:lnTo>
                <a:lnTo>
                  <a:pt x="77851" y="357632"/>
                </a:lnTo>
                <a:lnTo>
                  <a:pt x="76202" y="114172"/>
                </a:lnTo>
                <a:close/>
              </a:path>
              <a:path w="114300" h="358139">
                <a:moveTo>
                  <a:pt x="56388" y="0"/>
                </a:moveTo>
                <a:lnTo>
                  <a:pt x="0" y="114681"/>
                </a:lnTo>
                <a:lnTo>
                  <a:pt x="38102" y="114426"/>
                </a:lnTo>
                <a:lnTo>
                  <a:pt x="37973" y="95376"/>
                </a:lnTo>
                <a:lnTo>
                  <a:pt x="104744" y="95123"/>
                </a:lnTo>
                <a:lnTo>
                  <a:pt x="56388" y="0"/>
                </a:lnTo>
                <a:close/>
              </a:path>
              <a:path w="114300" h="358139">
                <a:moveTo>
                  <a:pt x="76073" y="95123"/>
                </a:moveTo>
                <a:lnTo>
                  <a:pt x="37973" y="95376"/>
                </a:lnTo>
                <a:lnTo>
                  <a:pt x="38102" y="114426"/>
                </a:lnTo>
                <a:lnTo>
                  <a:pt x="76202" y="114172"/>
                </a:lnTo>
                <a:lnTo>
                  <a:pt x="76073" y="95123"/>
                </a:lnTo>
                <a:close/>
              </a:path>
              <a:path w="114300" h="358139">
                <a:moveTo>
                  <a:pt x="104744" y="95123"/>
                </a:moveTo>
                <a:lnTo>
                  <a:pt x="76073" y="95123"/>
                </a:lnTo>
                <a:lnTo>
                  <a:pt x="76202" y="114172"/>
                </a:lnTo>
                <a:lnTo>
                  <a:pt x="114300" y="113919"/>
                </a:lnTo>
                <a:lnTo>
                  <a:pt x="104744" y="951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6673C368-16C0-A042-B136-CF9B71C68CB2}"/>
              </a:ext>
            </a:extLst>
          </p:cNvPr>
          <p:cNvSpPr txBox="1"/>
          <p:nvPr/>
        </p:nvSpPr>
        <p:spPr>
          <a:xfrm>
            <a:off x="9785095" y="1982977"/>
            <a:ext cx="13462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830673B-00DE-A84A-A27F-FD5DDC946169}"/>
              </a:ext>
            </a:extLst>
          </p:cNvPr>
          <p:cNvSpPr txBox="1"/>
          <p:nvPr/>
        </p:nvSpPr>
        <p:spPr>
          <a:xfrm>
            <a:off x="1137062" y="3076744"/>
            <a:ext cx="9945584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  <a:tabLst>
                <a:tab pos="306705" algn="l"/>
                <a:tab pos="1151255" algn="l"/>
              </a:tabLst>
            </a:pPr>
            <a:r>
              <a:rPr lang="en" altLang="zh-CN" sz="120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lang="en" altLang="zh-CN" sz="120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lang="zh-CN" altLang="en-US" sz="1800" dirty="0">
                <a:latin typeface="宋体"/>
                <a:cs typeface="宋体"/>
              </a:rPr>
              <a:t>若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zh-CN" altLang="en-US" sz="1800" spc="260" dirty="0">
                <a:latin typeface="Cambria Math"/>
                <a:cs typeface="Cambria Math"/>
              </a:rPr>
              <a:t> </a:t>
            </a:r>
            <a:r>
              <a:rPr lang="zh-CN" altLang="en-US" sz="1800" spc="-5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Cambria Math"/>
                <a:cs typeface="Cambria Math"/>
              </a:rPr>
              <a:t>	≤</a:t>
            </a:r>
            <a:r>
              <a:rPr lang="zh-CN" altLang="en-US" sz="1800" spc="150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𝒙</a:t>
            </a:r>
            <a:r>
              <a:rPr lang="zh-CN" altLang="en-US" sz="1800" spc="-10" dirty="0">
                <a:latin typeface="宋体"/>
                <a:cs typeface="宋体"/>
              </a:rPr>
              <a:t>，</a:t>
            </a:r>
            <a:r>
              <a:rPr lang="zh-CN" altLang="en-US" sz="1800" dirty="0">
                <a:latin typeface="宋体"/>
                <a:cs typeface="宋体"/>
              </a:rPr>
              <a:t>则交换</a:t>
            </a:r>
            <a:r>
              <a:rPr lang="zh-CN" altLang="en-US" sz="1800" spc="-10" dirty="0">
                <a:latin typeface="Cambria Math"/>
                <a:cs typeface="Cambria Math"/>
              </a:rPr>
              <a:t>𝑨</a:t>
            </a:r>
            <a:r>
              <a:rPr lang="en-US" altLang="zh-CN" sz="1800" spc="-10" dirty="0">
                <a:latin typeface="Cambria Math"/>
                <a:cs typeface="Cambria Math"/>
              </a:rPr>
              <a:t>[𝒋]</a:t>
            </a:r>
            <a:r>
              <a:rPr lang="zh-CN" altLang="en-US" sz="1800" dirty="0">
                <a:latin typeface="宋体"/>
                <a:cs typeface="宋体"/>
              </a:rPr>
              <a:t>和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en-US" altLang="zh-CN" sz="1800" dirty="0">
                <a:latin typeface="Cambria Math"/>
                <a:cs typeface="Cambria Math"/>
              </a:rPr>
              <a:t>[𝒊</a:t>
            </a:r>
            <a:r>
              <a:rPr lang="zh-CN" altLang="en-US" sz="1800" spc="20" dirty="0">
                <a:latin typeface="Cambria Math"/>
                <a:cs typeface="Cambria Math"/>
              </a:rPr>
              <a:t> </a:t>
            </a:r>
            <a:r>
              <a:rPr lang="en-US" altLang="zh-CN" sz="1800" dirty="0">
                <a:latin typeface="Cambria Math"/>
                <a:cs typeface="Cambria Math"/>
              </a:rPr>
              <a:t>+</a:t>
            </a:r>
            <a:r>
              <a:rPr lang="zh-CN" altLang="en-US" sz="1800" spc="20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𝟏</a:t>
            </a:r>
            <a:r>
              <a:rPr lang="en-US" altLang="zh-CN" sz="1800" spc="-10" dirty="0">
                <a:latin typeface="Cambria Math"/>
                <a:cs typeface="Cambria Math"/>
              </a:rPr>
              <a:t>]</a:t>
            </a:r>
            <a:r>
              <a:rPr lang="zh-CN" altLang="en-US" sz="1800" b="1" spc="-10" dirty="0">
                <a:latin typeface="微软雅黑"/>
                <a:cs typeface="微软雅黑"/>
              </a:rPr>
              <a:t>，</a:t>
            </a:r>
            <a:r>
              <a:rPr lang="zh-CN" altLang="en-US" sz="1800" spc="-10" dirty="0">
                <a:latin typeface="Cambria Math"/>
                <a:cs typeface="Cambria Math"/>
              </a:rPr>
              <a:t>𝒊</a:t>
            </a:r>
            <a:r>
              <a:rPr lang="en-US" altLang="zh-CN" sz="1800" spc="-10" dirty="0">
                <a:latin typeface="Cambria Math"/>
                <a:cs typeface="Cambria Math"/>
              </a:rPr>
              <a:t>,</a:t>
            </a:r>
            <a:r>
              <a:rPr lang="zh-CN" altLang="en-US" sz="1800" spc="-110" dirty="0">
                <a:latin typeface="Cambria Math"/>
                <a:cs typeface="Cambria Math"/>
              </a:rPr>
              <a:t> </a:t>
            </a:r>
            <a:r>
              <a:rPr lang="zh-CN" altLang="en-US" sz="1800" spc="-15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宋体"/>
                <a:cs typeface="宋体"/>
              </a:rPr>
              <a:t>右</a:t>
            </a:r>
            <a:r>
              <a:rPr lang="zh-CN" altLang="en-US" sz="1800" spc="-50" dirty="0">
                <a:latin typeface="宋体"/>
                <a:cs typeface="宋体"/>
              </a:rPr>
              <a:t>移</a:t>
            </a:r>
            <a:endParaRPr lang="zh-CN" altLang="en-US" sz="18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  <a:tabLst>
                <a:tab pos="306705" algn="l"/>
                <a:tab pos="1151255" algn="l"/>
              </a:tabLst>
            </a:pPr>
            <a:r>
              <a:rPr lang="en" altLang="zh-CN" sz="120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lang="en" altLang="zh-CN" sz="120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lang="zh-CN" altLang="en-US" sz="1800" dirty="0">
                <a:latin typeface="宋体"/>
                <a:cs typeface="宋体"/>
              </a:rPr>
              <a:t>若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zh-CN" altLang="en-US" sz="1800" spc="260" dirty="0">
                <a:latin typeface="Cambria Math"/>
                <a:cs typeface="Cambria Math"/>
              </a:rPr>
              <a:t> </a:t>
            </a:r>
            <a:r>
              <a:rPr lang="zh-CN" altLang="en-US" sz="1800" spc="-5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Cambria Math"/>
                <a:cs typeface="Cambria Math"/>
              </a:rPr>
              <a:t>	</a:t>
            </a:r>
            <a:r>
              <a:rPr lang="en-US" altLang="zh-CN" sz="1800" dirty="0">
                <a:latin typeface="Cambria Math"/>
                <a:cs typeface="Cambria Math"/>
              </a:rPr>
              <a:t>&gt;</a:t>
            </a:r>
            <a:r>
              <a:rPr lang="zh-CN" altLang="en-US" sz="1800" spc="145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𝒙</a:t>
            </a:r>
            <a:r>
              <a:rPr lang="zh-CN" altLang="en-US" sz="1800" spc="-10" dirty="0">
                <a:latin typeface="宋体"/>
                <a:cs typeface="宋体"/>
              </a:rPr>
              <a:t>，</a:t>
            </a:r>
            <a:r>
              <a:rPr lang="zh-CN" altLang="en-US" sz="1800" dirty="0">
                <a:latin typeface="宋体"/>
                <a:cs typeface="宋体"/>
              </a:rPr>
              <a:t>则</a:t>
            </a:r>
            <a:r>
              <a:rPr lang="zh-CN" altLang="en-US" sz="1800" spc="-1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宋体"/>
                <a:cs typeface="宋体"/>
              </a:rPr>
              <a:t>右</a:t>
            </a:r>
            <a:r>
              <a:rPr lang="zh-CN" altLang="en-US" sz="1800" spc="-50" dirty="0">
                <a:latin typeface="宋体"/>
                <a:cs typeface="宋体"/>
              </a:rPr>
              <a:t>移</a:t>
            </a:r>
            <a:endParaRPr lang="zh-CN" altLang="en-US" sz="1800" dirty="0">
              <a:latin typeface="宋体"/>
              <a:cs typeface="宋体"/>
            </a:endParaRPr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70F2CA58-0D9B-154C-ABA0-FD5263B6C2A3}"/>
              </a:ext>
            </a:extLst>
          </p:cNvPr>
          <p:cNvSpPr/>
          <p:nvPr/>
        </p:nvSpPr>
        <p:spPr>
          <a:xfrm>
            <a:off x="2114848" y="313604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5019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F3181DB3-0DC6-4E47-A5ED-B272C280CCAB}"/>
              </a:ext>
            </a:extLst>
          </p:cNvPr>
          <p:cNvSpPr/>
          <p:nvPr/>
        </p:nvSpPr>
        <p:spPr>
          <a:xfrm>
            <a:off x="1934381" y="313604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22733" y="25019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BAA07E5-D026-CC46-B282-E1274A5953C1}"/>
              </a:ext>
            </a:extLst>
          </p:cNvPr>
          <p:cNvSpPr txBox="1"/>
          <p:nvPr/>
        </p:nvSpPr>
        <p:spPr>
          <a:xfrm>
            <a:off x="7742712" y="3493582"/>
            <a:ext cx="697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080" algn="r">
              <a:lnSpc>
                <a:spcPct val="100000"/>
              </a:lnSpc>
              <a:spcBef>
                <a:spcPts val="695"/>
              </a:spcBef>
            </a:pPr>
            <a:r>
              <a:rPr lang="zh-CN" altLang="en-US" sz="1800" spc="-25" dirty="0">
                <a:latin typeface="宋体"/>
                <a:cs typeface="宋体"/>
              </a:rPr>
              <a:t>主元</a:t>
            </a:r>
            <a:endParaRPr lang="zh-CN" altLang="en-US" sz="1800" dirty="0">
              <a:latin typeface="宋体"/>
              <a:cs typeface="宋体"/>
            </a:endParaRPr>
          </a:p>
        </p:txBody>
      </p:sp>
      <p:graphicFrame>
        <p:nvGraphicFramePr>
          <p:cNvPr id="17" name="object 10">
            <a:extLst>
              <a:ext uri="{FF2B5EF4-FFF2-40B4-BE49-F238E27FC236}">
                <a16:creationId xmlns:a16="http://schemas.microsoft.com/office/drawing/2014/main" id="{5B3C2029-BC0A-5740-9452-9F5BF0CF3BED}"/>
              </a:ext>
            </a:extLst>
          </p:cNvPr>
          <p:cNvGraphicFramePr>
            <a:graphicFrameLocks noGrp="1"/>
          </p:cNvGraphicFramePr>
          <p:nvPr/>
        </p:nvGraphicFramePr>
        <p:xfrm>
          <a:off x="3772661" y="4178934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object 12">
            <a:extLst>
              <a:ext uri="{FF2B5EF4-FFF2-40B4-BE49-F238E27FC236}">
                <a16:creationId xmlns:a16="http://schemas.microsoft.com/office/drawing/2014/main" id="{5F0AB2D0-951F-CB40-B413-973DD4707CB6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3">
            <a:extLst>
              <a:ext uri="{FF2B5EF4-FFF2-40B4-BE49-F238E27FC236}">
                <a16:creationId xmlns:a16="http://schemas.microsoft.com/office/drawing/2014/main" id="{AF502E21-565A-DA47-A9EA-C9AB55D97CEB}"/>
              </a:ext>
            </a:extLst>
          </p:cNvPr>
          <p:cNvSpPr/>
          <p:nvPr/>
        </p:nvSpPr>
        <p:spPr>
          <a:xfrm>
            <a:off x="5108447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4">
            <a:extLst>
              <a:ext uri="{FF2B5EF4-FFF2-40B4-BE49-F238E27FC236}">
                <a16:creationId xmlns:a16="http://schemas.microsoft.com/office/drawing/2014/main" id="{FD8C023E-AC09-0F42-AEE9-1CE5E90195C0}"/>
              </a:ext>
            </a:extLst>
          </p:cNvPr>
          <p:cNvSpPr/>
          <p:nvPr/>
        </p:nvSpPr>
        <p:spPr>
          <a:xfrm>
            <a:off x="7566659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0">
            <a:extLst>
              <a:ext uri="{FF2B5EF4-FFF2-40B4-BE49-F238E27FC236}">
                <a16:creationId xmlns:a16="http://schemas.microsoft.com/office/drawing/2014/main" id="{E7CC5C7E-68BA-674F-BDE1-A48E753E835F}"/>
              </a:ext>
            </a:extLst>
          </p:cNvPr>
          <p:cNvSpPr txBox="1"/>
          <p:nvPr/>
        </p:nvSpPr>
        <p:spPr>
          <a:xfrm>
            <a:off x="5121655" y="5362075"/>
            <a:ext cx="129539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5" name="object 21">
            <a:extLst>
              <a:ext uri="{FF2B5EF4-FFF2-40B4-BE49-F238E27FC236}">
                <a16:creationId xmlns:a16="http://schemas.microsoft.com/office/drawing/2014/main" id="{6E15B090-AD07-964D-998B-DA24A596CC6C}"/>
              </a:ext>
            </a:extLst>
          </p:cNvPr>
          <p:cNvSpPr txBox="1"/>
          <p:nvPr/>
        </p:nvSpPr>
        <p:spPr>
          <a:xfrm>
            <a:off x="7561580" y="5380109"/>
            <a:ext cx="134620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19753C4-F432-584E-AEA9-AC1D678C6291}"/>
              </a:ext>
            </a:extLst>
          </p:cNvPr>
          <p:cNvSpPr txBox="1"/>
          <p:nvPr/>
        </p:nvSpPr>
        <p:spPr>
          <a:xfrm>
            <a:off x="6489731" y="3712706"/>
            <a:ext cx="19505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621030" algn="r">
              <a:lnSpc>
                <a:spcPct val="100000"/>
              </a:lnSpc>
              <a:spcBef>
                <a:spcPts val="85"/>
              </a:spcBef>
            </a:pPr>
            <a:r>
              <a:rPr lang="en-US" altLang="zh-CN" sz="1800" b="1" dirty="0">
                <a:latin typeface="Times New Roman"/>
                <a:cs typeface="Times New Roman"/>
              </a:rPr>
              <a:t>6 &gt;</a:t>
            </a:r>
            <a:r>
              <a:rPr lang="zh-CN" altLang="en-US" sz="1800" b="1" spc="-10" dirty="0">
                <a:latin typeface="Times New Roman"/>
                <a:cs typeface="Times New Roman"/>
              </a:rPr>
              <a:t> </a:t>
            </a:r>
            <a:r>
              <a:rPr lang="en-US" altLang="zh-CN" sz="1800" b="1" spc="-50" dirty="0">
                <a:latin typeface="Times New Roman"/>
                <a:cs typeface="Times New Roman"/>
              </a:rPr>
              <a:t>4</a:t>
            </a:r>
            <a:endParaRPr lang="zh-CN" altLang="en-US" sz="1800" dirty="0">
              <a:latin typeface="Times New Roman"/>
              <a:cs typeface="Times New Roman"/>
            </a:endParaRPr>
          </a:p>
        </p:txBody>
      </p:sp>
      <p:sp>
        <p:nvSpPr>
          <p:cNvPr id="28" name="object 7">
            <a:extLst>
              <a:ext uri="{FF2B5EF4-FFF2-40B4-BE49-F238E27FC236}">
                <a16:creationId xmlns:a16="http://schemas.microsoft.com/office/drawing/2014/main" id="{B6E5A472-8328-FE4A-B839-8789FD6C7F69}"/>
              </a:ext>
            </a:extLst>
          </p:cNvPr>
          <p:cNvSpPr/>
          <p:nvPr/>
        </p:nvSpPr>
        <p:spPr>
          <a:xfrm>
            <a:off x="2114848" y="3503005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4892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8">
            <a:extLst>
              <a:ext uri="{FF2B5EF4-FFF2-40B4-BE49-F238E27FC236}">
                <a16:creationId xmlns:a16="http://schemas.microsoft.com/office/drawing/2014/main" id="{3E000866-9DC8-2A48-ADAD-BEAAC036F545}"/>
              </a:ext>
            </a:extLst>
          </p:cNvPr>
          <p:cNvSpPr/>
          <p:nvPr/>
        </p:nvSpPr>
        <p:spPr>
          <a:xfrm>
            <a:off x="1934381" y="3503005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22733" y="24892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32121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28F3ACF1-C2FA-064D-8E76-B83D14D14925}"/>
              </a:ext>
            </a:extLst>
          </p:cNvPr>
          <p:cNvSpPr/>
          <p:nvPr/>
        </p:nvSpPr>
        <p:spPr>
          <a:xfrm>
            <a:off x="3762444" y="2659278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305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F3BC2B55-DC54-9E49-B82D-D641281A762A}"/>
              </a:ext>
            </a:extLst>
          </p:cNvPr>
          <p:cNvSpPr/>
          <p:nvPr/>
        </p:nvSpPr>
        <p:spPr>
          <a:xfrm>
            <a:off x="3564451" y="2659278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24765" y="27305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9E5C0D9D-1A5E-E043-9D56-A0D19D56D1D0}"/>
              </a:ext>
            </a:extLst>
          </p:cNvPr>
          <p:cNvSpPr txBox="1"/>
          <p:nvPr/>
        </p:nvSpPr>
        <p:spPr>
          <a:xfrm>
            <a:off x="810641" y="1116729"/>
            <a:ext cx="5214620" cy="186436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宋体"/>
                <a:cs typeface="宋体"/>
              </a:rPr>
              <a:t>实现方法</a:t>
            </a:r>
            <a:endParaRPr sz="28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1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选取固定位置主元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dirty="0">
                <a:latin typeface="宋体"/>
                <a:cs typeface="宋体"/>
              </a:rPr>
              <a:t>（</a:t>
            </a:r>
            <a:r>
              <a:rPr sz="2400" dirty="0" err="1">
                <a:latin typeface="宋体"/>
                <a:cs typeface="宋体"/>
              </a:rPr>
              <a:t>如尾元素</a:t>
            </a:r>
            <a:r>
              <a:rPr sz="2400" spc="-50" dirty="0">
                <a:latin typeface="宋体"/>
                <a:cs typeface="宋体"/>
              </a:rPr>
              <a:t>）</a:t>
            </a:r>
            <a:endParaRPr sz="24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维护两个部分的右端点变量</a:t>
            </a:r>
            <a:r>
              <a:rPr sz="2400" spc="-10" dirty="0">
                <a:latin typeface="Cambria Math"/>
                <a:cs typeface="Cambria Math"/>
              </a:rPr>
              <a:t>𝒊</a:t>
            </a:r>
            <a:r>
              <a:rPr sz="2400" spc="-75" dirty="0">
                <a:latin typeface="Cambria Math"/>
                <a:cs typeface="Cambria Math"/>
              </a:rPr>
              <a:t>, </a:t>
            </a:r>
            <a:r>
              <a:rPr sz="2400" spc="-50" dirty="0">
                <a:latin typeface="Cambria Math"/>
                <a:cs typeface="Cambria Math"/>
              </a:rPr>
              <a:t>𝒋</a:t>
            </a:r>
            <a:endParaRPr sz="2400" dirty="0">
              <a:latin typeface="Cambria Math"/>
              <a:cs typeface="Cambria Math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考察数组元素</a:t>
            </a:r>
            <a:r>
              <a:rPr sz="2400" dirty="0">
                <a:latin typeface="Cambria Math"/>
                <a:cs typeface="Cambria Math"/>
              </a:rPr>
              <a:t>𝑨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𝒋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400" dirty="0">
                <a:latin typeface="宋体"/>
                <a:cs typeface="宋体"/>
              </a:rPr>
              <a:t>，</a:t>
            </a:r>
            <a:r>
              <a:rPr sz="2400" spc="-10" dirty="0" err="1">
                <a:solidFill>
                  <a:srgbClr val="FF0000"/>
                </a:solidFill>
                <a:latin typeface="宋体"/>
                <a:cs typeface="宋体"/>
              </a:rPr>
              <a:t>只和主元比较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DC786AE0-1C2B-B34F-BA04-C19C6AE5C2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3334" y="155137"/>
            <a:ext cx="393243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数组划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分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A97F6C9E-23AB-2F49-B8AD-AB37D7F6FE55}"/>
              </a:ext>
            </a:extLst>
          </p:cNvPr>
          <p:cNvGraphicFramePr>
            <a:graphicFrameLocks noGrp="1"/>
          </p:cNvGraphicFramePr>
          <p:nvPr/>
        </p:nvGraphicFramePr>
        <p:xfrm>
          <a:off x="6954901" y="1016761"/>
          <a:ext cx="4607558" cy="584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7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1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835">
                <a:tc>
                  <a:txBody>
                    <a:bodyPr/>
                    <a:lstStyle/>
                    <a:p>
                      <a:pPr marL="5581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>
                          <a:latin typeface="Cambria Math"/>
                          <a:cs typeface="Cambria Math"/>
                        </a:rPr>
                        <a:t>≤</a:t>
                      </a:r>
                      <a:r>
                        <a:rPr sz="2600" spc="1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600" spc="-50"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27051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>
                          <a:latin typeface="Cambria Math"/>
                          <a:cs typeface="Cambria Math"/>
                        </a:rPr>
                        <a:t>&gt;</a:t>
                      </a:r>
                      <a:r>
                        <a:rPr sz="2600" spc="1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600" spc="-50"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200" spc="-20">
                          <a:latin typeface="宋体"/>
                          <a:cs typeface="宋体"/>
                        </a:rPr>
                        <a:t>待考察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T="901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object 12">
            <a:extLst>
              <a:ext uri="{FF2B5EF4-FFF2-40B4-BE49-F238E27FC236}">
                <a16:creationId xmlns:a16="http://schemas.microsoft.com/office/drawing/2014/main" id="{C2671A58-D833-804A-9367-BD6F289041A9}"/>
              </a:ext>
            </a:extLst>
          </p:cNvPr>
          <p:cNvSpPr/>
          <p:nvPr/>
        </p:nvSpPr>
        <p:spPr>
          <a:xfrm>
            <a:off x="8643366" y="1646682"/>
            <a:ext cx="114300" cy="335915"/>
          </a:xfrm>
          <a:custGeom>
            <a:avLst/>
            <a:gdLst/>
            <a:ahLst/>
            <a:cxnLst/>
            <a:rect l="l" t="t" r="r" b="b"/>
            <a:pathLst>
              <a:path w="114300" h="335914">
                <a:moveTo>
                  <a:pt x="76200" y="95250"/>
                </a:moveTo>
                <a:lnTo>
                  <a:pt x="38100" y="95250"/>
                </a:lnTo>
                <a:lnTo>
                  <a:pt x="38100" y="335788"/>
                </a:lnTo>
                <a:lnTo>
                  <a:pt x="76200" y="335788"/>
                </a:lnTo>
                <a:lnTo>
                  <a:pt x="76200" y="95250"/>
                </a:lnTo>
                <a:close/>
              </a:path>
              <a:path w="114300" h="335914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335914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D6580AAE-2011-D54F-AD29-B848A18F9B79}"/>
              </a:ext>
            </a:extLst>
          </p:cNvPr>
          <p:cNvSpPr txBox="1"/>
          <p:nvPr/>
        </p:nvSpPr>
        <p:spPr>
          <a:xfrm>
            <a:off x="8636254" y="1991613"/>
            <a:ext cx="129539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06AFC6E8-C47A-6440-8FA1-97D8CEE0D16C}"/>
              </a:ext>
            </a:extLst>
          </p:cNvPr>
          <p:cNvSpPr/>
          <p:nvPr/>
        </p:nvSpPr>
        <p:spPr>
          <a:xfrm>
            <a:off x="9792461" y="1652777"/>
            <a:ext cx="114300" cy="358140"/>
          </a:xfrm>
          <a:custGeom>
            <a:avLst/>
            <a:gdLst/>
            <a:ahLst/>
            <a:cxnLst/>
            <a:rect l="l" t="t" r="r" b="b"/>
            <a:pathLst>
              <a:path w="114300" h="358139">
                <a:moveTo>
                  <a:pt x="76202" y="114172"/>
                </a:moveTo>
                <a:lnTo>
                  <a:pt x="38102" y="114426"/>
                </a:lnTo>
                <a:lnTo>
                  <a:pt x="39751" y="357886"/>
                </a:lnTo>
                <a:lnTo>
                  <a:pt x="77851" y="357632"/>
                </a:lnTo>
                <a:lnTo>
                  <a:pt x="76202" y="114172"/>
                </a:lnTo>
                <a:close/>
              </a:path>
              <a:path w="114300" h="358139">
                <a:moveTo>
                  <a:pt x="56388" y="0"/>
                </a:moveTo>
                <a:lnTo>
                  <a:pt x="0" y="114681"/>
                </a:lnTo>
                <a:lnTo>
                  <a:pt x="38102" y="114426"/>
                </a:lnTo>
                <a:lnTo>
                  <a:pt x="37973" y="95376"/>
                </a:lnTo>
                <a:lnTo>
                  <a:pt x="104744" y="95123"/>
                </a:lnTo>
                <a:lnTo>
                  <a:pt x="56388" y="0"/>
                </a:lnTo>
                <a:close/>
              </a:path>
              <a:path w="114300" h="358139">
                <a:moveTo>
                  <a:pt x="76073" y="95123"/>
                </a:moveTo>
                <a:lnTo>
                  <a:pt x="37973" y="95376"/>
                </a:lnTo>
                <a:lnTo>
                  <a:pt x="38102" y="114426"/>
                </a:lnTo>
                <a:lnTo>
                  <a:pt x="76202" y="114172"/>
                </a:lnTo>
                <a:lnTo>
                  <a:pt x="76073" y="95123"/>
                </a:lnTo>
                <a:close/>
              </a:path>
              <a:path w="114300" h="358139">
                <a:moveTo>
                  <a:pt x="104744" y="95123"/>
                </a:moveTo>
                <a:lnTo>
                  <a:pt x="76073" y="95123"/>
                </a:lnTo>
                <a:lnTo>
                  <a:pt x="76202" y="114172"/>
                </a:lnTo>
                <a:lnTo>
                  <a:pt x="114300" y="113919"/>
                </a:lnTo>
                <a:lnTo>
                  <a:pt x="104744" y="951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6673C368-16C0-A042-B136-CF9B71C68CB2}"/>
              </a:ext>
            </a:extLst>
          </p:cNvPr>
          <p:cNvSpPr txBox="1"/>
          <p:nvPr/>
        </p:nvSpPr>
        <p:spPr>
          <a:xfrm>
            <a:off x="9785095" y="1982977"/>
            <a:ext cx="13462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830673B-00DE-A84A-A27F-FD5DDC946169}"/>
              </a:ext>
            </a:extLst>
          </p:cNvPr>
          <p:cNvSpPr txBox="1"/>
          <p:nvPr/>
        </p:nvSpPr>
        <p:spPr>
          <a:xfrm>
            <a:off x="1137062" y="3076744"/>
            <a:ext cx="9945584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  <a:tabLst>
                <a:tab pos="306705" algn="l"/>
                <a:tab pos="1151255" algn="l"/>
              </a:tabLst>
            </a:pPr>
            <a:r>
              <a:rPr lang="en" altLang="zh-CN" sz="120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lang="en" altLang="zh-CN" sz="120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lang="zh-CN" altLang="en-US" sz="1800" dirty="0">
                <a:latin typeface="宋体"/>
                <a:cs typeface="宋体"/>
              </a:rPr>
              <a:t>若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zh-CN" altLang="en-US" sz="1800" spc="260" dirty="0">
                <a:latin typeface="Cambria Math"/>
                <a:cs typeface="Cambria Math"/>
              </a:rPr>
              <a:t> </a:t>
            </a:r>
            <a:r>
              <a:rPr lang="zh-CN" altLang="en-US" sz="1800" spc="-5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Cambria Math"/>
                <a:cs typeface="Cambria Math"/>
              </a:rPr>
              <a:t>	≤</a:t>
            </a:r>
            <a:r>
              <a:rPr lang="zh-CN" altLang="en-US" sz="1800" spc="150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𝒙</a:t>
            </a:r>
            <a:r>
              <a:rPr lang="zh-CN" altLang="en-US" sz="1800" spc="-10" dirty="0">
                <a:latin typeface="宋体"/>
                <a:cs typeface="宋体"/>
              </a:rPr>
              <a:t>，</a:t>
            </a:r>
            <a:r>
              <a:rPr lang="zh-CN" altLang="en-US" sz="1800" dirty="0">
                <a:latin typeface="宋体"/>
                <a:cs typeface="宋体"/>
              </a:rPr>
              <a:t>则交换</a:t>
            </a:r>
            <a:r>
              <a:rPr lang="zh-CN" altLang="en-US" sz="1800" spc="-10" dirty="0">
                <a:latin typeface="Cambria Math"/>
                <a:cs typeface="Cambria Math"/>
              </a:rPr>
              <a:t>𝑨</a:t>
            </a:r>
            <a:r>
              <a:rPr lang="en-US" altLang="zh-CN" sz="1800" spc="-10" dirty="0">
                <a:latin typeface="Cambria Math"/>
                <a:cs typeface="Cambria Math"/>
              </a:rPr>
              <a:t>[𝒋]</a:t>
            </a:r>
            <a:r>
              <a:rPr lang="zh-CN" altLang="en-US" sz="1800" dirty="0">
                <a:latin typeface="宋体"/>
                <a:cs typeface="宋体"/>
              </a:rPr>
              <a:t>和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en-US" altLang="zh-CN" sz="1800" dirty="0">
                <a:latin typeface="Cambria Math"/>
                <a:cs typeface="Cambria Math"/>
              </a:rPr>
              <a:t>[𝒊</a:t>
            </a:r>
            <a:r>
              <a:rPr lang="zh-CN" altLang="en-US" sz="1800" spc="20" dirty="0">
                <a:latin typeface="Cambria Math"/>
                <a:cs typeface="Cambria Math"/>
              </a:rPr>
              <a:t> </a:t>
            </a:r>
            <a:r>
              <a:rPr lang="en-US" altLang="zh-CN" sz="1800" dirty="0">
                <a:latin typeface="Cambria Math"/>
                <a:cs typeface="Cambria Math"/>
              </a:rPr>
              <a:t>+</a:t>
            </a:r>
            <a:r>
              <a:rPr lang="zh-CN" altLang="en-US" sz="1800" spc="20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𝟏</a:t>
            </a:r>
            <a:r>
              <a:rPr lang="en-US" altLang="zh-CN" sz="1800" spc="-10" dirty="0">
                <a:latin typeface="Cambria Math"/>
                <a:cs typeface="Cambria Math"/>
              </a:rPr>
              <a:t>]</a:t>
            </a:r>
            <a:r>
              <a:rPr lang="zh-CN" altLang="en-US" sz="1800" b="1" spc="-10" dirty="0">
                <a:latin typeface="微软雅黑"/>
                <a:cs typeface="微软雅黑"/>
              </a:rPr>
              <a:t>，</a:t>
            </a:r>
            <a:r>
              <a:rPr lang="zh-CN" altLang="en-US" sz="1800" spc="-10" dirty="0">
                <a:latin typeface="Cambria Math"/>
                <a:cs typeface="Cambria Math"/>
              </a:rPr>
              <a:t>𝒊</a:t>
            </a:r>
            <a:r>
              <a:rPr lang="en-US" altLang="zh-CN" sz="1800" spc="-10" dirty="0">
                <a:latin typeface="Cambria Math"/>
                <a:cs typeface="Cambria Math"/>
              </a:rPr>
              <a:t>,</a:t>
            </a:r>
            <a:r>
              <a:rPr lang="zh-CN" altLang="en-US" sz="1800" spc="-110" dirty="0">
                <a:latin typeface="Cambria Math"/>
                <a:cs typeface="Cambria Math"/>
              </a:rPr>
              <a:t> </a:t>
            </a:r>
            <a:r>
              <a:rPr lang="zh-CN" altLang="en-US" sz="1800" spc="-15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宋体"/>
                <a:cs typeface="宋体"/>
              </a:rPr>
              <a:t>右</a:t>
            </a:r>
            <a:r>
              <a:rPr lang="zh-CN" altLang="en-US" sz="1800" spc="-50" dirty="0">
                <a:latin typeface="宋体"/>
                <a:cs typeface="宋体"/>
              </a:rPr>
              <a:t>移</a:t>
            </a:r>
            <a:endParaRPr lang="zh-CN" altLang="en-US" sz="18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  <a:tabLst>
                <a:tab pos="306705" algn="l"/>
                <a:tab pos="1151255" algn="l"/>
              </a:tabLst>
            </a:pPr>
            <a:r>
              <a:rPr lang="en" altLang="zh-CN" sz="120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lang="en" altLang="zh-CN" sz="120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lang="zh-CN" altLang="en-US" sz="1800" dirty="0">
                <a:latin typeface="宋体"/>
                <a:cs typeface="宋体"/>
              </a:rPr>
              <a:t>若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zh-CN" altLang="en-US" sz="1800" spc="260" dirty="0">
                <a:latin typeface="Cambria Math"/>
                <a:cs typeface="Cambria Math"/>
              </a:rPr>
              <a:t> </a:t>
            </a:r>
            <a:r>
              <a:rPr lang="zh-CN" altLang="en-US" sz="1800" spc="-5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Cambria Math"/>
                <a:cs typeface="Cambria Math"/>
              </a:rPr>
              <a:t>	</a:t>
            </a:r>
            <a:r>
              <a:rPr lang="en-US" altLang="zh-CN" sz="1800" dirty="0">
                <a:latin typeface="Cambria Math"/>
                <a:cs typeface="Cambria Math"/>
              </a:rPr>
              <a:t>&gt;</a:t>
            </a:r>
            <a:r>
              <a:rPr lang="zh-CN" altLang="en-US" sz="1800" spc="145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𝒙</a:t>
            </a:r>
            <a:r>
              <a:rPr lang="zh-CN" altLang="en-US" sz="1800" spc="-10" dirty="0">
                <a:latin typeface="宋体"/>
                <a:cs typeface="宋体"/>
              </a:rPr>
              <a:t>，</a:t>
            </a:r>
            <a:r>
              <a:rPr lang="zh-CN" altLang="en-US" sz="1800" dirty="0">
                <a:latin typeface="宋体"/>
                <a:cs typeface="宋体"/>
              </a:rPr>
              <a:t>则</a:t>
            </a:r>
            <a:r>
              <a:rPr lang="zh-CN" altLang="en-US" sz="1800" spc="-1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宋体"/>
                <a:cs typeface="宋体"/>
              </a:rPr>
              <a:t>右</a:t>
            </a:r>
            <a:r>
              <a:rPr lang="zh-CN" altLang="en-US" sz="1800" spc="-50" dirty="0">
                <a:latin typeface="宋体"/>
                <a:cs typeface="宋体"/>
              </a:rPr>
              <a:t>移</a:t>
            </a:r>
            <a:endParaRPr lang="zh-CN" altLang="en-US" sz="1800" dirty="0">
              <a:latin typeface="宋体"/>
              <a:cs typeface="宋体"/>
            </a:endParaRPr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70F2CA58-0D9B-154C-ABA0-FD5263B6C2A3}"/>
              </a:ext>
            </a:extLst>
          </p:cNvPr>
          <p:cNvSpPr/>
          <p:nvPr/>
        </p:nvSpPr>
        <p:spPr>
          <a:xfrm>
            <a:off x="2114848" y="313604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5019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F3181DB3-0DC6-4E47-A5ED-B272C280CCAB}"/>
              </a:ext>
            </a:extLst>
          </p:cNvPr>
          <p:cNvSpPr/>
          <p:nvPr/>
        </p:nvSpPr>
        <p:spPr>
          <a:xfrm>
            <a:off x="1934381" y="313604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22733" y="25019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BAA07E5-D026-CC46-B282-E1274A5953C1}"/>
              </a:ext>
            </a:extLst>
          </p:cNvPr>
          <p:cNvSpPr txBox="1"/>
          <p:nvPr/>
        </p:nvSpPr>
        <p:spPr>
          <a:xfrm>
            <a:off x="7742712" y="3493582"/>
            <a:ext cx="697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080" algn="r">
              <a:lnSpc>
                <a:spcPct val="100000"/>
              </a:lnSpc>
              <a:spcBef>
                <a:spcPts val="695"/>
              </a:spcBef>
            </a:pPr>
            <a:r>
              <a:rPr lang="zh-CN" altLang="en-US" sz="1800" spc="-25" dirty="0">
                <a:latin typeface="宋体"/>
                <a:cs typeface="宋体"/>
              </a:rPr>
              <a:t>主元</a:t>
            </a:r>
            <a:endParaRPr lang="zh-CN" altLang="en-US" sz="1800" dirty="0">
              <a:latin typeface="宋体"/>
              <a:cs typeface="宋体"/>
            </a:endParaRPr>
          </a:p>
        </p:txBody>
      </p:sp>
      <p:graphicFrame>
        <p:nvGraphicFramePr>
          <p:cNvPr id="17" name="object 12">
            <a:extLst>
              <a:ext uri="{FF2B5EF4-FFF2-40B4-BE49-F238E27FC236}">
                <a16:creationId xmlns:a16="http://schemas.microsoft.com/office/drawing/2014/main" id="{E6848491-FFFB-954E-8A3D-1867628095A7}"/>
              </a:ext>
            </a:extLst>
          </p:cNvPr>
          <p:cNvGraphicFramePr>
            <a:graphicFrameLocks noGrp="1"/>
          </p:cNvGraphicFramePr>
          <p:nvPr/>
        </p:nvGraphicFramePr>
        <p:xfrm>
          <a:off x="3772661" y="4178934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object 14">
            <a:extLst>
              <a:ext uri="{FF2B5EF4-FFF2-40B4-BE49-F238E27FC236}">
                <a16:creationId xmlns:a16="http://schemas.microsoft.com/office/drawing/2014/main" id="{557DD26D-F0C6-3D45-90D3-2DA713FDE95B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5">
            <a:extLst>
              <a:ext uri="{FF2B5EF4-FFF2-40B4-BE49-F238E27FC236}">
                <a16:creationId xmlns:a16="http://schemas.microsoft.com/office/drawing/2014/main" id="{FFE67AB4-3044-CD43-B4D1-78A0BC0315A7}"/>
              </a:ext>
            </a:extLst>
          </p:cNvPr>
          <p:cNvSpPr/>
          <p:nvPr/>
        </p:nvSpPr>
        <p:spPr>
          <a:xfrm>
            <a:off x="5108447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6">
            <a:extLst>
              <a:ext uri="{FF2B5EF4-FFF2-40B4-BE49-F238E27FC236}">
                <a16:creationId xmlns:a16="http://schemas.microsoft.com/office/drawing/2014/main" id="{D5971063-088A-3A4D-9159-28DBDA7E8BA5}"/>
              </a:ext>
            </a:extLst>
          </p:cNvPr>
          <p:cNvSpPr/>
          <p:nvPr/>
        </p:nvSpPr>
        <p:spPr>
          <a:xfrm>
            <a:off x="5800344" y="4791455"/>
            <a:ext cx="2334260" cy="384175"/>
          </a:xfrm>
          <a:custGeom>
            <a:avLst/>
            <a:gdLst/>
            <a:ahLst/>
            <a:cxnLst/>
            <a:rect l="l" t="t" r="r" b="b"/>
            <a:pathLst>
              <a:path w="2334259" h="384175">
                <a:moveTo>
                  <a:pt x="2334006" y="96012"/>
                </a:moveTo>
                <a:lnTo>
                  <a:pt x="2237994" y="0"/>
                </a:lnTo>
                <a:lnTo>
                  <a:pt x="2141982" y="96012"/>
                </a:lnTo>
                <a:lnTo>
                  <a:pt x="2218055" y="96012"/>
                </a:lnTo>
                <a:lnTo>
                  <a:pt x="2218055" y="344297"/>
                </a:lnTo>
                <a:lnTo>
                  <a:pt x="1133856" y="344297"/>
                </a:lnTo>
                <a:lnTo>
                  <a:pt x="1078992" y="344297"/>
                </a:lnTo>
                <a:lnTo>
                  <a:pt x="115951" y="344297"/>
                </a:lnTo>
                <a:lnTo>
                  <a:pt x="115951" y="96012"/>
                </a:lnTo>
                <a:lnTo>
                  <a:pt x="192024" y="96012"/>
                </a:lnTo>
                <a:lnTo>
                  <a:pt x="96012" y="0"/>
                </a:lnTo>
                <a:lnTo>
                  <a:pt x="0" y="96012"/>
                </a:lnTo>
                <a:lnTo>
                  <a:pt x="76073" y="96012"/>
                </a:lnTo>
                <a:lnTo>
                  <a:pt x="76073" y="384048"/>
                </a:lnTo>
                <a:lnTo>
                  <a:pt x="1078992" y="384048"/>
                </a:lnTo>
                <a:lnTo>
                  <a:pt x="1133856" y="384048"/>
                </a:lnTo>
                <a:lnTo>
                  <a:pt x="2257933" y="384048"/>
                </a:lnTo>
                <a:lnTo>
                  <a:pt x="2257933" y="96012"/>
                </a:lnTo>
                <a:lnTo>
                  <a:pt x="2334006" y="960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2">
            <a:extLst>
              <a:ext uri="{FF2B5EF4-FFF2-40B4-BE49-F238E27FC236}">
                <a16:creationId xmlns:a16="http://schemas.microsoft.com/office/drawing/2014/main" id="{C7684A90-DA63-6740-B302-17F533B24890}"/>
              </a:ext>
            </a:extLst>
          </p:cNvPr>
          <p:cNvSpPr txBox="1"/>
          <p:nvPr/>
        </p:nvSpPr>
        <p:spPr>
          <a:xfrm>
            <a:off x="6638797" y="5220238"/>
            <a:ext cx="58483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10"/>
              </a:lnSpc>
            </a:pPr>
            <a:r>
              <a:rPr sz="2200" spc="-25">
                <a:latin typeface="宋体"/>
                <a:cs typeface="宋体"/>
              </a:rPr>
              <a:t>交换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25" name="object 23">
            <a:extLst>
              <a:ext uri="{FF2B5EF4-FFF2-40B4-BE49-F238E27FC236}">
                <a16:creationId xmlns:a16="http://schemas.microsoft.com/office/drawing/2014/main" id="{6EE993EB-90C4-5D4E-AC32-9D2A6EA5B927}"/>
              </a:ext>
            </a:extLst>
          </p:cNvPr>
          <p:cNvSpPr txBox="1"/>
          <p:nvPr/>
        </p:nvSpPr>
        <p:spPr>
          <a:xfrm>
            <a:off x="5121655" y="5362075"/>
            <a:ext cx="129539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7" name="object 10">
            <a:extLst>
              <a:ext uri="{FF2B5EF4-FFF2-40B4-BE49-F238E27FC236}">
                <a16:creationId xmlns:a16="http://schemas.microsoft.com/office/drawing/2014/main" id="{C6A78C26-1583-C04B-935F-03E22BB38932}"/>
              </a:ext>
            </a:extLst>
          </p:cNvPr>
          <p:cNvSpPr txBox="1"/>
          <p:nvPr/>
        </p:nvSpPr>
        <p:spPr>
          <a:xfrm>
            <a:off x="1163390" y="3749254"/>
            <a:ext cx="37261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045" indent="-347980">
              <a:lnSpc>
                <a:spcPct val="100000"/>
              </a:lnSpc>
              <a:spcBef>
                <a:spcPts val="10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360045" algn="l"/>
                <a:tab pos="360680" algn="l"/>
              </a:tabLst>
            </a:pPr>
            <a:r>
              <a:rPr sz="2400" spc="-5" dirty="0" err="1">
                <a:latin typeface="宋体"/>
                <a:cs typeface="宋体"/>
              </a:rPr>
              <a:t>把主元放在中间作分界线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28" name="object 7">
            <a:extLst>
              <a:ext uri="{FF2B5EF4-FFF2-40B4-BE49-F238E27FC236}">
                <a16:creationId xmlns:a16="http://schemas.microsoft.com/office/drawing/2014/main" id="{4D219997-4786-2E40-87F6-26389F8195E4}"/>
              </a:ext>
            </a:extLst>
          </p:cNvPr>
          <p:cNvSpPr/>
          <p:nvPr/>
        </p:nvSpPr>
        <p:spPr>
          <a:xfrm>
            <a:off x="2114848" y="3503005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4892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8">
            <a:extLst>
              <a:ext uri="{FF2B5EF4-FFF2-40B4-BE49-F238E27FC236}">
                <a16:creationId xmlns:a16="http://schemas.microsoft.com/office/drawing/2014/main" id="{D9B7F79F-96B5-D943-8B56-F49B42F785A0}"/>
              </a:ext>
            </a:extLst>
          </p:cNvPr>
          <p:cNvSpPr/>
          <p:nvPr/>
        </p:nvSpPr>
        <p:spPr>
          <a:xfrm>
            <a:off x="1934381" y="3503005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22733" y="24892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9156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28F3ACF1-C2FA-064D-8E76-B83D14D14925}"/>
              </a:ext>
            </a:extLst>
          </p:cNvPr>
          <p:cNvSpPr/>
          <p:nvPr/>
        </p:nvSpPr>
        <p:spPr>
          <a:xfrm>
            <a:off x="3762444" y="2659278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305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F3BC2B55-DC54-9E49-B82D-D641281A762A}"/>
              </a:ext>
            </a:extLst>
          </p:cNvPr>
          <p:cNvSpPr/>
          <p:nvPr/>
        </p:nvSpPr>
        <p:spPr>
          <a:xfrm>
            <a:off x="3564451" y="2659278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24765" y="27305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9E5C0D9D-1A5E-E043-9D56-A0D19D56D1D0}"/>
              </a:ext>
            </a:extLst>
          </p:cNvPr>
          <p:cNvSpPr txBox="1"/>
          <p:nvPr/>
        </p:nvSpPr>
        <p:spPr>
          <a:xfrm>
            <a:off x="810641" y="1116729"/>
            <a:ext cx="5214620" cy="186436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宋体"/>
                <a:cs typeface="宋体"/>
              </a:rPr>
              <a:t>实现方法</a:t>
            </a:r>
            <a:endParaRPr sz="28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1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选取固定位置主元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dirty="0">
                <a:latin typeface="宋体"/>
                <a:cs typeface="宋体"/>
              </a:rPr>
              <a:t>（</a:t>
            </a:r>
            <a:r>
              <a:rPr sz="2400" dirty="0" err="1">
                <a:latin typeface="宋体"/>
                <a:cs typeface="宋体"/>
              </a:rPr>
              <a:t>如尾元素</a:t>
            </a:r>
            <a:r>
              <a:rPr sz="2400" spc="-50" dirty="0">
                <a:latin typeface="宋体"/>
                <a:cs typeface="宋体"/>
              </a:rPr>
              <a:t>）</a:t>
            </a:r>
            <a:endParaRPr sz="24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维护两个部分的右端点变量</a:t>
            </a:r>
            <a:r>
              <a:rPr sz="2400" spc="-10" dirty="0">
                <a:latin typeface="Cambria Math"/>
                <a:cs typeface="Cambria Math"/>
              </a:rPr>
              <a:t>𝒊</a:t>
            </a:r>
            <a:r>
              <a:rPr sz="2400" spc="-75" dirty="0">
                <a:latin typeface="Cambria Math"/>
                <a:cs typeface="Cambria Math"/>
              </a:rPr>
              <a:t>, </a:t>
            </a:r>
            <a:r>
              <a:rPr sz="2400" spc="-50" dirty="0">
                <a:latin typeface="Cambria Math"/>
                <a:cs typeface="Cambria Math"/>
              </a:rPr>
              <a:t>𝒋</a:t>
            </a:r>
            <a:endParaRPr sz="2400" dirty="0">
              <a:latin typeface="Cambria Math"/>
              <a:cs typeface="Cambria Math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考察数组元素</a:t>
            </a:r>
            <a:r>
              <a:rPr sz="2400" dirty="0">
                <a:latin typeface="Cambria Math"/>
                <a:cs typeface="Cambria Math"/>
              </a:rPr>
              <a:t>𝑨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𝒋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400" dirty="0">
                <a:latin typeface="宋体"/>
                <a:cs typeface="宋体"/>
              </a:rPr>
              <a:t>，</a:t>
            </a:r>
            <a:r>
              <a:rPr sz="2400" spc="-10" dirty="0" err="1">
                <a:solidFill>
                  <a:srgbClr val="FF0000"/>
                </a:solidFill>
                <a:latin typeface="宋体"/>
                <a:cs typeface="宋体"/>
              </a:rPr>
              <a:t>只和主元比较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DC786AE0-1C2B-B34F-BA04-C19C6AE5C2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3334" y="155137"/>
            <a:ext cx="393243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数组划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分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A97F6C9E-23AB-2F49-B8AD-AB37D7F6FE55}"/>
              </a:ext>
            </a:extLst>
          </p:cNvPr>
          <p:cNvGraphicFramePr>
            <a:graphicFrameLocks noGrp="1"/>
          </p:cNvGraphicFramePr>
          <p:nvPr/>
        </p:nvGraphicFramePr>
        <p:xfrm>
          <a:off x="6954901" y="1016761"/>
          <a:ext cx="4607558" cy="584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7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1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835">
                <a:tc>
                  <a:txBody>
                    <a:bodyPr/>
                    <a:lstStyle/>
                    <a:p>
                      <a:pPr marL="5581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>
                          <a:latin typeface="Cambria Math"/>
                          <a:cs typeface="Cambria Math"/>
                        </a:rPr>
                        <a:t>≤</a:t>
                      </a:r>
                      <a:r>
                        <a:rPr sz="2600" spc="1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600" spc="-50"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27051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>
                          <a:latin typeface="Cambria Math"/>
                          <a:cs typeface="Cambria Math"/>
                        </a:rPr>
                        <a:t>&gt;</a:t>
                      </a:r>
                      <a:r>
                        <a:rPr sz="2600" spc="1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600" spc="-50"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200" spc="-20">
                          <a:latin typeface="宋体"/>
                          <a:cs typeface="宋体"/>
                        </a:rPr>
                        <a:t>待考察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T="901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object 12">
            <a:extLst>
              <a:ext uri="{FF2B5EF4-FFF2-40B4-BE49-F238E27FC236}">
                <a16:creationId xmlns:a16="http://schemas.microsoft.com/office/drawing/2014/main" id="{C2671A58-D833-804A-9367-BD6F289041A9}"/>
              </a:ext>
            </a:extLst>
          </p:cNvPr>
          <p:cNvSpPr/>
          <p:nvPr/>
        </p:nvSpPr>
        <p:spPr>
          <a:xfrm>
            <a:off x="8643366" y="1646682"/>
            <a:ext cx="114300" cy="335915"/>
          </a:xfrm>
          <a:custGeom>
            <a:avLst/>
            <a:gdLst/>
            <a:ahLst/>
            <a:cxnLst/>
            <a:rect l="l" t="t" r="r" b="b"/>
            <a:pathLst>
              <a:path w="114300" h="335914">
                <a:moveTo>
                  <a:pt x="76200" y="95250"/>
                </a:moveTo>
                <a:lnTo>
                  <a:pt x="38100" y="95250"/>
                </a:lnTo>
                <a:lnTo>
                  <a:pt x="38100" y="335788"/>
                </a:lnTo>
                <a:lnTo>
                  <a:pt x="76200" y="335788"/>
                </a:lnTo>
                <a:lnTo>
                  <a:pt x="76200" y="95250"/>
                </a:lnTo>
                <a:close/>
              </a:path>
              <a:path w="114300" h="335914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335914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D6580AAE-2011-D54F-AD29-B848A18F9B79}"/>
              </a:ext>
            </a:extLst>
          </p:cNvPr>
          <p:cNvSpPr txBox="1"/>
          <p:nvPr/>
        </p:nvSpPr>
        <p:spPr>
          <a:xfrm>
            <a:off x="8636254" y="1991613"/>
            <a:ext cx="129539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06AFC6E8-C47A-6440-8FA1-97D8CEE0D16C}"/>
              </a:ext>
            </a:extLst>
          </p:cNvPr>
          <p:cNvSpPr/>
          <p:nvPr/>
        </p:nvSpPr>
        <p:spPr>
          <a:xfrm>
            <a:off x="9792461" y="1652777"/>
            <a:ext cx="114300" cy="358140"/>
          </a:xfrm>
          <a:custGeom>
            <a:avLst/>
            <a:gdLst/>
            <a:ahLst/>
            <a:cxnLst/>
            <a:rect l="l" t="t" r="r" b="b"/>
            <a:pathLst>
              <a:path w="114300" h="358139">
                <a:moveTo>
                  <a:pt x="76202" y="114172"/>
                </a:moveTo>
                <a:lnTo>
                  <a:pt x="38102" y="114426"/>
                </a:lnTo>
                <a:lnTo>
                  <a:pt x="39751" y="357886"/>
                </a:lnTo>
                <a:lnTo>
                  <a:pt x="77851" y="357632"/>
                </a:lnTo>
                <a:lnTo>
                  <a:pt x="76202" y="114172"/>
                </a:lnTo>
                <a:close/>
              </a:path>
              <a:path w="114300" h="358139">
                <a:moveTo>
                  <a:pt x="56388" y="0"/>
                </a:moveTo>
                <a:lnTo>
                  <a:pt x="0" y="114681"/>
                </a:lnTo>
                <a:lnTo>
                  <a:pt x="38102" y="114426"/>
                </a:lnTo>
                <a:lnTo>
                  <a:pt x="37973" y="95376"/>
                </a:lnTo>
                <a:lnTo>
                  <a:pt x="104744" y="95123"/>
                </a:lnTo>
                <a:lnTo>
                  <a:pt x="56388" y="0"/>
                </a:lnTo>
                <a:close/>
              </a:path>
              <a:path w="114300" h="358139">
                <a:moveTo>
                  <a:pt x="76073" y="95123"/>
                </a:moveTo>
                <a:lnTo>
                  <a:pt x="37973" y="95376"/>
                </a:lnTo>
                <a:lnTo>
                  <a:pt x="38102" y="114426"/>
                </a:lnTo>
                <a:lnTo>
                  <a:pt x="76202" y="114172"/>
                </a:lnTo>
                <a:lnTo>
                  <a:pt x="76073" y="95123"/>
                </a:lnTo>
                <a:close/>
              </a:path>
              <a:path w="114300" h="358139">
                <a:moveTo>
                  <a:pt x="104744" y="95123"/>
                </a:moveTo>
                <a:lnTo>
                  <a:pt x="76073" y="95123"/>
                </a:lnTo>
                <a:lnTo>
                  <a:pt x="76202" y="114172"/>
                </a:lnTo>
                <a:lnTo>
                  <a:pt x="114300" y="113919"/>
                </a:lnTo>
                <a:lnTo>
                  <a:pt x="104744" y="951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6673C368-16C0-A042-B136-CF9B71C68CB2}"/>
              </a:ext>
            </a:extLst>
          </p:cNvPr>
          <p:cNvSpPr txBox="1"/>
          <p:nvPr/>
        </p:nvSpPr>
        <p:spPr>
          <a:xfrm>
            <a:off x="9785095" y="1982977"/>
            <a:ext cx="13462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830673B-00DE-A84A-A27F-FD5DDC946169}"/>
              </a:ext>
            </a:extLst>
          </p:cNvPr>
          <p:cNvSpPr txBox="1"/>
          <p:nvPr/>
        </p:nvSpPr>
        <p:spPr>
          <a:xfrm>
            <a:off x="1137062" y="3076744"/>
            <a:ext cx="9945584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  <a:tabLst>
                <a:tab pos="306705" algn="l"/>
                <a:tab pos="1151255" algn="l"/>
              </a:tabLst>
            </a:pPr>
            <a:r>
              <a:rPr lang="en" altLang="zh-CN" sz="120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lang="en" altLang="zh-CN" sz="120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lang="zh-CN" altLang="en-US" sz="1800" dirty="0">
                <a:latin typeface="宋体"/>
                <a:cs typeface="宋体"/>
              </a:rPr>
              <a:t>若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zh-CN" altLang="en-US" sz="1800" spc="260" dirty="0">
                <a:latin typeface="Cambria Math"/>
                <a:cs typeface="Cambria Math"/>
              </a:rPr>
              <a:t> </a:t>
            </a:r>
            <a:r>
              <a:rPr lang="zh-CN" altLang="en-US" sz="1800" spc="-5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Cambria Math"/>
                <a:cs typeface="Cambria Math"/>
              </a:rPr>
              <a:t>	≤</a:t>
            </a:r>
            <a:r>
              <a:rPr lang="zh-CN" altLang="en-US" sz="1800" spc="150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𝒙</a:t>
            </a:r>
            <a:r>
              <a:rPr lang="zh-CN" altLang="en-US" sz="1800" spc="-10" dirty="0">
                <a:latin typeface="宋体"/>
                <a:cs typeface="宋体"/>
              </a:rPr>
              <a:t>，</a:t>
            </a:r>
            <a:r>
              <a:rPr lang="zh-CN" altLang="en-US" sz="1800" dirty="0">
                <a:latin typeface="宋体"/>
                <a:cs typeface="宋体"/>
              </a:rPr>
              <a:t>则交换</a:t>
            </a:r>
            <a:r>
              <a:rPr lang="zh-CN" altLang="en-US" sz="1800" spc="-10" dirty="0">
                <a:latin typeface="Cambria Math"/>
                <a:cs typeface="Cambria Math"/>
              </a:rPr>
              <a:t>𝑨</a:t>
            </a:r>
            <a:r>
              <a:rPr lang="en-US" altLang="zh-CN" sz="1800" spc="-10" dirty="0">
                <a:latin typeface="Cambria Math"/>
                <a:cs typeface="Cambria Math"/>
              </a:rPr>
              <a:t>[𝒋]</a:t>
            </a:r>
            <a:r>
              <a:rPr lang="zh-CN" altLang="en-US" sz="1800" dirty="0">
                <a:latin typeface="宋体"/>
                <a:cs typeface="宋体"/>
              </a:rPr>
              <a:t>和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en-US" altLang="zh-CN" sz="1800" dirty="0">
                <a:latin typeface="Cambria Math"/>
                <a:cs typeface="Cambria Math"/>
              </a:rPr>
              <a:t>[𝒊</a:t>
            </a:r>
            <a:r>
              <a:rPr lang="zh-CN" altLang="en-US" sz="1800" spc="20" dirty="0">
                <a:latin typeface="Cambria Math"/>
                <a:cs typeface="Cambria Math"/>
              </a:rPr>
              <a:t> </a:t>
            </a:r>
            <a:r>
              <a:rPr lang="en-US" altLang="zh-CN" sz="1800" dirty="0">
                <a:latin typeface="Cambria Math"/>
                <a:cs typeface="Cambria Math"/>
              </a:rPr>
              <a:t>+</a:t>
            </a:r>
            <a:r>
              <a:rPr lang="zh-CN" altLang="en-US" sz="1800" spc="20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𝟏</a:t>
            </a:r>
            <a:r>
              <a:rPr lang="en-US" altLang="zh-CN" sz="1800" spc="-10" dirty="0">
                <a:latin typeface="Cambria Math"/>
                <a:cs typeface="Cambria Math"/>
              </a:rPr>
              <a:t>]</a:t>
            </a:r>
            <a:r>
              <a:rPr lang="zh-CN" altLang="en-US" sz="1800" b="1" spc="-10" dirty="0">
                <a:latin typeface="微软雅黑"/>
                <a:cs typeface="微软雅黑"/>
              </a:rPr>
              <a:t>，</a:t>
            </a:r>
            <a:r>
              <a:rPr lang="zh-CN" altLang="en-US" sz="1800" spc="-10" dirty="0">
                <a:latin typeface="Cambria Math"/>
                <a:cs typeface="Cambria Math"/>
              </a:rPr>
              <a:t>𝒊</a:t>
            </a:r>
            <a:r>
              <a:rPr lang="en-US" altLang="zh-CN" sz="1800" spc="-10" dirty="0">
                <a:latin typeface="Cambria Math"/>
                <a:cs typeface="Cambria Math"/>
              </a:rPr>
              <a:t>,</a:t>
            </a:r>
            <a:r>
              <a:rPr lang="zh-CN" altLang="en-US" sz="1800" spc="-110" dirty="0">
                <a:latin typeface="Cambria Math"/>
                <a:cs typeface="Cambria Math"/>
              </a:rPr>
              <a:t> </a:t>
            </a:r>
            <a:r>
              <a:rPr lang="zh-CN" altLang="en-US" sz="1800" spc="-15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宋体"/>
                <a:cs typeface="宋体"/>
              </a:rPr>
              <a:t>右</a:t>
            </a:r>
            <a:r>
              <a:rPr lang="zh-CN" altLang="en-US" sz="1800" spc="-50" dirty="0">
                <a:latin typeface="宋体"/>
                <a:cs typeface="宋体"/>
              </a:rPr>
              <a:t>移</a:t>
            </a:r>
            <a:endParaRPr lang="zh-CN" altLang="en-US" sz="18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  <a:tabLst>
                <a:tab pos="306705" algn="l"/>
                <a:tab pos="1151255" algn="l"/>
              </a:tabLst>
            </a:pPr>
            <a:r>
              <a:rPr lang="en" altLang="zh-CN" sz="120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lang="en" altLang="zh-CN" sz="120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lang="zh-CN" altLang="en-US" sz="1800" dirty="0">
                <a:latin typeface="宋体"/>
                <a:cs typeface="宋体"/>
              </a:rPr>
              <a:t>若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zh-CN" altLang="en-US" sz="1800" spc="260" dirty="0">
                <a:latin typeface="Cambria Math"/>
                <a:cs typeface="Cambria Math"/>
              </a:rPr>
              <a:t> </a:t>
            </a:r>
            <a:r>
              <a:rPr lang="zh-CN" altLang="en-US" sz="1800" spc="-5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Cambria Math"/>
                <a:cs typeface="Cambria Math"/>
              </a:rPr>
              <a:t>	</a:t>
            </a:r>
            <a:r>
              <a:rPr lang="en-US" altLang="zh-CN" sz="1800" dirty="0">
                <a:latin typeface="Cambria Math"/>
                <a:cs typeface="Cambria Math"/>
              </a:rPr>
              <a:t>&gt;</a:t>
            </a:r>
            <a:r>
              <a:rPr lang="zh-CN" altLang="en-US" sz="1800" spc="145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𝒙</a:t>
            </a:r>
            <a:r>
              <a:rPr lang="zh-CN" altLang="en-US" sz="1800" spc="-10" dirty="0">
                <a:latin typeface="宋体"/>
                <a:cs typeface="宋体"/>
              </a:rPr>
              <a:t>，</a:t>
            </a:r>
            <a:r>
              <a:rPr lang="zh-CN" altLang="en-US" sz="1800" dirty="0">
                <a:latin typeface="宋体"/>
                <a:cs typeface="宋体"/>
              </a:rPr>
              <a:t>则</a:t>
            </a:r>
            <a:r>
              <a:rPr lang="zh-CN" altLang="en-US" sz="1800" spc="-1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宋体"/>
                <a:cs typeface="宋体"/>
              </a:rPr>
              <a:t>右</a:t>
            </a:r>
            <a:r>
              <a:rPr lang="zh-CN" altLang="en-US" sz="1800" spc="-50" dirty="0">
                <a:latin typeface="宋体"/>
                <a:cs typeface="宋体"/>
              </a:rPr>
              <a:t>移</a:t>
            </a:r>
            <a:endParaRPr lang="zh-CN" altLang="en-US" sz="1800" dirty="0">
              <a:latin typeface="宋体"/>
              <a:cs typeface="宋体"/>
            </a:endParaRPr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70F2CA58-0D9B-154C-ABA0-FD5263B6C2A3}"/>
              </a:ext>
            </a:extLst>
          </p:cNvPr>
          <p:cNvSpPr/>
          <p:nvPr/>
        </p:nvSpPr>
        <p:spPr>
          <a:xfrm>
            <a:off x="2114848" y="313604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5019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F3181DB3-0DC6-4E47-A5ED-B272C280CCAB}"/>
              </a:ext>
            </a:extLst>
          </p:cNvPr>
          <p:cNvSpPr/>
          <p:nvPr/>
        </p:nvSpPr>
        <p:spPr>
          <a:xfrm>
            <a:off x="1934381" y="313604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22733" y="25019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10">
            <a:extLst>
              <a:ext uri="{FF2B5EF4-FFF2-40B4-BE49-F238E27FC236}">
                <a16:creationId xmlns:a16="http://schemas.microsoft.com/office/drawing/2014/main" id="{C6A78C26-1583-C04B-935F-03E22BB38932}"/>
              </a:ext>
            </a:extLst>
          </p:cNvPr>
          <p:cNvSpPr txBox="1"/>
          <p:nvPr/>
        </p:nvSpPr>
        <p:spPr>
          <a:xfrm>
            <a:off x="1163390" y="3749254"/>
            <a:ext cx="37261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045" indent="-347980">
              <a:lnSpc>
                <a:spcPct val="100000"/>
              </a:lnSpc>
              <a:spcBef>
                <a:spcPts val="10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360045" algn="l"/>
                <a:tab pos="360680" algn="l"/>
              </a:tabLst>
            </a:pPr>
            <a:r>
              <a:rPr sz="2400" spc="-5" dirty="0" err="1">
                <a:latin typeface="宋体"/>
                <a:cs typeface="宋体"/>
              </a:rPr>
              <a:t>把主元放在中间作分界线</a:t>
            </a:r>
            <a:endParaRPr sz="2400" dirty="0">
              <a:latin typeface="宋体"/>
              <a:cs typeface="宋体"/>
            </a:endParaRPr>
          </a:p>
        </p:txBody>
      </p:sp>
      <p:graphicFrame>
        <p:nvGraphicFramePr>
          <p:cNvPr id="28" name="object 12">
            <a:extLst>
              <a:ext uri="{FF2B5EF4-FFF2-40B4-BE49-F238E27FC236}">
                <a16:creationId xmlns:a16="http://schemas.microsoft.com/office/drawing/2014/main" id="{0264E915-85DC-D144-8F90-E8B27C73F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342037"/>
              </p:ext>
            </p:extLst>
          </p:nvPr>
        </p:nvGraphicFramePr>
        <p:xfrm>
          <a:off x="3772661" y="4547068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" name="object 13">
            <a:extLst>
              <a:ext uri="{FF2B5EF4-FFF2-40B4-BE49-F238E27FC236}">
                <a16:creationId xmlns:a16="http://schemas.microsoft.com/office/drawing/2014/main" id="{E8886870-38C7-D84B-8EF4-DAFD175D0F66}"/>
              </a:ext>
            </a:extLst>
          </p:cNvPr>
          <p:cNvSpPr txBox="1"/>
          <p:nvPr/>
        </p:nvSpPr>
        <p:spPr>
          <a:xfrm>
            <a:off x="5544058" y="3796372"/>
            <a:ext cx="5848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5">
                <a:latin typeface="宋体"/>
                <a:cs typeface="宋体"/>
              </a:rPr>
              <a:t>主元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30" name="object 14">
            <a:extLst>
              <a:ext uri="{FF2B5EF4-FFF2-40B4-BE49-F238E27FC236}">
                <a16:creationId xmlns:a16="http://schemas.microsoft.com/office/drawing/2014/main" id="{DD0A0669-0111-F84F-B600-DE40E4105702}"/>
              </a:ext>
            </a:extLst>
          </p:cNvPr>
          <p:cNvSpPr/>
          <p:nvPr/>
        </p:nvSpPr>
        <p:spPr>
          <a:xfrm>
            <a:off x="5769864" y="4229187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5">
            <a:extLst>
              <a:ext uri="{FF2B5EF4-FFF2-40B4-BE49-F238E27FC236}">
                <a16:creationId xmlns:a16="http://schemas.microsoft.com/office/drawing/2014/main" id="{FCE0DFA1-3DB8-644B-BCF0-2D7B204F2BCA}"/>
              </a:ext>
            </a:extLst>
          </p:cNvPr>
          <p:cNvSpPr/>
          <p:nvPr/>
        </p:nvSpPr>
        <p:spPr>
          <a:xfrm>
            <a:off x="5108447" y="5235789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6">
            <a:extLst>
              <a:ext uri="{FF2B5EF4-FFF2-40B4-BE49-F238E27FC236}">
                <a16:creationId xmlns:a16="http://schemas.microsoft.com/office/drawing/2014/main" id="{1C1A9899-E0C3-6847-8200-FE819BA14D5C}"/>
              </a:ext>
            </a:extLst>
          </p:cNvPr>
          <p:cNvSpPr/>
          <p:nvPr/>
        </p:nvSpPr>
        <p:spPr>
          <a:xfrm>
            <a:off x="5800344" y="5159589"/>
            <a:ext cx="2334260" cy="384175"/>
          </a:xfrm>
          <a:custGeom>
            <a:avLst/>
            <a:gdLst/>
            <a:ahLst/>
            <a:cxnLst/>
            <a:rect l="l" t="t" r="r" b="b"/>
            <a:pathLst>
              <a:path w="2334259" h="384175">
                <a:moveTo>
                  <a:pt x="2334006" y="96012"/>
                </a:moveTo>
                <a:lnTo>
                  <a:pt x="2237994" y="0"/>
                </a:lnTo>
                <a:lnTo>
                  <a:pt x="2141982" y="96012"/>
                </a:lnTo>
                <a:lnTo>
                  <a:pt x="2218055" y="96012"/>
                </a:lnTo>
                <a:lnTo>
                  <a:pt x="2218055" y="344297"/>
                </a:lnTo>
                <a:lnTo>
                  <a:pt x="1133856" y="344297"/>
                </a:lnTo>
                <a:lnTo>
                  <a:pt x="1078992" y="344297"/>
                </a:lnTo>
                <a:lnTo>
                  <a:pt x="115951" y="344297"/>
                </a:lnTo>
                <a:lnTo>
                  <a:pt x="115951" y="96012"/>
                </a:lnTo>
                <a:lnTo>
                  <a:pt x="192024" y="96012"/>
                </a:lnTo>
                <a:lnTo>
                  <a:pt x="96012" y="0"/>
                </a:lnTo>
                <a:lnTo>
                  <a:pt x="0" y="96012"/>
                </a:lnTo>
                <a:lnTo>
                  <a:pt x="76073" y="96012"/>
                </a:lnTo>
                <a:lnTo>
                  <a:pt x="76073" y="384048"/>
                </a:lnTo>
                <a:lnTo>
                  <a:pt x="1078992" y="384048"/>
                </a:lnTo>
                <a:lnTo>
                  <a:pt x="1133856" y="384048"/>
                </a:lnTo>
                <a:lnTo>
                  <a:pt x="2257933" y="384048"/>
                </a:lnTo>
                <a:lnTo>
                  <a:pt x="2257933" y="96012"/>
                </a:lnTo>
                <a:lnTo>
                  <a:pt x="2334006" y="960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22">
            <a:extLst>
              <a:ext uri="{FF2B5EF4-FFF2-40B4-BE49-F238E27FC236}">
                <a16:creationId xmlns:a16="http://schemas.microsoft.com/office/drawing/2014/main" id="{113CD869-B0A5-8D41-A8FA-D237C6B561D2}"/>
              </a:ext>
            </a:extLst>
          </p:cNvPr>
          <p:cNvSpPr txBox="1"/>
          <p:nvPr/>
        </p:nvSpPr>
        <p:spPr>
          <a:xfrm>
            <a:off x="6638797" y="5588372"/>
            <a:ext cx="58483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10"/>
              </a:lnSpc>
            </a:pPr>
            <a:r>
              <a:rPr sz="2200" spc="-25">
                <a:latin typeface="宋体"/>
                <a:cs typeface="宋体"/>
              </a:rPr>
              <a:t>交换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34" name="object 23">
            <a:extLst>
              <a:ext uri="{FF2B5EF4-FFF2-40B4-BE49-F238E27FC236}">
                <a16:creationId xmlns:a16="http://schemas.microsoft.com/office/drawing/2014/main" id="{A38C5E5F-DC0A-F048-BB9C-51BBACA2D87A}"/>
              </a:ext>
            </a:extLst>
          </p:cNvPr>
          <p:cNvSpPr txBox="1"/>
          <p:nvPr/>
        </p:nvSpPr>
        <p:spPr>
          <a:xfrm>
            <a:off x="5121655" y="5730209"/>
            <a:ext cx="129539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2" name="object 7">
            <a:extLst>
              <a:ext uri="{FF2B5EF4-FFF2-40B4-BE49-F238E27FC236}">
                <a16:creationId xmlns:a16="http://schemas.microsoft.com/office/drawing/2014/main" id="{CCA96AE7-655F-4645-A4D6-C6C40FB2263F}"/>
              </a:ext>
            </a:extLst>
          </p:cNvPr>
          <p:cNvSpPr/>
          <p:nvPr/>
        </p:nvSpPr>
        <p:spPr>
          <a:xfrm>
            <a:off x="2114848" y="3503005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4892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8">
            <a:extLst>
              <a:ext uri="{FF2B5EF4-FFF2-40B4-BE49-F238E27FC236}">
                <a16:creationId xmlns:a16="http://schemas.microsoft.com/office/drawing/2014/main" id="{0D750002-E8EC-784C-9E41-42A1D4AD565A}"/>
              </a:ext>
            </a:extLst>
          </p:cNvPr>
          <p:cNvSpPr/>
          <p:nvPr/>
        </p:nvSpPr>
        <p:spPr>
          <a:xfrm>
            <a:off x="1934381" y="3503005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22733" y="24892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74994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28F3ACF1-C2FA-064D-8E76-B83D14D14925}"/>
              </a:ext>
            </a:extLst>
          </p:cNvPr>
          <p:cNvSpPr/>
          <p:nvPr/>
        </p:nvSpPr>
        <p:spPr>
          <a:xfrm>
            <a:off x="3762444" y="2659278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41783" y="11430"/>
                </a:lnTo>
                <a:lnTo>
                  <a:pt x="41783" y="27305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F3BC2B55-DC54-9E49-B82D-D641281A762A}"/>
              </a:ext>
            </a:extLst>
          </p:cNvPr>
          <p:cNvSpPr/>
          <p:nvPr/>
        </p:nvSpPr>
        <p:spPr>
          <a:xfrm>
            <a:off x="3564451" y="2659278"/>
            <a:ext cx="66675" cy="284480"/>
          </a:xfrm>
          <a:custGeom>
            <a:avLst/>
            <a:gdLst/>
            <a:ahLst/>
            <a:cxnLst/>
            <a:rect l="l" t="t" r="r" b="b"/>
            <a:pathLst>
              <a:path w="66675" h="284480">
                <a:moveTo>
                  <a:pt x="66421" y="0"/>
                </a:moveTo>
                <a:lnTo>
                  <a:pt x="0" y="0"/>
                </a:lnTo>
                <a:lnTo>
                  <a:pt x="0" y="11430"/>
                </a:lnTo>
                <a:lnTo>
                  <a:pt x="0" y="273050"/>
                </a:lnTo>
                <a:lnTo>
                  <a:pt x="0" y="284480"/>
                </a:lnTo>
                <a:lnTo>
                  <a:pt x="66421" y="284480"/>
                </a:lnTo>
                <a:lnTo>
                  <a:pt x="66421" y="273050"/>
                </a:lnTo>
                <a:lnTo>
                  <a:pt x="24765" y="273050"/>
                </a:lnTo>
                <a:lnTo>
                  <a:pt x="24765" y="11430"/>
                </a:lnTo>
                <a:lnTo>
                  <a:pt x="66421" y="11430"/>
                </a:lnTo>
                <a:lnTo>
                  <a:pt x="66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9E5C0D9D-1A5E-E043-9D56-A0D19D56D1D0}"/>
              </a:ext>
            </a:extLst>
          </p:cNvPr>
          <p:cNvSpPr txBox="1"/>
          <p:nvPr/>
        </p:nvSpPr>
        <p:spPr>
          <a:xfrm>
            <a:off x="810641" y="1116729"/>
            <a:ext cx="5214620" cy="186436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宋体"/>
                <a:cs typeface="宋体"/>
              </a:rPr>
              <a:t>实现方法</a:t>
            </a:r>
            <a:endParaRPr sz="28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61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选取固定位置主元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dirty="0">
                <a:latin typeface="宋体"/>
                <a:cs typeface="宋体"/>
              </a:rPr>
              <a:t>（</a:t>
            </a:r>
            <a:r>
              <a:rPr sz="2400" dirty="0" err="1">
                <a:latin typeface="宋体"/>
                <a:cs typeface="宋体"/>
              </a:rPr>
              <a:t>如尾元素</a:t>
            </a:r>
            <a:r>
              <a:rPr sz="2400" spc="-50" dirty="0">
                <a:latin typeface="宋体"/>
                <a:cs typeface="宋体"/>
              </a:rPr>
              <a:t>）</a:t>
            </a:r>
            <a:endParaRPr sz="2400" dirty="0">
              <a:latin typeface="宋体"/>
              <a:cs typeface="宋体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维护两个部分的右端点变量</a:t>
            </a:r>
            <a:r>
              <a:rPr sz="2400" spc="-10" dirty="0">
                <a:latin typeface="Cambria Math"/>
                <a:cs typeface="Cambria Math"/>
              </a:rPr>
              <a:t>𝒊</a:t>
            </a:r>
            <a:r>
              <a:rPr sz="2400" spc="-75" dirty="0">
                <a:latin typeface="Cambria Math"/>
                <a:cs typeface="Cambria Math"/>
              </a:rPr>
              <a:t>, </a:t>
            </a:r>
            <a:r>
              <a:rPr sz="2400" spc="-50" dirty="0">
                <a:latin typeface="Cambria Math"/>
                <a:cs typeface="Cambria Math"/>
              </a:rPr>
              <a:t>𝒋</a:t>
            </a:r>
            <a:endParaRPr sz="2400" dirty="0">
              <a:latin typeface="Cambria Math"/>
              <a:cs typeface="Cambria Math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宋体"/>
                <a:cs typeface="宋体"/>
              </a:rPr>
              <a:t>考察数组元素</a:t>
            </a:r>
            <a:r>
              <a:rPr sz="2400" dirty="0">
                <a:latin typeface="Cambria Math"/>
                <a:cs typeface="Cambria Math"/>
              </a:rPr>
              <a:t>𝑨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𝒋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400" dirty="0">
                <a:latin typeface="宋体"/>
                <a:cs typeface="宋体"/>
              </a:rPr>
              <a:t>，</a:t>
            </a:r>
            <a:r>
              <a:rPr sz="2400" spc="-10" dirty="0" err="1">
                <a:solidFill>
                  <a:srgbClr val="FF0000"/>
                </a:solidFill>
                <a:latin typeface="宋体"/>
                <a:cs typeface="宋体"/>
              </a:rPr>
              <a:t>只和主元比较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DC786AE0-1C2B-B34F-BA04-C19C6AE5C2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3334" y="155137"/>
            <a:ext cx="393243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数组划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分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A97F6C9E-23AB-2F49-B8AD-AB37D7F6FE55}"/>
              </a:ext>
            </a:extLst>
          </p:cNvPr>
          <p:cNvGraphicFramePr>
            <a:graphicFrameLocks noGrp="1"/>
          </p:cNvGraphicFramePr>
          <p:nvPr/>
        </p:nvGraphicFramePr>
        <p:xfrm>
          <a:off x="6954901" y="1016761"/>
          <a:ext cx="4607558" cy="584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7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1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835">
                <a:tc>
                  <a:txBody>
                    <a:bodyPr/>
                    <a:lstStyle/>
                    <a:p>
                      <a:pPr marL="5581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>
                          <a:latin typeface="Cambria Math"/>
                          <a:cs typeface="Cambria Math"/>
                        </a:rPr>
                        <a:t>≤</a:t>
                      </a:r>
                      <a:r>
                        <a:rPr sz="2600" spc="1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600" spc="-50"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27051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>
                          <a:latin typeface="Cambria Math"/>
                          <a:cs typeface="Cambria Math"/>
                        </a:rPr>
                        <a:t>&gt;</a:t>
                      </a:r>
                      <a:r>
                        <a:rPr sz="2600" spc="13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2600" spc="-50"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200" spc="-20">
                          <a:latin typeface="宋体"/>
                          <a:cs typeface="宋体"/>
                        </a:rPr>
                        <a:t>待考察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T="9017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600" spc="-5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𝒙</a:t>
                      </a:r>
                      <a:endParaRPr sz="2600">
                        <a:latin typeface="Cambria Math"/>
                        <a:cs typeface="Cambria Math"/>
                      </a:endParaRPr>
                    </a:p>
                  </a:txBody>
                  <a:tcPr marL="0" marR="0" marT="825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object 12">
            <a:extLst>
              <a:ext uri="{FF2B5EF4-FFF2-40B4-BE49-F238E27FC236}">
                <a16:creationId xmlns:a16="http://schemas.microsoft.com/office/drawing/2014/main" id="{C2671A58-D833-804A-9367-BD6F289041A9}"/>
              </a:ext>
            </a:extLst>
          </p:cNvPr>
          <p:cNvSpPr/>
          <p:nvPr/>
        </p:nvSpPr>
        <p:spPr>
          <a:xfrm>
            <a:off x="8643366" y="1646682"/>
            <a:ext cx="114300" cy="335915"/>
          </a:xfrm>
          <a:custGeom>
            <a:avLst/>
            <a:gdLst/>
            <a:ahLst/>
            <a:cxnLst/>
            <a:rect l="l" t="t" r="r" b="b"/>
            <a:pathLst>
              <a:path w="114300" h="335914">
                <a:moveTo>
                  <a:pt x="76200" y="95250"/>
                </a:moveTo>
                <a:lnTo>
                  <a:pt x="38100" y="95250"/>
                </a:lnTo>
                <a:lnTo>
                  <a:pt x="38100" y="335788"/>
                </a:lnTo>
                <a:lnTo>
                  <a:pt x="76200" y="335788"/>
                </a:lnTo>
                <a:lnTo>
                  <a:pt x="76200" y="95250"/>
                </a:lnTo>
                <a:close/>
              </a:path>
              <a:path w="114300" h="335914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335914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D6580AAE-2011-D54F-AD29-B848A18F9B79}"/>
              </a:ext>
            </a:extLst>
          </p:cNvPr>
          <p:cNvSpPr txBox="1"/>
          <p:nvPr/>
        </p:nvSpPr>
        <p:spPr>
          <a:xfrm>
            <a:off x="8636254" y="1991613"/>
            <a:ext cx="129539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06AFC6E8-C47A-6440-8FA1-97D8CEE0D16C}"/>
              </a:ext>
            </a:extLst>
          </p:cNvPr>
          <p:cNvSpPr/>
          <p:nvPr/>
        </p:nvSpPr>
        <p:spPr>
          <a:xfrm>
            <a:off x="9792461" y="1652777"/>
            <a:ext cx="114300" cy="358140"/>
          </a:xfrm>
          <a:custGeom>
            <a:avLst/>
            <a:gdLst/>
            <a:ahLst/>
            <a:cxnLst/>
            <a:rect l="l" t="t" r="r" b="b"/>
            <a:pathLst>
              <a:path w="114300" h="358139">
                <a:moveTo>
                  <a:pt x="76202" y="114172"/>
                </a:moveTo>
                <a:lnTo>
                  <a:pt x="38102" y="114426"/>
                </a:lnTo>
                <a:lnTo>
                  <a:pt x="39751" y="357886"/>
                </a:lnTo>
                <a:lnTo>
                  <a:pt x="77851" y="357632"/>
                </a:lnTo>
                <a:lnTo>
                  <a:pt x="76202" y="114172"/>
                </a:lnTo>
                <a:close/>
              </a:path>
              <a:path w="114300" h="358139">
                <a:moveTo>
                  <a:pt x="56388" y="0"/>
                </a:moveTo>
                <a:lnTo>
                  <a:pt x="0" y="114681"/>
                </a:lnTo>
                <a:lnTo>
                  <a:pt x="38102" y="114426"/>
                </a:lnTo>
                <a:lnTo>
                  <a:pt x="37973" y="95376"/>
                </a:lnTo>
                <a:lnTo>
                  <a:pt x="104744" y="95123"/>
                </a:lnTo>
                <a:lnTo>
                  <a:pt x="56388" y="0"/>
                </a:lnTo>
                <a:close/>
              </a:path>
              <a:path w="114300" h="358139">
                <a:moveTo>
                  <a:pt x="76073" y="95123"/>
                </a:moveTo>
                <a:lnTo>
                  <a:pt x="37973" y="95376"/>
                </a:lnTo>
                <a:lnTo>
                  <a:pt x="38102" y="114426"/>
                </a:lnTo>
                <a:lnTo>
                  <a:pt x="76202" y="114172"/>
                </a:lnTo>
                <a:lnTo>
                  <a:pt x="76073" y="95123"/>
                </a:lnTo>
                <a:close/>
              </a:path>
              <a:path w="114300" h="358139">
                <a:moveTo>
                  <a:pt x="104744" y="95123"/>
                </a:moveTo>
                <a:lnTo>
                  <a:pt x="76073" y="95123"/>
                </a:lnTo>
                <a:lnTo>
                  <a:pt x="76202" y="114172"/>
                </a:lnTo>
                <a:lnTo>
                  <a:pt x="114300" y="113919"/>
                </a:lnTo>
                <a:lnTo>
                  <a:pt x="104744" y="951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6673C368-16C0-A042-B136-CF9B71C68CB2}"/>
              </a:ext>
            </a:extLst>
          </p:cNvPr>
          <p:cNvSpPr txBox="1"/>
          <p:nvPr/>
        </p:nvSpPr>
        <p:spPr>
          <a:xfrm>
            <a:off x="9785095" y="1982977"/>
            <a:ext cx="13462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830673B-00DE-A84A-A27F-FD5DDC946169}"/>
              </a:ext>
            </a:extLst>
          </p:cNvPr>
          <p:cNvSpPr txBox="1"/>
          <p:nvPr/>
        </p:nvSpPr>
        <p:spPr>
          <a:xfrm>
            <a:off x="1137062" y="3076744"/>
            <a:ext cx="9945584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  <a:tabLst>
                <a:tab pos="306705" algn="l"/>
                <a:tab pos="1151255" algn="l"/>
              </a:tabLst>
            </a:pPr>
            <a:r>
              <a:rPr lang="en" altLang="zh-CN" sz="120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lang="en" altLang="zh-CN" sz="120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lang="zh-CN" altLang="en-US" sz="1800" dirty="0">
                <a:latin typeface="宋体"/>
                <a:cs typeface="宋体"/>
              </a:rPr>
              <a:t>若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zh-CN" altLang="en-US" sz="1800" spc="260" dirty="0">
                <a:latin typeface="Cambria Math"/>
                <a:cs typeface="Cambria Math"/>
              </a:rPr>
              <a:t> </a:t>
            </a:r>
            <a:r>
              <a:rPr lang="zh-CN" altLang="en-US" sz="1800" spc="-5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Cambria Math"/>
                <a:cs typeface="Cambria Math"/>
              </a:rPr>
              <a:t>	≤</a:t>
            </a:r>
            <a:r>
              <a:rPr lang="zh-CN" altLang="en-US" sz="1800" spc="150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𝒙</a:t>
            </a:r>
            <a:r>
              <a:rPr lang="zh-CN" altLang="en-US" sz="1800" spc="-10" dirty="0">
                <a:latin typeface="宋体"/>
                <a:cs typeface="宋体"/>
              </a:rPr>
              <a:t>，</a:t>
            </a:r>
            <a:r>
              <a:rPr lang="zh-CN" altLang="en-US" sz="1800" dirty="0">
                <a:latin typeface="宋体"/>
                <a:cs typeface="宋体"/>
              </a:rPr>
              <a:t>则交换</a:t>
            </a:r>
            <a:r>
              <a:rPr lang="zh-CN" altLang="en-US" sz="1800" spc="-10" dirty="0">
                <a:latin typeface="Cambria Math"/>
                <a:cs typeface="Cambria Math"/>
              </a:rPr>
              <a:t>𝑨</a:t>
            </a:r>
            <a:r>
              <a:rPr lang="en-US" altLang="zh-CN" sz="1800" spc="-10" dirty="0">
                <a:latin typeface="Cambria Math"/>
                <a:cs typeface="Cambria Math"/>
              </a:rPr>
              <a:t>[𝒋]</a:t>
            </a:r>
            <a:r>
              <a:rPr lang="zh-CN" altLang="en-US" sz="1800" dirty="0">
                <a:latin typeface="宋体"/>
                <a:cs typeface="宋体"/>
              </a:rPr>
              <a:t>和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en-US" altLang="zh-CN" sz="1800" dirty="0">
                <a:latin typeface="Cambria Math"/>
                <a:cs typeface="Cambria Math"/>
              </a:rPr>
              <a:t>[𝒊</a:t>
            </a:r>
            <a:r>
              <a:rPr lang="zh-CN" altLang="en-US" sz="1800" spc="20" dirty="0">
                <a:latin typeface="Cambria Math"/>
                <a:cs typeface="Cambria Math"/>
              </a:rPr>
              <a:t> </a:t>
            </a:r>
            <a:r>
              <a:rPr lang="en-US" altLang="zh-CN" sz="1800" dirty="0">
                <a:latin typeface="Cambria Math"/>
                <a:cs typeface="Cambria Math"/>
              </a:rPr>
              <a:t>+</a:t>
            </a:r>
            <a:r>
              <a:rPr lang="zh-CN" altLang="en-US" sz="1800" spc="20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𝟏</a:t>
            </a:r>
            <a:r>
              <a:rPr lang="en-US" altLang="zh-CN" sz="1800" spc="-10" dirty="0">
                <a:latin typeface="Cambria Math"/>
                <a:cs typeface="Cambria Math"/>
              </a:rPr>
              <a:t>]</a:t>
            </a:r>
            <a:r>
              <a:rPr lang="zh-CN" altLang="en-US" sz="1800" b="1" spc="-10" dirty="0">
                <a:latin typeface="微软雅黑"/>
                <a:cs typeface="微软雅黑"/>
              </a:rPr>
              <a:t>，</a:t>
            </a:r>
            <a:r>
              <a:rPr lang="zh-CN" altLang="en-US" sz="1800" spc="-10" dirty="0">
                <a:latin typeface="Cambria Math"/>
                <a:cs typeface="Cambria Math"/>
              </a:rPr>
              <a:t>𝒊</a:t>
            </a:r>
            <a:r>
              <a:rPr lang="en-US" altLang="zh-CN" sz="1800" spc="-10" dirty="0">
                <a:latin typeface="Cambria Math"/>
                <a:cs typeface="Cambria Math"/>
              </a:rPr>
              <a:t>,</a:t>
            </a:r>
            <a:r>
              <a:rPr lang="zh-CN" altLang="en-US" sz="1800" spc="-110" dirty="0">
                <a:latin typeface="Cambria Math"/>
                <a:cs typeface="Cambria Math"/>
              </a:rPr>
              <a:t> </a:t>
            </a:r>
            <a:r>
              <a:rPr lang="zh-CN" altLang="en-US" sz="1800" spc="-15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宋体"/>
                <a:cs typeface="宋体"/>
              </a:rPr>
              <a:t>右</a:t>
            </a:r>
            <a:r>
              <a:rPr lang="zh-CN" altLang="en-US" sz="1800" spc="-50" dirty="0">
                <a:latin typeface="宋体"/>
                <a:cs typeface="宋体"/>
              </a:rPr>
              <a:t>移</a:t>
            </a:r>
            <a:endParaRPr lang="zh-CN" altLang="en-US" sz="18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  <a:tabLst>
                <a:tab pos="306705" algn="l"/>
                <a:tab pos="1151255" algn="l"/>
              </a:tabLst>
            </a:pPr>
            <a:r>
              <a:rPr lang="en" altLang="zh-CN" sz="1200" spc="260" dirty="0">
                <a:solidFill>
                  <a:srgbClr val="EB91D7"/>
                </a:solidFill>
                <a:latin typeface="宋体"/>
                <a:cs typeface="宋体"/>
              </a:rPr>
              <a:t>o</a:t>
            </a:r>
            <a:r>
              <a:rPr lang="en" altLang="zh-CN" sz="1200" dirty="0">
                <a:solidFill>
                  <a:srgbClr val="EB91D7"/>
                </a:solidFill>
                <a:latin typeface="宋体"/>
                <a:cs typeface="宋体"/>
              </a:rPr>
              <a:t>	</a:t>
            </a:r>
            <a:r>
              <a:rPr lang="zh-CN" altLang="en-US" sz="1800" dirty="0">
                <a:latin typeface="宋体"/>
                <a:cs typeface="宋体"/>
              </a:rPr>
              <a:t>若</a:t>
            </a:r>
            <a:r>
              <a:rPr lang="zh-CN" altLang="en-US" sz="1800" dirty="0">
                <a:latin typeface="Cambria Math"/>
                <a:cs typeface="Cambria Math"/>
              </a:rPr>
              <a:t>𝑨</a:t>
            </a:r>
            <a:r>
              <a:rPr lang="zh-CN" altLang="en-US" sz="1800" spc="260" dirty="0">
                <a:latin typeface="Cambria Math"/>
                <a:cs typeface="Cambria Math"/>
              </a:rPr>
              <a:t> </a:t>
            </a:r>
            <a:r>
              <a:rPr lang="zh-CN" altLang="en-US" sz="1800" spc="-5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Cambria Math"/>
                <a:cs typeface="Cambria Math"/>
              </a:rPr>
              <a:t>	</a:t>
            </a:r>
            <a:r>
              <a:rPr lang="en-US" altLang="zh-CN" sz="1800" dirty="0">
                <a:latin typeface="Cambria Math"/>
                <a:cs typeface="Cambria Math"/>
              </a:rPr>
              <a:t>&gt;</a:t>
            </a:r>
            <a:r>
              <a:rPr lang="zh-CN" altLang="en-US" sz="1800" spc="145" dirty="0">
                <a:latin typeface="Cambria Math"/>
                <a:cs typeface="Cambria Math"/>
              </a:rPr>
              <a:t> </a:t>
            </a:r>
            <a:r>
              <a:rPr lang="zh-CN" altLang="en-US" sz="1800" spc="-10" dirty="0">
                <a:latin typeface="Cambria Math"/>
                <a:cs typeface="Cambria Math"/>
              </a:rPr>
              <a:t>𝒙</a:t>
            </a:r>
            <a:r>
              <a:rPr lang="zh-CN" altLang="en-US" sz="1800" spc="-10" dirty="0">
                <a:latin typeface="宋体"/>
                <a:cs typeface="宋体"/>
              </a:rPr>
              <a:t>，</a:t>
            </a:r>
            <a:r>
              <a:rPr lang="zh-CN" altLang="en-US" sz="1800" dirty="0">
                <a:latin typeface="宋体"/>
                <a:cs typeface="宋体"/>
              </a:rPr>
              <a:t>则</a:t>
            </a:r>
            <a:r>
              <a:rPr lang="zh-CN" altLang="en-US" sz="1800" spc="-10" dirty="0">
                <a:latin typeface="Cambria Math"/>
                <a:cs typeface="Cambria Math"/>
              </a:rPr>
              <a:t>𝒋</a:t>
            </a:r>
            <a:r>
              <a:rPr lang="zh-CN" altLang="en-US" sz="1800" dirty="0">
                <a:latin typeface="宋体"/>
                <a:cs typeface="宋体"/>
              </a:rPr>
              <a:t>右</a:t>
            </a:r>
            <a:r>
              <a:rPr lang="zh-CN" altLang="en-US" sz="1800" spc="-50" dirty="0">
                <a:latin typeface="宋体"/>
                <a:cs typeface="宋体"/>
              </a:rPr>
              <a:t>移</a:t>
            </a:r>
            <a:endParaRPr lang="zh-CN" altLang="en-US" sz="1800" dirty="0">
              <a:latin typeface="宋体"/>
              <a:cs typeface="宋体"/>
            </a:endParaRPr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70F2CA58-0D9B-154C-ABA0-FD5263B6C2A3}"/>
              </a:ext>
            </a:extLst>
          </p:cNvPr>
          <p:cNvSpPr/>
          <p:nvPr/>
        </p:nvSpPr>
        <p:spPr>
          <a:xfrm>
            <a:off x="2114848" y="313604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5019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F3181DB3-0DC6-4E47-A5ED-B272C280CCAB}"/>
              </a:ext>
            </a:extLst>
          </p:cNvPr>
          <p:cNvSpPr/>
          <p:nvPr/>
        </p:nvSpPr>
        <p:spPr>
          <a:xfrm>
            <a:off x="1934381" y="3136040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5019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50190"/>
                </a:lnTo>
                <a:lnTo>
                  <a:pt x="22733" y="25019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10">
            <a:extLst>
              <a:ext uri="{FF2B5EF4-FFF2-40B4-BE49-F238E27FC236}">
                <a16:creationId xmlns:a16="http://schemas.microsoft.com/office/drawing/2014/main" id="{C6A78C26-1583-C04B-935F-03E22BB38932}"/>
              </a:ext>
            </a:extLst>
          </p:cNvPr>
          <p:cNvSpPr txBox="1"/>
          <p:nvPr/>
        </p:nvSpPr>
        <p:spPr>
          <a:xfrm>
            <a:off x="1163390" y="3749254"/>
            <a:ext cx="37261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045" indent="-347980">
              <a:lnSpc>
                <a:spcPct val="100000"/>
              </a:lnSpc>
              <a:spcBef>
                <a:spcPts val="10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360045" algn="l"/>
                <a:tab pos="360680" algn="l"/>
              </a:tabLst>
            </a:pPr>
            <a:r>
              <a:rPr sz="2400" spc="-5" dirty="0" err="1">
                <a:latin typeface="宋体"/>
                <a:cs typeface="宋体"/>
              </a:rPr>
              <a:t>把主元放在中间作分界线</a:t>
            </a:r>
            <a:endParaRPr sz="2400" dirty="0">
              <a:latin typeface="宋体"/>
              <a:cs typeface="宋体"/>
            </a:endParaRPr>
          </a:p>
        </p:txBody>
      </p:sp>
      <p:graphicFrame>
        <p:nvGraphicFramePr>
          <p:cNvPr id="22" name="object 11">
            <a:extLst>
              <a:ext uri="{FF2B5EF4-FFF2-40B4-BE49-F238E27FC236}">
                <a16:creationId xmlns:a16="http://schemas.microsoft.com/office/drawing/2014/main" id="{17137B16-297F-7D47-8F89-857AE6A2E5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6157743"/>
              </p:ext>
            </p:extLst>
          </p:nvPr>
        </p:nvGraphicFramePr>
        <p:xfrm>
          <a:off x="3772661" y="4416440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object 12">
            <a:extLst>
              <a:ext uri="{FF2B5EF4-FFF2-40B4-BE49-F238E27FC236}">
                <a16:creationId xmlns:a16="http://schemas.microsoft.com/office/drawing/2014/main" id="{CC719759-E152-324E-B41B-9794B2FB20A4}"/>
              </a:ext>
            </a:extLst>
          </p:cNvPr>
          <p:cNvSpPr txBox="1"/>
          <p:nvPr/>
        </p:nvSpPr>
        <p:spPr>
          <a:xfrm>
            <a:off x="5544058" y="3665744"/>
            <a:ext cx="5848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5">
                <a:latin typeface="宋体"/>
                <a:cs typeface="宋体"/>
              </a:rPr>
              <a:t>主元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24" name="object 13">
            <a:extLst>
              <a:ext uri="{FF2B5EF4-FFF2-40B4-BE49-F238E27FC236}">
                <a16:creationId xmlns:a16="http://schemas.microsoft.com/office/drawing/2014/main" id="{1E99C4CC-6387-4241-8460-B1428A90BA1C}"/>
              </a:ext>
            </a:extLst>
          </p:cNvPr>
          <p:cNvSpPr txBox="1"/>
          <p:nvPr/>
        </p:nvSpPr>
        <p:spPr>
          <a:xfrm>
            <a:off x="5402834" y="6027944"/>
            <a:ext cx="864869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0">
                <a:latin typeface="宋体"/>
                <a:cs typeface="宋体"/>
              </a:rPr>
              <a:t>分界线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25" name="object 14">
            <a:extLst>
              <a:ext uri="{FF2B5EF4-FFF2-40B4-BE49-F238E27FC236}">
                <a16:creationId xmlns:a16="http://schemas.microsoft.com/office/drawing/2014/main" id="{65DC6E15-C59F-F64E-8A48-37EF4E802E37}"/>
              </a:ext>
            </a:extLst>
          </p:cNvPr>
          <p:cNvSpPr/>
          <p:nvPr/>
        </p:nvSpPr>
        <p:spPr>
          <a:xfrm>
            <a:off x="3975353" y="5373385"/>
            <a:ext cx="1489710" cy="114300"/>
          </a:xfrm>
          <a:custGeom>
            <a:avLst/>
            <a:gdLst/>
            <a:ahLst/>
            <a:cxnLst/>
            <a:rect l="l" t="t" r="r" b="b"/>
            <a:pathLst>
              <a:path w="148971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148971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1489710" h="114300">
                <a:moveTo>
                  <a:pt x="1489202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1489202" y="76200"/>
                </a:lnTo>
                <a:lnTo>
                  <a:pt x="1489202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15">
            <a:extLst>
              <a:ext uri="{FF2B5EF4-FFF2-40B4-BE49-F238E27FC236}">
                <a16:creationId xmlns:a16="http://schemas.microsoft.com/office/drawing/2014/main" id="{B1A2DC80-8712-9343-BE4A-CAB26846DF19}"/>
              </a:ext>
            </a:extLst>
          </p:cNvPr>
          <p:cNvSpPr/>
          <p:nvPr/>
        </p:nvSpPr>
        <p:spPr>
          <a:xfrm>
            <a:off x="6205728" y="5373385"/>
            <a:ext cx="2195195" cy="114300"/>
          </a:xfrm>
          <a:custGeom>
            <a:avLst/>
            <a:gdLst/>
            <a:ahLst/>
            <a:cxnLst/>
            <a:rect l="l" t="t" r="r" b="b"/>
            <a:pathLst>
              <a:path w="2195195" h="114300">
                <a:moveTo>
                  <a:pt x="2080641" y="0"/>
                </a:moveTo>
                <a:lnTo>
                  <a:pt x="2080641" y="114300"/>
                </a:lnTo>
                <a:lnTo>
                  <a:pt x="2156841" y="76200"/>
                </a:lnTo>
                <a:lnTo>
                  <a:pt x="2099691" y="76200"/>
                </a:lnTo>
                <a:lnTo>
                  <a:pt x="2099691" y="38100"/>
                </a:lnTo>
                <a:lnTo>
                  <a:pt x="2156841" y="38100"/>
                </a:lnTo>
                <a:lnTo>
                  <a:pt x="2080641" y="0"/>
                </a:lnTo>
                <a:close/>
              </a:path>
              <a:path w="2195195" h="114300">
                <a:moveTo>
                  <a:pt x="208064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080641" y="76200"/>
                </a:lnTo>
                <a:lnTo>
                  <a:pt x="2080641" y="38100"/>
                </a:lnTo>
                <a:close/>
              </a:path>
              <a:path w="2195195" h="114300">
                <a:moveTo>
                  <a:pt x="2156841" y="38100"/>
                </a:moveTo>
                <a:lnTo>
                  <a:pt x="2099691" y="38100"/>
                </a:lnTo>
                <a:lnTo>
                  <a:pt x="2099691" y="76200"/>
                </a:lnTo>
                <a:lnTo>
                  <a:pt x="2156841" y="76200"/>
                </a:lnTo>
                <a:lnTo>
                  <a:pt x="2194941" y="57150"/>
                </a:lnTo>
                <a:lnTo>
                  <a:pt x="2156841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6">
            <a:extLst>
              <a:ext uri="{FF2B5EF4-FFF2-40B4-BE49-F238E27FC236}">
                <a16:creationId xmlns:a16="http://schemas.microsoft.com/office/drawing/2014/main" id="{22DD11A8-F8F2-AE41-A5B9-8001A3986066}"/>
              </a:ext>
            </a:extLst>
          </p:cNvPr>
          <p:cNvSpPr txBox="1"/>
          <p:nvPr/>
        </p:nvSpPr>
        <p:spPr>
          <a:xfrm>
            <a:off x="4473447" y="5590302"/>
            <a:ext cx="47434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≤</a:t>
            </a:r>
            <a:r>
              <a:rPr sz="2200" spc="13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𝒙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36" name="object 17">
            <a:extLst>
              <a:ext uri="{FF2B5EF4-FFF2-40B4-BE49-F238E27FC236}">
                <a16:creationId xmlns:a16="http://schemas.microsoft.com/office/drawing/2014/main" id="{E5BEF9E3-FC83-9446-A52A-0024A6B06209}"/>
              </a:ext>
            </a:extLst>
          </p:cNvPr>
          <p:cNvSpPr txBox="1"/>
          <p:nvPr/>
        </p:nvSpPr>
        <p:spPr>
          <a:xfrm>
            <a:off x="7086345" y="5590302"/>
            <a:ext cx="47434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&gt;</a:t>
            </a:r>
            <a:r>
              <a:rPr sz="2200" spc="125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𝒙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37" name="object 18">
            <a:extLst>
              <a:ext uri="{FF2B5EF4-FFF2-40B4-BE49-F238E27FC236}">
                <a16:creationId xmlns:a16="http://schemas.microsoft.com/office/drawing/2014/main" id="{96F90C12-6583-5042-8738-AEFF1C3FD911}"/>
              </a:ext>
            </a:extLst>
          </p:cNvPr>
          <p:cNvSpPr/>
          <p:nvPr/>
        </p:nvSpPr>
        <p:spPr>
          <a:xfrm>
            <a:off x="5769864" y="4098559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9">
            <a:extLst>
              <a:ext uri="{FF2B5EF4-FFF2-40B4-BE49-F238E27FC236}">
                <a16:creationId xmlns:a16="http://schemas.microsoft.com/office/drawing/2014/main" id="{19689651-26D2-B746-AF46-EABC785CD50B}"/>
              </a:ext>
            </a:extLst>
          </p:cNvPr>
          <p:cNvSpPr/>
          <p:nvPr/>
        </p:nvSpPr>
        <p:spPr>
          <a:xfrm>
            <a:off x="5770371" y="5012959"/>
            <a:ext cx="114300" cy="982980"/>
          </a:xfrm>
          <a:custGeom>
            <a:avLst/>
            <a:gdLst/>
            <a:ahLst/>
            <a:cxnLst/>
            <a:rect l="l" t="t" r="r" b="b"/>
            <a:pathLst>
              <a:path w="114300" h="982978">
                <a:moveTo>
                  <a:pt x="76200" y="95250"/>
                </a:moveTo>
                <a:lnTo>
                  <a:pt x="38100" y="95250"/>
                </a:lnTo>
                <a:lnTo>
                  <a:pt x="37591" y="982586"/>
                </a:lnTo>
                <a:lnTo>
                  <a:pt x="75691" y="982599"/>
                </a:lnTo>
                <a:lnTo>
                  <a:pt x="76200" y="95250"/>
                </a:lnTo>
                <a:close/>
              </a:path>
              <a:path w="114300" h="982978">
                <a:moveTo>
                  <a:pt x="57150" y="0"/>
                </a:moveTo>
                <a:lnTo>
                  <a:pt x="0" y="114300"/>
                </a:lnTo>
                <a:lnTo>
                  <a:pt x="38089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982978">
                <a:moveTo>
                  <a:pt x="104775" y="95250"/>
                </a:moveTo>
                <a:lnTo>
                  <a:pt x="76200" y="95250"/>
                </a:lnTo>
                <a:lnTo>
                  <a:pt x="76189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7">
            <a:extLst>
              <a:ext uri="{FF2B5EF4-FFF2-40B4-BE49-F238E27FC236}">
                <a16:creationId xmlns:a16="http://schemas.microsoft.com/office/drawing/2014/main" id="{FFC61C67-0A2E-124F-A669-392534E8E918}"/>
              </a:ext>
            </a:extLst>
          </p:cNvPr>
          <p:cNvSpPr/>
          <p:nvPr/>
        </p:nvSpPr>
        <p:spPr>
          <a:xfrm>
            <a:off x="2114848" y="3503005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38227" y="10160"/>
                </a:lnTo>
                <a:lnTo>
                  <a:pt x="38227" y="24892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8">
            <a:extLst>
              <a:ext uri="{FF2B5EF4-FFF2-40B4-BE49-F238E27FC236}">
                <a16:creationId xmlns:a16="http://schemas.microsoft.com/office/drawing/2014/main" id="{976A49A8-97C5-1848-BF76-87674EE0E86F}"/>
              </a:ext>
            </a:extLst>
          </p:cNvPr>
          <p:cNvSpPr/>
          <p:nvPr/>
        </p:nvSpPr>
        <p:spPr>
          <a:xfrm>
            <a:off x="1934381" y="3503005"/>
            <a:ext cx="60960" cy="260350"/>
          </a:xfrm>
          <a:custGeom>
            <a:avLst/>
            <a:gdLst/>
            <a:ahLst/>
            <a:cxnLst/>
            <a:rect l="l" t="t" r="r" b="b"/>
            <a:pathLst>
              <a:path w="60960" h="260350">
                <a:moveTo>
                  <a:pt x="60960" y="0"/>
                </a:moveTo>
                <a:lnTo>
                  <a:pt x="0" y="0"/>
                </a:lnTo>
                <a:lnTo>
                  <a:pt x="0" y="10160"/>
                </a:lnTo>
                <a:lnTo>
                  <a:pt x="0" y="248920"/>
                </a:lnTo>
                <a:lnTo>
                  <a:pt x="0" y="260350"/>
                </a:lnTo>
                <a:lnTo>
                  <a:pt x="60960" y="260350"/>
                </a:lnTo>
                <a:lnTo>
                  <a:pt x="60960" y="248920"/>
                </a:lnTo>
                <a:lnTo>
                  <a:pt x="22733" y="248920"/>
                </a:lnTo>
                <a:lnTo>
                  <a:pt x="22733" y="10160"/>
                </a:lnTo>
                <a:lnTo>
                  <a:pt x="60960" y="1016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59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2">
            <a:extLst>
              <a:ext uri="{FF2B5EF4-FFF2-40B4-BE49-F238E27FC236}">
                <a16:creationId xmlns:a16="http://schemas.microsoft.com/office/drawing/2014/main" id="{D380C421-DBBD-8F49-A3EF-1268B23E38BB}"/>
              </a:ext>
            </a:extLst>
          </p:cNvPr>
          <p:cNvGrpSpPr/>
          <p:nvPr/>
        </p:nvGrpSpPr>
        <p:grpSpPr>
          <a:xfrm>
            <a:off x="989707" y="1615982"/>
            <a:ext cx="10204997" cy="4712552"/>
            <a:chOff x="989707" y="1615982"/>
            <a:chExt cx="10204997" cy="4712552"/>
          </a:xfrm>
        </p:grpSpPr>
        <p:pic>
          <p:nvPicPr>
            <p:cNvPr id="4" name="object 3">
              <a:extLst>
                <a:ext uri="{FF2B5EF4-FFF2-40B4-BE49-F238E27FC236}">
                  <a16:creationId xmlns:a16="http://schemas.microsoft.com/office/drawing/2014/main" id="{8680D657-4E10-9544-823B-B14D0A24E512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989707" y="1615982"/>
              <a:ext cx="10204997" cy="4712552"/>
            </a:xfrm>
            <a:prstGeom prst="rect">
              <a:avLst/>
            </a:prstGeom>
          </p:spPr>
        </p:pic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0FF2CB6C-A95A-C147-B41F-F6D039E6B8BB}"/>
                </a:ext>
              </a:extLst>
            </p:cNvPr>
            <p:cNvSpPr/>
            <p:nvPr/>
          </p:nvSpPr>
          <p:spPr>
            <a:xfrm>
              <a:off x="1367344" y="2393630"/>
              <a:ext cx="4841875" cy="406400"/>
            </a:xfrm>
            <a:custGeom>
              <a:avLst/>
              <a:gdLst/>
              <a:ahLst/>
              <a:cxnLst/>
              <a:rect l="l" t="t" r="r" b="b"/>
              <a:pathLst>
                <a:path w="4841875" h="406400">
                  <a:moveTo>
                    <a:pt x="0" y="67691"/>
                  </a:moveTo>
                  <a:lnTo>
                    <a:pt x="5326" y="41362"/>
                  </a:lnTo>
                  <a:lnTo>
                    <a:pt x="19843" y="19843"/>
                  </a:lnTo>
                  <a:lnTo>
                    <a:pt x="41362" y="5326"/>
                  </a:lnTo>
                  <a:lnTo>
                    <a:pt x="67691" y="0"/>
                  </a:lnTo>
                  <a:lnTo>
                    <a:pt x="4774057" y="0"/>
                  </a:lnTo>
                  <a:lnTo>
                    <a:pt x="4800385" y="5326"/>
                  </a:lnTo>
                  <a:lnTo>
                    <a:pt x="4821904" y="19843"/>
                  </a:lnTo>
                  <a:lnTo>
                    <a:pt x="4836421" y="41362"/>
                  </a:lnTo>
                  <a:lnTo>
                    <a:pt x="4841748" y="67691"/>
                  </a:lnTo>
                  <a:lnTo>
                    <a:pt x="4841748" y="338455"/>
                  </a:lnTo>
                  <a:lnTo>
                    <a:pt x="4836421" y="364783"/>
                  </a:lnTo>
                  <a:lnTo>
                    <a:pt x="4821904" y="386302"/>
                  </a:lnTo>
                  <a:lnTo>
                    <a:pt x="4800385" y="400819"/>
                  </a:lnTo>
                  <a:lnTo>
                    <a:pt x="4774057" y="406146"/>
                  </a:lnTo>
                  <a:lnTo>
                    <a:pt x="67691" y="406146"/>
                  </a:lnTo>
                  <a:lnTo>
                    <a:pt x="41362" y="400819"/>
                  </a:lnTo>
                  <a:lnTo>
                    <a:pt x="19843" y="386302"/>
                  </a:lnTo>
                  <a:lnTo>
                    <a:pt x="5326" y="364783"/>
                  </a:lnTo>
                  <a:lnTo>
                    <a:pt x="0" y="338455"/>
                  </a:lnTo>
                  <a:lnTo>
                    <a:pt x="0" y="67691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5">
            <a:extLst>
              <a:ext uri="{FF2B5EF4-FFF2-40B4-BE49-F238E27FC236}">
                <a16:creationId xmlns:a16="http://schemas.microsoft.com/office/drawing/2014/main" id="{CB9AABFF-4571-734E-8F34-B36670B6B8A6}"/>
              </a:ext>
            </a:extLst>
          </p:cNvPr>
          <p:cNvSpPr txBox="1"/>
          <p:nvPr/>
        </p:nvSpPr>
        <p:spPr>
          <a:xfrm>
            <a:off x="917891" y="1018599"/>
            <a:ext cx="28822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dirty="0">
                <a:latin typeface="Times New Roman"/>
                <a:cs typeface="Times New Roman"/>
              </a:rPr>
              <a:t>Partition(</a:t>
            </a:r>
            <a:r>
              <a:rPr sz="2800" dirty="0">
                <a:latin typeface="Cambria Math"/>
                <a:cs typeface="Cambria Math"/>
              </a:rPr>
              <a:t>𝑨,</a:t>
            </a:r>
            <a:r>
              <a:rPr sz="2800" spc="-1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𝒑,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𝒓</a:t>
            </a:r>
            <a:r>
              <a:rPr sz="2800" b="1" spc="-2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0A6A7835-8F9C-AF45-B823-C90CD3AD6B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5832" y="175409"/>
            <a:ext cx="553402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数组划分：伪代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F9A405D9-15AE-5A4E-A86A-E8DD5A72E8D1}"/>
              </a:ext>
            </a:extLst>
          </p:cNvPr>
          <p:cNvSpPr txBox="1"/>
          <p:nvPr/>
        </p:nvSpPr>
        <p:spPr>
          <a:xfrm>
            <a:off x="6414896" y="2353436"/>
            <a:ext cx="1586865" cy="482600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233679">
              <a:lnSpc>
                <a:spcPct val="100000"/>
              </a:lnSpc>
              <a:spcBef>
                <a:spcPts val="525"/>
              </a:spcBef>
            </a:pPr>
            <a:r>
              <a:rPr sz="2200" spc="-15">
                <a:latin typeface="宋体"/>
                <a:cs typeface="宋体"/>
              </a:rPr>
              <a:t>选取主元</a:t>
            </a:r>
            <a:endParaRPr sz="220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0846997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>
            <a:extLst>
              <a:ext uri="{FF2B5EF4-FFF2-40B4-BE49-F238E27FC236}">
                <a16:creationId xmlns:a16="http://schemas.microsoft.com/office/drawing/2014/main" id="{8680D657-4E10-9544-823B-B14D0A24E51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89707" y="1615982"/>
            <a:ext cx="10204997" cy="4712552"/>
          </a:xfrm>
          <a:prstGeom prst="rect">
            <a:avLst/>
          </a:prstGeom>
        </p:spPr>
      </p:pic>
      <p:sp>
        <p:nvSpPr>
          <p:cNvPr id="6" name="object 5">
            <a:extLst>
              <a:ext uri="{FF2B5EF4-FFF2-40B4-BE49-F238E27FC236}">
                <a16:creationId xmlns:a16="http://schemas.microsoft.com/office/drawing/2014/main" id="{CB9AABFF-4571-734E-8F34-B36670B6B8A6}"/>
              </a:ext>
            </a:extLst>
          </p:cNvPr>
          <p:cNvSpPr txBox="1"/>
          <p:nvPr/>
        </p:nvSpPr>
        <p:spPr>
          <a:xfrm>
            <a:off x="917891" y="1018599"/>
            <a:ext cx="28822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dirty="0">
                <a:latin typeface="Times New Roman"/>
                <a:cs typeface="Times New Roman"/>
              </a:rPr>
              <a:t>Partition(</a:t>
            </a:r>
            <a:r>
              <a:rPr sz="2800" dirty="0">
                <a:latin typeface="Cambria Math"/>
                <a:cs typeface="Cambria Math"/>
              </a:rPr>
              <a:t>𝑨,</a:t>
            </a:r>
            <a:r>
              <a:rPr sz="2800" spc="-1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𝒑,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𝒓</a:t>
            </a:r>
            <a:r>
              <a:rPr sz="2800" b="1" spc="-2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0A6A7835-8F9C-AF45-B823-C90CD3AD6B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5832" y="175409"/>
            <a:ext cx="553402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数组划分：伪代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A88BDB76-1CE0-0D47-8E05-F0472790E47F}"/>
              </a:ext>
            </a:extLst>
          </p:cNvPr>
          <p:cNvSpPr/>
          <p:nvPr/>
        </p:nvSpPr>
        <p:spPr>
          <a:xfrm>
            <a:off x="1693163" y="3474720"/>
            <a:ext cx="4528185" cy="1096645"/>
          </a:xfrm>
          <a:custGeom>
            <a:avLst/>
            <a:gdLst/>
            <a:ahLst/>
            <a:cxnLst/>
            <a:rect l="l" t="t" r="r" b="b"/>
            <a:pathLst>
              <a:path w="4528185" h="1096645">
                <a:moveTo>
                  <a:pt x="0" y="182752"/>
                </a:moveTo>
                <a:lnTo>
                  <a:pt x="6525" y="134158"/>
                </a:lnTo>
                <a:lnTo>
                  <a:pt x="24943" y="90499"/>
                </a:lnTo>
                <a:lnTo>
                  <a:pt x="53514" y="53514"/>
                </a:lnTo>
                <a:lnTo>
                  <a:pt x="90499" y="24943"/>
                </a:lnTo>
                <a:lnTo>
                  <a:pt x="134158" y="6525"/>
                </a:lnTo>
                <a:lnTo>
                  <a:pt x="182753" y="0"/>
                </a:lnTo>
                <a:lnTo>
                  <a:pt x="4345051" y="0"/>
                </a:lnTo>
                <a:lnTo>
                  <a:pt x="4393645" y="6525"/>
                </a:lnTo>
                <a:lnTo>
                  <a:pt x="4437304" y="24943"/>
                </a:lnTo>
                <a:lnTo>
                  <a:pt x="4474289" y="53514"/>
                </a:lnTo>
                <a:lnTo>
                  <a:pt x="4502860" y="90499"/>
                </a:lnTo>
                <a:lnTo>
                  <a:pt x="4521278" y="134158"/>
                </a:lnTo>
                <a:lnTo>
                  <a:pt x="4527804" y="182752"/>
                </a:lnTo>
                <a:lnTo>
                  <a:pt x="4527804" y="913764"/>
                </a:lnTo>
                <a:lnTo>
                  <a:pt x="4521278" y="962359"/>
                </a:lnTo>
                <a:lnTo>
                  <a:pt x="4502860" y="1006018"/>
                </a:lnTo>
                <a:lnTo>
                  <a:pt x="4474289" y="1043003"/>
                </a:lnTo>
                <a:lnTo>
                  <a:pt x="4437304" y="1071574"/>
                </a:lnTo>
                <a:lnTo>
                  <a:pt x="4393645" y="1089992"/>
                </a:lnTo>
                <a:lnTo>
                  <a:pt x="4345051" y="1096517"/>
                </a:lnTo>
                <a:lnTo>
                  <a:pt x="182753" y="1096517"/>
                </a:lnTo>
                <a:lnTo>
                  <a:pt x="134158" y="1089992"/>
                </a:lnTo>
                <a:lnTo>
                  <a:pt x="90499" y="1071574"/>
                </a:lnTo>
                <a:lnTo>
                  <a:pt x="53514" y="1043003"/>
                </a:lnTo>
                <a:lnTo>
                  <a:pt x="24943" y="1006018"/>
                </a:lnTo>
                <a:lnTo>
                  <a:pt x="6525" y="962359"/>
                </a:lnTo>
                <a:lnTo>
                  <a:pt x="0" y="913764"/>
                </a:lnTo>
                <a:lnTo>
                  <a:pt x="0" y="182752"/>
                </a:lnTo>
                <a:close/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30DF884E-1C89-2240-B454-B8E973851622}"/>
              </a:ext>
            </a:extLst>
          </p:cNvPr>
          <p:cNvSpPr txBox="1"/>
          <p:nvPr/>
        </p:nvSpPr>
        <p:spPr>
          <a:xfrm>
            <a:off x="6414896" y="3443096"/>
            <a:ext cx="3718560" cy="483234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181610">
              <a:lnSpc>
                <a:spcPct val="100000"/>
              </a:lnSpc>
              <a:spcBef>
                <a:spcPts val="525"/>
              </a:spcBef>
            </a:pPr>
            <a:r>
              <a:rPr sz="2200" spc="-5">
                <a:latin typeface="宋体"/>
                <a:cs typeface="宋体"/>
              </a:rPr>
              <a:t>比主元小的元素交换到前面</a:t>
            </a:r>
            <a:endParaRPr sz="220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0594912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>
            <a:extLst>
              <a:ext uri="{FF2B5EF4-FFF2-40B4-BE49-F238E27FC236}">
                <a16:creationId xmlns:a16="http://schemas.microsoft.com/office/drawing/2014/main" id="{8680D657-4E10-9544-823B-B14D0A24E51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89707" y="1615982"/>
            <a:ext cx="10204997" cy="4712552"/>
          </a:xfrm>
          <a:prstGeom prst="rect">
            <a:avLst/>
          </a:prstGeom>
        </p:spPr>
      </p:pic>
      <p:sp>
        <p:nvSpPr>
          <p:cNvPr id="6" name="object 5">
            <a:extLst>
              <a:ext uri="{FF2B5EF4-FFF2-40B4-BE49-F238E27FC236}">
                <a16:creationId xmlns:a16="http://schemas.microsoft.com/office/drawing/2014/main" id="{CB9AABFF-4571-734E-8F34-B36670B6B8A6}"/>
              </a:ext>
            </a:extLst>
          </p:cNvPr>
          <p:cNvSpPr txBox="1"/>
          <p:nvPr/>
        </p:nvSpPr>
        <p:spPr>
          <a:xfrm>
            <a:off x="917891" y="1018599"/>
            <a:ext cx="28822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dirty="0">
                <a:latin typeface="Times New Roman"/>
                <a:cs typeface="Times New Roman"/>
              </a:rPr>
              <a:t>Partition(</a:t>
            </a:r>
            <a:r>
              <a:rPr sz="2800" dirty="0">
                <a:latin typeface="Cambria Math"/>
                <a:cs typeface="Cambria Math"/>
              </a:rPr>
              <a:t>𝑨,</a:t>
            </a:r>
            <a:r>
              <a:rPr sz="2800" spc="-1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𝒑,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𝒓</a:t>
            </a:r>
            <a:r>
              <a:rPr sz="2800" b="1" spc="-2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0A6A7835-8F9C-AF45-B823-C90CD3AD6B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5832" y="175409"/>
            <a:ext cx="553402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数组划分：伪代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pSp>
        <p:nvGrpSpPr>
          <p:cNvPr id="8" name="object 2">
            <a:extLst>
              <a:ext uri="{FF2B5EF4-FFF2-40B4-BE49-F238E27FC236}">
                <a16:creationId xmlns:a16="http://schemas.microsoft.com/office/drawing/2014/main" id="{7B7A0E10-0B05-4842-B00A-038A30D7FA44}"/>
              </a:ext>
            </a:extLst>
          </p:cNvPr>
          <p:cNvGrpSpPr/>
          <p:nvPr/>
        </p:nvGrpSpPr>
        <p:grpSpPr>
          <a:xfrm>
            <a:off x="989707" y="1615982"/>
            <a:ext cx="10205085" cy="4712970"/>
            <a:chOff x="989707" y="1615982"/>
            <a:chExt cx="10205085" cy="4712970"/>
          </a:xfrm>
        </p:grpSpPr>
        <p:pic>
          <p:nvPicPr>
            <p:cNvPr id="11" name="object 3">
              <a:extLst>
                <a:ext uri="{FF2B5EF4-FFF2-40B4-BE49-F238E27FC236}">
                  <a16:creationId xmlns:a16="http://schemas.microsoft.com/office/drawing/2014/main" id="{BF8BDB50-AD7C-764E-9562-19B7DE408D19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989707" y="1615982"/>
              <a:ext cx="10204997" cy="4712552"/>
            </a:xfrm>
            <a:prstGeom prst="rect">
              <a:avLst/>
            </a:prstGeom>
          </p:spPr>
        </p:pic>
        <p:sp>
          <p:nvSpPr>
            <p:cNvPr id="12" name="object 4">
              <a:extLst>
                <a:ext uri="{FF2B5EF4-FFF2-40B4-BE49-F238E27FC236}">
                  <a16:creationId xmlns:a16="http://schemas.microsoft.com/office/drawing/2014/main" id="{750464E4-5F8F-2248-BCEB-90F759AF38B2}"/>
                </a:ext>
              </a:extLst>
            </p:cNvPr>
            <p:cNvSpPr/>
            <p:nvPr/>
          </p:nvSpPr>
          <p:spPr>
            <a:xfrm>
              <a:off x="1408175" y="5128260"/>
              <a:ext cx="4813300" cy="539750"/>
            </a:xfrm>
            <a:custGeom>
              <a:avLst/>
              <a:gdLst/>
              <a:ahLst/>
              <a:cxnLst/>
              <a:rect l="l" t="t" r="r" b="b"/>
              <a:pathLst>
                <a:path w="4813300" h="539750">
                  <a:moveTo>
                    <a:pt x="0" y="89915"/>
                  </a:moveTo>
                  <a:lnTo>
                    <a:pt x="7066" y="54917"/>
                  </a:lnTo>
                  <a:lnTo>
                    <a:pt x="26336" y="26336"/>
                  </a:lnTo>
                  <a:lnTo>
                    <a:pt x="54917" y="7066"/>
                  </a:lnTo>
                  <a:lnTo>
                    <a:pt x="89915" y="0"/>
                  </a:lnTo>
                  <a:lnTo>
                    <a:pt x="4722876" y="0"/>
                  </a:lnTo>
                  <a:lnTo>
                    <a:pt x="4757874" y="7066"/>
                  </a:lnTo>
                  <a:lnTo>
                    <a:pt x="4786455" y="26336"/>
                  </a:lnTo>
                  <a:lnTo>
                    <a:pt x="4805725" y="54917"/>
                  </a:lnTo>
                  <a:lnTo>
                    <a:pt x="4812792" y="89915"/>
                  </a:lnTo>
                  <a:lnTo>
                    <a:pt x="4812792" y="449579"/>
                  </a:lnTo>
                  <a:lnTo>
                    <a:pt x="4805725" y="484578"/>
                  </a:lnTo>
                  <a:lnTo>
                    <a:pt x="4786455" y="513159"/>
                  </a:lnTo>
                  <a:lnTo>
                    <a:pt x="4757874" y="532429"/>
                  </a:lnTo>
                  <a:lnTo>
                    <a:pt x="4722876" y="539495"/>
                  </a:lnTo>
                  <a:lnTo>
                    <a:pt x="89915" y="539495"/>
                  </a:lnTo>
                  <a:lnTo>
                    <a:pt x="54917" y="532429"/>
                  </a:lnTo>
                  <a:lnTo>
                    <a:pt x="26336" y="513159"/>
                  </a:lnTo>
                  <a:lnTo>
                    <a:pt x="7066" y="484578"/>
                  </a:lnTo>
                  <a:lnTo>
                    <a:pt x="0" y="449579"/>
                  </a:lnTo>
                  <a:lnTo>
                    <a:pt x="0" y="89915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4D6BB103-7626-E240-A4E9-8F2432951393}"/>
              </a:ext>
            </a:extLst>
          </p:cNvPr>
          <p:cNvSpPr txBox="1"/>
          <p:nvPr/>
        </p:nvSpPr>
        <p:spPr>
          <a:xfrm>
            <a:off x="6414896" y="5128640"/>
            <a:ext cx="3718560" cy="483234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 marL="1020444">
              <a:lnSpc>
                <a:spcPct val="100000"/>
              </a:lnSpc>
              <a:spcBef>
                <a:spcPts val="530"/>
              </a:spcBef>
            </a:pPr>
            <a:r>
              <a:rPr sz="2200" spc="-10">
                <a:latin typeface="宋体"/>
                <a:cs typeface="宋体"/>
              </a:rPr>
              <a:t>主元作分界线</a:t>
            </a:r>
            <a:endParaRPr sz="220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6767739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>
            <a:extLst>
              <a:ext uri="{FF2B5EF4-FFF2-40B4-BE49-F238E27FC236}">
                <a16:creationId xmlns:a16="http://schemas.microsoft.com/office/drawing/2014/main" id="{8680D657-4E10-9544-823B-B14D0A24E51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89707" y="1615982"/>
            <a:ext cx="10204997" cy="4712552"/>
          </a:xfrm>
          <a:prstGeom prst="rect">
            <a:avLst/>
          </a:prstGeom>
        </p:spPr>
      </p:pic>
      <p:sp>
        <p:nvSpPr>
          <p:cNvPr id="6" name="object 5">
            <a:extLst>
              <a:ext uri="{FF2B5EF4-FFF2-40B4-BE49-F238E27FC236}">
                <a16:creationId xmlns:a16="http://schemas.microsoft.com/office/drawing/2014/main" id="{CB9AABFF-4571-734E-8F34-B36670B6B8A6}"/>
              </a:ext>
            </a:extLst>
          </p:cNvPr>
          <p:cNvSpPr txBox="1"/>
          <p:nvPr/>
        </p:nvSpPr>
        <p:spPr>
          <a:xfrm>
            <a:off x="917891" y="1018599"/>
            <a:ext cx="28822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dirty="0">
                <a:latin typeface="Times New Roman"/>
                <a:cs typeface="Times New Roman"/>
              </a:rPr>
              <a:t>Partition(</a:t>
            </a:r>
            <a:r>
              <a:rPr sz="2800" dirty="0">
                <a:latin typeface="Cambria Math"/>
                <a:cs typeface="Cambria Math"/>
              </a:rPr>
              <a:t>𝑨,</a:t>
            </a:r>
            <a:r>
              <a:rPr sz="2800" spc="-1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𝒑,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𝒓</a:t>
            </a:r>
            <a:r>
              <a:rPr sz="2800" b="1" spc="-2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0A6A7835-8F9C-AF45-B823-C90CD3AD6B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5832" y="175409"/>
            <a:ext cx="553402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数组划分：伪代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BF8BDB50-AD7C-764E-9562-19B7DE408D1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89707" y="1615982"/>
            <a:ext cx="10204997" cy="4712552"/>
          </a:xfrm>
          <a:prstGeom prst="rect">
            <a:avLst/>
          </a:prstGeom>
        </p:spPr>
      </p:pic>
      <p:sp>
        <p:nvSpPr>
          <p:cNvPr id="19" name="object 7">
            <a:extLst>
              <a:ext uri="{FF2B5EF4-FFF2-40B4-BE49-F238E27FC236}">
                <a16:creationId xmlns:a16="http://schemas.microsoft.com/office/drawing/2014/main" id="{F62D50F3-4545-0748-9C28-BB88AF396BBD}"/>
              </a:ext>
            </a:extLst>
          </p:cNvPr>
          <p:cNvSpPr txBox="1"/>
          <p:nvPr/>
        </p:nvSpPr>
        <p:spPr>
          <a:xfrm>
            <a:off x="6624319" y="3919473"/>
            <a:ext cx="64389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0" dirty="0">
                <a:solidFill>
                  <a:srgbClr val="FF0000"/>
                </a:solidFill>
                <a:latin typeface="Cambria Math"/>
                <a:cs typeface="Cambria Math"/>
              </a:rPr>
              <a:t>𝑶(𝒏)</a:t>
            </a:r>
            <a:endParaRPr sz="2200" dirty="0">
              <a:latin typeface="Cambria Math"/>
              <a:cs typeface="Cambria Math"/>
            </a:endParaRPr>
          </a:p>
        </p:txBody>
      </p:sp>
      <p:sp>
        <p:nvSpPr>
          <p:cNvPr id="2" name="右大括号 1">
            <a:extLst>
              <a:ext uri="{FF2B5EF4-FFF2-40B4-BE49-F238E27FC236}">
                <a16:creationId xmlns:a16="http://schemas.microsoft.com/office/drawing/2014/main" id="{335C905C-B12A-2746-9A52-6F7EAD9FFB01}"/>
              </a:ext>
            </a:extLst>
          </p:cNvPr>
          <p:cNvSpPr/>
          <p:nvPr/>
        </p:nvSpPr>
        <p:spPr>
          <a:xfrm>
            <a:off x="6096000" y="3586348"/>
            <a:ext cx="209797" cy="1140031"/>
          </a:xfrm>
          <a:prstGeom prst="rightBrac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object 8">
            <a:extLst>
              <a:ext uri="{FF2B5EF4-FFF2-40B4-BE49-F238E27FC236}">
                <a16:creationId xmlns:a16="http://schemas.microsoft.com/office/drawing/2014/main" id="{0C7CBAD6-7BA7-FE48-8D27-81CF26A3E885}"/>
              </a:ext>
            </a:extLst>
          </p:cNvPr>
          <p:cNvSpPr txBox="1"/>
          <p:nvPr/>
        </p:nvSpPr>
        <p:spPr>
          <a:xfrm>
            <a:off x="8064245" y="5723382"/>
            <a:ext cx="3137535" cy="60007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508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400"/>
              </a:spcBef>
            </a:pPr>
            <a:r>
              <a:rPr sz="2800" spc="-15">
                <a:solidFill>
                  <a:srgbClr val="FFFFFF"/>
                </a:solidFill>
                <a:latin typeface="宋体"/>
                <a:cs typeface="宋体"/>
              </a:rPr>
              <a:t>时间复杂度：</a:t>
            </a:r>
            <a:r>
              <a:rPr sz="2800" spc="-20">
                <a:solidFill>
                  <a:srgbClr val="FFFFFF"/>
                </a:solidFill>
                <a:latin typeface="Cambria Math"/>
                <a:cs typeface="Cambria Math"/>
              </a:rPr>
              <a:t>𝑶(𝒏)</a:t>
            </a:r>
            <a:endParaRPr sz="28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11256899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CFAFA90E-FADE-6548-8C44-F25C17A646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4605" y="206297"/>
            <a:ext cx="5866839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快速排序：算法框</a:t>
            </a:r>
            <a:r>
              <a:rPr spc="-60" dirty="0" err="1">
                <a:latin typeface="SimSun" panose="02010600030101010101" pitchFamily="2" charset="-122"/>
                <a:ea typeface="SimSun" panose="02010600030101010101" pitchFamily="2" charset="-122"/>
              </a:rPr>
              <a:t>架</a:t>
            </a:r>
            <a:endParaRPr spc="-6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B33FAA2E-AB22-C645-90DB-05A800AFCB27}"/>
              </a:ext>
            </a:extLst>
          </p:cNvPr>
          <p:cNvGraphicFramePr>
            <a:graphicFrameLocks noGrp="1"/>
          </p:cNvGraphicFramePr>
          <p:nvPr/>
        </p:nvGraphicFramePr>
        <p:xfrm>
          <a:off x="2661411" y="1365758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4">
            <a:extLst>
              <a:ext uri="{FF2B5EF4-FFF2-40B4-BE49-F238E27FC236}">
                <a16:creationId xmlns:a16="http://schemas.microsoft.com/office/drawing/2014/main" id="{E684C456-562A-AA4E-AFD1-FCB63369337D}"/>
              </a:ext>
            </a:extLst>
          </p:cNvPr>
          <p:cNvSpPr/>
          <p:nvPr/>
        </p:nvSpPr>
        <p:spPr>
          <a:xfrm>
            <a:off x="9504044" y="1179957"/>
            <a:ext cx="2117725" cy="1070610"/>
          </a:xfrm>
          <a:custGeom>
            <a:avLst/>
            <a:gdLst/>
            <a:ahLst/>
            <a:cxnLst/>
            <a:rect l="l" t="t" r="r" b="b"/>
            <a:pathLst>
              <a:path w="2117725" h="1070610">
                <a:moveTo>
                  <a:pt x="2010536" y="0"/>
                </a:moveTo>
                <a:lnTo>
                  <a:pt x="107060" y="0"/>
                </a:lnTo>
                <a:lnTo>
                  <a:pt x="65365" y="8405"/>
                </a:lnTo>
                <a:lnTo>
                  <a:pt x="31337" y="31337"/>
                </a:lnTo>
                <a:lnTo>
                  <a:pt x="8405" y="65365"/>
                </a:lnTo>
                <a:lnTo>
                  <a:pt x="0" y="107060"/>
                </a:lnTo>
                <a:lnTo>
                  <a:pt x="0" y="963548"/>
                </a:lnTo>
                <a:lnTo>
                  <a:pt x="8405" y="1005244"/>
                </a:lnTo>
                <a:lnTo>
                  <a:pt x="31337" y="1039272"/>
                </a:lnTo>
                <a:lnTo>
                  <a:pt x="65365" y="1062204"/>
                </a:lnTo>
                <a:lnTo>
                  <a:pt x="107060" y="1070609"/>
                </a:lnTo>
                <a:lnTo>
                  <a:pt x="2010536" y="1070609"/>
                </a:lnTo>
                <a:lnTo>
                  <a:pt x="2052232" y="1062204"/>
                </a:lnTo>
                <a:lnTo>
                  <a:pt x="2086260" y="1039272"/>
                </a:lnTo>
                <a:lnTo>
                  <a:pt x="2109192" y="1005244"/>
                </a:lnTo>
                <a:lnTo>
                  <a:pt x="2117598" y="963548"/>
                </a:lnTo>
                <a:lnTo>
                  <a:pt x="2117598" y="107060"/>
                </a:lnTo>
                <a:lnTo>
                  <a:pt x="2109192" y="65365"/>
                </a:lnTo>
                <a:lnTo>
                  <a:pt x="2086260" y="31337"/>
                </a:lnTo>
                <a:lnTo>
                  <a:pt x="2052232" y="8405"/>
                </a:lnTo>
                <a:lnTo>
                  <a:pt x="2010536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C394F590-6F47-424F-A5DC-BB62720A36F5}"/>
              </a:ext>
            </a:extLst>
          </p:cNvPr>
          <p:cNvSpPr txBox="1"/>
          <p:nvPr/>
        </p:nvSpPr>
        <p:spPr>
          <a:xfrm>
            <a:off x="9725659" y="1446021"/>
            <a:ext cx="1675764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35">
                <a:solidFill>
                  <a:srgbClr val="FFC000"/>
                </a:solidFill>
                <a:latin typeface="宋体"/>
                <a:cs typeface="宋体"/>
              </a:rPr>
              <a:t>分解</a:t>
            </a:r>
            <a:r>
              <a:rPr sz="2600" spc="-35">
                <a:solidFill>
                  <a:srgbClr val="FFFFFF"/>
                </a:solidFill>
                <a:latin typeface="宋体"/>
                <a:cs typeface="宋体"/>
              </a:rPr>
              <a:t>原问</a:t>
            </a:r>
            <a:r>
              <a:rPr sz="2600" spc="-50">
                <a:solidFill>
                  <a:srgbClr val="FFFFFF"/>
                </a:solidFill>
                <a:latin typeface="宋体"/>
                <a:cs typeface="宋体"/>
              </a:rPr>
              <a:t>题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983532FD-DA30-974D-B7F4-750303DEA824}"/>
              </a:ext>
            </a:extLst>
          </p:cNvPr>
          <p:cNvSpPr/>
          <p:nvPr/>
        </p:nvSpPr>
        <p:spPr>
          <a:xfrm>
            <a:off x="10194797" y="2398776"/>
            <a:ext cx="736600" cy="890905"/>
          </a:xfrm>
          <a:custGeom>
            <a:avLst/>
            <a:gdLst/>
            <a:ahLst/>
            <a:cxnLst/>
            <a:rect l="l" t="t" r="r" b="b"/>
            <a:pathLst>
              <a:path w="736600" h="890903">
                <a:moveTo>
                  <a:pt x="588899" y="0"/>
                </a:moveTo>
                <a:lnTo>
                  <a:pt x="147193" y="0"/>
                </a:lnTo>
                <a:lnTo>
                  <a:pt x="147193" y="522732"/>
                </a:lnTo>
                <a:lnTo>
                  <a:pt x="0" y="522732"/>
                </a:lnTo>
                <a:lnTo>
                  <a:pt x="368046" y="890777"/>
                </a:lnTo>
                <a:lnTo>
                  <a:pt x="736092" y="522732"/>
                </a:lnTo>
                <a:lnTo>
                  <a:pt x="588899" y="522732"/>
                </a:lnTo>
                <a:lnTo>
                  <a:pt x="588899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A51E59A6-2EF4-E044-A5B4-2CAC63661E11}"/>
              </a:ext>
            </a:extLst>
          </p:cNvPr>
          <p:cNvSpPr/>
          <p:nvPr/>
        </p:nvSpPr>
        <p:spPr>
          <a:xfrm>
            <a:off x="9504044" y="3438525"/>
            <a:ext cx="2117725" cy="1070610"/>
          </a:xfrm>
          <a:custGeom>
            <a:avLst/>
            <a:gdLst/>
            <a:ahLst/>
            <a:cxnLst/>
            <a:rect l="l" t="t" r="r" b="b"/>
            <a:pathLst>
              <a:path w="2117725" h="1070610">
                <a:moveTo>
                  <a:pt x="2010536" y="0"/>
                </a:moveTo>
                <a:lnTo>
                  <a:pt x="107060" y="0"/>
                </a:lnTo>
                <a:lnTo>
                  <a:pt x="65365" y="8405"/>
                </a:lnTo>
                <a:lnTo>
                  <a:pt x="31337" y="31337"/>
                </a:lnTo>
                <a:lnTo>
                  <a:pt x="8405" y="65365"/>
                </a:lnTo>
                <a:lnTo>
                  <a:pt x="0" y="107061"/>
                </a:lnTo>
                <a:lnTo>
                  <a:pt x="0" y="963549"/>
                </a:lnTo>
                <a:lnTo>
                  <a:pt x="8405" y="1005244"/>
                </a:lnTo>
                <a:lnTo>
                  <a:pt x="31337" y="1039272"/>
                </a:lnTo>
                <a:lnTo>
                  <a:pt x="65365" y="1062204"/>
                </a:lnTo>
                <a:lnTo>
                  <a:pt x="107060" y="1070610"/>
                </a:lnTo>
                <a:lnTo>
                  <a:pt x="2010536" y="1070610"/>
                </a:lnTo>
                <a:lnTo>
                  <a:pt x="2052232" y="1062204"/>
                </a:lnTo>
                <a:lnTo>
                  <a:pt x="2086260" y="1039272"/>
                </a:lnTo>
                <a:lnTo>
                  <a:pt x="2109192" y="1005244"/>
                </a:lnTo>
                <a:lnTo>
                  <a:pt x="2117598" y="963549"/>
                </a:lnTo>
                <a:lnTo>
                  <a:pt x="2117598" y="107061"/>
                </a:lnTo>
                <a:lnTo>
                  <a:pt x="2109192" y="65365"/>
                </a:lnTo>
                <a:lnTo>
                  <a:pt x="2086260" y="31337"/>
                </a:lnTo>
                <a:lnTo>
                  <a:pt x="2052232" y="8405"/>
                </a:lnTo>
                <a:lnTo>
                  <a:pt x="2010536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F7509E70-E544-CD49-8F22-FE2ADCFD3BB4}"/>
              </a:ext>
            </a:extLst>
          </p:cNvPr>
          <p:cNvSpPr txBox="1"/>
          <p:nvPr/>
        </p:nvSpPr>
        <p:spPr>
          <a:xfrm>
            <a:off x="9725659" y="3704589"/>
            <a:ext cx="1675764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35">
                <a:solidFill>
                  <a:srgbClr val="FFC000"/>
                </a:solidFill>
                <a:latin typeface="宋体"/>
                <a:cs typeface="宋体"/>
              </a:rPr>
              <a:t>解决</a:t>
            </a:r>
            <a:r>
              <a:rPr sz="2600" spc="-35">
                <a:solidFill>
                  <a:srgbClr val="FFFFFF"/>
                </a:solidFill>
                <a:latin typeface="宋体"/>
                <a:cs typeface="宋体"/>
              </a:rPr>
              <a:t>子问</a:t>
            </a:r>
            <a:r>
              <a:rPr sz="2600" spc="-50">
                <a:solidFill>
                  <a:srgbClr val="FFFFFF"/>
                </a:solidFill>
                <a:latin typeface="宋体"/>
                <a:cs typeface="宋体"/>
              </a:rPr>
              <a:t>题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5DAD18EB-F59E-284A-AF53-851C40BA84F3}"/>
              </a:ext>
            </a:extLst>
          </p:cNvPr>
          <p:cNvSpPr/>
          <p:nvPr/>
        </p:nvSpPr>
        <p:spPr>
          <a:xfrm>
            <a:off x="10194797" y="4657344"/>
            <a:ext cx="736600" cy="890269"/>
          </a:xfrm>
          <a:custGeom>
            <a:avLst/>
            <a:gdLst/>
            <a:ahLst/>
            <a:cxnLst/>
            <a:rect l="l" t="t" r="r" b="b"/>
            <a:pathLst>
              <a:path w="736600" h="890269">
                <a:moveTo>
                  <a:pt x="588899" y="0"/>
                </a:moveTo>
                <a:lnTo>
                  <a:pt x="147193" y="0"/>
                </a:lnTo>
                <a:lnTo>
                  <a:pt x="147193" y="521969"/>
                </a:lnTo>
                <a:lnTo>
                  <a:pt x="0" y="521969"/>
                </a:lnTo>
                <a:lnTo>
                  <a:pt x="368046" y="890015"/>
                </a:lnTo>
                <a:lnTo>
                  <a:pt x="736092" y="521969"/>
                </a:lnTo>
                <a:lnTo>
                  <a:pt x="588899" y="521969"/>
                </a:lnTo>
                <a:lnTo>
                  <a:pt x="588899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A9ABE04B-6927-1844-ADAF-49E182E2F054}"/>
              </a:ext>
            </a:extLst>
          </p:cNvPr>
          <p:cNvSpPr/>
          <p:nvPr/>
        </p:nvSpPr>
        <p:spPr>
          <a:xfrm>
            <a:off x="9504044" y="5696330"/>
            <a:ext cx="2117725" cy="1070610"/>
          </a:xfrm>
          <a:custGeom>
            <a:avLst/>
            <a:gdLst/>
            <a:ahLst/>
            <a:cxnLst/>
            <a:rect l="l" t="t" r="r" b="b"/>
            <a:pathLst>
              <a:path w="2117725" h="1070609">
                <a:moveTo>
                  <a:pt x="2010536" y="0"/>
                </a:moveTo>
                <a:lnTo>
                  <a:pt x="107060" y="0"/>
                </a:lnTo>
                <a:lnTo>
                  <a:pt x="65365" y="8412"/>
                </a:lnTo>
                <a:lnTo>
                  <a:pt x="31337" y="31356"/>
                </a:lnTo>
                <a:lnTo>
                  <a:pt x="8405" y="65386"/>
                </a:lnTo>
                <a:lnTo>
                  <a:pt x="0" y="107061"/>
                </a:lnTo>
                <a:lnTo>
                  <a:pt x="0" y="963549"/>
                </a:lnTo>
                <a:lnTo>
                  <a:pt x="8405" y="1005223"/>
                </a:lnTo>
                <a:lnTo>
                  <a:pt x="31337" y="1039253"/>
                </a:lnTo>
                <a:lnTo>
                  <a:pt x="65365" y="1062197"/>
                </a:lnTo>
                <a:lnTo>
                  <a:pt x="107060" y="1070610"/>
                </a:lnTo>
                <a:lnTo>
                  <a:pt x="2010536" y="1070610"/>
                </a:lnTo>
                <a:lnTo>
                  <a:pt x="2052232" y="1062197"/>
                </a:lnTo>
                <a:lnTo>
                  <a:pt x="2086260" y="1039253"/>
                </a:lnTo>
                <a:lnTo>
                  <a:pt x="2109192" y="1005223"/>
                </a:lnTo>
                <a:lnTo>
                  <a:pt x="2117598" y="963549"/>
                </a:lnTo>
                <a:lnTo>
                  <a:pt x="2117598" y="107061"/>
                </a:lnTo>
                <a:lnTo>
                  <a:pt x="2109192" y="65386"/>
                </a:lnTo>
                <a:lnTo>
                  <a:pt x="2086260" y="31356"/>
                </a:lnTo>
                <a:lnTo>
                  <a:pt x="2052232" y="8412"/>
                </a:lnTo>
                <a:lnTo>
                  <a:pt x="2010536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AC7A9CD6-BB79-5144-B87D-90DD0052A0CF}"/>
              </a:ext>
            </a:extLst>
          </p:cNvPr>
          <p:cNvSpPr txBox="1"/>
          <p:nvPr/>
        </p:nvSpPr>
        <p:spPr>
          <a:xfrm>
            <a:off x="9725659" y="5997449"/>
            <a:ext cx="1675764" cy="430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945"/>
              </a:lnSpc>
            </a:pPr>
            <a:r>
              <a:rPr sz="2600" spc="-35">
                <a:solidFill>
                  <a:srgbClr val="FFC000"/>
                </a:solidFill>
                <a:latin typeface="宋体"/>
                <a:cs typeface="宋体"/>
              </a:rPr>
              <a:t>合并</a:t>
            </a:r>
            <a:r>
              <a:rPr sz="2600" spc="-35">
                <a:solidFill>
                  <a:srgbClr val="FFFFFF"/>
                </a:solidFill>
                <a:latin typeface="宋体"/>
                <a:cs typeface="宋体"/>
              </a:rPr>
              <a:t>问题</a:t>
            </a:r>
            <a:r>
              <a:rPr sz="2600" spc="-50">
                <a:solidFill>
                  <a:srgbClr val="FFFFFF"/>
                </a:solidFill>
                <a:latin typeface="宋体"/>
                <a:cs typeface="宋体"/>
              </a:rPr>
              <a:t>解</a:t>
            </a:r>
            <a:endParaRPr sz="260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6361573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CFAFA90E-FADE-6548-8C44-F25C17A646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4605" y="206297"/>
            <a:ext cx="5866839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快速排序：算法框</a:t>
            </a:r>
            <a:r>
              <a:rPr spc="-60" dirty="0" err="1">
                <a:latin typeface="SimSun" panose="02010600030101010101" pitchFamily="2" charset="-122"/>
                <a:ea typeface="SimSun" panose="02010600030101010101" pitchFamily="2" charset="-122"/>
              </a:rPr>
              <a:t>架</a:t>
            </a:r>
            <a:endParaRPr spc="-6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E684C456-562A-AA4E-AFD1-FCB63369337D}"/>
              </a:ext>
            </a:extLst>
          </p:cNvPr>
          <p:cNvSpPr/>
          <p:nvPr/>
        </p:nvSpPr>
        <p:spPr>
          <a:xfrm>
            <a:off x="9504044" y="1179957"/>
            <a:ext cx="2117725" cy="1070610"/>
          </a:xfrm>
          <a:custGeom>
            <a:avLst/>
            <a:gdLst/>
            <a:ahLst/>
            <a:cxnLst/>
            <a:rect l="l" t="t" r="r" b="b"/>
            <a:pathLst>
              <a:path w="2117725" h="1070610">
                <a:moveTo>
                  <a:pt x="2010536" y="0"/>
                </a:moveTo>
                <a:lnTo>
                  <a:pt x="107060" y="0"/>
                </a:lnTo>
                <a:lnTo>
                  <a:pt x="65365" y="8405"/>
                </a:lnTo>
                <a:lnTo>
                  <a:pt x="31337" y="31337"/>
                </a:lnTo>
                <a:lnTo>
                  <a:pt x="8405" y="65365"/>
                </a:lnTo>
                <a:lnTo>
                  <a:pt x="0" y="107060"/>
                </a:lnTo>
                <a:lnTo>
                  <a:pt x="0" y="963548"/>
                </a:lnTo>
                <a:lnTo>
                  <a:pt x="8405" y="1005244"/>
                </a:lnTo>
                <a:lnTo>
                  <a:pt x="31337" y="1039272"/>
                </a:lnTo>
                <a:lnTo>
                  <a:pt x="65365" y="1062204"/>
                </a:lnTo>
                <a:lnTo>
                  <a:pt x="107060" y="1070609"/>
                </a:lnTo>
                <a:lnTo>
                  <a:pt x="2010536" y="1070609"/>
                </a:lnTo>
                <a:lnTo>
                  <a:pt x="2052232" y="1062204"/>
                </a:lnTo>
                <a:lnTo>
                  <a:pt x="2086260" y="1039272"/>
                </a:lnTo>
                <a:lnTo>
                  <a:pt x="2109192" y="1005244"/>
                </a:lnTo>
                <a:lnTo>
                  <a:pt x="2117598" y="963548"/>
                </a:lnTo>
                <a:lnTo>
                  <a:pt x="2117598" y="107060"/>
                </a:lnTo>
                <a:lnTo>
                  <a:pt x="2109192" y="65365"/>
                </a:lnTo>
                <a:lnTo>
                  <a:pt x="2086260" y="31337"/>
                </a:lnTo>
                <a:lnTo>
                  <a:pt x="2052232" y="8405"/>
                </a:lnTo>
                <a:lnTo>
                  <a:pt x="2010536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C394F590-6F47-424F-A5DC-BB62720A36F5}"/>
              </a:ext>
            </a:extLst>
          </p:cNvPr>
          <p:cNvSpPr txBox="1"/>
          <p:nvPr/>
        </p:nvSpPr>
        <p:spPr>
          <a:xfrm>
            <a:off x="9725659" y="1446021"/>
            <a:ext cx="1675764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35">
                <a:solidFill>
                  <a:srgbClr val="FFC000"/>
                </a:solidFill>
                <a:latin typeface="宋体"/>
                <a:cs typeface="宋体"/>
              </a:rPr>
              <a:t>分解</a:t>
            </a:r>
            <a:r>
              <a:rPr sz="2600" spc="-35">
                <a:solidFill>
                  <a:srgbClr val="FFFFFF"/>
                </a:solidFill>
                <a:latin typeface="宋体"/>
                <a:cs typeface="宋体"/>
              </a:rPr>
              <a:t>原问</a:t>
            </a:r>
            <a:r>
              <a:rPr sz="2600" spc="-50">
                <a:solidFill>
                  <a:srgbClr val="FFFFFF"/>
                </a:solidFill>
                <a:latin typeface="宋体"/>
                <a:cs typeface="宋体"/>
              </a:rPr>
              <a:t>题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983532FD-DA30-974D-B7F4-750303DEA824}"/>
              </a:ext>
            </a:extLst>
          </p:cNvPr>
          <p:cNvSpPr/>
          <p:nvPr/>
        </p:nvSpPr>
        <p:spPr>
          <a:xfrm>
            <a:off x="10194797" y="2398776"/>
            <a:ext cx="736600" cy="890905"/>
          </a:xfrm>
          <a:custGeom>
            <a:avLst/>
            <a:gdLst/>
            <a:ahLst/>
            <a:cxnLst/>
            <a:rect l="l" t="t" r="r" b="b"/>
            <a:pathLst>
              <a:path w="736600" h="890903">
                <a:moveTo>
                  <a:pt x="588899" y="0"/>
                </a:moveTo>
                <a:lnTo>
                  <a:pt x="147193" y="0"/>
                </a:lnTo>
                <a:lnTo>
                  <a:pt x="147193" y="522732"/>
                </a:lnTo>
                <a:lnTo>
                  <a:pt x="0" y="522732"/>
                </a:lnTo>
                <a:lnTo>
                  <a:pt x="368046" y="890777"/>
                </a:lnTo>
                <a:lnTo>
                  <a:pt x="736092" y="522732"/>
                </a:lnTo>
                <a:lnTo>
                  <a:pt x="588899" y="522732"/>
                </a:lnTo>
                <a:lnTo>
                  <a:pt x="588899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A51E59A6-2EF4-E044-A5B4-2CAC63661E11}"/>
              </a:ext>
            </a:extLst>
          </p:cNvPr>
          <p:cNvSpPr/>
          <p:nvPr/>
        </p:nvSpPr>
        <p:spPr>
          <a:xfrm>
            <a:off x="9504044" y="3438525"/>
            <a:ext cx="2117725" cy="1070610"/>
          </a:xfrm>
          <a:custGeom>
            <a:avLst/>
            <a:gdLst/>
            <a:ahLst/>
            <a:cxnLst/>
            <a:rect l="l" t="t" r="r" b="b"/>
            <a:pathLst>
              <a:path w="2117725" h="1070610">
                <a:moveTo>
                  <a:pt x="2010536" y="0"/>
                </a:moveTo>
                <a:lnTo>
                  <a:pt x="107060" y="0"/>
                </a:lnTo>
                <a:lnTo>
                  <a:pt x="65365" y="8405"/>
                </a:lnTo>
                <a:lnTo>
                  <a:pt x="31337" y="31337"/>
                </a:lnTo>
                <a:lnTo>
                  <a:pt x="8405" y="65365"/>
                </a:lnTo>
                <a:lnTo>
                  <a:pt x="0" y="107061"/>
                </a:lnTo>
                <a:lnTo>
                  <a:pt x="0" y="963549"/>
                </a:lnTo>
                <a:lnTo>
                  <a:pt x="8405" y="1005244"/>
                </a:lnTo>
                <a:lnTo>
                  <a:pt x="31337" y="1039272"/>
                </a:lnTo>
                <a:lnTo>
                  <a:pt x="65365" y="1062204"/>
                </a:lnTo>
                <a:lnTo>
                  <a:pt x="107060" y="1070610"/>
                </a:lnTo>
                <a:lnTo>
                  <a:pt x="2010536" y="1070610"/>
                </a:lnTo>
                <a:lnTo>
                  <a:pt x="2052232" y="1062204"/>
                </a:lnTo>
                <a:lnTo>
                  <a:pt x="2086260" y="1039272"/>
                </a:lnTo>
                <a:lnTo>
                  <a:pt x="2109192" y="1005244"/>
                </a:lnTo>
                <a:lnTo>
                  <a:pt x="2117598" y="963549"/>
                </a:lnTo>
                <a:lnTo>
                  <a:pt x="2117598" y="107061"/>
                </a:lnTo>
                <a:lnTo>
                  <a:pt x="2109192" y="65365"/>
                </a:lnTo>
                <a:lnTo>
                  <a:pt x="2086260" y="31337"/>
                </a:lnTo>
                <a:lnTo>
                  <a:pt x="2052232" y="8405"/>
                </a:lnTo>
                <a:lnTo>
                  <a:pt x="2010536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F7509E70-E544-CD49-8F22-FE2ADCFD3BB4}"/>
              </a:ext>
            </a:extLst>
          </p:cNvPr>
          <p:cNvSpPr txBox="1"/>
          <p:nvPr/>
        </p:nvSpPr>
        <p:spPr>
          <a:xfrm>
            <a:off x="9725659" y="3704589"/>
            <a:ext cx="1675764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35">
                <a:solidFill>
                  <a:srgbClr val="FFC000"/>
                </a:solidFill>
                <a:latin typeface="宋体"/>
                <a:cs typeface="宋体"/>
              </a:rPr>
              <a:t>解决</a:t>
            </a:r>
            <a:r>
              <a:rPr sz="2600" spc="-35">
                <a:solidFill>
                  <a:srgbClr val="FFFFFF"/>
                </a:solidFill>
                <a:latin typeface="宋体"/>
                <a:cs typeface="宋体"/>
              </a:rPr>
              <a:t>子问</a:t>
            </a:r>
            <a:r>
              <a:rPr sz="2600" spc="-50">
                <a:solidFill>
                  <a:srgbClr val="FFFFFF"/>
                </a:solidFill>
                <a:latin typeface="宋体"/>
                <a:cs typeface="宋体"/>
              </a:rPr>
              <a:t>题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5DAD18EB-F59E-284A-AF53-851C40BA84F3}"/>
              </a:ext>
            </a:extLst>
          </p:cNvPr>
          <p:cNvSpPr/>
          <p:nvPr/>
        </p:nvSpPr>
        <p:spPr>
          <a:xfrm>
            <a:off x="10194797" y="4657344"/>
            <a:ext cx="736600" cy="890269"/>
          </a:xfrm>
          <a:custGeom>
            <a:avLst/>
            <a:gdLst/>
            <a:ahLst/>
            <a:cxnLst/>
            <a:rect l="l" t="t" r="r" b="b"/>
            <a:pathLst>
              <a:path w="736600" h="890269">
                <a:moveTo>
                  <a:pt x="588899" y="0"/>
                </a:moveTo>
                <a:lnTo>
                  <a:pt x="147193" y="0"/>
                </a:lnTo>
                <a:lnTo>
                  <a:pt x="147193" y="521969"/>
                </a:lnTo>
                <a:lnTo>
                  <a:pt x="0" y="521969"/>
                </a:lnTo>
                <a:lnTo>
                  <a:pt x="368046" y="890015"/>
                </a:lnTo>
                <a:lnTo>
                  <a:pt x="736092" y="521969"/>
                </a:lnTo>
                <a:lnTo>
                  <a:pt x="588899" y="521969"/>
                </a:lnTo>
                <a:lnTo>
                  <a:pt x="588899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A9ABE04B-6927-1844-ADAF-49E182E2F054}"/>
              </a:ext>
            </a:extLst>
          </p:cNvPr>
          <p:cNvSpPr/>
          <p:nvPr/>
        </p:nvSpPr>
        <p:spPr>
          <a:xfrm>
            <a:off x="9504044" y="5696330"/>
            <a:ext cx="2117725" cy="1070610"/>
          </a:xfrm>
          <a:custGeom>
            <a:avLst/>
            <a:gdLst/>
            <a:ahLst/>
            <a:cxnLst/>
            <a:rect l="l" t="t" r="r" b="b"/>
            <a:pathLst>
              <a:path w="2117725" h="1070609">
                <a:moveTo>
                  <a:pt x="2010536" y="0"/>
                </a:moveTo>
                <a:lnTo>
                  <a:pt x="107060" y="0"/>
                </a:lnTo>
                <a:lnTo>
                  <a:pt x="65365" y="8412"/>
                </a:lnTo>
                <a:lnTo>
                  <a:pt x="31337" y="31356"/>
                </a:lnTo>
                <a:lnTo>
                  <a:pt x="8405" y="65386"/>
                </a:lnTo>
                <a:lnTo>
                  <a:pt x="0" y="107061"/>
                </a:lnTo>
                <a:lnTo>
                  <a:pt x="0" y="963549"/>
                </a:lnTo>
                <a:lnTo>
                  <a:pt x="8405" y="1005223"/>
                </a:lnTo>
                <a:lnTo>
                  <a:pt x="31337" y="1039253"/>
                </a:lnTo>
                <a:lnTo>
                  <a:pt x="65365" y="1062197"/>
                </a:lnTo>
                <a:lnTo>
                  <a:pt x="107060" y="1070610"/>
                </a:lnTo>
                <a:lnTo>
                  <a:pt x="2010536" y="1070610"/>
                </a:lnTo>
                <a:lnTo>
                  <a:pt x="2052232" y="1062197"/>
                </a:lnTo>
                <a:lnTo>
                  <a:pt x="2086260" y="1039253"/>
                </a:lnTo>
                <a:lnTo>
                  <a:pt x="2109192" y="1005223"/>
                </a:lnTo>
                <a:lnTo>
                  <a:pt x="2117598" y="963549"/>
                </a:lnTo>
                <a:lnTo>
                  <a:pt x="2117598" y="107061"/>
                </a:lnTo>
                <a:lnTo>
                  <a:pt x="2109192" y="65386"/>
                </a:lnTo>
                <a:lnTo>
                  <a:pt x="2086260" y="31356"/>
                </a:lnTo>
                <a:lnTo>
                  <a:pt x="2052232" y="8412"/>
                </a:lnTo>
                <a:lnTo>
                  <a:pt x="2010536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AC7A9CD6-BB79-5144-B87D-90DD0052A0CF}"/>
              </a:ext>
            </a:extLst>
          </p:cNvPr>
          <p:cNvSpPr txBox="1"/>
          <p:nvPr/>
        </p:nvSpPr>
        <p:spPr>
          <a:xfrm>
            <a:off x="9725659" y="5997449"/>
            <a:ext cx="1675764" cy="430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945"/>
              </a:lnSpc>
            </a:pPr>
            <a:r>
              <a:rPr sz="2600" spc="-35">
                <a:solidFill>
                  <a:srgbClr val="FFC000"/>
                </a:solidFill>
                <a:latin typeface="宋体"/>
                <a:cs typeface="宋体"/>
              </a:rPr>
              <a:t>合并</a:t>
            </a:r>
            <a:r>
              <a:rPr sz="2600" spc="-35">
                <a:solidFill>
                  <a:srgbClr val="FFFFFF"/>
                </a:solidFill>
                <a:latin typeface="宋体"/>
                <a:cs typeface="宋体"/>
              </a:rPr>
              <a:t>问题</a:t>
            </a:r>
            <a:r>
              <a:rPr sz="2600" spc="-50">
                <a:solidFill>
                  <a:srgbClr val="FFFFFF"/>
                </a:solidFill>
                <a:latin typeface="宋体"/>
                <a:cs typeface="宋体"/>
              </a:rPr>
              <a:t>解</a:t>
            </a:r>
            <a:endParaRPr sz="2600">
              <a:latin typeface="宋体"/>
              <a:cs typeface="宋体"/>
            </a:endParaRPr>
          </a:p>
        </p:txBody>
      </p:sp>
      <p:graphicFrame>
        <p:nvGraphicFramePr>
          <p:cNvPr id="13" name="object 3">
            <a:extLst>
              <a:ext uri="{FF2B5EF4-FFF2-40B4-BE49-F238E27FC236}">
                <a16:creationId xmlns:a16="http://schemas.microsoft.com/office/drawing/2014/main" id="{8DAF1893-81BC-D343-98DE-EB7416A37C4B}"/>
              </a:ext>
            </a:extLst>
          </p:cNvPr>
          <p:cNvGraphicFramePr>
            <a:graphicFrameLocks noGrp="1"/>
          </p:cNvGraphicFramePr>
          <p:nvPr/>
        </p:nvGraphicFramePr>
        <p:xfrm>
          <a:off x="2661411" y="1365758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object 4">
            <a:extLst>
              <a:ext uri="{FF2B5EF4-FFF2-40B4-BE49-F238E27FC236}">
                <a16:creationId xmlns:a16="http://schemas.microsoft.com/office/drawing/2014/main" id="{717ACDC1-CC5C-BB47-A352-C9C6456D2EA7}"/>
              </a:ext>
            </a:extLst>
          </p:cNvPr>
          <p:cNvSpPr txBox="1"/>
          <p:nvPr/>
        </p:nvSpPr>
        <p:spPr>
          <a:xfrm>
            <a:off x="6721602" y="666495"/>
            <a:ext cx="5848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5">
                <a:latin typeface="宋体"/>
                <a:cs typeface="宋体"/>
              </a:rPr>
              <a:t>主元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15" name="object 5">
            <a:extLst>
              <a:ext uri="{FF2B5EF4-FFF2-40B4-BE49-F238E27FC236}">
                <a16:creationId xmlns:a16="http://schemas.microsoft.com/office/drawing/2014/main" id="{4683231A-778F-F14E-8DBA-E3CE587A963D}"/>
              </a:ext>
            </a:extLst>
          </p:cNvPr>
          <p:cNvSpPr/>
          <p:nvPr/>
        </p:nvSpPr>
        <p:spPr>
          <a:xfrm>
            <a:off x="6947154" y="1011174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4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4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4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6" name="object 4">
            <a:extLst>
              <a:ext uri="{FF2B5EF4-FFF2-40B4-BE49-F238E27FC236}">
                <a16:creationId xmlns:a16="http://schemas.microsoft.com/office/drawing/2014/main" id="{06BB785D-59AA-0A49-9099-EE50A24681D7}"/>
              </a:ext>
            </a:extLst>
          </p:cNvPr>
          <p:cNvGraphicFramePr>
            <a:graphicFrameLocks noGrp="1"/>
          </p:cNvGraphicFramePr>
          <p:nvPr/>
        </p:nvGraphicFramePr>
        <p:xfrm>
          <a:off x="2661411" y="2510154"/>
          <a:ext cx="4607558" cy="577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72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object 5">
            <a:extLst>
              <a:ext uri="{FF2B5EF4-FFF2-40B4-BE49-F238E27FC236}">
                <a16:creationId xmlns:a16="http://schemas.microsoft.com/office/drawing/2014/main" id="{B2695273-BE51-C248-8361-D6DE11346D90}"/>
              </a:ext>
            </a:extLst>
          </p:cNvPr>
          <p:cNvSpPr/>
          <p:nvPr/>
        </p:nvSpPr>
        <p:spPr>
          <a:xfrm>
            <a:off x="4927853" y="1962150"/>
            <a:ext cx="114300" cy="567690"/>
          </a:xfrm>
          <a:custGeom>
            <a:avLst/>
            <a:gdLst/>
            <a:ahLst/>
            <a:cxnLst/>
            <a:rect l="l" t="t" r="r" b="b"/>
            <a:pathLst>
              <a:path w="114300" h="567689">
                <a:moveTo>
                  <a:pt x="38100" y="453009"/>
                </a:moveTo>
                <a:lnTo>
                  <a:pt x="0" y="453009"/>
                </a:lnTo>
                <a:lnTo>
                  <a:pt x="57150" y="567309"/>
                </a:lnTo>
                <a:lnTo>
                  <a:pt x="104775" y="472059"/>
                </a:lnTo>
                <a:lnTo>
                  <a:pt x="38100" y="472059"/>
                </a:lnTo>
                <a:lnTo>
                  <a:pt x="38100" y="453009"/>
                </a:lnTo>
                <a:close/>
              </a:path>
              <a:path w="114300" h="567689">
                <a:moveTo>
                  <a:pt x="76200" y="0"/>
                </a:moveTo>
                <a:lnTo>
                  <a:pt x="38100" y="0"/>
                </a:lnTo>
                <a:lnTo>
                  <a:pt x="38100" y="472059"/>
                </a:lnTo>
                <a:lnTo>
                  <a:pt x="76200" y="472059"/>
                </a:lnTo>
                <a:lnTo>
                  <a:pt x="76200" y="0"/>
                </a:lnTo>
                <a:close/>
              </a:path>
              <a:path w="114300" h="567689">
                <a:moveTo>
                  <a:pt x="114300" y="453009"/>
                </a:moveTo>
                <a:lnTo>
                  <a:pt x="76200" y="453009"/>
                </a:lnTo>
                <a:lnTo>
                  <a:pt x="76200" y="472059"/>
                </a:lnTo>
                <a:lnTo>
                  <a:pt x="104775" y="472059"/>
                </a:lnTo>
                <a:lnTo>
                  <a:pt x="114300" y="4530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6">
            <a:extLst>
              <a:ext uri="{FF2B5EF4-FFF2-40B4-BE49-F238E27FC236}">
                <a16:creationId xmlns:a16="http://schemas.microsoft.com/office/drawing/2014/main" id="{17D725BC-126F-4649-BF6B-10D9C0624125}"/>
              </a:ext>
            </a:extLst>
          </p:cNvPr>
          <p:cNvSpPr txBox="1"/>
          <p:nvPr/>
        </p:nvSpPr>
        <p:spPr>
          <a:xfrm>
            <a:off x="5201792" y="2040254"/>
            <a:ext cx="1382395" cy="431800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85"/>
              </a:spcBef>
            </a:pPr>
            <a:r>
              <a:rPr sz="2200" spc="-15">
                <a:latin typeface="宋体"/>
                <a:cs typeface="宋体"/>
              </a:rPr>
              <a:t>数组划分</a:t>
            </a:r>
            <a:endParaRPr sz="2200">
              <a:latin typeface="宋体"/>
              <a:cs typeface="宋体"/>
            </a:endParaRPr>
          </a:p>
        </p:txBody>
      </p:sp>
      <p:graphicFrame>
        <p:nvGraphicFramePr>
          <p:cNvPr id="19" name="object 7">
            <a:extLst>
              <a:ext uri="{FF2B5EF4-FFF2-40B4-BE49-F238E27FC236}">
                <a16:creationId xmlns:a16="http://schemas.microsoft.com/office/drawing/2014/main" id="{C2FF62CC-0CF6-4A4F-8DE0-64D9DB7E0CC9}"/>
              </a:ext>
            </a:extLst>
          </p:cNvPr>
          <p:cNvGraphicFramePr>
            <a:graphicFrameLocks noGrp="1"/>
          </p:cNvGraphicFramePr>
          <p:nvPr/>
        </p:nvGraphicFramePr>
        <p:xfrm>
          <a:off x="1797304" y="3401186"/>
          <a:ext cx="1727835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object 8">
            <a:extLst>
              <a:ext uri="{FF2B5EF4-FFF2-40B4-BE49-F238E27FC236}">
                <a16:creationId xmlns:a16="http://schemas.microsoft.com/office/drawing/2014/main" id="{0CE80628-FF7C-A041-BBD7-2F0F7FF0DAE3}"/>
              </a:ext>
            </a:extLst>
          </p:cNvPr>
          <p:cNvSpPr/>
          <p:nvPr/>
        </p:nvSpPr>
        <p:spPr>
          <a:xfrm>
            <a:off x="4701285" y="3432365"/>
            <a:ext cx="576580" cy="577215"/>
          </a:xfrm>
          <a:custGeom>
            <a:avLst/>
            <a:gdLst/>
            <a:ahLst/>
            <a:cxnLst/>
            <a:rect l="l" t="t" r="r" b="b"/>
            <a:pathLst>
              <a:path w="576579" h="577214">
                <a:moveTo>
                  <a:pt x="576059" y="0"/>
                </a:moveTo>
                <a:lnTo>
                  <a:pt x="0" y="0"/>
                </a:lnTo>
                <a:lnTo>
                  <a:pt x="0" y="577151"/>
                </a:lnTo>
                <a:lnTo>
                  <a:pt x="576059" y="577151"/>
                </a:lnTo>
                <a:lnTo>
                  <a:pt x="576059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9">
            <a:extLst>
              <a:ext uri="{FF2B5EF4-FFF2-40B4-BE49-F238E27FC236}">
                <a16:creationId xmlns:a16="http://schemas.microsoft.com/office/drawing/2014/main" id="{C8233D06-697F-FF43-91B8-EA22A43617C3}"/>
              </a:ext>
            </a:extLst>
          </p:cNvPr>
          <p:cNvSpPr txBox="1"/>
          <p:nvPr/>
        </p:nvSpPr>
        <p:spPr>
          <a:xfrm>
            <a:off x="4701285" y="3432428"/>
            <a:ext cx="576580" cy="57721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620"/>
              </a:spcBef>
            </a:pPr>
            <a:r>
              <a:rPr sz="2600" b="1" spc="-5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600">
              <a:latin typeface="Times New Roman"/>
              <a:cs typeface="Times New Roman"/>
            </a:endParaRPr>
          </a:p>
        </p:txBody>
      </p:sp>
      <p:graphicFrame>
        <p:nvGraphicFramePr>
          <p:cNvPr id="22" name="object 10">
            <a:extLst>
              <a:ext uri="{FF2B5EF4-FFF2-40B4-BE49-F238E27FC236}">
                <a16:creationId xmlns:a16="http://schemas.microsoft.com/office/drawing/2014/main" id="{0822A478-EAC2-C549-99E8-EFECD9C201E2}"/>
              </a:ext>
            </a:extLst>
          </p:cNvPr>
          <p:cNvGraphicFramePr>
            <a:graphicFrameLocks noGrp="1"/>
          </p:cNvGraphicFramePr>
          <p:nvPr/>
        </p:nvGraphicFramePr>
        <p:xfrm>
          <a:off x="6564630" y="3413378"/>
          <a:ext cx="2303779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object 11">
            <a:extLst>
              <a:ext uri="{FF2B5EF4-FFF2-40B4-BE49-F238E27FC236}">
                <a16:creationId xmlns:a16="http://schemas.microsoft.com/office/drawing/2014/main" id="{9A78C3CC-D624-3346-95A3-CAF5F871BF96}"/>
              </a:ext>
            </a:extLst>
          </p:cNvPr>
          <p:cNvSpPr/>
          <p:nvPr/>
        </p:nvSpPr>
        <p:spPr>
          <a:xfrm>
            <a:off x="2680716" y="3087750"/>
            <a:ext cx="5055870" cy="388620"/>
          </a:xfrm>
          <a:custGeom>
            <a:avLst/>
            <a:gdLst/>
            <a:ahLst/>
            <a:cxnLst/>
            <a:rect l="l" t="t" r="r" b="b"/>
            <a:pathLst>
              <a:path w="5055870" h="388620">
                <a:moveTo>
                  <a:pt x="5055489" y="344932"/>
                </a:moveTo>
                <a:lnTo>
                  <a:pt x="4948682" y="274701"/>
                </a:lnTo>
                <a:lnTo>
                  <a:pt x="4944186" y="312585"/>
                </a:lnTo>
                <a:lnTo>
                  <a:pt x="2306574" y="0"/>
                </a:lnTo>
                <a:lnTo>
                  <a:pt x="2304275" y="18935"/>
                </a:lnTo>
                <a:lnTo>
                  <a:pt x="2301621" y="0"/>
                </a:lnTo>
                <a:lnTo>
                  <a:pt x="110705" y="298551"/>
                </a:lnTo>
                <a:lnTo>
                  <a:pt x="105537" y="260731"/>
                </a:lnTo>
                <a:lnTo>
                  <a:pt x="0" y="332740"/>
                </a:lnTo>
                <a:lnTo>
                  <a:pt x="121031" y="374015"/>
                </a:lnTo>
                <a:lnTo>
                  <a:pt x="116217" y="338836"/>
                </a:lnTo>
                <a:lnTo>
                  <a:pt x="115862" y="336257"/>
                </a:lnTo>
                <a:lnTo>
                  <a:pt x="2285542" y="40754"/>
                </a:lnTo>
                <a:lnTo>
                  <a:pt x="2288260" y="230847"/>
                </a:lnTo>
                <a:lnTo>
                  <a:pt x="2250186" y="231394"/>
                </a:lnTo>
                <a:lnTo>
                  <a:pt x="2308987" y="344932"/>
                </a:lnTo>
                <a:lnTo>
                  <a:pt x="2354745" y="249936"/>
                </a:lnTo>
                <a:lnTo>
                  <a:pt x="2364219" y="230301"/>
                </a:lnTo>
                <a:lnTo>
                  <a:pt x="2364486" y="229743"/>
                </a:lnTo>
                <a:lnTo>
                  <a:pt x="2326360" y="230301"/>
                </a:lnTo>
                <a:lnTo>
                  <a:pt x="2323642" y="40411"/>
                </a:lnTo>
                <a:lnTo>
                  <a:pt x="4939716" y="350316"/>
                </a:lnTo>
                <a:lnTo>
                  <a:pt x="4935220" y="388239"/>
                </a:lnTo>
                <a:lnTo>
                  <a:pt x="5034318" y="352552"/>
                </a:lnTo>
                <a:lnTo>
                  <a:pt x="5055489" y="3449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4" name="object 14">
            <a:extLst>
              <a:ext uri="{FF2B5EF4-FFF2-40B4-BE49-F238E27FC236}">
                <a16:creationId xmlns:a16="http://schemas.microsoft.com/office/drawing/2014/main" id="{BFF2EEAF-74F3-8243-AC5A-2CF219EC2524}"/>
              </a:ext>
            </a:extLst>
          </p:cNvPr>
          <p:cNvGraphicFramePr>
            <a:graphicFrameLocks noGrp="1"/>
          </p:cNvGraphicFramePr>
          <p:nvPr/>
        </p:nvGraphicFramePr>
        <p:xfrm>
          <a:off x="1797304" y="4383659"/>
          <a:ext cx="1727835" cy="577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72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object 15">
            <a:extLst>
              <a:ext uri="{FF2B5EF4-FFF2-40B4-BE49-F238E27FC236}">
                <a16:creationId xmlns:a16="http://schemas.microsoft.com/office/drawing/2014/main" id="{EBCC57AE-CEA5-2C46-BFBA-B891047FEDB9}"/>
              </a:ext>
            </a:extLst>
          </p:cNvPr>
          <p:cNvSpPr txBox="1"/>
          <p:nvPr/>
        </p:nvSpPr>
        <p:spPr>
          <a:xfrm>
            <a:off x="4704460" y="4402709"/>
            <a:ext cx="576580" cy="577215"/>
          </a:xfrm>
          <a:prstGeom prst="rect">
            <a:avLst/>
          </a:prstGeom>
          <a:solidFill>
            <a:srgbClr val="006FC0"/>
          </a:solidFill>
          <a:ln w="38100">
            <a:solidFill>
              <a:srgbClr val="000000"/>
            </a:solidFill>
          </a:ln>
        </p:spPr>
        <p:txBody>
          <a:bodyPr vert="horz" wrap="square" lIns="0" tIns="7937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625"/>
              </a:spcBef>
            </a:pPr>
            <a:r>
              <a:rPr sz="2600" b="1" spc="-5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600">
              <a:latin typeface="Times New Roman"/>
              <a:cs typeface="Times New Roman"/>
            </a:endParaRPr>
          </a:p>
        </p:txBody>
      </p:sp>
      <p:graphicFrame>
        <p:nvGraphicFramePr>
          <p:cNvPr id="26" name="object 16">
            <a:extLst>
              <a:ext uri="{FF2B5EF4-FFF2-40B4-BE49-F238E27FC236}">
                <a16:creationId xmlns:a16="http://schemas.microsoft.com/office/drawing/2014/main" id="{FAADE6E0-0B67-0D41-86E3-855D12DDCB1C}"/>
              </a:ext>
            </a:extLst>
          </p:cNvPr>
          <p:cNvGraphicFramePr>
            <a:graphicFrameLocks noGrp="1"/>
          </p:cNvGraphicFramePr>
          <p:nvPr/>
        </p:nvGraphicFramePr>
        <p:xfrm>
          <a:off x="6567678" y="4383659"/>
          <a:ext cx="2303779" cy="577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721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object 17">
            <a:extLst>
              <a:ext uri="{FF2B5EF4-FFF2-40B4-BE49-F238E27FC236}">
                <a16:creationId xmlns:a16="http://schemas.microsoft.com/office/drawing/2014/main" id="{214F2E22-E2C0-464F-B80C-99DC85EE4325}"/>
              </a:ext>
            </a:extLst>
          </p:cNvPr>
          <p:cNvSpPr/>
          <p:nvPr/>
        </p:nvSpPr>
        <p:spPr>
          <a:xfrm>
            <a:off x="2623566" y="3982973"/>
            <a:ext cx="5172075" cy="420370"/>
          </a:xfrm>
          <a:custGeom>
            <a:avLst/>
            <a:gdLst/>
            <a:ahLst/>
            <a:cxnLst/>
            <a:rect l="l" t="t" r="r" b="b"/>
            <a:pathLst>
              <a:path w="5172075" h="420370">
                <a:moveTo>
                  <a:pt x="114300" y="305689"/>
                </a:moveTo>
                <a:lnTo>
                  <a:pt x="76200" y="305739"/>
                </a:lnTo>
                <a:lnTo>
                  <a:pt x="76200" y="0"/>
                </a:lnTo>
                <a:lnTo>
                  <a:pt x="38100" y="0"/>
                </a:lnTo>
                <a:lnTo>
                  <a:pt x="38100" y="305777"/>
                </a:lnTo>
                <a:lnTo>
                  <a:pt x="0" y="305816"/>
                </a:lnTo>
                <a:lnTo>
                  <a:pt x="57150" y="419989"/>
                </a:lnTo>
                <a:lnTo>
                  <a:pt x="104775" y="324739"/>
                </a:lnTo>
                <a:lnTo>
                  <a:pt x="114300" y="305689"/>
                </a:lnTo>
                <a:close/>
              </a:path>
              <a:path w="5172075" h="420370">
                <a:moveTo>
                  <a:pt x="2425446" y="305435"/>
                </a:moveTo>
                <a:lnTo>
                  <a:pt x="2387320" y="305739"/>
                </a:lnTo>
                <a:lnTo>
                  <a:pt x="2385060" y="12065"/>
                </a:lnTo>
                <a:lnTo>
                  <a:pt x="2346960" y="12319"/>
                </a:lnTo>
                <a:lnTo>
                  <a:pt x="2349220" y="306031"/>
                </a:lnTo>
                <a:lnTo>
                  <a:pt x="2311146" y="306324"/>
                </a:lnTo>
                <a:lnTo>
                  <a:pt x="2369058" y="420116"/>
                </a:lnTo>
                <a:lnTo>
                  <a:pt x="2415819" y="324993"/>
                </a:lnTo>
                <a:lnTo>
                  <a:pt x="2425446" y="305435"/>
                </a:lnTo>
                <a:close/>
              </a:path>
              <a:path w="5172075" h="420370">
                <a:moveTo>
                  <a:pt x="5171694" y="305435"/>
                </a:moveTo>
                <a:lnTo>
                  <a:pt x="5133568" y="305739"/>
                </a:lnTo>
                <a:lnTo>
                  <a:pt x="5131308" y="12065"/>
                </a:lnTo>
                <a:lnTo>
                  <a:pt x="5093208" y="12319"/>
                </a:lnTo>
                <a:lnTo>
                  <a:pt x="5095468" y="306031"/>
                </a:lnTo>
                <a:lnTo>
                  <a:pt x="5057394" y="306324"/>
                </a:lnTo>
                <a:lnTo>
                  <a:pt x="5115306" y="420116"/>
                </a:lnTo>
                <a:lnTo>
                  <a:pt x="5162067" y="324993"/>
                </a:lnTo>
                <a:lnTo>
                  <a:pt x="5171694" y="305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8" name="object 28">
            <a:extLst>
              <a:ext uri="{FF2B5EF4-FFF2-40B4-BE49-F238E27FC236}">
                <a16:creationId xmlns:a16="http://schemas.microsoft.com/office/drawing/2014/main" id="{3612591F-9EB3-7244-9181-25F73BD5E8AC}"/>
              </a:ext>
            </a:extLst>
          </p:cNvPr>
          <p:cNvGraphicFramePr>
            <a:graphicFrameLocks noGrp="1"/>
          </p:cNvGraphicFramePr>
          <p:nvPr/>
        </p:nvGraphicFramePr>
        <p:xfrm>
          <a:off x="2669158" y="5875642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" name="object 29">
            <a:extLst>
              <a:ext uri="{FF2B5EF4-FFF2-40B4-BE49-F238E27FC236}">
                <a16:creationId xmlns:a16="http://schemas.microsoft.com/office/drawing/2014/main" id="{18D254EF-AEE1-254E-B6E9-707F35204178}"/>
              </a:ext>
            </a:extLst>
          </p:cNvPr>
          <p:cNvSpPr/>
          <p:nvPr/>
        </p:nvSpPr>
        <p:spPr>
          <a:xfrm>
            <a:off x="2673604" y="4947157"/>
            <a:ext cx="5071745" cy="965200"/>
          </a:xfrm>
          <a:custGeom>
            <a:avLst/>
            <a:gdLst/>
            <a:ahLst/>
            <a:cxnLst/>
            <a:rect l="l" t="t" r="r" b="b"/>
            <a:pathLst>
              <a:path w="5071745" h="965200">
                <a:moveTo>
                  <a:pt x="5071618" y="36068"/>
                </a:moveTo>
                <a:lnTo>
                  <a:pt x="5059299" y="0"/>
                </a:lnTo>
                <a:lnTo>
                  <a:pt x="2421166" y="892886"/>
                </a:lnTo>
                <a:lnTo>
                  <a:pt x="2408936" y="856792"/>
                </a:lnTo>
                <a:lnTo>
                  <a:pt x="2319070" y="947508"/>
                </a:lnTo>
                <a:lnTo>
                  <a:pt x="2366645" y="852322"/>
                </a:lnTo>
                <a:lnTo>
                  <a:pt x="2376170" y="833272"/>
                </a:lnTo>
                <a:lnTo>
                  <a:pt x="2338070" y="833272"/>
                </a:lnTo>
                <a:lnTo>
                  <a:pt x="2338070" y="18034"/>
                </a:lnTo>
                <a:lnTo>
                  <a:pt x="2299970" y="18034"/>
                </a:lnTo>
                <a:lnTo>
                  <a:pt x="2299970" y="833272"/>
                </a:lnTo>
                <a:lnTo>
                  <a:pt x="2261870" y="833272"/>
                </a:lnTo>
                <a:lnTo>
                  <a:pt x="2318855" y="947254"/>
                </a:lnTo>
                <a:lnTo>
                  <a:pt x="2303335" y="929716"/>
                </a:lnTo>
                <a:lnTo>
                  <a:pt x="2234438" y="851903"/>
                </a:lnTo>
                <a:lnTo>
                  <a:pt x="2220201" y="887272"/>
                </a:lnTo>
                <a:lnTo>
                  <a:pt x="14224" y="381"/>
                </a:lnTo>
                <a:lnTo>
                  <a:pt x="0" y="35687"/>
                </a:lnTo>
                <a:lnTo>
                  <a:pt x="2205977" y="922629"/>
                </a:lnTo>
                <a:lnTo>
                  <a:pt x="2191766" y="957961"/>
                </a:lnTo>
                <a:lnTo>
                  <a:pt x="2319058" y="947585"/>
                </a:lnTo>
                <a:lnTo>
                  <a:pt x="2445639" y="965060"/>
                </a:lnTo>
                <a:lnTo>
                  <a:pt x="2435466" y="935075"/>
                </a:lnTo>
                <a:lnTo>
                  <a:pt x="2433396" y="928954"/>
                </a:lnTo>
                <a:lnTo>
                  <a:pt x="5071618" y="360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6645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0" grpId="0" animBg="1"/>
      <p:bldP spid="21" grpId="0" animBg="1"/>
      <p:bldP spid="23" grpId="0" animBg="1"/>
      <p:bldP spid="25" grpId="0" animBg="1"/>
      <p:bldP spid="27" grpId="0" animBg="1"/>
      <p:bldP spid="2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43BF47AB-6073-4B4A-B7E8-47E18FD892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21458" y="79821"/>
            <a:ext cx="319616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351BC63-B539-B948-A792-E96D2AA496EB}"/>
              </a:ext>
            </a:extLst>
          </p:cNvPr>
          <p:cNvGraphicFramePr>
            <a:graphicFrameLocks noGrp="1"/>
          </p:cNvGraphicFramePr>
          <p:nvPr/>
        </p:nvGraphicFramePr>
        <p:xfrm>
          <a:off x="3738879" y="769112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3388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43BF47AB-6073-4B4A-B7E8-47E18FD892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21458" y="79821"/>
            <a:ext cx="319616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34BCE666-587A-AF41-903E-8EAE4E490D2E}"/>
              </a:ext>
            </a:extLst>
          </p:cNvPr>
          <p:cNvGraphicFramePr>
            <a:graphicFrameLocks noGrp="1"/>
          </p:cNvGraphicFramePr>
          <p:nvPr/>
        </p:nvGraphicFramePr>
        <p:xfrm>
          <a:off x="3738879" y="769112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27079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43BF47AB-6073-4B4A-B7E8-47E18FD892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21458" y="79821"/>
            <a:ext cx="319616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9311AA6-95F4-F141-8953-CE91F0337995}"/>
              </a:ext>
            </a:extLst>
          </p:cNvPr>
          <p:cNvGraphicFramePr>
            <a:graphicFrameLocks noGrp="1"/>
          </p:cNvGraphicFramePr>
          <p:nvPr/>
        </p:nvGraphicFramePr>
        <p:xfrm>
          <a:off x="3738879" y="769112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6EC6281F-BB98-DA4E-AF5D-55D9490ACC94}"/>
              </a:ext>
            </a:extLst>
          </p:cNvPr>
          <p:cNvGraphicFramePr>
            <a:graphicFrameLocks noGrp="1"/>
          </p:cNvGraphicFramePr>
          <p:nvPr/>
        </p:nvGraphicFramePr>
        <p:xfrm>
          <a:off x="8234680" y="1651000"/>
          <a:ext cx="2303779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FCC61DFB-13A0-9045-A8D6-5EC86D514550}"/>
              </a:ext>
            </a:extLst>
          </p:cNvPr>
          <p:cNvGraphicFramePr>
            <a:graphicFrameLocks noGrp="1"/>
          </p:cNvGraphicFramePr>
          <p:nvPr/>
        </p:nvGraphicFramePr>
        <p:xfrm>
          <a:off x="3717416" y="1651000"/>
          <a:ext cx="1727835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8" name="object 6">
            <a:extLst>
              <a:ext uri="{FF2B5EF4-FFF2-40B4-BE49-F238E27FC236}">
                <a16:creationId xmlns:a16="http://schemas.microsoft.com/office/drawing/2014/main" id="{EEEB7428-35EC-7D45-95E5-6220AC8ED82C}"/>
              </a:ext>
            </a:extLst>
          </p:cNvPr>
          <p:cNvGrpSpPr/>
          <p:nvPr/>
        </p:nvGrpSpPr>
        <p:grpSpPr>
          <a:xfrm>
            <a:off x="4600194" y="1346580"/>
            <a:ext cx="4806315" cy="5274310"/>
            <a:chOff x="4600194" y="1346580"/>
            <a:chExt cx="4806315" cy="5274310"/>
          </a:xfrm>
        </p:grpSpPr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AE9F9948-B191-C944-9F2F-E57B698E79A5}"/>
                </a:ext>
              </a:extLst>
            </p:cNvPr>
            <p:cNvSpPr/>
            <p:nvPr/>
          </p:nvSpPr>
          <p:spPr>
            <a:xfrm>
              <a:off x="5774055" y="6024575"/>
              <a:ext cx="576580" cy="577215"/>
            </a:xfrm>
            <a:custGeom>
              <a:avLst/>
              <a:gdLst/>
              <a:ahLst/>
              <a:cxnLst/>
              <a:rect l="l" t="t" r="r" b="b"/>
              <a:pathLst>
                <a:path w="576579" h="577215">
                  <a:moveTo>
                    <a:pt x="576059" y="0"/>
                  </a:moveTo>
                  <a:lnTo>
                    <a:pt x="0" y="0"/>
                  </a:lnTo>
                  <a:lnTo>
                    <a:pt x="0" y="577164"/>
                  </a:lnTo>
                  <a:lnTo>
                    <a:pt x="576059" y="577164"/>
                  </a:lnTo>
                  <a:lnTo>
                    <a:pt x="576059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98852EEB-4BC7-354B-9C82-2D88D4AEF57A}"/>
                </a:ext>
              </a:extLst>
            </p:cNvPr>
            <p:cNvSpPr/>
            <p:nvPr/>
          </p:nvSpPr>
          <p:spPr>
            <a:xfrm>
              <a:off x="5755005" y="6005537"/>
              <a:ext cx="614680" cy="615315"/>
            </a:xfrm>
            <a:custGeom>
              <a:avLst/>
              <a:gdLst/>
              <a:ahLst/>
              <a:cxnLst/>
              <a:rect l="l" t="t" r="r" b="b"/>
              <a:pathLst>
                <a:path w="614679" h="615315">
                  <a:moveTo>
                    <a:pt x="19050" y="0"/>
                  </a:moveTo>
                  <a:lnTo>
                    <a:pt x="19050" y="615251"/>
                  </a:lnTo>
                </a:path>
                <a:path w="614679" h="615315">
                  <a:moveTo>
                    <a:pt x="595122" y="0"/>
                  </a:moveTo>
                  <a:lnTo>
                    <a:pt x="595122" y="615251"/>
                  </a:lnTo>
                </a:path>
                <a:path w="614679" h="615315">
                  <a:moveTo>
                    <a:pt x="0" y="19049"/>
                  </a:moveTo>
                  <a:lnTo>
                    <a:pt x="614172" y="19049"/>
                  </a:lnTo>
                </a:path>
                <a:path w="614679" h="615315">
                  <a:moveTo>
                    <a:pt x="0" y="596201"/>
                  </a:moveTo>
                  <a:lnTo>
                    <a:pt x="614172" y="59620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5E9D76CD-B1E2-CC44-8D6B-713F06AADC4B}"/>
                </a:ext>
              </a:extLst>
            </p:cNvPr>
            <p:cNvSpPr/>
            <p:nvPr/>
          </p:nvSpPr>
          <p:spPr>
            <a:xfrm>
              <a:off x="4600194" y="1346580"/>
              <a:ext cx="4806315" cy="4678680"/>
            </a:xfrm>
            <a:custGeom>
              <a:avLst/>
              <a:gdLst/>
              <a:ahLst/>
              <a:cxnLst/>
              <a:rect l="l" t="t" r="r" b="b"/>
              <a:pathLst>
                <a:path w="4806315" h="4678680">
                  <a:moveTo>
                    <a:pt x="4805934" y="323723"/>
                  </a:moveTo>
                  <a:lnTo>
                    <a:pt x="4697349" y="256413"/>
                  </a:lnTo>
                  <a:lnTo>
                    <a:pt x="4693869" y="294436"/>
                  </a:lnTo>
                  <a:lnTo>
                    <a:pt x="1464056" y="0"/>
                  </a:lnTo>
                  <a:lnTo>
                    <a:pt x="1462278" y="18923"/>
                  </a:lnTo>
                  <a:lnTo>
                    <a:pt x="1461579" y="18923"/>
                  </a:lnTo>
                  <a:lnTo>
                    <a:pt x="1457706" y="254"/>
                  </a:lnTo>
                  <a:lnTo>
                    <a:pt x="107975" y="281749"/>
                  </a:lnTo>
                  <a:lnTo>
                    <a:pt x="100203" y="244475"/>
                  </a:lnTo>
                  <a:lnTo>
                    <a:pt x="0" y="323723"/>
                  </a:lnTo>
                  <a:lnTo>
                    <a:pt x="123571" y="356362"/>
                  </a:lnTo>
                  <a:lnTo>
                    <a:pt x="116586" y="322961"/>
                  </a:lnTo>
                  <a:lnTo>
                    <a:pt x="115773" y="319087"/>
                  </a:lnTo>
                  <a:lnTo>
                    <a:pt x="1443228" y="42227"/>
                  </a:lnTo>
                  <a:lnTo>
                    <a:pt x="1443228" y="4563923"/>
                  </a:lnTo>
                  <a:lnTo>
                    <a:pt x="1405128" y="4563923"/>
                  </a:lnTo>
                  <a:lnTo>
                    <a:pt x="1462278" y="4678223"/>
                  </a:lnTo>
                  <a:lnTo>
                    <a:pt x="1509890" y="4582985"/>
                  </a:lnTo>
                  <a:lnTo>
                    <a:pt x="1519428" y="4563923"/>
                  </a:lnTo>
                  <a:lnTo>
                    <a:pt x="1481328" y="4563923"/>
                  </a:lnTo>
                  <a:lnTo>
                    <a:pt x="1481328" y="39751"/>
                  </a:lnTo>
                  <a:lnTo>
                    <a:pt x="4690402" y="332282"/>
                  </a:lnTo>
                  <a:lnTo>
                    <a:pt x="4686935" y="370205"/>
                  </a:lnTo>
                  <a:lnTo>
                    <a:pt x="4779594" y="334010"/>
                  </a:lnTo>
                  <a:lnTo>
                    <a:pt x="4805934" y="3237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0">
            <a:extLst>
              <a:ext uri="{FF2B5EF4-FFF2-40B4-BE49-F238E27FC236}">
                <a16:creationId xmlns:a16="http://schemas.microsoft.com/office/drawing/2014/main" id="{0C4630A5-0172-F243-BBDA-414E92FB14B3}"/>
              </a:ext>
            </a:extLst>
          </p:cNvPr>
          <p:cNvSpPr txBox="1"/>
          <p:nvPr/>
        </p:nvSpPr>
        <p:spPr>
          <a:xfrm>
            <a:off x="5967221" y="6127354"/>
            <a:ext cx="190500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935"/>
              </a:lnSpc>
            </a:pPr>
            <a:r>
              <a:rPr sz="2600" b="1" spc="-5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6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42308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43BF47AB-6073-4B4A-B7E8-47E18FD892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21458" y="79821"/>
            <a:ext cx="319616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9311AA6-95F4-F141-8953-CE91F0337995}"/>
              </a:ext>
            </a:extLst>
          </p:cNvPr>
          <p:cNvGraphicFramePr>
            <a:graphicFrameLocks noGrp="1"/>
          </p:cNvGraphicFramePr>
          <p:nvPr/>
        </p:nvGraphicFramePr>
        <p:xfrm>
          <a:off x="3738879" y="769112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6EC6281F-BB98-DA4E-AF5D-55D9490ACC94}"/>
              </a:ext>
            </a:extLst>
          </p:cNvPr>
          <p:cNvGraphicFramePr>
            <a:graphicFrameLocks noGrp="1"/>
          </p:cNvGraphicFramePr>
          <p:nvPr/>
        </p:nvGraphicFramePr>
        <p:xfrm>
          <a:off x="8234680" y="1651000"/>
          <a:ext cx="2303779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FCC61DFB-13A0-9045-A8D6-5EC86D514550}"/>
              </a:ext>
            </a:extLst>
          </p:cNvPr>
          <p:cNvGraphicFramePr>
            <a:graphicFrameLocks noGrp="1"/>
          </p:cNvGraphicFramePr>
          <p:nvPr/>
        </p:nvGraphicFramePr>
        <p:xfrm>
          <a:off x="3717416" y="1651000"/>
          <a:ext cx="1727835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8" name="object 6">
            <a:extLst>
              <a:ext uri="{FF2B5EF4-FFF2-40B4-BE49-F238E27FC236}">
                <a16:creationId xmlns:a16="http://schemas.microsoft.com/office/drawing/2014/main" id="{EEEB7428-35EC-7D45-95E5-6220AC8ED82C}"/>
              </a:ext>
            </a:extLst>
          </p:cNvPr>
          <p:cNvGrpSpPr/>
          <p:nvPr/>
        </p:nvGrpSpPr>
        <p:grpSpPr>
          <a:xfrm>
            <a:off x="4600194" y="1346580"/>
            <a:ext cx="4806315" cy="5274310"/>
            <a:chOff x="4600194" y="1346580"/>
            <a:chExt cx="4806315" cy="5274310"/>
          </a:xfrm>
        </p:grpSpPr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AE9F9948-B191-C944-9F2F-E57B698E79A5}"/>
                </a:ext>
              </a:extLst>
            </p:cNvPr>
            <p:cNvSpPr/>
            <p:nvPr/>
          </p:nvSpPr>
          <p:spPr>
            <a:xfrm>
              <a:off x="5774055" y="6024575"/>
              <a:ext cx="576580" cy="577215"/>
            </a:xfrm>
            <a:custGeom>
              <a:avLst/>
              <a:gdLst/>
              <a:ahLst/>
              <a:cxnLst/>
              <a:rect l="l" t="t" r="r" b="b"/>
              <a:pathLst>
                <a:path w="576579" h="577215">
                  <a:moveTo>
                    <a:pt x="576059" y="0"/>
                  </a:moveTo>
                  <a:lnTo>
                    <a:pt x="0" y="0"/>
                  </a:lnTo>
                  <a:lnTo>
                    <a:pt x="0" y="577164"/>
                  </a:lnTo>
                  <a:lnTo>
                    <a:pt x="576059" y="577164"/>
                  </a:lnTo>
                  <a:lnTo>
                    <a:pt x="576059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98852EEB-4BC7-354B-9C82-2D88D4AEF57A}"/>
                </a:ext>
              </a:extLst>
            </p:cNvPr>
            <p:cNvSpPr/>
            <p:nvPr/>
          </p:nvSpPr>
          <p:spPr>
            <a:xfrm>
              <a:off x="5755005" y="6005537"/>
              <a:ext cx="614680" cy="615315"/>
            </a:xfrm>
            <a:custGeom>
              <a:avLst/>
              <a:gdLst/>
              <a:ahLst/>
              <a:cxnLst/>
              <a:rect l="l" t="t" r="r" b="b"/>
              <a:pathLst>
                <a:path w="614679" h="615315">
                  <a:moveTo>
                    <a:pt x="19050" y="0"/>
                  </a:moveTo>
                  <a:lnTo>
                    <a:pt x="19050" y="615251"/>
                  </a:lnTo>
                </a:path>
                <a:path w="614679" h="615315">
                  <a:moveTo>
                    <a:pt x="595122" y="0"/>
                  </a:moveTo>
                  <a:lnTo>
                    <a:pt x="595122" y="615251"/>
                  </a:lnTo>
                </a:path>
                <a:path w="614679" h="615315">
                  <a:moveTo>
                    <a:pt x="0" y="19049"/>
                  </a:moveTo>
                  <a:lnTo>
                    <a:pt x="614172" y="19049"/>
                  </a:lnTo>
                </a:path>
                <a:path w="614679" h="615315">
                  <a:moveTo>
                    <a:pt x="0" y="596201"/>
                  </a:moveTo>
                  <a:lnTo>
                    <a:pt x="614172" y="59620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5E9D76CD-B1E2-CC44-8D6B-713F06AADC4B}"/>
                </a:ext>
              </a:extLst>
            </p:cNvPr>
            <p:cNvSpPr/>
            <p:nvPr/>
          </p:nvSpPr>
          <p:spPr>
            <a:xfrm>
              <a:off x="4600194" y="1346580"/>
              <a:ext cx="4806315" cy="4678680"/>
            </a:xfrm>
            <a:custGeom>
              <a:avLst/>
              <a:gdLst/>
              <a:ahLst/>
              <a:cxnLst/>
              <a:rect l="l" t="t" r="r" b="b"/>
              <a:pathLst>
                <a:path w="4806315" h="4678680">
                  <a:moveTo>
                    <a:pt x="4805934" y="323723"/>
                  </a:moveTo>
                  <a:lnTo>
                    <a:pt x="4697349" y="256413"/>
                  </a:lnTo>
                  <a:lnTo>
                    <a:pt x="4693869" y="294436"/>
                  </a:lnTo>
                  <a:lnTo>
                    <a:pt x="1464056" y="0"/>
                  </a:lnTo>
                  <a:lnTo>
                    <a:pt x="1462278" y="18923"/>
                  </a:lnTo>
                  <a:lnTo>
                    <a:pt x="1461579" y="18923"/>
                  </a:lnTo>
                  <a:lnTo>
                    <a:pt x="1457706" y="254"/>
                  </a:lnTo>
                  <a:lnTo>
                    <a:pt x="107975" y="281749"/>
                  </a:lnTo>
                  <a:lnTo>
                    <a:pt x="100203" y="244475"/>
                  </a:lnTo>
                  <a:lnTo>
                    <a:pt x="0" y="323723"/>
                  </a:lnTo>
                  <a:lnTo>
                    <a:pt x="123571" y="356362"/>
                  </a:lnTo>
                  <a:lnTo>
                    <a:pt x="116586" y="322961"/>
                  </a:lnTo>
                  <a:lnTo>
                    <a:pt x="115773" y="319087"/>
                  </a:lnTo>
                  <a:lnTo>
                    <a:pt x="1443228" y="42227"/>
                  </a:lnTo>
                  <a:lnTo>
                    <a:pt x="1443228" y="4563923"/>
                  </a:lnTo>
                  <a:lnTo>
                    <a:pt x="1405128" y="4563923"/>
                  </a:lnTo>
                  <a:lnTo>
                    <a:pt x="1462278" y="4678223"/>
                  </a:lnTo>
                  <a:lnTo>
                    <a:pt x="1509890" y="4582985"/>
                  </a:lnTo>
                  <a:lnTo>
                    <a:pt x="1519428" y="4563923"/>
                  </a:lnTo>
                  <a:lnTo>
                    <a:pt x="1481328" y="4563923"/>
                  </a:lnTo>
                  <a:lnTo>
                    <a:pt x="1481328" y="39751"/>
                  </a:lnTo>
                  <a:lnTo>
                    <a:pt x="4690402" y="332282"/>
                  </a:lnTo>
                  <a:lnTo>
                    <a:pt x="4686935" y="370205"/>
                  </a:lnTo>
                  <a:lnTo>
                    <a:pt x="4779594" y="334010"/>
                  </a:lnTo>
                  <a:lnTo>
                    <a:pt x="4805934" y="3237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0">
            <a:extLst>
              <a:ext uri="{FF2B5EF4-FFF2-40B4-BE49-F238E27FC236}">
                <a16:creationId xmlns:a16="http://schemas.microsoft.com/office/drawing/2014/main" id="{0C4630A5-0172-F243-BBDA-414E92FB14B3}"/>
              </a:ext>
            </a:extLst>
          </p:cNvPr>
          <p:cNvSpPr txBox="1"/>
          <p:nvPr/>
        </p:nvSpPr>
        <p:spPr>
          <a:xfrm>
            <a:off x="5967221" y="6127354"/>
            <a:ext cx="190500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935"/>
              </a:lnSpc>
            </a:pPr>
            <a:r>
              <a:rPr sz="2600" b="1" spc="-5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600">
              <a:latin typeface="Times New Roman"/>
              <a:cs typeface="Times New Roman"/>
            </a:endParaRPr>
          </a:p>
        </p:txBody>
      </p:sp>
      <p:graphicFrame>
        <p:nvGraphicFramePr>
          <p:cNvPr id="13" name="object 8">
            <a:extLst>
              <a:ext uri="{FF2B5EF4-FFF2-40B4-BE49-F238E27FC236}">
                <a16:creationId xmlns:a16="http://schemas.microsoft.com/office/drawing/2014/main" id="{111CC38E-943C-C843-9340-08715DA9F8FF}"/>
              </a:ext>
            </a:extLst>
          </p:cNvPr>
          <p:cNvGraphicFramePr>
            <a:graphicFrameLocks noGrp="1"/>
          </p:cNvGraphicFramePr>
          <p:nvPr/>
        </p:nvGraphicFramePr>
        <p:xfrm>
          <a:off x="3717416" y="2835529"/>
          <a:ext cx="1727835" cy="577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721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object 9">
            <a:extLst>
              <a:ext uri="{FF2B5EF4-FFF2-40B4-BE49-F238E27FC236}">
                <a16:creationId xmlns:a16="http://schemas.microsoft.com/office/drawing/2014/main" id="{F5B6D4A4-D253-044F-851D-DB46149A5D5D}"/>
              </a:ext>
            </a:extLst>
          </p:cNvPr>
          <p:cNvGraphicFramePr>
            <a:graphicFrameLocks noGrp="1"/>
          </p:cNvGraphicFramePr>
          <p:nvPr/>
        </p:nvGraphicFramePr>
        <p:xfrm>
          <a:off x="3717416" y="1651000"/>
          <a:ext cx="2220592" cy="1111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33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05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96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200" spc="-15">
                          <a:latin typeface="宋体"/>
                          <a:cs typeface="宋体"/>
                        </a:rPr>
                        <a:t>数组划分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object 7">
            <a:extLst>
              <a:ext uri="{FF2B5EF4-FFF2-40B4-BE49-F238E27FC236}">
                <a16:creationId xmlns:a16="http://schemas.microsoft.com/office/drawing/2014/main" id="{5803B104-3E4B-924F-A032-B77F403B67B1}"/>
              </a:ext>
            </a:extLst>
          </p:cNvPr>
          <p:cNvGraphicFramePr>
            <a:graphicFrameLocks noGrp="1"/>
          </p:cNvGraphicFramePr>
          <p:nvPr/>
        </p:nvGraphicFramePr>
        <p:xfrm>
          <a:off x="8234680" y="2835529"/>
          <a:ext cx="2303779" cy="577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721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object 9">
            <a:extLst>
              <a:ext uri="{FF2B5EF4-FFF2-40B4-BE49-F238E27FC236}">
                <a16:creationId xmlns:a16="http://schemas.microsoft.com/office/drawing/2014/main" id="{7DAA6B87-41B9-1D46-911D-71AED6D6ACAF}"/>
              </a:ext>
            </a:extLst>
          </p:cNvPr>
          <p:cNvGraphicFramePr>
            <a:graphicFrameLocks noGrp="1"/>
          </p:cNvGraphicFramePr>
          <p:nvPr/>
        </p:nvGraphicFramePr>
        <p:xfrm>
          <a:off x="8234680" y="1651000"/>
          <a:ext cx="2543808" cy="1111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64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5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8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05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96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200" spc="-15">
                          <a:latin typeface="宋体"/>
                          <a:cs typeface="宋体"/>
                        </a:rPr>
                        <a:t>数组划分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8C0AFF04-8C07-904F-8803-61C7B5C375BF}"/>
              </a:ext>
            </a:extLst>
          </p:cNvPr>
          <p:cNvCxnSpPr/>
          <p:nvPr/>
        </p:nvCxnSpPr>
        <p:spPr>
          <a:xfrm>
            <a:off x="4417620" y="2227580"/>
            <a:ext cx="0" cy="5346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9AAF1D84-D477-D444-8259-FD84DAF17871}"/>
              </a:ext>
            </a:extLst>
          </p:cNvPr>
          <p:cNvCxnSpPr/>
          <p:nvPr/>
        </p:nvCxnSpPr>
        <p:spPr>
          <a:xfrm>
            <a:off x="9284524" y="2227580"/>
            <a:ext cx="0" cy="5346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6843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43BF47AB-6073-4B4A-B7E8-47E18FD892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21458" y="79821"/>
            <a:ext cx="319616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18" name="object 3">
            <a:extLst>
              <a:ext uri="{FF2B5EF4-FFF2-40B4-BE49-F238E27FC236}">
                <a16:creationId xmlns:a16="http://schemas.microsoft.com/office/drawing/2014/main" id="{76057A70-DC13-3743-A24A-F44F18E073F7}"/>
              </a:ext>
            </a:extLst>
          </p:cNvPr>
          <p:cNvGraphicFramePr>
            <a:graphicFrameLocks noGrp="1"/>
          </p:cNvGraphicFramePr>
          <p:nvPr/>
        </p:nvGraphicFramePr>
        <p:xfrm>
          <a:off x="3738879" y="769112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9" name="object 4">
            <a:extLst>
              <a:ext uri="{FF2B5EF4-FFF2-40B4-BE49-F238E27FC236}">
                <a16:creationId xmlns:a16="http://schemas.microsoft.com/office/drawing/2014/main" id="{5AC586A0-BAC8-B24B-B2FE-95E524C72A3C}"/>
              </a:ext>
            </a:extLst>
          </p:cNvPr>
          <p:cNvGrpSpPr/>
          <p:nvPr/>
        </p:nvGrpSpPr>
        <p:grpSpPr>
          <a:xfrm>
            <a:off x="1534922" y="3781552"/>
            <a:ext cx="4853305" cy="2858770"/>
            <a:chOff x="1534922" y="3781552"/>
            <a:chExt cx="4853305" cy="2858770"/>
          </a:xfrm>
        </p:grpSpPr>
        <p:sp>
          <p:nvSpPr>
            <p:cNvPr id="20" name="object 5">
              <a:extLst>
                <a:ext uri="{FF2B5EF4-FFF2-40B4-BE49-F238E27FC236}">
                  <a16:creationId xmlns:a16="http://schemas.microsoft.com/office/drawing/2014/main" id="{3E1B9EEE-2D9A-7B41-979C-976BABFB2FCA}"/>
                </a:ext>
              </a:extLst>
            </p:cNvPr>
            <p:cNvSpPr/>
            <p:nvPr/>
          </p:nvSpPr>
          <p:spPr>
            <a:xfrm>
              <a:off x="5774055" y="6024575"/>
              <a:ext cx="576580" cy="577215"/>
            </a:xfrm>
            <a:custGeom>
              <a:avLst/>
              <a:gdLst/>
              <a:ahLst/>
              <a:cxnLst/>
              <a:rect l="l" t="t" r="r" b="b"/>
              <a:pathLst>
                <a:path w="576579" h="577215">
                  <a:moveTo>
                    <a:pt x="576059" y="0"/>
                  </a:moveTo>
                  <a:lnTo>
                    <a:pt x="0" y="0"/>
                  </a:lnTo>
                  <a:lnTo>
                    <a:pt x="0" y="577164"/>
                  </a:lnTo>
                  <a:lnTo>
                    <a:pt x="576059" y="577164"/>
                  </a:lnTo>
                  <a:lnTo>
                    <a:pt x="576059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6">
              <a:extLst>
                <a:ext uri="{FF2B5EF4-FFF2-40B4-BE49-F238E27FC236}">
                  <a16:creationId xmlns:a16="http://schemas.microsoft.com/office/drawing/2014/main" id="{0DFCE230-EA24-374A-B8F5-BFCF441E9A39}"/>
                </a:ext>
              </a:extLst>
            </p:cNvPr>
            <p:cNvSpPr/>
            <p:nvPr/>
          </p:nvSpPr>
          <p:spPr>
            <a:xfrm>
              <a:off x="5755005" y="6005538"/>
              <a:ext cx="614680" cy="615315"/>
            </a:xfrm>
            <a:custGeom>
              <a:avLst/>
              <a:gdLst/>
              <a:ahLst/>
              <a:cxnLst/>
              <a:rect l="l" t="t" r="r" b="b"/>
              <a:pathLst>
                <a:path w="614679" h="615315">
                  <a:moveTo>
                    <a:pt x="19050" y="0"/>
                  </a:moveTo>
                  <a:lnTo>
                    <a:pt x="19050" y="615251"/>
                  </a:lnTo>
                </a:path>
                <a:path w="614679" h="615315">
                  <a:moveTo>
                    <a:pt x="595122" y="0"/>
                  </a:moveTo>
                  <a:lnTo>
                    <a:pt x="595122" y="615251"/>
                  </a:lnTo>
                </a:path>
                <a:path w="614679" h="615315">
                  <a:moveTo>
                    <a:pt x="0" y="19049"/>
                  </a:moveTo>
                  <a:lnTo>
                    <a:pt x="614172" y="19049"/>
                  </a:lnTo>
                </a:path>
                <a:path w="614679" h="615315">
                  <a:moveTo>
                    <a:pt x="0" y="596201"/>
                  </a:moveTo>
                  <a:lnTo>
                    <a:pt x="614172" y="59620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7">
              <a:extLst>
                <a:ext uri="{FF2B5EF4-FFF2-40B4-BE49-F238E27FC236}">
                  <a16:creationId xmlns:a16="http://schemas.microsoft.com/office/drawing/2014/main" id="{0A06A08E-F9C8-C049-B923-B3CCD8442B5F}"/>
                </a:ext>
              </a:extLst>
            </p:cNvPr>
            <p:cNvSpPr/>
            <p:nvPr/>
          </p:nvSpPr>
          <p:spPr>
            <a:xfrm>
              <a:off x="1573022" y="3819728"/>
              <a:ext cx="1152525" cy="577215"/>
            </a:xfrm>
            <a:custGeom>
              <a:avLst/>
              <a:gdLst/>
              <a:ahLst/>
              <a:cxnLst/>
              <a:rect l="l" t="t" r="r" b="b"/>
              <a:pathLst>
                <a:path w="1152525" h="577214">
                  <a:moveTo>
                    <a:pt x="576059" y="0"/>
                  </a:moveTo>
                  <a:lnTo>
                    <a:pt x="0" y="0"/>
                  </a:lnTo>
                  <a:lnTo>
                    <a:pt x="0" y="577138"/>
                  </a:lnTo>
                  <a:lnTo>
                    <a:pt x="576059" y="577138"/>
                  </a:lnTo>
                  <a:lnTo>
                    <a:pt x="576059" y="0"/>
                  </a:lnTo>
                  <a:close/>
                </a:path>
                <a:path w="1152525" h="577214">
                  <a:moveTo>
                    <a:pt x="1152131" y="0"/>
                  </a:moveTo>
                  <a:lnTo>
                    <a:pt x="576072" y="0"/>
                  </a:lnTo>
                  <a:lnTo>
                    <a:pt x="576072" y="577138"/>
                  </a:lnTo>
                  <a:lnTo>
                    <a:pt x="1152131" y="577138"/>
                  </a:lnTo>
                  <a:lnTo>
                    <a:pt x="1152131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8">
              <a:extLst>
                <a:ext uri="{FF2B5EF4-FFF2-40B4-BE49-F238E27FC236}">
                  <a16:creationId xmlns:a16="http://schemas.microsoft.com/office/drawing/2014/main" id="{6CDD2D89-73DB-894D-B3FC-B155CD46CB12}"/>
                </a:ext>
              </a:extLst>
            </p:cNvPr>
            <p:cNvSpPr/>
            <p:nvPr/>
          </p:nvSpPr>
          <p:spPr>
            <a:xfrm>
              <a:off x="1553972" y="3800602"/>
              <a:ext cx="1190625" cy="615315"/>
            </a:xfrm>
            <a:custGeom>
              <a:avLst/>
              <a:gdLst/>
              <a:ahLst/>
              <a:cxnLst/>
              <a:rect l="l" t="t" r="r" b="b"/>
              <a:pathLst>
                <a:path w="1190625" h="615314">
                  <a:moveTo>
                    <a:pt x="595122" y="0"/>
                  </a:moveTo>
                  <a:lnTo>
                    <a:pt x="595122" y="615315"/>
                  </a:lnTo>
                </a:path>
                <a:path w="1190625" h="615314">
                  <a:moveTo>
                    <a:pt x="19050" y="0"/>
                  </a:moveTo>
                  <a:lnTo>
                    <a:pt x="19050" y="615315"/>
                  </a:lnTo>
                </a:path>
                <a:path w="1190625" h="615314">
                  <a:moveTo>
                    <a:pt x="1171194" y="0"/>
                  </a:moveTo>
                  <a:lnTo>
                    <a:pt x="1171194" y="615315"/>
                  </a:lnTo>
                </a:path>
                <a:path w="1190625" h="615314">
                  <a:moveTo>
                    <a:pt x="0" y="19050"/>
                  </a:moveTo>
                  <a:lnTo>
                    <a:pt x="1190244" y="19050"/>
                  </a:lnTo>
                </a:path>
                <a:path w="1190625" h="615314">
                  <a:moveTo>
                    <a:pt x="0" y="596265"/>
                  </a:moveTo>
                  <a:lnTo>
                    <a:pt x="1190244" y="59626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9">
            <a:extLst>
              <a:ext uri="{FF2B5EF4-FFF2-40B4-BE49-F238E27FC236}">
                <a16:creationId xmlns:a16="http://schemas.microsoft.com/office/drawing/2014/main" id="{6B08D70E-6819-784B-A61A-3D924BE80C2E}"/>
              </a:ext>
            </a:extLst>
          </p:cNvPr>
          <p:cNvSpPr txBox="1"/>
          <p:nvPr/>
        </p:nvSpPr>
        <p:spPr>
          <a:xfrm>
            <a:off x="1766061" y="3886453"/>
            <a:ext cx="76644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8645" algn="l"/>
              </a:tabLst>
            </a:pPr>
            <a:r>
              <a:rPr sz="2600" b="1" spc="-50">
                <a:latin typeface="Times New Roman"/>
                <a:cs typeface="Times New Roman"/>
              </a:rPr>
              <a:t>2</a:t>
            </a:r>
            <a:r>
              <a:rPr sz="2600" b="1">
                <a:latin typeface="Times New Roman"/>
                <a:cs typeface="Times New Roman"/>
              </a:rPr>
              <a:t>	</a:t>
            </a:r>
            <a:r>
              <a:rPr sz="2600" b="1" spc="-50"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grpSp>
        <p:nvGrpSpPr>
          <p:cNvPr id="25" name="object 10">
            <a:extLst>
              <a:ext uri="{FF2B5EF4-FFF2-40B4-BE49-F238E27FC236}">
                <a16:creationId xmlns:a16="http://schemas.microsoft.com/office/drawing/2014/main" id="{979C2ACF-6D94-A548-A2CC-56142F360E93}"/>
              </a:ext>
            </a:extLst>
          </p:cNvPr>
          <p:cNvGrpSpPr/>
          <p:nvPr/>
        </p:nvGrpSpPr>
        <p:grpSpPr>
          <a:xfrm>
            <a:off x="4274439" y="5986488"/>
            <a:ext cx="652780" cy="653415"/>
            <a:chOff x="4274439" y="5986488"/>
            <a:chExt cx="652780" cy="653415"/>
          </a:xfrm>
        </p:grpSpPr>
        <p:sp>
          <p:nvSpPr>
            <p:cNvPr id="26" name="object 11">
              <a:extLst>
                <a:ext uri="{FF2B5EF4-FFF2-40B4-BE49-F238E27FC236}">
                  <a16:creationId xmlns:a16="http://schemas.microsoft.com/office/drawing/2014/main" id="{2544B93A-A23A-F84B-AA6D-9D72D1D9D49A}"/>
                </a:ext>
              </a:extLst>
            </p:cNvPr>
            <p:cNvSpPr/>
            <p:nvPr/>
          </p:nvSpPr>
          <p:spPr>
            <a:xfrm>
              <a:off x="4312539" y="6024575"/>
              <a:ext cx="576580" cy="577215"/>
            </a:xfrm>
            <a:custGeom>
              <a:avLst/>
              <a:gdLst/>
              <a:ahLst/>
              <a:cxnLst/>
              <a:rect l="l" t="t" r="r" b="b"/>
              <a:pathLst>
                <a:path w="576579" h="577215">
                  <a:moveTo>
                    <a:pt x="576059" y="0"/>
                  </a:moveTo>
                  <a:lnTo>
                    <a:pt x="0" y="0"/>
                  </a:lnTo>
                  <a:lnTo>
                    <a:pt x="0" y="577164"/>
                  </a:lnTo>
                  <a:lnTo>
                    <a:pt x="576059" y="577164"/>
                  </a:lnTo>
                  <a:lnTo>
                    <a:pt x="576059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12">
              <a:extLst>
                <a:ext uri="{FF2B5EF4-FFF2-40B4-BE49-F238E27FC236}">
                  <a16:creationId xmlns:a16="http://schemas.microsoft.com/office/drawing/2014/main" id="{E347EFBD-D5BF-8548-8E26-115CF429E785}"/>
                </a:ext>
              </a:extLst>
            </p:cNvPr>
            <p:cNvSpPr/>
            <p:nvPr/>
          </p:nvSpPr>
          <p:spPr>
            <a:xfrm>
              <a:off x="4293489" y="6005538"/>
              <a:ext cx="614680" cy="615315"/>
            </a:xfrm>
            <a:custGeom>
              <a:avLst/>
              <a:gdLst/>
              <a:ahLst/>
              <a:cxnLst/>
              <a:rect l="l" t="t" r="r" b="b"/>
              <a:pathLst>
                <a:path w="614679" h="615315">
                  <a:moveTo>
                    <a:pt x="19050" y="0"/>
                  </a:moveTo>
                  <a:lnTo>
                    <a:pt x="19050" y="615251"/>
                  </a:lnTo>
                </a:path>
                <a:path w="614679" h="615315">
                  <a:moveTo>
                    <a:pt x="595122" y="0"/>
                  </a:moveTo>
                  <a:lnTo>
                    <a:pt x="595122" y="615251"/>
                  </a:lnTo>
                </a:path>
                <a:path w="614679" h="615315">
                  <a:moveTo>
                    <a:pt x="0" y="19049"/>
                  </a:moveTo>
                  <a:lnTo>
                    <a:pt x="614172" y="19049"/>
                  </a:lnTo>
                </a:path>
                <a:path w="614679" h="615315">
                  <a:moveTo>
                    <a:pt x="0" y="596201"/>
                  </a:moveTo>
                  <a:lnTo>
                    <a:pt x="614172" y="59620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8" name="object 13">
            <a:extLst>
              <a:ext uri="{FF2B5EF4-FFF2-40B4-BE49-F238E27FC236}">
                <a16:creationId xmlns:a16="http://schemas.microsoft.com/office/drawing/2014/main" id="{2A9CE3F1-494A-504B-B3FA-BA41902DAB34}"/>
              </a:ext>
            </a:extLst>
          </p:cNvPr>
          <p:cNvGraphicFramePr>
            <a:graphicFrameLocks noGrp="1"/>
          </p:cNvGraphicFramePr>
          <p:nvPr/>
        </p:nvGraphicFramePr>
        <p:xfrm>
          <a:off x="8234680" y="2835529"/>
          <a:ext cx="2303779" cy="577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721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object 14">
            <a:extLst>
              <a:ext uri="{FF2B5EF4-FFF2-40B4-BE49-F238E27FC236}">
                <a16:creationId xmlns:a16="http://schemas.microsoft.com/office/drawing/2014/main" id="{5C0EE8F2-5F2D-954E-8368-54350CFA53CF}"/>
              </a:ext>
            </a:extLst>
          </p:cNvPr>
          <p:cNvGraphicFramePr>
            <a:graphicFrameLocks noGrp="1"/>
          </p:cNvGraphicFramePr>
          <p:nvPr/>
        </p:nvGraphicFramePr>
        <p:xfrm>
          <a:off x="3717416" y="2835529"/>
          <a:ext cx="1727835" cy="577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721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0" name="object 15">
            <a:extLst>
              <a:ext uri="{FF2B5EF4-FFF2-40B4-BE49-F238E27FC236}">
                <a16:creationId xmlns:a16="http://schemas.microsoft.com/office/drawing/2014/main" id="{455C4D83-5D91-7448-A7A9-03DE41CDA3B3}"/>
              </a:ext>
            </a:extLst>
          </p:cNvPr>
          <p:cNvGrpSpPr/>
          <p:nvPr/>
        </p:nvGrpSpPr>
        <p:grpSpPr>
          <a:xfrm>
            <a:off x="7529956" y="3781552"/>
            <a:ext cx="4048760" cy="2858770"/>
            <a:chOff x="7529956" y="3781552"/>
            <a:chExt cx="4048760" cy="2858770"/>
          </a:xfrm>
        </p:grpSpPr>
        <p:sp>
          <p:nvSpPr>
            <p:cNvPr id="31" name="object 16">
              <a:extLst>
                <a:ext uri="{FF2B5EF4-FFF2-40B4-BE49-F238E27FC236}">
                  <a16:creationId xmlns:a16="http://schemas.microsoft.com/office/drawing/2014/main" id="{F2259A25-E561-8948-87BB-E182197C497B}"/>
                </a:ext>
              </a:extLst>
            </p:cNvPr>
            <p:cNvSpPr/>
            <p:nvPr/>
          </p:nvSpPr>
          <p:spPr>
            <a:xfrm>
              <a:off x="7568057" y="3819728"/>
              <a:ext cx="1152525" cy="577215"/>
            </a:xfrm>
            <a:custGeom>
              <a:avLst/>
              <a:gdLst/>
              <a:ahLst/>
              <a:cxnLst/>
              <a:rect l="l" t="t" r="r" b="b"/>
              <a:pathLst>
                <a:path w="1152525" h="577214">
                  <a:moveTo>
                    <a:pt x="576059" y="0"/>
                  </a:moveTo>
                  <a:lnTo>
                    <a:pt x="0" y="0"/>
                  </a:lnTo>
                  <a:lnTo>
                    <a:pt x="0" y="577138"/>
                  </a:lnTo>
                  <a:lnTo>
                    <a:pt x="576059" y="577138"/>
                  </a:lnTo>
                  <a:lnTo>
                    <a:pt x="576059" y="0"/>
                  </a:lnTo>
                  <a:close/>
                </a:path>
                <a:path w="1152525" h="577214">
                  <a:moveTo>
                    <a:pt x="1152131" y="0"/>
                  </a:moveTo>
                  <a:lnTo>
                    <a:pt x="576072" y="0"/>
                  </a:lnTo>
                  <a:lnTo>
                    <a:pt x="576072" y="577138"/>
                  </a:lnTo>
                  <a:lnTo>
                    <a:pt x="1152131" y="577138"/>
                  </a:lnTo>
                  <a:lnTo>
                    <a:pt x="1152131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17">
              <a:extLst>
                <a:ext uri="{FF2B5EF4-FFF2-40B4-BE49-F238E27FC236}">
                  <a16:creationId xmlns:a16="http://schemas.microsoft.com/office/drawing/2014/main" id="{7E07CD6D-B9EC-3749-902E-860DBC22D38A}"/>
                </a:ext>
              </a:extLst>
            </p:cNvPr>
            <p:cNvSpPr/>
            <p:nvPr/>
          </p:nvSpPr>
          <p:spPr>
            <a:xfrm>
              <a:off x="7549006" y="3800602"/>
              <a:ext cx="1190625" cy="615315"/>
            </a:xfrm>
            <a:custGeom>
              <a:avLst/>
              <a:gdLst/>
              <a:ahLst/>
              <a:cxnLst/>
              <a:rect l="l" t="t" r="r" b="b"/>
              <a:pathLst>
                <a:path w="1190625" h="615314">
                  <a:moveTo>
                    <a:pt x="595122" y="0"/>
                  </a:moveTo>
                  <a:lnTo>
                    <a:pt x="595122" y="615315"/>
                  </a:lnTo>
                </a:path>
                <a:path w="1190625" h="615314">
                  <a:moveTo>
                    <a:pt x="19050" y="0"/>
                  </a:moveTo>
                  <a:lnTo>
                    <a:pt x="19050" y="615315"/>
                  </a:lnTo>
                </a:path>
                <a:path w="1190625" h="615314">
                  <a:moveTo>
                    <a:pt x="1171067" y="0"/>
                  </a:moveTo>
                  <a:lnTo>
                    <a:pt x="1171067" y="615315"/>
                  </a:lnTo>
                </a:path>
                <a:path w="1190625" h="615314">
                  <a:moveTo>
                    <a:pt x="0" y="19050"/>
                  </a:moveTo>
                  <a:lnTo>
                    <a:pt x="1190117" y="19050"/>
                  </a:lnTo>
                </a:path>
                <a:path w="1190625" h="615314">
                  <a:moveTo>
                    <a:pt x="0" y="596265"/>
                  </a:moveTo>
                  <a:lnTo>
                    <a:pt x="1190117" y="59626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18">
              <a:extLst>
                <a:ext uri="{FF2B5EF4-FFF2-40B4-BE49-F238E27FC236}">
                  <a16:creationId xmlns:a16="http://schemas.microsoft.com/office/drawing/2014/main" id="{217F6F73-9EAB-904A-9540-E78C96762D96}"/>
                </a:ext>
              </a:extLst>
            </p:cNvPr>
            <p:cNvSpPr/>
            <p:nvPr/>
          </p:nvSpPr>
          <p:spPr>
            <a:xfrm>
              <a:off x="9117837" y="6024575"/>
              <a:ext cx="576580" cy="577215"/>
            </a:xfrm>
            <a:custGeom>
              <a:avLst/>
              <a:gdLst/>
              <a:ahLst/>
              <a:cxnLst/>
              <a:rect l="l" t="t" r="r" b="b"/>
              <a:pathLst>
                <a:path w="576579" h="577215">
                  <a:moveTo>
                    <a:pt x="576059" y="0"/>
                  </a:moveTo>
                  <a:lnTo>
                    <a:pt x="0" y="0"/>
                  </a:lnTo>
                  <a:lnTo>
                    <a:pt x="0" y="577164"/>
                  </a:lnTo>
                  <a:lnTo>
                    <a:pt x="576059" y="577164"/>
                  </a:lnTo>
                  <a:lnTo>
                    <a:pt x="576059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19">
              <a:extLst>
                <a:ext uri="{FF2B5EF4-FFF2-40B4-BE49-F238E27FC236}">
                  <a16:creationId xmlns:a16="http://schemas.microsoft.com/office/drawing/2014/main" id="{38141B55-7A7D-D142-85DF-EE97CF902375}"/>
                </a:ext>
              </a:extLst>
            </p:cNvPr>
            <p:cNvSpPr/>
            <p:nvPr/>
          </p:nvSpPr>
          <p:spPr>
            <a:xfrm>
              <a:off x="9098787" y="6005538"/>
              <a:ext cx="614045" cy="615315"/>
            </a:xfrm>
            <a:custGeom>
              <a:avLst/>
              <a:gdLst/>
              <a:ahLst/>
              <a:cxnLst/>
              <a:rect l="l" t="t" r="r" b="b"/>
              <a:pathLst>
                <a:path w="614045" h="615315">
                  <a:moveTo>
                    <a:pt x="19050" y="0"/>
                  </a:moveTo>
                  <a:lnTo>
                    <a:pt x="19050" y="615251"/>
                  </a:lnTo>
                </a:path>
                <a:path w="614045" h="615315">
                  <a:moveTo>
                    <a:pt x="594994" y="0"/>
                  </a:moveTo>
                  <a:lnTo>
                    <a:pt x="594994" y="615251"/>
                  </a:lnTo>
                </a:path>
                <a:path w="614045" h="615315">
                  <a:moveTo>
                    <a:pt x="0" y="19049"/>
                  </a:moveTo>
                  <a:lnTo>
                    <a:pt x="614044" y="19049"/>
                  </a:lnTo>
                </a:path>
                <a:path w="614045" h="615315">
                  <a:moveTo>
                    <a:pt x="0" y="596201"/>
                  </a:moveTo>
                  <a:lnTo>
                    <a:pt x="614044" y="59620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20">
              <a:extLst>
                <a:ext uri="{FF2B5EF4-FFF2-40B4-BE49-F238E27FC236}">
                  <a16:creationId xmlns:a16="http://schemas.microsoft.com/office/drawing/2014/main" id="{8377314A-958C-6241-B3F0-CFC7B95F9638}"/>
                </a:ext>
              </a:extLst>
            </p:cNvPr>
            <p:cNvSpPr/>
            <p:nvPr/>
          </p:nvSpPr>
          <p:spPr>
            <a:xfrm>
              <a:off x="10964290" y="6024575"/>
              <a:ext cx="576580" cy="577215"/>
            </a:xfrm>
            <a:custGeom>
              <a:avLst/>
              <a:gdLst/>
              <a:ahLst/>
              <a:cxnLst/>
              <a:rect l="l" t="t" r="r" b="b"/>
              <a:pathLst>
                <a:path w="576579" h="577215">
                  <a:moveTo>
                    <a:pt x="576059" y="0"/>
                  </a:moveTo>
                  <a:lnTo>
                    <a:pt x="0" y="0"/>
                  </a:lnTo>
                  <a:lnTo>
                    <a:pt x="0" y="577164"/>
                  </a:lnTo>
                  <a:lnTo>
                    <a:pt x="576059" y="577164"/>
                  </a:lnTo>
                  <a:lnTo>
                    <a:pt x="57605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21">
              <a:extLst>
                <a:ext uri="{FF2B5EF4-FFF2-40B4-BE49-F238E27FC236}">
                  <a16:creationId xmlns:a16="http://schemas.microsoft.com/office/drawing/2014/main" id="{C1C77F81-3105-2C47-A68A-1576391AD2C8}"/>
                </a:ext>
              </a:extLst>
            </p:cNvPr>
            <p:cNvSpPr/>
            <p:nvPr/>
          </p:nvSpPr>
          <p:spPr>
            <a:xfrm>
              <a:off x="10945240" y="6005538"/>
              <a:ext cx="614680" cy="615315"/>
            </a:xfrm>
            <a:custGeom>
              <a:avLst/>
              <a:gdLst/>
              <a:ahLst/>
              <a:cxnLst/>
              <a:rect l="l" t="t" r="r" b="b"/>
              <a:pathLst>
                <a:path w="614679" h="615315">
                  <a:moveTo>
                    <a:pt x="19050" y="0"/>
                  </a:moveTo>
                  <a:lnTo>
                    <a:pt x="19050" y="615251"/>
                  </a:lnTo>
                </a:path>
                <a:path w="614679" h="615315">
                  <a:moveTo>
                    <a:pt x="595122" y="0"/>
                  </a:moveTo>
                  <a:lnTo>
                    <a:pt x="595122" y="615251"/>
                  </a:lnTo>
                </a:path>
                <a:path w="614679" h="615315">
                  <a:moveTo>
                    <a:pt x="0" y="19049"/>
                  </a:moveTo>
                  <a:lnTo>
                    <a:pt x="614172" y="19049"/>
                  </a:lnTo>
                </a:path>
                <a:path w="614679" h="615315">
                  <a:moveTo>
                    <a:pt x="0" y="596201"/>
                  </a:moveTo>
                  <a:lnTo>
                    <a:pt x="614172" y="59620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22">
            <a:extLst>
              <a:ext uri="{FF2B5EF4-FFF2-40B4-BE49-F238E27FC236}">
                <a16:creationId xmlns:a16="http://schemas.microsoft.com/office/drawing/2014/main" id="{513B255C-FD2E-A14D-892E-8412657252BF}"/>
              </a:ext>
            </a:extLst>
          </p:cNvPr>
          <p:cNvSpPr txBox="1"/>
          <p:nvPr/>
        </p:nvSpPr>
        <p:spPr>
          <a:xfrm>
            <a:off x="7761478" y="3886453"/>
            <a:ext cx="76644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8645" algn="l"/>
              </a:tabLst>
            </a:pPr>
            <a:r>
              <a:rPr sz="2600" b="1" spc="-50">
                <a:latin typeface="Times New Roman"/>
                <a:cs typeface="Times New Roman"/>
              </a:rPr>
              <a:t>5</a:t>
            </a:r>
            <a:r>
              <a:rPr sz="2600" b="1">
                <a:latin typeface="Times New Roman"/>
                <a:cs typeface="Times New Roman"/>
              </a:rPr>
              <a:t>	</a:t>
            </a:r>
            <a:r>
              <a:rPr sz="2600" b="1" spc="-50">
                <a:latin typeface="Times New Roman"/>
                <a:cs typeface="Times New Roman"/>
              </a:rPr>
              <a:t>6</a:t>
            </a:r>
            <a:endParaRPr sz="2600">
              <a:latin typeface="Times New Roman"/>
              <a:cs typeface="Times New Roman"/>
            </a:endParaRPr>
          </a:p>
        </p:txBody>
      </p:sp>
      <p:graphicFrame>
        <p:nvGraphicFramePr>
          <p:cNvPr id="38" name="object 23">
            <a:extLst>
              <a:ext uri="{FF2B5EF4-FFF2-40B4-BE49-F238E27FC236}">
                <a16:creationId xmlns:a16="http://schemas.microsoft.com/office/drawing/2014/main" id="{A333BB69-DD79-684F-9E95-C6D3EFF88842}"/>
              </a:ext>
            </a:extLst>
          </p:cNvPr>
          <p:cNvGraphicFramePr>
            <a:graphicFrameLocks noGrp="1"/>
          </p:cNvGraphicFramePr>
          <p:nvPr/>
        </p:nvGraphicFramePr>
        <p:xfrm>
          <a:off x="7549006" y="4996179"/>
          <a:ext cx="1151890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9" name="object 24">
            <a:extLst>
              <a:ext uri="{FF2B5EF4-FFF2-40B4-BE49-F238E27FC236}">
                <a16:creationId xmlns:a16="http://schemas.microsoft.com/office/drawing/2014/main" id="{15D95416-7A90-6B43-957C-0B51AAE1976C}"/>
              </a:ext>
            </a:extLst>
          </p:cNvPr>
          <p:cNvGrpSpPr/>
          <p:nvPr/>
        </p:nvGrpSpPr>
        <p:grpSpPr>
          <a:xfrm>
            <a:off x="6903339" y="5986488"/>
            <a:ext cx="1567180" cy="653415"/>
            <a:chOff x="6903339" y="5986488"/>
            <a:chExt cx="1567180" cy="653415"/>
          </a:xfrm>
        </p:grpSpPr>
        <p:sp>
          <p:nvSpPr>
            <p:cNvPr id="40" name="object 25">
              <a:extLst>
                <a:ext uri="{FF2B5EF4-FFF2-40B4-BE49-F238E27FC236}">
                  <a16:creationId xmlns:a16="http://schemas.microsoft.com/office/drawing/2014/main" id="{C15FBCAA-8DB5-FD4C-924A-64186500CE60}"/>
                </a:ext>
              </a:extLst>
            </p:cNvPr>
            <p:cNvSpPr/>
            <p:nvPr/>
          </p:nvSpPr>
          <p:spPr>
            <a:xfrm>
              <a:off x="6941439" y="6024575"/>
              <a:ext cx="576580" cy="577215"/>
            </a:xfrm>
            <a:custGeom>
              <a:avLst/>
              <a:gdLst/>
              <a:ahLst/>
              <a:cxnLst/>
              <a:rect l="l" t="t" r="r" b="b"/>
              <a:pathLst>
                <a:path w="576579" h="577215">
                  <a:moveTo>
                    <a:pt x="576059" y="0"/>
                  </a:moveTo>
                  <a:lnTo>
                    <a:pt x="0" y="0"/>
                  </a:lnTo>
                  <a:lnTo>
                    <a:pt x="0" y="577164"/>
                  </a:lnTo>
                  <a:lnTo>
                    <a:pt x="576059" y="577164"/>
                  </a:lnTo>
                  <a:lnTo>
                    <a:pt x="576059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26">
              <a:extLst>
                <a:ext uri="{FF2B5EF4-FFF2-40B4-BE49-F238E27FC236}">
                  <a16:creationId xmlns:a16="http://schemas.microsoft.com/office/drawing/2014/main" id="{E895E037-967A-C941-8CC0-5363E0A81583}"/>
                </a:ext>
              </a:extLst>
            </p:cNvPr>
            <p:cNvSpPr/>
            <p:nvPr/>
          </p:nvSpPr>
          <p:spPr>
            <a:xfrm>
              <a:off x="6922389" y="6005538"/>
              <a:ext cx="614680" cy="615315"/>
            </a:xfrm>
            <a:custGeom>
              <a:avLst/>
              <a:gdLst/>
              <a:ahLst/>
              <a:cxnLst/>
              <a:rect l="l" t="t" r="r" b="b"/>
              <a:pathLst>
                <a:path w="614679" h="615315">
                  <a:moveTo>
                    <a:pt x="19050" y="0"/>
                  </a:moveTo>
                  <a:lnTo>
                    <a:pt x="19050" y="615251"/>
                  </a:lnTo>
                </a:path>
                <a:path w="614679" h="615315">
                  <a:moveTo>
                    <a:pt x="595121" y="0"/>
                  </a:moveTo>
                  <a:lnTo>
                    <a:pt x="595121" y="615251"/>
                  </a:lnTo>
                </a:path>
                <a:path w="614679" h="615315">
                  <a:moveTo>
                    <a:pt x="0" y="19049"/>
                  </a:moveTo>
                  <a:lnTo>
                    <a:pt x="614171" y="19049"/>
                  </a:lnTo>
                </a:path>
                <a:path w="614679" h="615315">
                  <a:moveTo>
                    <a:pt x="0" y="596201"/>
                  </a:moveTo>
                  <a:lnTo>
                    <a:pt x="614171" y="59620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27">
              <a:extLst>
                <a:ext uri="{FF2B5EF4-FFF2-40B4-BE49-F238E27FC236}">
                  <a16:creationId xmlns:a16="http://schemas.microsoft.com/office/drawing/2014/main" id="{51795263-E62C-B341-9D37-B61D1BDB4D2C}"/>
                </a:ext>
              </a:extLst>
            </p:cNvPr>
            <p:cNvSpPr/>
            <p:nvPr/>
          </p:nvSpPr>
          <p:spPr>
            <a:xfrm>
              <a:off x="7856093" y="6024575"/>
              <a:ext cx="576580" cy="577215"/>
            </a:xfrm>
            <a:custGeom>
              <a:avLst/>
              <a:gdLst/>
              <a:ahLst/>
              <a:cxnLst/>
              <a:rect l="l" t="t" r="r" b="b"/>
              <a:pathLst>
                <a:path w="576579" h="577215">
                  <a:moveTo>
                    <a:pt x="576059" y="0"/>
                  </a:moveTo>
                  <a:lnTo>
                    <a:pt x="0" y="0"/>
                  </a:lnTo>
                  <a:lnTo>
                    <a:pt x="0" y="577164"/>
                  </a:lnTo>
                  <a:lnTo>
                    <a:pt x="576059" y="577164"/>
                  </a:lnTo>
                  <a:lnTo>
                    <a:pt x="576059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28">
              <a:extLst>
                <a:ext uri="{FF2B5EF4-FFF2-40B4-BE49-F238E27FC236}">
                  <a16:creationId xmlns:a16="http://schemas.microsoft.com/office/drawing/2014/main" id="{8790472D-E4A4-A846-AD29-9C3202EEC390}"/>
                </a:ext>
              </a:extLst>
            </p:cNvPr>
            <p:cNvSpPr/>
            <p:nvPr/>
          </p:nvSpPr>
          <p:spPr>
            <a:xfrm>
              <a:off x="7837043" y="6005538"/>
              <a:ext cx="614680" cy="615315"/>
            </a:xfrm>
            <a:custGeom>
              <a:avLst/>
              <a:gdLst/>
              <a:ahLst/>
              <a:cxnLst/>
              <a:rect l="l" t="t" r="r" b="b"/>
              <a:pathLst>
                <a:path w="614679" h="615315">
                  <a:moveTo>
                    <a:pt x="19050" y="0"/>
                  </a:moveTo>
                  <a:lnTo>
                    <a:pt x="19050" y="615251"/>
                  </a:lnTo>
                </a:path>
                <a:path w="614679" h="615315">
                  <a:moveTo>
                    <a:pt x="595122" y="0"/>
                  </a:moveTo>
                  <a:lnTo>
                    <a:pt x="595122" y="615251"/>
                  </a:lnTo>
                </a:path>
                <a:path w="614679" h="615315">
                  <a:moveTo>
                    <a:pt x="0" y="19049"/>
                  </a:moveTo>
                  <a:lnTo>
                    <a:pt x="614172" y="19049"/>
                  </a:lnTo>
                </a:path>
                <a:path w="614679" h="615315">
                  <a:moveTo>
                    <a:pt x="0" y="596201"/>
                  </a:moveTo>
                  <a:lnTo>
                    <a:pt x="614172" y="59620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44" name="object 29">
            <a:extLst>
              <a:ext uri="{FF2B5EF4-FFF2-40B4-BE49-F238E27FC236}">
                <a16:creationId xmlns:a16="http://schemas.microsoft.com/office/drawing/2014/main" id="{154AE492-36F0-904B-8A4E-995530441D54}"/>
              </a:ext>
            </a:extLst>
          </p:cNvPr>
          <p:cNvGraphicFramePr>
            <a:graphicFrameLocks noGrp="1"/>
          </p:cNvGraphicFramePr>
          <p:nvPr/>
        </p:nvGraphicFramePr>
        <p:xfrm>
          <a:off x="1553972" y="4996179"/>
          <a:ext cx="1151890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5" name="object 30">
            <a:extLst>
              <a:ext uri="{FF2B5EF4-FFF2-40B4-BE49-F238E27FC236}">
                <a16:creationId xmlns:a16="http://schemas.microsoft.com/office/drawing/2014/main" id="{EF37B88D-CB3F-6A4B-9A7E-C1ED408CB10D}"/>
              </a:ext>
            </a:extLst>
          </p:cNvPr>
          <p:cNvGrpSpPr/>
          <p:nvPr/>
        </p:nvGrpSpPr>
        <p:grpSpPr>
          <a:xfrm>
            <a:off x="1822957" y="1346580"/>
            <a:ext cx="9429750" cy="5293360"/>
            <a:chOff x="1822957" y="1346580"/>
            <a:chExt cx="9429750" cy="5293360"/>
          </a:xfrm>
        </p:grpSpPr>
        <p:sp>
          <p:nvSpPr>
            <p:cNvPr id="46" name="object 31">
              <a:extLst>
                <a:ext uri="{FF2B5EF4-FFF2-40B4-BE49-F238E27FC236}">
                  <a16:creationId xmlns:a16="http://schemas.microsoft.com/office/drawing/2014/main" id="{B840BBC9-5B27-1D49-9936-F21AEDFBEBD2}"/>
                </a:ext>
              </a:extLst>
            </p:cNvPr>
            <p:cNvSpPr/>
            <p:nvPr/>
          </p:nvSpPr>
          <p:spPr>
            <a:xfrm>
              <a:off x="2148840" y="1346580"/>
              <a:ext cx="7257415" cy="4678680"/>
            </a:xfrm>
            <a:custGeom>
              <a:avLst/>
              <a:gdLst/>
              <a:ahLst/>
              <a:cxnLst/>
              <a:rect l="l" t="t" r="r" b="b"/>
              <a:pathLst>
                <a:path w="7257415" h="4678680">
                  <a:moveTo>
                    <a:pt x="2508504" y="4563999"/>
                  </a:moveTo>
                  <a:lnTo>
                    <a:pt x="2470404" y="4563999"/>
                  </a:lnTo>
                  <a:lnTo>
                    <a:pt x="2470404" y="2085467"/>
                  </a:lnTo>
                  <a:lnTo>
                    <a:pt x="2451417" y="2085467"/>
                  </a:lnTo>
                  <a:lnTo>
                    <a:pt x="2448433" y="2066671"/>
                  </a:lnTo>
                  <a:lnTo>
                    <a:pt x="109931" y="2436685"/>
                  </a:lnTo>
                  <a:lnTo>
                    <a:pt x="104013" y="2399030"/>
                  </a:lnTo>
                  <a:lnTo>
                    <a:pt x="0" y="2473452"/>
                  </a:lnTo>
                  <a:lnTo>
                    <a:pt x="121793" y="2511933"/>
                  </a:lnTo>
                  <a:lnTo>
                    <a:pt x="116344" y="2477389"/>
                  </a:lnTo>
                  <a:lnTo>
                    <a:pt x="115874" y="2474417"/>
                  </a:lnTo>
                  <a:lnTo>
                    <a:pt x="2432304" y="2107768"/>
                  </a:lnTo>
                  <a:lnTo>
                    <a:pt x="2432304" y="4563999"/>
                  </a:lnTo>
                  <a:lnTo>
                    <a:pt x="2394204" y="4563999"/>
                  </a:lnTo>
                  <a:lnTo>
                    <a:pt x="2451354" y="4678299"/>
                  </a:lnTo>
                  <a:lnTo>
                    <a:pt x="2498979" y="4583049"/>
                  </a:lnTo>
                  <a:lnTo>
                    <a:pt x="2508504" y="4563999"/>
                  </a:lnTo>
                  <a:close/>
                </a:path>
                <a:path w="7257415" h="4678680">
                  <a:moveTo>
                    <a:pt x="7257288" y="323723"/>
                  </a:moveTo>
                  <a:lnTo>
                    <a:pt x="7148703" y="256413"/>
                  </a:lnTo>
                  <a:lnTo>
                    <a:pt x="7145223" y="294436"/>
                  </a:lnTo>
                  <a:lnTo>
                    <a:pt x="3915410" y="0"/>
                  </a:lnTo>
                  <a:lnTo>
                    <a:pt x="3913632" y="18923"/>
                  </a:lnTo>
                  <a:lnTo>
                    <a:pt x="3912933" y="18923"/>
                  </a:lnTo>
                  <a:lnTo>
                    <a:pt x="3909060" y="254"/>
                  </a:lnTo>
                  <a:lnTo>
                    <a:pt x="2559329" y="281749"/>
                  </a:lnTo>
                  <a:lnTo>
                    <a:pt x="2551557" y="244475"/>
                  </a:lnTo>
                  <a:lnTo>
                    <a:pt x="2451354" y="323723"/>
                  </a:lnTo>
                  <a:lnTo>
                    <a:pt x="2574925" y="356362"/>
                  </a:lnTo>
                  <a:lnTo>
                    <a:pt x="2567940" y="322961"/>
                  </a:lnTo>
                  <a:lnTo>
                    <a:pt x="2567127" y="319087"/>
                  </a:lnTo>
                  <a:lnTo>
                    <a:pt x="3894582" y="42227"/>
                  </a:lnTo>
                  <a:lnTo>
                    <a:pt x="3894582" y="4563923"/>
                  </a:lnTo>
                  <a:lnTo>
                    <a:pt x="3856482" y="4563923"/>
                  </a:lnTo>
                  <a:lnTo>
                    <a:pt x="3913632" y="4678223"/>
                  </a:lnTo>
                  <a:lnTo>
                    <a:pt x="3961244" y="4582985"/>
                  </a:lnTo>
                  <a:lnTo>
                    <a:pt x="3970782" y="4563923"/>
                  </a:lnTo>
                  <a:lnTo>
                    <a:pt x="3932682" y="4563923"/>
                  </a:lnTo>
                  <a:lnTo>
                    <a:pt x="3932682" y="39751"/>
                  </a:lnTo>
                  <a:lnTo>
                    <a:pt x="7141756" y="332282"/>
                  </a:lnTo>
                  <a:lnTo>
                    <a:pt x="7138289" y="370205"/>
                  </a:lnTo>
                  <a:lnTo>
                    <a:pt x="7230948" y="334010"/>
                  </a:lnTo>
                  <a:lnTo>
                    <a:pt x="7257288" y="3237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32">
              <a:extLst>
                <a:ext uri="{FF2B5EF4-FFF2-40B4-BE49-F238E27FC236}">
                  <a16:creationId xmlns:a16="http://schemas.microsoft.com/office/drawing/2014/main" id="{F52909D6-BAC0-0147-971F-8449BA66E79D}"/>
                </a:ext>
              </a:extLst>
            </p:cNvPr>
            <p:cNvSpPr/>
            <p:nvPr/>
          </p:nvSpPr>
          <p:spPr>
            <a:xfrm>
              <a:off x="1861057" y="6024575"/>
              <a:ext cx="576580" cy="577215"/>
            </a:xfrm>
            <a:custGeom>
              <a:avLst/>
              <a:gdLst/>
              <a:ahLst/>
              <a:cxnLst/>
              <a:rect l="l" t="t" r="r" b="b"/>
              <a:pathLst>
                <a:path w="576580" h="577215">
                  <a:moveTo>
                    <a:pt x="576059" y="0"/>
                  </a:moveTo>
                  <a:lnTo>
                    <a:pt x="0" y="0"/>
                  </a:lnTo>
                  <a:lnTo>
                    <a:pt x="0" y="577164"/>
                  </a:lnTo>
                  <a:lnTo>
                    <a:pt x="576059" y="577164"/>
                  </a:lnTo>
                  <a:lnTo>
                    <a:pt x="576059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33">
              <a:extLst>
                <a:ext uri="{FF2B5EF4-FFF2-40B4-BE49-F238E27FC236}">
                  <a16:creationId xmlns:a16="http://schemas.microsoft.com/office/drawing/2014/main" id="{CE11A4A1-980B-0B4F-B0F2-C5B63DF0DFB5}"/>
                </a:ext>
              </a:extLst>
            </p:cNvPr>
            <p:cNvSpPr/>
            <p:nvPr/>
          </p:nvSpPr>
          <p:spPr>
            <a:xfrm>
              <a:off x="1842007" y="6005537"/>
              <a:ext cx="614680" cy="615315"/>
            </a:xfrm>
            <a:custGeom>
              <a:avLst/>
              <a:gdLst/>
              <a:ahLst/>
              <a:cxnLst/>
              <a:rect l="l" t="t" r="r" b="b"/>
              <a:pathLst>
                <a:path w="614680" h="615315">
                  <a:moveTo>
                    <a:pt x="19050" y="0"/>
                  </a:moveTo>
                  <a:lnTo>
                    <a:pt x="19050" y="615251"/>
                  </a:lnTo>
                </a:path>
                <a:path w="614680" h="615315">
                  <a:moveTo>
                    <a:pt x="595122" y="0"/>
                  </a:moveTo>
                  <a:lnTo>
                    <a:pt x="595122" y="615251"/>
                  </a:lnTo>
                </a:path>
                <a:path w="614680" h="615315">
                  <a:moveTo>
                    <a:pt x="0" y="19049"/>
                  </a:moveTo>
                  <a:lnTo>
                    <a:pt x="614172" y="19049"/>
                  </a:lnTo>
                </a:path>
                <a:path w="614680" h="615315">
                  <a:moveTo>
                    <a:pt x="0" y="596201"/>
                  </a:moveTo>
                  <a:lnTo>
                    <a:pt x="614172" y="59620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34">
              <a:extLst>
                <a:ext uri="{FF2B5EF4-FFF2-40B4-BE49-F238E27FC236}">
                  <a16:creationId xmlns:a16="http://schemas.microsoft.com/office/drawing/2014/main" id="{3F281BEF-763C-5241-AA18-49C1142B207D}"/>
                </a:ext>
              </a:extLst>
            </p:cNvPr>
            <p:cNvSpPr/>
            <p:nvPr/>
          </p:nvSpPr>
          <p:spPr>
            <a:xfrm>
              <a:off x="2091689" y="5592317"/>
              <a:ext cx="114300" cy="432434"/>
            </a:xfrm>
            <a:custGeom>
              <a:avLst/>
              <a:gdLst/>
              <a:ahLst/>
              <a:cxnLst/>
              <a:rect l="l" t="t" r="r" b="b"/>
              <a:pathLst>
                <a:path w="114300" h="432434">
                  <a:moveTo>
                    <a:pt x="38100" y="317855"/>
                  </a:moveTo>
                  <a:lnTo>
                    <a:pt x="0" y="317855"/>
                  </a:lnTo>
                  <a:lnTo>
                    <a:pt x="57150" y="432155"/>
                  </a:lnTo>
                  <a:lnTo>
                    <a:pt x="104775" y="336905"/>
                  </a:lnTo>
                  <a:lnTo>
                    <a:pt x="38100" y="336905"/>
                  </a:lnTo>
                  <a:lnTo>
                    <a:pt x="38100" y="317855"/>
                  </a:lnTo>
                  <a:close/>
                </a:path>
                <a:path w="114300" h="432434">
                  <a:moveTo>
                    <a:pt x="76200" y="0"/>
                  </a:moveTo>
                  <a:lnTo>
                    <a:pt x="38100" y="0"/>
                  </a:lnTo>
                  <a:lnTo>
                    <a:pt x="38100" y="336905"/>
                  </a:lnTo>
                  <a:lnTo>
                    <a:pt x="76200" y="336905"/>
                  </a:lnTo>
                  <a:lnTo>
                    <a:pt x="76200" y="0"/>
                  </a:lnTo>
                  <a:close/>
                </a:path>
                <a:path w="114300" h="432434">
                  <a:moveTo>
                    <a:pt x="114300" y="317855"/>
                  </a:moveTo>
                  <a:lnTo>
                    <a:pt x="76200" y="317855"/>
                  </a:lnTo>
                  <a:lnTo>
                    <a:pt x="76200" y="336905"/>
                  </a:lnTo>
                  <a:lnTo>
                    <a:pt x="104775" y="336905"/>
                  </a:lnTo>
                  <a:lnTo>
                    <a:pt x="114300" y="3178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35">
              <a:extLst>
                <a:ext uri="{FF2B5EF4-FFF2-40B4-BE49-F238E27FC236}">
                  <a16:creationId xmlns:a16="http://schemas.microsoft.com/office/drawing/2014/main" id="{D060D2E2-F8AB-DF49-9C32-75AA57DAA5FC}"/>
                </a:ext>
              </a:extLst>
            </p:cNvPr>
            <p:cNvSpPr/>
            <p:nvPr/>
          </p:nvSpPr>
          <p:spPr>
            <a:xfrm>
              <a:off x="2947034" y="6024575"/>
              <a:ext cx="576580" cy="577215"/>
            </a:xfrm>
            <a:custGeom>
              <a:avLst/>
              <a:gdLst/>
              <a:ahLst/>
              <a:cxnLst/>
              <a:rect l="l" t="t" r="r" b="b"/>
              <a:pathLst>
                <a:path w="576579" h="577215">
                  <a:moveTo>
                    <a:pt x="576059" y="0"/>
                  </a:moveTo>
                  <a:lnTo>
                    <a:pt x="0" y="0"/>
                  </a:lnTo>
                  <a:lnTo>
                    <a:pt x="0" y="577164"/>
                  </a:lnTo>
                  <a:lnTo>
                    <a:pt x="576059" y="577164"/>
                  </a:lnTo>
                  <a:lnTo>
                    <a:pt x="57605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36">
              <a:extLst>
                <a:ext uri="{FF2B5EF4-FFF2-40B4-BE49-F238E27FC236}">
                  <a16:creationId xmlns:a16="http://schemas.microsoft.com/office/drawing/2014/main" id="{D2732041-1803-2E4B-95CD-E8B6BAC39D69}"/>
                </a:ext>
              </a:extLst>
            </p:cNvPr>
            <p:cNvSpPr/>
            <p:nvPr/>
          </p:nvSpPr>
          <p:spPr>
            <a:xfrm>
              <a:off x="2927984" y="6005537"/>
              <a:ext cx="614680" cy="615315"/>
            </a:xfrm>
            <a:custGeom>
              <a:avLst/>
              <a:gdLst/>
              <a:ahLst/>
              <a:cxnLst/>
              <a:rect l="l" t="t" r="r" b="b"/>
              <a:pathLst>
                <a:path w="614679" h="615315">
                  <a:moveTo>
                    <a:pt x="19050" y="0"/>
                  </a:moveTo>
                  <a:lnTo>
                    <a:pt x="19050" y="615251"/>
                  </a:lnTo>
                </a:path>
                <a:path w="614679" h="615315">
                  <a:moveTo>
                    <a:pt x="595122" y="0"/>
                  </a:moveTo>
                  <a:lnTo>
                    <a:pt x="595122" y="615251"/>
                  </a:lnTo>
                </a:path>
                <a:path w="614679" h="615315">
                  <a:moveTo>
                    <a:pt x="0" y="19049"/>
                  </a:moveTo>
                  <a:lnTo>
                    <a:pt x="614172" y="19049"/>
                  </a:lnTo>
                </a:path>
                <a:path w="614679" h="615315">
                  <a:moveTo>
                    <a:pt x="0" y="596201"/>
                  </a:moveTo>
                  <a:lnTo>
                    <a:pt x="614172" y="59620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37">
              <a:extLst>
                <a:ext uri="{FF2B5EF4-FFF2-40B4-BE49-F238E27FC236}">
                  <a16:creationId xmlns:a16="http://schemas.microsoft.com/office/drawing/2014/main" id="{FA313F04-12B1-A14B-BF61-9FF240D9C3DB}"/>
                </a:ext>
              </a:extLst>
            </p:cNvPr>
            <p:cNvSpPr/>
            <p:nvPr/>
          </p:nvSpPr>
          <p:spPr>
            <a:xfrm>
              <a:off x="2091690" y="2247137"/>
              <a:ext cx="9161145" cy="3788410"/>
            </a:xfrm>
            <a:custGeom>
              <a:avLst/>
              <a:gdLst/>
              <a:ahLst/>
              <a:cxnLst/>
              <a:rect l="l" t="t" r="r" b="b"/>
              <a:pathLst>
                <a:path w="9161145" h="3788410">
                  <a:moveTo>
                    <a:pt x="114300" y="2653665"/>
                  </a:moveTo>
                  <a:lnTo>
                    <a:pt x="76200" y="2653665"/>
                  </a:lnTo>
                  <a:lnTo>
                    <a:pt x="76200" y="2149602"/>
                  </a:lnTo>
                  <a:lnTo>
                    <a:pt x="38100" y="2149602"/>
                  </a:lnTo>
                  <a:lnTo>
                    <a:pt x="38100" y="2653665"/>
                  </a:lnTo>
                  <a:lnTo>
                    <a:pt x="0" y="2653665"/>
                  </a:lnTo>
                  <a:lnTo>
                    <a:pt x="57150" y="2767965"/>
                  </a:lnTo>
                  <a:lnTo>
                    <a:pt x="104775" y="2672715"/>
                  </a:lnTo>
                  <a:lnTo>
                    <a:pt x="114300" y="2653665"/>
                  </a:lnTo>
                  <a:close/>
                </a:path>
                <a:path w="9161145" h="3788410">
                  <a:moveTo>
                    <a:pt x="1143127" y="3777335"/>
                  </a:moveTo>
                  <a:lnTo>
                    <a:pt x="1127518" y="3759822"/>
                  </a:lnTo>
                  <a:lnTo>
                    <a:pt x="1058164" y="3681984"/>
                  </a:lnTo>
                  <a:lnTo>
                    <a:pt x="1044054" y="3717404"/>
                  </a:lnTo>
                  <a:lnTo>
                    <a:pt x="64135" y="3327527"/>
                  </a:lnTo>
                  <a:lnTo>
                    <a:pt x="50165" y="3362883"/>
                  </a:lnTo>
                  <a:lnTo>
                    <a:pt x="1029957" y="3752799"/>
                  </a:lnTo>
                  <a:lnTo>
                    <a:pt x="1015873" y="3788181"/>
                  </a:lnTo>
                  <a:lnTo>
                    <a:pt x="1143127" y="3777335"/>
                  </a:lnTo>
                  <a:close/>
                </a:path>
                <a:path w="9161145" h="3788410">
                  <a:moveTo>
                    <a:pt x="2565654" y="493014"/>
                  </a:moveTo>
                  <a:lnTo>
                    <a:pt x="2527554" y="493014"/>
                  </a:lnTo>
                  <a:lnTo>
                    <a:pt x="2527554" y="0"/>
                  </a:lnTo>
                  <a:lnTo>
                    <a:pt x="2489454" y="0"/>
                  </a:lnTo>
                  <a:lnTo>
                    <a:pt x="2489454" y="493014"/>
                  </a:lnTo>
                  <a:lnTo>
                    <a:pt x="2451354" y="493014"/>
                  </a:lnTo>
                  <a:lnTo>
                    <a:pt x="2508504" y="607314"/>
                  </a:lnTo>
                  <a:lnTo>
                    <a:pt x="2556129" y="512064"/>
                  </a:lnTo>
                  <a:lnTo>
                    <a:pt x="2565654" y="493014"/>
                  </a:lnTo>
                  <a:close/>
                </a:path>
                <a:path w="9161145" h="3788410">
                  <a:moveTo>
                    <a:pt x="6109716" y="3663035"/>
                  </a:moveTo>
                  <a:lnTo>
                    <a:pt x="6071616" y="3663035"/>
                  </a:lnTo>
                  <a:lnTo>
                    <a:pt x="6071616" y="3345180"/>
                  </a:lnTo>
                  <a:lnTo>
                    <a:pt x="6052058" y="3345180"/>
                  </a:lnTo>
                  <a:lnTo>
                    <a:pt x="6043930" y="3327908"/>
                  </a:lnTo>
                  <a:lnTo>
                    <a:pt x="5232565" y="3711308"/>
                  </a:lnTo>
                  <a:lnTo>
                    <a:pt x="5216271" y="3676840"/>
                  </a:lnTo>
                  <a:lnTo>
                    <a:pt x="5137404" y="3777335"/>
                  </a:lnTo>
                  <a:lnTo>
                    <a:pt x="5265166" y="3780180"/>
                  </a:lnTo>
                  <a:lnTo>
                    <a:pt x="5252707" y="3753866"/>
                  </a:lnTo>
                  <a:lnTo>
                    <a:pt x="5248859" y="3745738"/>
                  </a:lnTo>
                  <a:lnTo>
                    <a:pt x="6033516" y="3375012"/>
                  </a:lnTo>
                  <a:lnTo>
                    <a:pt x="6033516" y="3663035"/>
                  </a:lnTo>
                  <a:lnTo>
                    <a:pt x="5995416" y="3663035"/>
                  </a:lnTo>
                  <a:lnTo>
                    <a:pt x="6052566" y="3777335"/>
                  </a:lnTo>
                  <a:lnTo>
                    <a:pt x="6100191" y="3682085"/>
                  </a:lnTo>
                  <a:lnTo>
                    <a:pt x="6109716" y="3663035"/>
                  </a:lnTo>
                  <a:close/>
                </a:path>
                <a:path w="9161145" h="3788410">
                  <a:moveTo>
                    <a:pt x="6109716" y="2653665"/>
                  </a:moveTo>
                  <a:lnTo>
                    <a:pt x="6071616" y="2653665"/>
                  </a:lnTo>
                  <a:lnTo>
                    <a:pt x="6071616" y="2149602"/>
                  </a:lnTo>
                  <a:lnTo>
                    <a:pt x="6033516" y="2149602"/>
                  </a:lnTo>
                  <a:lnTo>
                    <a:pt x="6033516" y="2653665"/>
                  </a:lnTo>
                  <a:lnTo>
                    <a:pt x="5995416" y="2653665"/>
                  </a:lnTo>
                  <a:lnTo>
                    <a:pt x="6052566" y="2767965"/>
                  </a:lnTo>
                  <a:lnTo>
                    <a:pt x="6100191" y="2672715"/>
                  </a:lnTo>
                  <a:lnTo>
                    <a:pt x="6109716" y="2653665"/>
                  </a:lnTo>
                  <a:close/>
                </a:path>
                <a:path w="9161145" h="3788410">
                  <a:moveTo>
                    <a:pt x="7371588" y="493014"/>
                  </a:moveTo>
                  <a:lnTo>
                    <a:pt x="7333488" y="493014"/>
                  </a:lnTo>
                  <a:lnTo>
                    <a:pt x="7333488" y="0"/>
                  </a:lnTo>
                  <a:lnTo>
                    <a:pt x="7295388" y="0"/>
                  </a:lnTo>
                  <a:lnTo>
                    <a:pt x="7295388" y="493014"/>
                  </a:lnTo>
                  <a:lnTo>
                    <a:pt x="7257288" y="493014"/>
                  </a:lnTo>
                  <a:lnTo>
                    <a:pt x="7314438" y="607314"/>
                  </a:lnTo>
                  <a:lnTo>
                    <a:pt x="7362063" y="512064"/>
                  </a:lnTo>
                  <a:lnTo>
                    <a:pt x="7371588" y="493014"/>
                  </a:lnTo>
                  <a:close/>
                </a:path>
                <a:path w="9161145" h="3788410">
                  <a:moveTo>
                    <a:pt x="9160891" y="3777742"/>
                  </a:moveTo>
                  <a:lnTo>
                    <a:pt x="9150515" y="3711206"/>
                  </a:lnTo>
                  <a:lnTo>
                    <a:pt x="9141206" y="3651491"/>
                  </a:lnTo>
                  <a:lnTo>
                    <a:pt x="9110091" y="3673614"/>
                  </a:lnTo>
                  <a:lnTo>
                    <a:pt x="7329932" y="1173861"/>
                  </a:lnTo>
                  <a:lnTo>
                    <a:pt x="7314438" y="1184910"/>
                  </a:lnTo>
                  <a:lnTo>
                    <a:pt x="7314311" y="1184910"/>
                  </a:lnTo>
                  <a:lnTo>
                    <a:pt x="7308723" y="1166749"/>
                  </a:lnTo>
                  <a:lnTo>
                    <a:pt x="6156249" y="1521079"/>
                  </a:lnTo>
                  <a:lnTo>
                    <a:pt x="6145022" y="1484630"/>
                  </a:lnTo>
                  <a:lnTo>
                    <a:pt x="6052566" y="1572895"/>
                  </a:lnTo>
                  <a:lnTo>
                    <a:pt x="6178677" y="1593850"/>
                  </a:lnTo>
                  <a:lnTo>
                    <a:pt x="6169203" y="1563116"/>
                  </a:lnTo>
                  <a:lnTo>
                    <a:pt x="6167475" y="1557502"/>
                  </a:lnTo>
                  <a:lnTo>
                    <a:pt x="7295388" y="1210614"/>
                  </a:lnTo>
                  <a:lnTo>
                    <a:pt x="7295388" y="3663442"/>
                  </a:lnTo>
                  <a:lnTo>
                    <a:pt x="7257288" y="3663442"/>
                  </a:lnTo>
                  <a:lnTo>
                    <a:pt x="7314438" y="3777742"/>
                  </a:lnTo>
                  <a:lnTo>
                    <a:pt x="7362063" y="3682492"/>
                  </a:lnTo>
                  <a:lnTo>
                    <a:pt x="7371588" y="3663442"/>
                  </a:lnTo>
                  <a:lnTo>
                    <a:pt x="7333488" y="3663442"/>
                  </a:lnTo>
                  <a:lnTo>
                    <a:pt x="7333488" y="1244473"/>
                  </a:lnTo>
                  <a:lnTo>
                    <a:pt x="9079078" y="3695674"/>
                  </a:lnTo>
                  <a:lnTo>
                    <a:pt x="9047988" y="3717785"/>
                  </a:lnTo>
                  <a:lnTo>
                    <a:pt x="9160891" y="37777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38">
              <a:extLst>
                <a:ext uri="{FF2B5EF4-FFF2-40B4-BE49-F238E27FC236}">
                  <a16:creationId xmlns:a16="http://schemas.microsoft.com/office/drawing/2014/main" id="{B94E111F-D806-D948-8012-2D6F2DB6B266}"/>
                </a:ext>
              </a:extLst>
            </p:cNvPr>
            <p:cNvSpPr/>
            <p:nvPr/>
          </p:nvSpPr>
          <p:spPr>
            <a:xfrm>
              <a:off x="8254364" y="4454270"/>
              <a:ext cx="1152525" cy="482600"/>
            </a:xfrm>
            <a:custGeom>
              <a:avLst/>
              <a:gdLst/>
              <a:ahLst/>
              <a:cxnLst/>
              <a:rect l="l" t="t" r="r" b="b"/>
              <a:pathLst>
                <a:path w="1152525" h="482600">
                  <a:moveTo>
                    <a:pt x="0" y="482345"/>
                  </a:moveTo>
                  <a:lnTo>
                    <a:pt x="1152144" y="482345"/>
                  </a:lnTo>
                  <a:lnTo>
                    <a:pt x="1152144" y="0"/>
                  </a:lnTo>
                  <a:lnTo>
                    <a:pt x="0" y="0"/>
                  </a:lnTo>
                  <a:lnTo>
                    <a:pt x="0" y="482345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39">
            <a:extLst>
              <a:ext uri="{FF2B5EF4-FFF2-40B4-BE49-F238E27FC236}">
                <a16:creationId xmlns:a16="http://schemas.microsoft.com/office/drawing/2014/main" id="{7A4AB804-5224-AD41-AE78-C2DBC9FCC427}"/>
              </a:ext>
            </a:extLst>
          </p:cNvPr>
          <p:cNvSpPr txBox="1"/>
          <p:nvPr/>
        </p:nvSpPr>
        <p:spPr>
          <a:xfrm>
            <a:off x="8258809" y="4507991"/>
            <a:ext cx="114427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5">
                <a:latin typeface="宋体"/>
                <a:cs typeface="宋体"/>
              </a:rPr>
              <a:t>数组划分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55" name="object 40">
            <a:extLst>
              <a:ext uri="{FF2B5EF4-FFF2-40B4-BE49-F238E27FC236}">
                <a16:creationId xmlns:a16="http://schemas.microsoft.com/office/drawing/2014/main" id="{59E71226-0BFE-AD4C-ABBC-88B5B5E8989A}"/>
              </a:ext>
            </a:extLst>
          </p:cNvPr>
          <p:cNvSpPr/>
          <p:nvPr/>
        </p:nvSpPr>
        <p:spPr>
          <a:xfrm>
            <a:off x="2259710" y="4454271"/>
            <a:ext cx="1264285" cy="482600"/>
          </a:xfrm>
          <a:custGeom>
            <a:avLst/>
            <a:gdLst/>
            <a:ahLst/>
            <a:cxnLst/>
            <a:rect l="l" t="t" r="r" b="b"/>
            <a:pathLst>
              <a:path w="1264285" h="482600">
                <a:moveTo>
                  <a:pt x="0" y="482345"/>
                </a:moveTo>
                <a:lnTo>
                  <a:pt x="1264158" y="482345"/>
                </a:lnTo>
                <a:lnTo>
                  <a:pt x="1264158" y="0"/>
                </a:lnTo>
                <a:lnTo>
                  <a:pt x="0" y="0"/>
                </a:lnTo>
                <a:lnTo>
                  <a:pt x="0" y="482345"/>
                </a:lnTo>
                <a:close/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41">
            <a:extLst>
              <a:ext uri="{FF2B5EF4-FFF2-40B4-BE49-F238E27FC236}">
                <a16:creationId xmlns:a16="http://schemas.microsoft.com/office/drawing/2014/main" id="{82A03336-B3F9-9C45-8AE2-EF08AB6109F3}"/>
              </a:ext>
            </a:extLst>
          </p:cNvPr>
          <p:cNvSpPr txBox="1"/>
          <p:nvPr/>
        </p:nvSpPr>
        <p:spPr>
          <a:xfrm>
            <a:off x="2319527" y="4507991"/>
            <a:ext cx="114554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5">
                <a:latin typeface="宋体"/>
                <a:cs typeface="宋体"/>
              </a:rPr>
              <a:t>数组划分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57" name="object 44">
            <a:extLst>
              <a:ext uri="{FF2B5EF4-FFF2-40B4-BE49-F238E27FC236}">
                <a16:creationId xmlns:a16="http://schemas.microsoft.com/office/drawing/2014/main" id="{DA370A59-5E04-B840-880C-CE3A3109515C}"/>
              </a:ext>
            </a:extLst>
          </p:cNvPr>
          <p:cNvSpPr txBox="1"/>
          <p:nvPr/>
        </p:nvSpPr>
        <p:spPr>
          <a:xfrm>
            <a:off x="2054098" y="6127354"/>
            <a:ext cx="190500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935"/>
              </a:lnSpc>
            </a:pPr>
            <a:r>
              <a:rPr sz="2600" b="1" spc="-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8" name="object 45">
            <a:extLst>
              <a:ext uri="{FF2B5EF4-FFF2-40B4-BE49-F238E27FC236}">
                <a16:creationId xmlns:a16="http://schemas.microsoft.com/office/drawing/2014/main" id="{6D3CE9BE-3D83-EF4D-961A-2B30D95C91FE}"/>
              </a:ext>
            </a:extLst>
          </p:cNvPr>
          <p:cNvSpPr txBox="1"/>
          <p:nvPr/>
        </p:nvSpPr>
        <p:spPr>
          <a:xfrm>
            <a:off x="3140201" y="6127354"/>
            <a:ext cx="190500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935"/>
              </a:lnSpc>
            </a:pPr>
            <a:r>
              <a:rPr sz="2600" b="1" spc="-5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9" name="object 46">
            <a:extLst>
              <a:ext uri="{FF2B5EF4-FFF2-40B4-BE49-F238E27FC236}">
                <a16:creationId xmlns:a16="http://schemas.microsoft.com/office/drawing/2014/main" id="{B9CFFEC8-390D-4249-B5D0-C001F8FEC7A6}"/>
              </a:ext>
            </a:extLst>
          </p:cNvPr>
          <p:cNvSpPr txBox="1"/>
          <p:nvPr/>
        </p:nvSpPr>
        <p:spPr>
          <a:xfrm>
            <a:off x="4505705" y="6127354"/>
            <a:ext cx="190500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935"/>
              </a:lnSpc>
            </a:pPr>
            <a:r>
              <a:rPr sz="2600" b="1" spc="-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0" name="object 47">
            <a:extLst>
              <a:ext uri="{FF2B5EF4-FFF2-40B4-BE49-F238E27FC236}">
                <a16:creationId xmlns:a16="http://schemas.microsoft.com/office/drawing/2014/main" id="{54399493-1F55-AC45-8895-EDFDDB3E419D}"/>
              </a:ext>
            </a:extLst>
          </p:cNvPr>
          <p:cNvSpPr txBox="1"/>
          <p:nvPr/>
        </p:nvSpPr>
        <p:spPr>
          <a:xfrm>
            <a:off x="5967221" y="6127354"/>
            <a:ext cx="190500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935"/>
              </a:lnSpc>
            </a:pPr>
            <a:r>
              <a:rPr sz="2600" b="1" spc="-5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1" name="object 48">
            <a:extLst>
              <a:ext uri="{FF2B5EF4-FFF2-40B4-BE49-F238E27FC236}">
                <a16:creationId xmlns:a16="http://schemas.microsoft.com/office/drawing/2014/main" id="{B051E80B-A358-D344-9766-3D3A0398244C}"/>
              </a:ext>
            </a:extLst>
          </p:cNvPr>
          <p:cNvSpPr txBox="1"/>
          <p:nvPr/>
        </p:nvSpPr>
        <p:spPr>
          <a:xfrm>
            <a:off x="7134859" y="6127354"/>
            <a:ext cx="190500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935"/>
              </a:lnSpc>
            </a:pPr>
            <a:r>
              <a:rPr sz="2600" b="1" spc="-5">
                <a:latin typeface="Times New Roman"/>
                <a:cs typeface="Times New Roman"/>
              </a:rPr>
              <a:t>5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2" name="object 49">
            <a:extLst>
              <a:ext uri="{FF2B5EF4-FFF2-40B4-BE49-F238E27FC236}">
                <a16:creationId xmlns:a16="http://schemas.microsoft.com/office/drawing/2014/main" id="{953B6E0A-E173-5047-81A7-C996E1C9CFCA}"/>
              </a:ext>
            </a:extLst>
          </p:cNvPr>
          <p:cNvSpPr txBox="1"/>
          <p:nvPr/>
        </p:nvSpPr>
        <p:spPr>
          <a:xfrm>
            <a:off x="8049514" y="6127354"/>
            <a:ext cx="190500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935"/>
              </a:lnSpc>
            </a:pPr>
            <a:r>
              <a:rPr sz="2600" b="1" spc="-5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3" name="object 50">
            <a:extLst>
              <a:ext uri="{FF2B5EF4-FFF2-40B4-BE49-F238E27FC236}">
                <a16:creationId xmlns:a16="http://schemas.microsoft.com/office/drawing/2014/main" id="{3CB5DC6C-D762-9A44-AEDF-AAF99D2B67F2}"/>
              </a:ext>
            </a:extLst>
          </p:cNvPr>
          <p:cNvSpPr txBox="1"/>
          <p:nvPr/>
        </p:nvSpPr>
        <p:spPr>
          <a:xfrm>
            <a:off x="9311131" y="6127354"/>
            <a:ext cx="190500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935"/>
              </a:lnSpc>
            </a:pPr>
            <a:r>
              <a:rPr sz="2600" b="1" spc="-5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4" name="object 51">
            <a:extLst>
              <a:ext uri="{FF2B5EF4-FFF2-40B4-BE49-F238E27FC236}">
                <a16:creationId xmlns:a16="http://schemas.microsoft.com/office/drawing/2014/main" id="{C61568C1-41AD-D34A-963D-45CFBD4C67E5}"/>
              </a:ext>
            </a:extLst>
          </p:cNvPr>
          <p:cNvSpPr txBox="1"/>
          <p:nvPr/>
        </p:nvSpPr>
        <p:spPr>
          <a:xfrm>
            <a:off x="11157711" y="6127354"/>
            <a:ext cx="190500" cy="391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935"/>
              </a:lnSpc>
            </a:pPr>
            <a:r>
              <a:rPr sz="2600" b="1" spc="-5">
                <a:latin typeface="Times New Roman"/>
                <a:cs typeface="Times New Roman"/>
              </a:rPr>
              <a:t>7</a:t>
            </a:r>
            <a:endParaRPr sz="2600">
              <a:latin typeface="Times New Roman"/>
              <a:cs typeface="Times New Roman"/>
            </a:endParaRPr>
          </a:p>
        </p:txBody>
      </p:sp>
      <p:graphicFrame>
        <p:nvGraphicFramePr>
          <p:cNvPr id="65" name="object 42">
            <a:extLst>
              <a:ext uri="{FF2B5EF4-FFF2-40B4-BE49-F238E27FC236}">
                <a16:creationId xmlns:a16="http://schemas.microsoft.com/office/drawing/2014/main" id="{BF3D3DBC-8ADA-6542-904B-E791EEA28E35}"/>
              </a:ext>
            </a:extLst>
          </p:cNvPr>
          <p:cNvGraphicFramePr>
            <a:graphicFrameLocks noGrp="1"/>
          </p:cNvGraphicFramePr>
          <p:nvPr/>
        </p:nvGraphicFramePr>
        <p:xfrm>
          <a:off x="8234680" y="1651000"/>
          <a:ext cx="2543808" cy="1111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64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5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8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05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96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200" spc="-15">
                          <a:latin typeface="宋体"/>
                          <a:cs typeface="宋体"/>
                        </a:rPr>
                        <a:t>数组划分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6" name="object 43">
            <a:extLst>
              <a:ext uri="{FF2B5EF4-FFF2-40B4-BE49-F238E27FC236}">
                <a16:creationId xmlns:a16="http://schemas.microsoft.com/office/drawing/2014/main" id="{44195ECD-E54A-1449-BC19-75CADDAAE26A}"/>
              </a:ext>
            </a:extLst>
          </p:cNvPr>
          <p:cNvGraphicFramePr>
            <a:graphicFrameLocks noGrp="1"/>
          </p:cNvGraphicFramePr>
          <p:nvPr/>
        </p:nvGraphicFramePr>
        <p:xfrm>
          <a:off x="3717416" y="1651000"/>
          <a:ext cx="2220592" cy="1111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33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05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96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200" spc="-15">
                          <a:latin typeface="宋体"/>
                          <a:cs typeface="宋体"/>
                        </a:rPr>
                        <a:t>数组划分</a:t>
                      </a:r>
                      <a:endParaRPr sz="2200">
                        <a:latin typeface="宋体"/>
                        <a:cs typeface="宋体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83610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A95FB4B7-5FC5-D241-8C5E-403B723B2F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21458" y="79821"/>
            <a:ext cx="319616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FFAEE6ED-1223-1E49-B0CA-F9147C829336}"/>
              </a:ext>
            </a:extLst>
          </p:cNvPr>
          <p:cNvSpPr txBox="1"/>
          <p:nvPr/>
        </p:nvSpPr>
        <p:spPr>
          <a:xfrm>
            <a:off x="5816219" y="1046225"/>
            <a:ext cx="576580" cy="577215"/>
          </a:xfrm>
          <a:prstGeom prst="rect">
            <a:avLst/>
          </a:prstGeom>
          <a:solidFill>
            <a:srgbClr val="006FC0"/>
          </a:solidFill>
          <a:ln w="38100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620"/>
              </a:spcBef>
            </a:pPr>
            <a:r>
              <a:rPr sz="2600" b="1" spc="-5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E8EC908D-2EE2-6643-B5DA-2BD71CABA7E9}"/>
              </a:ext>
            </a:extLst>
          </p:cNvPr>
          <p:cNvSpPr txBox="1"/>
          <p:nvPr/>
        </p:nvSpPr>
        <p:spPr>
          <a:xfrm>
            <a:off x="4519421" y="1046225"/>
            <a:ext cx="576580" cy="577215"/>
          </a:xfrm>
          <a:prstGeom prst="rect">
            <a:avLst/>
          </a:prstGeom>
          <a:solidFill>
            <a:srgbClr val="006FC0"/>
          </a:solidFill>
          <a:ln w="38100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620"/>
              </a:spcBef>
            </a:pPr>
            <a:r>
              <a:rPr sz="2600" b="1" spc="-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433C7507-9276-E94E-9C03-0BD21CC0B9D6}"/>
              </a:ext>
            </a:extLst>
          </p:cNvPr>
          <p:cNvSpPr txBox="1"/>
          <p:nvPr/>
        </p:nvSpPr>
        <p:spPr>
          <a:xfrm>
            <a:off x="9159875" y="1046225"/>
            <a:ext cx="576580" cy="577215"/>
          </a:xfrm>
          <a:prstGeom prst="rect">
            <a:avLst/>
          </a:prstGeom>
          <a:solidFill>
            <a:srgbClr val="006FC0"/>
          </a:solidFill>
          <a:ln w="38100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620"/>
              </a:spcBef>
            </a:pPr>
            <a:r>
              <a:rPr sz="2600" b="1" spc="-5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9BE0F2A5-E8C3-9742-83EF-FE96FA5494E0}"/>
              </a:ext>
            </a:extLst>
          </p:cNvPr>
          <p:cNvSpPr txBox="1"/>
          <p:nvPr/>
        </p:nvSpPr>
        <p:spPr>
          <a:xfrm>
            <a:off x="11006328" y="1046225"/>
            <a:ext cx="576580" cy="577215"/>
          </a:xfrm>
          <a:prstGeom prst="rect">
            <a:avLst/>
          </a:prstGeom>
          <a:solidFill>
            <a:srgbClr val="FFC000"/>
          </a:solidFill>
          <a:ln w="38100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620"/>
              </a:spcBef>
            </a:pPr>
            <a:r>
              <a:rPr sz="2600" b="1" spc="-5">
                <a:latin typeface="Times New Roman"/>
                <a:cs typeface="Times New Roman"/>
              </a:rPr>
              <a:t>7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9ACE5C1C-0C47-8B40-9557-E7B4D4296A76}"/>
              </a:ext>
            </a:extLst>
          </p:cNvPr>
          <p:cNvSpPr txBox="1"/>
          <p:nvPr/>
        </p:nvSpPr>
        <p:spPr>
          <a:xfrm>
            <a:off x="6983476" y="1046225"/>
            <a:ext cx="576580" cy="577215"/>
          </a:xfrm>
          <a:prstGeom prst="rect">
            <a:avLst/>
          </a:prstGeom>
          <a:solidFill>
            <a:srgbClr val="92D050"/>
          </a:solidFill>
          <a:ln w="38100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620"/>
              </a:spcBef>
            </a:pPr>
            <a:r>
              <a:rPr sz="2600" b="1" spc="-5">
                <a:latin typeface="Times New Roman"/>
                <a:cs typeface="Times New Roman"/>
              </a:rPr>
              <a:t>5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73D94D32-9B4E-1A40-8E57-F0739DDAC55C}"/>
              </a:ext>
            </a:extLst>
          </p:cNvPr>
          <p:cNvSpPr txBox="1"/>
          <p:nvPr/>
        </p:nvSpPr>
        <p:spPr>
          <a:xfrm>
            <a:off x="7898130" y="1046225"/>
            <a:ext cx="576580" cy="577215"/>
          </a:xfrm>
          <a:prstGeom prst="rect">
            <a:avLst/>
          </a:prstGeom>
          <a:solidFill>
            <a:srgbClr val="006FC0"/>
          </a:solidFill>
          <a:ln w="38100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620"/>
              </a:spcBef>
            </a:pPr>
            <a:r>
              <a:rPr sz="2600" b="1" spc="-5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F672EBC0-EE87-7541-9549-8E3B345DACF1}"/>
              </a:ext>
            </a:extLst>
          </p:cNvPr>
          <p:cNvSpPr txBox="1"/>
          <p:nvPr/>
        </p:nvSpPr>
        <p:spPr>
          <a:xfrm>
            <a:off x="2989198" y="1046225"/>
            <a:ext cx="576580" cy="577215"/>
          </a:xfrm>
          <a:prstGeom prst="rect">
            <a:avLst/>
          </a:prstGeom>
          <a:solidFill>
            <a:srgbClr val="FFC000"/>
          </a:solidFill>
          <a:ln w="38100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20"/>
              </a:spcBef>
            </a:pPr>
            <a:r>
              <a:rPr sz="2600" b="1" spc="-5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F1A6F742-5DDC-5C44-BE58-22E4F0CB1CC0}"/>
              </a:ext>
            </a:extLst>
          </p:cNvPr>
          <p:cNvSpPr txBox="1"/>
          <p:nvPr/>
        </p:nvSpPr>
        <p:spPr>
          <a:xfrm>
            <a:off x="1903095" y="1046225"/>
            <a:ext cx="576580" cy="577215"/>
          </a:xfrm>
          <a:prstGeom prst="rect">
            <a:avLst/>
          </a:prstGeom>
          <a:solidFill>
            <a:srgbClr val="006FC0"/>
          </a:solidFill>
          <a:ln w="38100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20"/>
              </a:spcBef>
            </a:pPr>
            <a:r>
              <a:rPr sz="2600" b="1" spc="-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51442948-0128-0B44-9677-192BD4FD927A}"/>
              </a:ext>
            </a:extLst>
          </p:cNvPr>
          <p:cNvSpPr/>
          <p:nvPr/>
        </p:nvSpPr>
        <p:spPr>
          <a:xfrm>
            <a:off x="2175764" y="1612010"/>
            <a:ext cx="1116965" cy="792480"/>
          </a:xfrm>
          <a:custGeom>
            <a:avLst/>
            <a:gdLst/>
            <a:ahLst/>
            <a:cxnLst/>
            <a:rect l="l" t="t" r="r" b="b"/>
            <a:pathLst>
              <a:path w="1116964" h="792480">
                <a:moveTo>
                  <a:pt x="1116952" y="22098"/>
                </a:moveTo>
                <a:lnTo>
                  <a:pt x="1085964" y="0"/>
                </a:lnTo>
                <a:lnTo>
                  <a:pt x="598157" y="688009"/>
                </a:lnTo>
                <a:lnTo>
                  <a:pt x="567055" y="665988"/>
                </a:lnTo>
                <a:lnTo>
                  <a:pt x="547751" y="791349"/>
                </a:lnTo>
                <a:lnTo>
                  <a:pt x="538734" y="724281"/>
                </a:lnTo>
                <a:lnTo>
                  <a:pt x="530860" y="665607"/>
                </a:lnTo>
                <a:lnTo>
                  <a:pt x="499313" y="687108"/>
                </a:lnTo>
                <a:lnTo>
                  <a:pt x="31496" y="381"/>
                </a:lnTo>
                <a:lnTo>
                  <a:pt x="0" y="21717"/>
                </a:lnTo>
                <a:lnTo>
                  <a:pt x="467817" y="708571"/>
                </a:lnTo>
                <a:lnTo>
                  <a:pt x="436372" y="729996"/>
                </a:lnTo>
                <a:lnTo>
                  <a:pt x="547636" y="792099"/>
                </a:lnTo>
                <a:lnTo>
                  <a:pt x="547624" y="792226"/>
                </a:lnTo>
                <a:lnTo>
                  <a:pt x="547751" y="792162"/>
                </a:lnTo>
                <a:lnTo>
                  <a:pt x="547878" y="792226"/>
                </a:lnTo>
                <a:lnTo>
                  <a:pt x="660400" y="732028"/>
                </a:lnTo>
                <a:lnTo>
                  <a:pt x="651243" y="725551"/>
                </a:lnTo>
                <a:lnTo>
                  <a:pt x="629259" y="710006"/>
                </a:lnTo>
                <a:lnTo>
                  <a:pt x="1116952" y="220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063AD032-7775-EE43-B513-6F90BA255653}"/>
              </a:ext>
            </a:extLst>
          </p:cNvPr>
          <p:cNvGraphicFramePr>
            <a:graphicFrameLocks noGrp="1"/>
          </p:cNvGraphicFramePr>
          <p:nvPr/>
        </p:nvGraphicFramePr>
        <p:xfrm>
          <a:off x="2128266" y="2385441"/>
          <a:ext cx="1151890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object 13">
            <a:extLst>
              <a:ext uri="{FF2B5EF4-FFF2-40B4-BE49-F238E27FC236}">
                <a16:creationId xmlns:a16="http://schemas.microsoft.com/office/drawing/2014/main" id="{B21479E0-3CA9-C84C-9681-9A33E6BE50B5}"/>
              </a:ext>
            </a:extLst>
          </p:cNvPr>
          <p:cNvSpPr/>
          <p:nvPr/>
        </p:nvSpPr>
        <p:spPr>
          <a:xfrm>
            <a:off x="7255764" y="1612645"/>
            <a:ext cx="947419" cy="791845"/>
          </a:xfrm>
          <a:custGeom>
            <a:avLst/>
            <a:gdLst/>
            <a:ahLst/>
            <a:cxnLst/>
            <a:rect l="l" t="t" r="r" b="b"/>
            <a:pathLst>
              <a:path w="947419" h="791844">
                <a:moveTo>
                  <a:pt x="947293" y="19177"/>
                </a:moveTo>
                <a:lnTo>
                  <a:pt x="913384" y="1651"/>
                </a:lnTo>
                <a:lnTo>
                  <a:pt x="562825" y="681329"/>
                </a:lnTo>
                <a:lnTo>
                  <a:pt x="528955" y="663829"/>
                </a:lnTo>
                <a:lnTo>
                  <a:pt x="527316" y="789647"/>
                </a:lnTo>
                <a:lnTo>
                  <a:pt x="519442" y="722376"/>
                </a:lnTo>
                <a:lnTo>
                  <a:pt x="512699" y="664718"/>
                </a:lnTo>
                <a:lnTo>
                  <a:pt x="480936" y="685520"/>
                </a:lnTo>
                <a:lnTo>
                  <a:pt x="31877" y="0"/>
                </a:lnTo>
                <a:lnTo>
                  <a:pt x="0" y="20828"/>
                </a:lnTo>
                <a:lnTo>
                  <a:pt x="449021" y="706412"/>
                </a:lnTo>
                <a:lnTo>
                  <a:pt x="417068" y="727329"/>
                </a:lnTo>
                <a:lnTo>
                  <a:pt x="527304" y="791451"/>
                </a:lnTo>
                <a:lnTo>
                  <a:pt x="527304" y="791591"/>
                </a:lnTo>
                <a:lnTo>
                  <a:pt x="527558" y="791591"/>
                </a:lnTo>
                <a:lnTo>
                  <a:pt x="527532" y="791425"/>
                </a:lnTo>
                <a:lnTo>
                  <a:pt x="630555" y="716280"/>
                </a:lnTo>
                <a:lnTo>
                  <a:pt x="629323" y="715645"/>
                </a:lnTo>
                <a:lnTo>
                  <a:pt x="596595" y="698754"/>
                </a:lnTo>
                <a:lnTo>
                  <a:pt x="947293" y="191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D4180746-3129-684F-80AB-7CC6B59B9006}"/>
              </a:ext>
            </a:extLst>
          </p:cNvPr>
          <p:cNvGraphicFramePr>
            <a:graphicFrameLocks noGrp="1"/>
          </p:cNvGraphicFramePr>
          <p:nvPr/>
        </p:nvGraphicFramePr>
        <p:xfrm>
          <a:off x="7187945" y="2385441"/>
          <a:ext cx="1151890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19979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C633637A-7157-574C-8AE4-14DA14A76C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21458" y="79821"/>
            <a:ext cx="319616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FE994BB1-7366-D34B-B41D-C2ABB6C1CEEA}"/>
              </a:ext>
            </a:extLst>
          </p:cNvPr>
          <p:cNvSpPr txBox="1"/>
          <p:nvPr/>
        </p:nvSpPr>
        <p:spPr>
          <a:xfrm>
            <a:off x="5816219" y="1046225"/>
            <a:ext cx="576580" cy="577215"/>
          </a:xfrm>
          <a:prstGeom prst="rect">
            <a:avLst/>
          </a:prstGeom>
          <a:solidFill>
            <a:srgbClr val="006FC0"/>
          </a:solidFill>
          <a:ln w="38100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620"/>
              </a:spcBef>
            </a:pPr>
            <a:r>
              <a:rPr sz="2600" b="1" spc="-5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67EFCB58-33A7-E949-B13F-DF26C2AA85AD}"/>
              </a:ext>
            </a:extLst>
          </p:cNvPr>
          <p:cNvSpPr txBox="1"/>
          <p:nvPr/>
        </p:nvSpPr>
        <p:spPr>
          <a:xfrm>
            <a:off x="4519421" y="1046225"/>
            <a:ext cx="576580" cy="577215"/>
          </a:xfrm>
          <a:prstGeom prst="rect">
            <a:avLst/>
          </a:prstGeom>
          <a:solidFill>
            <a:srgbClr val="006FC0"/>
          </a:solidFill>
          <a:ln w="38100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620"/>
              </a:spcBef>
            </a:pPr>
            <a:r>
              <a:rPr sz="2600" b="1" spc="-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0A909822-E3FE-784B-9858-F755E4690E94}"/>
              </a:ext>
            </a:extLst>
          </p:cNvPr>
          <p:cNvSpPr txBox="1"/>
          <p:nvPr/>
        </p:nvSpPr>
        <p:spPr>
          <a:xfrm>
            <a:off x="9159875" y="1046225"/>
            <a:ext cx="576580" cy="577215"/>
          </a:xfrm>
          <a:prstGeom prst="rect">
            <a:avLst/>
          </a:prstGeom>
          <a:solidFill>
            <a:srgbClr val="006FC0"/>
          </a:solidFill>
          <a:ln w="38100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620"/>
              </a:spcBef>
            </a:pPr>
            <a:r>
              <a:rPr sz="2600" b="1" spc="-5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9D66F4A3-FC7C-E04D-BD01-B8A4FB79659E}"/>
              </a:ext>
            </a:extLst>
          </p:cNvPr>
          <p:cNvSpPr txBox="1"/>
          <p:nvPr/>
        </p:nvSpPr>
        <p:spPr>
          <a:xfrm>
            <a:off x="11006328" y="1046225"/>
            <a:ext cx="576580" cy="577215"/>
          </a:xfrm>
          <a:prstGeom prst="rect">
            <a:avLst/>
          </a:prstGeom>
          <a:solidFill>
            <a:srgbClr val="FFC000"/>
          </a:solidFill>
          <a:ln w="38100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620"/>
              </a:spcBef>
            </a:pPr>
            <a:r>
              <a:rPr sz="2600" b="1" spc="-5">
                <a:latin typeface="Times New Roman"/>
                <a:cs typeface="Times New Roman"/>
              </a:rPr>
              <a:t>7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A297791E-03D3-644B-ADA5-012AE33FA33F}"/>
              </a:ext>
            </a:extLst>
          </p:cNvPr>
          <p:cNvSpPr txBox="1"/>
          <p:nvPr/>
        </p:nvSpPr>
        <p:spPr>
          <a:xfrm>
            <a:off x="6983476" y="1046225"/>
            <a:ext cx="576580" cy="577215"/>
          </a:xfrm>
          <a:prstGeom prst="rect">
            <a:avLst/>
          </a:prstGeom>
          <a:solidFill>
            <a:srgbClr val="92D050"/>
          </a:solidFill>
          <a:ln w="38100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620"/>
              </a:spcBef>
            </a:pPr>
            <a:r>
              <a:rPr sz="2600" b="1" spc="-5">
                <a:latin typeface="Times New Roman"/>
                <a:cs typeface="Times New Roman"/>
              </a:rPr>
              <a:t>5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04E4D558-489C-E148-AE40-A31181A95B86}"/>
              </a:ext>
            </a:extLst>
          </p:cNvPr>
          <p:cNvSpPr txBox="1"/>
          <p:nvPr/>
        </p:nvSpPr>
        <p:spPr>
          <a:xfrm>
            <a:off x="7898130" y="1046225"/>
            <a:ext cx="576580" cy="577215"/>
          </a:xfrm>
          <a:prstGeom prst="rect">
            <a:avLst/>
          </a:prstGeom>
          <a:solidFill>
            <a:srgbClr val="006FC0"/>
          </a:solidFill>
          <a:ln w="38100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620"/>
              </a:spcBef>
            </a:pPr>
            <a:r>
              <a:rPr sz="2600" b="1" spc="-5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ECB8A32E-4D55-B944-8191-5184E0D0872C}"/>
              </a:ext>
            </a:extLst>
          </p:cNvPr>
          <p:cNvSpPr txBox="1"/>
          <p:nvPr/>
        </p:nvSpPr>
        <p:spPr>
          <a:xfrm>
            <a:off x="2989198" y="1046225"/>
            <a:ext cx="576580" cy="577215"/>
          </a:xfrm>
          <a:prstGeom prst="rect">
            <a:avLst/>
          </a:prstGeom>
          <a:solidFill>
            <a:srgbClr val="FFC000"/>
          </a:solidFill>
          <a:ln w="38100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20"/>
              </a:spcBef>
            </a:pPr>
            <a:r>
              <a:rPr sz="2600" b="1" spc="-5"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CF819346-14E2-9E4E-B72B-33312FF70BB1}"/>
              </a:ext>
            </a:extLst>
          </p:cNvPr>
          <p:cNvSpPr txBox="1"/>
          <p:nvPr/>
        </p:nvSpPr>
        <p:spPr>
          <a:xfrm>
            <a:off x="1903095" y="1046225"/>
            <a:ext cx="576580" cy="577215"/>
          </a:xfrm>
          <a:prstGeom prst="rect">
            <a:avLst/>
          </a:prstGeom>
          <a:solidFill>
            <a:srgbClr val="006FC0"/>
          </a:solidFill>
          <a:ln w="38100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20"/>
              </a:spcBef>
            </a:pPr>
            <a:r>
              <a:rPr sz="2600" b="1" spc="-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4D94451B-CB69-D040-9519-CE8C0ABE2463}"/>
              </a:ext>
            </a:extLst>
          </p:cNvPr>
          <p:cNvSpPr/>
          <p:nvPr/>
        </p:nvSpPr>
        <p:spPr>
          <a:xfrm>
            <a:off x="2175764" y="1612010"/>
            <a:ext cx="1116965" cy="792480"/>
          </a:xfrm>
          <a:custGeom>
            <a:avLst/>
            <a:gdLst/>
            <a:ahLst/>
            <a:cxnLst/>
            <a:rect l="l" t="t" r="r" b="b"/>
            <a:pathLst>
              <a:path w="1116964" h="792480">
                <a:moveTo>
                  <a:pt x="1116952" y="22098"/>
                </a:moveTo>
                <a:lnTo>
                  <a:pt x="1085964" y="0"/>
                </a:lnTo>
                <a:lnTo>
                  <a:pt x="598157" y="688009"/>
                </a:lnTo>
                <a:lnTo>
                  <a:pt x="567055" y="665988"/>
                </a:lnTo>
                <a:lnTo>
                  <a:pt x="547751" y="791349"/>
                </a:lnTo>
                <a:lnTo>
                  <a:pt x="538734" y="724281"/>
                </a:lnTo>
                <a:lnTo>
                  <a:pt x="530860" y="665607"/>
                </a:lnTo>
                <a:lnTo>
                  <a:pt x="499313" y="687108"/>
                </a:lnTo>
                <a:lnTo>
                  <a:pt x="31496" y="381"/>
                </a:lnTo>
                <a:lnTo>
                  <a:pt x="0" y="21717"/>
                </a:lnTo>
                <a:lnTo>
                  <a:pt x="467817" y="708571"/>
                </a:lnTo>
                <a:lnTo>
                  <a:pt x="436372" y="729996"/>
                </a:lnTo>
                <a:lnTo>
                  <a:pt x="547636" y="792099"/>
                </a:lnTo>
                <a:lnTo>
                  <a:pt x="547624" y="792226"/>
                </a:lnTo>
                <a:lnTo>
                  <a:pt x="547751" y="792162"/>
                </a:lnTo>
                <a:lnTo>
                  <a:pt x="547878" y="792226"/>
                </a:lnTo>
                <a:lnTo>
                  <a:pt x="660400" y="732028"/>
                </a:lnTo>
                <a:lnTo>
                  <a:pt x="651243" y="725551"/>
                </a:lnTo>
                <a:lnTo>
                  <a:pt x="629259" y="710006"/>
                </a:lnTo>
                <a:lnTo>
                  <a:pt x="1116952" y="220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A9358B09-BA12-A944-99AB-0D7F8A9170B8}"/>
              </a:ext>
            </a:extLst>
          </p:cNvPr>
          <p:cNvGraphicFramePr>
            <a:graphicFrameLocks noGrp="1"/>
          </p:cNvGraphicFramePr>
          <p:nvPr/>
        </p:nvGraphicFramePr>
        <p:xfrm>
          <a:off x="2128266" y="2385441"/>
          <a:ext cx="1151890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object 13">
            <a:extLst>
              <a:ext uri="{FF2B5EF4-FFF2-40B4-BE49-F238E27FC236}">
                <a16:creationId xmlns:a16="http://schemas.microsoft.com/office/drawing/2014/main" id="{7A9E2A01-2BA9-F14A-B7CB-21E994065697}"/>
              </a:ext>
            </a:extLst>
          </p:cNvPr>
          <p:cNvSpPr/>
          <p:nvPr/>
        </p:nvSpPr>
        <p:spPr>
          <a:xfrm>
            <a:off x="7255764" y="1612645"/>
            <a:ext cx="947419" cy="791845"/>
          </a:xfrm>
          <a:custGeom>
            <a:avLst/>
            <a:gdLst/>
            <a:ahLst/>
            <a:cxnLst/>
            <a:rect l="l" t="t" r="r" b="b"/>
            <a:pathLst>
              <a:path w="947419" h="791844">
                <a:moveTo>
                  <a:pt x="947293" y="19177"/>
                </a:moveTo>
                <a:lnTo>
                  <a:pt x="913384" y="1651"/>
                </a:lnTo>
                <a:lnTo>
                  <a:pt x="562825" y="681329"/>
                </a:lnTo>
                <a:lnTo>
                  <a:pt x="528955" y="663829"/>
                </a:lnTo>
                <a:lnTo>
                  <a:pt x="527316" y="789647"/>
                </a:lnTo>
                <a:lnTo>
                  <a:pt x="519442" y="722376"/>
                </a:lnTo>
                <a:lnTo>
                  <a:pt x="512699" y="664718"/>
                </a:lnTo>
                <a:lnTo>
                  <a:pt x="480936" y="685520"/>
                </a:lnTo>
                <a:lnTo>
                  <a:pt x="31877" y="0"/>
                </a:lnTo>
                <a:lnTo>
                  <a:pt x="0" y="20828"/>
                </a:lnTo>
                <a:lnTo>
                  <a:pt x="449021" y="706412"/>
                </a:lnTo>
                <a:lnTo>
                  <a:pt x="417068" y="727329"/>
                </a:lnTo>
                <a:lnTo>
                  <a:pt x="527304" y="791451"/>
                </a:lnTo>
                <a:lnTo>
                  <a:pt x="527304" y="791591"/>
                </a:lnTo>
                <a:lnTo>
                  <a:pt x="527558" y="791591"/>
                </a:lnTo>
                <a:lnTo>
                  <a:pt x="527532" y="791425"/>
                </a:lnTo>
                <a:lnTo>
                  <a:pt x="630555" y="716280"/>
                </a:lnTo>
                <a:lnTo>
                  <a:pt x="629323" y="715645"/>
                </a:lnTo>
                <a:lnTo>
                  <a:pt x="596595" y="698754"/>
                </a:lnTo>
                <a:lnTo>
                  <a:pt x="947293" y="191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09FA785B-8AF3-1341-A01A-F179C827E15B}"/>
              </a:ext>
            </a:extLst>
          </p:cNvPr>
          <p:cNvGraphicFramePr>
            <a:graphicFrameLocks noGrp="1"/>
          </p:cNvGraphicFramePr>
          <p:nvPr/>
        </p:nvGraphicFramePr>
        <p:xfrm>
          <a:off x="7187945" y="2385441"/>
          <a:ext cx="1151890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8E3E4955-FB8E-7E49-B658-3A33F35FDFAC}"/>
              </a:ext>
            </a:extLst>
          </p:cNvPr>
          <p:cNvGraphicFramePr>
            <a:graphicFrameLocks noGrp="1"/>
          </p:cNvGraphicFramePr>
          <p:nvPr/>
        </p:nvGraphicFramePr>
        <p:xfrm>
          <a:off x="2968370" y="3720338"/>
          <a:ext cx="1727835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object 16">
            <a:extLst>
              <a:ext uri="{FF2B5EF4-FFF2-40B4-BE49-F238E27FC236}">
                <a16:creationId xmlns:a16="http://schemas.microsoft.com/office/drawing/2014/main" id="{7033A95A-FE05-4145-AF0D-C823CF9F9377}"/>
              </a:ext>
            </a:extLst>
          </p:cNvPr>
          <p:cNvSpPr/>
          <p:nvPr/>
        </p:nvSpPr>
        <p:spPr>
          <a:xfrm>
            <a:off x="2712720" y="1615185"/>
            <a:ext cx="2112010" cy="2124710"/>
          </a:xfrm>
          <a:custGeom>
            <a:avLst/>
            <a:gdLst/>
            <a:ahLst/>
            <a:cxnLst/>
            <a:rect l="l" t="t" r="r" b="b"/>
            <a:pathLst>
              <a:path w="2112010" h="2124710">
                <a:moveTo>
                  <a:pt x="2111756" y="15748"/>
                </a:moveTo>
                <a:lnTo>
                  <a:pt x="2077085" y="0"/>
                </a:lnTo>
                <a:lnTo>
                  <a:pt x="1168107" y="2011984"/>
                </a:lnTo>
                <a:lnTo>
                  <a:pt x="1133348" y="1996313"/>
                </a:lnTo>
                <a:lnTo>
                  <a:pt x="1138402" y="2123503"/>
                </a:lnTo>
                <a:lnTo>
                  <a:pt x="1117714" y="2086991"/>
                </a:lnTo>
                <a:lnTo>
                  <a:pt x="1075817" y="2013077"/>
                </a:lnTo>
                <a:lnTo>
                  <a:pt x="1054531" y="2044750"/>
                </a:lnTo>
                <a:lnTo>
                  <a:pt x="21336" y="1350645"/>
                </a:lnTo>
                <a:lnTo>
                  <a:pt x="0" y="1382395"/>
                </a:lnTo>
                <a:lnTo>
                  <a:pt x="1033297" y="2076348"/>
                </a:lnTo>
                <a:lnTo>
                  <a:pt x="1012063" y="2107946"/>
                </a:lnTo>
                <a:lnTo>
                  <a:pt x="1138809" y="2124202"/>
                </a:lnTo>
                <a:lnTo>
                  <a:pt x="1138580" y="2123821"/>
                </a:lnTo>
                <a:lnTo>
                  <a:pt x="1235583" y="2044954"/>
                </a:lnTo>
                <a:lnTo>
                  <a:pt x="1237615" y="2043303"/>
                </a:lnTo>
                <a:lnTo>
                  <a:pt x="1202778" y="2027605"/>
                </a:lnTo>
                <a:lnTo>
                  <a:pt x="2111756" y="157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5F26571A-889E-9F41-8E37-AD8CD17EFAEE}"/>
              </a:ext>
            </a:extLst>
          </p:cNvPr>
          <p:cNvGraphicFramePr>
            <a:graphicFrameLocks noGrp="1"/>
          </p:cNvGraphicFramePr>
          <p:nvPr/>
        </p:nvGraphicFramePr>
        <p:xfrm>
          <a:off x="8033384" y="3720338"/>
          <a:ext cx="2303779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object 18">
            <a:extLst>
              <a:ext uri="{FF2B5EF4-FFF2-40B4-BE49-F238E27FC236}">
                <a16:creationId xmlns:a16="http://schemas.microsoft.com/office/drawing/2014/main" id="{BF5E1238-42B0-614E-A045-EF8F04F99EC0}"/>
              </a:ext>
            </a:extLst>
          </p:cNvPr>
          <p:cNvSpPr/>
          <p:nvPr/>
        </p:nvSpPr>
        <p:spPr>
          <a:xfrm>
            <a:off x="7774051" y="1609724"/>
            <a:ext cx="3533775" cy="2129790"/>
          </a:xfrm>
          <a:custGeom>
            <a:avLst/>
            <a:gdLst/>
            <a:ahLst/>
            <a:cxnLst/>
            <a:rect l="l" t="t" r="r" b="b"/>
            <a:pathLst>
              <a:path w="3533775" h="2129790">
                <a:moveTo>
                  <a:pt x="3533521" y="26670"/>
                </a:moveTo>
                <a:lnTo>
                  <a:pt x="3506343" y="0"/>
                </a:lnTo>
                <a:lnTo>
                  <a:pt x="1496898" y="2034679"/>
                </a:lnTo>
                <a:lnTo>
                  <a:pt x="1493875" y="2031707"/>
                </a:lnTo>
                <a:lnTo>
                  <a:pt x="1499997" y="2022348"/>
                </a:lnTo>
                <a:lnTo>
                  <a:pt x="1482356" y="2020328"/>
                </a:lnTo>
                <a:lnTo>
                  <a:pt x="1469771" y="2007870"/>
                </a:lnTo>
                <a:lnTo>
                  <a:pt x="1466303" y="2018474"/>
                </a:lnTo>
                <a:lnTo>
                  <a:pt x="1462163" y="2017991"/>
                </a:lnTo>
                <a:lnTo>
                  <a:pt x="1692402" y="15494"/>
                </a:lnTo>
                <a:lnTo>
                  <a:pt x="1654556" y="11176"/>
                </a:lnTo>
                <a:lnTo>
                  <a:pt x="1424330" y="2013635"/>
                </a:lnTo>
                <a:lnTo>
                  <a:pt x="1386459" y="2009267"/>
                </a:lnTo>
                <a:lnTo>
                  <a:pt x="1429931" y="2128837"/>
                </a:lnTo>
                <a:lnTo>
                  <a:pt x="1410652" y="2101723"/>
                </a:lnTo>
                <a:lnTo>
                  <a:pt x="1356487" y="2025523"/>
                </a:lnTo>
                <a:lnTo>
                  <a:pt x="1338580" y="2059139"/>
                </a:lnTo>
                <a:lnTo>
                  <a:pt x="18034" y="1355217"/>
                </a:lnTo>
                <a:lnTo>
                  <a:pt x="0" y="1388745"/>
                </a:lnTo>
                <a:lnTo>
                  <a:pt x="1320647" y="2092782"/>
                </a:lnTo>
                <a:lnTo>
                  <a:pt x="1302766" y="2126361"/>
                </a:lnTo>
                <a:lnTo>
                  <a:pt x="1430528" y="2129663"/>
                </a:lnTo>
                <a:lnTo>
                  <a:pt x="1430299" y="2129358"/>
                </a:lnTo>
                <a:lnTo>
                  <a:pt x="1551178" y="2088261"/>
                </a:lnTo>
                <a:lnTo>
                  <a:pt x="1537792" y="2075053"/>
                </a:lnTo>
                <a:lnTo>
                  <a:pt x="1524063" y="2061489"/>
                </a:lnTo>
                <a:lnTo>
                  <a:pt x="3533521" y="266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BA73BC81-1199-F749-B9E5-0430C2044908}"/>
              </a:ext>
            </a:extLst>
          </p:cNvPr>
          <p:cNvGraphicFramePr>
            <a:graphicFrameLocks noGrp="1"/>
          </p:cNvGraphicFramePr>
          <p:nvPr/>
        </p:nvGraphicFramePr>
        <p:xfrm>
          <a:off x="3814953" y="5435346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object 20">
            <a:extLst>
              <a:ext uri="{FF2B5EF4-FFF2-40B4-BE49-F238E27FC236}">
                <a16:creationId xmlns:a16="http://schemas.microsoft.com/office/drawing/2014/main" id="{EB5828CF-A295-BB45-8C2D-DB65D9311099}"/>
              </a:ext>
            </a:extLst>
          </p:cNvPr>
          <p:cNvSpPr/>
          <p:nvPr/>
        </p:nvSpPr>
        <p:spPr>
          <a:xfrm>
            <a:off x="3886200" y="1622932"/>
            <a:ext cx="5368290" cy="3845560"/>
          </a:xfrm>
          <a:custGeom>
            <a:avLst/>
            <a:gdLst/>
            <a:ahLst/>
            <a:cxnLst/>
            <a:rect l="l" t="t" r="r" b="b"/>
            <a:pathLst>
              <a:path w="5368290" h="3845560">
                <a:moveTo>
                  <a:pt x="2295271" y="3831590"/>
                </a:moveTo>
                <a:lnTo>
                  <a:pt x="2276119" y="3806190"/>
                </a:lnTo>
                <a:lnTo>
                  <a:pt x="2218309" y="3729482"/>
                </a:lnTo>
                <a:lnTo>
                  <a:pt x="2201341" y="3763657"/>
                </a:lnTo>
                <a:lnTo>
                  <a:pt x="17018" y="2676779"/>
                </a:lnTo>
                <a:lnTo>
                  <a:pt x="0" y="2710815"/>
                </a:lnTo>
                <a:lnTo>
                  <a:pt x="2184425" y="3797744"/>
                </a:lnTo>
                <a:lnTo>
                  <a:pt x="2167509" y="3831844"/>
                </a:lnTo>
                <a:lnTo>
                  <a:pt x="2295271" y="3831590"/>
                </a:lnTo>
                <a:close/>
              </a:path>
              <a:path w="5368290" h="3845560">
                <a:moveTo>
                  <a:pt x="2313762" y="3716744"/>
                </a:moveTo>
                <a:lnTo>
                  <a:pt x="2280793" y="0"/>
                </a:lnTo>
                <a:lnTo>
                  <a:pt x="2242693" y="254"/>
                </a:lnTo>
                <a:lnTo>
                  <a:pt x="2275662" y="3717086"/>
                </a:lnTo>
                <a:lnTo>
                  <a:pt x="2313762" y="3716744"/>
                </a:lnTo>
                <a:close/>
              </a:path>
              <a:path w="5368290" h="3845560">
                <a:moveTo>
                  <a:pt x="5368163" y="2711704"/>
                </a:moveTo>
                <a:lnTo>
                  <a:pt x="5354955" y="2675890"/>
                </a:lnTo>
                <a:lnTo>
                  <a:pt x="2395791" y="3774046"/>
                </a:lnTo>
                <a:lnTo>
                  <a:pt x="2382520" y="3738245"/>
                </a:lnTo>
                <a:lnTo>
                  <a:pt x="2295944" y="3830878"/>
                </a:lnTo>
                <a:lnTo>
                  <a:pt x="2342286" y="3736086"/>
                </a:lnTo>
                <a:lnTo>
                  <a:pt x="2351735" y="3716744"/>
                </a:lnTo>
                <a:lnTo>
                  <a:pt x="2351913" y="3716401"/>
                </a:lnTo>
                <a:lnTo>
                  <a:pt x="2313787" y="3716744"/>
                </a:lnTo>
                <a:lnTo>
                  <a:pt x="2275662" y="3717086"/>
                </a:lnTo>
                <a:lnTo>
                  <a:pt x="2237613" y="3717417"/>
                </a:lnTo>
                <a:lnTo>
                  <a:pt x="2295715" y="3831107"/>
                </a:lnTo>
                <a:lnTo>
                  <a:pt x="2295271" y="3831590"/>
                </a:lnTo>
                <a:lnTo>
                  <a:pt x="2422271" y="3845433"/>
                </a:lnTo>
                <a:lnTo>
                  <a:pt x="2411476" y="3816350"/>
                </a:lnTo>
                <a:lnTo>
                  <a:pt x="2409025" y="3809720"/>
                </a:lnTo>
                <a:lnTo>
                  <a:pt x="5368163" y="27117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73005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2">
            <a:extLst>
              <a:ext uri="{FF2B5EF4-FFF2-40B4-BE49-F238E27FC236}">
                <a16:creationId xmlns:a16="http://schemas.microsoft.com/office/drawing/2014/main" id="{F09601EF-EED9-824A-BF07-2BEE62F3F673}"/>
              </a:ext>
            </a:extLst>
          </p:cNvPr>
          <p:cNvGrpSpPr/>
          <p:nvPr/>
        </p:nvGrpSpPr>
        <p:grpSpPr>
          <a:xfrm>
            <a:off x="1098799" y="1749538"/>
            <a:ext cx="10497185" cy="2730500"/>
            <a:chOff x="1098799" y="1749538"/>
            <a:chExt cx="10497185" cy="2730500"/>
          </a:xfrm>
        </p:grpSpPr>
        <p:pic>
          <p:nvPicPr>
            <p:cNvPr id="4" name="object 3">
              <a:extLst>
                <a:ext uri="{FF2B5EF4-FFF2-40B4-BE49-F238E27FC236}">
                  <a16:creationId xmlns:a16="http://schemas.microsoft.com/office/drawing/2014/main" id="{E2E29F23-3D72-3744-97E9-C4E95FA2073F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098799" y="1749538"/>
              <a:ext cx="10496564" cy="2730266"/>
            </a:xfrm>
            <a:prstGeom prst="rect">
              <a:avLst/>
            </a:prstGeom>
          </p:spPr>
        </p:pic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C44CCB03-4C5C-D146-A42E-F6737E2CEDC1}"/>
                </a:ext>
              </a:extLst>
            </p:cNvPr>
            <p:cNvSpPr/>
            <p:nvPr/>
          </p:nvSpPr>
          <p:spPr>
            <a:xfrm>
              <a:off x="1858517" y="2913126"/>
              <a:ext cx="3972560" cy="330200"/>
            </a:xfrm>
            <a:custGeom>
              <a:avLst/>
              <a:gdLst/>
              <a:ahLst/>
              <a:cxnLst/>
              <a:rect l="l" t="t" r="r" b="b"/>
              <a:pathLst>
                <a:path w="3972560" h="330200">
                  <a:moveTo>
                    <a:pt x="0" y="54990"/>
                  </a:moveTo>
                  <a:lnTo>
                    <a:pt x="4323" y="33593"/>
                  </a:lnTo>
                  <a:lnTo>
                    <a:pt x="16113" y="16113"/>
                  </a:lnTo>
                  <a:lnTo>
                    <a:pt x="33593" y="4323"/>
                  </a:lnTo>
                  <a:lnTo>
                    <a:pt x="54990" y="0"/>
                  </a:lnTo>
                  <a:lnTo>
                    <a:pt x="3917315" y="0"/>
                  </a:lnTo>
                  <a:lnTo>
                    <a:pt x="3938712" y="4323"/>
                  </a:lnTo>
                  <a:lnTo>
                    <a:pt x="3956192" y="16113"/>
                  </a:lnTo>
                  <a:lnTo>
                    <a:pt x="3967982" y="33593"/>
                  </a:lnTo>
                  <a:lnTo>
                    <a:pt x="3972305" y="54990"/>
                  </a:lnTo>
                  <a:lnTo>
                    <a:pt x="3972305" y="274954"/>
                  </a:lnTo>
                  <a:lnTo>
                    <a:pt x="3967982" y="296352"/>
                  </a:lnTo>
                  <a:lnTo>
                    <a:pt x="3956192" y="313832"/>
                  </a:lnTo>
                  <a:lnTo>
                    <a:pt x="3938712" y="325622"/>
                  </a:lnTo>
                  <a:lnTo>
                    <a:pt x="3917315" y="329946"/>
                  </a:lnTo>
                  <a:lnTo>
                    <a:pt x="54990" y="329946"/>
                  </a:lnTo>
                  <a:lnTo>
                    <a:pt x="33593" y="325622"/>
                  </a:lnTo>
                  <a:lnTo>
                    <a:pt x="16113" y="313832"/>
                  </a:lnTo>
                  <a:lnTo>
                    <a:pt x="4323" y="296352"/>
                  </a:lnTo>
                  <a:lnTo>
                    <a:pt x="0" y="274954"/>
                  </a:lnTo>
                  <a:lnTo>
                    <a:pt x="0" y="54990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77AC2D77-8102-7E4B-A2EC-B46318CCA06E}"/>
                </a:ext>
              </a:extLst>
            </p:cNvPr>
            <p:cNvSpPr/>
            <p:nvPr/>
          </p:nvSpPr>
          <p:spPr>
            <a:xfrm>
              <a:off x="6089522" y="2837307"/>
              <a:ext cx="1586230" cy="482600"/>
            </a:xfrm>
            <a:custGeom>
              <a:avLst/>
              <a:gdLst/>
              <a:ahLst/>
              <a:cxnLst/>
              <a:rect l="l" t="t" r="r" b="b"/>
              <a:pathLst>
                <a:path w="1586229" h="482600">
                  <a:moveTo>
                    <a:pt x="0" y="482346"/>
                  </a:moveTo>
                  <a:lnTo>
                    <a:pt x="1585722" y="482346"/>
                  </a:lnTo>
                  <a:lnTo>
                    <a:pt x="1585722" y="0"/>
                  </a:lnTo>
                  <a:lnTo>
                    <a:pt x="0" y="0"/>
                  </a:lnTo>
                  <a:lnTo>
                    <a:pt x="0" y="482346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6">
            <a:extLst>
              <a:ext uri="{FF2B5EF4-FFF2-40B4-BE49-F238E27FC236}">
                <a16:creationId xmlns:a16="http://schemas.microsoft.com/office/drawing/2014/main" id="{2952DF8D-87EA-304F-964C-C366F444E40D}"/>
              </a:ext>
            </a:extLst>
          </p:cNvPr>
          <p:cNvSpPr txBox="1"/>
          <p:nvPr/>
        </p:nvSpPr>
        <p:spPr>
          <a:xfrm>
            <a:off x="842719" y="1129876"/>
            <a:ext cx="30994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dirty="0" err="1">
                <a:latin typeface="Times New Roman"/>
                <a:cs typeface="Times New Roman"/>
              </a:rPr>
              <a:t>QuickSort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dirty="0">
                <a:latin typeface="Cambria Math"/>
                <a:cs typeface="Cambria Math"/>
              </a:rPr>
              <a:t>𝑨,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𝒑,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𝒓</a:t>
            </a:r>
            <a:r>
              <a:rPr sz="2800" b="1" spc="-2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37E5F677-C7EE-2645-A2C6-5C7615E6A6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57084" y="147388"/>
            <a:ext cx="601472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快速排序：伪代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41204E6D-2D35-314D-9C2E-7E3B497B4BF6}"/>
              </a:ext>
            </a:extLst>
          </p:cNvPr>
          <p:cNvSpPr txBox="1"/>
          <p:nvPr/>
        </p:nvSpPr>
        <p:spPr>
          <a:xfrm>
            <a:off x="6701790" y="1133094"/>
            <a:ext cx="4796155" cy="60007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5016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95"/>
              </a:spcBef>
            </a:pPr>
            <a:r>
              <a:rPr sz="2800">
                <a:solidFill>
                  <a:srgbClr val="FFFFFF"/>
                </a:solidFill>
                <a:latin typeface="宋体"/>
                <a:cs typeface="宋体"/>
              </a:rPr>
              <a:t>初始调用：</a:t>
            </a:r>
            <a:r>
              <a:rPr sz="2800" b="1">
                <a:solidFill>
                  <a:srgbClr val="FFFFFF"/>
                </a:solidFill>
                <a:latin typeface="Times New Roman"/>
                <a:cs typeface="Times New Roman"/>
              </a:rPr>
              <a:t>QuickSort(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𝑨,</a:t>
            </a:r>
            <a:r>
              <a:rPr sz="2800" spc="-16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spc="-1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r>
              <a:rPr sz="2800" spc="-80">
                <a:solidFill>
                  <a:srgbClr val="FFFFFF"/>
                </a:solidFill>
                <a:latin typeface="Cambria Math"/>
                <a:cs typeface="Cambria Math"/>
              </a:rPr>
              <a:t>, </a:t>
            </a:r>
            <a:r>
              <a:rPr sz="2800" spc="-25">
                <a:solidFill>
                  <a:srgbClr val="FFFFFF"/>
                </a:solidFill>
                <a:latin typeface="Cambria Math"/>
                <a:cs typeface="Cambria Math"/>
              </a:rPr>
              <a:t>𝒏</a:t>
            </a:r>
            <a:r>
              <a:rPr sz="2800" b="1" spc="-2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BB033E4F-B23C-3D44-BC0F-930131900815}"/>
              </a:ext>
            </a:extLst>
          </p:cNvPr>
          <p:cNvSpPr txBox="1"/>
          <p:nvPr/>
        </p:nvSpPr>
        <p:spPr>
          <a:xfrm>
            <a:off x="6310629" y="2891027"/>
            <a:ext cx="114427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5">
                <a:latin typeface="宋体"/>
                <a:cs typeface="宋体"/>
              </a:rPr>
              <a:t>数组划分</a:t>
            </a:r>
            <a:endParaRPr sz="220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9011499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>
            <a:extLst>
              <a:ext uri="{FF2B5EF4-FFF2-40B4-BE49-F238E27FC236}">
                <a16:creationId xmlns:a16="http://schemas.microsoft.com/office/drawing/2014/main" id="{E2E29F23-3D72-3744-97E9-C4E95FA2073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98799" y="1749538"/>
            <a:ext cx="10496564" cy="2730266"/>
          </a:xfrm>
          <a:prstGeom prst="rect">
            <a:avLst/>
          </a:prstGeom>
        </p:spPr>
      </p:pic>
      <p:sp>
        <p:nvSpPr>
          <p:cNvPr id="7" name="object 6">
            <a:extLst>
              <a:ext uri="{FF2B5EF4-FFF2-40B4-BE49-F238E27FC236}">
                <a16:creationId xmlns:a16="http://schemas.microsoft.com/office/drawing/2014/main" id="{2952DF8D-87EA-304F-964C-C366F444E40D}"/>
              </a:ext>
            </a:extLst>
          </p:cNvPr>
          <p:cNvSpPr txBox="1"/>
          <p:nvPr/>
        </p:nvSpPr>
        <p:spPr>
          <a:xfrm>
            <a:off x="842719" y="1129876"/>
            <a:ext cx="30994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dirty="0" err="1">
                <a:latin typeface="Times New Roman"/>
                <a:cs typeface="Times New Roman"/>
              </a:rPr>
              <a:t>QuickSort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dirty="0">
                <a:latin typeface="Cambria Math"/>
                <a:cs typeface="Cambria Math"/>
              </a:rPr>
              <a:t>𝑨,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𝒑,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𝒓</a:t>
            </a:r>
            <a:r>
              <a:rPr sz="2800" b="1" spc="-2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37E5F677-C7EE-2645-A2C6-5C7615E6A6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57084" y="147388"/>
            <a:ext cx="601472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快速排序：伪代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41204E6D-2D35-314D-9C2E-7E3B497B4BF6}"/>
              </a:ext>
            </a:extLst>
          </p:cNvPr>
          <p:cNvSpPr txBox="1"/>
          <p:nvPr/>
        </p:nvSpPr>
        <p:spPr>
          <a:xfrm>
            <a:off x="6701790" y="1133094"/>
            <a:ext cx="4796155" cy="60007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5016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95"/>
              </a:spcBef>
            </a:pPr>
            <a:r>
              <a:rPr sz="2800">
                <a:solidFill>
                  <a:srgbClr val="FFFFFF"/>
                </a:solidFill>
                <a:latin typeface="宋体"/>
                <a:cs typeface="宋体"/>
              </a:rPr>
              <a:t>初始调用：</a:t>
            </a:r>
            <a:r>
              <a:rPr sz="2800" b="1">
                <a:solidFill>
                  <a:srgbClr val="FFFFFF"/>
                </a:solidFill>
                <a:latin typeface="Times New Roman"/>
                <a:cs typeface="Times New Roman"/>
              </a:rPr>
              <a:t>QuickSort(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𝑨,</a:t>
            </a:r>
            <a:r>
              <a:rPr sz="2800" spc="-16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spc="-1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r>
              <a:rPr sz="2800" spc="-80">
                <a:solidFill>
                  <a:srgbClr val="FFFFFF"/>
                </a:solidFill>
                <a:latin typeface="Cambria Math"/>
                <a:cs typeface="Cambria Math"/>
              </a:rPr>
              <a:t>, </a:t>
            </a:r>
            <a:r>
              <a:rPr sz="2800" spc="-25">
                <a:solidFill>
                  <a:srgbClr val="FFFFFF"/>
                </a:solidFill>
                <a:latin typeface="Cambria Math"/>
                <a:cs typeface="Cambria Math"/>
              </a:rPr>
              <a:t>𝒏</a:t>
            </a:r>
            <a:r>
              <a:rPr sz="2800" b="1" spc="-2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00BA9A0C-EEE4-FE46-BB25-3B9A83D635E4}"/>
              </a:ext>
            </a:extLst>
          </p:cNvPr>
          <p:cNvSpPr/>
          <p:nvPr/>
        </p:nvSpPr>
        <p:spPr>
          <a:xfrm>
            <a:off x="1858517" y="3246060"/>
            <a:ext cx="3972560" cy="749935"/>
          </a:xfrm>
          <a:custGeom>
            <a:avLst/>
            <a:gdLst/>
            <a:ahLst/>
            <a:cxnLst/>
            <a:rect l="l" t="t" r="r" b="b"/>
            <a:pathLst>
              <a:path w="3972560" h="749935">
                <a:moveTo>
                  <a:pt x="0" y="124967"/>
                </a:moveTo>
                <a:lnTo>
                  <a:pt x="9828" y="76348"/>
                </a:lnTo>
                <a:lnTo>
                  <a:pt x="36623" y="36623"/>
                </a:lnTo>
                <a:lnTo>
                  <a:pt x="76348" y="9828"/>
                </a:lnTo>
                <a:lnTo>
                  <a:pt x="124968" y="0"/>
                </a:lnTo>
                <a:lnTo>
                  <a:pt x="3847337" y="0"/>
                </a:lnTo>
                <a:lnTo>
                  <a:pt x="3895957" y="9828"/>
                </a:lnTo>
                <a:lnTo>
                  <a:pt x="3935682" y="36623"/>
                </a:lnTo>
                <a:lnTo>
                  <a:pt x="3962477" y="76348"/>
                </a:lnTo>
                <a:lnTo>
                  <a:pt x="3972305" y="124967"/>
                </a:lnTo>
                <a:lnTo>
                  <a:pt x="3972305" y="624839"/>
                </a:lnTo>
                <a:lnTo>
                  <a:pt x="3962477" y="673459"/>
                </a:lnTo>
                <a:lnTo>
                  <a:pt x="3935682" y="713184"/>
                </a:lnTo>
                <a:lnTo>
                  <a:pt x="3895957" y="739979"/>
                </a:lnTo>
                <a:lnTo>
                  <a:pt x="3847337" y="749807"/>
                </a:lnTo>
                <a:lnTo>
                  <a:pt x="124968" y="749807"/>
                </a:lnTo>
                <a:lnTo>
                  <a:pt x="76348" y="739979"/>
                </a:lnTo>
                <a:lnTo>
                  <a:pt x="36623" y="713184"/>
                </a:lnTo>
                <a:lnTo>
                  <a:pt x="9828" y="673459"/>
                </a:lnTo>
                <a:lnTo>
                  <a:pt x="0" y="624839"/>
                </a:lnTo>
                <a:lnTo>
                  <a:pt x="0" y="124967"/>
                </a:lnTo>
                <a:close/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5">
            <a:extLst>
              <a:ext uri="{FF2B5EF4-FFF2-40B4-BE49-F238E27FC236}">
                <a16:creationId xmlns:a16="http://schemas.microsoft.com/office/drawing/2014/main" id="{2F8B575C-7872-B445-86F7-C05618C63569}"/>
              </a:ext>
            </a:extLst>
          </p:cNvPr>
          <p:cNvSpPr/>
          <p:nvPr/>
        </p:nvSpPr>
        <p:spPr>
          <a:xfrm>
            <a:off x="6089522" y="3110865"/>
            <a:ext cx="1586230" cy="482600"/>
          </a:xfrm>
          <a:custGeom>
            <a:avLst/>
            <a:gdLst/>
            <a:ahLst/>
            <a:cxnLst/>
            <a:rect l="l" t="t" r="r" b="b"/>
            <a:pathLst>
              <a:path w="1586229" h="482600">
                <a:moveTo>
                  <a:pt x="0" y="482346"/>
                </a:moveTo>
                <a:lnTo>
                  <a:pt x="1585722" y="482346"/>
                </a:lnTo>
                <a:lnTo>
                  <a:pt x="1585722" y="0"/>
                </a:lnTo>
                <a:lnTo>
                  <a:pt x="0" y="0"/>
                </a:lnTo>
                <a:lnTo>
                  <a:pt x="0" y="482346"/>
                </a:lnTo>
                <a:close/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4545A6F3-E062-3943-819D-93FDCA67AD75}"/>
              </a:ext>
            </a:extLst>
          </p:cNvPr>
          <p:cNvSpPr txBox="1"/>
          <p:nvPr/>
        </p:nvSpPr>
        <p:spPr>
          <a:xfrm>
            <a:off x="6310629" y="3164586"/>
            <a:ext cx="114427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5" dirty="0" err="1">
                <a:latin typeface="宋体"/>
                <a:cs typeface="宋体"/>
              </a:rPr>
              <a:t>左右分治</a:t>
            </a:r>
            <a:endParaRPr sz="2200" dirty="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2065315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2719705" y="3857271"/>
            <a:ext cx="7350125" cy="652780"/>
          </a:xfrm>
        </p:spPr>
        <p:txBody>
          <a:bodyPr>
            <a:normAutofit/>
          </a:bodyPr>
          <a:lstStyle/>
          <a:p>
            <a:pPr algn="ctr"/>
            <a:r>
              <a:rPr lang="zh-CN" altLang="en-US" dirty="0"/>
              <a:t>算法设计与分析</a:t>
            </a:r>
            <a:endParaRPr lang="zh-CN" altLang="en-US" dirty="0">
              <a:solidFill>
                <a:srgbClr val="005D96"/>
              </a:solidFill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2704260" y="5219564"/>
            <a:ext cx="6783480" cy="99986"/>
            <a:chOff x="628656" y="974915"/>
            <a:chExt cx="11038056" cy="24702"/>
          </a:xfrm>
        </p:grpSpPr>
        <p:cxnSp>
          <p:nvCxnSpPr>
            <p:cNvPr id="40" name="直接连接符 39"/>
            <p:cNvCxnSpPr/>
            <p:nvPr/>
          </p:nvCxnSpPr>
          <p:spPr>
            <a:xfrm>
              <a:off x="628656" y="975360"/>
              <a:ext cx="8627657" cy="0"/>
            </a:xfrm>
            <a:prstGeom prst="line">
              <a:avLst/>
            </a:prstGeom>
            <a:ln w="19050">
              <a:solidFill>
                <a:srgbClr val="005D96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H="1">
              <a:off x="9233073" y="974915"/>
              <a:ext cx="23240" cy="24702"/>
            </a:xfrm>
            <a:prstGeom prst="line">
              <a:avLst/>
            </a:prstGeom>
            <a:ln w="19050" cap="rnd">
              <a:solidFill>
                <a:srgbClr val="005D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V="1">
              <a:off x="9233070" y="975360"/>
              <a:ext cx="189380" cy="24257"/>
            </a:xfrm>
            <a:prstGeom prst="line">
              <a:avLst/>
            </a:prstGeom>
            <a:ln w="19050" cap="rnd">
              <a:solidFill>
                <a:srgbClr val="005D96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9422450" y="975360"/>
              <a:ext cx="2244262" cy="0"/>
            </a:xfrm>
            <a:prstGeom prst="line">
              <a:avLst/>
            </a:prstGeom>
            <a:ln w="19050">
              <a:solidFill>
                <a:srgbClr val="005D9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5" name="直接连接符 94"/>
          <p:cNvCxnSpPr/>
          <p:nvPr/>
        </p:nvCxnSpPr>
        <p:spPr>
          <a:xfrm flipV="1">
            <a:off x="2784475" y="5848350"/>
            <a:ext cx="0" cy="265430"/>
          </a:xfrm>
          <a:prstGeom prst="line">
            <a:avLst/>
          </a:prstGeom>
          <a:ln w="28575" cap="rnd">
            <a:solidFill>
              <a:srgbClr val="005D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 flipV="1">
            <a:off x="2861310" y="5895340"/>
            <a:ext cx="0" cy="170180"/>
          </a:xfrm>
          <a:prstGeom prst="line">
            <a:avLst/>
          </a:prstGeom>
          <a:ln w="28575" cap="rnd">
            <a:solidFill>
              <a:srgbClr val="005D96">
                <a:alpha val="6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 rot="16200000">
            <a:off x="2880995" y="5981065"/>
            <a:ext cx="113665" cy="0"/>
          </a:xfrm>
          <a:prstGeom prst="line">
            <a:avLst/>
          </a:prstGeom>
          <a:ln w="28575" cap="rnd">
            <a:solidFill>
              <a:srgbClr val="005D96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组合 34"/>
          <p:cNvGrpSpPr/>
          <p:nvPr/>
        </p:nvGrpSpPr>
        <p:grpSpPr>
          <a:xfrm>
            <a:off x="3161491" y="5800840"/>
            <a:ext cx="5933868" cy="367111"/>
            <a:chOff x="3517041" y="5800840"/>
            <a:chExt cx="5082917" cy="367111"/>
          </a:xfrm>
        </p:grpSpPr>
        <p:sp>
          <p:nvSpPr>
            <p:cNvPr id="36" name="文本框 35"/>
            <p:cNvSpPr txBox="1"/>
            <p:nvPr/>
          </p:nvSpPr>
          <p:spPr>
            <a:xfrm>
              <a:off x="3826448" y="5856877"/>
              <a:ext cx="2349253" cy="283476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lvl="0" algn="r">
                <a:lnSpc>
                  <a:spcPct val="110000"/>
                </a:lnSpc>
                <a:defRPr/>
              </a:pPr>
              <a:r>
                <a:rPr lang="zh-CN" altLang="en-US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开课专业班级：软件</a:t>
              </a:r>
              <a:r>
                <a:rPr lang="en-US" altLang="zh-CN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211-3</a:t>
              </a: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5D96"/>
                  </a:solidFill>
                  <a:effectLst/>
                  <a:uLnTx/>
                  <a:uFillTx/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 </a:t>
              </a: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6830089" y="5810965"/>
              <a:ext cx="1769869" cy="314894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开课教师：</a:t>
              </a:r>
              <a:r>
                <a:rPr lang="zh-CN" altLang="en-US" sz="2000" dirty="0">
                  <a:solidFill>
                    <a:srgbClr val="005D96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赵浩然</a:t>
              </a:r>
            </a:p>
          </p:txBody>
        </p:sp>
        <p:sp>
          <p:nvSpPr>
            <p:cNvPr id="39" name="graduate_57239"/>
            <p:cNvSpPr>
              <a:spLocks noChangeAspect="1"/>
            </p:cNvSpPr>
            <p:nvPr/>
          </p:nvSpPr>
          <p:spPr bwMode="auto">
            <a:xfrm>
              <a:off x="3517041" y="5800840"/>
              <a:ext cx="247420" cy="360000"/>
            </a:xfrm>
            <a:custGeom>
              <a:avLst/>
              <a:gdLst>
                <a:gd name="connsiteX0" fmla="*/ 142468 w 412043"/>
                <a:gd name="connsiteY0" fmla="*/ 396851 h 599527"/>
                <a:gd name="connsiteX1" fmla="*/ 153964 w 412043"/>
                <a:gd name="connsiteY1" fmla="*/ 405753 h 599527"/>
                <a:gd name="connsiteX2" fmla="*/ 144814 w 412043"/>
                <a:gd name="connsiteY2" fmla="*/ 585910 h 599527"/>
                <a:gd name="connsiteX3" fmla="*/ 135898 w 412043"/>
                <a:gd name="connsiteY3" fmla="*/ 595046 h 599527"/>
                <a:gd name="connsiteX4" fmla="*/ 15768 w 412043"/>
                <a:gd name="connsiteY4" fmla="*/ 599498 h 599527"/>
                <a:gd name="connsiteX5" fmla="*/ 6383 w 412043"/>
                <a:gd name="connsiteY5" fmla="*/ 590127 h 599527"/>
                <a:gd name="connsiteX6" fmla="*/ 142468 w 412043"/>
                <a:gd name="connsiteY6" fmla="*/ 396851 h 599527"/>
                <a:gd name="connsiteX7" fmla="*/ 275305 w 412043"/>
                <a:gd name="connsiteY7" fmla="*/ 271238 h 599527"/>
                <a:gd name="connsiteX8" fmla="*/ 222034 w 412043"/>
                <a:gd name="connsiteY8" fmla="*/ 284828 h 599527"/>
                <a:gd name="connsiteX9" fmla="*/ 158437 w 412043"/>
                <a:gd name="connsiteY9" fmla="*/ 287640 h 599527"/>
                <a:gd name="connsiteX10" fmla="*/ 99299 w 412043"/>
                <a:gd name="connsiteY10" fmla="*/ 277096 h 599527"/>
                <a:gd name="connsiteX11" fmla="*/ 205137 w 412043"/>
                <a:gd name="connsiteY11" fmla="*/ 392382 h 599527"/>
                <a:gd name="connsiteX12" fmla="*/ 312148 w 412043"/>
                <a:gd name="connsiteY12" fmla="*/ 309432 h 599527"/>
                <a:gd name="connsiteX13" fmla="*/ 305108 w 412043"/>
                <a:gd name="connsiteY13" fmla="*/ 310604 h 599527"/>
                <a:gd name="connsiteX14" fmla="*/ 275305 w 412043"/>
                <a:gd name="connsiteY14" fmla="*/ 271238 h 599527"/>
                <a:gd name="connsiteX15" fmla="*/ 93667 w 412043"/>
                <a:gd name="connsiteY15" fmla="*/ 210314 h 599527"/>
                <a:gd name="connsiteX16" fmla="*/ 93667 w 412043"/>
                <a:gd name="connsiteY16" fmla="*/ 212892 h 599527"/>
                <a:gd name="connsiteX17" fmla="*/ 100003 w 412043"/>
                <a:gd name="connsiteY17" fmla="*/ 213595 h 599527"/>
                <a:gd name="connsiteX18" fmla="*/ 93667 w 412043"/>
                <a:gd name="connsiteY18" fmla="*/ 210314 h 599527"/>
                <a:gd name="connsiteX19" fmla="*/ 80202 w 412043"/>
                <a:gd name="connsiteY19" fmla="*/ 186355 h 599527"/>
                <a:gd name="connsiteX20" fmla="*/ 89443 w 412043"/>
                <a:gd name="connsiteY20" fmla="*/ 186413 h 599527"/>
                <a:gd name="connsiteX21" fmla="*/ 269203 w 412043"/>
                <a:gd name="connsiteY21" fmla="*/ 193209 h 599527"/>
                <a:gd name="connsiteX22" fmla="*/ 279059 w 412043"/>
                <a:gd name="connsiteY22" fmla="*/ 193209 h 599527"/>
                <a:gd name="connsiteX23" fmla="*/ 284222 w 412043"/>
                <a:gd name="connsiteY23" fmla="*/ 197661 h 599527"/>
                <a:gd name="connsiteX24" fmla="*/ 288681 w 412043"/>
                <a:gd name="connsiteY24" fmla="*/ 255304 h 599527"/>
                <a:gd name="connsiteX25" fmla="*/ 312383 w 412043"/>
                <a:gd name="connsiteY25" fmla="*/ 289280 h 599527"/>
                <a:gd name="connsiteX26" fmla="*/ 314965 w 412043"/>
                <a:gd name="connsiteY26" fmla="*/ 201175 h 599527"/>
                <a:gd name="connsiteX27" fmla="*/ 330688 w 412043"/>
                <a:gd name="connsiteY27" fmla="*/ 199067 h 599527"/>
                <a:gd name="connsiteX28" fmla="*/ 260051 w 412043"/>
                <a:gd name="connsiteY28" fmla="*/ 401287 h 599527"/>
                <a:gd name="connsiteX29" fmla="*/ 263102 w 412043"/>
                <a:gd name="connsiteY29" fmla="*/ 401990 h 599527"/>
                <a:gd name="connsiteX30" fmla="*/ 401325 w 412043"/>
                <a:gd name="connsiteY30" fmla="*/ 590150 h 599527"/>
                <a:gd name="connsiteX31" fmla="*/ 389591 w 412043"/>
                <a:gd name="connsiteY31" fmla="*/ 599289 h 599527"/>
                <a:gd name="connsiteX32" fmla="*/ 262867 w 412043"/>
                <a:gd name="connsiteY32" fmla="*/ 595071 h 599527"/>
                <a:gd name="connsiteX33" fmla="*/ 253480 w 412043"/>
                <a:gd name="connsiteY33" fmla="*/ 585698 h 599527"/>
                <a:gd name="connsiteX34" fmla="*/ 247144 w 412043"/>
                <a:gd name="connsiteY34" fmla="*/ 414643 h 599527"/>
                <a:gd name="connsiteX35" fmla="*/ 248786 w 412043"/>
                <a:gd name="connsiteY35" fmla="*/ 410660 h 599527"/>
                <a:gd name="connsiteX36" fmla="*/ 251603 w 412043"/>
                <a:gd name="connsiteY36" fmla="*/ 404802 h 599527"/>
                <a:gd name="connsiteX37" fmla="*/ 205137 w 412043"/>
                <a:gd name="connsiteY37" fmla="*/ 410894 h 599527"/>
                <a:gd name="connsiteX38" fmla="*/ 75362 w 412043"/>
                <a:gd name="connsiteY38" fmla="*/ 194380 h 599527"/>
                <a:gd name="connsiteX39" fmla="*/ 80202 w 412043"/>
                <a:gd name="connsiteY39" fmla="*/ 186355 h 599527"/>
                <a:gd name="connsiteX40" fmla="*/ 204675 w 412043"/>
                <a:gd name="connsiteY40" fmla="*/ 1071 h 599527"/>
                <a:gd name="connsiteX41" fmla="*/ 297143 w 412043"/>
                <a:gd name="connsiteY41" fmla="*/ 36212 h 599527"/>
                <a:gd name="connsiteX42" fmla="*/ 407917 w 412043"/>
                <a:gd name="connsiteY42" fmla="*/ 88689 h 599527"/>
                <a:gd name="connsiteX43" fmla="*/ 405335 w 412043"/>
                <a:gd name="connsiteY43" fmla="*/ 105790 h 599527"/>
                <a:gd name="connsiteX44" fmla="*/ 367785 w 412043"/>
                <a:gd name="connsiteY44" fmla="*/ 126172 h 599527"/>
                <a:gd name="connsiteX45" fmla="*/ 313102 w 412043"/>
                <a:gd name="connsiteY45" fmla="*/ 136948 h 599527"/>
                <a:gd name="connsiteX46" fmla="*/ 200216 w 412043"/>
                <a:gd name="connsiteY46" fmla="*/ 93608 h 599527"/>
                <a:gd name="connsiteX47" fmla="*/ 282123 w 412043"/>
                <a:gd name="connsiteY47" fmla="*/ 147256 h 599527"/>
                <a:gd name="connsiteX48" fmla="*/ 285643 w 412043"/>
                <a:gd name="connsiteY48" fmla="*/ 153347 h 599527"/>
                <a:gd name="connsiteX49" fmla="*/ 285174 w 412043"/>
                <a:gd name="connsiteY49" fmla="*/ 165530 h 599527"/>
                <a:gd name="connsiteX50" fmla="*/ 172757 w 412043"/>
                <a:gd name="connsiteY50" fmla="*/ 198328 h 599527"/>
                <a:gd name="connsiteX51" fmla="*/ 8474 w 412043"/>
                <a:gd name="connsiteY51" fmla="*/ 110242 h 599527"/>
                <a:gd name="connsiteX52" fmla="*/ 3310 w 412043"/>
                <a:gd name="connsiteY52" fmla="*/ 97122 h 599527"/>
                <a:gd name="connsiteX53" fmla="*/ 113146 w 412043"/>
                <a:gd name="connsiteY53" fmla="*/ 45114 h 599527"/>
                <a:gd name="connsiteX54" fmla="*/ 204675 w 412043"/>
                <a:gd name="connsiteY54" fmla="*/ 1071 h 599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12043" h="599527">
                  <a:moveTo>
                    <a:pt x="142468" y="396851"/>
                  </a:moveTo>
                  <a:cubicBezTo>
                    <a:pt x="148333" y="395679"/>
                    <a:pt x="153730" y="399662"/>
                    <a:pt x="153964" y="405753"/>
                  </a:cubicBezTo>
                  <a:cubicBezTo>
                    <a:pt x="156545" y="464556"/>
                    <a:pt x="165461" y="529215"/>
                    <a:pt x="144814" y="585910"/>
                  </a:cubicBezTo>
                  <a:cubicBezTo>
                    <a:pt x="145048" y="590595"/>
                    <a:pt x="142233" y="595515"/>
                    <a:pt x="135898" y="595046"/>
                  </a:cubicBezTo>
                  <a:cubicBezTo>
                    <a:pt x="95776" y="591532"/>
                    <a:pt x="55889" y="595046"/>
                    <a:pt x="15768" y="599498"/>
                  </a:cubicBezTo>
                  <a:cubicBezTo>
                    <a:pt x="10606" y="599966"/>
                    <a:pt x="6383" y="594812"/>
                    <a:pt x="6383" y="590127"/>
                  </a:cubicBezTo>
                  <a:cubicBezTo>
                    <a:pt x="5913" y="512348"/>
                    <a:pt x="62224" y="414655"/>
                    <a:pt x="142468" y="396851"/>
                  </a:cubicBezTo>
                  <a:close/>
                  <a:moveTo>
                    <a:pt x="275305" y="271238"/>
                  </a:moveTo>
                  <a:cubicBezTo>
                    <a:pt x="260285" y="280845"/>
                    <a:pt x="239165" y="282251"/>
                    <a:pt x="222034" y="284828"/>
                  </a:cubicBezTo>
                  <a:cubicBezTo>
                    <a:pt x="201148" y="287875"/>
                    <a:pt x="179557" y="289280"/>
                    <a:pt x="158437" y="287640"/>
                  </a:cubicBezTo>
                  <a:cubicBezTo>
                    <a:pt x="143887" y="286469"/>
                    <a:pt x="116899" y="285531"/>
                    <a:pt x="99299" y="277096"/>
                  </a:cubicBezTo>
                  <a:cubicBezTo>
                    <a:pt x="110329" y="336145"/>
                    <a:pt x="139663" y="391679"/>
                    <a:pt x="205137" y="392382"/>
                  </a:cubicBezTo>
                  <a:cubicBezTo>
                    <a:pt x="262163" y="392851"/>
                    <a:pt x="296895" y="356062"/>
                    <a:pt x="312148" y="309432"/>
                  </a:cubicBezTo>
                  <a:cubicBezTo>
                    <a:pt x="310036" y="310135"/>
                    <a:pt x="307690" y="310604"/>
                    <a:pt x="305108" y="310604"/>
                  </a:cubicBezTo>
                  <a:cubicBezTo>
                    <a:pt x="287977" y="310604"/>
                    <a:pt x="279294" y="293030"/>
                    <a:pt x="275305" y="271238"/>
                  </a:cubicBezTo>
                  <a:close/>
                  <a:moveTo>
                    <a:pt x="93667" y="210314"/>
                  </a:moveTo>
                  <a:cubicBezTo>
                    <a:pt x="93667" y="211251"/>
                    <a:pt x="93667" y="212189"/>
                    <a:pt x="93667" y="212892"/>
                  </a:cubicBezTo>
                  <a:cubicBezTo>
                    <a:pt x="95779" y="213126"/>
                    <a:pt x="97891" y="213360"/>
                    <a:pt x="100003" y="213595"/>
                  </a:cubicBezTo>
                  <a:cubicBezTo>
                    <a:pt x="97891" y="212423"/>
                    <a:pt x="95779" y="211486"/>
                    <a:pt x="93667" y="210314"/>
                  </a:cubicBezTo>
                  <a:close/>
                  <a:moveTo>
                    <a:pt x="80202" y="186355"/>
                  </a:moveTo>
                  <a:cubicBezTo>
                    <a:pt x="82872" y="184714"/>
                    <a:pt x="86275" y="184422"/>
                    <a:pt x="89443" y="186413"/>
                  </a:cubicBezTo>
                  <a:cubicBezTo>
                    <a:pt x="144356" y="220156"/>
                    <a:pt x="213820" y="232340"/>
                    <a:pt x="269203" y="193209"/>
                  </a:cubicBezTo>
                  <a:cubicBezTo>
                    <a:pt x="272958" y="190397"/>
                    <a:pt x="276713" y="191100"/>
                    <a:pt x="279059" y="193209"/>
                  </a:cubicBezTo>
                  <a:cubicBezTo>
                    <a:pt x="281641" y="192271"/>
                    <a:pt x="284692" y="194380"/>
                    <a:pt x="284222" y="197661"/>
                  </a:cubicBezTo>
                  <a:cubicBezTo>
                    <a:pt x="281876" y="216172"/>
                    <a:pt x="285630" y="237261"/>
                    <a:pt x="288681" y="255304"/>
                  </a:cubicBezTo>
                  <a:cubicBezTo>
                    <a:pt x="289620" y="261162"/>
                    <a:pt x="304404" y="314587"/>
                    <a:pt x="312383" y="289280"/>
                  </a:cubicBezTo>
                  <a:cubicBezTo>
                    <a:pt x="321301" y="261162"/>
                    <a:pt x="315434" y="229997"/>
                    <a:pt x="314965" y="201175"/>
                  </a:cubicBezTo>
                  <a:cubicBezTo>
                    <a:pt x="314730" y="192037"/>
                    <a:pt x="328341" y="190397"/>
                    <a:pt x="330688" y="199067"/>
                  </a:cubicBezTo>
                  <a:cubicBezTo>
                    <a:pt x="349227" y="270300"/>
                    <a:pt x="328576" y="369887"/>
                    <a:pt x="260051" y="401287"/>
                  </a:cubicBezTo>
                  <a:cubicBezTo>
                    <a:pt x="261224" y="401287"/>
                    <a:pt x="262163" y="401521"/>
                    <a:pt x="263102" y="401990"/>
                  </a:cubicBezTo>
                  <a:cubicBezTo>
                    <a:pt x="332330" y="431983"/>
                    <a:pt x="406018" y="510481"/>
                    <a:pt x="401325" y="590150"/>
                  </a:cubicBezTo>
                  <a:cubicBezTo>
                    <a:pt x="401090" y="596711"/>
                    <a:pt x="395693" y="600226"/>
                    <a:pt x="389591" y="599289"/>
                  </a:cubicBezTo>
                  <a:cubicBezTo>
                    <a:pt x="347584" y="591790"/>
                    <a:pt x="305108" y="600460"/>
                    <a:pt x="262867" y="595071"/>
                  </a:cubicBezTo>
                  <a:cubicBezTo>
                    <a:pt x="257704" y="594368"/>
                    <a:pt x="253480" y="591322"/>
                    <a:pt x="253480" y="585698"/>
                  </a:cubicBezTo>
                  <a:cubicBezTo>
                    <a:pt x="252776" y="529226"/>
                    <a:pt x="239634" y="471115"/>
                    <a:pt x="247144" y="414643"/>
                  </a:cubicBezTo>
                  <a:cubicBezTo>
                    <a:pt x="247378" y="413003"/>
                    <a:pt x="248082" y="411831"/>
                    <a:pt x="248786" y="410660"/>
                  </a:cubicBezTo>
                  <a:cubicBezTo>
                    <a:pt x="249021" y="408551"/>
                    <a:pt x="249960" y="406442"/>
                    <a:pt x="251603" y="404802"/>
                  </a:cubicBezTo>
                  <a:cubicBezTo>
                    <a:pt x="237757" y="409722"/>
                    <a:pt x="222268" y="411831"/>
                    <a:pt x="205137" y="410894"/>
                  </a:cubicBezTo>
                  <a:cubicBezTo>
                    <a:pt x="96248" y="404802"/>
                    <a:pt x="70903" y="284360"/>
                    <a:pt x="75362" y="194380"/>
                  </a:cubicBezTo>
                  <a:cubicBezTo>
                    <a:pt x="75597" y="190983"/>
                    <a:pt x="77533" y="187995"/>
                    <a:pt x="80202" y="186355"/>
                  </a:cubicBezTo>
                  <a:close/>
                  <a:moveTo>
                    <a:pt x="204675" y="1071"/>
                  </a:moveTo>
                  <a:cubicBezTo>
                    <a:pt x="234481" y="-6191"/>
                    <a:pt x="272031" y="25435"/>
                    <a:pt x="297143" y="36212"/>
                  </a:cubicBezTo>
                  <a:cubicBezTo>
                    <a:pt x="334459" y="52142"/>
                    <a:pt x="374121" y="65730"/>
                    <a:pt x="407917" y="88689"/>
                  </a:cubicBezTo>
                  <a:cubicBezTo>
                    <a:pt x="415192" y="93843"/>
                    <a:pt x="411907" y="104150"/>
                    <a:pt x="405335" y="105790"/>
                  </a:cubicBezTo>
                  <a:cubicBezTo>
                    <a:pt x="398295" y="117035"/>
                    <a:pt x="379519" y="122189"/>
                    <a:pt x="367785" y="126172"/>
                  </a:cubicBezTo>
                  <a:cubicBezTo>
                    <a:pt x="351122" y="132029"/>
                    <a:pt x="331173" y="139291"/>
                    <a:pt x="313102" y="136948"/>
                  </a:cubicBezTo>
                  <a:cubicBezTo>
                    <a:pt x="271562" y="131092"/>
                    <a:pt x="243164" y="83769"/>
                    <a:pt x="200216" y="93608"/>
                  </a:cubicBezTo>
                  <a:cubicBezTo>
                    <a:pt x="211481" y="122658"/>
                    <a:pt x="255368" y="139760"/>
                    <a:pt x="282123" y="147256"/>
                  </a:cubicBezTo>
                  <a:cubicBezTo>
                    <a:pt x="285174" y="148193"/>
                    <a:pt x="286113" y="150770"/>
                    <a:pt x="285643" y="153347"/>
                  </a:cubicBezTo>
                  <a:cubicBezTo>
                    <a:pt x="288459" y="156627"/>
                    <a:pt x="289398" y="161547"/>
                    <a:pt x="285174" y="165530"/>
                  </a:cubicBezTo>
                  <a:cubicBezTo>
                    <a:pt x="254899" y="193408"/>
                    <a:pt x="213358" y="214961"/>
                    <a:pt x="172757" y="198328"/>
                  </a:cubicBezTo>
                  <a:cubicBezTo>
                    <a:pt x="115493" y="174666"/>
                    <a:pt x="65738" y="134840"/>
                    <a:pt x="8474" y="110242"/>
                  </a:cubicBezTo>
                  <a:cubicBezTo>
                    <a:pt x="728" y="112584"/>
                    <a:pt x="-3261" y="101339"/>
                    <a:pt x="3310" y="97122"/>
                  </a:cubicBezTo>
                  <a:cubicBezTo>
                    <a:pt x="37341" y="75569"/>
                    <a:pt x="76769" y="61982"/>
                    <a:pt x="113146" y="45114"/>
                  </a:cubicBezTo>
                  <a:cubicBezTo>
                    <a:pt x="142482" y="31526"/>
                    <a:pt x="173226" y="8568"/>
                    <a:pt x="204675" y="1071"/>
                  </a:cubicBezTo>
                  <a:close/>
                </a:path>
              </a:pathLst>
            </a:custGeom>
            <a:solidFill>
              <a:srgbClr val="005D96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solidFill>
                  <a:schemeClr val="accent4"/>
                </a:solidFill>
              </a:endParaRPr>
            </a:p>
          </p:txBody>
        </p:sp>
        <p:sp>
          <p:nvSpPr>
            <p:cNvPr id="45" name="professor_53644"/>
            <p:cNvSpPr>
              <a:spLocks noChangeAspect="1"/>
            </p:cNvSpPr>
            <p:nvPr/>
          </p:nvSpPr>
          <p:spPr bwMode="auto">
            <a:xfrm>
              <a:off x="6601606" y="5807951"/>
              <a:ext cx="254137" cy="360000"/>
            </a:xfrm>
            <a:custGeom>
              <a:avLst/>
              <a:gdLst>
                <a:gd name="connsiteX0" fmla="*/ 274879 w 424808"/>
                <a:gd name="connsiteY0" fmla="*/ 445205 h 601764"/>
                <a:gd name="connsiteX1" fmla="*/ 274879 w 424808"/>
                <a:gd name="connsiteY1" fmla="*/ 470531 h 601764"/>
                <a:gd name="connsiteX2" fmla="*/ 332512 w 424808"/>
                <a:gd name="connsiteY2" fmla="*/ 470531 h 601764"/>
                <a:gd name="connsiteX3" fmla="*/ 332512 w 424808"/>
                <a:gd name="connsiteY3" fmla="*/ 445205 h 601764"/>
                <a:gd name="connsiteX4" fmla="*/ 107051 w 424808"/>
                <a:gd name="connsiteY4" fmla="*/ 280818 h 601764"/>
                <a:gd name="connsiteX5" fmla="*/ 183588 w 424808"/>
                <a:gd name="connsiteY5" fmla="*/ 420340 h 601764"/>
                <a:gd name="connsiteX6" fmla="*/ 191426 w 424808"/>
                <a:gd name="connsiteY6" fmla="*/ 393633 h 601764"/>
                <a:gd name="connsiteX7" fmla="*/ 179899 w 424808"/>
                <a:gd name="connsiteY7" fmla="*/ 369228 h 601764"/>
                <a:gd name="connsiteX8" fmla="*/ 212174 w 424808"/>
                <a:gd name="connsiteY8" fmla="*/ 336074 h 601764"/>
                <a:gd name="connsiteX9" fmla="*/ 244910 w 424808"/>
                <a:gd name="connsiteY9" fmla="*/ 369228 h 601764"/>
                <a:gd name="connsiteX10" fmla="*/ 233383 w 424808"/>
                <a:gd name="connsiteY10" fmla="*/ 393633 h 601764"/>
                <a:gd name="connsiteX11" fmla="*/ 240760 w 424808"/>
                <a:gd name="connsiteY11" fmla="*/ 420340 h 601764"/>
                <a:gd name="connsiteX12" fmla="*/ 317758 w 424808"/>
                <a:gd name="connsiteY12" fmla="*/ 280818 h 601764"/>
                <a:gd name="connsiteX13" fmla="*/ 424726 w 424808"/>
                <a:gd name="connsiteY13" fmla="*/ 513815 h 601764"/>
                <a:gd name="connsiteX14" fmla="*/ 388763 w 424808"/>
                <a:gd name="connsiteY14" fmla="*/ 559861 h 601764"/>
                <a:gd name="connsiteX15" fmla="*/ 347267 w 424808"/>
                <a:gd name="connsiteY15" fmla="*/ 561703 h 601764"/>
                <a:gd name="connsiteX16" fmla="*/ 213557 w 424808"/>
                <a:gd name="connsiteY16" fmla="*/ 601764 h 601764"/>
                <a:gd name="connsiteX17" fmla="*/ 78003 w 424808"/>
                <a:gd name="connsiteY17" fmla="*/ 561703 h 601764"/>
                <a:gd name="connsiteX18" fmla="*/ 36507 w 424808"/>
                <a:gd name="connsiteY18" fmla="*/ 559861 h 601764"/>
                <a:gd name="connsiteX19" fmla="*/ 83 w 424808"/>
                <a:gd name="connsiteY19" fmla="*/ 513815 h 601764"/>
                <a:gd name="connsiteX20" fmla="*/ 107051 w 424808"/>
                <a:gd name="connsiteY20" fmla="*/ 280818 h 601764"/>
                <a:gd name="connsiteX21" fmla="*/ 184977 w 424808"/>
                <a:gd name="connsiteY21" fmla="*/ 152406 h 601764"/>
                <a:gd name="connsiteX22" fmla="*/ 153631 w 424808"/>
                <a:gd name="connsiteY22" fmla="*/ 166680 h 601764"/>
                <a:gd name="connsiteX23" fmla="*/ 153631 w 424808"/>
                <a:gd name="connsiteY23" fmla="*/ 167601 h 601764"/>
                <a:gd name="connsiteX24" fmla="*/ 170226 w 424808"/>
                <a:gd name="connsiteY24" fmla="*/ 184637 h 601764"/>
                <a:gd name="connsiteX25" fmla="*/ 178062 w 424808"/>
                <a:gd name="connsiteY25" fmla="*/ 184637 h 601764"/>
                <a:gd name="connsiteX26" fmla="*/ 195118 w 424808"/>
                <a:gd name="connsiteY26" fmla="*/ 167601 h 601764"/>
                <a:gd name="connsiteX27" fmla="*/ 184977 w 424808"/>
                <a:gd name="connsiteY27" fmla="*/ 152406 h 601764"/>
                <a:gd name="connsiteX28" fmla="*/ 247208 w 424808"/>
                <a:gd name="connsiteY28" fmla="*/ 150564 h 601764"/>
                <a:gd name="connsiteX29" fmla="*/ 230152 w 424808"/>
                <a:gd name="connsiteY29" fmla="*/ 167601 h 601764"/>
                <a:gd name="connsiteX30" fmla="*/ 247208 w 424808"/>
                <a:gd name="connsiteY30" fmla="*/ 184637 h 601764"/>
                <a:gd name="connsiteX31" fmla="*/ 254583 w 424808"/>
                <a:gd name="connsiteY31" fmla="*/ 184637 h 601764"/>
                <a:gd name="connsiteX32" fmla="*/ 271639 w 424808"/>
                <a:gd name="connsiteY32" fmla="*/ 167601 h 601764"/>
                <a:gd name="connsiteX33" fmla="*/ 254583 w 424808"/>
                <a:gd name="connsiteY33" fmla="*/ 150564 h 601764"/>
                <a:gd name="connsiteX34" fmla="*/ 236144 w 424808"/>
                <a:gd name="connsiteY34" fmla="*/ 107283 h 601764"/>
                <a:gd name="connsiteX35" fmla="*/ 196040 w 424808"/>
                <a:gd name="connsiteY35" fmla="*/ 145039 h 601764"/>
                <a:gd name="connsiteX36" fmla="*/ 201572 w 424808"/>
                <a:gd name="connsiteY36" fmla="*/ 150564 h 601764"/>
                <a:gd name="connsiteX37" fmla="*/ 223237 w 424808"/>
                <a:gd name="connsiteY37" fmla="*/ 150564 h 601764"/>
                <a:gd name="connsiteX38" fmla="*/ 247208 w 424808"/>
                <a:gd name="connsiteY38" fmla="*/ 138593 h 601764"/>
                <a:gd name="connsiteX39" fmla="*/ 254583 w 424808"/>
                <a:gd name="connsiteY39" fmla="*/ 138593 h 601764"/>
                <a:gd name="connsiteX40" fmla="*/ 284085 w 424808"/>
                <a:gd name="connsiteY40" fmla="*/ 167601 h 601764"/>
                <a:gd name="connsiteX41" fmla="*/ 254583 w 424808"/>
                <a:gd name="connsiteY41" fmla="*/ 197069 h 601764"/>
                <a:gd name="connsiteX42" fmla="*/ 247208 w 424808"/>
                <a:gd name="connsiteY42" fmla="*/ 197069 h 601764"/>
                <a:gd name="connsiteX43" fmla="*/ 217706 w 424808"/>
                <a:gd name="connsiteY43" fmla="*/ 167601 h 601764"/>
                <a:gd name="connsiteX44" fmla="*/ 218167 w 424808"/>
                <a:gd name="connsiteY44" fmla="*/ 162996 h 601764"/>
                <a:gd name="connsiteX45" fmla="*/ 206642 w 424808"/>
                <a:gd name="connsiteY45" fmla="*/ 162996 h 601764"/>
                <a:gd name="connsiteX46" fmla="*/ 207103 w 424808"/>
                <a:gd name="connsiteY46" fmla="*/ 167601 h 601764"/>
                <a:gd name="connsiteX47" fmla="*/ 178062 w 424808"/>
                <a:gd name="connsiteY47" fmla="*/ 197069 h 601764"/>
                <a:gd name="connsiteX48" fmla="*/ 170226 w 424808"/>
                <a:gd name="connsiteY48" fmla="*/ 197069 h 601764"/>
                <a:gd name="connsiteX49" fmla="*/ 141185 w 424808"/>
                <a:gd name="connsiteY49" fmla="*/ 170363 h 601764"/>
                <a:gd name="connsiteX50" fmla="*/ 119519 w 424808"/>
                <a:gd name="connsiteY50" fmla="*/ 173586 h 601764"/>
                <a:gd name="connsiteX51" fmla="*/ 212635 w 424808"/>
                <a:gd name="connsiteY51" fmla="*/ 280869 h 601764"/>
                <a:gd name="connsiteX52" fmla="*/ 307594 w 424808"/>
                <a:gd name="connsiteY52" fmla="*/ 155629 h 601764"/>
                <a:gd name="connsiteX53" fmla="*/ 236144 w 424808"/>
                <a:gd name="connsiteY53" fmla="*/ 107283 h 601764"/>
                <a:gd name="connsiteX54" fmla="*/ 212635 w 424808"/>
                <a:gd name="connsiteY54" fmla="*/ 0 h 601764"/>
                <a:gd name="connsiteX55" fmla="*/ 340323 w 424808"/>
                <a:gd name="connsiteY55" fmla="*/ 127082 h 601764"/>
                <a:gd name="connsiteX56" fmla="*/ 365215 w 424808"/>
                <a:gd name="connsiteY56" fmla="*/ 175889 h 601764"/>
                <a:gd name="connsiteX57" fmla="*/ 326955 w 424808"/>
                <a:gd name="connsiteY57" fmla="*/ 224695 h 601764"/>
                <a:gd name="connsiteX58" fmla="*/ 212635 w 424808"/>
                <a:gd name="connsiteY58" fmla="*/ 317244 h 601764"/>
                <a:gd name="connsiteX59" fmla="*/ 98315 w 424808"/>
                <a:gd name="connsiteY59" fmla="*/ 224695 h 601764"/>
                <a:gd name="connsiteX60" fmla="*/ 59594 w 424808"/>
                <a:gd name="connsiteY60" fmla="*/ 175889 h 601764"/>
                <a:gd name="connsiteX61" fmla="*/ 84947 w 424808"/>
                <a:gd name="connsiteY61" fmla="*/ 127082 h 601764"/>
                <a:gd name="connsiteX62" fmla="*/ 212635 w 424808"/>
                <a:gd name="connsiteY62" fmla="*/ 0 h 601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424808" h="601764">
                  <a:moveTo>
                    <a:pt x="274879" y="445205"/>
                  </a:moveTo>
                  <a:lnTo>
                    <a:pt x="274879" y="470531"/>
                  </a:lnTo>
                  <a:lnTo>
                    <a:pt x="332512" y="470531"/>
                  </a:lnTo>
                  <a:lnTo>
                    <a:pt x="332512" y="445205"/>
                  </a:lnTo>
                  <a:close/>
                  <a:moveTo>
                    <a:pt x="107051" y="280818"/>
                  </a:moveTo>
                  <a:lnTo>
                    <a:pt x="183588" y="420340"/>
                  </a:lnTo>
                  <a:lnTo>
                    <a:pt x="191426" y="393633"/>
                  </a:lnTo>
                  <a:cubicBezTo>
                    <a:pt x="184510" y="387647"/>
                    <a:pt x="179899" y="378898"/>
                    <a:pt x="179899" y="369228"/>
                  </a:cubicBezTo>
                  <a:cubicBezTo>
                    <a:pt x="179899" y="350809"/>
                    <a:pt x="193731" y="336074"/>
                    <a:pt x="212174" y="336074"/>
                  </a:cubicBezTo>
                  <a:cubicBezTo>
                    <a:pt x="230156" y="336074"/>
                    <a:pt x="244910" y="350809"/>
                    <a:pt x="244910" y="369228"/>
                  </a:cubicBezTo>
                  <a:cubicBezTo>
                    <a:pt x="244910" y="378898"/>
                    <a:pt x="240299" y="387647"/>
                    <a:pt x="233383" y="393633"/>
                  </a:cubicBezTo>
                  <a:lnTo>
                    <a:pt x="240760" y="420340"/>
                  </a:lnTo>
                  <a:lnTo>
                    <a:pt x="317758" y="280818"/>
                  </a:lnTo>
                  <a:cubicBezTo>
                    <a:pt x="367092" y="310288"/>
                    <a:pt x="417810" y="377977"/>
                    <a:pt x="424726" y="513815"/>
                  </a:cubicBezTo>
                  <a:cubicBezTo>
                    <a:pt x="426109" y="537759"/>
                    <a:pt x="409972" y="558480"/>
                    <a:pt x="388763" y="559861"/>
                  </a:cubicBezTo>
                  <a:cubicBezTo>
                    <a:pt x="387840" y="559861"/>
                    <a:pt x="347267" y="561703"/>
                    <a:pt x="347267" y="561703"/>
                  </a:cubicBezTo>
                  <a:cubicBezTo>
                    <a:pt x="322830" y="588410"/>
                    <a:pt x="274879" y="601764"/>
                    <a:pt x="213557" y="601764"/>
                  </a:cubicBezTo>
                  <a:cubicBezTo>
                    <a:pt x="155463" y="601764"/>
                    <a:pt x="103362" y="590713"/>
                    <a:pt x="78003" y="561703"/>
                  </a:cubicBezTo>
                  <a:cubicBezTo>
                    <a:pt x="78003" y="561703"/>
                    <a:pt x="36969" y="559861"/>
                    <a:pt x="36507" y="559861"/>
                  </a:cubicBezTo>
                  <a:cubicBezTo>
                    <a:pt x="14837" y="558480"/>
                    <a:pt x="-1300" y="537759"/>
                    <a:pt x="83" y="513815"/>
                  </a:cubicBezTo>
                  <a:cubicBezTo>
                    <a:pt x="6999" y="377056"/>
                    <a:pt x="57717" y="309827"/>
                    <a:pt x="107051" y="280818"/>
                  </a:cubicBezTo>
                  <a:close/>
                  <a:moveTo>
                    <a:pt x="184977" y="152406"/>
                  </a:moveTo>
                  <a:cubicBezTo>
                    <a:pt x="175758" y="157931"/>
                    <a:pt x="165155" y="162996"/>
                    <a:pt x="153631" y="166680"/>
                  </a:cubicBezTo>
                  <a:cubicBezTo>
                    <a:pt x="153631" y="167140"/>
                    <a:pt x="153631" y="167601"/>
                    <a:pt x="153631" y="167601"/>
                  </a:cubicBezTo>
                  <a:cubicBezTo>
                    <a:pt x="153631" y="176809"/>
                    <a:pt x="161007" y="184637"/>
                    <a:pt x="170226" y="184637"/>
                  </a:cubicBezTo>
                  <a:lnTo>
                    <a:pt x="178062" y="184637"/>
                  </a:lnTo>
                  <a:cubicBezTo>
                    <a:pt x="187282" y="184637"/>
                    <a:pt x="195118" y="176809"/>
                    <a:pt x="195118" y="167601"/>
                  </a:cubicBezTo>
                  <a:cubicBezTo>
                    <a:pt x="195118" y="160694"/>
                    <a:pt x="190969" y="155169"/>
                    <a:pt x="184977" y="152406"/>
                  </a:cubicBezTo>
                  <a:close/>
                  <a:moveTo>
                    <a:pt x="247208" y="150564"/>
                  </a:moveTo>
                  <a:cubicBezTo>
                    <a:pt x="237527" y="150564"/>
                    <a:pt x="230152" y="158392"/>
                    <a:pt x="230152" y="167601"/>
                  </a:cubicBezTo>
                  <a:cubicBezTo>
                    <a:pt x="230152" y="176809"/>
                    <a:pt x="237527" y="184637"/>
                    <a:pt x="247208" y="184637"/>
                  </a:cubicBezTo>
                  <a:lnTo>
                    <a:pt x="254583" y="184637"/>
                  </a:lnTo>
                  <a:cubicBezTo>
                    <a:pt x="263802" y="184637"/>
                    <a:pt x="271639" y="176809"/>
                    <a:pt x="271639" y="167601"/>
                  </a:cubicBezTo>
                  <a:cubicBezTo>
                    <a:pt x="271639" y="158392"/>
                    <a:pt x="263802" y="150564"/>
                    <a:pt x="254583" y="150564"/>
                  </a:cubicBezTo>
                  <a:close/>
                  <a:moveTo>
                    <a:pt x="236144" y="107283"/>
                  </a:moveTo>
                  <a:cubicBezTo>
                    <a:pt x="232457" y="111887"/>
                    <a:pt x="218628" y="129384"/>
                    <a:pt x="196040" y="145039"/>
                  </a:cubicBezTo>
                  <a:cubicBezTo>
                    <a:pt x="198345" y="146420"/>
                    <a:pt x="200189" y="148723"/>
                    <a:pt x="201572" y="150564"/>
                  </a:cubicBezTo>
                  <a:lnTo>
                    <a:pt x="223237" y="150564"/>
                  </a:lnTo>
                  <a:cubicBezTo>
                    <a:pt x="228769" y="143197"/>
                    <a:pt x="237066" y="138593"/>
                    <a:pt x="247208" y="138593"/>
                  </a:cubicBezTo>
                  <a:lnTo>
                    <a:pt x="254583" y="138593"/>
                  </a:lnTo>
                  <a:cubicBezTo>
                    <a:pt x="270717" y="138593"/>
                    <a:pt x="284085" y="151485"/>
                    <a:pt x="284085" y="167601"/>
                  </a:cubicBezTo>
                  <a:cubicBezTo>
                    <a:pt x="284085" y="183716"/>
                    <a:pt x="270717" y="197069"/>
                    <a:pt x="254583" y="197069"/>
                  </a:cubicBezTo>
                  <a:lnTo>
                    <a:pt x="247208" y="197069"/>
                  </a:lnTo>
                  <a:cubicBezTo>
                    <a:pt x="231074" y="197069"/>
                    <a:pt x="217706" y="183716"/>
                    <a:pt x="217706" y="167601"/>
                  </a:cubicBezTo>
                  <a:cubicBezTo>
                    <a:pt x="217706" y="166219"/>
                    <a:pt x="218167" y="164378"/>
                    <a:pt x="218167" y="162996"/>
                  </a:cubicBezTo>
                  <a:lnTo>
                    <a:pt x="206642" y="162996"/>
                  </a:lnTo>
                  <a:cubicBezTo>
                    <a:pt x="207103" y="164378"/>
                    <a:pt x="207103" y="166219"/>
                    <a:pt x="207103" y="167601"/>
                  </a:cubicBezTo>
                  <a:cubicBezTo>
                    <a:pt x="207103" y="183716"/>
                    <a:pt x="194196" y="197069"/>
                    <a:pt x="178062" y="197069"/>
                  </a:cubicBezTo>
                  <a:lnTo>
                    <a:pt x="170226" y="197069"/>
                  </a:lnTo>
                  <a:cubicBezTo>
                    <a:pt x="155014" y="197069"/>
                    <a:pt x="142568" y="185097"/>
                    <a:pt x="141185" y="170363"/>
                  </a:cubicBezTo>
                  <a:cubicBezTo>
                    <a:pt x="134270" y="171745"/>
                    <a:pt x="126895" y="173126"/>
                    <a:pt x="119519" y="173586"/>
                  </a:cubicBezTo>
                  <a:cubicBezTo>
                    <a:pt x="129200" y="235746"/>
                    <a:pt x="163311" y="280869"/>
                    <a:pt x="212635" y="280869"/>
                  </a:cubicBezTo>
                  <a:cubicBezTo>
                    <a:pt x="264724" y="280869"/>
                    <a:pt x="302985" y="228839"/>
                    <a:pt x="307594" y="155629"/>
                  </a:cubicBezTo>
                  <a:cubicBezTo>
                    <a:pt x="260576" y="144579"/>
                    <a:pt x="242598" y="119715"/>
                    <a:pt x="236144" y="107283"/>
                  </a:cubicBezTo>
                  <a:close/>
                  <a:moveTo>
                    <a:pt x="212635" y="0"/>
                  </a:moveTo>
                  <a:cubicBezTo>
                    <a:pt x="313126" y="0"/>
                    <a:pt x="333870" y="55713"/>
                    <a:pt x="340323" y="127082"/>
                  </a:cubicBezTo>
                  <a:cubicBezTo>
                    <a:pt x="359684" y="130305"/>
                    <a:pt x="370286" y="145499"/>
                    <a:pt x="365215" y="175889"/>
                  </a:cubicBezTo>
                  <a:cubicBezTo>
                    <a:pt x="361067" y="201213"/>
                    <a:pt x="349081" y="222854"/>
                    <a:pt x="326955" y="224695"/>
                  </a:cubicBezTo>
                  <a:cubicBezTo>
                    <a:pt x="305290" y="281790"/>
                    <a:pt x="262420" y="317244"/>
                    <a:pt x="212635" y="317244"/>
                  </a:cubicBezTo>
                  <a:cubicBezTo>
                    <a:pt x="160546" y="317244"/>
                    <a:pt x="119980" y="280409"/>
                    <a:pt x="98315" y="224695"/>
                  </a:cubicBezTo>
                  <a:cubicBezTo>
                    <a:pt x="76188" y="222854"/>
                    <a:pt x="64203" y="201213"/>
                    <a:pt x="59594" y="175889"/>
                  </a:cubicBezTo>
                  <a:cubicBezTo>
                    <a:pt x="54523" y="145499"/>
                    <a:pt x="65586" y="130305"/>
                    <a:pt x="84947" y="127082"/>
                  </a:cubicBezTo>
                  <a:cubicBezTo>
                    <a:pt x="91400" y="55713"/>
                    <a:pt x="111222" y="0"/>
                    <a:pt x="212635" y="0"/>
                  </a:cubicBezTo>
                  <a:close/>
                </a:path>
              </a:pathLst>
            </a:custGeom>
            <a:solidFill>
              <a:srgbClr val="005D96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solidFill>
                  <a:schemeClr val="accent4"/>
                </a:solidFill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-114300" y="450215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DE574F-A14B-EE44-B58F-28595D784A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08922" y="4734940"/>
            <a:ext cx="5881922" cy="337185"/>
          </a:xfrm>
        </p:spPr>
        <p:txBody>
          <a:bodyPr/>
          <a:lstStyle/>
          <a:p>
            <a:r>
              <a:rPr lang="en-US" altLang="zh-CN" b="1" dirty="0">
                <a:solidFill>
                  <a:schemeClr val="tx1"/>
                </a:solidFill>
              </a:rPr>
              <a:t>----</a:t>
            </a:r>
            <a:r>
              <a:rPr lang="zh-CN" altLang="en-US" b="1" dirty="0">
                <a:solidFill>
                  <a:schemeClr val="tx1"/>
                </a:solidFill>
              </a:rPr>
              <a:t> 课程编号：</a:t>
            </a:r>
            <a:r>
              <a:rPr lang="en-US" altLang="zh-CN" b="1" dirty="0">
                <a:solidFill>
                  <a:schemeClr val="tx1"/>
                </a:solidFill>
              </a:rPr>
              <a:t>BK10504150-01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601105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6AD1E31-E1D4-474A-857E-E83472671461}"/>
              </a:ext>
            </a:extLst>
          </p:cNvPr>
          <p:cNvSpPr/>
          <p:nvPr/>
        </p:nvSpPr>
        <p:spPr>
          <a:xfrm>
            <a:off x="3778285" y="1300829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70" h="331469">
                <a:moveTo>
                  <a:pt x="77470" y="0"/>
                </a:moveTo>
                <a:lnTo>
                  <a:pt x="0" y="0"/>
                </a:lnTo>
                <a:lnTo>
                  <a:pt x="0" y="12700"/>
                </a:lnTo>
                <a:lnTo>
                  <a:pt x="48641" y="12700"/>
                </a:lnTo>
                <a:lnTo>
                  <a:pt x="48641" y="317500"/>
                </a:lnTo>
                <a:lnTo>
                  <a:pt x="0" y="31750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7500"/>
                </a:lnTo>
                <a:lnTo>
                  <a:pt x="77470" y="1270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73D44FD-173A-A040-9AF3-766709C3C99B}"/>
              </a:ext>
            </a:extLst>
          </p:cNvPr>
          <p:cNvSpPr/>
          <p:nvPr/>
        </p:nvSpPr>
        <p:spPr>
          <a:xfrm>
            <a:off x="2784002" y="1300829"/>
            <a:ext cx="77470" cy="331470"/>
          </a:xfrm>
          <a:custGeom>
            <a:avLst/>
            <a:gdLst/>
            <a:ahLst/>
            <a:cxnLst/>
            <a:rect l="l" t="t" r="r" b="b"/>
            <a:pathLst>
              <a:path w="77469" h="331469">
                <a:moveTo>
                  <a:pt x="77470" y="0"/>
                </a:moveTo>
                <a:lnTo>
                  <a:pt x="0" y="0"/>
                </a:lnTo>
                <a:lnTo>
                  <a:pt x="0" y="12700"/>
                </a:lnTo>
                <a:lnTo>
                  <a:pt x="0" y="317500"/>
                </a:lnTo>
                <a:lnTo>
                  <a:pt x="0" y="331470"/>
                </a:lnTo>
                <a:lnTo>
                  <a:pt x="77470" y="331470"/>
                </a:lnTo>
                <a:lnTo>
                  <a:pt x="77470" y="317500"/>
                </a:lnTo>
                <a:lnTo>
                  <a:pt x="28829" y="317500"/>
                </a:lnTo>
                <a:lnTo>
                  <a:pt x="28829" y="12700"/>
                </a:lnTo>
                <a:lnTo>
                  <a:pt x="77470" y="12700"/>
                </a:lnTo>
                <a:lnTo>
                  <a:pt x="774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3BFC761-FC9A-3B44-AA1D-93FB09F6F668}"/>
              </a:ext>
            </a:extLst>
          </p:cNvPr>
          <p:cNvSpPr txBox="1"/>
          <p:nvPr/>
        </p:nvSpPr>
        <p:spPr>
          <a:xfrm>
            <a:off x="729904" y="1198976"/>
            <a:ext cx="60261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给定数组</a:t>
            </a:r>
            <a:r>
              <a:rPr sz="2800" dirty="0">
                <a:latin typeface="Cambria Math"/>
                <a:cs typeface="Cambria Math"/>
              </a:rPr>
              <a:t>𝑨</a:t>
            </a:r>
            <a:r>
              <a:rPr sz="2800" spc="35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𝟏</a:t>
            </a:r>
            <a:r>
              <a:rPr sz="2800" spc="-80" dirty="0">
                <a:latin typeface="Cambria Math"/>
                <a:cs typeface="Cambria Math"/>
              </a:rPr>
              <a:t>. . </a:t>
            </a:r>
            <a:r>
              <a:rPr sz="2800" dirty="0">
                <a:latin typeface="Cambria Math"/>
                <a:cs typeface="Cambria Math"/>
              </a:rPr>
              <a:t>𝟏𝟔</a:t>
            </a:r>
            <a:r>
              <a:rPr sz="2800" spc="36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PMingLiU"/>
                <a:cs typeface="PMingLiU"/>
              </a:rPr>
              <a:t>，</a:t>
            </a: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寻找其中最小值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1C41294-3AB8-AE47-9F9A-4B5C8DBDF7A2}"/>
              </a:ext>
            </a:extLst>
          </p:cNvPr>
          <p:cNvSpPr txBox="1"/>
          <p:nvPr/>
        </p:nvSpPr>
        <p:spPr>
          <a:xfrm>
            <a:off x="729904" y="3147108"/>
            <a:ext cx="39268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依次扫描，记录最小值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8C613AB-700C-9243-80D1-68AFA01445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06614" y="187594"/>
            <a:ext cx="5900767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问题背景：最小值查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找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13066AF2-3921-E44E-81C1-19C81B441A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097114"/>
              </p:ext>
            </p:extLst>
          </p:nvPr>
        </p:nvGraphicFramePr>
        <p:xfrm>
          <a:off x="1604806" y="1992806"/>
          <a:ext cx="921511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9A569D2E-3D9D-6645-A556-0671DC3BD8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368137"/>
              </p:ext>
            </p:extLst>
          </p:nvPr>
        </p:nvGraphicFramePr>
        <p:xfrm>
          <a:off x="1604806" y="3905299"/>
          <a:ext cx="9215118" cy="577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7215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bject 9">
            <a:extLst>
              <a:ext uri="{FF2B5EF4-FFF2-40B4-BE49-F238E27FC236}">
                <a16:creationId xmlns:a16="http://schemas.microsoft.com/office/drawing/2014/main" id="{E10E99D9-E878-864D-91B0-170D794D33B8}"/>
              </a:ext>
            </a:extLst>
          </p:cNvPr>
          <p:cNvSpPr/>
          <p:nvPr/>
        </p:nvSpPr>
        <p:spPr>
          <a:xfrm>
            <a:off x="1746919" y="4836971"/>
            <a:ext cx="8753475" cy="114300"/>
          </a:xfrm>
          <a:custGeom>
            <a:avLst/>
            <a:gdLst/>
            <a:ahLst/>
            <a:cxnLst/>
            <a:rect l="l" t="t" r="r" b="b"/>
            <a:pathLst>
              <a:path w="8753475" h="114300">
                <a:moveTo>
                  <a:pt x="8639175" y="0"/>
                </a:moveTo>
                <a:lnTo>
                  <a:pt x="8639175" y="114300"/>
                </a:lnTo>
                <a:lnTo>
                  <a:pt x="8715375" y="76200"/>
                </a:lnTo>
                <a:lnTo>
                  <a:pt x="8658225" y="76200"/>
                </a:lnTo>
                <a:lnTo>
                  <a:pt x="8658225" y="38100"/>
                </a:lnTo>
                <a:lnTo>
                  <a:pt x="8715375" y="38100"/>
                </a:lnTo>
                <a:lnTo>
                  <a:pt x="8639175" y="0"/>
                </a:lnTo>
                <a:close/>
              </a:path>
              <a:path w="8753475" h="114300">
                <a:moveTo>
                  <a:pt x="863917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639175" y="76200"/>
                </a:lnTo>
                <a:lnTo>
                  <a:pt x="8639175" y="38100"/>
                </a:lnTo>
                <a:close/>
              </a:path>
              <a:path w="8753475" h="114300">
                <a:moveTo>
                  <a:pt x="8715375" y="38100"/>
                </a:moveTo>
                <a:lnTo>
                  <a:pt x="8658225" y="38100"/>
                </a:lnTo>
                <a:lnTo>
                  <a:pt x="8658225" y="76200"/>
                </a:lnTo>
                <a:lnTo>
                  <a:pt x="8715375" y="76200"/>
                </a:lnTo>
                <a:lnTo>
                  <a:pt x="8753475" y="57150"/>
                </a:lnTo>
                <a:lnTo>
                  <a:pt x="871537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57C523CE-7ED4-5A43-BD60-7F8B0C33ED16}"/>
              </a:ext>
            </a:extLst>
          </p:cNvPr>
          <p:cNvSpPr txBox="1"/>
          <p:nvPr/>
        </p:nvSpPr>
        <p:spPr>
          <a:xfrm>
            <a:off x="1623475" y="5712509"/>
            <a:ext cx="9217660" cy="520655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88900" rIns="0" bIns="0" rtlCol="0">
            <a:spAutoFit/>
          </a:bodyPr>
          <a:lstStyle/>
          <a:p>
            <a:pPr marL="458470" algn="ctr">
              <a:lnSpc>
                <a:spcPct val="100000"/>
              </a:lnSpc>
              <a:spcBef>
                <a:spcPts val="700"/>
              </a:spcBef>
            </a:pPr>
            <a:r>
              <a:rPr sz="28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问题：如何求得数组中第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小的元素</a:t>
            </a:r>
            <a:r>
              <a:rPr sz="2800" spc="-10" dirty="0">
                <a:latin typeface="PMingLiU"/>
                <a:cs typeface="PMingLiU"/>
              </a:rPr>
              <a:t>？</a:t>
            </a:r>
            <a:endParaRPr sz="2800" dirty="0">
              <a:latin typeface="PMingLiU"/>
              <a:cs typeface="PMingLiU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6A93FAAD-D13E-0747-93DD-9050B63803BC}"/>
              </a:ext>
            </a:extLst>
          </p:cNvPr>
          <p:cNvSpPr txBox="1"/>
          <p:nvPr/>
        </p:nvSpPr>
        <p:spPr>
          <a:xfrm>
            <a:off x="5750975" y="5013500"/>
            <a:ext cx="7372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扫描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</p:spTree>
    <p:extLst>
      <p:ext uri="{BB962C8B-B14F-4D97-AF65-F5344CB8AC3E}">
        <p14:creationId xmlns:p14="http://schemas.microsoft.com/office/powerpoint/2010/main" val="1685629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 animBg="1"/>
      <p:bldP spid="10" grpId="0" animBg="1"/>
      <p:bldP spid="1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4B775F21-C67F-E04D-B372-65317AFC68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79352" y="189679"/>
            <a:ext cx="341734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问题定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义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12779A27-B3D3-2745-A805-D3B7D45DACBA}"/>
              </a:ext>
            </a:extLst>
          </p:cNvPr>
          <p:cNvSpPr/>
          <p:nvPr/>
        </p:nvSpPr>
        <p:spPr>
          <a:xfrm>
            <a:off x="5676785" y="3446898"/>
            <a:ext cx="55244" cy="236220"/>
          </a:xfrm>
          <a:custGeom>
            <a:avLst/>
            <a:gdLst/>
            <a:ahLst/>
            <a:cxnLst/>
            <a:rect l="l" t="t" r="r" b="b"/>
            <a:pathLst>
              <a:path w="55244" h="236220">
                <a:moveTo>
                  <a:pt x="55245" y="0"/>
                </a:moveTo>
                <a:lnTo>
                  <a:pt x="0" y="0"/>
                </a:lnTo>
                <a:lnTo>
                  <a:pt x="0" y="8890"/>
                </a:lnTo>
                <a:lnTo>
                  <a:pt x="34671" y="8890"/>
                </a:lnTo>
                <a:lnTo>
                  <a:pt x="34671" y="226060"/>
                </a:lnTo>
                <a:lnTo>
                  <a:pt x="0" y="226060"/>
                </a:lnTo>
                <a:lnTo>
                  <a:pt x="0" y="236220"/>
                </a:lnTo>
                <a:lnTo>
                  <a:pt x="55245" y="236220"/>
                </a:lnTo>
                <a:lnTo>
                  <a:pt x="55245" y="226060"/>
                </a:lnTo>
                <a:lnTo>
                  <a:pt x="55245" y="8890"/>
                </a:lnTo>
                <a:lnTo>
                  <a:pt x="552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04A164C1-C59D-8C47-873D-CD6A1462567A}"/>
              </a:ext>
            </a:extLst>
          </p:cNvPr>
          <p:cNvSpPr/>
          <p:nvPr/>
        </p:nvSpPr>
        <p:spPr>
          <a:xfrm>
            <a:off x="5104650" y="3446898"/>
            <a:ext cx="55244" cy="236220"/>
          </a:xfrm>
          <a:custGeom>
            <a:avLst/>
            <a:gdLst/>
            <a:ahLst/>
            <a:cxnLst/>
            <a:rect l="l" t="t" r="r" b="b"/>
            <a:pathLst>
              <a:path w="55244" h="236220">
                <a:moveTo>
                  <a:pt x="55245" y="0"/>
                </a:moveTo>
                <a:lnTo>
                  <a:pt x="0" y="0"/>
                </a:lnTo>
                <a:lnTo>
                  <a:pt x="0" y="8890"/>
                </a:lnTo>
                <a:lnTo>
                  <a:pt x="0" y="226060"/>
                </a:lnTo>
                <a:lnTo>
                  <a:pt x="0" y="236220"/>
                </a:lnTo>
                <a:lnTo>
                  <a:pt x="55245" y="236220"/>
                </a:lnTo>
                <a:lnTo>
                  <a:pt x="55245" y="226060"/>
                </a:lnTo>
                <a:lnTo>
                  <a:pt x="20574" y="226060"/>
                </a:lnTo>
                <a:lnTo>
                  <a:pt x="20574" y="8890"/>
                </a:lnTo>
                <a:lnTo>
                  <a:pt x="55245" y="8890"/>
                </a:lnTo>
                <a:lnTo>
                  <a:pt x="552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95299319-251C-D44E-BE08-89D27A49F722}"/>
              </a:ext>
            </a:extLst>
          </p:cNvPr>
          <p:cNvSpPr txBox="1"/>
          <p:nvPr/>
        </p:nvSpPr>
        <p:spPr>
          <a:xfrm>
            <a:off x="1828177" y="2418453"/>
            <a:ext cx="8639810" cy="29781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35"/>
              </a:spcBef>
            </a:pPr>
            <a:r>
              <a:rPr sz="2200" b="1">
                <a:solidFill>
                  <a:srgbClr val="006FC0"/>
                </a:solidFill>
                <a:latin typeface="Times New Roman"/>
                <a:cs typeface="Times New Roman"/>
              </a:rPr>
              <a:t>Selection</a:t>
            </a:r>
            <a:r>
              <a:rPr sz="2200" b="1" spc="-45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spc="-10">
                <a:solidFill>
                  <a:srgbClr val="006FC0"/>
                </a:solidFill>
                <a:latin typeface="Times New Roman"/>
                <a:cs typeface="Times New Roman"/>
              </a:rPr>
              <a:t>Problem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</a:pPr>
            <a:r>
              <a:rPr sz="2000" spc="-20">
                <a:solidFill>
                  <a:srgbClr val="006FC0"/>
                </a:solidFill>
                <a:latin typeface="PMingLiU"/>
                <a:cs typeface="PMingLiU"/>
              </a:rPr>
              <a:t>输</a:t>
            </a:r>
            <a:r>
              <a:rPr sz="2000" spc="-50">
                <a:solidFill>
                  <a:srgbClr val="006FC0"/>
                </a:solidFill>
                <a:latin typeface="PMingLiU"/>
                <a:cs typeface="PMingLiU"/>
              </a:rPr>
              <a:t>入</a:t>
            </a:r>
            <a:endParaRPr sz="2000">
              <a:latin typeface="PMingLiU"/>
              <a:cs typeface="PMingLiU"/>
            </a:endParaRPr>
          </a:p>
          <a:p>
            <a:pPr marL="377190" indent="-286385">
              <a:lnSpc>
                <a:spcPct val="100000"/>
              </a:lnSpc>
              <a:spcBef>
                <a:spcPts val="40"/>
              </a:spcBef>
              <a:buFont typeface="Arial"/>
              <a:buChar char="•"/>
              <a:tabLst>
                <a:tab pos="376555" algn="l"/>
                <a:tab pos="377190" algn="l"/>
              </a:tabLst>
            </a:pPr>
            <a:r>
              <a:rPr sz="2000" spc="-10">
                <a:latin typeface="PMingLiU"/>
                <a:cs typeface="PMingLiU"/>
              </a:rPr>
              <a:t>包含</a:t>
            </a:r>
            <a:r>
              <a:rPr sz="2000">
                <a:latin typeface="Cambria Math"/>
                <a:cs typeface="Cambria Math"/>
              </a:rPr>
              <a:t>𝒏</a:t>
            </a:r>
            <a:r>
              <a:rPr sz="2000" spc="-10">
                <a:latin typeface="PMingLiU"/>
                <a:cs typeface="PMingLiU"/>
              </a:rPr>
              <a:t>个不同元素的数组</a:t>
            </a:r>
            <a:r>
              <a:rPr sz="2000">
                <a:latin typeface="Cambria Math"/>
                <a:cs typeface="Cambria Math"/>
              </a:rPr>
              <a:t>𝑨</a:t>
            </a:r>
            <a:r>
              <a:rPr sz="2000" spc="280">
                <a:latin typeface="Cambria Math"/>
                <a:cs typeface="Cambria Math"/>
              </a:rPr>
              <a:t> </a:t>
            </a:r>
            <a:r>
              <a:rPr sz="2000">
                <a:latin typeface="Cambria Math"/>
                <a:cs typeface="Cambria Math"/>
              </a:rPr>
              <a:t>𝟏</a:t>
            </a:r>
            <a:r>
              <a:rPr sz="2000" spc="-50">
                <a:latin typeface="Cambria Math"/>
                <a:cs typeface="Cambria Math"/>
              </a:rPr>
              <a:t>. . 𝒏</a:t>
            </a:r>
            <a:endParaRPr sz="2000">
              <a:latin typeface="Cambria Math"/>
              <a:cs typeface="Cambria Math"/>
            </a:endParaRPr>
          </a:p>
          <a:p>
            <a:pPr marL="377190" indent="-286385">
              <a:lnSpc>
                <a:spcPct val="100000"/>
              </a:lnSpc>
              <a:buFont typeface="Arial"/>
              <a:buChar char="•"/>
              <a:tabLst>
                <a:tab pos="376555" algn="l"/>
                <a:tab pos="377190" algn="l"/>
              </a:tabLst>
            </a:pPr>
            <a:r>
              <a:rPr sz="2000" spc="-20">
                <a:latin typeface="PMingLiU"/>
                <a:cs typeface="PMingLiU"/>
              </a:rPr>
              <a:t>整数</a:t>
            </a:r>
            <a:r>
              <a:rPr sz="2000">
                <a:latin typeface="Cambria Math"/>
                <a:cs typeface="Cambria Math"/>
              </a:rPr>
              <a:t>𝒌(𝟏</a:t>
            </a:r>
            <a:r>
              <a:rPr sz="2000" spc="60">
                <a:latin typeface="Cambria Math"/>
                <a:cs typeface="Cambria Math"/>
              </a:rPr>
              <a:t> ≤ </a:t>
            </a:r>
            <a:r>
              <a:rPr sz="2000">
                <a:latin typeface="Cambria Math"/>
                <a:cs typeface="Cambria Math"/>
              </a:rPr>
              <a:t>𝒌</a:t>
            </a:r>
            <a:r>
              <a:rPr sz="2000" spc="60">
                <a:latin typeface="Cambria Math"/>
                <a:cs typeface="Cambria Math"/>
              </a:rPr>
              <a:t> ≤ </a:t>
            </a:r>
            <a:r>
              <a:rPr sz="2000" spc="-25">
                <a:latin typeface="Cambria Math"/>
                <a:cs typeface="Cambria Math"/>
              </a:rPr>
              <a:t>𝒏)</a:t>
            </a:r>
            <a:endParaRPr sz="20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2000">
              <a:latin typeface="Cambria Math"/>
              <a:cs typeface="Cambria Math"/>
            </a:endParaRPr>
          </a:p>
          <a:p>
            <a:pPr marL="90805">
              <a:lnSpc>
                <a:spcPct val="100000"/>
              </a:lnSpc>
            </a:pPr>
            <a:r>
              <a:rPr sz="2000" spc="-20">
                <a:solidFill>
                  <a:srgbClr val="006FC0"/>
                </a:solidFill>
                <a:latin typeface="PMingLiU"/>
                <a:cs typeface="PMingLiU"/>
              </a:rPr>
              <a:t>输</a:t>
            </a:r>
            <a:r>
              <a:rPr sz="2000" spc="-50">
                <a:solidFill>
                  <a:srgbClr val="006FC0"/>
                </a:solidFill>
                <a:latin typeface="PMingLiU"/>
                <a:cs typeface="PMingLiU"/>
              </a:rPr>
              <a:t>出</a:t>
            </a:r>
            <a:endParaRPr sz="2000">
              <a:latin typeface="PMingLiU"/>
              <a:cs typeface="PMingLiU"/>
            </a:endParaRPr>
          </a:p>
          <a:p>
            <a:pPr marL="434340" indent="-343535">
              <a:lnSpc>
                <a:spcPct val="100000"/>
              </a:lnSpc>
              <a:spcBef>
                <a:spcPts val="40"/>
              </a:spcBef>
              <a:buFont typeface="Arial"/>
              <a:buChar char="•"/>
              <a:tabLst>
                <a:tab pos="433705" algn="l"/>
                <a:tab pos="434340" algn="l"/>
              </a:tabLst>
            </a:pPr>
            <a:r>
              <a:rPr sz="2000" spc="-20">
                <a:latin typeface="PMingLiU"/>
                <a:cs typeface="PMingLiU"/>
              </a:rPr>
              <a:t>数组</a:t>
            </a:r>
            <a:r>
              <a:rPr sz="2000" spc="-20">
                <a:latin typeface="Cambria Math"/>
                <a:cs typeface="Cambria Math"/>
              </a:rPr>
              <a:t>𝑨[𝟏</a:t>
            </a:r>
            <a:r>
              <a:rPr sz="2000" spc="-65">
                <a:latin typeface="Cambria Math"/>
                <a:cs typeface="Cambria Math"/>
              </a:rPr>
              <a:t>. . </a:t>
            </a:r>
            <a:r>
              <a:rPr sz="2000" spc="-10">
                <a:latin typeface="Cambria Math"/>
                <a:cs typeface="Cambria Math"/>
              </a:rPr>
              <a:t>𝒏]</a:t>
            </a:r>
            <a:r>
              <a:rPr sz="2000" spc="-20">
                <a:latin typeface="PMingLiU"/>
                <a:cs typeface="PMingLiU"/>
              </a:rPr>
              <a:t>中第</a:t>
            </a:r>
            <a:r>
              <a:rPr sz="2000" spc="-20">
                <a:latin typeface="Cambria Math"/>
                <a:cs typeface="Cambria Math"/>
              </a:rPr>
              <a:t>𝒌</a:t>
            </a:r>
            <a:r>
              <a:rPr sz="2000" spc="-15">
                <a:latin typeface="PMingLiU"/>
                <a:cs typeface="PMingLiU"/>
              </a:rPr>
              <a:t>小</a:t>
            </a:r>
            <a:r>
              <a:rPr sz="2000" spc="-20">
                <a:latin typeface="PMingLiU"/>
                <a:cs typeface="PMingLiU"/>
              </a:rPr>
              <a:t>的元素</a:t>
            </a:r>
            <a:r>
              <a:rPr sz="2000">
                <a:latin typeface="Cambria Math"/>
                <a:cs typeface="Cambria Math"/>
              </a:rPr>
              <a:t>(𝟏</a:t>
            </a:r>
            <a:r>
              <a:rPr sz="2000" spc="75">
                <a:latin typeface="Cambria Math"/>
                <a:cs typeface="Cambria Math"/>
              </a:rPr>
              <a:t> ≤ </a:t>
            </a:r>
            <a:r>
              <a:rPr sz="2000">
                <a:latin typeface="Cambria Math"/>
                <a:cs typeface="Cambria Math"/>
              </a:rPr>
              <a:t>𝒌</a:t>
            </a:r>
            <a:r>
              <a:rPr sz="2000" spc="75">
                <a:latin typeface="Cambria Math"/>
                <a:cs typeface="Cambria Math"/>
              </a:rPr>
              <a:t> ≤ </a:t>
            </a:r>
            <a:r>
              <a:rPr sz="2000" spc="-25">
                <a:latin typeface="Cambria Math"/>
                <a:cs typeface="Cambria Math"/>
              </a:rPr>
              <a:t>𝒏)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582C2745-B8D6-A343-9DBD-9BF403E9FE6C}"/>
              </a:ext>
            </a:extLst>
          </p:cNvPr>
          <p:cNvSpPr/>
          <p:nvPr/>
        </p:nvSpPr>
        <p:spPr>
          <a:xfrm>
            <a:off x="1793125" y="1937631"/>
            <a:ext cx="2447290" cy="497840"/>
          </a:xfrm>
          <a:custGeom>
            <a:avLst/>
            <a:gdLst/>
            <a:ahLst/>
            <a:cxnLst/>
            <a:rect l="l" t="t" r="r" b="b"/>
            <a:pathLst>
              <a:path w="2447290" h="497839">
                <a:moveTo>
                  <a:pt x="2322322" y="0"/>
                </a:moveTo>
                <a:lnTo>
                  <a:pt x="124460" y="0"/>
                </a:lnTo>
                <a:lnTo>
                  <a:pt x="0" y="497585"/>
                </a:lnTo>
                <a:lnTo>
                  <a:pt x="2446782" y="497585"/>
                </a:lnTo>
                <a:lnTo>
                  <a:pt x="2322322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C7C38A78-6801-7D47-98FB-62D008337B86}"/>
              </a:ext>
            </a:extLst>
          </p:cNvPr>
          <p:cNvSpPr txBox="1"/>
          <p:nvPr/>
        </p:nvSpPr>
        <p:spPr>
          <a:xfrm>
            <a:off x="740295" y="1171336"/>
            <a:ext cx="3203575" cy="1170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形式化定义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1361440">
              <a:lnSpc>
                <a:spcPct val="100000"/>
              </a:lnSpc>
              <a:spcBef>
                <a:spcPts val="2775"/>
              </a:spcBef>
            </a:pPr>
            <a:r>
              <a:rPr sz="2400" spc="-10" dirty="0" err="1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次序选择问题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</p:spTree>
    <p:extLst>
      <p:ext uri="{BB962C8B-B14F-4D97-AF65-F5344CB8AC3E}">
        <p14:creationId xmlns:p14="http://schemas.microsoft.com/office/powerpoint/2010/main" val="14650530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8">
            <a:extLst>
              <a:ext uri="{FF2B5EF4-FFF2-40B4-BE49-F238E27FC236}">
                <a16:creationId xmlns:a16="http://schemas.microsoft.com/office/drawing/2014/main" id="{6062959D-DA29-6D47-A6C8-611AAC3C135C}"/>
              </a:ext>
            </a:extLst>
          </p:cNvPr>
          <p:cNvGraphicFramePr>
            <a:graphicFrameLocks noGrp="1"/>
          </p:cNvGraphicFramePr>
          <p:nvPr/>
        </p:nvGraphicFramePr>
        <p:xfrm>
          <a:off x="1363980" y="5529707"/>
          <a:ext cx="921511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object 2">
            <a:extLst>
              <a:ext uri="{FF2B5EF4-FFF2-40B4-BE49-F238E27FC236}">
                <a16:creationId xmlns:a16="http://schemas.microsoft.com/office/drawing/2014/main" id="{9E013B1A-E84E-1B4C-A26A-C31DD9544F15}"/>
              </a:ext>
            </a:extLst>
          </p:cNvPr>
          <p:cNvSpPr txBox="1"/>
          <p:nvPr/>
        </p:nvSpPr>
        <p:spPr>
          <a:xfrm>
            <a:off x="750686" y="974370"/>
            <a:ext cx="3961765" cy="282638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数组排序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求得所有元素的次序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时间复杂度</a:t>
            </a:r>
            <a:r>
              <a:rPr sz="2400" dirty="0">
                <a:latin typeface="PMingLiU"/>
                <a:cs typeface="PMingLiU"/>
              </a:rPr>
              <a:t>：</a:t>
            </a:r>
            <a:r>
              <a:rPr sz="2400" dirty="0">
                <a:latin typeface="Cambria Math"/>
                <a:cs typeface="Cambria Math"/>
              </a:rPr>
              <a:t>𝑶(𝒏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𝐥𝐨𝐠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𝒏)</a:t>
            </a:r>
            <a:endParaRPr sz="2400" dirty="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57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选择元素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求得</a:t>
            </a:r>
            <a:r>
              <a:rPr sz="24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第</a:t>
            </a:r>
            <a:r>
              <a:rPr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𝟖</a:t>
            </a:r>
            <a:r>
              <a:rPr sz="24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的元素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时间复杂度</a:t>
            </a:r>
            <a:r>
              <a:rPr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spc="-20" dirty="0">
                <a:latin typeface="Cambria Math"/>
                <a:cs typeface="Cambria Math"/>
              </a:rPr>
              <a:t>𝑶(𝟏)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E6448A3C-D95D-604F-94AB-9D2E08A3BB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28157" y="158840"/>
            <a:ext cx="4373304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排序求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解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DEBA3791-FAB2-6745-A3EE-58140375805E}"/>
              </a:ext>
            </a:extLst>
          </p:cNvPr>
          <p:cNvSpPr/>
          <p:nvPr/>
        </p:nvSpPr>
        <p:spPr>
          <a:xfrm>
            <a:off x="5601461" y="4717369"/>
            <a:ext cx="171450" cy="759460"/>
          </a:xfrm>
          <a:custGeom>
            <a:avLst/>
            <a:gdLst/>
            <a:ahLst/>
            <a:cxnLst/>
            <a:rect l="l" t="t" r="r" b="b"/>
            <a:pathLst>
              <a:path w="171450" h="759460">
                <a:moveTo>
                  <a:pt x="57150" y="587756"/>
                </a:moveTo>
                <a:lnTo>
                  <a:pt x="0" y="587756"/>
                </a:lnTo>
                <a:lnTo>
                  <a:pt x="85725" y="759206"/>
                </a:lnTo>
                <a:lnTo>
                  <a:pt x="157162" y="616331"/>
                </a:lnTo>
                <a:lnTo>
                  <a:pt x="57150" y="616331"/>
                </a:lnTo>
                <a:lnTo>
                  <a:pt x="57150" y="587756"/>
                </a:lnTo>
                <a:close/>
              </a:path>
              <a:path w="171450" h="759460">
                <a:moveTo>
                  <a:pt x="114300" y="0"/>
                </a:moveTo>
                <a:lnTo>
                  <a:pt x="57150" y="0"/>
                </a:lnTo>
                <a:lnTo>
                  <a:pt x="57150" y="616331"/>
                </a:lnTo>
                <a:lnTo>
                  <a:pt x="114300" y="616331"/>
                </a:lnTo>
                <a:lnTo>
                  <a:pt x="114300" y="0"/>
                </a:lnTo>
                <a:close/>
              </a:path>
              <a:path w="171450" h="759460">
                <a:moveTo>
                  <a:pt x="171450" y="587756"/>
                </a:moveTo>
                <a:lnTo>
                  <a:pt x="114300" y="587756"/>
                </a:lnTo>
                <a:lnTo>
                  <a:pt x="114300" y="616331"/>
                </a:lnTo>
                <a:lnTo>
                  <a:pt x="157162" y="616331"/>
                </a:lnTo>
                <a:lnTo>
                  <a:pt x="171450" y="5877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4C0E04EA-118B-054D-9EF8-6AFC5558A6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72985"/>
              </p:ext>
            </p:extLst>
          </p:nvPr>
        </p:nvGraphicFramePr>
        <p:xfrm>
          <a:off x="1344930" y="4043023"/>
          <a:ext cx="921511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22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18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bject 6">
            <a:extLst>
              <a:ext uri="{FF2B5EF4-FFF2-40B4-BE49-F238E27FC236}">
                <a16:creationId xmlns:a16="http://schemas.microsoft.com/office/drawing/2014/main" id="{ECD362CF-0C34-0A4D-A232-50E5C5E6BC34}"/>
              </a:ext>
            </a:extLst>
          </p:cNvPr>
          <p:cNvSpPr txBox="1"/>
          <p:nvPr/>
        </p:nvSpPr>
        <p:spPr>
          <a:xfrm>
            <a:off x="5765800" y="4854588"/>
            <a:ext cx="7372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 err="1">
                <a:latin typeface="PMingLiU"/>
                <a:cs typeface="PMingLiU"/>
              </a:rPr>
              <a:t>排序</a:t>
            </a:r>
            <a:endParaRPr sz="2800" dirty="0">
              <a:latin typeface="PMingLiU"/>
              <a:cs typeface="PMingLiU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E2E1B1EA-93E2-5840-A846-ACBAE6B9F1D4}"/>
              </a:ext>
            </a:extLst>
          </p:cNvPr>
          <p:cNvSpPr txBox="1"/>
          <p:nvPr/>
        </p:nvSpPr>
        <p:spPr>
          <a:xfrm>
            <a:off x="8028431" y="4803925"/>
            <a:ext cx="2552700" cy="57721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746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95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查找第</a:t>
            </a:r>
            <a:r>
              <a:rPr sz="2800" spc="-10">
                <a:solidFill>
                  <a:srgbClr val="FFFFFF"/>
                </a:solidFill>
                <a:latin typeface="Cambria Math"/>
                <a:cs typeface="Cambria Math"/>
              </a:rPr>
              <a:t>𝟖</a:t>
            </a:r>
            <a:r>
              <a:rPr sz="2800" spc="-20">
                <a:solidFill>
                  <a:srgbClr val="FFFFFF"/>
                </a:solidFill>
                <a:latin typeface="PMingLiU"/>
                <a:cs typeface="PMingLiU"/>
              </a:rPr>
              <a:t>小元素</a:t>
            </a:r>
            <a:endParaRPr sz="2800">
              <a:latin typeface="PMingLiU"/>
              <a:cs typeface="PMingLiU"/>
            </a:endParaRPr>
          </a:p>
        </p:txBody>
      </p:sp>
    </p:spTree>
    <p:extLst>
      <p:ext uri="{BB962C8B-B14F-4D97-AF65-F5344CB8AC3E}">
        <p14:creationId xmlns:p14="http://schemas.microsoft.com/office/powerpoint/2010/main" val="3154012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2E21B612-2182-FF43-A19F-F4A45A9CFAD3}"/>
              </a:ext>
            </a:extLst>
          </p:cNvPr>
          <p:cNvSpPr txBox="1"/>
          <p:nvPr/>
        </p:nvSpPr>
        <p:spPr>
          <a:xfrm>
            <a:off x="719512" y="1199611"/>
            <a:ext cx="3961765" cy="143637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数组排序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1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求得所有元素的次序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时间复杂度</a:t>
            </a:r>
            <a:r>
              <a:rPr sz="2400" dirty="0">
                <a:latin typeface="PMingLiU"/>
                <a:cs typeface="PMingLiU"/>
              </a:rPr>
              <a:t>：</a:t>
            </a:r>
            <a:r>
              <a:rPr sz="2400" dirty="0">
                <a:latin typeface="Cambria Math"/>
                <a:cs typeface="Cambria Math"/>
              </a:rPr>
              <a:t>𝑶(𝒏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𝐥𝐨𝐠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𝒏)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D4D1660-ACDF-EB4B-8476-0623F3401C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8960" y="226093"/>
            <a:ext cx="3251086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>
                <a:latin typeface="SimSun" panose="02010600030101010101" pitchFamily="2" charset="-122"/>
                <a:ea typeface="SimSun" panose="02010600030101010101" pitchFamily="2" charset="-122"/>
              </a:rPr>
              <a:t>问题分</a:t>
            </a:r>
            <a:r>
              <a:rPr spc="-50">
                <a:latin typeface="SimSun" panose="02010600030101010101" pitchFamily="2" charset="-122"/>
                <a:ea typeface="SimSun" panose="02010600030101010101" pitchFamily="2" charset="-122"/>
              </a:rPr>
              <a:t>析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D141071-452A-FA47-BD0C-599E530C0D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223803"/>
              </p:ext>
            </p:extLst>
          </p:nvPr>
        </p:nvGraphicFramePr>
        <p:xfrm>
          <a:off x="1344930" y="4393626"/>
          <a:ext cx="921511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object 5">
            <a:extLst>
              <a:ext uri="{FF2B5EF4-FFF2-40B4-BE49-F238E27FC236}">
                <a16:creationId xmlns:a16="http://schemas.microsoft.com/office/drawing/2014/main" id="{169846C7-28C3-1743-B6D9-CCD00B159806}"/>
              </a:ext>
            </a:extLst>
          </p:cNvPr>
          <p:cNvSpPr txBox="1"/>
          <p:nvPr/>
        </p:nvSpPr>
        <p:spPr>
          <a:xfrm>
            <a:off x="4303014" y="3722304"/>
            <a:ext cx="11931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>
                <a:solidFill>
                  <a:srgbClr val="FF0000"/>
                </a:solidFill>
                <a:latin typeface="PMingLiU"/>
                <a:cs typeface="PMingLiU"/>
              </a:rPr>
              <a:t>第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𝟔</a:t>
            </a:r>
            <a:r>
              <a:rPr sz="2000" spc="-25">
                <a:solidFill>
                  <a:srgbClr val="FF0000"/>
                </a:solidFill>
                <a:latin typeface="PMingLiU"/>
                <a:cs typeface="PMingLiU"/>
              </a:rPr>
              <a:t>小元素</a:t>
            </a:r>
            <a:endParaRPr sz="2000">
              <a:latin typeface="PMingLiU"/>
              <a:cs typeface="PMingLiU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05D5F48B-DE26-2B4B-AD10-2D9AE5738AFD}"/>
              </a:ext>
            </a:extLst>
          </p:cNvPr>
          <p:cNvSpPr/>
          <p:nvPr/>
        </p:nvSpPr>
        <p:spPr>
          <a:xfrm>
            <a:off x="4411979" y="4109399"/>
            <a:ext cx="391160" cy="302260"/>
          </a:xfrm>
          <a:custGeom>
            <a:avLst/>
            <a:gdLst/>
            <a:ahLst/>
            <a:cxnLst/>
            <a:rect l="l" t="t" r="r" b="b"/>
            <a:pathLst>
              <a:path w="391160" h="302260">
                <a:moveTo>
                  <a:pt x="288139" y="53732"/>
                </a:moveTo>
                <a:lnTo>
                  <a:pt x="0" y="271525"/>
                </a:lnTo>
                <a:lnTo>
                  <a:pt x="22860" y="302006"/>
                </a:lnTo>
                <a:lnTo>
                  <a:pt x="311106" y="84101"/>
                </a:lnTo>
                <a:lnTo>
                  <a:pt x="288139" y="53732"/>
                </a:lnTo>
                <a:close/>
              </a:path>
              <a:path w="391160" h="302260">
                <a:moveTo>
                  <a:pt x="369867" y="42290"/>
                </a:moveTo>
                <a:lnTo>
                  <a:pt x="303275" y="42290"/>
                </a:lnTo>
                <a:lnTo>
                  <a:pt x="326263" y="72643"/>
                </a:lnTo>
                <a:lnTo>
                  <a:pt x="311106" y="84101"/>
                </a:lnTo>
                <a:lnTo>
                  <a:pt x="334137" y="114553"/>
                </a:lnTo>
                <a:lnTo>
                  <a:pt x="369867" y="42290"/>
                </a:lnTo>
                <a:close/>
              </a:path>
              <a:path w="391160" h="302260">
                <a:moveTo>
                  <a:pt x="303275" y="42290"/>
                </a:moveTo>
                <a:lnTo>
                  <a:pt x="288139" y="53732"/>
                </a:lnTo>
                <a:lnTo>
                  <a:pt x="311106" y="84101"/>
                </a:lnTo>
                <a:lnTo>
                  <a:pt x="326263" y="72643"/>
                </a:lnTo>
                <a:lnTo>
                  <a:pt x="303275" y="42290"/>
                </a:lnTo>
                <a:close/>
              </a:path>
              <a:path w="391160" h="302260">
                <a:moveTo>
                  <a:pt x="390779" y="0"/>
                </a:moveTo>
                <a:lnTo>
                  <a:pt x="265175" y="23368"/>
                </a:lnTo>
                <a:lnTo>
                  <a:pt x="288139" y="53732"/>
                </a:lnTo>
                <a:lnTo>
                  <a:pt x="303275" y="42290"/>
                </a:lnTo>
                <a:lnTo>
                  <a:pt x="369867" y="42290"/>
                </a:lnTo>
                <a:lnTo>
                  <a:pt x="3907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9CFF43D7-C47B-4B44-A1BE-94DF82DA6AA3}"/>
              </a:ext>
            </a:extLst>
          </p:cNvPr>
          <p:cNvSpPr txBox="1"/>
          <p:nvPr/>
        </p:nvSpPr>
        <p:spPr>
          <a:xfrm>
            <a:off x="9317481" y="3722304"/>
            <a:ext cx="13455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>
                <a:solidFill>
                  <a:srgbClr val="FF0000"/>
                </a:solidFill>
                <a:latin typeface="PMingLiU"/>
                <a:cs typeface="PMingLiU"/>
              </a:rPr>
              <a:t>第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𝟏𝟓</a:t>
            </a:r>
            <a:r>
              <a:rPr sz="2000" spc="-25">
                <a:solidFill>
                  <a:srgbClr val="FF0000"/>
                </a:solidFill>
                <a:latin typeface="PMingLiU"/>
                <a:cs typeface="PMingLiU"/>
              </a:rPr>
              <a:t>小元素</a:t>
            </a:r>
            <a:endParaRPr sz="2000">
              <a:latin typeface="PMingLiU"/>
              <a:cs typeface="PMingLiU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F28B9625-096E-4F4D-BEBC-5EAFB3321A81}"/>
              </a:ext>
            </a:extLst>
          </p:cNvPr>
          <p:cNvSpPr txBox="1"/>
          <p:nvPr/>
        </p:nvSpPr>
        <p:spPr>
          <a:xfrm>
            <a:off x="5957315" y="3722304"/>
            <a:ext cx="11938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>
                <a:solidFill>
                  <a:srgbClr val="FF0000"/>
                </a:solidFill>
                <a:latin typeface="PMingLiU"/>
                <a:cs typeface="PMingLiU"/>
              </a:rPr>
              <a:t>第</a:t>
            </a:r>
            <a:r>
              <a:rPr sz="200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r>
              <a:rPr sz="2000" spc="-20">
                <a:solidFill>
                  <a:srgbClr val="FF0000"/>
                </a:solidFill>
                <a:latin typeface="PMingLiU"/>
                <a:cs typeface="PMingLiU"/>
              </a:rPr>
              <a:t>小元素</a:t>
            </a:r>
            <a:endParaRPr sz="2000">
              <a:latin typeface="PMingLiU"/>
              <a:cs typeface="PMingLiU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BD131083-BC54-0D4B-9978-D1518D6498C5}"/>
              </a:ext>
            </a:extLst>
          </p:cNvPr>
          <p:cNvSpPr/>
          <p:nvPr/>
        </p:nvSpPr>
        <p:spPr>
          <a:xfrm>
            <a:off x="5766815" y="4109399"/>
            <a:ext cx="391160" cy="302260"/>
          </a:xfrm>
          <a:custGeom>
            <a:avLst/>
            <a:gdLst/>
            <a:ahLst/>
            <a:cxnLst/>
            <a:rect l="l" t="t" r="r" b="b"/>
            <a:pathLst>
              <a:path w="391160" h="302260">
                <a:moveTo>
                  <a:pt x="288139" y="53732"/>
                </a:moveTo>
                <a:lnTo>
                  <a:pt x="0" y="271525"/>
                </a:lnTo>
                <a:lnTo>
                  <a:pt x="22860" y="302006"/>
                </a:lnTo>
                <a:lnTo>
                  <a:pt x="311106" y="84101"/>
                </a:lnTo>
                <a:lnTo>
                  <a:pt x="288139" y="53732"/>
                </a:lnTo>
                <a:close/>
              </a:path>
              <a:path w="391160" h="302260">
                <a:moveTo>
                  <a:pt x="369867" y="42290"/>
                </a:moveTo>
                <a:lnTo>
                  <a:pt x="303275" y="42290"/>
                </a:lnTo>
                <a:lnTo>
                  <a:pt x="326263" y="72643"/>
                </a:lnTo>
                <a:lnTo>
                  <a:pt x="311106" y="84101"/>
                </a:lnTo>
                <a:lnTo>
                  <a:pt x="334137" y="114553"/>
                </a:lnTo>
                <a:lnTo>
                  <a:pt x="369867" y="42290"/>
                </a:lnTo>
                <a:close/>
              </a:path>
              <a:path w="391160" h="302260">
                <a:moveTo>
                  <a:pt x="303275" y="42290"/>
                </a:moveTo>
                <a:lnTo>
                  <a:pt x="288139" y="53732"/>
                </a:lnTo>
                <a:lnTo>
                  <a:pt x="311106" y="84101"/>
                </a:lnTo>
                <a:lnTo>
                  <a:pt x="326263" y="72643"/>
                </a:lnTo>
                <a:lnTo>
                  <a:pt x="303275" y="42290"/>
                </a:lnTo>
                <a:close/>
              </a:path>
              <a:path w="391160" h="302260">
                <a:moveTo>
                  <a:pt x="390779" y="0"/>
                </a:moveTo>
                <a:lnTo>
                  <a:pt x="265175" y="23368"/>
                </a:lnTo>
                <a:lnTo>
                  <a:pt x="288139" y="53732"/>
                </a:lnTo>
                <a:lnTo>
                  <a:pt x="303275" y="42290"/>
                </a:lnTo>
                <a:lnTo>
                  <a:pt x="369867" y="42290"/>
                </a:lnTo>
                <a:lnTo>
                  <a:pt x="3907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1BE7DD0E-1B8F-2444-B3F0-FB9B39BC6314}"/>
              </a:ext>
            </a:extLst>
          </p:cNvPr>
          <p:cNvSpPr/>
          <p:nvPr/>
        </p:nvSpPr>
        <p:spPr>
          <a:xfrm>
            <a:off x="9684257" y="4109399"/>
            <a:ext cx="391160" cy="302260"/>
          </a:xfrm>
          <a:custGeom>
            <a:avLst/>
            <a:gdLst/>
            <a:ahLst/>
            <a:cxnLst/>
            <a:rect l="l" t="t" r="r" b="b"/>
            <a:pathLst>
              <a:path w="391159" h="302260">
                <a:moveTo>
                  <a:pt x="288139" y="53732"/>
                </a:moveTo>
                <a:lnTo>
                  <a:pt x="0" y="271525"/>
                </a:lnTo>
                <a:lnTo>
                  <a:pt x="22860" y="302006"/>
                </a:lnTo>
                <a:lnTo>
                  <a:pt x="311106" y="84101"/>
                </a:lnTo>
                <a:lnTo>
                  <a:pt x="288139" y="53732"/>
                </a:lnTo>
                <a:close/>
              </a:path>
              <a:path w="391159" h="302260">
                <a:moveTo>
                  <a:pt x="369867" y="42290"/>
                </a:moveTo>
                <a:lnTo>
                  <a:pt x="303275" y="42290"/>
                </a:lnTo>
                <a:lnTo>
                  <a:pt x="326263" y="72643"/>
                </a:lnTo>
                <a:lnTo>
                  <a:pt x="311106" y="84101"/>
                </a:lnTo>
                <a:lnTo>
                  <a:pt x="334137" y="114553"/>
                </a:lnTo>
                <a:lnTo>
                  <a:pt x="369867" y="42290"/>
                </a:lnTo>
                <a:close/>
              </a:path>
              <a:path w="391159" h="302260">
                <a:moveTo>
                  <a:pt x="303275" y="42290"/>
                </a:moveTo>
                <a:lnTo>
                  <a:pt x="288139" y="53732"/>
                </a:lnTo>
                <a:lnTo>
                  <a:pt x="311106" y="84101"/>
                </a:lnTo>
                <a:lnTo>
                  <a:pt x="326263" y="72643"/>
                </a:lnTo>
                <a:lnTo>
                  <a:pt x="303275" y="42290"/>
                </a:lnTo>
                <a:close/>
              </a:path>
              <a:path w="391159" h="302260">
                <a:moveTo>
                  <a:pt x="390778" y="0"/>
                </a:moveTo>
                <a:lnTo>
                  <a:pt x="265175" y="23368"/>
                </a:lnTo>
                <a:lnTo>
                  <a:pt x="288139" y="53732"/>
                </a:lnTo>
                <a:lnTo>
                  <a:pt x="303275" y="42290"/>
                </a:lnTo>
                <a:lnTo>
                  <a:pt x="369867" y="42290"/>
                </a:lnTo>
                <a:lnTo>
                  <a:pt x="3907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37066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2E21B612-2182-FF43-A19F-F4A45A9CFAD3}"/>
              </a:ext>
            </a:extLst>
          </p:cNvPr>
          <p:cNvSpPr txBox="1"/>
          <p:nvPr/>
        </p:nvSpPr>
        <p:spPr>
          <a:xfrm>
            <a:off x="781858" y="1168438"/>
            <a:ext cx="3961765" cy="143637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数组排序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求得所有元素的次序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时间复杂度</a:t>
            </a:r>
            <a:r>
              <a:rPr sz="2400" dirty="0">
                <a:latin typeface="PMingLiU"/>
                <a:cs typeface="PMingLiU"/>
              </a:rPr>
              <a:t>：</a:t>
            </a:r>
            <a:r>
              <a:rPr sz="2400" dirty="0">
                <a:latin typeface="Cambria Math"/>
                <a:cs typeface="Cambria Math"/>
              </a:rPr>
              <a:t>𝑶(𝒏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𝐥𝐨𝐠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𝒏)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D4D1660-ACDF-EB4B-8476-0623F3401C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8960" y="226093"/>
            <a:ext cx="3251086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问题分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析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D141071-452A-FA47-BD0C-599E530C0DB6}"/>
              </a:ext>
            </a:extLst>
          </p:cNvPr>
          <p:cNvGraphicFramePr>
            <a:graphicFrameLocks noGrp="1"/>
          </p:cNvGraphicFramePr>
          <p:nvPr/>
        </p:nvGraphicFramePr>
        <p:xfrm>
          <a:off x="1344930" y="4393626"/>
          <a:ext cx="921511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object 5">
            <a:extLst>
              <a:ext uri="{FF2B5EF4-FFF2-40B4-BE49-F238E27FC236}">
                <a16:creationId xmlns:a16="http://schemas.microsoft.com/office/drawing/2014/main" id="{169846C7-28C3-1743-B6D9-CCD00B159806}"/>
              </a:ext>
            </a:extLst>
          </p:cNvPr>
          <p:cNvSpPr txBox="1"/>
          <p:nvPr/>
        </p:nvSpPr>
        <p:spPr>
          <a:xfrm>
            <a:off x="4303014" y="3722304"/>
            <a:ext cx="11931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 err="1">
                <a:latin typeface="PMingLiU"/>
                <a:cs typeface="PMingLiU"/>
              </a:rPr>
              <a:t>第</a:t>
            </a:r>
            <a:r>
              <a:rPr sz="2000" dirty="0">
                <a:latin typeface="Cambria Math"/>
                <a:cs typeface="Cambria Math"/>
              </a:rPr>
              <a:t>𝟔</a:t>
            </a:r>
            <a:r>
              <a:rPr sz="2000" spc="-25" dirty="0" err="1">
                <a:latin typeface="PMingLiU"/>
                <a:cs typeface="PMingLiU"/>
              </a:rPr>
              <a:t>小元素</a:t>
            </a:r>
            <a:endParaRPr sz="2000" dirty="0">
              <a:latin typeface="PMingLiU"/>
              <a:cs typeface="PMingLiU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05D5F48B-DE26-2B4B-AD10-2D9AE5738AFD}"/>
              </a:ext>
            </a:extLst>
          </p:cNvPr>
          <p:cNvSpPr/>
          <p:nvPr/>
        </p:nvSpPr>
        <p:spPr>
          <a:xfrm>
            <a:off x="4411979" y="4109399"/>
            <a:ext cx="391160" cy="302260"/>
          </a:xfrm>
          <a:custGeom>
            <a:avLst/>
            <a:gdLst/>
            <a:ahLst/>
            <a:cxnLst/>
            <a:rect l="l" t="t" r="r" b="b"/>
            <a:pathLst>
              <a:path w="391160" h="302260">
                <a:moveTo>
                  <a:pt x="288139" y="53732"/>
                </a:moveTo>
                <a:lnTo>
                  <a:pt x="0" y="271525"/>
                </a:lnTo>
                <a:lnTo>
                  <a:pt x="22860" y="302006"/>
                </a:lnTo>
                <a:lnTo>
                  <a:pt x="311106" y="84101"/>
                </a:lnTo>
                <a:lnTo>
                  <a:pt x="288139" y="53732"/>
                </a:lnTo>
                <a:close/>
              </a:path>
              <a:path w="391160" h="302260">
                <a:moveTo>
                  <a:pt x="369867" y="42290"/>
                </a:moveTo>
                <a:lnTo>
                  <a:pt x="303275" y="42290"/>
                </a:lnTo>
                <a:lnTo>
                  <a:pt x="326263" y="72643"/>
                </a:lnTo>
                <a:lnTo>
                  <a:pt x="311106" y="84101"/>
                </a:lnTo>
                <a:lnTo>
                  <a:pt x="334137" y="114553"/>
                </a:lnTo>
                <a:lnTo>
                  <a:pt x="369867" y="42290"/>
                </a:lnTo>
                <a:close/>
              </a:path>
              <a:path w="391160" h="302260">
                <a:moveTo>
                  <a:pt x="303275" y="42290"/>
                </a:moveTo>
                <a:lnTo>
                  <a:pt x="288139" y="53732"/>
                </a:lnTo>
                <a:lnTo>
                  <a:pt x="311106" y="84101"/>
                </a:lnTo>
                <a:lnTo>
                  <a:pt x="326263" y="72643"/>
                </a:lnTo>
                <a:lnTo>
                  <a:pt x="303275" y="42290"/>
                </a:lnTo>
                <a:close/>
              </a:path>
              <a:path w="391160" h="302260">
                <a:moveTo>
                  <a:pt x="390779" y="0"/>
                </a:moveTo>
                <a:lnTo>
                  <a:pt x="265175" y="23368"/>
                </a:lnTo>
                <a:lnTo>
                  <a:pt x="288139" y="53732"/>
                </a:lnTo>
                <a:lnTo>
                  <a:pt x="303275" y="42290"/>
                </a:lnTo>
                <a:lnTo>
                  <a:pt x="369867" y="42290"/>
                </a:lnTo>
                <a:lnTo>
                  <a:pt x="3907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9CFF43D7-C47B-4B44-A1BE-94DF82DA6AA3}"/>
              </a:ext>
            </a:extLst>
          </p:cNvPr>
          <p:cNvSpPr txBox="1"/>
          <p:nvPr/>
        </p:nvSpPr>
        <p:spPr>
          <a:xfrm>
            <a:off x="9317481" y="3722304"/>
            <a:ext cx="13455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 err="1">
                <a:latin typeface="PMingLiU"/>
                <a:cs typeface="PMingLiU"/>
              </a:rPr>
              <a:t>第</a:t>
            </a:r>
            <a:r>
              <a:rPr sz="2000" dirty="0">
                <a:latin typeface="Cambria Math"/>
                <a:cs typeface="Cambria Math"/>
              </a:rPr>
              <a:t>𝟏𝟓</a:t>
            </a:r>
            <a:r>
              <a:rPr sz="2000" spc="-25" dirty="0" err="1">
                <a:latin typeface="PMingLiU"/>
                <a:cs typeface="PMingLiU"/>
              </a:rPr>
              <a:t>小元素</a:t>
            </a:r>
            <a:endParaRPr sz="2000" dirty="0">
              <a:latin typeface="PMingLiU"/>
              <a:cs typeface="PMingLiU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F28B9625-096E-4F4D-BEBC-5EAFB3321A81}"/>
              </a:ext>
            </a:extLst>
          </p:cNvPr>
          <p:cNvSpPr txBox="1"/>
          <p:nvPr/>
        </p:nvSpPr>
        <p:spPr>
          <a:xfrm>
            <a:off x="5957315" y="3722304"/>
            <a:ext cx="11938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 err="1">
                <a:latin typeface="PMingLiU"/>
                <a:cs typeface="PMingLiU"/>
              </a:rPr>
              <a:t>第</a:t>
            </a:r>
            <a:r>
              <a:rPr sz="2000" dirty="0">
                <a:latin typeface="Cambria Math"/>
                <a:cs typeface="Cambria Math"/>
              </a:rPr>
              <a:t>𝟖</a:t>
            </a:r>
            <a:r>
              <a:rPr sz="2000" spc="-20" dirty="0" err="1">
                <a:latin typeface="PMingLiU"/>
                <a:cs typeface="PMingLiU"/>
              </a:rPr>
              <a:t>小元素</a:t>
            </a:r>
            <a:endParaRPr sz="2000" dirty="0">
              <a:latin typeface="PMingLiU"/>
              <a:cs typeface="PMingLiU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BD131083-BC54-0D4B-9978-D1518D6498C5}"/>
              </a:ext>
            </a:extLst>
          </p:cNvPr>
          <p:cNvSpPr/>
          <p:nvPr/>
        </p:nvSpPr>
        <p:spPr>
          <a:xfrm>
            <a:off x="5766815" y="4109399"/>
            <a:ext cx="391160" cy="302260"/>
          </a:xfrm>
          <a:custGeom>
            <a:avLst/>
            <a:gdLst/>
            <a:ahLst/>
            <a:cxnLst/>
            <a:rect l="l" t="t" r="r" b="b"/>
            <a:pathLst>
              <a:path w="391160" h="302260">
                <a:moveTo>
                  <a:pt x="288139" y="53732"/>
                </a:moveTo>
                <a:lnTo>
                  <a:pt x="0" y="271525"/>
                </a:lnTo>
                <a:lnTo>
                  <a:pt x="22860" y="302006"/>
                </a:lnTo>
                <a:lnTo>
                  <a:pt x="311106" y="84101"/>
                </a:lnTo>
                <a:lnTo>
                  <a:pt x="288139" y="53732"/>
                </a:lnTo>
                <a:close/>
              </a:path>
              <a:path w="391160" h="302260">
                <a:moveTo>
                  <a:pt x="369867" y="42290"/>
                </a:moveTo>
                <a:lnTo>
                  <a:pt x="303275" y="42290"/>
                </a:lnTo>
                <a:lnTo>
                  <a:pt x="326263" y="72643"/>
                </a:lnTo>
                <a:lnTo>
                  <a:pt x="311106" y="84101"/>
                </a:lnTo>
                <a:lnTo>
                  <a:pt x="334137" y="114553"/>
                </a:lnTo>
                <a:lnTo>
                  <a:pt x="369867" y="42290"/>
                </a:lnTo>
                <a:close/>
              </a:path>
              <a:path w="391160" h="302260">
                <a:moveTo>
                  <a:pt x="303275" y="42290"/>
                </a:moveTo>
                <a:lnTo>
                  <a:pt x="288139" y="53732"/>
                </a:lnTo>
                <a:lnTo>
                  <a:pt x="311106" y="84101"/>
                </a:lnTo>
                <a:lnTo>
                  <a:pt x="326263" y="72643"/>
                </a:lnTo>
                <a:lnTo>
                  <a:pt x="303275" y="42290"/>
                </a:lnTo>
                <a:close/>
              </a:path>
              <a:path w="391160" h="302260">
                <a:moveTo>
                  <a:pt x="390779" y="0"/>
                </a:moveTo>
                <a:lnTo>
                  <a:pt x="265175" y="23368"/>
                </a:lnTo>
                <a:lnTo>
                  <a:pt x="288139" y="53732"/>
                </a:lnTo>
                <a:lnTo>
                  <a:pt x="303275" y="42290"/>
                </a:lnTo>
                <a:lnTo>
                  <a:pt x="369867" y="42290"/>
                </a:lnTo>
                <a:lnTo>
                  <a:pt x="3907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1BE7DD0E-1B8F-2444-B3F0-FB9B39BC6314}"/>
              </a:ext>
            </a:extLst>
          </p:cNvPr>
          <p:cNvSpPr/>
          <p:nvPr/>
        </p:nvSpPr>
        <p:spPr>
          <a:xfrm>
            <a:off x="9684257" y="4109399"/>
            <a:ext cx="391160" cy="302260"/>
          </a:xfrm>
          <a:custGeom>
            <a:avLst/>
            <a:gdLst/>
            <a:ahLst/>
            <a:cxnLst/>
            <a:rect l="l" t="t" r="r" b="b"/>
            <a:pathLst>
              <a:path w="391159" h="302260">
                <a:moveTo>
                  <a:pt x="288139" y="53732"/>
                </a:moveTo>
                <a:lnTo>
                  <a:pt x="0" y="271525"/>
                </a:lnTo>
                <a:lnTo>
                  <a:pt x="22860" y="302006"/>
                </a:lnTo>
                <a:lnTo>
                  <a:pt x="311106" y="84101"/>
                </a:lnTo>
                <a:lnTo>
                  <a:pt x="288139" y="53732"/>
                </a:lnTo>
                <a:close/>
              </a:path>
              <a:path w="391159" h="302260">
                <a:moveTo>
                  <a:pt x="369867" y="42290"/>
                </a:moveTo>
                <a:lnTo>
                  <a:pt x="303275" y="42290"/>
                </a:lnTo>
                <a:lnTo>
                  <a:pt x="326263" y="72643"/>
                </a:lnTo>
                <a:lnTo>
                  <a:pt x="311106" y="84101"/>
                </a:lnTo>
                <a:lnTo>
                  <a:pt x="334137" y="114553"/>
                </a:lnTo>
                <a:lnTo>
                  <a:pt x="369867" y="42290"/>
                </a:lnTo>
                <a:close/>
              </a:path>
              <a:path w="391159" h="302260">
                <a:moveTo>
                  <a:pt x="303275" y="42290"/>
                </a:moveTo>
                <a:lnTo>
                  <a:pt x="288139" y="53732"/>
                </a:lnTo>
                <a:lnTo>
                  <a:pt x="311106" y="84101"/>
                </a:lnTo>
                <a:lnTo>
                  <a:pt x="326263" y="72643"/>
                </a:lnTo>
                <a:lnTo>
                  <a:pt x="303275" y="42290"/>
                </a:lnTo>
                <a:close/>
              </a:path>
              <a:path w="391159" h="302260">
                <a:moveTo>
                  <a:pt x="390778" y="0"/>
                </a:moveTo>
                <a:lnTo>
                  <a:pt x="265175" y="23368"/>
                </a:lnTo>
                <a:lnTo>
                  <a:pt x="288139" y="53732"/>
                </a:lnTo>
                <a:lnTo>
                  <a:pt x="303275" y="42290"/>
                </a:lnTo>
                <a:lnTo>
                  <a:pt x="369867" y="42290"/>
                </a:lnTo>
                <a:lnTo>
                  <a:pt x="3907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39E1A649-143E-1E42-8A26-83633824A969}"/>
              </a:ext>
            </a:extLst>
          </p:cNvPr>
          <p:cNvSpPr txBox="1"/>
          <p:nvPr/>
        </p:nvSpPr>
        <p:spPr>
          <a:xfrm>
            <a:off x="1363980" y="5240760"/>
            <a:ext cx="9217660" cy="534121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102235" rIns="0" bIns="0" rtlCol="0">
            <a:spAutoFit/>
          </a:bodyPr>
          <a:lstStyle/>
          <a:p>
            <a:pPr marL="456565" algn="ctr">
              <a:lnSpc>
                <a:spcPct val="100000"/>
              </a:lnSpc>
              <a:spcBef>
                <a:spcPts val="805"/>
              </a:spcBef>
            </a:pPr>
            <a:r>
              <a:rPr sz="2800" spc="-15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问题：是否有必要求得所有元素的次序？</a:t>
            </a:r>
            <a:endParaRPr sz="280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</p:spTree>
    <p:extLst>
      <p:ext uri="{BB962C8B-B14F-4D97-AF65-F5344CB8AC3E}">
        <p14:creationId xmlns:p14="http://schemas.microsoft.com/office/powerpoint/2010/main" val="18787193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713438A-9A5B-D941-8D36-6373A46BF523}"/>
              </a:ext>
            </a:extLst>
          </p:cNvPr>
          <p:cNvSpPr txBox="1"/>
          <p:nvPr/>
        </p:nvSpPr>
        <p:spPr>
          <a:xfrm>
            <a:off x="750685" y="1103515"/>
            <a:ext cx="3765550" cy="143637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次序选择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不必求得所有元素次序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时间复杂度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𝑶</a:t>
            </a:r>
            <a:r>
              <a:rPr sz="2400" spc="-5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(</a:t>
            </a:r>
            <a:r>
              <a:rPr lang="zh-CN" altLang="en-US" sz="2400" spc="-5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sz="2400" spc="-5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? )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Cambria Math"/>
            </a:endParaRP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56AC6146-B97D-4941-8684-CCDEBB131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471712"/>
              </p:ext>
            </p:extLst>
          </p:nvPr>
        </p:nvGraphicFramePr>
        <p:xfrm>
          <a:off x="1344930" y="3593519"/>
          <a:ext cx="9215116" cy="1825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276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482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465">
                <a:tc gridSpan="1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A6A6A6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查找第</a:t>
                      </a:r>
                      <a:r>
                        <a:rPr sz="2800" spc="-1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𝟖</a:t>
                      </a:r>
                      <a:r>
                        <a:rPr sz="2800" spc="-2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小元素</a:t>
                      </a:r>
                      <a:endParaRPr sz="2800">
                        <a:latin typeface="PMingLiU"/>
                        <a:cs typeface="PMingLiU"/>
                      </a:endParaRPr>
                    </a:p>
                  </a:txBody>
                  <a:tcPr marL="0" marR="0" marT="80645" marB="0">
                    <a:lnT w="12700">
                      <a:solidFill>
                        <a:srgbClr val="A6A6A6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>
            <a:extLst>
              <a:ext uri="{FF2B5EF4-FFF2-40B4-BE49-F238E27FC236}">
                <a16:creationId xmlns:a16="http://schemas.microsoft.com/office/drawing/2014/main" id="{62E40063-0DAA-C147-BC14-9C1C88CB458B}"/>
              </a:ext>
            </a:extLst>
          </p:cNvPr>
          <p:cNvSpPr txBox="1"/>
          <p:nvPr/>
        </p:nvSpPr>
        <p:spPr>
          <a:xfrm>
            <a:off x="4303014" y="2922197"/>
            <a:ext cx="11931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>
                <a:solidFill>
                  <a:srgbClr val="BEBEBE"/>
                </a:solidFill>
                <a:latin typeface="PMingLiU"/>
                <a:cs typeface="PMingLiU"/>
              </a:rPr>
              <a:t>第</a:t>
            </a:r>
            <a:r>
              <a:rPr sz="2000">
                <a:solidFill>
                  <a:srgbClr val="BEBEBE"/>
                </a:solidFill>
                <a:latin typeface="Cambria Math"/>
                <a:cs typeface="Cambria Math"/>
              </a:rPr>
              <a:t>𝟔</a:t>
            </a:r>
            <a:r>
              <a:rPr sz="2000" spc="-25">
                <a:solidFill>
                  <a:srgbClr val="BEBEBE"/>
                </a:solidFill>
                <a:latin typeface="PMingLiU"/>
                <a:cs typeface="PMingLiU"/>
              </a:rPr>
              <a:t>小元素</a:t>
            </a:r>
            <a:endParaRPr sz="2000">
              <a:latin typeface="PMingLiU"/>
              <a:cs typeface="PMingLiU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645A11B-4C67-F04B-9B2F-34D648942B9D}"/>
              </a:ext>
            </a:extLst>
          </p:cNvPr>
          <p:cNvSpPr/>
          <p:nvPr/>
        </p:nvSpPr>
        <p:spPr>
          <a:xfrm>
            <a:off x="4411979" y="3309292"/>
            <a:ext cx="391160" cy="302260"/>
          </a:xfrm>
          <a:custGeom>
            <a:avLst/>
            <a:gdLst/>
            <a:ahLst/>
            <a:cxnLst/>
            <a:rect l="l" t="t" r="r" b="b"/>
            <a:pathLst>
              <a:path w="391160" h="302260">
                <a:moveTo>
                  <a:pt x="288139" y="53732"/>
                </a:moveTo>
                <a:lnTo>
                  <a:pt x="0" y="271525"/>
                </a:lnTo>
                <a:lnTo>
                  <a:pt x="22860" y="302006"/>
                </a:lnTo>
                <a:lnTo>
                  <a:pt x="311106" y="84101"/>
                </a:lnTo>
                <a:lnTo>
                  <a:pt x="288139" y="53732"/>
                </a:lnTo>
                <a:close/>
              </a:path>
              <a:path w="391160" h="302260">
                <a:moveTo>
                  <a:pt x="369867" y="42290"/>
                </a:moveTo>
                <a:lnTo>
                  <a:pt x="303275" y="42290"/>
                </a:lnTo>
                <a:lnTo>
                  <a:pt x="326263" y="72643"/>
                </a:lnTo>
                <a:lnTo>
                  <a:pt x="311106" y="84101"/>
                </a:lnTo>
                <a:lnTo>
                  <a:pt x="334137" y="114553"/>
                </a:lnTo>
                <a:lnTo>
                  <a:pt x="369867" y="42290"/>
                </a:lnTo>
                <a:close/>
              </a:path>
              <a:path w="391160" h="302260">
                <a:moveTo>
                  <a:pt x="303275" y="42290"/>
                </a:moveTo>
                <a:lnTo>
                  <a:pt x="288139" y="53732"/>
                </a:lnTo>
                <a:lnTo>
                  <a:pt x="311106" y="84101"/>
                </a:lnTo>
                <a:lnTo>
                  <a:pt x="326263" y="72643"/>
                </a:lnTo>
                <a:lnTo>
                  <a:pt x="303275" y="42290"/>
                </a:lnTo>
                <a:close/>
              </a:path>
              <a:path w="391160" h="302260">
                <a:moveTo>
                  <a:pt x="390779" y="0"/>
                </a:moveTo>
                <a:lnTo>
                  <a:pt x="265175" y="23368"/>
                </a:lnTo>
                <a:lnTo>
                  <a:pt x="288139" y="53732"/>
                </a:lnTo>
                <a:lnTo>
                  <a:pt x="303275" y="42290"/>
                </a:lnTo>
                <a:lnTo>
                  <a:pt x="369867" y="42290"/>
                </a:lnTo>
                <a:lnTo>
                  <a:pt x="390779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6D7CB3D-35BA-1F40-BACF-BDAB9FBB3F37}"/>
              </a:ext>
            </a:extLst>
          </p:cNvPr>
          <p:cNvSpPr txBox="1"/>
          <p:nvPr/>
        </p:nvSpPr>
        <p:spPr>
          <a:xfrm>
            <a:off x="9317481" y="2922197"/>
            <a:ext cx="13455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>
                <a:solidFill>
                  <a:srgbClr val="BEBEBE"/>
                </a:solidFill>
                <a:latin typeface="PMingLiU"/>
                <a:cs typeface="PMingLiU"/>
              </a:rPr>
              <a:t>第</a:t>
            </a:r>
            <a:r>
              <a:rPr sz="2000">
                <a:solidFill>
                  <a:srgbClr val="BEBEBE"/>
                </a:solidFill>
                <a:latin typeface="Cambria Math"/>
                <a:cs typeface="Cambria Math"/>
              </a:rPr>
              <a:t>𝟏𝟓</a:t>
            </a:r>
            <a:r>
              <a:rPr sz="2000" spc="-25">
                <a:solidFill>
                  <a:srgbClr val="BEBEBE"/>
                </a:solidFill>
                <a:latin typeface="PMingLiU"/>
                <a:cs typeface="PMingLiU"/>
              </a:rPr>
              <a:t>小元素</a:t>
            </a:r>
            <a:endParaRPr sz="2000">
              <a:latin typeface="PMingLiU"/>
              <a:cs typeface="PMingLiU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DD72AAC5-755A-444C-92BA-74528A494551}"/>
              </a:ext>
            </a:extLst>
          </p:cNvPr>
          <p:cNvSpPr txBox="1"/>
          <p:nvPr/>
        </p:nvSpPr>
        <p:spPr>
          <a:xfrm>
            <a:off x="5957315" y="2922197"/>
            <a:ext cx="11938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>
                <a:solidFill>
                  <a:srgbClr val="BEBEBE"/>
                </a:solidFill>
                <a:latin typeface="PMingLiU"/>
                <a:cs typeface="PMingLiU"/>
              </a:rPr>
              <a:t>第</a:t>
            </a:r>
            <a:r>
              <a:rPr sz="2000">
                <a:solidFill>
                  <a:srgbClr val="BEBEBE"/>
                </a:solidFill>
                <a:latin typeface="Cambria Math"/>
                <a:cs typeface="Cambria Math"/>
              </a:rPr>
              <a:t>𝟖</a:t>
            </a:r>
            <a:r>
              <a:rPr sz="2000" spc="-20">
                <a:solidFill>
                  <a:srgbClr val="BEBEBE"/>
                </a:solidFill>
                <a:latin typeface="PMingLiU"/>
                <a:cs typeface="PMingLiU"/>
              </a:rPr>
              <a:t>小元素</a:t>
            </a:r>
            <a:endParaRPr sz="2000">
              <a:latin typeface="PMingLiU"/>
              <a:cs typeface="PMingLiU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3696AB9D-AC7C-584C-BE49-7F3EBCEDEAB6}"/>
              </a:ext>
            </a:extLst>
          </p:cNvPr>
          <p:cNvSpPr/>
          <p:nvPr/>
        </p:nvSpPr>
        <p:spPr>
          <a:xfrm>
            <a:off x="5766815" y="3309292"/>
            <a:ext cx="391160" cy="302260"/>
          </a:xfrm>
          <a:custGeom>
            <a:avLst/>
            <a:gdLst/>
            <a:ahLst/>
            <a:cxnLst/>
            <a:rect l="l" t="t" r="r" b="b"/>
            <a:pathLst>
              <a:path w="391160" h="302260">
                <a:moveTo>
                  <a:pt x="288139" y="53732"/>
                </a:moveTo>
                <a:lnTo>
                  <a:pt x="0" y="271525"/>
                </a:lnTo>
                <a:lnTo>
                  <a:pt x="22860" y="302006"/>
                </a:lnTo>
                <a:lnTo>
                  <a:pt x="311106" y="84101"/>
                </a:lnTo>
                <a:lnTo>
                  <a:pt x="288139" y="53732"/>
                </a:lnTo>
                <a:close/>
              </a:path>
              <a:path w="391160" h="302260">
                <a:moveTo>
                  <a:pt x="369867" y="42290"/>
                </a:moveTo>
                <a:lnTo>
                  <a:pt x="303275" y="42290"/>
                </a:lnTo>
                <a:lnTo>
                  <a:pt x="326263" y="72643"/>
                </a:lnTo>
                <a:lnTo>
                  <a:pt x="311106" y="84101"/>
                </a:lnTo>
                <a:lnTo>
                  <a:pt x="334137" y="114553"/>
                </a:lnTo>
                <a:lnTo>
                  <a:pt x="369867" y="42290"/>
                </a:lnTo>
                <a:close/>
              </a:path>
              <a:path w="391160" h="302260">
                <a:moveTo>
                  <a:pt x="303275" y="42290"/>
                </a:moveTo>
                <a:lnTo>
                  <a:pt x="288139" y="53732"/>
                </a:lnTo>
                <a:lnTo>
                  <a:pt x="311106" y="84101"/>
                </a:lnTo>
                <a:lnTo>
                  <a:pt x="326263" y="72643"/>
                </a:lnTo>
                <a:lnTo>
                  <a:pt x="303275" y="42290"/>
                </a:lnTo>
                <a:close/>
              </a:path>
              <a:path w="391160" h="302260">
                <a:moveTo>
                  <a:pt x="390779" y="0"/>
                </a:moveTo>
                <a:lnTo>
                  <a:pt x="265175" y="23368"/>
                </a:lnTo>
                <a:lnTo>
                  <a:pt x="288139" y="53732"/>
                </a:lnTo>
                <a:lnTo>
                  <a:pt x="303275" y="42290"/>
                </a:lnTo>
                <a:lnTo>
                  <a:pt x="369867" y="42290"/>
                </a:lnTo>
                <a:lnTo>
                  <a:pt x="390779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D6B41720-63A8-D847-9153-3652787909B2}"/>
              </a:ext>
            </a:extLst>
          </p:cNvPr>
          <p:cNvSpPr/>
          <p:nvPr/>
        </p:nvSpPr>
        <p:spPr>
          <a:xfrm>
            <a:off x="9684257" y="3309292"/>
            <a:ext cx="391160" cy="302260"/>
          </a:xfrm>
          <a:custGeom>
            <a:avLst/>
            <a:gdLst/>
            <a:ahLst/>
            <a:cxnLst/>
            <a:rect l="l" t="t" r="r" b="b"/>
            <a:pathLst>
              <a:path w="391159" h="302260">
                <a:moveTo>
                  <a:pt x="288139" y="53732"/>
                </a:moveTo>
                <a:lnTo>
                  <a:pt x="0" y="271525"/>
                </a:lnTo>
                <a:lnTo>
                  <a:pt x="22860" y="302006"/>
                </a:lnTo>
                <a:lnTo>
                  <a:pt x="311106" y="84101"/>
                </a:lnTo>
                <a:lnTo>
                  <a:pt x="288139" y="53732"/>
                </a:lnTo>
                <a:close/>
              </a:path>
              <a:path w="391159" h="302260">
                <a:moveTo>
                  <a:pt x="369867" y="42290"/>
                </a:moveTo>
                <a:lnTo>
                  <a:pt x="303275" y="42290"/>
                </a:lnTo>
                <a:lnTo>
                  <a:pt x="326263" y="72643"/>
                </a:lnTo>
                <a:lnTo>
                  <a:pt x="311106" y="84101"/>
                </a:lnTo>
                <a:lnTo>
                  <a:pt x="334137" y="114553"/>
                </a:lnTo>
                <a:lnTo>
                  <a:pt x="369867" y="42290"/>
                </a:lnTo>
                <a:close/>
              </a:path>
              <a:path w="391159" h="302260">
                <a:moveTo>
                  <a:pt x="303275" y="42290"/>
                </a:moveTo>
                <a:lnTo>
                  <a:pt x="288139" y="53732"/>
                </a:lnTo>
                <a:lnTo>
                  <a:pt x="311106" y="84101"/>
                </a:lnTo>
                <a:lnTo>
                  <a:pt x="326263" y="72643"/>
                </a:lnTo>
                <a:lnTo>
                  <a:pt x="303275" y="42290"/>
                </a:lnTo>
                <a:close/>
              </a:path>
              <a:path w="391159" h="302260">
                <a:moveTo>
                  <a:pt x="390778" y="0"/>
                </a:moveTo>
                <a:lnTo>
                  <a:pt x="265175" y="23368"/>
                </a:lnTo>
                <a:lnTo>
                  <a:pt x="288139" y="53732"/>
                </a:lnTo>
                <a:lnTo>
                  <a:pt x="303275" y="42290"/>
                </a:lnTo>
                <a:lnTo>
                  <a:pt x="369867" y="42290"/>
                </a:lnTo>
                <a:lnTo>
                  <a:pt x="390778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1A4C7B1D-4D93-D247-ADF9-1FB73D306E2A}"/>
              </a:ext>
            </a:extLst>
          </p:cNvPr>
          <p:cNvSpPr/>
          <p:nvPr/>
        </p:nvSpPr>
        <p:spPr>
          <a:xfrm>
            <a:off x="1487424" y="5546524"/>
            <a:ext cx="3747770" cy="470534"/>
          </a:xfrm>
          <a:custGeom>
            <a:avLst/>
            <a:gdLst/>
            <a:ahLst/>
            <a:cxnLst/>
            <a:rect l="l" t="t" r="r" b="b"/>
            <a:pathLst>
              <a:path w="3747770" h="470534">
                <a:moveTo>
                  <a:pt x="3747516" y="0"/>
                </a:moveTo>
                <a:lnTo>
                  <a:pt x="3745520" y="74303"/>
                </a:lnTo>
                <a:lnTo>
                  <a:pt x="3739965" y="138834"/>
                </a:lnTo>
                <a:lnTo>
                  <a:pt x="3731495" y="189721"/>
                </a:lnTo>
                <a:lnTo>
                  <a:pt x="3708400" y="235077"/>
                </a:lnTo>
                <a:lnTo>
                  <a:pt x="1948179" y="235077"/>
                </a:lnTo>
                <a:lnTo>
                  <a:pt x="1935821" y="247061"/>
                </a:lnTo>
                <a:lnTo>
                  <a:pt x="1925084" y="280432"/>
                </a:lnTo>
                <a:lnTo>
                  <a:pt x="1916614" y="331319"/>
                </a:lnTo>
                <a:lnTo>
                  <a:pt x="1911059" y="395850"/>
                </a:lnTo>
                <a:lnTo>
                  <a:pt x="1909064" y="470154"/>
                </a:lnTo>
                <a:lnTo>
                  <a:pt x="1907068" y="395850"/>
                </a:lnTo>
                <a:lnTo>
                  <a:pt x="1901513" y="331319"/>
                </a:lnTo>
                <a:lnTo>
                  <a:pt x="1893043" y="280432"/>
                </a:lnTo>
                <a:lnTo>
                  <a:pt x="1882306" y="247061"/>
                </a:lnTo>
                <a:lnTo>
                  <a:pt x="1869948" y="235077"/>
                </a:lnTo>
                <a:lnTo>
                  <a:pt x="39115" y="235077"/>
                </a:lnTo>
                <a:lnTo>
                  <a:pt x="26757" y="223092"/>
                </a:lnTo>
                <a:lnTo>
                  <a:pt x="16020" y="189721"/>
                </a:lnTo>
                <a:lnTo>
                  <a:pt x="7550" y="138834"/>
                </a:lnTo>
                <a:lnTo>
                  <a:pt x="1995" y="74303"/>
                </a:ln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EA6D6AE0-4D93-0743-B952-515B807FF4D1}"/>
              </a:ext>
            </a:extLst>
          </p:cNvPr>
          <p:cNvSpPr txBox="1"/>
          <p:nvPr/>
        </p:nvSpPr>
        <p:spPr>
          <a:xfrm>
            <a:off x="2885948" y="6011598"/>
            <a:ext cx="9391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0">
                <a:latin typeface="Cambria Math"/>
                <a:cs typeface="Cambria Math"/>
              </a:rPr>
              <a:t>𝟕</a:t>
            </a:r>
            <a:r>
              <a:rPr sz="2000" spc="-20">
                <a:latin typeface="PMingLiU"/>
                <a:cs typeface="PMingLiU"/>
              </a:rPr>
              <a:t>个元</a:t>
            </a:r>
            <a:r>
              <a:rPr sz="2000" spc="-50">
                <a:latin typeface="PMingLiU"/>
                <a:cs typeface="PMingLiU"/>
              </a:rPr>
              <a:t>素</a:t>
            </a:r>
            <a:endParaRPr sz="2000">
              <a:latin typeface="PMingLiU"/>
              <a:cs typeface="PMingLiU"/>
            </a:endParaRPr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AEA8AB48-D307-1442-BBFE-14249B1F34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8960" y="226093"/>
            <a:ext cx="3251086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问题分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析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225162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713438A-9A5B-D941-8D36-6373A46BF523}"/>
              </a:ext>
            </a:extLst>
          </p:cNvPr>
          <p:cNvSpPr txBox="1"/>
          <p:nvPr/>
        </p:nvSpPr>
        <p:spPr>
          <a:xfrm>
            <a:off x="750685" y="1103515"/>
            <a:ext cx="3765550" cy="143637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次序选择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spc="-5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不必求得所有元素次序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时间复杂度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𝑶</a:t>
            </a:r>
            <a:r>
              <a:rPr sz="2400" spc="-5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(</a:t>
            </a:r>
            <a:r>
              <a:rPr lang="zh-CN" altLang="en-US" sz="2400" spc="-5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sz="2400" spc="-5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? )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Cambria Math"/>
            </a:endParaRP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56AC6146-B97D-4941-8684-CCDEBB13181E}"/>
              </a:ext>
            </a:extLst>
          </p:cNvPr>
          <p:cNvGraphicFramePr>
            <a:graphicFrameLocks noGrp="1"/>
          </p:cNvGraphicFramePr>
          <p:nvPr/>
        </p:nvGraphicFramePr>
        <p:xfrm>
          <a:off x="1344930" y="3593519"/>
          <a:ext cx="9215116" cy="1825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276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482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465">
                <a:tc gridSpan="1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A6A6A6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查找第</a:t>
                      </a:r>
                      <a:r>
                        <a:rPr sz="2800" spc="-1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𝟖</a:t>
                      </a:r>
                      <a:r>
                        <a:rPr sz="2800" spc="-2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小元素</a:t>
                      </a:r>
                      <a:endParaRPr sz="2800">
                        <a:latin typeface="PMingLiU"/>
                        <a:cs typeface="PMingLiU"/>
                      </a:endParaRPr>
                    </a:p>
                  </a:txBody>
                  <a:tcPr marL="0" marR="0" marT="80645" marB="0">
                    <a:lnT w="12700">
                      <a:solidFill>
                        <a:srgbClr val="A6A6A6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28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48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>
            <a:extLst>
              <a:ext uri="{FF2B5EF4-FFF2-40B4-BE49-F238E27FC236}">
                <a16:creationId xmlns:a16="http://schemas.microsoft.com/office/drawing/2014/main" id="{62E40063-0DAA-C147-BC14-9C1C88CB458B}"/>
              </a:ext>
            </a:extLst>
          </p:cNvPr>
          <p:cNvSpPr txBox="1"/>
          <p:nvPr/>
        </p:nvSpPr>
        <p:spPr>
          <a:xfrm>
            <a:off x="4303014" y="2922197"/>
            <a:ext cx="11931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>
                <a:solidFill>
                  <a:srgbClr val="BEBEBE"/>
                </a:solidFill>
                <a:latin typeface="PMingLiU"/>
                <a:cs typeface="PMingLiU"/>
              </a:rPr>
              <a:t>第</a:t>
            </a:r>
            <a:r>
              <a:rPr sz="2000">
                <a:solidFill>
                  <a:srgbClr val="BEBEBE"/>
                </a:solidFill>
                <a:latin typeface="Cambria Math"/>
                <a:cs typeface="Cambria Math"/>
              </a:rPr>
              <a:t>𝟔</a:t>
            </a:r>
            <a:r>
              <a:rPr sz="2000" spc="-25">
                <a:solidFill>
                  <a:srgbClr val="BEBEBE"/>
                </a:solidFill>
                <a:latin typeface="PMingLiU"/>
                <a:cs typeface="PMingLiU"/>
              </a:rPr>
              <a:t>小元素</a:t>
            </a:r>
            <a:endParaRPr sz="2000">
              <a:latin typeface="PMingLiU"/>
              <a:cs typeface="PMingLiU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645A11B-4C67-F04B-9B2F-34D648942B9D}"/>
              </a:ext>
            </a:extLst>
          </p:cNvPr>
          <p:cNvSpPr/>
          <p:nvPr/>
        </p:nvSpPr>
        <p:spPr>
          <a:xfrm>
            <a:off x="4411979" y="3309292"/>
            <a:ext cx="391160" cy="302260"/>
          </a:xfrm>
          <a:custGeom>
            <a:avLst/>
            <a:gdLst/>
            <a:ahLst/>
            <a:cxnLst/>
            <a:rect l="l" t="t" r="r" b="b"/>
            <a:pathLst>
              <a:path w="391160" h="302260">
                <a:moveTo>
                  <a:pt x="288139" y="53732"/>
                </a:moveTo>
                <a:lnTo>
                  <a:pt x="0" y="271525"/>
                </a:lnTo>
                <a:lnTo>
                  <a:pt x="22860" y="302006"/>
                </a:lnTo>
                <a:lnTo>
                  <a:pt x="311106" y="84101"/>
                </a:lnTo>
                <a:lnTo>
                  <a:pt x="288139" y="53732"/>
                </a:lnTo>
                <a:close/>
              </a:path>
              <a:path w="391160" h="302260">
                <a:moveTo>
                  <a:pt x="369867" y="42290"/>
                </a:moveTo>
                <a:lnTo>
                  <a:pt x="303275" y="42290"/>
                </a:lnTo>
                <a:lnTo>
                  <a:pt x="326263" y="72643"/>
                </a:lnTo>
                <a:lnTo>
                  <a:pt x="311106" y="84101"/>
                </a:lnTo>
                <a:lnTo>
                  <a:pt x="334137" y="114553"/>
                </a:lnTo>
                <a:lnTo>
                  <a:pt x="369867" y="42290"/>
                </a:lnTo>
                <a:close/>
              </a:path>
              <a:path w="391160" h="302260">
                <a:moveTo>
                  <a:pt x="303275" y="42290"/>
                </a:moveTo>
                <a:lnTo>
                  <a:pt x="288139" y="53732"/>
                </a:lnTo>
                <a:lnTo>
                  <a:pt x="311106" y="84101"/>
                </a:lnTo>
                <a:lnTo>
                  <a:pt x="326263" y="72643"/>
                </a:lnTo>
                <a:lnTo>
                  <a:pt x="303275" y="42290"/>
                </a:lnTo>
                <a:close/>
              </a:path>
              <a:path w="391160" h="302260">
                <a:moveTo>
                  <a:pt x="390779" y="0"/>
                </a:moveTo>
                <a:lnTo>
                  <a:pt x="265175" y="23368"/>
                </a:lnTo>
                <a:lnTo>
                  <a:pt x="288139" y="53732"/>
                </a:lnTo>
                <a:lnTo>
                  <a:pt x="303275" y="42290"/>
                </a:lnTo>
                <a:lnTo>
                  <a:pt x="369867" y="42290"/>
                </a:lnTo>
                <a:lnTo>
                  <a:pt x="390779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6D7CB3D-35BA-1F40-BACF-BDAB9FBB3F37}"/>
              </a:ext>
            </a:extLst>
          </p:cNvPr>
          <p:cNvSpPr txBox="1"/>
          <p:nvPr/>
        </p:nvSpPr>
        <p:spPr>
          <a:xfrm>
            <a:off x="9317481" y="2922197"/>
            <a:ext cx="13455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>
                <a:solidFill>
                  <a:srgbClr val="BEBEBE"/>
                </a:solidFill>
                <a:latin typeface="PMingLiU"/>
                <a:cs typeface="PMingLiU"/>
              </a:rPr>
              <a:t>第</a:t>
            </a:r>
            <a:r>
              <a:rPr sz="2000">
                <a:solidFill>
                  <a:srgbClr val="BEBEBE"/>
                </a:solidFill>
                <a:latin typeface="Cambria Math"/>
                <a:cs typeface="Cambria Math"/>
              </a:rPr>
              <a:t>𝟏𝟓</a:t>
            </a:r>
            <a:r>
              <a:rPr sz="2000" spc="-25">
                <a:solidFill>
                  <a:srgbClr val="BEBEBE"/>
                </a:solidFill>
                <a:latin typeface="PMingLiU"/>
                <a:cs typeface="PMingLiU"/>
              </a:rPr>
              <a:t>小元素</a:t>
            </a:r>
            <a:endParaRPr sz="2000">
              <a:latin typeface="PMingLiU"/>
              <a:cs typeface="PMingLiU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DD72AAC5-755A-444C-92BA-74528A494551}"/>
              </a:ext>
            </a:extLst>
          </p:cNvPr>
          <p:cNvSpPr txBox="1"/>
          <p:nvPr/>
        </p:nvSpPr>
        <p:spPr>
          <a:xfrm>
            <a:off x="5957315" y="2922197"/>
            <a:ext cx="11938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>
                <a:solidFill>
                  <a:srgbClr val="BEBEBE"/>
                </a:solidFill>
                <a:latin typeface="PMingLiU"/>
                <a:cs typeface="PMingLiU"/>
              </a:rPr>
              <a:t>第</a:t>
            </a:r>
            <a:r>
              <a:rPr sz="2000">
                <a:solidFill>
                  <a:srgbClr val="BEBEBE"/>
                </a:solidFill>
                <a:latin typeface="Cambria Math"/>
                <a:cs typeface="Cambria Math"/>
              </a:rPr>
              <a:t>𝟖</a:t>
            </a:r>
            <a:r>
              <a:rPr sz="2000" spc="-20">
                <a:solidFill>
                  <a:srgbClr val="BEBEBE"/>
                </a:solidFill>
                <a:latin typeface="PMingLiU"/>
                <a:cs typeface="PMingLiU"/>
              </a:rPr>
              <a:t>小元素</a:t>
            </a:r>
            <a:endParaRPr sz="2000">
              <a:latin typeface="PMingLiU"/>
              <a:cs typeface="PMingLiU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3696AB9D-AC7C-584C-BE49-7F3EBCEDEAB6}"/>
              </a:ext>
            </a:extLst>
          </p:cNvPr>
          <p:cNvSpPr/>
          <p:nvPr/>
        </p:nvSpPr>
        <p:spPr>
          <a:xfrm>
            <a:off x="5766815" y="3309292"/>
            <a:ext cx="391160" cy="302260"/>
          </a:xfrm>
          <a:custGeom>
            <a:avLst/>
            <a:gdLst/>
            <a:ahLst/>
            <a:cxnLst/>
            <a:rect l="l" t="t" r="r" b="b"/>
            <a:pathLst>
              <a:path w="391160" h="302260">
                <a:moveTo>
                  <a:pt x="288139" y="53732"/>
                </a:moveTo>
                <a:lnTo>
                  <a:pt x="0" y="271525"/>
                </a:lnTo>
                <a:lnTo>
                  <a:pt x="22860" y="302006"/>
                </a:lnTo>
                <a:lnTo>
                  <a:pt x="311106" y="84101"/>
                </a:lnTo>
                <a:lnTo>
                  <a:pt x="288139" y="53732"/>
                </a:lnTo>
                <a:close/>
              </a:path>
              <a:path w="391160" h="302260">
                <a:moveTo>
                  <a:pt x="369867" y="42290"/>
                </a:moveTo>
                <a:lnTo>
                  <a:pt x="303275" y="42290"/>
                </a:lnTo>
                <a:lnTo>
                  <a:pt x="326263" y="72643"/>
                </a:lnTo>
                <a:lnTo>
                  <a:pt x="311106" y="84101"/>
                </a:lnTo>
                <a:lnTo>
                  <a:pt x="334137" y="114553"/>
                </a:lnTo>
                <a:lnTo>
                  <a:pt x="369867" y="42290"/>
                </a:lnTo>
                <a:close/>
              </a:path>
              <a:path w="391160" h="302260">
                <a:moveTo>
                  <a:pt x="303275" y="42290"/>
                </a:moveTo>
                <a:lnTo>
                  <a:pt x="288139" y="53732"/>
                </a:lnTo>
                <a:lnTo>
                  <a:pt x="311106" y="84101"/>
                </a:lnTo>
                <a:lnTo>
                  <a:pt x="326263" y="72643"/>
                </a:lnTo>
                <a:lnTo>
                  <a:pt x="303275" y="42290"/>
                </a:lnTo>
                <a:close/>
              </a:path>
              <a:path w="391160" h="302260">
                <a:moveTo>
                  <a:pt x="390779" y="0"/>
                </a:moveTo>
                <a:lnTo>
                  <a:pt x="265175" y="23368"/>
                </a:lnTo>
                <a:lnTo>
                  <a:pt x="288139" y="53732"/>
                </a:lnTo>
                <a:lnTo>
                  <a:pt x="303275" y="42290"/>
                </a:lnTo>
                <a:lnTo>
                  <a:pt x="369867" y="42290"/>
                </a:lnTo>
                <a:lnTo>
                  <a:pt x="390779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D6B41720-63A8-D847-9153-3652787909B2}"/>
              </a:ext>
            </a:extLst>
          </p:cNvPr>
          <p:cNvSpPr/>
          <p:nvPr/>
        </p:nvSpPr>
        <p:spPr>
          <a:xfrm>
            <a:off x="9684257" y="3309292"/>
            <a:ext cx="391160" cy="302260"/>
          </a:xfrm>
          <a:custGeom>
            <a:avLst/>
            <a:gdLst/>
            <a:ahLst/>
            <a:cxnLst/>
            <a:rect l="l" t="t" r="r" b="b"/>
            <a:pathLst>
              <a:path w="391159" h="302260">
                <a:moveTo>
                  <a:pt x="288139" y="53732"/>
                </a:moveTo>
                <a:lnTo>
                  <a:pt x="0" y="271525"/>
                </a:lnTo>
                <a:lnTo>
                  <a:pt x="22860" y="302006"/>
                </a:lnTo>
                <a:lnTo>
                  <a:pt x="311106" y="84101"/>
                </a:lnTo>
                <a:lnTo>
                  <a:pt x="288139" y="53732"/>
                </a:lnTo>
                <a:close/>
              </a:path>
              <a:path w="391159" h="302260">
                <a:moveTo>
                  <a:pt x="369867" y="42290"/>
                </a:moveTo>
                <a:lnTo>
                  <a:pt x="303275" y="42290"/>
                </a:lnTo>
                <a:lnTo>
                  <a:pt x="326263" y="72643"/>
                </a:lnTo>
                <a:lnTo>
                  <a:pt x="311106" y="84101"/>
                </a:lnTo>
                <a:lnTo>
                  <a:pt x="334137" y="114553"/>
                </a:lnTo>
                <a:lnTo>
                  <a:pt x="369867" y="42290"/>
                </a:lnTo>
                <a:close/>
              </a:path>
              <a:path w="391159" h="302260">
                <a:moveTo>
                  <a:pt x="303275" y="42290"/>
                </a:moveTo>
                <a:lnTo>
                  <a:pt x="288139" y="53732"/>
                </a:lnTo>
                <a:lnTo>
                  <a:pt x="311106" y="84101"/>
                </a:lnTo>
                <a:lnTo>
                  <a:pt x="326263" y="72643"/>
                </a:lnTo>
                <a:lnTo>
                  <a:pt x="303275" y="42290"/>
                </a:lnTo>
                <a:close/>
              </a:path>
              <a:path w="391159" h="302260">
                <a:moveTo>
                  <a:pt x="390778" y="0"/>
                </a:moveTo>
                <a:lnTo>
                  <a:pt x="265175" y="23368"/>
                </a:lnTo>
                <a:lnTo>
                  <a:pt x="288139" y="53732"/>
                </a:lnTo>
                <a:lnTo>
                  <a:pt x="303275" y="42290"/>
                </a:lnTo>
                <a:lnTo>
                  <a:pt x="369867" y="42290"/>
                </a:lnTo>
                <a:lnTo>
                  <a:pt x="390778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AEA8AB48-D307-1442-BBFE-14249B1F34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8960" y="226093"/>
            <a:ext cx="3251086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问题分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析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13" name="object 4">
            <a:extLst>
              <a:ext uri="{FF2B5EF4-FFF2-40B4-BE49-F238E27FC236}">
                <a16:creationId xmlns:a16="http://schemas.microsoft.com/office/drawing/2014/main" id="{2FECDA10-6708-4E42-94A8-7057A1A16E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230787"/>
              </p:ext>
            </p:extLst>
          </p:nvPr>
        </p:nvGraphicFramePr>
        <p:xfrm>
          <a:off x="1344930" y="3593519"/>
          <a:ext cx="9215116" cy="1825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276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482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BEBEBE"/>
                          </a:solidFill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A6A6A6"/>
                      </a:solidFill>
                      <a:prstDash val="solid"/>
                    </a:lnL>
                    <a:lnR w="12700">
                      <a:solidFill>
                        <a:srgbClr val="A6A6A6"/>
                      </a:solidFill>
                      <a:prstDash val="solid"/>
                    </a:lnR>
                    <a:lnT w="12700">
                      <a:solidFill>
                        <a:srgbClr val="A6A6A6"/>
                      </a:solidFill>
                      <a:prstDash val="solid"/>
                    </a:lnT>
                    <a:lnB w="12700">
                      <a:solidFill>
                        <a:srgbClr val="A6A6A6"/>
                      </a:solidFill>
                      <a:prstDash val="solid"/>
                    </a:lnB>
                    <a:solidFill>
                      <a:srgbClr val="CDCD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465">
                <a:tc gridSpan="1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A6A6A6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查找第</a:t>
                      </a:r>
                      <a:r>
                        <a:rPr sz="2800" spc="-10">
                          <a:solidFill>
                            <a:srgbClr val="FFFFFF"/>
                          </a:solidFill>
                          <a:latin typeface="Cambria Math"/>
                          <a:cs typeface="Cambria Math"/>
                        </a:rPr>
                        <a:t>𝟖</a:t>
                      </a:r>
                      <a:r>
                        <a:rPr sz="2800" spc="-20">
                          <a:solidFill>
                            <a:srgbClr val="FFFFFF"/>
                          </a:solidFill>
                          <a:latin typeface="PMingLiU"/>
                          <a:cs typeface="PMingLiU"/>
                        </a:rPr>
                        <a:t>小元素</a:t>
                      </a:r>
                      <a:endParaRPr sz="2800">
                        <a:latin typeface="PMingLiU"/>
                        <a:cs typeface="PMingLiU"/>
                      </a:endParaRPr>
                    </a:p>
                  </a:txBody>
                  <a:tcPr marL="0" marR="0" marT="80645" marB="0">
                    <a:lnT w="12700">
                      <a:solidFill>
                        <a:srgbClr val="A6A6A6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object 5">
            <a:extLst>
              <a:ext uri="{FF2B5EF4-FFF2-40B4-BE49-F238E27FC236}">
                <a16:creationId xmlns:a16="http://schemas.microsoft.com/office/drawing/2014/main" id="{2C1CE235-9DDA-FE43-BFE5-C64EB5E97135}"/>
              </a:ext>
            </a:extLst>
          </p:cNvPr>
          <p:cNvSpPr txBox="1"/>
          <p:nvPr/>
        </p:nvSpPr>
        <p:spPr>
          <a:xfrm>
            <a:off x="3505961" y="5676065"/>
            <a:ext cx="5180330" cy="57721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marL="277495">
              <a:lnSpc>
                <a:spcPct val="100000"/>
              </a:lnSpc>
              <a:spcBef>
                <a:spcPts val="244"/>
              </a:spcBef>
            </a:pPr>
            <a:r>
              <a:rPr sz="2800" spc="-5">
                <a:solidFill>
                  <a:srgbClr val="FFFFFF"/>
                </a:solidFill>
                <a:latin typeface="PMingLiU"/>
                <a:cs typeface="PMingLiU"/>
              </a:rPr>
              <a:t>受启发于快速排序的数组划分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16" name="object 6">
            <a:extLst>
              <a:ext uri="{FF2B5EF4-FFF2-40B4-BE49-F238E27FC236}">
                <a16:creationId xmlns:a16="http://schemas.microsoft.com/office/drawing/2014/main" id="{63A0F9FA-9D62-1B43-BD00-E986D908C9D7}"/>
              </a:ext>
            </a:extLst>
          </p:cNvPr>
          <p:cNvSpPr txBox="1"/>
          <p:nvPr/>
        </p:nvSpPr>
        <p:spPr>
          <a:xfrm>
            <a:off x="4303014" y="2922197"/>
            <a:ext cx="11931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>
                <a:solidFill>
                  <a:srgbClr val="BEBEBE"/>
                </a:solidFill>
                <a:latin typeface="PMingLiU"/>
                <a:cs typeface="PMingLiU"/>
              </a:rPr>
              <a:t>第</a:t>
            </a:r>
            <a:r>
              <a:rPr sz="2000">
                <a:solidFill>
                  <a:srgbClr val="BEBEBE"/>
                </a:solidFill>
                <a:latin typeface="Cambria Math"/>
                <a:cs typeface="Cambria Math"/>
              </a:rPr>
              <a:t>𝟔</a:t>
            </a:r>
            <a:r>
              <a:rPr sz="2000" spc="-25">
                <a:solidFill>
                  <a:srgbClr val="BEBEBE"/>
                </a:solidFill>
                <a:latin typeface="PMingLiU"/>
                <a:cs typeface="PMingLiU"/>
              </a:rPr>
              <a:t>小元素</a:t>
            </a:r>
            <a:endParaRPr sz="2000">
              <a:latin typeface="PMingLiU"/>
              <a:cs typeface="PMingLiU"/>
            </a:endParaRPr>
          </a:p>
        </p:txBody>
      </p:sp>
      <p:sp>
        <p:nvSpPr>
          <p:cNvPr id="17" name="object 7">
            <a:extLst>
              <a:ext uri="{FF2B5EF4-FFF2-40B4-BE49-F238E27FC236}">
                <a16:creationId xmlns:a16="http://schemas.microsoft.com/office/drawing/2014/main" id="{751B99B6-7ED5-9F4E-9A7C-5281EF329DE9}"/>
              </a:ext>
            </a:extLst>
          </p:cNvPr>
          <p:cNvSpPr/>
          <p:nvPr/>
        </p:nvSpPr>
        <p:spPr>
          <a:xfrm>
            <a:off x="4411979" y="3309292"/>
            <a:ext cx="391160" cy="302260"/>
          </a:xfrm>
          <a:custGeom>
            <a:avLst/>
            <a:gdLst/>
            <a:ahLst/>
            <a:cxnLst/>
            <a:rect l="l" t="t" r="r" b="b"/>
            <a:pathLst>
              <a:path w="391160" h="302260">
                <a:moveTo>
                  <a:pt x="288139" y="53732"/>
                </a:moveTo>
                <a:lnTo>
                  <a:pt x="0" y="271525"/>
                </a:lnTo>
                <a:lnTo>
                  <a:pt x="22860" y="302006"/>
                </a:lnTo>
                <a:lnTo>
                  <a:pt x="311106" y="84101"/>
                </a:lnTo>
                <a:lnTo>
                  <a:pt x="288139" y="53732"/>
                </a:lnTo>
                <a:close/>
              </a:path>
              <a:path w="391160" h="302260">
                <a:moveTo>
                  <a:pt x="369867" y="42290"/>
                </a:moveTo>
                <a:lnTo>
                  <a:pt x="303275" y="42290"/>
                </a:lnTo>
                <a:lnTo>
                  <a:pt x="326263" y="72643"/>
                </a:lnTo>
                <a:lnTo>
                  <a:pt x="311106" y="84101"/>
                </a:lnTo>
                <a:lnTo>
                  <a:pt x="334137" y="114553"/>
                </a:lnTo>
                <a:lnTo>
                  <a:pt x="369867" y="42290"/>
                </a:lnTo>
                <a:close/>
              </a:path>
              <a:path w="391160" h="302260">
                <a:moveTo>
                  <a:pt x="303275" y="42290"/>
                </a:moveTo>
                <a:lnTo>
                  <a:pt x="288139" y="53732"/>
                </a:lnTo>
                <a:lnTo>
                  <a:pt x="311106" y="84101"/>
                </a:lnTo>
                <a:lnTo>
                  <a:pt x="326263" y="72643"/>
                </a:lnTo>
                <a:lnTo>
                  <a:pt x="303275" y="42290"/>
                </a:lnTo>
                <a:close/>
              </a:path>
              <a:path w="391160" h="302260">
                <a:moveTo>
                  <a:pt x="390779" y="0"/>
                </a:moveTo>
                <a:lnTo>
                  <a:pt x="265175" y="23368"/>
                </a:lnTo>
                <a:lnTo>
                  <a:pt x="288139" y="53732"/>
                </a:lnTo>
                <a:lnTo>
                  <a:pt x="303275" y="42290"/>
                </a:lnTo>
                <a:lnTo>
                  <a:pt x="369867" y="42290"/>
                </a:lnTo>
                <a:lnTo>
                  <a:pt x="390779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8">
            <a:extLst>
              <a:ext uri="{FF2B5EF4-FFF2-40B4-BE49-F238E27FC236}">
                <a16:creationId xmlns:a16="http://schemas.microsoft.com/office/drawing/2014/main" id="{BB2096BD-A927-0740-B092-C6DC9EA98B23}"/>
              </a:ext>
            </a:extLst>
          </p:cNvPr>
          <p:cNvSpPr txBox="1"/>
          <p:nvPr/>
        </p:nvSpPr>
        <p:spPr>
          <a:xfrm>
            <a:off x="9317481" y="2922197"/>
            <a:ext cx="13455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>
                <a:solidFill>
                  <a:srgbClr val="BEBEBE"/>
                </a:solidFill>
                <a:latin typeface="PMingLiU"/>
                <a:cs typeface="PMingLiU"/>
              </a:rPr>
              <a:t>第</a:t>
            </a:r>
            <a:r>
              <a:rPr sz="2000">
                <a:solidFill>
                  <a:srgbClr val="BEBEBE"/>
                </a:solidFill>
                <a:latin typeface="Cambria Math"/>
                <a:cs typeface="Cambria Math"/>
              </a:rPr>
              <a:t>𝟏𝟓</a:t>
            </a:r>
            <a:r>
              <a:rPr sz="2000" spc="-25">
                <a:solidFill>
                  <a:srgbClr val="BEBEBE"/>
                </a:solidFill>
                <a:latin typeface="PMingLiU"/>
                <a:cs typeface="PMingLiU"/>
              </a:rPr>
              <a:t>小元素</a:t>
            </a:r>
            <a:endParaRPr sz="2000">
              <a:latin typeface="PMingLiU"/>
              <a:cs typeface="PMingLiU"/>
            </a:endParaRPr>
          </a:p>
        </p:txBody>
      </p:sp>
      <p:sp>
        <p:nvSpPr>
          <p:cNvPr id="19" name="object 9">
            <a:extLst>
              <a:ext uri="{FF2B5EF4-FFF2-40B4-BE49-F238E27FC236}">
                <a16:creationId xmlns:a16="http://schemas.microsoft.com/office/drawing/2014/main" id="{2356AC91-BAB0-D248-9E00-E5B65796955E}"/>
              </a:ext>
            </a:extLst>
          </p:cNvPr>
          <p:cNvSpPr txBox="1"/>
          <p:nvPr/>
        </p:nvSpPr>
        <p:spPr>
          <a:xfrm>
            <a:off x="5957315" y="2922197"/>
            <a:ext cx="11938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>
                <a:solidFill>
                  <a:srgbClr val="BEBEBE"/>
                </a:solidFill>
                <a:latin typeface="PMingLiU"/>
                <a:cs typeface="PMingLiU"/>
              </a:rPr>
              <a:t>第</a:t>
            </a:r>
            <a:r>
              <a:rPr sz="2000">
                <a:solidFill>
                  <a:srgbClr val="BEBEBE"/>
                </a:solidFill>
                <a:latin typeface="Cambria Math"/>
                <a:cs typeface="Cambria Math"/>
              </a:rPr>
              <a:t>𝟖</a:t>
            </a:r>
            <a:r>
              <a:rPr sz="2000" spc="-20">
                <a:solidFill>
                  <a:srgbClr val="BEBEBE"/>
                </a:solidFill>
                <a:latin typeface="PMingLiU"/>
                <a:cs typeface="PMingLiU"/>
              </a:rPr>
              <a:t>小元素</a:t>
            </a:r>
            <a:endParaRPr sz="2000">
              <a:latin typeface="PMingLiU"/>
              <a:cs typeface="PMingLiU"/>
            </a:endParaRPr>
          </a:p>
        </p:txBody>
      </p:sp>
      <p:sp>
        <p:nvSpPr>
          <p:cNvPr id="20" name="object 10">
            <a:extLst>
              <a:ext uri="{FF2B5EF4-FFF2-40B4-BE49-F238E27FC236}">
                <a16:creationId xmlns:a16="http://schemas.microsoft.com/office/drawing/2014/main" id="{8A2172B7-714D-664B-A562-139BC62FECF7}"/>
              </a:ext>
            </a:extLst>
          </p:cNvPr>
          <p:cNvSpPr/>
          <p:nvPr/>
        </p:nvSpPr>
        <p:spPr>
          <a:xfrm>
            <a:off x="5766815" y="3309292"/>
            <a:ext cx="391160" cy="302260"/>
          </a:xfrm>
          <a:custGeom>
            <a:avLst/>
            <a:gdLst/>
            <a:ahLst/>
            <a:cxnLst/>
            <a:rect l="l" t="t" r="r" b="b"/>
            <a:pathLst>
              <a:path w="391160" h="302260">
                <a:moveTo>
                  <a:pt x="288139" y="53732"/>
                </a:moveTo>
                <a:lnTo>
                  <a:pt x="0" y="271525"/>
                </a:lnTo>
                <a:lnTo>
                  <a:pt x="22860" y="302006"/>
                </a:lnTo>
                <a:lnTo>
                  <a:pt x="311106" y="84101"/>
                </a:lnTo>
                <a:lnTo>
                  <a:pt x="288139" y="53732"/>
                </a:lnTo>
                <a:close/>
              </a:path>
              <a:path w="391160" h="302260">
                <a:moveTo>
                  <a:pt x="369867" y="42290"/>
                </a:moveTo>
                <a:lnTo>
                  <a:pt x="303275" y="42290"/>
                </a:lnTo>
                <a:lnTo>
                  <a:pt x="326263" y="72643"/>
                </a:lnTo>
                <a:lnTo>
                  <a:pt x="311106" y="84101"/>
                </a:lnTo>
                <a:lnTo>
                  <a:pt x="334137" y="114553"/>
                </a:lnTo>
                <a:lnTo>
                  <a:pt x="369867" y="42290"/>
                </a:lnTo>
                <a:close/>
              </a:path>
              <a:path w="391160" h="302260">
                <a:moveTo>
                  <a:pt x="303275" y="42290"/>
                </a:moveTo>
                <a:lnTo>
                  <a:pt x="288139" y="53732"/>
                </a:lnTo>
                <a:lnTo>
                  <a:pt x="311106" y="84101"/>
                </a:lnTo>
                <a:lnTo>
                  <a:pt x="326263" y="72643"/>
                </a:lnTo>
                <a:lnTo>
                  <a:pt x="303275" y="42290"/>
                </a:lnTo>
                <a:close/>
              </a:path>
              <a:path w="391160" h="302260">
                <a:moveTo>
                  <a:pt x="390779" y="0"/>
                </a:moveTo>
                <a:lnTo>
                  <a:pt x="265175" y="23368"/>
                </a:lnTo>
                <a:lnTo>
                  <a:pt x="288139" y="53732"/>
                </a:lnTo>
                <a:lnTo>
                  <a:pt x="303275" y="42290"/>
                </a:lnTo>
                <a:lnTo>
                  <a:pt x="369867" y="42290"/>
                </a:lnTo>
                <a:lnTo>
                  <a:pt x="390779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6C4450A6-D78C-8E40-BBF0-949FE6E74D86}"/>
              </a:ext>
            </a:extLst>
          </p:cNvPr>
          <p:cNvSpPr/>
          <p:nvPr/>
        </p:nvSpPr>
        <p:spPr>
          <a:xfrm>
            <a:off x="9684257" y="3309292"/>
            <a:ext cx="391160" cy="302260"/>
          </a:xfrm>
          <a:custGeom>
            <a:avLst/>
            <a:gdLst/>
            <a:ahLst/>
            <a:cxnLst/>
            <a:rect l="l" t="t" r="r" b="b"/>
            <a:pathLst>
              <a:path w="391159" h="302260">
                <a:moveTo>
                  <a:pt x="288139" y="53732"/>
                </a:moveTo>
                <a:lnTo>
                  <a:pt x="0" y="271525"/>
                </a:lnTo>
                <a:lnTo>
                  <a:pt x="22860" y="302006"/>
                </a:lnTo>
                <a:lnTo>
                  <a:pt x="311106" y="84101"/>
                </a:lnTo>
                <a:lnTo>
                  <a:pt x="288139" y="53732"/>
                </a:lnTo>
                <a:close/>
              </a:path>
              <a:path w="391159" h="302260">
                <a:moveTo>
                  <a:pt x="369867" y="42290"/>
                </a:moveTo>
                <a:lnTo>
                  <a:pt x="303275" y="42290"/>
                </a:lnTo>
                <a:lnTo>
                  <a:pt x="326263" y="72643"/>
                </a:lnTo>
                <a:lnTo>
                  <a:pt x="311106" y="84101"/>
                </a:lnTo>
                <a:lnTo>
                  <a:pt x="334137" y="114553"/>
                </a:lnTo>
                <a:lnTo>
                  <a:pt x="369867" y="42290"/>
                </a:lnTo>
                <a:close/>
              </a:path>
              <a:path w="391159" h="302260">
                <a:moveTo>
                  <a:pt x="303275" y="42290"/>
                </a:moveTo>
                <a:lnTo>
                  <a:pt x="288139" y="53732"/>
                </a:lnTo>
                <a:lnTo>
                  <a:pt x="311106" y="84101"/>
                </a:lnTo>
                <a:lnTo>
                  <a:pt x="326263" y="72643"/>
                </a:lnTo>
                <a:lnTo>
                  <a:pt x="303275" y="42290"/>
                </a:lnTo>
                <a:close/>
              </a:path>
              <a:path w="391159" h="302260">
                <a:moveTo>
                  <a:pt x="390778" y="0"/>
                </a:moveTo>
                <a:lnTo>
                  <a:pt x="265175" y="23368"/>
                </a:lnTo>
                <a:lnTo>
                  <a:pt x="288139" y="53732"/>
                </a:lnTo>
                <a:lnTo>
                  <a:pt x="303275" y="42290"/>
                </a:lnTo>
                <a:lnTo>
                  <a:pt x="369867" y="42290"/>
                </a:lnTo>
                <a:lnTo>
                  <a:pt x="390778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4716627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750B8349-B2FE-9D45-A05F-9810BFDB12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9741" y="218172"/>
            <a:ext cx="343812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回顾与启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发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2271CB73-3F29-F14B-82C5-76DA64FB2D4D}"/>
              </a:ext>
            </a:extLst>
          </p:cNvPr>
          <p:cNvGraphicFramePr>
            <a:graphicFrameLocks noGrp="1"/>
          </p:cNvGraphicFramePr>
          <p:nvPr/>
        </p:nvGraphicFramePr>
        <p:xfrm>
          <a:off x="3772661" y="4178934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14042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750B8349-B2FE-9D45-A05F-9810BFDB12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9741" y="218172"/>
            <a:ext cx="343812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回顾与启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发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2271CB73-3F29-F14B-82C5-76DA64FB2D4D}"/>
              </a:ext>
            </a:extLst>
          </p:cNvPr>
          <p:cNvGraphicFramePr>
            <a:graphicFrameLocks noGrp="1"/>
          </p:cNvGraphicFramePr>
          <p:nvPr/>
        </p:nvGraphicFramePr>
        <p:xfrm>
          <a:off x="3772661" y="4178934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2">
            <a:extLst>
              <a:ext uri="{FF2B5EF4-FFF2-40B4-BE49-F238E27FC236}">
                <a16:creationId xmlns:a16="http://schemas.microsoft.com/office/drawing/2014/main" id="{7BB98892-EDEE-234C-9416-6E7D59C95650}"/>
              </a:ext>
            </a:extLst>
          </p:cNvPr>
          <p:cNvSpPr txBox="1"/>
          <p:nvPr/>
        </p:nvSpPr>
        <p:spPr>
          <a:xfrm>
            <a:off x="781858" y="1225344"/>
            <a:ext cx="7598361" cy="2959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5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选取固定位置主元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（</a:t>
            </a: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如尾元素</a:t>
            </a:r>
            <a:r>
              <a:rPr sz="2800" spc="-5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）</a:t>
            </a:r>
            <a:endParaRPr lang="en-US" sz="2800" spc="-5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维护两个部分的右端点变量𝒊</a:t>
            </a:r>
            <a:r>
              <a:rPr lang="en-US" altLang="zh-CN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, 𝒋</a:t>
            </a: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考察数组元素</a:t>
            </a:r>
            <a:r>
              <a:rPr lang="zh-CN" altLang="en-US"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800" spc="-1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，只和主元比较</a:t>
            </a:r>
            <a:endParaRPr lang="zh-CN" altLang="en-US"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若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≤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lang="zh-CN" altLang="en-US"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，则交换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和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[𝒊</a:t>
            </a:r>
            <a:r>
              <a:rPr lang="zh-CN" altLang="en-US"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lang="en-US" altLang="zh-CN"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+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lang="en-US" altLang="zh-CN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]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𝒊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与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𝒋</a:t>
            </a:r>
            <a:r>
              <a:rPr lang="zh-CN" altLang="en-US" sz="2400" spc="-2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右移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若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lang="en-US" altLang="zh-CN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&gt;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lang="zh-CN" altLang="en-US"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，则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𝒋</a:t>
            </a:r>
            <a:r>
              <a:rPr lang="zh-CN" altLang="en-US" sz="2400" spc="-2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右移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0AA1766C-9CF7-624D-B0BE-13531DAF53D3}"/>
              </a:ext>
            </a:extLst>
          </p:cNvPr>
          <p:cNvGraphicFramePr>
            <a:graphicFrameLocks noGrp="1"/>
          </p:cNvGraphicFramePr>
          <p:nvPr/>
        </p:nvGraphicFramePr>
        <p:xfrm>
          <a:off x="3772661" y="4178934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object 5">
            <a:extLst>
              <a:ext uri="{FF2B5EF4-FFF2-40B4-BE49-F238E27FC236}">
                <a16:creationId xmlns:a16="http://schemas.microsoft.com/office/drawing/2014/main" id="{3B3359E3-C40B-4842-9DD6-EE38F1673C3E}"/>
              </a:ext>
            </a:extLst>
          </p:cNvPr>
          <p:cNvSpPr txBox="1"/>
          <p:nvPr/>
        </p:nvSpPr>
        <p:spPr>
          <a:xfrm>
            <a:off x="7830057" y="3428238"/>
            <a:ext cx="5848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5">
                <a:latin typeface="PMingLiU"/>
                <a:cs typeface="PMingLiU"/>
              </a:rPr>
              <a:t>主元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6684A301-D53E-094F-9628-2AD8B71D51C6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E0F2D585-8C7B-AB47-823F-A9A0761C6728}"/>
              </a:ext>
            </a:extLst>
          </p:cNvPr>
          <p:cNvSpPr/>
          <p:nvPr/>
        </p:nvSpPr>
        <p:spPr>
          <a:xfrm>
            <a:off x="3518153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0E689544-471B-7844-B632-2F2C5656AB34}"/>
              </a:ext>
            </a:extLst>
          </p:cNvPr>
          <p:cNvSpPr/>
          <p:nvPr/>
        </p:nvSpPr>
        <p:spPr>
          <a:xfrm>
            <a:off x="3697985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D6F40113-647B-7F48-9A8E-19EDA5D01498}"/>
              </a:ext>
            </a:extLst>
          </p:cNvPr>
          <p:cNvSpPr txBox="1"/>
          <p:nvPr/>
        </p:nvSpPr>
        <p:spPr>
          <a:xfrm>
            <a:off x="3507232" y="5362075"/>
            <a:ext cx="129539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33A236BC-2B82-0D4F-B02D-7945B866EADA}"/>
              </a:ext>
            </a:extLst>
          </p:cNvPr>
          <p:cNvSpPr txBox="1"/>
          <p:nvPr/>
        </p:nvSpPr>
        <p:spPr>
          <a:xfrm>
            <a:off x="3724909" y="5380109"/>
            <a:ext cx="134620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4151957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  <p:bldP spid="1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750B8349-B2FE-9D45-A05F-9810BFDB12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9741" y="218172"/>
            <a:ext cx="343812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回顾与启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发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2271CB73-3F29-F14B-82C5-76DA64FB2D4D}"/>
              </a:ext>
            </a:extLst>
          </p:cNvPr>
          <p:cNvGraphicFramePr>
            <a:graphicFrameLocks noGrp="1"/>
          </p:cNvGraphicFramePr>
          <p:nvPr/>
        </p:nvGraphicFramePr>
        <p:xfrm>
          <a:off x="3772661" y="4178934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2">
            <a:extLst>
              <a:ext uri="{FF2B5EF4-FFF2-40B4-BE49-F238E27FC236}">
                <a16:creationId xmlns:a16="http://schemas.microsoft.com/office/drawing/2014/main" id="{7BB98892-EDEE-234C-9416-6E7D59C95650}"/>
              </a:ext>
            </a:extLst>
          </p:cNvPr>
          <p:cNvSpPr txBox="1"/>
          <p:nvPr/>
        </p:nvSpPr>
        <p:spPr>
          <a:xfrm>
            <a:off x="781858" y="1225344"/>
            <a:ext cx="7598361" cy="2959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5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选取固定位置主元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（</a:t>
            </a: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如尾元素</a:t>
            </a:r>
            <a:r>
              <a:rPr sz="2800" spc="-5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）</a:t>
            </a:r>
            <a:endParaRPr lang="en-US" sz="2800" spc="-5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维护两个部分的右端点变量𝒊</a:t>
            </a:r>
            <a:r>
              <a:rPr lang="en-US" altLang="zh-CN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, 𝒋</a:t>
            </a: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考察数组元素</a:t>
            </a:r>
            <a:r>
              <a:rPr lang="zh-CN" altLang="en-US"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800" spc="-1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，只和主元比较</a:t>
            </a:r>
            <a:endParaRPr lang="zh-CN" altLang="en-US"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若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≤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lang="zh-CN" altLang="en-US"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，则交换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和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[𝒊</a:t>
            </a:r>
            <a:r>
              <a:rPr lang="zh-CN" altLang="en-US"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lang="en-US" altLang="zh-CN"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+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lang="en-US" altLang="zh-CN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]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𝒊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与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𝒋</a:t>
            </a:r>
            <a:r>
              <a:rPr lang="zh-CN" altLang="en-US" sz="2400" spc="-2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右移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若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lang="en-US" altLang="zh-CN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&gt;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lang="zh-CN" altLang="en-US"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，则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𝒋</a:t>
            </a:r>
            <a:r>
              <a:rPr lang="zh-CN" altLang="en-US" sz="2400" spc="-2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右移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0AA1766C-9CF7-624D-B0BE-13531DAF53D3}"/>
              </a:ext>
            </a:extLst>
          </p:cNvPr>
          <p:cNvGraphicFramePr>
            <a:graphicFrameLocks noGrp="1"/>
          </p:cNvGraphicFramePr>
          <p:nvPr/>
        </p:nvGraphicFramePr>
        <p:xfrm>
          <a:off x="3772661" y="4178934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object 5">
            <a:extLst>
              <a:ext uri="{FF2B5EF4-FFF2-40B4-BE49-F238E27FC236}">
                <a16:creationId xmlns:a16="http://schemas.microsoft.com/office/drawing/2014/main" id="{3B3359E3-C40B-4842-9DD6-EE38F1673C3E}"/>
              </a:ext>
            </a:extLst>
          </p:cNvPr>
          <p:cNvSpPr txBox="1"/>
          <p:nvPr/>
        </p:nvSpPr>
        <p:spPr>
          <a:xfrm>
            <a:off x="7830057" y="3428238"/>
            <a:ext cx="5848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5">
                <a:latin typeface="PMingLiU"/>
                <a:cs typeface="PMingLiU"/>
              </a:rPr>
              <a:t>主元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6684A301-D53E-094F-9628-2AD8B71D51C6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54663296-2326-2845-8069-43F30BD484E3}"/>
              </a:ext>
            </a:extLst>
          </p:cNvPr>
          <p:cNvSpPr/>
          <p:nvPr/>
        </p:nvSpPr>
        <p:spPr>
          <a:xfrm>
            <a:off x="3518153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7">
            <a:extLst>
              <a:ext uri="{FF2B5EF4-FFF2-40B4-BE49-F238E27FC236}">
                <a16:creationId xmlns:a16="http://schemas.microsoft.com/office/drawing/2014/main" id="{CD31F32C-D2D5-F745-8394-7E3732F6A983}"/>
              </a:ext>
            </a:extLst>
          </p:cNvPr>
          <p:cNvSpPr/>
          <p:nvPr/>
        </p:nvSpPr>
        <p:spPr>
          <a:xfrm>
            <a:off x="4021835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5D66BA85-C190-C444-90D1-277531F24267}"/>
              </a:ext>
            </a:extLst>
          </p:cNvPr>
          <p:cNvSpPr txBox="1"/>
          <p:nvPr/>
        </p:nvSpPr>
        <p:spPr>
          <a:xfrm>
            <a:off x="3507232" y="5362075"/>
            <a:ext cx="129539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6" name="object 9">
            <a:extLst>
              <a:ext uri="{FF2B5EF4-FFF2-40B4-BE49-F238E27FC236}">
                <a16:creationId xmlns:a16="http://schemas.microsoft.com/office/drawing/2014/main" id="{A7ABD19F-BE4E-3B4C-ABDB-C9B629A11842}"/>
              </a:ext>
            </a:extLst>
          </p:cNvPr>
          <p:cNvSpPr txBox="1"/>
          <p:nvPr/>
        </p:nvSpPr>
        <p:spPr>
          <a:xfrm>
            <a:off x="4008120" y="5380109"/>
            <a:ext cx="134620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1489C2C-BBC1-4F42-9CE4-E41612A569DE}"/>
              </a:ext>
            </a:extLst>
          </p:cNvPr>
          <p:cNvSpPr txBox="1"/>
          <p:nvPr/>
        </p:nvSpPr>
        <p:spPr>
          <a:xfrm>
            <a:off x="3632453" y="3773914"/>
            <a:ext cx="16833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835025" algn="ctr">
              <a:lnSpc>
                <a:spcPct val="100000"/>
              </a:lnSpc>
              <a:spcBef>
                <a:spcPts val="90"/>
              </a:spcBef>
            </a:pPr>
            <a:r>
              <a:rPr lang="en-US" altLang="zh-CN" sz="1800" b="1" dirty="0">
                <a:latin typeface="Times New Roman"/>
                <a:cs typeface="Times New Roman"/>
              </a:rPr>
              <a:t>2 &lt;</a:t>
            </a:r>
            <a:r>
              <a:rPr lang="zh-CN" altLang="en-US" sz="1800" b="1" spc="-10" dirty="0">
                <a:latin typeface="Times New Roman"/>
                <a:cs typeface="Times New Roman"/>
              </a:rPr>
              <a:t> </a:t>
            </a:r>
            <a:r>
              <a:rPr lang="en-US" altLang="zh-CN" sz="1800" b="1" spc="-50" dirty="0">
                <a:latin typeface="Times New Roman"/>
                <a:cs typeface="Times New Roman"/>
              </a:rPr>
              <a:t>4</a:t>
            </a:r>
            <a:endParaRPr lang="zh-CN" altLang="en-US"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176825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750B8349-B2FE-9D45-A05F-9810BFDB12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9741" y="218172"/>
            <a:ext cx="343812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回顾与启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发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7BB98892-EDEE-234C-9416-6E7D59C95650}"/>
              </a:ext>
            </a:extLst>
          </p:cNvPr>
          <p:cNvSpPr txBox="1"/>
          <p:nvPr/>
        </p:nvSpPr>
        <p:spPr>
          <a:xfrm>
            <a:off x="781858" y="1225344"/>
            <a:ext cx="7598361" cy="2959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5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选取固定位置主元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（</a:t>
            </a: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如尾元素</a:t>
            </a:r>
            <a:r>
              <a:rPr sz="2800" spc="-5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）</a:t>
            </a:r>
            <a:endParaRPr lang="en-US" sz="2800" spc="-5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维护两个部分的右端点变量𝒊</a:t>
            </a:r>
            <a:r>
              <a:rPr lang="en-US" altLang="zh-CN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, 𝒋</a:t>
            </a: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考察数组元素</a:t>
            </a:r>
            <a:r>
              <a:rPr lang="zh-CN" altLang="en-US"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800" spc="-1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，只和主元比较</a:t>
            </a:r>
            <a:endParaRPr lang="zh-CN" altLang="en-US"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若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≤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lang="zh-CN" altLang="en-US"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，则交换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和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[𝒊</a:t>
            </a:r>
            <a:r>
              <a:rPr lang="zh-CN" altLang="en-US"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lang="en-US" altLang="zh-CN"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+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lang="en-US" altLang="zh-CN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]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𝒊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与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𝒋</a:t>
            </a:r>
            <a:r>
              <a:rPr lang="zh-CN" altLang="en-US" sz="2400" spc="-2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右移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若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lang="en-US" altLang="zh-CN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&gt;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lang="zh-CN" altLang="en-US"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，则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𝒋</a:t>
            </a:r>
            <a:r>
              <a:rPr lang="zh-CN" altLang="en-US" sz="2400" spc="-2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右移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3B3359E3-C40B-4842-9DD6-EE38F1673C3E}"/>
              </a:ext>
            </a:extLst>
          </p:cNvPr>
          <p:cNvSpPr txBox="1"/>
          <p:nvPr/>
        </p:nvSpPr>
        <p:spPr>
          <a:xfrm>
            <a:off x="7830057" y="3428238"/>
            <a:ext cx="5848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5">
                <a:latin typeface="PMingLiU"/>
                <a:cs typeface="PMingLiU"/>
              </a:rPr>
              <a:t>主元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6684A301-D53E-094F-9628-2AD8B71D51C6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1489C2C-BBC1-4F42-9CE4-E41612A569DE}"/>
              </a:ext>
            </a:extLst>
          </p:cNvPr>
          <p:cNvSpPr txBox="1"/>
          <p:nvPr/>
        </p:nvSpPr>
        <p:spPr>
          <a:xfrm>
            <a:off x="3632453" y="3773914"/>
            <a:ext cx="16833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835025" algn="ctr">
              <a:lnSpc>
                <a:spcPct val="100000"/>
              </a:lnSpc>
              <a:spcBef>
                <a:spcPts val="90"/>
              </a:spcBef>
            </a:pPr>
            <a:r>
              <a:rPr lang="en-US" altLang="zh-CN" sz="1800" b="1" dirty="0">
                <a:latin typeface="Times New Roman"/>
                <a:cs typeface="Times New Roman"/>
              </a:rPr>
              <a:t>2 &lt;</a:t>
            </a:r>
            <a:r>
              <a:rPr lang="zh-CN" altLang="en-US" sz="1800" b="1" spc="-10" dirty="0">
                <a:latin typeface="Times New Roman"/>
                <a:cs typeface="Times New Roman"/>
              </a:rPr>
              <a:t> </a:t>
            </a:r>
            <a:r>
              <a:rPr lang="en-US" altLang="zh-CN" sz="1800" b="1" spc="-50" dirty="0">
                <a:latin typeface="Times New Roman"/>
                <a:cs typeface="Times New Roman"/>
              </a:rPr>
              <a:t>4</a:t>
            </a:r>
            <a:endParaRPr lang="zh-CN" altLang="en-US" sz="1800" dirty="0">
              <a:latin typeface="Times New Roman"/>
              <a:cs typeface="Times New Roman"/>
            </a:endParaRPr>
          </a:p>
        </p:txBody>
      </p:sp>
      <p:graphicFrame>
        <p:nvGraphicFramePr>
          <p:cNvPr id="18" name="object 3">
            <a:extLst>
              <a:ext uri="{FF2B5EF4-FFF2-40B4-BE49-F238E27FC236}">
                <a16:creationId xmlns:a16="http://schemas.microsoft.com/office/drawing/2014/main" id="{0363ABA7-0500-CD45-8F28-E1F3B0463D68}"/>
              </a:ext>
            </a:extLst>
          </p:cNvPr>
          <p:cNvGraphicFramePr>
            <a:graphicFrameLocks noGrp="1"/>
          </p:cNvGraphicFramePr>
          <p:nvPr/>
        </p:nvGraphicFramePr>
        <p:xfrm>
          <a:off x="3772661" y="4178934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object 5">
            <a:extLst>
              <a:ext uri="{FF2B5EF4-FFF2-40B4-BE49-F238E27FC236}">
                <a16:creationId xmlns:a16="http://schemas.microsoft.com/office/drawing/2014/main" id="{360D6590-8B24-8848-BAB8-119DFB01733E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6">
            <a:extLst>
              <a:ext uri="{FF2B5EF4-FFF2-40B4-BE49-F238E27FC236}">
                <a16:creationId xmlns:a16="http://schemas.microsoft.com/office/drawing/2014/main" id="{41B28E2F-4921-D842-92D8-82756A51231E}"/>
              </a:ext>
            </a:extLst>
          </p:cNvPr>
          <p:cNvSpPr/>
          <p:nvPr/>
        </p:nvSpPr>
        <p:spPr>
          <a:xfrm>
            <a:off x="3800094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7">
            <a:extLst>
              <a:ext uri="{FF2B5EF4-FFF2-40B4-BE49-F238E27FC236}">
                <a16:creationId xmlns:a16="http://schemas.microsoft.com/office/drawing/2014/main" id="{37F393F3-F9FC-744F-91A2-088EBAC02822}"/>
              </a:ext>
            </a:extLst>
          </p:cNvPr>
          <p:cNvSpPr/>
          <p:nvPr/>
        </p:nvSpPr>
        <p:spPr>
          <a:xfrm>
            <a:off x="4021835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8">
            <a:extLst>
              <a:ext uri="{FF2B5EF4-FFF2-40B4-BE49-F238E27FC236}">
                <a16:creationId xmlns:a16="http://schemas.microsoft.com/office/drawing/2014/main" id="{4EC146EF-6A63-0246-8CB3-CA7FEBE37B32}"/>
              </a:ext>
            </a:extLst>
          </p:cNvPr>
          <p:cNvSpPr txBox="1"/>
          <p:nvPr/>
        </p:nvSpPr>
        <p:spPr>
          <a:xfrm>
            <a:off x="3790441" y="5362075"/>
            <a:ext cx="129539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3" name="object 9">
            <a:extLst>
              <a:ext uri="{FF2B5EF4-FFF2-40B4-BE49-F238E27FC236}">
                <a16:creationId xmlns:a16="http://schemas.microsoft.com/office/drawing/2014/main" id="{5578F564-8D08-B54B-BDF8-CE186B4C37FE}"/>
              </a:ext>
            </a:extLst>
          </p:cNvPr>
          <p:cNvSpPr txBox="1"/>
          <p:nvPr/>
        </p:nvSpPr>
        <p:spPr>
          <a:xfrm>
            <a:off x="4008120" y="5380109"/>
            <a:ext cx="134620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3571432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750B8349-B2FE-9D45-A05F-9810BFDB12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9741" y="218172"/>
            <a:ext cx="343812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回顾与启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发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7BB98892-EDEE-234C-9416-6E7D59C95650}"/>
              </a:ext>
            </a:extLst>
          </p:cNvPr>
          <p:cNvSpPr txBox="1"/>
          <p:nvPr/>
        </p:nvSpPr>
        <p:spPr>
          <a:xfrm>
            <a:off x="781858" y="1225344"/>
            <a:ext cx="7598361" cy="2959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5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选取固定位置主元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（</a:t>
            </a: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如尾元素</a:t>
            </a:r>
            <a:r>
              <a:rPr sz="2800" spc="-5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）</a:t>
            </a:r>
            <a:endParaRPr lang="en-US" sz="2800" spc="-5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维护两个部分的右端点变量𝒊</a:t>
            </a:r>
            <a:r>
              <a:rPr lang="en-US" altLang="zh-CN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, 𝒋</a:t>
            </a: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考察数组元素</a:t>
            </a:r>
            <a:r>
              <a:rPr lang="zh-CN" altLang="en-US"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800" spc="-1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，只和主元比较</a:t>
            </a:r>
            <a:endParaRPr lang="zh-CN" altLang="en-US"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若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≤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lang="zh-CN" altLang="en-US"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，则交换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和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[𝒊</a:t>
            </a:r>
            <a:r>
              <a:rPr lang="zh-CN" altLang="en-US"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lang="en-US" altLang="zh-CN"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+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lang="en-US" altLang="zh-CN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]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𝒊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与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𝒋</a:t>
            </a:r>
            <a:r>
              <a:rPr lang="zh-CN" altLang="en-US" sz="2400" spc="-2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右移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若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lang="en-US" altLang="zh-CN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&gt;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lang="zh-CN" altLang="en-US"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，则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𝒋</a:t>
            </a:r>
            <a:r>
              <a:rPr lang="zh-CN" altLang="en-US" sz="2400" spc="-2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右移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3B3359E3-C40B-4842-9DD6-EE38F1673C3E}"/>
              </a:ext>
            </a:extLst>
          </p:cNvPr>
          <p:cNvSpPr txBox="1"/>
          <p:nvPr/>
        </p:nvSpPr>
        <p:spPr>
          <a:xfrm>
            <a:off x="7830057" y="3428238"/>
            <a:ext cx="5848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5">
                <a:latin typeface="PMingLiU"/>
                <a:cs typeface="PMingLiU"/>
              </a:rPr>
              <a:t>主元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6684A301-D53E-094F-9628-2AD8B71D51C6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1489C2C-BBC1-4F42-9CE4-E41612A569DE}"/>
              </a:ext>
            </a:extLst>
          </p:cNvPr>
          <p:cNvSpPr txBox="1"/>
          <p:nvPr/>
        </p:nvSpPr>
        <p:spPr>
          <a:xfrm>
            <a:off x="4231212" y="3773914"/>
            <a:ext cx="16833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835025" algn="ctr">
              <a:lnSpc>
                <a:spcPct val="100000"/>
              </a:lnSpc>
              <a:spcBef>
                <a:spcPts val="90"/>
              </a:spcBef>
            </a:pPr>
            <a:r>
              <a:rPr lang="en-US" altLang="zh-CN" sz="1800" b="1" dirty="0">
                <a:latin typeface="Times New Roman"/>
                <a:cs typeface="Times New Roman"/>
              </a:rPr>
              <a:t>6</a:t>
            </a:r>
            <a:r>
              <a:rPr lang="zh-CN" altLang="en-US" sz="1800" b="1" dirty="0">
                <a:latin typeface="Times New Roman"/>
                <a:cs typeface="Times New Roman"/>
              </a:rPr>
              <a:t> </a:t>
            </a:r>
            <a:r>
              <a:rPr lang="en-US" altLang="zh-CN" sz="1800" b="1" dirty="0">
                <a:latin typeface="Times New Roman"/>
                <a:cs typeface="Times New Roman"/>
              </a:rPr>
              <a:t>&gt;</a:t>
            </a:r>
            <a:r>
              <a:rPr lang="zh-CN" altLang="en-US" sz="1800" b="1" dirty="0">
                <a:latin typeface="Times New Roman"/>
                <a:cs typeface="Times New Roman"/>
              </a:rPr>
              <a:t> </a:t>
            </a:r>
            <a:r>
              <a:rPr lang="en-US" altLang="zh-CN" sz="1800" b="1" spc="-50" dirty="0">
                <a:latin typeface="Times New Roman"/>
                <a:cs typeface="Times New Roman"/>
              </a:rPr>
              <a:t>4</a:t>
            </a:r>
            <a:endParaRPr lang="zh-CN" altLang="en-US" sz="1800" dirty="0">
              <a:latin typeface="Times New Roman"/>
              <a:cs typeface="Times New Roman"/>
            </a:endParaRPr>
          </a:p>
        </p:txBody>
      </p:sp>
      <p:sp>
        <p:nvSpPr>
          <p:cNvPr id="19" name="object 5">
            <a:extLst>
              <a:ext uri="{FF2B5EF4-FFF2-40B4-BE49-F238E27FC236}">
                <a16:creationId xmlns:a16="http://schemas.microsoft.com/office/drawing/2014/main" id="{360D6590-8B24-8848-BAB8-119DFB01733E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" name="object 3">
            <a:extLst>
              <a:ext uri="{FF2B5EF4-FFF2-40B4-BE49-F238E27FC236}">
                <a16:creationId xmlns:a16="http://schemas.microsoft.com/office/drawing/2014/main" id="{E0569F2E-DC13-A44C-ACE0-4C800E3204EE}"/>
              </a:ext>
            </a:extLst>
          </p:cNvPr>
          <p:cNvGraphicFramePr>
            <a:graphicFrameLocks noGrp="1"/>
          </p:cNvGraphicFramePr>
          <p:nvPr/>
        </p:nvGraphicFramePr>
        <p:xfrm>
          <a:off x="3772661" y="4178934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object 5">
            <a:extLst>
              <a:ext uri="{FF2B5EF4-FFF2-40B4-BE49-F238E27FC236}">
                <a16:creationId xmlns:a16="http://schemas.microsoft.com/office/drawing/2014/main" id="{EB1DBB87-E38F-BB44-81B6-323509A9DBC4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6">
            <a:extLst>
              <a:ext uri="{FF2B5EF4-FFF2-40B4-BE49-F238E27FC236}">
                <a16:creationId xmlns:a16="http://schemas.microsoft.com/office/drawing/2014/main" id="{EADA611A-6550-D04C-8366-E453373F0FFF}"/>
              </a:ext>
            </a:extLst>
          </p:cNvPr>
          <p:cNvSpPr/>
          <p:nvPr/>
        </p:nvSpPr>
        <p:spPr>
          <a:xfrm>
            <a:off x="3898391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7">
            <a:extLst>
              <a:ext uri="{FF2B5EF4-FFF2-40B4-BE49-F238E27FC236}">
                <a16:creationId xmlns:a16="http://schemas.microsoft.com/office/drawing/2014/main" id="{810CEB7A-12BB-AC4E-AE35-74DABF28D7ED}"/>
              </a:ext>
            </a:extLst>
          </p:cNvPr>
          <p:cNvSpPr/>
          <p:nvPr/>
        </p:nvSpPr>
        <p:spPr>
          <a:xfrm>
            <a:off x="4584191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8">
            <a:extLst>
              <a:ext uri="{FF2B5EF4-FFF2-40B4-BE49-F238E27FC236}">
                <a16:creationId xmlns:a16="http://schemas.microsoft.com/office/drawing/2014/main" id="{EBCB1568-1B94-C542-B7BB-D2B5A57BB839}"/>
              </a:ext>
            </a:extLst>
          </p:cNvPr>
          <p:cNvSpPr txBox="1"/>
          <p:nvPr/>
        </p:nvSpPr>
        <p:spPr>
          <a:xfrm>
            <a:off x="3892041" y="5362075"/>
            <a:ext cx="129539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5" name="object 9">
            <a:extLst>
              <a:ext uri="{FF2B5EF4-FFF2-40B4-BE49-F238E27FC236}">
                <a16:creationId xmlns:a16="http://schemas.microsoft.com/office/drawing/2014/main" id="{B875067F-7F5B-8B47-B5FF-E19F4136DED4}"/>
              </a:ext>
            </a:extLst>
          </p:cNvPr>
          <p:cNvSpPr txBox="1"/>
          <p:nvPr/>
        </p:nvSpPr>
        <p:spPr>
          <a:xfrm>
            <a:off x="4583938" y="5380109"/>
            <a:ext cx="134620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397261706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750B8349-B2FE-9D45-A05F-9810BFDB12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9741" y="218172"/>
            <a:ext cx="343812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回顾与启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发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7BB98892-EDEE-234C-9416-6E7D59C95650}"/>
              </a:ext>
            </a:extLst>
          </p:cNvPr>
          <p:cNvSpPr txBox="1"/>
          <p:nvPr/>
        </p:nvSpPr>
        <p:spPr>
          <a:xfrm>
            <a:off x="781858" y="1225344"/>
            <a:ext cx="7598361" cy="2959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5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选取固定位置主元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（</a:t>
            </a: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如尾元素</a:t>
            </a:r>
            <a:r>
              <a:rPr sz="2800" spc="-5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）</a:t>
            </a:r>
            <a:endParaRPr lang="en-US" sz="2800" spc="-5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维护两个部分的右端点变量𝒊</a:t>
            </a:r>
            <a:r>
              <a:rPr lang="en-US" altLang="zh-CN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, 𝒋</a:t>
            </a: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考察数组元素</a:t>
            </a:r>
            <a:r>
              <a:rPr lang="zh-CN" altLang="en-US"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800" spc="-1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，只和主元比较</a:t>
            </a:r>
            <a:endParaRPr lang="zh-CN" altLang="en-US"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若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≤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lang="zh-CN" altLang="en-US"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，则交换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和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[𝒊</a:t>
            </a:r>
            <a:r>
              <a:rPr lang="zh-CN" altLang="en-US"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lang="en-US" altLang="zh-CN"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+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lang="en-US" altLang="zh-CN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]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𝒊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与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𝒋</a:t>
            </a:r>
            <a:r>
              <a:rPr lang="zh-CN" altLang="en-US" sz="2400" spc="-2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右移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若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lang="en-US" altLang="zh-CN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&gt;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lang="zh-CN" altLang="en-US"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，则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𝒋</a:t>
            </a:r>
            <a:r>
              <a:rPr lang="zh-CN" altLang="en-US" sz="2400" spc="-2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右移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3B3359E3-C40B-4842-9DD6-EE38F1673C3E}"/>
              </a:ext>
            </a:extLst>
          </p:cNvPr>
          <p:cNvSpPr txBox="1"/>
          <p:nvPr/>
        </p:nvSpPr>
        <p:spPr>
          <a:xfrm>
            <a:off x="7830057" y="3428238"/>
            <a:ext cx="5848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5">
                <a:latin typeface="PMingLiU"/>
                <a:cs typeface="PMingLiU"/>
              </a:rPr>
              <a:t>主元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6684A301-D53E-094F-9628-2AD8B71D51C6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1489C2C-BBC1-4F42-9CE4-E41612A569DE}"/>
              </a:ext>
            </a:extLst>
          </p:cNvPr>
          <p:cNvSpPr txBox="1"/>
          <p:nvPr/>
        </p:nvSpPr>
        <p:spPr>
          <a:xfrm>
            <a:off x="4231212" y="3773914"/>
            <a:ext cx="16833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835025" algn="ctr">
              <a:lnSpc>
                <a:spcPct val="100000"/>
              </a:lnSpc>
              <a:spcBef>
                <a:spcPts val="90"/>
              </a:spcBef>
            </a:pPr>
            <a:r>
              <a:rPr lang="en-US" altLang="zh-CN" sz="1800" b="1" dirty="0">
                <a:latin typeface="Times New Roman"/>
                <a:cs typeface="Times New Roman"/>
              </a:rPr>
              <a:t>6</a:t>
            </a:r>
            <a:r>
              <a:rPr lang="zh-CN" altLang="en-US" sz="1800" b="1" dirty="0">
                <a:latin typeface="Times New Roman"/>
                <a:cs typeface="Times New Roman"/>
              </a:rPr>
              <a:t> </a:t>
            </a:r>
            <a:r>
              <a:rPr lang="en-US" altLang="zh-CN" sz="1800" b="1" dirty="0">
                <a:latin typeface="Times New Roman"/>
                <a:cs typeface="Times New Roman"/>
              </a:rPr>
              <a:t>&gt;</a:t>
            </a:r>
            <a:r>
              <a:rPr lang="zh-CN" altLang="en-US" sz="1800" b="1" dirty="0">
                <a:latin typeface="Times New Roman"/>
                <a:cs typeface="Times New Roman"/>
              </a:rPr>
              <a:t> </a:t>
            </a:r>
            <a:r>
              <a:rPr lang="en-US" altLang="zh-CN" sz="1800" b="1" spc="-50" dirty="0">
                <a:latin typeface="Times New Roman"/>
                <a:cs typeface="Times New Roman"/>
              </a:rPr>
              <a:t>4</a:t>
            </a:r>
            <a:endParaRPr lang="zh-CN" altLang="en-US" sz="1800" dirty="0">
              <a:latin typeface="Times New Roman"/>
              <a:cs typeface="Times New Roman"/>
            </a:endParaRPr>
          </a:p>
        </p:txBody>
      </p:sp>
      <p:sp>
        <p:nvSpPr>
          <p:cNvPr id="19" name="object 5">
            <a:extLst>
              <a:ext uri="{FF2B5EF4-FFF2-40B4-BE49-F238E27FC236}">
                <a16:creationId xmlns:a16="http://schemas.microsoft.com/office/drawing/2014/main" id="{360D6590-8B24-8848-BAB8-119DFB01733E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EB1DBB87-E38F-BB44-81B6-323509A9DBC4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8" name="object 3">
            <a:extLst>
              <a:ext uri="{FF2B5EF4-FFF2-40B4-BE49-F238E27FC236}">
                <a16:creationId xmlns:a16="http://schemas.microsoft.com/office/drawing/2014/main" id="{796F38BD-5063-084B-B334-040ADAD0C595}"/>
              </a:ext>
            </a:extLst>
          </p:cNvPr>
          <p:cNvGraphicFramePr>
            <a:graphicFrameLocks noGrp="1"/>
          </p:cNvGraphicFramePr>
          <p:nvPr/>
        </p:nvGraphicFramePr>
        <p:xfrm>
          <a:off x="3772661" y="4178934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" name="object 6">
            <a:extLst>
              <a:ext uri="{FF2B5EF4-FFF2-40B4-BE49-F238E27FC236}">
                <a16:creationId xmlns:a16="http://schemas.microsoft.com/office/drawing/2014/main" id="{29C788C2-EC2E-F640-B4F8-7714C1166D7E}"/>
              </a:ext>
            </a:extLst>
          </p:cNvPr>
          <p:cNvSpPr/>
          <p:nvPr/>
        </p:nvSpPr>
        <p:spPr>
          <a:xfrm>
            <a:off x="3898391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7">
            <a:extLst>
              <a:ext uri="{FF2B5EF4-FFF2-40B4-BE49-F238E27FC236}">
                <a16:creationId xmlns:a16="http://schemas.microsoft.com/office/drawing/2014/main" id="{6AC9A0CA-9761-524B-805E-601347E3024D}"/>
              </a:ext>
            </a:extLst>
          </p:cNvPr>
          <p:cNvSpPr/>
          <p:nvPr/>
        </p:nvSpPr>
        <p:spPr>
          <a:xfrm>
            <a:off x="5203697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8">
            <a:extLst>
              <a:ext uri="{FF2B5EF4-FFF2-40B4-BE49-F238E27FC236}">
                <a16:creationId xmlns:a16="http://schemas.microsoft.com/office/drawing/2014/main" id="{52DC70BC-BE31-2548-8501-5C08EB2268B1}"/>
              </a:ext>
            </a:extLst>
          </p:cNvPr>
          <p:cNvSpPr txBox="1"/>
          <p:nvPr/>
        </p:nvSpPr>
        <p:spPr>
          <a:xfrm>
            <a:off x="3892041" y="5362075"/>
            <a:ext cx="129539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9" name="object 9">
            <a:extLst>
              <a:ext uri="{FF2B5EF4-FFF2-40B4-BE49-F238E27FC236}">
                <a16:creationId xmlns:a16="http://schemas.microsoft.com/office/drawing/2014/main" id="{D68C00E3-E100-E347-8589-3D2D837013EB}"/>
              </a:ext>
            </a:extLst>
          </p:cNvPr>
          <p:cNvSpPr txBox="1"/>
          <p:nvPr/>
        </p:nvSpPr>
        <p:spPr>
          <a:xfrm>
            <a:off x="5189982" y="5380109"/>
            <a:ext cx="134620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195714431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750B8349-B2FE-9D45-A05F-9810BFDB12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9741" y="218172"/>
            <a:ext cx="343812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回顾与启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发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7BB98892-EDEE-234C-9416-6E7D59C95650}"/>
              </a:ext>
            </a:extLst>
          </p:cNvPr>
          <p:cNvSpPr txBox="1"/>
          <p:nvPr/>
        </p:nvSpPr>
        <p:spPr>
          <a:xfrm>
            <a:off x="781858" y="1225344"/>
            <a:ext cx="7598361" cy="2959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5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选取固定位置主元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（</a:t>
            </a: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如尾元素</a:t>
            </a:r>
            <a:r>
              <a:rPr sz="2800" spc="-5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）</a:t>
            </a:r>
            <a:endParaRPr lang="en-US" sz="2800" spc="-5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维护两个部分的右端点变量𝒊</a:t>
            </a:r>
            <a:r>
              <a:rPr lang="en-US" altLang="zh-CN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, 𝒋</a:t>
            </a: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考察数组元素</a:t>
            </a:r>
            <a:r>
              <a:rPr lang="zh-CN" altLang="en-US"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800" spc="-1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，只和主元比较</a:t>
            </a:r>
            <a:endParaRPr lang="zh-CN" altLang="en-US"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若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≤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lang="zh-CN" altLang="en-US"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，则交换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和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[𝒊</a:t>
            </a:r>
            <a:r>
              <a:rPr lang="zh-CN" altLang="en-US"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lang="en-US" altLang="zh-CN"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+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lang="en-US" altLang="zh-CN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]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𝒊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与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𝒋</a:t>
            </a:r>
            <a:r>
              <a:rPr lang="zh-CN" altLang="en-US" sz="2400" spc="-2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右移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若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lang="en-US" altLang="zh-CN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&gt;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lang="zh-CN" altLang="en-US"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，则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𝒋</a:t>
            </a:r>
            <a:r>
              <a:rPr lang="zh-CN" altLang="en-US" sz="2400" spc="-2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右移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3B3359E3-C40B-4842-9DD6-EE38F1673C3E}"/>
              </a:ext>
            </a:extLst>
          </p:cNvPr>
          <p:cNvSpPr txBox="1"/>
          <p:nvPr/>
        </p:nvSpPr>
        <p:spPr>
          <a:xfrm>
            <a:off x="7830057" y="3428238"/>
            <a:ext cx="5848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5">
                <a:latin typeface="PMingLiU"/>
                <a:cs typeface="PMingLiU"/>
              </a:rPr>
              <a:t>主元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6684A301-D53E-094F-9628-2AD8B71D51C6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1489C2C-BBC1-4F42-9CE4-E41612A569DE}"/>
              </a:ext>
            </a:extLst>
          </p:cNvPr>
          <p:cNvSpPr txBox="1"/>
          <p:nvPr/>
        </p:nvSpPr>
        <p:spPr>
          <a:xfrm>
            <a:off x="4231212" y="3773914"/>
            <a:ext cx="16833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835025" algn="ctr">
              <a:lnSpc>
                <a:spcPct val="100000"/>
              </a:lnSpc>
              <a:spcBef>
                <a:spcPts val="90"/>
              </a:spcBef>
            </a:pPr>
            <a:r>
              <a:rPr lang="en-US" altLang="zh-CN" sz="1800" b="1" dirty="0">
                <a:latin typeface="Times New Roman"/>
                <a:cs typeface="Times New Roman"/>
              </a:rPr>
              <a:t>6</a:t>
            </a:r>
            <a:r>
              <a:rPr lang="zh-CN" altLang="en-US" sz="1800" b="1" dirty="0">
                <a:latin typeface="Times New Roman"/>
                <a:cs typeface="Times New Roman"/>
              </a:rPr>
              <a:t> </a:t>
            </a:r>
            <a:r>
              <a:rPr lang="en-US" altLang="zh-CN" sz="1800" b="1" dirty="0">
                <a:latin typeface="Times New Roman"/>
                <a:cs typeface="Times New Roman"/>
              </a:rPr>
              <a:t>&gt;</a:t>
            </a:r>
            <a:r>
              <a:rPr lang="zh-CN" altLang="en-US" sz="1800" b="1" dirty="0">
                <a:latin typeface="Times New Roman"/>
                <a:cs typeface="Times New Roman"/>
              </a:rPr>
              <a:t> </a:t>
            </a:r>
            <a:r>
              <a:rPr lang="en-US" altLang="zh-CN" sz="1800" b="1" spc="-50" dirty="0">
                <a:latin typeface="Times New Roman"/>
                <a:cs typeface="Times New Roman"/>
              </a:rPr>
              <a:t>4</a:t>
            </a:r>
            <a:endParaRPr lang="zh-CN" altLang="en-US" sz="1800" dirty="0">
              <a:latin typeface="Times New Roman"/>
              <a:cs typeface="Times New Roman"/>
            </a:endParaRPr>
          </a:p>
        </p:txBody>
      </p:sp>
      <p:sp>
        <p:nvSpPr>
          <p:cNvPr id="19" name="object 5">
            <a:extLst>
              <a:ext uri="{FF2B5EF4-FFF2-40B4-BE49-F238E27FC236}">
                <a16:creationId xmlns:a16="http://schemas.microsoft.com/office/drawing/2014/main" id="{360D6590-8B24-8848-BAB8-119DFB01733E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EB1DBB87-E38F-BB44-81B6-323509A9DBC4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8" name="object 3">
            <a:extLst>
              <a:ext uri="{FF2B5EF4-FFF2-40B4-BE49-F238E27FC236}">
                <a16:creationId xmlns:a16="http://schemas.microsoft.com/office/drawing/2014/main" id="{796F38BD-5063-084B-B334-040ADAD0C595}"/>
              </a:ext>
            </a:extLst>
          </p:cNvPr>
          <p:cNvGraphicFramePr>
            <a:graphicFrameLocks noGrp="1"/>
          </p:cNvGraphicFramePr>
          <p:nvPr/>
        </p:nvGraphicFramePr>
        <p:xfrm>
          <a:off x="3772661" y="4178934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" name="object 6">
            <a:extLst>
              <a:ext uri="{FF2B5EF4-FFF2-40B4-BE49-F238E27FC236}">
                <a16:creationId xmlns:a16="http://schemas.microsoft.com/office/drawing/2014/main" id="{29C788C2-EC2E-F640-B4F8-7714C1166D7E}"/>
              </a:ext>
            </a:extLst>
          </p:cNvPr>
          <p:cNvSpPr/>
          <p:nvPr/>
        </p:nvSpPr>
        <p:spPr>
          <a:xfrm>
            <a:off x="3898391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7">
            <a:extLst>
              <a:ext uri="{FF2B5EF4-FFF2-40B4-BE49-F238E27FC236}">
                <a16:creationId xmlns:a16="http://schemas.microsoft.com/office/drawing/2014/main" id="{6AC9A0CA-9761-524B-805E-601347E3024D}"/>
              </a:ext>
            </a:extLst>
          </p:cNvPr>
          <p:cNvSpPr/>
          <p:nvPr/>
        </p:nvSpPr>
        <p:spPr>
          <a:xfrm>
            <a:off x="4611411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8">
            <a:extLst>
              <a:ext uri="{FF2B5EF4-FFF2-40B4-BE49-F238E27FC236}">
                <a16:creationId xmlns:a16="http://schemas.microsoft.com/office/drawing/2014/main" id="{52DC70BC-BE31-2548-8501-5C08EB2268B1}"/>
              </a:ext>
            </a:extLst>
          </p:cNvPr>
          <p:cNvSpPr txBox="1"/>
          <p:nvPr/>
        </p:nvSpPr>
        <p:spPr>
          <a:xfrm>
            <a:off x="3892041" y="5362075"/>
            <a:ext cx="129539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9" name="object 9">
            <a:extLst>
              <a:ext uri="{FF2B5EF4-FFF2-40B4-BE49-F238E27FC236}">
                <a16:creationId xmlns:a16="http://schemas.microsoft.com/office/drawing/2014/main" id="{D68C00E3-E100-E347-8589-3D2D837013EB}"/>
              </a:ext>
            </a:extLst>
          </p:cNvPr>
          <p:cNvSpPr txBox="1"/>
          <p:nvPr/>
        </p:nvSpPr>
        <p:spPr>
          <a:xfrm>
            <a:off x="4597696" y="5380109"/>
            <a:ext cx="134620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369573634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750B8349-B2FE-9D45-A05F-9810BFDB12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9741" y="218172"/>
            <a:ext cx="343812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回顾与启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发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7BB98892-EDEE-234C-9416-6E7D59C95650}"/>
              </a:ext>
            </a:extLst>
          </p:cNvPr>
          <p:cNvSpPr txBox="1"/>
          <p:nvPr/>
        </p:nvSpPr>
        <p:spPr>
          <a:xfrm>
            <a:off x="781858" y="1225344"/>
            <a:ext cx="7598361" cy="2959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5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选取固定位置主元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（</a:t>
            </a: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如尾元素</a:t>
            </a:r>
            <a:r>
              <a:rPr sz="2800" spc="-5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）</a:t>
            </a:r>
            <a:endParaRPr lang="en-US" sz="2800" spc="-5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维护两个部分的右端点变量𝒊</a:t>
            </a:r>
            <a:r>
              <a:rPr lang="en-US" altLang="zh-CN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, 𝒋</a:t>
            </a: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考察数组元素</a:t>
            </a:r>
            <a:r>
              <a:rPr lang="zh-CN" altLang="en-US"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800" spc="-1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，只和主元比较</a:t>
            </a:r>
            <a:endParaRPr lang="zh-CN" altLang="en-US"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若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≤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lang="zh-CN" altLang="en-US"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，则交换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和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[𝒊</a:t>
            </a:r>
            <a:r>
              <a:rPr lang="zh-CN" altLang="en-US"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lang="en-US" altLang="zh-CN"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+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lang="en-US" altLang="zh-CN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]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𝒊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与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𝒋</a:t>
            </a:r>
            <a:r>
              <a:rPr lang="zh-CN" altLang="en-US" sz="2400" spc="-2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右移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若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lang="en-US" altLang="zh-CN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&gt;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lang="zh-CN" altLang="en-US"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，则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𝒋</a:t>
            </a:r>
            <a:r>
              <a:rPr lang="zh-CN" altLang="en-US" sz="2400" spc="-2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右移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3B3359E3-C40B-4842-9DD6-EE38F1673C3E}"/>
              </a:ext>
            </a:extLst>
          </p:cNvPr>
          <p:cNvSpPr txBox="1"/>
          <p:nvPr/>
        </p:nvSpPr>
        <p:spPr>
          <a:xfrm>
            <a:off x="7830057" y="3428238"/>
            <a:ext cx="5848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5">
                <a:latin typeface="PMingLiU"/>
                <a:cs typeface="PMingLiU"/>
              </a:rPr>
              <a:t>主元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6684A301-D53E-094F-9628-2AD8B71D51C6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1489C2C-BBC1-4F42-9CE4-E41612A569DE}"/>
              </a:ext>
            </a:extLst>
          </p:cNvPr>
          <p:cNvSpPr txBox="1"/>
          <p:nvPr/>
        </p:nvSpPr>
        <p:spPr>
          <a:xfrm>
            <a:off x="4750762" y="3773914"/>
            <a:ext cx="16833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835025" algn="ctr">
              <a:lnSpc>
                <a:spcPct val="100000"/>
              </a:lnSpc>
              <a:spcBef>
                <a:spcPts val="90"/>
              </a:spcBef>
            </a:pPr>
            <a:r>
              <a:rPr lang="en-US" altLang="zh-CN" sz="1800" b="1" dirty="0">
                <a:latin typeface="Times New Roman"/>
                <a:cs typeface="Times New Roman"/>
              </a:rPr>
              <a:t>7</a:t>
            </a:r>
            <a:r>
              <a:rPr lang="zh-CN" altLang="en-US" sz="1800" b="1" dirty="0">
                <a:latin typeface="Times New Roman"/>
                <a:cs typeface="Times New Roman"/>
              </a:rPr>
              <a:t> </a:t>
            </a:r>
            <a:r>
              <a:rPr lang="en-US" altLang="zh-CN" sz="1800" b="1" dirty="0">
                <a:latin typeface="Times New Roman"/>
                <a:cs typeface="Times New Roman"/>
              </a:rPr>
              <a:t>&gt;</a:t>
            </a:r>
            <a:r>
              <a:rPr lang="zh-CN" altLang="en-US" sz="1800" b="1" dirty="0">
                <a:latin typeface="Times New Roman"/>
                <a:cs typeface="Times New Roman"/>
              </a:rPr>
              <a:t> </a:t>
            </a:r>
            <a:r>
              <a:rPr lang="en-US" altLang="zh-CN" sz="1800" b="1" spc="-50" dirty="0">
                <a:latin typeface="Times New Roman"/>
                <a:cs typeface="Times New Roman"/>
              </a:rPr>
              <a:t>4</a:t>
            </a:r>
            <a:endParaRPr lang="zh-CN" altLang="en-US" sz="1800" dirty="0">
              <a:latin typeface="Times New Roman"/>
              <a:cs typeface="Times New Roman"/>
            </a:endParaRPr>
          </a:p>
        </p:txBody>
      </p:sp>
      <p:sp>
        <p:nvSpPr>
          <p:cNvPr id="19" name="object 5">
            <a:extLst>
              <a:ext uri="{FF2B5EF4-FFF2-40B4-BE49-F238E27FC236}">
                <a16:creationId xmlns:a16="http://schemas.microsoft.com/office/drawing/2014/main" id="{360D6590-8B24-8848-BAB8-119DFB01733E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EB1DBB87-E38F-BB44-81B6-323509A9DBC4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8" name="object 3">
            <a:extLst>
              <a:ext uri="{FF2B5EF4-FFF2-40B4-BE49-F238E27FC236}">
                <a16:creationId xmlns:a16="http://schemas.microsoft.com/office/drawing/2014/main" id="{796F38BD-5063-084B-B334-040ADAD0C595}"/>
              </a:ext>
            </a:extLst>
          </p:cNvPr>
          <p:cNvGraphicFramePr>
            <a:graphicFrameLocks noGrp="1"/>
          </p:cNvGraphicFramePr>
          <p:nvPr/>
        </p:nvGraphicFramePr>
        <p:xfrm>
          <a:off x="3772661" y="4178934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" name="object 6">
            <a:extLst>
              <a:ext uri="{FF2B5EF4-FFF2-40B4-BE49-F238E27FC236}">
                <a16:creationId xmlns:a16="http://schemas.microsoft.com/office/drawing/2014/main" id="{29C788C2-EC2E-F640-B4F8-7714C1166D7E}"/>
              </a:ext>
            </a:extLst>
          </p:cNvPr>
          <p:cNvSpPr/>
          <p:nvPr/>
        </p:nvSpPr>
        <p:spPr>
          <a:xfrm>
            <a:off x="3898391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7">
            <a:extLst>
              <a:ext uri="{FF2B5EF4-FFF2-40B4-BE49-F238E27FC236}">
                <a16:creationId xmlns:a16="http://schemas.microsoft.com/office/drawing/2014/main" id="{6AC9A0CA-9761-524B-805E-601347E3024D}"/>
              </a:ext>
            </a:extLst>
          </p:cNvPr>
          <p:cNvSpPr/>
          <p:nvPr/>
        </p:nvSpPr>
        <p:spPr>
          <a:xfrm>
            <a:off x="5203697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8">
            <a:extLst>
              <a:ext uri="{FF2B5EF4-FFF2-40B4-BE49-F238E27FC236}">
                <a16:creationId xmlns:a16="http://schemas.microsoft.com/office/drawing/2014/main" id="{52DC70BC-BE31-2548-8501-5C08EB2268B1}"/>
              </a:ext>
            </a:extLst>
          </p:cNvPr>
          <p:cNvSpPr txBox="1"/>
          <p:nvPr/>
        </p:nvSpPr>
        <p:spPr>
          <a:xfrm>
            <a:off x="3892041" y="5362075"/>
            <a:ext cx="129539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9" name="object 9">
            <a:extLst>
              <a:ext uri="{FF2B5EF4-FFF2-40B4-BE49-F238E27FC236}">
                <a16:creationId xmlns:a16="http://schemas.microsoft.com/office/drawing/2014/main" id="{D68C00E3-E100-E347-8589-3D2D837013EB}"/>
              </a:ext>
            </a:extLst>
          </p:cNvPr>
          <p:cNvSpPr txBox="1"/>
          <p:nvPr/>
        </p:nvSpPr>
        <p:spPr>
          <a:xfrm>
            <a:off x="5189982" y="5380109"/>
            <a:ext cx="134620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429375073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750B8349-B2FE-9D45-A05F-9810BFDB12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9741" y="218172"/>
            <a:ext cx="343812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回顾与启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发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7BB98892-EDEE-234C-9416-6E7D59C95650}"/>
              </a:ext>
            </a:extLst>
          </p:cNvPr>
          <p:cNvSpPr txBox="1"/>
          <p:nvPr/>
        </p:nvSpPr>
        <p:spPr>
          <a:xfrm>
            <a:off x="781858" y="1225344"/>
            <a:ext cx="7598361" cy="2959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5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选取固定位置主元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（</a:t>
            </a: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如尾元素</a:t>
            </a:r>
            <a:r>
              <a:rPr sz="2800" spc="-5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）</a:t>
            </a:r>
            <a:endParaRPr lang="en-US" sz="2800" spc="-5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维护两个部分的右端点变量𝒊</a:t>
            </a:r>
            <a:r>
              <a:rPr lang="en-US" altLang="zh-CN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, 𝒋</a:t>
            </a: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考察数组元素</a:t>
            </a:r>
            <a:r>
              <a:rPr lang="zh-CN" altLang="en-US"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800" spc="-1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，只和主元比较</a:t>
            </a:r>
            <a:endParaRPr lang="zh-CN" altLang="en-US"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若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≤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lang="zh-CN" altLang="en-US"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，则交换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和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[𝒊</a:t>
            </a:r>
            <a:r>
              <a:rPr lang="zh-CN" altLang="en-US"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lang="en-US" altLang="zh-CN"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+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lang="en-US" altLang="zh-CN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]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𝒊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与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𝒋</a:t>
            </a:r>
            <a:r>
              <a:rPr lang="zh-CN" altLang="en-US" sz="2400" spc="-2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右移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若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lang="en-US" altLang="zh-CN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&gt;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lang="zh-CN" altLang="en-US"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，则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𝒋</a:t>
            </a:r>
            <a:r>
              <a:rPr lang="zh-CN" altLang="en-US" sz="2400" spc="-2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右移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3B3359E3-C40B-4842-9DD6-EE38F1673C3E}"/>
              </a:ext>
            </a:extLst>
          </p:cNvPr>
          <p:cNvSpPr txBox="1"/>
          <p:nvPr/>
        </p:nvSpPr>
        <p:spPr>
          <a:xfrm>
            <a:off x="7830057" y="3428238"/>
            <a:ext cx="5848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5">
                <a:latin typeface="PMingLiU"/>
                <a:cs typeface="PMingLiU"/>
              </a:rPr>
              <a:t>主元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6684A301-D53E-094F-9628-2AD8B71D51C6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1489C2C-BBC1-4F42-9CE4-E41612A569DE}"/>
              </a:ext>
            </a:extLst>
          </p:cNvPr>
          <p:cNvSpPr txBox="1"/>
          <p:nvPr/>
        </p:nvSpPr>
        <p:spPr>
          <a:xfrm>
            <a:off x="4750762" y="3773914"/>
            <a:ext cx="16833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835025" algn="ctr">
              <a:lnSpc>
                <a:spcPct val="100000"/>
              </a:lnSpc>
              <a:spcBef>
                <a:spcPts val="90"/>
              </a:spcBef>
            </a:pPr>
            <a:r>
              <a:rPr lang="en-US" altLang="zh-CN" sz="1800" b="1" dirty="0">
                <a:latin typeface="Times New Roman"/>
                <a:cs typeface="Times New Roman"/>
              </a:rPr>
              <a:t>7</a:t>
            </a:r>
            <a:r>
              <a:rPr lang="zh-CN" altLang="en-US" sz="1800" b="1" dirty="0">
                <a:latin typeface="Times New Roman"/>
                <a:cs typeface="Times New Roman"/>
              </a:rPr>
              <a:t> </a:t>
            </a:r>
            <a:r>
              <a:rPr lang="en-US" altLang="zh-CN" sz="1800" b="1" dirty="0">
                <a:latin typeface="Times New Roman"/>
                <a:cs typeface="Times New Roman"/>
              </a:rPr>
              <a:t>&gt;</a:t>
            </a:r>
            <a:r>
              <a:rPr lang="zh-CN" altLang="en-US" sz="1800" b="1" dirty="0">
                <a:latin typeface="Times New Roman"/>
                <a:cs typeface="Times New Roman"/>
              </a:rPr>
              <a:t> </a:t>
            </a:r>
            <a:r>
              <a:rPr lang="en-US" altLang="zh-CN" sz="1800" b="1" spc="-50" dirty="0">
                <a:latin typeface="Times New Roman"/>
                <a:cs typeface="Times New Roman"/>
              </a:rPr>
              <a:t>4</a:t>
            </a:r>
            <a:endParaRPr lang="zh-CN" altLang="en-US" sz="1800" dirty="0">
              <a:latin typeface="Times New Roman"/>
              <a:cs typeface="Times New Roman"/>
            </a:endParaRPr>
          </a:p>
        </p:txBody>
      </p:sp>
      <p:sp>
        <p:nvSpPr>
          <p:cNvPr id="19" name="object 5">
            <a:extLst>
              <a:ext uri="{FF2B5EF4-FFF2-40B4-BE49-F238E27FC236}">
                <a16:creationId xmlns:a16="http://schemas.microsoft.com/office/drawing/2014/main" id="{360D6590-8B24-8848-BAB8-119DFB01733E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EB1DBB87-E38F-BB44-81B6-323509A9DBC4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6">
            <a:extLst>
              <a:ext uri="{FF2B5EF4-FFF2-40B4-BE49-F238E27FC236}">
                <a16:creationId xmlns:a16="http://schemas.microsoft.com/office/drawing/2014/main" id="{29C788C2-EC2E-F640-B4F8-7714C1166D7E}"/>
              </a:ext>
            </a:extLst>
          </p:cNvPr>
          <p:cNvSpPr/>
          <p:nvPr/>
        </p:nvSpPr>
        <p:spPr>
          <a:xfrm>
            <a:off x="3898391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7">
            <a:extLst>
              <a:ext uri="{FF2B5EF4-FFF2-40B4-BE49-F238E27FC236}">
                <a16:creationId xmlns:a16="http://schemas.microsoft.com/office/drawing/2014/main" id="{6AC9A0CA-9761-524B-805E-601347E3024D}"/>
              </a:ext>
            </a:extLst>
          </p:cNvPr>
          <p:cNvSpPr/>
          <p:nvPr/>
        </p:nvSpPr>
        <p:spPr>
          <a:xfrm>
            <a:off x="5203697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8">
            <a:extLst>
              <a:ext uri="{FF2B5EF4-FFF2-40B4-BE49-F238E27FC236}">
                <a16:creationId xmlns:a16="http://schemas.microsoft.com/office/drawing/2014/main" id="{52DC70BC-BE31-2548-8501-5C08EB2268B1}"/>
              </a:ext>
            </a:extLst>
          </p:cNvPr>
          <p:cNvSpPr txBox="1"/>
          <p:nvPr/>
        </p:nvSpPr>
        <p:spPr>
          <a:xfrm>
            <a:off x="3892041" y="5362075"/>
            <a:ext cx="129539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9" name="object 9">
            <a:extLst>
              <a:ext uri="{FF2B5EF4-FFF2-40B4-BE49-F238E27FC236}">
                <a16:creationId xmlns:a16="http://schemas.microsoft.com/office/drawing/2014/main" id="{D68C00E3-E100-E347-8589-3D2D837013EB}"/>
              </a:ext>
            </a:extLst>
          </p:cNvPr>
          <p:cNvSpPr txBox="1"/>
          <p:nvPr/>
        </p:nvSpPr>
        <p:spPr>
          <a:xfrm>
            <a:off x="5189982" y="5380109"/>
            <a:ext cx="134620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  <p:graphicFrame>
        <p:nvGraphicFramePr>
          <p:cNvPr id="15" name="object 3">
            <a:extLst>
              <a:ext uri="{FF2B5EF4-FFF2-40B4-BE49-F238E27FC236}">
                <a16:creationId xmlns:a16="http://schemas.microsoft.com/office/drawing/2014/main" id="{AE4A0246-0C35-454F-9ABD-BB5BFF1C4EBC}"/>
              </a:ext>
            </a:extLst>
          </p:cNvPr>
          <p:cNvGraphicFramePr>
            <a:graphicFrameLocks noGrp="1"/>
          </p:cNvGraphicFramePr>
          <p:nvPr/>
        </p:nvGraphicFramePr>
        <p:xfrm>
          <a:off x="3772661" y="4178934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522000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750B8349-B2FE-9D45-A05F-9810BFDB12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9741" y="218172"/>
            <a:ext cx="343812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回顾与启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发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7BB98892-EDEE-234C-9416-6E7D59C95650}"/>
              </a:ext>
            </a:extLst>
          </p:cNvPr>
          <p:cNvSpPr txBox="1"/>
          <p:nvPr/>
        </p:nvSpPr>
        <p:spPr>
          <a:xfrm>
            <a:off x="781858" y="1225344"/>
            <a:ext cx="7598361" cy="2959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5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选取固定位置主元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（</a:t>
            </a: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如尾元素</a:t>
            </a:r>
            <a:r>
              <a:rPr sz="2800" spc="-5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）</a:t>
            </a:r>
            <a:endParaRPr lang="en-US" sz="2800" spc="-5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维护两个部分的右端点变量𝒊</a:t>
            </a:r>
            <a:r>
              <a:rPr lang="en-US" altLang="zh-CN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, 𝒋</a:t>
            </a: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考察数组元素</a:t>
            </a:r>
            <a:r>
              <a:rPr lang="zh-CN" altLang="en-US"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800" spc="-1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，只和主元比较</a:t>
            </a:r>
            <a:endParaRPr lang="zh-CN" altLang="en-US"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若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≤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lang="zh-CN" altLang="en-US"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，则交换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和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[𝒊</a:t>
            </a:r>
            <a:r>
              <a:rPr lang="zh-CN" altLang="en-US"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lang="en-US" altLang="zh-CN"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+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lang="en-US" altLang="zh-CN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]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𝒊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与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𝒋</a:t>
            </a:r>
            <a:r>
              <a:rPr lang="zh-CN" altLang="en-US" sz="2400" spc="-2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右移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若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lang="en-US" altLang="zh-CN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&gt;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lang="zh-CN" altLang="en-US"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，则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𝒋</a:t>
            </a:r>
            <a:r>
              <a:rPr lang="zh-CN" altLang="en-US" sz="2400" spc="-2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右移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3B3359E3-C40B-4842-9DD6-EE38F1673C3E}"/>
              </a:ext>
            </a:extLst>
          </p:cNvPr>
          <p:cNvSpPr txBox="1"/>
          <p:nvPr/>
        </p:nvSpPr>
        <p:spPr>
          <a:xfrm>
            <a:off x="7830057" y="3428238"/>
            <a:ext cx="5848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5">
                <a:latin typeface="PMingLiU"/>
                <a:cs typeface="PMingLiU"/>
              </a:rPr>
              <a:t>主元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6684A301-D53E-094F-9628-2AD8B71D51C6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1489C2C-BBC1-4F42-9CE4-E41612A569DE}"/>
              </a:ext>
            </a:extLst>
          </p:cNvPr>
          <p:cNvSpPr txBox="1"/>
          <p:nvPr/>
        </p:nvSpPr>
        <p:spPr>
          <a:xfrm>
            <a:off x="5332657" y="3773914"/>
            <a:ext cx="16833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835025" algn="ctr">
              <a:lnSpc>
                <a:spcPct val="100000"/>
              </a:lnSpc>
              <a:spcBef>
                <a:spcPts val="90"/>
              </a:spcBef>
            </a:pPr>
            <a:r>
              <a:rPr lang="en-US" altLang="zh-CN" sz="1800" b="1" dirty="0">
                <a:latin typeface="Times New Roman"/>
                <a:cs typeface="Times New Roman"/>
              </a:rPr>
              <a:t>1 &lt; </a:t>
            </a:r>
            <a:r>
              <a:rPr lang="en-US" altLang="zh-CN" sz="1800" b="1" spc="-50" dirty="0">
                <a:latin typeface="Times New Roman"/>
                <a:cs typeface="Times New Roman"/>
              </a:rPr>
              <a:t>4</a:t>
            </a:r>
            <a:endParaRPr lang="zh-CN" altLang="en-US" sz="1800" dirty="0">
              <a:latin typeface="Times New Roman"/>
              <a:cs typeface="Times New Roman"/>
            </a:endParaRPr>
          </a:p>
        </p:txBody>
      </p:sp>
      <p:sp>
        <p:nvSpPr>
          <p:cNvPr id="19" name="object 5">
            <a:extLst>
              <a:ext uri="{FF2B5EF4-FFF2-40B4-BE49-F238E27FC236}">
                <a16:creationId xmlns:a16="http://schemas.microsoft.com/office/drawing/2014/main" id="{360D6590-8B24-8848-BAB8-119DFB01733E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EB1DBB87-E38F-BB44-81B6-323509A9DBC4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6">
            <a:extLst>
              <a:ext uri="{FF2B5EF4-FFF2-40B4-BE49-F238E27FC236}">
                <a16:creationId xmlns:a16="http://schemas.microsoft.com/office/drawing/2014/main" id="{29C788C2-EC2E-F640-B4F8-7714C1166D7E}"/>
              </a:ext>
            </a:extLst>
          </p:cNvPr>
          <p:cNvSpPr/>
          <p:nvPr/>
        </p:nvSpPr>
        <p:spPr>
          <a:xfrm>
            <a:off x="3898391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7">
            <a:extLst>
              <a:ext uri="{FF2B5EF4-FFF2-40B4-BE49-F238E27FC236}">
                <a16:creationId xmlns:a16="http://schemas.microsoft.com/office/drawing/2014/main" id="{6AC9A0CA-9761-524B-805E-601347E3024D}"/>
              </a:ext>
            </a:extLst>
          </p:cNvPr>
          <p:cNvSpPr/>
          <p:nvPr/>
        </p:nvSpPr>
        <p:spPr>
          <a:xfrm>
            <a:off x="5733638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8">
            <a:extLst>
              <a:ext uri="{FF2B5EF4-FFF2-40B4-BE49-F238E27FC236}">
                <a16:creationId xmlns:a16="http://schemas.microsoft.com/office/drawing/2014/main" id="{52DC70BC-BE31-2548-8501-5C08EB2268B1}"/>
              </a:ext>
            </a:extLst>
          </p:cNvPr>
          <p:cNvSpPr txBox="1"/>
          <p:nvPr/>
        </p:nvSpPr>
        <p:spPr>
          <a:xfrm>
            <a:off x="3892041" y="5362075"/>
            <a:ext cx="129539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9" name="object 9">
            <a:extLst>
              <a:ext uri="{FF2B5EF4-FFF2-40B4-BE49-F238E27FC236}">
                <a16:creationId xmlns:a16="http://schemas.microsoft.com/office/drawing/2014/main" id="{D68C00E3-E100-E347-8589-3D2D837013EB}"/>
              </a:ext>
            </a:extLst>
          </p:cNvPr>
          <p:cNvSpPr txBox="1"/>
          <p:nvPr/>
        </p:nvSpPr>
        <p:spPr>
          <a:xfrm>
            <a:off x="5719923" y="5380109"/>
            <a:ext cx="134620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  <p:graphicFrame>
        <p:nvGraphicFramePr>
          <p:cNvPr id="15" name="object 3">
            <a:extLst>
              <a:ext uri="{FF2B5EF4-FFF2-40B4-BE49-F238E27FC236}">
                <a16:creationId xmlns:a16="http://schemas.microsoft.com/office/drawing/2014/main" id="{AE4A0246-0C35-454F-9ABD-BB5BFF1C4EBC}"/>
              </a:ext>
            </a:extLst>
          </p:cNvPr>
          <p:cNvGraphicFramePr>
            <a:graphicFrameLocks noGrp="1"/>
          </p:cNvGraphicFramePr>
          <p:nvPr/>
        </p:nvGraphicFramePr>
        <p:xfrm>
          <a:off x="3772661" y="4178934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340465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750B8349-B2FE-9D45-A05F-9810BFDB12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9741" y="218172"/>
            <a:ext cx="343812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回顾与启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发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7BB98892-EDEE-234C-9416-6E7D59C95650}"/>
              </a:ext>
            </a:extLst>
          </p:cNvPr>
          <p:cNvSpPr txBox="1"/>
          <p:nvPr/>
        </p:nvSpPr>
        <p:spPr>
          <a:xfrm>
            <a:off x="781858" y="1225344"/>
            <a:ext cx="7598361" cy="2959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5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选取固定位置主元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（</a:t>
            </a: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如尾元素</a:t>
            </a:r>
            <a:r>
              <a:rPr sz="2800" spc="-5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）</a:t>
            </a:r>
            <a:endParaRPr lang="en-US" sz="2800" spc="-5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维护两个部分的右端点变量𝒊</a:t>
            </a:r>
            <a:r>
              <a:rPr lang="en-US" altLang="zh-CN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, 𝒋</a:t>
            </a: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考察数组元素</a:t>
            </a:r>
            <a:r>
              <a:rPr lang="zh-CN" altLang="en-US"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800" spc="-1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，只和主元比较</a:t>
            </a:r>
            <a:endParaRPr lang="zh-CN" altLang="en-US"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若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≤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lang="zh-CN" altLang="en-US"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，则交换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和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[𝒊</a:t>
            </a:r>
            <a:r>
              <a:rPr lang="zh-CN" altLang="en-US"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lang="en-US" altLang="zh-CN"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+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lang="en-US" altLang="zh-CN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]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𝒊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与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𝒋</a:t>
            </a:r>
            <a:r>
              <a:rPr lang="zh-CN" altLang="en-US" sz="2400" spc="-2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右移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若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lang="en-US" altLang="zh-CN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&gt;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lang="zh-CN" altLang="en-US"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，则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𝒋</a:t>
            </a:r>
            <a:r>
              <a:rPr lang="zh-CN" altLang="en-US" sz="2400" spc="-2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右移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3B3359E3-C40B-4842-9DD6-EE38F1673C3E}"/>
              </a:ext>
            </a:extLst>
          </p:cNvPr>
          <p:cNvSpPr txBox="1"/>
          <p:nvPr/>
        </p:nvSpPr>
        <p:spPr>
          <a:xfrm>
            <a:off x="7830057" y="3428238"/>
            <a:ext cx="5848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5">
                <a:latin typeface="PMingLiU"/>
                <a:cs typeface="PMingLiU"/>
              </a:rPr>
              <a:t>主元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6684A301-D53E-094F-9628-2AD8B71D51C6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1489C2C-BBC1-4F42-9CE4-E41612A569DE}"/>
              </a:ext>
            </a:extLst>
          </p:cNvPr>
          <p:cNvSpPr txBox="1"/>
          <p:nvPr/>
        </p:nvSpPr>
        <p:spPr>
          <a:xfrm>
            <a:off x="5332657" y="3773914"/>
            <a:ext cx="16833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835025" algn="ctr">
              <a:lnSpc>
                <a:spcPct val="100000"/>
              </a:lnSpc>
              <a:spcBef>
                <a:spcPts val="90"/>
              </a:spcBef>
            </a:pPr>
            <a:r>
              <a:rPr lang="en-US" altLang="zh-CN" sz="1800" b="1" dirty="0">
                <a:latin typeface="Times New Roman"/>
                <a:cs typeface="Times New Roman"/>
              </a:rPr>
              <a:t>1 &lt; </a:t>
            </a:r>
            <a:r>
              <a:rPr lang="en-US" altLang="zh-CN" sz="1800" b="1" spc="-50" dirty="0">
                <a:latin typeface="Times New Roman"/>
                <a:cs typeface="Times New Roman"/>
              </a:rPr>
              <a:t>4</a:t>
            </a:r>
            <a:endParaRPr lang="zh-CN" altLang="en-US" sz="1800" dirty="0">
              <a:latin typeface="Times New Roman"/>
              <a:cs typeface="Times New Roman"/>
            </a:endParaRPr>
          </a:p>
        </p:txBody>
      </p:sp>
      <p:sp>
        <p:nvSpPr>
          <p:cNvPr id="19" name="object 5">
            <a:extLst>
              <a:ext uri="{FF2B5EF4-FFF2-40B4-BE49-F238E27FC236}">
                <a16:creationId xmlns:a16="http://schemas.microsoft.com/office/drawing/2014/main" id="{360D6590-8B24-8848-BAB8-119DFB01733E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EB1DBB87-E38F-BB44-81B6-323509A9DBC4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6">
            <a:extLst>
              <a:ext uri="{FF2B5EF4-FFF2-40B4-BE49-F238E27FC236}">
                <a16:creationId xmlns:a16="http://schemas.microsoft.com/office/drawing/2014/main" id="{29C788C2-EC2E-F640-B4F8-7714C1166D7E}"/>
              </a:ext>
            </a:extLst>
          </p:cNvPr>
          <p:cNvSpPr/>
          <p:nvPr/>
        </p:nvSpPr>
        <p:spPr>
          <a:xfrm>
            <a:off x="3898391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7">
            <a:extLst>
              <a:ext uri="{FF2B5EF4-FFF2-40B4-BE49-F238E27FC236}">
                <a16:creationId xmlns:a16="http://schemas.microsoft.com/office/drawing/2014/main" id="{6AC9A0CA-9761-524B-805E-601347E3024D}"/>
              </a:ext>
            </a:extLst>
          </p:cNvPr>
          <p:cNvSpPr/>
          <p:nvPr/>
        </p:nvSpPr>
        <p:spPr>
          <a:xfrm>
            <a:off x="5733638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8">
            <a:extLst>
              <a:ext uri="{FF2B5EF4-FFF2-40B4-BE49-F238E27FC236}">
                <a16:creationId xmlns:a16="http://schemas.microsoft.com/office/drawing/2014/main" id="{52DC70BC-BE31-2548-8501-5C08EB2268B1}"/>
              </a:ext>
            </a:extLst>
          </p:cNvPr>
          <p:cNvSpPr txBox="1"/>
          <p:nvPr/>
        </p:nvSpPr>
        <p:spPr>
          <a:xfrm>
            <a:off x="3892041" y="5362075"/>
            <a:ext cx="129539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9" name="object 9">
            <a:extLst>
              <a:ext uri="{FF2B5EF4-FFF2-40B4-BE49-F238E27FC236}">
                <a16:creationId xmlns:a16="http://schemas.microsoft.com/office/drawing/2014/main" id="{D68C00E3-E100-E347-8589-3D2D837013EB}"/>
              </a:ext>
            </a:extLst>
          </p:cNvPr>
          <p:cNvSpPr txBox="1"/>
          <p:nvPr/>
        </p:nvSpPr>
        <p:spPr>
          <a:xfrm>
            <a:off x="5719923" y="5380109"/>
            <a:ext cx="134620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  <p:graphicFrame>
        <p:nvGraphicFramePr>
          <p:cNvPr id="15" name="object 3">
            <a:extLst>
              <a:ext uri="{FF2B5EF4-FFF2-40B4-BE49-F238E27FC236}">
                <a16:creationId xmlns:a16="http://schemas.microsoft.com/office/drawing/2014/main" id="{AE4A0246-0C35-454F-9ABD-BB5BFF1C4EBC}"/>
              </a:ext>
            </a:extLst>
          </p:cNvPr>
          <p:cNvGraphicFramePr>
            <a:graphicFrameLocks noGrp="1"/>
          </p:cNvGraphicFramePr>
          <p:nvPr/>
        </p:nvGraphicFramePr>
        <p:xfrm>
          <a:off x="3772661" y="4178934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object 7">
            <a:extLst>
              <a:ext uri="{FF2B5EF4-FFF2-40B4-BE49-F238E27FC236}">
                <a16:creationId xmlns:a16="http://schemas.microsoft.com/office/drawing/2014/main" id="{037A19DF-7A59-E040-A0BE-91DDC37E7169}"/>
              </a:ext>
            </a:extLst>
          </p:cNvPr>
          <p:cNvSpPr/>
          <p:nvPr/>
        </p:nvSpPr>
        <p:spPr>
          <a:xfrm>
            <a:off x="4552811" y="4791455"/>
            <a:ext cx="1304290" cy="384175"/>
          </a:xfrm>
          <a:custGeom>
            <a:avLst/>
            <a:gdLst/>
            <a:ahLst/>
            <a:cxnLst/>
            <a:rect l="l" t="t" r="r" b="b"/>
            <a:pathLst>
              <a:path w="1304289" h="384175">
                <a:moveTo>
                  <a:pt x="1162050" y="96012"/>
                </a:moveTo>
                <a:lnTo>
                  <a:pt x="1066038" y="0"/>
                </a:lnTo>
                <a:lnTo>
                  <a:pt x="970026" y="96012"/>
                </a:lnTo>
                <a:lnTo>
                  <a:pt x="1046099" y="96012"/>
                </a:lnTo>
                <a:lnTo>
                  <a:pt x="1046099" y="344297"/>
                </a:lnTo>
                <a:lnTo>
                  <a:pt x="564642" y="344297"/>
                </a:lnTo>
                <a:lnTo>
                  <a:pt x="537210" y="344297"/>
                </a:lnTo>
                <a:lnTo>
                  <a:pt x="115951" y="344297"/>
                </a:lnTo>
                <a:lnTo>
                  <a:pt x="115951" y="96012"/>
                </a:lnTo>
                <a:lnTo>
                  <a:pt x="192024" y="96012"/>
                </a:lnTo>
                <a:lnTo>
                  <a:pt x="96012" y="0"/>
                </a:lnTo>
                <a:lnTo>
                  <a:pt x="0" y="96012"/>
                </a:lnTo>
                <a:lnTo>
                  <a:pt x="76073" y="96012"/>
                </a:lnTo>
                <a:lnTo>
                  <a:pt x="76073" y="384048"/>
                </a:lnTo>
                <a:lnTo>
                  <a:pt x="537210" y="384048"/>
                </a:lnTo>
                <a:lnTo>
                  <a:pt x="564642" y="384048"/>
                </a:lnTo>
                <a:lnTo>
                  <a:pt x="1085977" y="384048"/>
                </a:lnTo>
                <a:lnTo>
                  <a:pt x="1085977" y="96012"/>
                </a:lnTo>
                <a:lnTo>
                  <a:pt x="1162050" y="96012"/>
                </a:lnTo>
                <a:close/>
              </a:path>
              <a:path w="1304289" h="384175">
                <a:moveTo>
                  <a:pt x="1303782" y="190500"/>
                </a:moveTo>
                <a:lnTo>
                  <a:pt x="1294257" y="171450"/>
                </a:lnTo>
                <a:lnTo>
                  <a:pt x="1246632" y="76200"/>
                </a:lnTo>
                <a:lnTo>
                  <a:pt x="1189482" y="190500"/>
                </a:lnTo>
                <a:lnTo>
                  <a:pt x="1227582" y="190500"/>
                </a:lnTo>
                <a:lnTo>
                  <a:pt x="1227582" y="368046"/>
                </a:lnTo>
                <a:lnTo>
                  <a:pt x="1265682" y="368046"/>
                </a:lnTo>
                <a:lnTo>
                  <a:pt x="1265682" y="190500"/>
                </a:lnTo>
                <a:lnTo>
                  <a:pt x="1303782" y="190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8">
            <a:extLst>
              <a:ext uri="{FF2B5EF4-FFF2-40B4-BE49-F238E27FC236}">
                <a16:creationId xmlns:a16="http://schemas.microsoft.com/office/drawing/2014/main" id="{02B7AFB8-FB0E-5E41-BF75-430C921E4AAD}"/>
              </a:ext>
            </a:extLst>
          </p:cNvPr>
          <p:cNvSpPr txBox="1"/>
          <p:nvPr/>
        </p:nvSpPr>
        <p:spPr>
          <a:xfrm>
            <a:off x="4869179" y="5221254"/>
            <a:ext cx="58483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10"/>
              </a:lnSpc>
            </a:pPr>
            <a:r>
              <a:rPr sz="2200" spc="-25" dirty="0" err="1">
                <a:latin typeface="PMingLiU"/>
                <a:cs typeface="PMingLiU"/>
              </a:rPr>
              <a:t>交换</a:t>
            </a:r>
            <a:endParaRPr sz="2200" dirty="0">
              <a:latin typeface="PMingLiU"/>
              <a:cs typeface="PMingLiU"/>
            </a:endParaRPr>
          </a:p>
        </p:txBody>
      </p:sp>
    </p:spTree>
    <p:extLst>
      <p:ext uri="{BB962C8B-B14F-4D97-AF65-F5344CB8AC3E}">
        <p14:creationId xmlns:p14="http://schemas.microsoft.com/office/powerpoint/2010/main" val="102403399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750B8349-B2FE-9D45-A05F-9810BFDB12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9741" y="218172"/>
            <a:ext cx="343812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回顾与启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发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7BB98892-EDEE-234C-9416-6E7D59C95650}"/>
              </a:ext>
            </a:extLst>
          </p:cNvPr>
          <p:cNvSpPr txBox="1"/>
          <p:nvPr/>
        </p:nvSpPr>
        <p:spPr>
          <a:xfrm>
            <a:off x="781858" y="1225344"/>
            <a:ext cx="7598361" cy="2959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5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选取固定位置主元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（</a:t>
            </a: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如尾元素</a:t>
            </a:r>
            <a:r>
              <a:rPr sz="2800" spc="-5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）</a:t>
            </a:r>
            <a:endParaRPr lang="en-US" sz="2800" spc="-5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维护两个部分的右端点变量𝒊</a:t>
            </a:r>
            <a:r>
              <a:rPr lang="en-US" altLang="zh-CN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, 𝒋</a:t>
            </a: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考察数组元素</a:t>
            </a:r>
            <a:r>
              <a:rPr lang="zh-CN" altLang="en-US"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800" spc="-1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，只和主元比较</a:t>
            </a:r>
            <a:endParaRPr lang="zh-CN" altLang="en-US"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若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≤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lang="zh-CN" altLang="en-US"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，则交换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和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[𝒊</a:t>
            </a:r>
            <a:r>
              <a:rPr lang="zh-CN" altLang="en-US"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lang="en-US" altLang="zh-CN"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+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lang="en-US" altLang="zh-CN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]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𝒊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与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𝒋</a:t>
            </a:r>
            <a:r>
              <a:rPr lang="zh-CN" altLang="en-US" sz="2400" spc="-2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右移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若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lang="en-US" altLang="zh-CN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&gt;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lang="zh-CN" altLang="en-US"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，则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𝒋</a:t>
            </a:r>
            <a:r>
              <a:rPr lang="zh-CN" altLang="en-US" sz="2400" spc="-2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右移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3B3359E3-C40B-4842-9DD6-EE38F1673C3E}"/>
              </a:ext>
            </a:extLst>
          </p:cNvPr>
          <p:cNvSpPr txBox="1"/>
          <p:nvPr/>
        </p:nvSpPr>
        <p:spPr>
          <a:xfrm>
            <a:off x="7830057" y="3428238"/>
            <a:ext cx="5848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5">
                <a:latin typeface="PMingLiU"/>
                <a:cs typeface="PMingLiU"/>
              </a:rPr>
              <a:t>主元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6684A301-D53E-094F-9628-2AD8B71D51C6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5">
            <a:extLst>
              <a:ext uri="{FF2B5EF4-FFF2-40B4-BE49-F238E27FC236}">
                <a16:creationId xmlns:a16="http://schemas.microsoft.com/office/drawing/2014/main" id="{360D6590-8B24-8848-BAB8-119DFB01733E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EB1DBB87-E38F-BB44-81B6-323509A9DBC4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0" name="object 4">
            <a:extLst>
              <a:ext uri="{FF2B5EF4-FFF2-40B4-BE49-F238E27FC236}">
                <a16:creationId xmlns:a16="http://schemas.microsoft.com/office/drawing/2014/main" id="{73F312EF-5C7A-9744-ADEA-D682EBCE7B34}"/>
              </a:ext>
            </a:extLst>
          </p:cNvPr>
          <p:cNvGraphicFramePr>
            <a:graphicFrameLocks noGrp="1"/>
          </p:cNvGraphicFramePr>
          <p:nvPr/>
        </p:nvGraphicFramePr>
        <p:xfrm>
          <a:off x="3772661" y="4178934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object 6">
            <a:extLst>
              <a:ext uri="{FF2B5EF4-FFF2-40B4-BE49-F238E27FC236}">
                <a16:creationId xmlns:a16="http://schemas.microsoft.com/office/drawing/2014/main" id="{76CE008C-6173-4F4E-BD71-1B3FC4D0320F}"/>
              </a:ext>
            </a:extLst>
          </p:cNvPr>
          <p:cNvSpPr/>
          <p:nvPr/>
        </p:nvSpPr>
        <p:spPr>
          <a:xfrm>
            <a:off x="3898391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7">
            <a:extLst>
              <a:ext uri="{FF2B5EF4-FFF2-40B4-BE49-F238E27FC236}">
                <a16:creationId xmlns:a16="http://schemas.microsoft.com/office/drawing/2014/main" id="{364F6548-B6AF-C149-A131-E60BC3035D21}"/>
              </a:ext>
            </a:extLst>
          </p:cNvPr>
          <p:cNvSpPr/>
          <p:nvPr/>
        </p:nvSpPr>
        <p:spPr>
          <a:xfrm>
            <a:off x="4604766" y="4791455"/>
            <a:ext cx="1304290" cy="384175"/>
          </a:xfrm>
          <a:custGeom>
            <a:avLst/>
            <a:gdLst/>
            <a:ahLst/>
            <a:cxnLst/>
            <a:rect l="l" t="t" r="r" b="b"/>
            <a:pathLst>
              <a:path w="1304289" h="384175">
                <a:moveTo>
                  <a:pt x="1162050" y="96012"/>
                </a:moveTo>
                <a:lnTo>
                  <a:pt x="1066038" y="0"/>
                </a:lnTo>
                <a:lnTo>
                  <a:pt x="970026" y="96012"/>
                </a:lnTo>
                <a:lnTo>
                  <a:pt x="1046099" y="96012"/>
                </a:lnTo>
                <a:lnTo>
                  <a:pt x="1046099" y="344297"/>
                </a:lnTo>
                <a:lnTo>
                  <a:pt x="564642" y="344297"/>
                </a:lnTo>
                <a:lnTo>
                  <a:pt x="537210" y="344297"/>
                </a:lnTo>
                <a:lnTo>
                  <a:pt x="115951" y="344297"/>
                </a:lnTo>
                <a:lnTo>
                  <a:pt x="115951" y="96012"/>
                </a:lnTo>
                <a:lnTo>
                  <a:pt x="192024" y="96012"/>
                </a:lnTo>
                <a:lnTo>
                  <a:pt x="96012" y="0"/>
                </a:lnTo>
                <a:lnTo>
                  <a:pt x="0" y="96012"/>
                </a:lnTo>
                <a:lnTo>
                  <a:pt x="76073" y="96012"/>
                </a:lnTo>
                <a:lnTo>
                  <a:pt x="76073" y="384048"/>
                </a:lnTo>
                <a:lnTo>
                  <a:pt x="537210" y="384048"/>
                </a:lnTo>
                <a:lnTo>
                  <a:pt x="564642" y="384048"/>
                </a:lnTo>
                <a:lnTo>
                  <a:pt x="1085977" y="384048"/>
                </a:lnTo>
                <a:lnTo>
                  <a:pt x="1085977" y="96012"/>
                </a:lnTo>
                <a:lnTo>
                  <a:pt x="1162050" y="96012"/>
                </a:lnTo>
                <a:close/>
              </a:path>
              <a:path w="1304289" h="384175">
                <a:moveTo>
                  <a:pt x="1303782" y="190500"/>
                </a:moveTo>
                <a:lnTo>
                  <a:pt x="1294257" y="171450"/>
                </a:lnTo>
                <a:lnTo>
                  <a:pt x="1246632" y="76200"/>
                </a:lnTo>
                <a:lnTo>
                  <a:pt x="1189482" y="190500"/>
                </a:lnTo>
                <a:lnTo>
                  <a:pt x="1227582" y="190500"/>
                </a:lnTo>
                <a:lnTo>
                  <a:pt x="1227582" y="368046"/>
                </a:lnTo>
                <a:lnTo>
                  <a:pt x="1265682" y="368046"/>
                </a:lnTo>
                <a:lnTo>
                  <a:pt x="1265682" y="190500"/>
                </a:lnTo>
                <a:lnTo>
                  <a:pt x="1303782" y="190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8">
            <a:extLst>
              <a:ext uri="{FF2B5EF4-FFF2-40B4-BE49-F238E27FC236}">
                <a16:creationId xmlns:a16="http://schemas.microsoft.com/office/drawing/2014/main" id="{2F1BC161-F613-8E4D-A6C8-42EF0F44877E}"/>
              </a:ext>
            </a:extLst>
          </p:cNvPr>
          <p:cNvSpPr txBox="1"/>
          <p:nvPr/>
        </p:nvSpPr>
        <p:spPr>
          <a:xfrm>
            <a:off x="4869179" y="5221254"/>
            <a:ext cx="58483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10"/>
              </a:lnSpc>
            </a:pPr>
            <a:r>
              <a:rPr sz="2200" spc="-25">
                <a:latin typeface="PMingLiU"/>
                <a:cs typeface="PMingLiU"/>
              </a:rPr>
              <a:t>交换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24" name="object 9">
            <a:extLst>
              <a:ext uri="{FF2B5EF4-FFF2-40B4-BE49-F238E27FC236}">
                <a16:creationId xmlns:a16="http://schemas.microsoft.com/office/drawing/2014/main" id="{071BAFAD-75E4-BA4C-A723-264AC405B7CD}"/>
              </a:ext>
            </a:extLst>
          </p:cNvPr>
          <p:cNvSpPr txBox="1"/>
          <p:nvPr/>
        </p:nvSpPr>
        <p:spPr>
          <a:xfrm>
            <a:off x="3892041" y="5362075"/>
            <a:ext cx="129539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5" name="object 10">
            <a:extLst>
              <a:ext uri="{FF2B5EF4-FFF2-40B4-BE49-F238E27FC236}">
                <a16:creationId xmlns:a16="http://schemas.microsoft.com/office/drawing/2014/main" id="{F985F0D9-C950-AA48-B41E-E49F9F961C44}"/>
              </a:ext>
            </a:extLst>
          </p:cNvPr>
          <p:cNvSpPr txBox="1"/>
          <p:nvPr/>
        </p:nvSpPr>
        <p:spPr>
          <a:xfrm>
            <a:off x="5778500" y="5380109"/>
            <a:ext cx="134620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186498731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750B8349-B2FE-9D45-A05F-9810BFDB12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9741" y="218172"/>
            <a:ext cx="343812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回顾与启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发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7BB98892-EDEE-234C-9416-6E7D59C95650}"/>
              </a:ext>
            </a:extLst>
          </p:cNvPr>
          <p:cNvSpPr txBox="1"/>
          <p:nvPr/>
        </p:nvSpPr>
        <p:spPr>
          <a:xfrm>
            <a:off x="781858" y="1225344"/>
            <a:ext cx="7598361" cy="2959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5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选取固定位置主元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（</a:t>
            </a: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如尾元素</a:t>
            </a:r>
            <a:r>
              <a:rPr sz="2800" spc="-5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）</a:t>
            </a:r>
            <a:endParaRPr lang="en-US" sz="2800" spc="-5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维护两个部分的右端点变量𝒊</a:t>
            </a:r>
            <a:r>
              <a:rPr lang="en-US" altLang="zh-CN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, 𝒋</a:t>
            </a: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考察数组元素</a:t>
            </a:r>
            <a:r>
              <a:rPr lang="zh-CN" altLang="en-US"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800" spc="-1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，只和主元比较</a:t>
            </a:r>
            <a:endParaRPr lang="zh-CN" altLang="en-US"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若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≤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lang="zh-CN" altLang="en-US"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，则交换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和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[𝒊</a:t>
            </a:r>
            <a:r>
              <a:rPr lang="zh-CN" altLang="en-US"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lang="en-US" altLang="zh-CN"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+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lang="en-US" altLang="zh-CN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]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𝒊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与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𝒋</a:t>
            </a:r>
            <a:r>
              <a:rPr lang="zh-CN" altLang="en-US" sz="2400" spc="-2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右移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若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lang="en-US" altLang="zh-CN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&gt;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lang="zh-CN" altLang="en-US"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，则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𝒋</a:t>
            </a:r>
            <a:r>
              <a:rPr lang="zh-CN" altLang="en-US" sz="2400" spc="-2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右移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3B3359E3-C40B-4842-9DD6-EE38F1673C3E}"/>
              </a:ext>
            </a:extLst>
          </p:cNvPr>
          <p:cNvSpPr txBox="1"/>
          <p:nvPr/>
        </p:nvSpPr>
        <p:spPr>
          <a:xfrm>
            <a:off x="7830057" y="3428238"/>
            <a:ext cx="5848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5">
                <a:latin typeface="PMingLiU"/>
                <a:cs typeface="PMingLiU"/>
              </a:rPr>
              <a:t>主元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6684A301-D53E-094F-9628-2AD8B71D51C6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5">
            <a:extLst>
              <a:ext uri="{FF2B5EF4-FFF2-40B4-BE49-F238E27FC236}">
                <a16:creationId xmlns:a16="http://schemas.microsoft.com/office/drawing/2014/main" id="{360D6590-8B24-8848-BAB8-119DFB01733E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EB1DBB87-E38F-BB44-81B6-323509A9DBC4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6" name="object 4">
            <a:extLst>
              <a:ext uri="{FF2B5EF4-FFF2-40B4-BE49-F238E27FC236}">
                <a16:creationId xmlns:a16="http://schemas.microsoft.com/office/drawing/2014/main" id="{5994ED03-9FB4-B643-BC35-4D0774A8F4BA}"/>
              </a:ext>
            </a:extLst>
          </p:cNvPr>
          <p:cNvGraphicFramePr>
            <a:graphicFrameLocks noGrp="1"/>
          </p:cNvGraphicFramePr>
          <p:nvPr/>
        </p:nvGraphicFramePr>
        <p:xfrm>
          <a:off x="3772661" y="4178934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object 6">
            <a:extLst>
              <a:ext uri="{FF2B5EF4-FFF2-40B4-BE49-F238E27FC236}">
                <a16:creationId xmlns:a16="http://schemas.microsoft.com/office/drawing/2014/main" id="{65DA09BF-44DC-5947-A9A1-D7C607761886}"/>
              </a:ext>
            </a:extLst>
          </p:cNvPr>
          <p:cNvSpPr/>
          <p:nvPr/>
        </p:nvSpPr>
        <p:spPr>
          <a:xfrm>
            <a:off x="4559808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7">
            <a:extLst>
              <a:ext uri="{FF2B5EF4-FFF2-40B4-BE49-F238E27FC236}">
                <a16:creationId xmlns:a16="http://schemas.microsoft.com/office/drawing/2014/main" id="{7428A443-B6CA-B645-80E3-C44AEF5A0783}"/>
              </a:ext>
            </a:extLst>
          </p:cNvPr>
          <p:cNvSpPr/>
          <p:nvPr/>
        </p:nvSpPr>
        <p:spPr>
          <a:xfrm>
            <a:off x="5794247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8">
            <a:extLst>
              <a:ext uri="{FF2B5EF4-FFF2-40B4-BE49-F238E27FC236}">
                <a16:creationId xmlns:a16="http://schemas.microsoft.com/office/drawing/2014/main" id="{4C9B7929-C331-DD41-A6F4-4039FCBF6337}"/>
              </a:ext>
            </a:extLst>
          </p:cNvPr>
          <p:cNvSpPr txBox="1"/>
          <p:nvPr/>
        </p:nvSpPr>
        <p:spPr>
          <a:xfrm>
            <a:off x="4536440" y="5362075"/>
            <a:ext cx="129539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7" name="object 9">
            <a:extLst>
              <a:ext uri="{FF2B5EF4-FFF2-40B4-BE49-F238E27FC236}">
                <a16:creationId xmlns:a16="http://schemas.microsoft.com/office/drawing/2014/main" id="{BB0DBFE7-B9E4-DB4C-859E-6F4A2631B0CD}"/>
              </a:ext>
            </a:extLst>
          </p:cNvPr>
          <p:cNvSpPr txBox="1"/>
          <p:nvPr/>
        </p:nvSpPr>
        <p:spPr>
          <a:xfrm>
            <a:off x="5778500" y="5380109"/>
            <a:ext cx="134620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133077957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750B8349-B2FE-9D45-A05F-9810BFDB12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9741" y="218172"/>
            <a:ext cx="343812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回顾与启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发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7BB98892-EDEE-234C-9416-6E7D59C95650}"/>
              </a:ext>
            </a:extLst>
          </p:cNvPr>
          <p:cNvSpPr txBox="1"/>
          <p:nvPr/>
        </p:nvSpPr>
        <p:spPr>
          <a:xfrm>
            <a:off x="781858" y="1225344"/>
            <a:ext cx="7598361" cy="2959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5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选取固定位置主元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（</a:t>
            </a: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如尾元素</a:t>
            </a:r>
            <a:r>
              <a:rPr sz="2800" spc="-5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）</a:t>
            </a:r>
            <a:endParaRPr lang="en-US" sz="2800" spc="-5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维护两个部分的右端点变量𝒊</a:t>
            </a:r>
            <a:r>
              <a:rPr lang="en-US" altLang="zh-CN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, 𝒋</a:t>
            </a: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考察数组元素</a:t>
            </a:r>
            <a:r>
              <a:rPr lang="zh-CN" altLang="en-US"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800" spc="-1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，只和主元比较</a:t>
            </a:r>
            <a:endParaRPr lang="zh-CN" altLang="en-US"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若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≤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lang="zh-CN" altLang="en-US"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，则交换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和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[𝒊</a:t>
            </a:r>
            <a:r>
              <a:rPr lang="zh-CN" altLang="en-US"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lang="en-US" altLang="zh-CN"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+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lang="en-US" altLang="zh-CN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]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𝒊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与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𝒋</a:t>
            </a:r>
            <a:r>
              <a:rPr lang="zh-CN" altLang="en-US" sz="2400" spc="-2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右移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若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lang="en-US" altLang="zh-CN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&gt;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lang="zh-CN" altLang="en-US"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，则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𝒋</a:t>
            </a:r>
            <a:r>
              <a:rPr lang="zh-CN" altLang="en-US" sz="2400" spc="-2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右移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3B3359E3-C40B-4842-9DD6-EE38F1673C3E}"/>
              </a:ext>
            </a:extLst>
          </p:cNvPr>
          <p:cNvSpPr txBox="1"/>
          <p:nvPr/>
        </p:nvSpPr>
        <p:spPr>
          <a:xfrm>
            <a:off x="7830057" y="3428238"/>
            <a:ext cx="5848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5">
                <a:latin typeface="PMingLiU"/>
                <a:cs typeface="PMingLiU"/>
              </a:rPr>
              <a:t>主元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6684A301-D53E-094F-9628-2AD8B71D51C6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5">
            <a:extLst>
              <a:ext uri="{FF2B5EF4-FFF2-40B4-BE49-F238E27FC236}">
                <a16:creationId xmlns:a16="http://schemas.microsoft.com/office/drawing/2014/main" id="{360D6590-8B24-8848-BAB8-119DFB01733E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EB1DBB87-E38F-BB44-81B6-323509A9DBC4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" name="object 4">
            <a:extLst>
              <a:ext uri="{FF2B5EF4-FFF2-40B4-BE49-F238E27FC236}">
                <a16:creationId xmlns:a16="http://schemas.microsoft.com/office/drawing/2014/main" id="{9CD6F13D-1E52-D24B-944D-5090562FB7AA}"/>
              </a:ext>
            </a:extLst>
          </p:cNvPr>
          <p:cNvGraphicFramePr>
            <a:graphicFrameLocks noGrp="1"/>
          </p:cNvGraphicFramePr>
          <p:nvPr/>
        </p:nvGraphicFramePr>
        <p:xfrm>
          <a:off x="3772661" y="4178934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object 6">
            <a:extLst>
              <a:ext uri="{FF2B5EF4-FFF2-40B4-BE49-F238E27FC236}">
                <a16:creationId xmlns:a16="http://schemas.microsoft.com/office/drawing/2014/main" id="{9B657A45-F55A-EE47-A1DB-CDA6C8D71D61}"/>
              </a:ext>
            </a:extLst>
          </p:cNvPr>
          <p:cNvSpPr/>
          <p:nvPr/>
        </p:nvSpPr>
        <p:spPr>
          <a:xfrm>
            <a:off x="5108447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7">
            <a:extLst>
              <a:ext uri="{FF2B5EF4-FFF2-40B4-BE49-F238E27FC236}">
                <a16:creationId xmlns:a16="http://schemas.microsoft.com/office/drawing/2014/main" id="{DA4AC07F-5BA6-2C42-8921-CE39EEB2A894}"/>
              </a:ext>
            </a:extLst>
          </p:cNvPr>
          <p:cNvSpPr/>
          <p:nvPr/>
        </p:nvSpPr>
        <p:spPr>
          <a:xfrm>
            <a:off x="7566659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8">
            <a:extLst>
              <a:ext uri="{FF2B5EF4-FFF2-40B4-BE49-F238E27FC236}">
                <a16:creationId xmlns:a16="http://schemas.microsoft.com/office/drawing/2014/main" id="{09B0058A-63FF-3842-B924-8FCCFAA9E56B}"/>
              </a:ext>
            </a:extLst>
          </p:cNvPr>
          <p:cNvSpPr txBox="1"/>
          <p:nvPr/>
        </p:nvSpPr>
        <p:spPr>
          <a:xfrm>
            <a:off x="5121655" y="5362075"/>
            <a:ext cx="129539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22" name="object 9">
            <a:extLst>
              <a:ext uri="{FF2B5EF4-FFF2-40B4-BE49-F238E27FC236}">
                <a16:creationId xmlns:a16="http://schemas.microsoft.com/office/drawing/2014/main" id="{2BDD62D4-A1E7-DF46-9A07-B1EEE06FEA39}"/>
              </a:ext>
            </a:extLst>
          </p:cNvPr>
          <p:cNvSpPr txBox="1"/>
          <p:nvPr/>
        </p:nvSpPr>
        <p:spPr>
          <a:xfrm>
            <a:off x="7561580" y="5380109"/>
            <a:ext cx="134620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𝒋</a:t>
            </a:r>
            <a:endParaRPr sz="22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356493261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750B8349-B2FE-9D45-A05F-9810BFDB12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9741" y="218172"/>
            <a:ext cx="343812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回顾与启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发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7BB98892-EDEE-234C-9416-6E7D59C95650}"/>
              </a:ext>
            </a:extLst>
          </p:cNvPr>
          <p:cNvSpPr txBox="1"/>
          <p:nvPr/>
        </p:nvSpPr>
        <p:spPr>
          <a:xfrm>
            <a:off x="781858" y="1225344"/>
            <a:ext cx="7598361" cy="2959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5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选取固定位置主元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（</a:t>
            </a: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如尾元素</a:t>
            </a:r>
            <a:r>
              <a:rPr sz="2800" spc="-5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）</a:t>
            </a:r>
            <a:endParaRPr lang="en-US" sz="2800" spc="-5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维护两个部分的右端点变量𝒊</a:t>
            </a:r>
            <a:r>
              <a:rPr lang="en-US" altLang="zh-CN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, 𝒋</a:t>
            </a: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考察数组元素</a:t>
            </a:r>
            <a:r>
              <a:rPr lang="zh-CN" altLang="en-US"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800" spc="-1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，只和主元比较</a:t>
            </a:r>
            <a:endParaRPr lang="zh-CN" altLang="en-US"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若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≤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lang="zh-CN" altLang="en-US"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，则交换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和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[𝒊</a:t>
            </a:r>
            <a:r>
              <a:rPr lang="zh-CN" altLang="en-US"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lang="en-US" altLang="zh-CN"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+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lang="en-US" altLang="zh-CN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]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𝒊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与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𝒋</a:t>
            </a:r>
            <a:r>
              <a:rPr lang="zh-CN" altLang="en-US" sz="2400" spc="-2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右移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若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lang="en-US" altLang="zh-CN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&gt;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lang="zh-CN" altLang="en-US"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，则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𝒋</a:t>
            </a:r>
            <a:r>
              <a:rPr lang="zh-CN" altLang="en-US" sz="2400" spc="-2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右移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3B3359E3-C40B-4842-9DD6-EE38F1673C3E}"/>
              </a:ext>
            </a:extLst>
          </p:cNvPr>
          <p:cNvSpPr txBox="1"/>
          <p:nvPr/>
        </p:nvSpPr>
        <p:spPr>
          <a:xfrm>
            <a:off x="7830057" y="3428238"/>
            <a:ext cx="5848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5">
                <a:latin typeface="PMingLiU"/>
                <a:cs typeface="PMingLiU"/>
              </a:rPr>
              <a:t>主元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6684A301-D53E-094F-9628-2AD8B71D51C6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5">
            <a:extLst>
              <a:ext uri="{FF2B5EF4-FFF2-40B4-BE49-F238E27FC236}">
                <a16:creationId xmlns:a16="http://schemas.microsoft.com/office/drawing/2014/main" id="{360D6590-8B24-8848-BAB8-119DFB01733E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EB1DBB87-E38F-BB44-81B6-323509A9DBC4}"/>
              </a:ext>
            </a:extLst>
          </p:cNvPr>
          <p:cNvSpPr/>
          <p:nvPr/>
        </p:nvSpPr>
        <p:spPr>
          <a:xfrm>
            <a:off x="8077200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" name="object 4">
            <a:extLst>
              <a:ext uri="{FF2B5EF4-FFF2-40B4-BE49-F238E27FC236}">
                <a16:creationId xmlns:a16="http://schemas.microsoft.com/office/drawing/2014/main" id="{9CD6F13D-1E52-D24B-944D-5090562FB7AA}"/>
              </a:ext>
            </a:extLst>
          </p:cNvPr>
          <p:cNvGraphicFramePr>
            <a:graphicFrameLocks noGrp="1"/>
          </p:cNvGraphicFramePr>
          <p:nvPr/>
        </p:nvGraphicFramePr>
        <p:xfrm>
          <a:off x="3772661" y="4178934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6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object 6">
            <a:extLst>
              <a:ext uri="{FF2B5EF4-FFF2-40B4-BE49-F238E27FC236}">
                <a16:creationId xmlns:a16="http://schemas.microsoft.com/office/drawing/2014/main" id="{9B657A45-F55A-EE47-A1DB-CDA6C8D71D61}"/>
              </a:ext>
            </a:extLst>
          </p:cNvPr>
          <p:cNvSpPr/>
          <p:nvPr/>
        </p:nvSpPr>
        <p:spPr>
          <a:xfrm>
            <a:off x="5108447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8">
            <a:extLst>
              <a:ext uri="{FF2B5EF4-FFF2-40B4-BE49-F238E27FC236}">
                <a16:creationId xmlns:a16="http://schemas.microsoft.com/office/drawing/2014/main" id="{09B0058A-63FF-3842-B924-8FCCFAA9E56B}"/>
              </a:ext>
            </a:extLst>
          </p:cNvPr>
          <p:cNvSpPr txBox="1"/>
          <p:nvPr/>
        </p:nvSpPr>
        <p:spPr>
          <a:xfrm>
            <a:off x="5121655" y="5362075"/>
            <a:ext cx="129539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6" name="object 7">
            <a:extLst>
              <a:ext uri="{FF2B5EF4-FFF2-40B4-BE49-F238E27FC236}">
                <a16:creationId xmlns:a16="http://schemas.microsoft.com/office/drawing/2014/main" id="{4AD01620-6CDF-DB4F-9FD9-0FACB3C9E0D5}"/>
              </a:ext>
            </a:extLst>
          </p:cNvPr>
          <p:cNvSpPr/>
          <p:nvPr/>
        </p:nvSpPr>
        <p:spPr>
          <a:xfrm>
            <a:off x="5800344" y="4791455"/>
            <a:ext cx="2334260" cy="384175"/>
          </a:xfrm>
          <a:custGeom>
            <a:avLst/>
            <a:gdLst/>
            <a:ahLst/>
            <a:cxnLst/>
            <a:rect l="l" t="t" r="r" b="b"/>
            <a:pathLst>
              <a:path w="2334259" h="384175">
                <a:moveTo>
                  <a:pt x="2334006" y="96012"/>
                </a:moveTo>
                <a:lnTo>
                  <a:pt x="2237994" y="0"/>
                </a:lnTo>
                <a:lnTo>
                  <a:pt x="2141982" y="96012"/>
                </a:lnTo>
                <a:lnTo>
                  <a:pt x="2218055" y="96012"/>
                </a:lnTo>
                <a:lnTo>
                  <a:pt x="2218055" y="344297"/>
                </a:lnTo>
                <a:lnTo>
                  <a:pt x="1133856" y="344297"/>
                </a:lnTo>
                <a:lnTo>
                  <a:pt x="1078992" y="344297"/>
                </a:lnTo>
                <a:lnTo>
                  <a:pt x="115951" y="344297"/>
                </a:lnTo>
                <a:lnTo>
                  <a:pt x="115951" y="96012"/>
                </a:lnTo>
                <a:lnTo>
                  <a:pt x="192024" y="96012"/>
                </a:lnTo>
                <a:lnTo>
                  <a:pt x="96012" y="0"/>
                </a:lnTo>
                <a:lnTo>
                  <a:pt x="0" y="96012"/>
                </a:lnTo>
                <a:lnTo>
                  <a:pt x="76073" y="96012"/>
                </a:lnTo>
                <a:lnTo>
                  <a:pt x="76073" y="384048"/>
                </a:lnTo>
                <a:lnTo>
                  <a:pt x="1078992" y="384048"/>
                </a:lnTo>
                <a:lnTo>
                  <a:pt x="1133856" y="384048"/>
                </a:lnTo>
                <a:lnTo>
                  <a:pt x="2257933" y="384048"/>
                </a:lnTo>
                <a:lnTo>
                  <a:pt x="2257933" y="96012"/>
                </a:lnTo>
                <a:lnTo>
                  <a:pt x="2334006" y="960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8">
            <a:extLst>
              <a:ext uri="{FF2B5EF4-FFF2-40B4-BE49-F238E27FC236}">
                <a16:creationId xmlns:a16="http://schemas.microsoft.com/office/drawing/2014/main" id="{E0D74CD5-553E-6E46-AE6F-38A55C494D69}"/>
              </a:ext>
            </a:extLst>
          </p:cNvPr>
          <p:cNvSpPr txBox="1"/>
          <p:nvPr/>
        </p:nvSpPr>
        <p:spPr>
          <a:xfrm>
            <a:off x="6638797" y="5220238"/>
            <a:ext cx="58483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10"/>
              </a:lnSpc>
            </a:pPr>
            <a:r>
              <a:rPr sz="2200" spc="-25">
                <a:latin typeface="PMingLiU"/>
                <a:cs typeface="PMingLiU"/>
              </a:rPr>
              <a:t>交换</a:t>
            </a:r>
            <a:endParaRPr sz="2200">
              <a:latin typeface="PMingLiU"/>
              <a:cs typeface="PMingLiU"/>
            </a:endParaRPr>
          </a:p>
        </p:txBody>
      </p:sp>
    </p:spTree>
    <p:extLst>
      <p:ext uri="{BB962C8B-B14F-4D97-AF65-F5344CB8AC3E}">
        <p14:creationId xmlns:p14="http://schemas.microsoft.com/office/powerpoint/2010/main" val="98448685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750B8349-B2FE-9D45-A05F-9810BFDB12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9741" y="218172"/>
            <a:ext cx="343812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回顾与启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发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7BB98892-EDEE-234C-9416-6E7D59C95650}"/>
              </a:ext>
            </a:extLst>
          </p:cNvPr>
          <p:cNvSpPr txBox="1"/>
          <p:nvPr/>
        </p:nvSpPr>
        <p:spPr>
          <a:xfrm>
            <a:off x="781858" y="1225344"/>
            <a:ext cx="7598361" cy="2959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5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选取固定位置主元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（</a:t>
            </a: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如尾元素</a:t>
            </a:r>
            <a:r>
              <a:rPr sz="2800" spc="-5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）</a:t>
            </a:r>
            <a:endParaRPr lang="en-US" sz="2800" spc="-5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维护两个部分的右端点变量𝒊</a:t>
            </a:r>
            <a:r>
              <a:rPr lang="en-US" altLang="zh-CN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, 𝒋</a:t>
            </a: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考察数组元素</a:t>
            </a:r>
            <a:r>
              <a:rPr lang="zh-CN" altLang="en-US"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800" spc="-1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，只和主元比较</a:t>
            </a:r>
            <a:endParaRPr lang="zh-CN" altLang="en-US"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若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≤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lang="zh-CN" altLang="en-US"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，则交换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和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[𝒊</a:t>
            </a:r>
            <a:r>
              <a:rPr lang="zh-CN" altLang="en-US"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lang="en-US" altLang="zh-CN"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+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lang="en-US" altLang="zh-CN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]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𝒊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与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𝒋</a:t>
            </a:r>
            <a:r>
              <a:rPr lang="zh-CN" altLang="en-US" sz="2400" spc="-2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右移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若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lang="en-US" altLang="zh-CN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&gt;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lang="zh-CN" altLang="en-US"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，则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𝒋</a:t>
            </a:r>
            <a:r>
              <a:rPr lang="zh-CN" altLang="en-US" sz="2400" spc="-2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右移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3B3359E3-C40B-4842-9DD6-EE38F1673C3E}"/>
              </a:ext>
            </a:extLst>
          </p:cNvPr>
          <p:cNvSpPr txBox="1"/>
          <p:nvPr/>
        </p:nvSpPr>
        <p:spPr>
          <a:xfrm>
            <a:off x="5544056" y="3428238"/>
            <a:ext cx="5848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5" dirty="0" err="1">
                <a:latin typeface="PMingLiU"/>
                <a:cs typeface="PMingLiU"/>
              </a:rPr>
              <a:t>主元</a:t>
            </a:r>
            <a:endParaRPr sz="2200" dirty="0">
              <a:latin typeface="PMingLiU"/>
              <a:cs typeface="PMingLiU"/>
            </a:endParaRPr>
          </a:p>
        </p:txBody>
      </p:sp>
      <p:graphicFrame>
        <p:nvGraphicFramePr>
          <p:cNvPr id="18" name="object 4">
            <a:extLst>
              <a:ext uri="{FF2B5EF4-FFF2-40B4-BE49-F238E27FC236}">
                <a16:creationId xmlns:a16="http://schemas.microsoft.com/office/drawing/2014/main" id="{49BC4E9F-7163-D443-9FBC-FA626A90AB71}"/>
              </a:ext>
            </a:extLst>
          </p:cNvPr>
          <p:cNvGraphicFramePr>
            <a:graphicFrameLocks noGrp="1"/>
          </p:cNvGraphicFramePr>
          <p:nvPr/>
        </p:nvGraphicFramePr>
        <p:xfrm>
          <a:off x="3772661" y="4178934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object 5">
            <a:extLst>
              <a:ext uri="{FF2B5EF4-FFF2-40B4-BE49-F238E27FC236}">
                <a16:creationId xmlns:a16="http://schemas.microsoft.com/office/drawing/2014/main" id="{0CC27F2E-38AB-144F-8D8E-AC458FF353FD}"/>
              </a:ext>
            </a:extLst>
          </p:cNvPr>
          <p:cNvSpPr/>
          <p:nvPr/>
        </p:nvSpPr>
        <p:spPr>
          <a:xfrm>
            <a:off x="5769864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6">
            <a:extLst>
              <a:ext uri="{FF2B5EF4-FFF2-40B4-BE49-F238E27FC236}">
                <a16:creationId xmlns:a16="http://schemas.microsoft.com/office/drawing/2014/main" id="{64CD0907-CA39-4748-8A49-0E27D4F5E2CF}"/>
              </a:ext>
            </a:extLst>
          </p:cNvPr>
          <p:cNvSpPr/>
          <p:nvPr/>
        </p:nvSpPr>
        <p:spPr>
          <a:xfrm>
            <a:off x="5108447" y="4867655"/>
            <a:ext cx="114300" cy="292100"/>
          </a:xfrm>
          <a:custGeom>
            <a:avLst/>
            <a:gdLst/>
            <a:ahLst/>
            <a:cxnLst/>
            <a:rect l="l" t="t" r="r" b="b"/>
            <a:pathLst>
              <a:path w="114300" h="292100">
                <a:moveTo>
                  <a:pt x="76200" y="95250"/>
                </a:moveTo>
                <a:lnTo>
                  <a:pt x="38100" y="95250"/>
                </a:lnTo>
                <a:lnTo>
                  <a:pt x="38100" y="291846"/>
                </a:lnTo>
                <a:lnTo>
                  <a:pt x="76200" y="291846"/>
                </a:lnTo>
                <a:lnTo>
                  <a:pt x="76200" y="95250"/>
                </a:lnTo>
                <a:close/>
              </a:path>
              <a:path w="114300" h="2921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921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7">
            <a:extLst>
              <a:ext uri="{FF2B5EF4-FFF2-40B4-BE49-F238E27FC236}">
                <a16:creationId xmlns:a16="http://schemas.microsoft.com/office/drawing/2014/main" id="{E9047FD0-828F-4F48-84A0-E5D8A984A9C9}"/>
              </a:ext>
            </a:extLst>
          </p:cNvPr>
          <p:cNvSpPr/>
          <p:nvPr/>
        </p:nvSpPr>
        <p:spPr>
          <a:xfrm>
            <a:off x="5800344" y="4791455"/>
            <a:ext cx="2334260" cy="384175"/>
          </a:xfrm>
          <a:custGeom>
            <a:avLst/>
            <a:gdLst/>
            <a:ahLst/>
            <a:cxnLst/>
            <a:rect l="l" t="t" r="r" b="b"/>
            <a:pathLst>
              <a:path w="2334259" h="384175">
                <a:moveTo>
                  <a:pt x="2334006" y="96012"/>
                </a:moveTo>
                <a:lnTo>
                  <a:pt x="2237994" y="0"/>
                </a:lnTo>
                <a:lnTo>
                  <a:pt x="2141982" y="96012"/>
                </a:lnTo>
                <a:lnTo>
                  <a:pt x="2218055" y="96012"/>
                </a:lnTo>
                <a:lnTo>
                  <a:pt x="2218055" y="344297"/>
                </a:lnTo>
                <a:lnTo>
                  <a:pt x="1133856" y="344297"/>
                </a:lnTo>
                <a:lnTo>
                  <a:pt x="1078992" y="344297"/>
                </a:lnTo>
                <a:lnTo>
                  <a:pt x="115951" y="344297"/>
                </a:lnTo>
                <a:lnTo>
                  <a:pt x="115951" y="96012"/>
                </a:lnTo>
                <a:lnTo>
                  <a:pt x="192024" y="96012"/>
                </a:lnTo>
                <a:lnTo>
                  <a:pt x="96012" y="0"/>
                </a:lnTo>
                <a:lnTo>
                  <a:pt x="0" y="96012"/>
                </a:lnTo>
                <a:lnTo>
                  <a:pt x="76073" y="96012"/>
                </a:lnTo>
                <a:lnTo>
                  <a:pt x="76073" y="384048"/>
                </a:lnTo>
                <a:lnTo>
                  <a:pt x="1078992" y="384048"/>
                </a:lnTo>
                <a:lnTo>
                  <a:pt x="1133856" y="384048"/>
                </a:lnTo>
                <a:lnTo>
                  <a:pt x="2257933" y="384048"/>
                </a:lnTo>
                <a:lnTo>
                  <a:pt x="2257933" y="96012"/>
                </a:lnTo>
                <a:lnTo>
                  <a:pt x="2334006" y="960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8">
            <a:extLst>
              <a:ext uri="{FF2B5EF4-FFF2-40B4-BE49-F238E27FC236}">
                <a16:creationId xmlns:a16="http://schemas.microsoft.com/office/drawing/2014/main" id="{FA7993FA-79AB-D141-AD58-DB58370151DF}"/>
              </a:ext>
            </a:extLst>
          </p:cNvPr>
          <p:cNvSpPr txBox="1"/>
          <p:nvPr/>
        </p:nvSpPr>
        <p:spPr>
          <a:xfrm>
            <a:off x="6638797" y="5220238"/>
            <a:ext cx="58483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10"/>
              </a:lnSpc>
            </a:pPr>
            <a:r>
              <a:rPr sz="2200" spc="-25">
                <a:latin typeface="PMingLiU"/>
                <a:cs typeface="PMingLiU"/>
              </a:rPr>
              <a:t>交换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25" name="object 9">
            <a:extLst>
              <a:ext uri="{FF2B5EF4-FFF2-40B4-BE49-F238E27FC236}">
                <a16:creationId xmlns:a16="http://schemas.microsoft.com/office/drawing/2014/main" id="{E02DAE11-37A2-954D-A492-931DC859420D}"/>
              </a:ext>
            </a:extLst>
          </p:cNvPr>
          <p:cNvSpPr txBox="1"/>
          <p:nvPr/>
        </p:nvSpPr>
        <p:spPr>
          <a:xfrm>
            <a:off x="5121655" y="5362075"/>
            <a:ext cx="129539" cy="30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55"/>
              </a:lnSpc>
            </a:pPr>
            <a:r>
              <a:rPr sz="2200" spc="-50">
                <a:latin typeface="Cambria Math"/>
                <a:cs typeface="Cambria Math"/>
              </a:rPr>
              <a:t>𝒊</a:t>
            </a:r>
            <a:endParaRPr sz="22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423901598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750B8349-B2FE-9D45-A05F-9810BFDB12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9741" y="218172"/>
            <a:ext cx="343812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回顾与启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发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7BB98892-EDEE-234C-9416-6E7D59C95650}"/>
              </a:ext>
            </a:extLst>
          </p:cNvPr>
          <p:cNvSpPr txBox="1"/>
          <p:nvPr/>
        </p:nvSpPr>
        <p:spPr>
          <a:xfrm>
            <a:off x="781858" y="1225344"/>
            <a:ext cx="7598361" cy="2959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5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选取固定位置主元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sz="28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（</a:t>
            </a:r>
            <a:r>
              <a:rPr sz="28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如尾元素</a:t>
            </a:r>
            <a:r>
              <a:rPr sz="2800" spc="-5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）</a:t>
            </a:r>
            <a:endParaRPr lang="en-US" sz="2800" spc="-5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维护两个部分的右端点变量𝒊</a:t>
            </a:r>
            <a:r>
              <a:rPr lang="en-US" altLang="zh-CN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, 𝒋</a:t>
            </a: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lang="zh-CN" altLang="en-US" sz="28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考察数组元素</a:t>
            </a:r>
            <a:r>
              <a:rPr lang="zh-CN" altLang="en-US"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8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800" spc="-1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，只和主元比较</a:t>
            </a:r>
            <a:endParaRPr lang="zh-CN" altLang="en-US"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若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≤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lang="zh-CN" altLang="en-US"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，则交换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和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[𝒊</a:t>
            </a:r>
            <a:r>
              <a:rPr lang="zh-CN" altLang="en-US"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lang="en-US" altLang="zh-CN"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+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lang="en-US" altLang="zh-CN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]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𝒊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与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𝒋</a:t>
            </a:r>
            <a:r>
              <a:rPr lang="zh-CN" altLang="en-US" sz="2400" spc="-2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右移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80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若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</a:t>
            </a:r>
            <a:r>
              <a:rPr lang="en-US" altLang="zh-CN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[𝒋]</a:t>
            </a:r>
            <a:r>
              <a:rPr lang="zh-CN" altLang="en-US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</a:t>
            </a:r>
            <a:r>
              <a:rPr lang="en-US" altLang="zh-CN" sz="2400" spc="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&gt; </a:t>
            </a:r>
            <a:r>
              <a:rPr lang="zh-CN" altLang="en-US"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𝒙</a:t>
            </a:r>
            <a:r>
              <a:rPr lang="zh-CN" altLang="en-US" sz="2400" spc="-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，则</a:t>
            </a:r>
            <a:r>
              <a:rPr lang="zh-CN" altLang="en-US"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𝒋</a:t>
            </a:r>
            <a:r>
              <a:rPr lang="zh-CN" altLang="en-US" sz="2400" spc="-25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右移</a:t>
            </a:r>
            <a:endParaRPr lang="zh-CN" altLang="en-US"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3B3359E3-C40B-4842-9DD6-EE38F1673C3E}"/>
              </a:ext>
            </a:extLst>
          </p:cNvPr>
          <p:cNvSpPr txBox="1"/>
          <p:nvPr/>
        </p:nvSpPr>
        <p:spPr>
          <a:xfrm>
            <a:off x="5544056" y="3428238"/>
            <a:ext cx="5848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5" dirty="0" err="1">
                <a:latin typeface="PMingLiU"/>
                <a:cs typeface="PMingLiU"/>
              </a:rPr>
              <a:t>主元</a:t>
            </a:r>
            <a:endParaRPr sz="2200" dirty="0">
              <a:latin typeface="PMingLiU"/>
              <a:cs typeface="PMingLiU"/>
            </a:endParaRPr>
          </a:p>
        </p:txBody>
      </p:sp>
      <p:graphicFrame>
        <p:nvGraphicFramePr>
          <p:cNvPr id="18" name="object 4">
            <a:extLst>
              <a:ext uri="{FF2B5EF4-FFF2-40B4-BE49-F238E27FC236}">
                <a16:creationId xmlns:a16="http://schemas.microsoft.com/office/drawing/2014/main" id="{49BC4E9F-7163-D443-9FBC-FA626A90AB71}"/>
              </a:ext>
            </a:extLst>
          </p:cNvPr>
          <p:cNvGraphicFramePr>
            <a:graphicFrameLocks noGrp="1"/>
          </p:cNvGraphicFramePr>
          <p:nvPr/>
        </p:nvGraphicFramePr>
        <p:xfrm>
          <a:off x="3772661" y="4178934"/>
          <a:ext cx="460755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5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object 5">
            <a:extLst>
              <a:ext uri="{FF2B5EF4-FFF2-40B4-BE49-F238E27FC236}">
                <a16:creationId xmlns:a16="http://schemas.microsoft.com/office/drawing/2014/main" id="{0CC27F2E-38AB-144F-8D8E-AC458FF353FD}"/>
              </a:ext>
            </a:extLst>
          </p:cNvPr>
          <p:cNvSpPr/>
          <p:nvPr/>
        </p:nvSpPr>
        <p:spPr>
          <a:xfrm>
            <a:off x="5769864" y="3861053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85"/>
                </a:moveTo>
                <a:lnTo>
                  <a:pt x="0" y="222885"/>
                </a:lnTo>
                <a:lnTo>
                  <a:pt x="57150" y="337185"/>
                </a:lnTo>
                <a:lnTo>
                  <a:pt x="104775" y="241935"/>
                </a:lnTo>
                <a:lnTo>
                  <a:pt x="38100" y="241935"/>
                </a:lnTo>
                <a:lnTo>
                  <a:pt x="38100" y="222885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35"/>
                </a:lnTo>
                <a:lnTo>
                  <a:pt x="76200" y="241935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85"/>
                </a:moveTo>
                <a:lnTo>
                  <a:pt x="76200" y="222885"/>
                </a:lnTo>
                <a:lnTo>
                  <a:pt x="76200" y="241935"/>
                </a:lnTo>
                <a:lnTo>
                  <a:pt x="104775" y="241935"/>
                </a:lnTo>
                <a:lnTo>
                  <a:pt x="114300" y="2228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53F04E15-5835-FE45-8415-BC7697CC1033}"/>
              </a:ext>
            </a:extLst>
          </p:cNvPr>
          <p:cNvSpPr txBox="1"/>
          <p:nvPr/>
        </p:nvSpPr>
        <p:spPr>
          <a:xfrm>
            <a:off x="5402834" y="5790438"/>
            <a:ext cx="864869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0">
                <a:latin typeface="PMingLiU"/>
                <a:cs typeface="PMingLiU"/>
              </a:rPr>
              <a:t>分界线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538C0807-E595-E544-880F-E5934D7CBA03}"/>
              </a:ext>
            </a:extLst>
          </p:cNvPr>
          <p:cNvSpPr/>
          <p:nvPr/>
        </p:nvSpPr>
        <p:spPr>
          <a:xfrm>
            <a:off x="3975353" y="5135879"/>
            <a:ext cx="1489710" cy="114300"/>
          </a:xfrm>
          <a:custGeom>
            <a:avLst/>
            <a:gdLst/>
            <a:ahLst/>
            <a:cxnLst/>
            <a:rect l="l" t="t" r="r" b="b"/>
            <a:pathLst>
              <a:path w="148971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148971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1489710" h="114300">
                <a:moveTo>
                  <a:pt x="1489202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1489202" y="76200"/>
                </a:lnTo>
                <a:lnTo>
                  <a:pt x="1489202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E3913E20-58E8-1147-825B-2DA498C63517}"/>
              </a:ext>
            </a:extLst>
          </p:cNvPr>
          <p:cNvSpPr/>
          <p:nvPr/>
        </p:nvSpPr>
        <p:spPr>
          <a:xfrm>
            <a:off x="6205728" y="5135879"/>
            <a:ext cx="2195195" cy="114300"/>
          </a:xfrm>
          <a:custGeom>
            <a:avLst/>
            <a:gdLst/>
            <a:ahLst/>
            <a:cxnLst/>
            <a:rect l="l" t="t" r="r" b="b"/>
            <a:pathLst>
              <a:path w="2195195" h="114300">
                <a:moveTo>
                  <a:pt x="2080641" y="0"/>
                </a:moveTo>
                <a:lnTo>
                  <a:pt x="2080641" y="114300"/>
                </a:lnTo>
                <a:lnTo>
                  <a:pt x="2156841" y="76200"/>
                </a:lnTo>
                <a:lnTo>
                  <a:pt x="2099691" y="76200"/>
                </a:lnTo>
                <a:lnTo>
                  <a:pt x="2099691" y="38100"/>
                </a:lnTo>
                <a:lnTo>
                  <a:pt x="2156841" y="38100"/>
                </a:lnTo>
                <a:lnTo>
                  <a:pt x="2080641" y="0"/>
                </a:lnTo>
                <a:close/>
              </a:path>
              <a:path w="2195195" h="114300">
                <a:moveTo>
                  <a:pt x="208064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080641" y="76200"/>
                </a:lnTo>
                <a:lnTo>
                  <a:pt x="2080641" y="38100"/>
                </a:lnTo>
                <a:close/>
              </a:path>
              <a:path w="2195195" h="114300">
                <a:moveTo>
                  <a:pt x="2156841" y="38100"/>
                </a:moveTo>
                <a:lnTo>
                  <a:pt x="2099691" y="38100"/>
                </a:lnTo>
                <a:lnTo>
                  <a:pt x="2099691" y="76200"/>
                </a:lnTo>
                <a:lnTo>
                  <a:pt x="2156841" y="76200"/>
                </a:lnTo>
                <a:lnTo>
                  <a:pt x="2194941" y="57150"/>
                </a:lnTo>
                <a:lnTo>
                  <a:pt x="2156841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1B88EAF1-4DD8-2848-9581-0C471FB78FA5}"/>
              </a:ext>
            </a:extLst>
          </p:cNvPr>
          <p:cNvSpPr txBox="1"/>
          <p:nvPr/>
        </p:nvSpPr>
        <p:spPr>
          <a:xfrm>
            <a:off x="4473447" y="5352796"/>
            <a:ext cx="47434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≤</a:t>
            </a:r>
            <a:r>
              <a:rPr sz="2200" spc="130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𝒙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FE065F5B-71A5-7240-91E1-0FB1AD5F6929}"/>
              </a:ext>
            </a:extLst>
          </p:cNvPr>
          <p:cNvSpPr txBox="1"/>
          <p:nvPr/>
        </p:nvSpPr>
        <p:spPr>
          <a:xfrm>
            <a:off x="7086345" y="5352796"/>
            <a:ext cx="47434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>
                <a:latin typeface="Cambria Math"/>
                <a:cs typeface="Cambria Math"/>
              </a:rPr>
              <a:t>&gt;</a:t>
            </a:r>
            <a:r>
              <a:rPr sz="2200" spc="125">
                <a:latin typeface="Cambria Math"/>
                <a:cs typeface="Cambria Math"/>
              </a:rPr>
              <a:t> </a:t>
            </a:r>
            <a:r>
              <a:rPr sz="2200" spc="-50">
                <a:latin typeface="Cambria Math"/>
                <a:cs typeface="Cambria Math"/>
              </a:rPr>
              <a:t>𝒙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16" name="object 11">
            <a:extLst>
              <a:ext uri="{FF2B5EF4-FFF2-40B4-BE49-F238E27FC236}">
                <a16:creationId xmlns:a16="http://schemas.microsoft.com/office/drawing/2014/main" id="{DE2A9CEC-029E-834F-968E-3F60B6A787A4}"/>
              </a:ext>
            </a:extLst>
          </p:cNvPr>
          <p:cNvSpPr/>
          <p:nvPr/>
        </p:nvSpPr>
        <p:spPr>
          <a:xfrm>
            <a:off x="5770371" y="4775453"/>
            <a:ext cx="114300" cy="982980"/>
          </a:xfrm>
          <a:custGeom>
            <a:avLst/>
            <a:gdLst/>
            <a:ahLst/>
            <a:cxnLst/>
            <a:rect l="l" t="t" r="r" b="b"/>
            <a:pathLst>
              <a:path w="114300" h="982978">
                <a:moveTo>
                  <a:pt x="76200" y="95250"/>
                </a:moveTo>
                <a:lnTo>
                  <a:pt x="38100" y="95250"/>
                </a:lnTo>
                <a:lnTo>
                  <a:pt x="37591" y="982586"/>
                </a:lnTo>
                <a:lnTo>
                  <a:pt x="75691" y="982599"/>
                </a:lnTo>
                <a:lnTo>
                  <a:pt x="76200" y="95250"/>
                </a:lnTo>
                <a:close/>
              </a:path>
              <a:path w="114300" h="982978">
                <a:moveTo>
                  <a:pt x="57150" y="0"/>
                </a:moveTo>
                <a:lnTo>
                  <a:pt x="0" y="114300"/>
                </a:lnTo>
                <a:lnTo>
                  <a:pt x="38089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982978">
                <a:moveTo>
                  <a:pt x="104775" y="95250"/>
                </a:moveTo>
                <a:lnTo>
                  <a:pt x="76200" y="95250"/>
                </a:lnTo>
                <a:lnTo>
                  <a:pt x="76189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657409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FB54B2FE-AB8F-F740-A478-C39DF2D5120B}"/>
              </a:ext>
            </a:extLst>
          </p:cNvPr>
          <p:cNvSpPr txBox="1"/>
          <p:nvPr/>
        </p:nvSpPr>
        <p:spPr>
          <a:xfrm>
            <a:off x="771467" y="1219479"/>
            <a:ext cx="32156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选取固定位置主元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2B955010-3BD2-A045-BEB3-03C84983AD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2641" y="218172"/>
            <a:ext cx="540893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固定位置划分求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解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6C2D0B0B-DCB6-F143-9D3E-6E49AA185267}"/>
              </a:ext>
            </a:extLst>
          </p:cNvPr>
          <p:cNvGraphicFramePr>
            <a:graphicFrameLocks noGrp="1"/>
          </p:cNvGraphicFramePr>
          <p:nvPr/>
        </p:nvGraphicFramePr>
        <p:xfrm>
          <a:off x="1468500" y="4340605"/>
          <a:ext cx="921511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object 5">
            <a:extLst>
              <a:ext uri="{FF2B5EF4-FFF2-40B4-BE49-F238E27FC236}">
                <a16:creationId xmlns:a16="http://schemas.microsoft.com/office/drawing/2014/main" id="{0DDDAA10-371F-8946-BC29-D2DFC038D030}"/>
              </a:ext>
            </a:extLst>
          </p:cNvPr>
          <p:cNvSpPr txBox="1"/>
          <p:nvPr/>
        </p:nvSpPr>
        <p:spPr>
          <a:xfrm>
            <a:off x="1721611" y="3746246"/>
            <a:ext cx="24637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>
                <a:latin typeface="Cambria Math"/>
                <a:cs typeface="Cambria Math"/>
              </a:rPr>
              <a:t>𝒑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D9E6E5D1-CF19-8D49-B929-D75014D38021}"/>
              </a:ext>
            </a:extLst>
          </p:cNvPr>
          <p:cNvSpPr txBox="1"/>
          <p:nvPr/>
        </p:nvSpPr>
        <p:spPr>
          <a:xfrm>
            <a:off x="10231119" y="3746246"/>
            <a:ext cx="2165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>
                <a:latin typeface="Cambria Math"/>
                <a:cs typeface="Cambria Math"/>
              </a:rPr>
              <a:t>𝒓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C4E92383-DD82-8549-A7A5-23ABFC915DEB}"/>
              </a:ext>
            </a:extLst>
          </p:cNvPr>
          <p:cNvSpPr txBox="1"/>
          <p:nvPr/>
        </p:nvSpPr>
        <p:spPr>
          <a:xfrm>
            <a:off x="10180066" y="5371084"/>
            <a:ext cx="5848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5">
                <a:latin typeface="PMingLiU"/>
                <a:cs typeface="PMingLiU"/>
              </a:rPr>
              <a:t>主元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4571C208-893D-5F49-963E-E2FF7549A78F}"/>
              </a:ext>
            </a:extLst>
          </p:cNvPr>
          <p:cNvSpPr/>
          <p:nvPr/>
        </p:nvSpPr>
        <p:spPr>
          <a:xfrm>
            <a:off x="10426445" y="5050535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76200" y="95250"/>
                </a:moveTo>
                <a:lnTo>
                  <a:pt x="38100" y="95250"/>
                </a:lnTo>
                <a:lnTo>
                  <a:pt x="38100" y="337184"/>
                </a:lnTo>
                <a:lnTo>
                  <a:pt x="76200" y="337184"/>
                </a:lnTo>
                <a:lnTo>
                  <a:pt x="76200" y="95250"/>
                </a:lnTo>
                <a:close/>
              </a:path>
              <a:path w="114300" h="337185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337185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4146856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FB54B2FE-AB8F-F740-A478-C39DF2D5120B}"/>
              </a:ext>
            </a:extLst>
          </p:cNvPr>
          <p:cNvSpPr txBox="1"/>
          <p:nvPr/>
        </p:nvSpPr>
        <p:spPr>
          <a:xfrm>
            <a:off x="771467" y="1219479"/>
            <a:ext cx="8195888" cy="1333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2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选取固定位置主元</a:t>
            </a:r>
            <a:r>
              <a:rPr lang="zh-CN" altLang="en-US" sz="2800" spc="-10" dirty="0">
                <a:latin typeface="PMingLiU"/>
                <a:cs typeface="PMingLiU"/>
              </a:rPr>
              <a:t>，小于主元的元素个数</a:t>
            </a:r>
            <a:r>
              <a:rPr lang="zh-CN" altLang="en-US" sz="2800" dirty="0">
                <a:latin typeface="Cambria Math"/>
                <a:cs typeface="Cambria Math"/>
              </a:rPr>
              <a:t>𝒒</a:t>
            </a:r>
            <a:r>
              <a:rPr lang="zh-CN" altLang="en-US" sz="2800" spc="-5" dirty="0">
                <a:latin typeface="Cambria Math"/>
                <a:cs typeface="Cambria Math"/>
              </a:rPr>
              <a:t> − </a:t>
            </a:r>
            <a:r>
              <a:rPr lang="zh-CN" altLang="en-US" sz="2800" spc="-50" dirty="0">
                <a:latin typeface="Cambria Math"/>
                <a:cs typeface="Cambria Math"/>
              </a:rPr>
              <a:t>𝒑</a:t>
            </a:r>
            <a:endParaRPr lang="zh-CN" altLang="en-US" sz="2800" dirty="0">
              <a:latin typeface="Cambria Math"/>
              <a:cs typeface="Cambria Math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PMingLiU"/>
                <a:cs typeface="PMingLiU"/>
              </a:rPr>
              <a:t>情况</a:t>
            </a:r>
            <a:r>
              <a:rPr lang="zh-CN" altLang="en-US" sz="2400" dirty="0">
                <a:latin typeface="Cambria Math"/>
                <a:cs typeface="Cambria Math"/>
              </a:rPr>
              <a:t>𝟏</a:t>
            </a:r>
            <a:r>
              <a:rPr lang="zh-CN" altLang="en-US" sz="2400" dirty="0">
                <a:latin typeface="PMingLiU"/>
                <a:cs typeface="PMingLiU"/>
              </a:rPr>
              <a:t>：</a:t>
            </a:r>
            <a:r>
              <a:rPr lang="zh-CN" altLang="en-US" sz="2400" dirty="0">
                <a:latin typeface="Cambria Math"/>
                <a:cs typeface="Cambria Math"/>
              </a:rPr>
              <a:t>𝒌</a:t>
            </a:r>
            <a:r>
              <a:rPr lang="zh-CN" altLang="en-US" sz="2400" spc="85" dirty="0">
                <a:latin typeface="Cambria Math"/>
                <a:cs typeface="Cambria Math"/>
              </a:rPr>
              <a:t> </a:t>
            </a:r>
            <a:r>
              <a:rPr lang="en-US" altLang="zh-CN" sz="2400" spc="85" dirty="0">
                <a:latin typeface="Cambria Math"/>
                <a:cs typeface="Cambria Math"/>
              </a:rPr>
              <a:t>= </a:t>
            </a:r>
            <a:r>
              <a:rPr lang="zh-CN" altLang="en-US" sz="2400" dirty="0">
                <a:latin typeface="Cambria Math"/>
                <a:cs typeface="Cambria Math"/>
              </a:rPr>
              <a:t>𝒒 − 𝒑 </a:t>
            </a:r>
            <a:r>
              <a:rPr lang="en-US" altLang="zh-CN" sz="2400" dirty="0">
                <a:latin typeface="Cambria Math"/>
                <a:cs typeface="Cambria Math"/>
              </a:rPr>
              <a:t>+ </a:t>
            </a:r>
            <a:r>
              <a:rPr lang="zh-CN" altLang="en-US" sz="2400" spc="-10" dirty="0">
                <a:latin typeface="Cambria Math"/>
                <a:cs typeface="Cambria Math"/>
              </a:rPr>
              <a:t>𝟏</a:t>
            </a:r>
            <a:r>
              <a:rPr lang="zh-CN" altLang="en-US" sz="2400" spc="-10" dirty="0">
                <a:latin typeface="PMingLiU"/>
                <a:cs typeface="PMingLiU"/>
              </a:rPr>
              <a:t>，</a:t>
            </a:r>
            <a:r>
              <a:rPr lang="zh-CN" altLang="en-US" sz="2400" spc="-10" dirty="0">
                <a:latin typeface="Cambria Math"/>
                <a:cs typeface="Cambria Math"/>
              </a:rPr>
              <a:t>𝑨</a:t>
            </a:r>
            <a:r>
              <a:rPr lang="en-US" altLang="zh-CN" sz="2400" spc="-10" dirty="0">
                <a:latin typeface="Cambria Math"/>
                <a:cs typeface="Cambria Math"/>
              </a:rPr>
              <a:t>[𝒒]</a:t>
            </a:r>
            <a:r>
              <a:rPr lang="zh-CN" altLang="en-US" sz="2400" dirty="0">
                <a:latin typeface="PMingLiU"/>
                <a:cs typeface="PMingLiU"/>
              </a:rPr>
              <a:t>为数组第</a:t>
            </a:r>
            <a:r>
              <a:rPr lang="zh-CN" altLang="en-US" sz="2400" spc="-10" dirty="0">
                <a:latin typeface="Cambria Math"/>
                <a:cs typeface="Cambria Math"/>
              </a:rPr>
              <a:t>𝒌</a:t>
            </a:r>
            <a:r>
              <a:rPr lang="zh-CN" altLang="en-US" sz="2400" spc="-20" dirty="0">
                <a:latin typeface="PMingLiU"/>
                <a:cs typeface="PMingLiU"/>
              </a:rPr>
              <a:t>小元素</a:t>
            </a:r>
            <a:endParaRPr lang="zh-CN" altLang="en-US" sz="2400" dirty="0">
              <a:latin typeface="PMingLiU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2B955010-3BD2-A045-BEB3-03C84983AD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2641" y="218172"/>
            <a:ext cx="540893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固定位置划分求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解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0A2ED5E5-57F6-3B47-8D02-412A9F0FB6AA}"/>
              </a:ext>
            </a:extLst>
          </p:cNvPr>
          <p:cNvSpPr/>
          <p:nvPr/>
        </p:nvSpPr>
        <p:spPr>
          <a:xfrm>
            <a:off x="1487550" y="4340605"/>
            <a:ext cx="2880360" cy="615315"/>
          </a:xfrm>
          <a:custGeom>
            <a:avLst/>
            <a:gdLst/>
            <a:ahLst/>
            <a:cxnLst/>
            <a:rect l="l" t="t" r="r" b="b"/>
            <a:pathLst>
              <a:path w="2880360" h="615314">
                <a:moveTo>
                  <a:pt x="2880233" y="0"/>
                </a:moveTo>
                <a:lnTo>
                  <a:pt x="2880233" y="615188"/>
                </a:lnTo>
              </a:path>
              <a:path w="2880360" h="615314">
                <a:moveTo>
                  <a:pt x="0" y="0"/>
                </a:moveTo>
                <a:lnTo>
                  <a:pt x="0" y="615188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1" name="object 5">
            <a:extLst>
              <a:ext uri="{FF2B5EF4-FFF2-40B4-BE49-F238E27FC236}">
                <a16:creationId xmlns:a16="http://schemas.microsoft.com/office/drawing/2014/main" id="{DA79A441-B89C-0146-9025-A035D3FD90E8}"/>
              </a:ext>
            </a:extLst>
          </p:cNvPr>
          <p:cNvGraphicFramePr>
            <a:graphicFrameLocks noGrp="1"/>
          </p:cNvGraphicFramePr>
          <p:nvPr/>
        </p:nvGraphicFramePr>
        <p:xfrm>
          <a:off x="1468500" y="4340605"/>
          <a:ext cx="9215118" cy="1192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660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290">
                <a:tc gridSpan="1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object 6">
            <a:extLst>
              <a:ext uri="{FF2B5EF4-FFF2-40B4-BE49-F238E27FC236}">
                <a16:creationId xmlns:a16="http://schemas.microsoft.com/office/drawing/2014/main" id="{B5694A43-1DCF-9D4A-B0FF-E813711E59CD}"/>
              </a:ext>
            </a:extLst>
          </p:cNvPr>
          <p:cNvSpPr/>
          <p:nvPr/>
        </p:nvSpPr>
        <p:spPr>
          <a:xfrm>
            <a:off x="1487424" y="4975859"/>
            <a:ext cx="2880360" cy="577850"/>
          </a:xfrm>
          <a:custGeom>
            <a:avLst/>
            <a:gdLst/>
            <a:ahLst/>
            <a:cxnLst/>
            <a:rect l="l" t="t" r="r" b="b"/>
            <a:pathLst>
              <a:path w="2880360" h="577850">
                <a:moveTo>
                  <a:pt x="2880360" y="0"/>
                </a:moveTo>
                <a:lnTo>
                  <a:pt x="2878637" y="76778"/>
                </a:lnTo>
                <a:lnTo>
                  <a:pt x="2873779" y="145767"/>
                </a:lnTo>
                <a:lnTo>
                  <a:pt x="2866247" y="204215"/>
                </a:lnTo>
                <a:lnTo>
                  <a:pt x="2856502" y="249371"/>
                </a:lnTo>
                <a:lnTo>
                  <a:pt x="2832227" y="288797"/>
                </a:lnTo>
                <a:lnTo>
                  <a:pt x="1537462" y="288797"/>
                </a:lnTo>
                <a:lnTo>
                  <a:pt x="1524636" y="299113"/>
                </a:lnTo>
                <a:lnTo>
                  <a:pt x="1503394" y="373379"/>
                </a:lnTo>
                <a:lnTo>
                  <a:pt x="1495881" y="431828"/>
                </a:lnTo>
                <a:lnTo>
                  <a:pt x="1491042" y="500817"/>
                </a:lnTo>
                <a:lnTo>
                  <a:pt x="1489328" y="577595"/>
                </a:lnTo>
                <a:lnTo>
                  <a:pt x="1487606" y="500817"/>
                </a:lnTo>
                <a:lnTo>
                  <a:pt x="1482748" y="431828"/>
                </a:lnTo>
                <a:lnTo>
                  <a:pt x="1475216" y="373379"/>
                </a:lnTo>
                <a:lnTo>
                  <a:pt x="1465471" y="328224"/>
                </a:lnTo>
                <a:lnTo>
                  <a:pt x="1441195" y="288797"/>
                </a:lnTo>
                <a:lnTo>
                  <a:pt x="48132" y="288797"/>
                </a:lnTo>
                <a:lnTo>
                  <a:pt x="35351" y="278482"/>
                </a:lnTo>
                <a:lnTo>
                  <a:pt x="23857" y="249371"/>
                </a:lnTo>
                <a:lnTo>
                  <a:pt x="14112" y="204216"/>
                </a:lnTo>
                <a:lnTo>
                  <a:pt x="6580" y="145767"/>
                </a:lnTo>
                <a:lnTo>
                  <a:pt x="1722" y="76778"/>
                </a:ln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B6168901-9599-6A4C-9ED8-BEEB426E2211}"/>
              </a:ext>
            </a:extLst>
          </p:cNvPr>
          <p:cNvSpPr txBox="1"/>
          <p:nvPr/>
        </p:nvSpPr>
        <p:spPr>
          <a:xfrm>
            <a:off x="2485389" y="5559044"/>
            <a:ext cx="8845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>
                <a:latin typeface="Cambria Math"/>
                <a:cs typeface="Cambria Math"/>
              </a:rPr>
              <a:t>𝒒</a:t>
            </a:r>
            <a:r>
              <a:rPr sz="2800" spc="-5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− </a:t>
            </a:r>
            <a:r>
              <a:rPr sz="2800" spc="-50">
                <a:latin typeface="Cambria Math"/>
                <a:cs typeface="Cambria Math"/>
              </a:rPr>
              <a:t>𝒑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226698C1-994A-5D48-8DDE-5D895D509F55}"/>
              </a:ext>
            </a:extLst>
          </p:cNvPr>
          <p:cNvSpPr txBox="1"/>
          <p:nvPr/>
        </p:nvSpPr>
        <p:spPr>
          <a:xfrm>
            <a:off x="1721611" y="3746246"/>
            <a:ext cx="24637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>
                <a:latin typeface="Cambria Math"/>
                <a:cs typeface="Cambria Math"/>
              </a:rPr>
              <a:t>𝒑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C263C67D-E358-844F-90F6-2898AA832F40}"/>
              </a:ext>
            </a:extLst>
          </p:cNvPr>
          <p:cNvSpPr txBox="1"/>
          <p:nvPr/>
        </p:nvSpPr>
        <p:spPr>
          <a:xfrm>
            <a:off x="10231119" y="3746246"/>
            <a:ext cx="2165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>
                <a:latin typeface="Cambria Math"/>
                <a:cs typeface="Cambria Math"/>
              </a:rPr>
              <a:t>𝒓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C4F0ECD7-82D8-B540-99FE-C3FAFB3F41FB}"/>
              </a:ext>
            </a:extLst>
          </p:cNvPr>
          <p:cNvSpPr txBox="1"/>
          <p:nvPr/>
        </p:nvSpPr>
        <p:spPr>
          <a:xfrm>
            <a:off x="4569459" y="3746246"/>
            <a:ext cx="2406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>
                <a:latin typeface="Cambria Math"/>
                <a:cs typeface="Cambria Math"/>
              </a:rPr>
              <a:t>𝒒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7" name="object 7">
            <a:extLst>
              <a:ext uri="{FF2B5EF4-FFF2-40B4-BE49-F238E27FC236}">
                <a16:creationId xmlns:a16="http://schemas.microsoft.com/office/drawing/2014/main" id="{11E1805F-FECF-5E40-AF4E-CA925C51AD89}"/>
              </a:ext>
            </a:extLst>
          </p:cNvPr>
          <p:cNvSpPr/>
          <p:nvPr/>
        </p:nvSpPr>
        <p:spPr>
          <a:xfrm>
            <a:off x="4206586" y="4215938"/>
            <a:ext cx="838200" cy="821690"/>
          </a:xfrm>
          <a:custGeom>
            <a:avLst/>
            <a:gdLst/>
            <a:ahLst/>
            <a:cxnLst/>
            <a:rect l="l" t="t" r="r" b="b"/>
            <a:pathLst>
              <a:path w="838200" h="821689">
                <a:moveTo>
                  <a:pt x="0" y="136905"/>
                </a:moveTo>
                <a:lnTo>
                  <a:pt x="6983" y="93650"/>
                </a:lnTo>
                <a:lnTo>
                  <a:pt x="26428" y="56071"/>
                </a:lnTo>
                <a:lnTo>
                  <a:pt x="56071" y="26428"/>
                </a:lnTo>
                <a:lnTo>
                  <a:pt x="93650" y="6983"/>
                </a:lnTo>
                <a:lnTo>
                  <a:pt x="136905" y="0"/>
                </a:lnTo>
                <a:lnTo>
                  <a:pt x="701294" y="0"/>
                </a:lnTo>
                <a:lnTo>
                  <a:pt x="744549" y="6983"/>
                </a:lnTo>
                <a:lnTo>
                  <a:pt x="782128" y="26428"/>
                </a:lnTo>
                <a:lnTo>
                  <a:pt x="811771" y="56071"/>
                </a:lnTo>
                <a:lnTo>
                  <a:pt x="831216" y="93650"/>
                </a:lnTo>
                <a:lnTo>
                  <a:pt x="838200" y="136905"/>
                </a:lnTo>
                <a:lnTo>
                  <a:pt x="838200" y="684529"/>
                </a:lnTo>
                <a:lnTo>
                  <a:pt x="831216" y="727785"/>
                </a:lnTo>
                <a:lnTo>
                  <a:pt x="811771" y="765364"/>
                </a:lnTo>
                <a:lnTo>
                  <a:pt x="782128" y="795007"/>
                </a:lnTo>
                <a:lnTo>
                  <a:pt x="744549" y="814452"/>
                </a:lnTo>
                <a:lnTo>
                  <a:pt x="701294" y="821435"/>
                </a:lnTo>
                <a:lnTo>
                  <a:pt x="136905" y="821435"/>
                </a:lnTo>
                <a:lnTo>
                  <a:pt x="93650" y="814452"/>
                </a:lnTo>
                <a:lnTo>
                  <a:pt x="56071" y="795007"/>
                </a:lnTo>
                <a:lnTo>
                  <a:pt x="26428" y="765364"/>
                </a:lnTo>
                <a:lnTo>
                  <a:pt x="6983" y="727785"/>
                </a:lnTo>
                <a:lnTo>
                  <a:pt x="0" y="684529"/>
                </a:lnTo>
                <a:lnTo>
                  <a:pt x="0" y="136905"/>
                </a:lnTo>
                <a:close/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8">
            <a:extLst>
              <a:ext uri="{FF2B5EF4-FFF2-40B4-BE49-F238E27FC236}">
                <a16:creationId xmlns:a16="http://schemas.microsoft.com/office/drawing/2014/main" id="{ECF86EC2-4C4B-844E-A583-0F7030027CE1}"/>
              </a:ext>
            </a:extLst>
          </p:cNvPr>
          <p:cNvSpPr/>
          <p:nvPr/>
        </p:nvSpPr>
        <p:spPr>
          <a:xfrm>
            <a:off x="4450841" y="5013197"/>
            <a:ext cx="3274695" cy="885190"/>
          </a:xfrm>
          <a:custGeom>
            <a:avLst/>
            <a:gdLst/>
            <a:ahLst/>
            <a:cxnLst/>
            <a:rect l="l" t="t" r="r" b="b"/>
            <a:pathLst>
              <a:path w="3274695" h="885189">
                <a:moveTo>
                  <a:pt x="348488" y="0"/>
                </a:moveTo>
                <a:lnTo>
                  <a:pt x="545719" y="352043"/>
                </a:lnTo>
                <a:lnTo>
                  <a:pt x="0" y="352043"/>
                </a:lnTo>
                <a:lnTo>
                  <a:pt x="0" y="884682"/>
                </a:lnTo>
                <a:lnTo>
                  <a:pt x="3274314" y="884682"/>
                </a:lnTo>
                <a:lnTo>
                  <a:pt x="3274314" y="352043"/>
                </a:lnTo>
                <a:lnTo>
                  <a:pt x="1364234" y="352043"/>
                </a:lnTo>
                <a:lnTo>
                  <a:pt x="348488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9">
            <a:extLst>
              <a:ext uri="{FF2B5EF4-FFF2-40B4-BE49-F238E27FC236}">
                <a16:creationId xmlns:a16="http://schemas.microsoft.com/office/drawing/2014/main" id="{742D83CC-4FCC-7944-A4A2-B980BA1E7D9C}"/>
              </a:ext>
            </a:extLst>
          </p:cNvPr>
          <p:cNvSpPr txBox="1"/>
          <p:nvPr/>
        </p:nvSpPr>
        <p:spPr>
          <a:xfrm>
            <a:off x="4520691" y="5404358"/>
            <a:ext cx="31356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FFFFFF"/>
                </a:solidFill>
                <a:latin typeface="PMingLiU"/>
                <a:cs typeface="PMingLiU"/>
              </a:rPr>
              <a:t>数组第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𝒒</a:t>
            </a:r>
            <a:r>
              <a:rPr sz="2400" spc="-5">
                <a:solidFill>
                  <a:srgbClr val="FFFFFF"/>
                </a:solidFill>
                <a:latin typeface="Cambria Math"/>
                <a:cs typeface="Cambria Math"/>
              </a:rPr>
              <a:t> − </a:t>
            </a:r>
            <a:r>
              <a:rPr sz="2400">
                <a:solidFill>
                  <a:srgbClr val="FFFFFF"/>
                </a:solidFill>
                <a:latin typeface="Cambria Math"/>
                <a:cs typeface="Cambria Math"/>
              </a:rPr>
              <a:t>𝒑 + 𝟏</a:t>
            </a:r>
            <a:r>
              <a:rPr sz="2400" spc="-20">
                <a:solidFill>
                  <a:srgbClr val="FFFFFF"/>
                </a:solidFill>
                <a:latin typeface="PMingLiU"/>
                <a:cs typeface="PMingLiU"/>
              </a:rPr>
              <a:t>小元素</a:t>
            </a:r>
            <a:endParaRPr sz="2400">
              <a:latin typeface="PMingLiU"/>
              <a:cs typeface="PMingLiU"/>
            </a:endParaRPr>
          </a:p>
        </p:txBody>
      </p:sp>
    </p:spTree>
    <p:extLst>
      <p:ext uri="{BB962C8B-B14F-4D97-AF65-F5344CB8AC3E}">
        <p14:creationId xmlns:p14="http://schemas.microsoft.com/office/powerpoint/2010/main" val="1530168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FB54B2FE-AB8F-F740-A478-C39DF2D5120B}"/>
              </a:ext>
            </a:extLst>
          </p:cNvPr>
          <p:cNvSpPr txBox="1"/>
          <p:nvPr/>
        </p:nvSpPr>
        <p:spPr>
          <a:xfrm>
            <a:off x="771467" y="1219479"/>
            <a:ext cx="8860906" cy="2226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2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选取固定位置主元</a:t>
            </a:r>
            <a:r>
              <a:rPr lang="zh-CN" altLang="en-US" sz="2800" spc="-10" dirty="0">
                <a:latin typeface="PMingLiU"/>
                <a:cs typeface="PMingLiU"/>
              </a:rPr>
              <a:t>，小于主元的元素个数</a:t>
            </a:r>
            <a:r>
              <a:rPr lang="zh-CN" altLang="en-US" sz="2800" dirty="0">
                <a:latin typeface="Cambria Math"/>
                <a:cs typeface="Cambria Math"/>
              </a:rPr>
              <a:t>𝒒</a:t>
            </a:r>
            <a:r>
              <a:rPr lang="zh-CN" altLang="en-US" sz="2800" spc="-5" dirty="0">
                <a:latin typeface="Cambria Math"/>
                <a:cs typeface="Cambria Math"/>
              </a:rPr>
              <a:t> − </a:t>
            </a:r>
            <a:r>
              <a:rPr lang="zh-CN" altLang="en-US" sz="2800" spc="-50" dirty="0">
                <a:latin typeface="Cambria Math"/>
                <a:cs typeface="Cambria Math"/>
              </a:rPr>
              <a:t>𝒑</a:t>
            </a:r>
            <a:endParaRPr lang="zh-CN" altLang="en-US" sz="2800" dirty="0">
              <a:latin typeface="Cambria Math"/>
              <a:cs typeface="Cambria Math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PMingLiU"/>
                <a:cs typeface="PMingLiU"/>
              </a:rPr>
              <a:t>情况</a:t>
            </a:r>
            <a:r>
              <a:rPr lang="zh-CN" altLang="en-US" sz="2400" dirty="0">
                <a:latin typeface="Cambria Math"/>
                <a:cs typeface="Cambria Math"/>
              </a:rPr>
              <a:t>𝟏</a:t>
            </a:r>
            <a:r>
              <a:rPr lang="zh-CN" altLang="en-US" sz="2400" dirty="0">
                <a:latin typeface="PMingLiU"/>
                <a:cs typeface="PMingLiU"/>
              </a:rPr>
              <a:t>：</a:t>
            </a:r>
            <a:r>
              <a:rPr lang="zh-CN" altLang="en-US" sz="2400" dirty="0">
                <a:latin typeface="Cambria Math"/>
                <a:cs typeface="Cambria Math"/>
              </a:rPr>
              <a:t>𝒌</a:t>
            </a:r>
            <a:r>
              <a:rPr lang="zh-CN" altLang="en-US" sz="2400" spc="85" dirty="0">
                <a:latin typeface="Cambria Math"/>
                <a:cs typeface="Cambria Math"/>
              </a:rPr>
              <a:t> </a:t>
            </a:r>
            <a:r>
              <a:rPr lang="en-US" altLang="zh-CN" sz="2400" spc="85" dirty="0">
                <a:latin typeface="Cambria Math"/>
                <a:cs typeface="Cambria Math"/>
              </a:rPr>
              <a:t>= </a:t>
            </a:r>
            <a:r>
              <a:rPr lang="zh-CN" altLang="en-US" sz="2400" dirty="0">
                <a:latin typeface="Cambria Math"/>
                <a:cs typeface="Cambria Math"/>
              </a:rPr>
              <a:t>𝒒 − 𝒑 </a:t>
            </a:r>
            <a:r>
              <a:rPr lang="en-US" altLang="zh-CN" sz="2400" dirty="0">
                <a:latin typeface="Cambria Math"/>
                <a:cs typeface="Cambria Math"/>
              </a:rPr>
              <a:t>+ </a:t>
            </a:r>
            <a:r>
              <a:rPr lang="zh-CN" altLang="en-US" sz="2400" spc="-10" dirty="0">
                <a:latin typeface="Cambria Math"/>
                <a:cs typeface="Cambria Math"/>
              </a:rPr>
              <a:t>𝟏</a:t>
            </a:r>
            <a:r>
              <a:rPr lang="zh-CN" altLang="en-US" sz="2400" spc="-10" dirty="0">
                <a:latin typeface="PMingLiU"/>
                <a:cs typeface="PMingLiU"/>
              </a:rPr>
              <a:t>，</a:t>
            </a:r>
            <a:r>
              <a:rPr lang="zh-CN" altLang="en-US" sz="2400" spc="-10" dirty="0">
                <a:latin typeface="Cambria Math"/>
                <a:cs typeface="Cambria Math"/>
              </a:rPr>
              <a:t>𝑨</a:t>
            </a:r>
            <a:r>
              <a:rPr lang="en-US" altLang="zh-CN" sz="2400" spc="-10" dirty="0">
                <a:latin typeface="Cambria Math"/>
                <a:cs typeface="Cambria Math"/>
              </a:rPr>
              <a:t>[𝒒]</a:t>
            </a:r>
            <a:r>
              <a:rPr lang="zh-CN" altLang="en-US" sz="2400" dirty="0">
                <a:latin typeface="PMingLiU"/>
                <a:cs typeface="PMingLiU"/>
              </a:rPr>
              <a:t>为数组第</a:t>
            </a:r>
            <a:r>
              <a:rPr lang="zh-CN" altLang="en-US" sz="2400" spc="-10" dirty="0">
                <a:latin typeface="Cambria Math"/>
                <a:cs typeface="Cambria Math"/>
              </a:rPr>
              <a:t>𝒌</a:t>
            </a:r>
            <a:r>
              <a:rPr lang="zh-CN" altLang="en-US" sz="2400" spc="-20" dirty="0">
                <a:latin typeface="PMingLiU"/>
                <a:cs typeface="PMingLiU"/>
              </a:rPr>
              <a:t>小元素</a:t>
            </a:r>
            <a:endParaRPr lang="en-US" altLang="zh-CN" sz="2400" spc="-20" dirty="0">
              <a:latin typeface="PMingLiU"/>
              <a:cs typeface="PMingLiU"/>
            </a:endParaRPr>
          </a:p>
          <a:p>
            <a:pPr marL="704215" lvl="1" indent="-347980"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PMingLiU"/>
                <a:cs typeface="PMingLiU"/>
              </a:rPr>
              <a:t>情况</a:t>
            </a:r>
            <a:r>
              <a:rPr lang="zh-CN" altLang="en-US" sz="2400" dirty="0">
                <a:latin typeface="Cambria Math"/>
                <a:cs typeface="Cambria Math"/>
              </a:rPr>
              <a:t>𝟐</a:t>
            </a:r>
            <a:r>
              <a:rPr lang="zh-CN" altLang="en-US" sz="2400" dirty="0">
                <a:latin typeface="PMingLiU"/>
                <a:cs typeface="PMingLiU"/>
              </a:rPr>
              <a:t>：</a:t>
            </a:r>
            <a:r>
              <a:rPr lang="zh-CN" altLang="en-US" sz="2400" dirty="0">
                <a:latin typeface="Cambria Math"/>
                <a:cs typeface="Cambria Math"/>
              </a:rPr>
              <a:t>𝒌</a:t>
            </a:r>
            <a:r>
              <a:rPr lang="zh-CN" altLang="en-US" sz="2400" spc="90" dirty="0">
                <a:latin typeface="Cambria Math"/>
                <a:cs typeface="Cambria Math"/>
              </a:rPr>
              <a:t> </a:t>
            </a:r>
            <a:r>
              <a:rPr lang="en-US" altLang="zh-CN" sz="2400" spc="90" dirty="0">
                <a:latin typeface="Cambria Math"/>
                <a:cs typeface="Cambria Math"/>
              </a:rPr>
              <a:t>&lt; </a:t>
            </a:r>
            <a:r>
              <a:rPr lang="zh-CN" altLang="en-US" sz="2400" dirty="0">
                <a:latin typeface="Cambria Math"/>
                <a:cs typeface="Cambria Math"/>
              </a:rPr>
              <a:t>𝒒 − 𝒑 </a:t>
            </a:r>
            <a:r>
              <a:rPr lang="en-US" altLang="zh-CN" sz="2400" dirty="0">
                <a:latin typeface="Cambria Math"/>
                <a:cs typeface="Cambria Math"/>
              </a:rPr>
              <a:t>+ 𝟏</a:t>
            </a:r>
            <a:r>
              <a:rPr lang="zh-CN" altLang="en-US" sz="2400" dirty="0">
                <a:latin typeface="PMingLiU"/>
                <a:cs typeface="PMingLiU"/>
              </a:rPr>
              <a:t>，数组第</a:t>
            </a:r>
            <a:r>
              <a:rPr lang="zh-CN" altLang="en-US" sz="2400" spc="-10" dirty="0">
                <a:latin typeface="Cambria Math"/>
                <a:cs typeface="Cambria Math"/>
              </a:rPr>
              <a:t>𝒌</a:t>
            </a:r>
            <a:r>
              <a:rPr lang="zh-CN" altLang="en-US" sz="2400" dirty="0">
                <a:latin typeface="PMingLiU"/>
                <a:cs typeface="PMingLiU"/>
              </a:rPr>
              <a:t>小元素在</a:t>
            </a:r>
            <a:r>
              <a:rPr lang="zh-CN" altLang="en-US" sz="2400" spc="-10" dirty="0">
                <a:solidFill>
                  <a:srgbClr val="FF0000"/>
                </a:solidFill>
                <a:latin typeface="Cambria Math"/>
                <a:cs typeface="Cambria Math"/>
              </a:rPr>
              <a:t>𝑨</a:t>
            </a:r>
            <a:r>
              <a:rPr lang="en-US" altLang="zh-CN" sz="2400" spc="-10" dirty="0">
                <a:solidFill>
                  <a:srgbClr val="FF0000"/>
                </a:solidFill>
                <a:latin typeface="Cambria Math"/>
                <a:cs typeface="Cambria Math"/>
              </a:rPr>
              <a:t>[𝒑</a:t>
            </a:r>
            <a:r>
              <a:rPr lang="en-US" altLang="zh-CN" sz="2400" spc="-70" dirty="0">
                <a:solidFill>
                  <a:srgbClr val="FF0000"/>
                </a:solidFill>
                <a:latin typeface="Cambria Math"/>
                <a:cs typeface="Cambria Math"/>
              </a:rPr>
              <a:t>. . </a:t>
            </a:r>
            <a:r>
              <a:rPr lang="zh-CN" altLang="en-US" sz="2400" dirty="0">
                <a:solidFill>
                  <a:srgbClr val="FF0000"/>
                </a:solidFill>
                <a:latin typeface="Cambria Math"/>
                <a:cs typeface="Cambria Math"/>
              </a:rPr>
              <a:t>𝒒</a:t>
            </a:r>
            <a:r>
              <a:rPr lang="zh-CN" altLang="en-US" sz="2400" spc="5" dirty="0">
                <a:solidFill>
                  <a:srgbClr val="FF0000"/>
                </a:solidFill>
                <a:latin typeface="Cambria Math"/>
                <a:cs typeface="Cambria Math"/>
              </a:rPr>
              <a:t> − </a:t>
            </a:r>
            <a:r>
              <a:rPr lang="zh-CN" altLang="en-US" sz="2400" spc="-10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lang="en-US" altLang="zh-CN" sz="2400" spc="-10" dirty="0">
                <a:solidFill>
                  <a:srgbClr val="FF0000"/>
                </a:solidFill>
                <a:latin typeface="Cambria Math"/>
                <a:cs typeface="Cambria Math"/>
              </a:rPr>
              <a:t>]</a:t>
            </a:r>
            <a:r>
              <a:rPr lang="zh-CN" altLang="en-US" sz="2400" spc="-50" dirty="0">
                <a:latin typeface="PMingLiU"/>
                <a:cs typeface="PMingLiU"/>
              </a:rPr>
              <a:t>中</a:t>
            </a:r>
            <a:endParaRPr lang="zh-CN" altLang="en-US" sz="2400" dirty="0">
              <a:latin typeface="PMingLiU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endParaRPr lang="zh-CN" altLang="en-US" sz="2400" dirty="0">
              <a:latin typeface="PMingLiU"/>
              <a:cs typeface="PMingLiU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2B955010-3BD2-A045-BEB3-03C84983AD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2641" y="218172"/>
            <a:ext cx="540893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固定位置划分求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解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20" name="object 4">
            <a:extLst>
              <a:ext uri="{FF2B5EF4-FFF2-40B4-BE49-F238E27FC236}">
                <a16:creationId xmlns:a16="http://schemas.microsoft.com/office/drawing/2014/main" id="{1938DC5A-06B4-1546-AD69-D0E741CFB54D}"/>
              </a:ext>
            </a:extLst>
          </p:cNvPr>
          <p:cNvGraphicFramePr>
            <a:graphicFrameLocks noGrp="1"/>
          </p:cNvGraphicFramePr>
          <p:nvPr/>
        </p:nvGraphicFramePr>
        <p:xfrm>
          <a:off x="1455419" y="5619750"/>
          <a:ext cx="2879721" cy="9531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8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90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684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05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055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710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" name="object 5">
            <a:extLst>
              <a:ext uri="{FF2B5EF4-FFF2-40B4-BE49-F238E27FC236}">
                <a16:creationId xmlns:a16="http://schemas.microsoft.com/office/drawing/2014/main" id="{3727FD68-D2E8-1E42-98ED-01D8EF7C61FF}"/>
              </a:ext>
            </a:extLst>
          </p:cNvPr>
          <p:cNvSpPr txBox="1"/>
          <p:nvPr/>
        </p:nvSpPr>
        <p:spPr>
          <a:xfrm>
            <a:off x="2485898" y="5163058"/>
            <a:ext cx="8832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>
                <a:latin typeface="Cambria Math"/>
                <a:cs typeface="Cambria Math"/>
              </a:rPr>
              <a:t>𝒒</a:t>
            </a:r>
            <a:r>
              <a:rPr sz="2800" spc="-5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−</a:t>
            </a:r>
            <a:r>
              <a:rPr sz="2800" spc="-5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𝒑</a:t>
            </a:r>
            <a:endParaRPr sz="2800">
              <a:latin typeface="Cambria Math"/>
              <a:cs typeface="Cambria Math"/>
            </a:endParaRPr>
          </a:p>
        </p:txBody>
      </p:sp>
      <p:graphicFrame>
        <p:nvGraphicFramePr>
          <p:cNvPr id="22" name="object 6">
            <a:extLst>
              <a:ext uri="{FF2B5EF4-FFF2-40B4-BE49-F238E27FC236}">
                <a16:creationId xmlns:a16="http://schemas.microsoft.com/office/drawing/2014/main" id="{8F2B1FE8-1848-B44E-B0A0-368301ACFEEE}"/>
              </a:ext>
            </a:extLst>
          </p:cNvPr>
          <p:cNvGraphicFramePr>
            <a:graphicFrameLocks noGrp="1"/>
          </p:cNvGraphicFramePr>
          <p:nvPr/>
        </p:nvGraphicFramePr>
        <p:xfrm>
          <a:off x="1468500" y="4340605"/>
          <a:ext cx="921511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object 7">
            <a:extLst>
              <a:ext uri="{FF2B5EF4-FFF2-40B4-BE49-F238E27FC236}">
                <a16:creationId xmlns:a16="http://schemas.microsoft.com/office/drawing/2014/main" id="{77A900A9-E217-784B-8F18-1242B9091560}"/>
              </a:ext>
            </a:extLst>
          </p:cNvPr>
          <p:cNvSpPr txBox="1"/>
          <p:nvPr/>
        </p:nvSpPr>
        <p:spPr>
          <a:xfrm>
            <a:off x="1721611" y="3746246"/>
            <a:ext cx="24637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>
                <a:latin typeface="Cambria Math"/>
                <a:cs typeface="Cambria Math"/>
              </a:rPr>
              <a:t>𝒑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4" name="object 8">
            <a:extLst>
              <a:ext uri="{FF2B5EF4-FFF2-40B4-BE49-F238E27FC236}">
                <a16:creationId xmlns:a16="http://schemas.microsoft.com/office/drawing/2014/main" id="{12C2E0F4-D5A8-B547-A1DC-1B3F2E877BD3}"/>
              </a:ext>
            </a:extLst>
          </p:cNvPr>
          <p:cNvSpPr txBox="1"/>
          <p:nvPr/>
        </p:nvSpPr>
        <p:spPr>
          <a:xfrm>
            <a:off x="10231119" y="3746246"/>
            <a:ext cx="2165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>
                <a:latin typeface="Cambria Math"/>
                <a:cs typeface="Cambria Math"/>
              </a:rPr>
              <a:t>𝒓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5" name="object 9">
            <a:extLst>
              <a:ext uri="{FF2B5EF4-FFF2-40B4-BE49-F238E27FC236}">
                <a16:creationId xmlns:a16="http://schemas.microsoft.com/office/drawing/2014/main" id="{E9234CF1-5458-D740-A842-6988FB77A613}"/>
              </a:ext>
            </a:extLst>
          </p:cNvPr>
          <p:cNvSpPr txBox="1"/>
          <p:nvPr/>
        </p:nvSpPr>
        <p:spPr>
          <a:xfrm>
            <a:off x="4569459" y="3746246"/>
            <a:ext cx="2406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>
                <a:latin typeface="Cambria Math"/>
                <a:cs typeface="Cambria Math"/>
              </a:rPr>
              <a:t>𝒒</a:t>
            </a:r>
            <a:endParaRPr sz="28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297702640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FB54B2FE-AB8F-F740-A478-C39DF2D5120B}"/>
              </a:ext>
            </a:extLst>
          </p:cNvPr>
          <p:cNvSpPr txBox="1"/>
          <p:nvPr/>
        </p:nvSpPr>
        <p:spPr>
          <a:xfrm>
            <a:off x="771467" y="1219479"/>
            <a:ext cx="8860906" cy="1844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2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选取固定位置主元</a:t>
            </a:r>
            <a:r>
              <a:rPr lang="zh-CN" altLang="en-US" sz="2800" spc="-10" dirty="0">
                <a:latin typeface="PMingLiU"/>
                <a:cs typeface="PMingLiU"/>
              </a:rPr>
              <a:t>，小于主元的元素个数</a:t>
            </a:r>
            <a:r>
              <a:rPr lang="zh-CN" altLang="en-US" sz="2800" dirty="0">
                <a:latin typeface="Cambria Math"/>
                <a:cs typeface="Cambria Math"/>
              </a:rPr>
              <a:t>𝒒</a:t>
            </a:r>
            <a:r>
              <a:rPr lang="zh-CN" altLang="en-US" sz="2800" spc="-5" dirty="0">
                <a:latin typeface="Cambria Math"/>
                <a:cs typeface="Cambria Math"/>
              </a:rPr>
              <a:t> − </a:t>
            </a:r>
            <a:r>
              <a:rPr lang="zh-CN" altLang="en-US" sz="2800" spc="-50" dirty="0">
                <a:latin typeface="Cambria Math"/>
                <a:cs typeface="Cambria Math"/>
              </a:rPr>
              <a:t>𝒑</a:t>
            </a:r>
            <a:endParaRPr lang="zh-CN" altLang="en-US" sz="2800" dirty="0">
              <a:latin typeface="Cambria Math"/>
              <a:cs typeface="Cambria Math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PMingLiU"/>
                <a:cs typeface="PMingLiU"/>
              </a:rPr>
              <a:t>情况</a:t>
            </a:r>
            <a:r>
              <a:rPr lang="zh-CN" altLang="en-US" sz="2400" dirty="0">
                <a:latin typeface="Cambria Math"/>
                <a:cs typeface="Cambria Math"/>
              </a:rPr>
              <a:t>𝟏</a:t>
            </a:r>
            <a:r>
              <a:rPr lang="zh-CN" altLang="en-US" sz="2400" dirty="0">
                <a:latin typeface="PMingLiU"/>
                <a:cs typeface="PMingLiU"/>
              </a:rPr>
              <a:t>：</a:t>
            </a:r>
            <a:r>
              <a:rPr lang="zh-CN" altLang="en-US" sz="2400" dirty="0">
                <a:latin typeface="Cambria Math"/>
                <a:cs typeface="Cambria Math"/>
              </a:rPr>
              <a:t>𝒌</a:t>
            </a:r>
            <a:r>
              <a:rPr lang="zh-CN" altLang="en-US" sz="2400" spc="85" dirty="0">
                <a:latin typeface="Cambria Math"/>
                <a:cs typeface="Cambria Math"/>
              </a:rPr>
              <a:t> </a:t>
            </a:r>
            <a:r>
              <a:rPr lang="en-US" altLang="zh-CN" sz="2400" spc="85" dirty="0">
                <a:latin typeface="Cambria Math"/>
                <a:cs typeface="Cambria Math"/>
              </a:rPr>
              <a:t>= </a:t>
            </a:r>
            <a:r>
              <a:rPr lang="zh-CN" altLang="en-US" sz="2400" dirty="0">
                <a:latin typeface="Cambria Math"/>
                <a:cs typeface="Cambria Math"/>
              </a:rPr>
              <a:t>𝒒 − 𝒑 </a:t>
            </a:r>
            <a:r>
              <a:rPr lang="en-US" altLang="zh-CN" sz="2400" dirty="0">
                <a:latin typeface="Cambria Math"/>
                <a:cs typeface="Cambria Math"/>
              </a:rPr>
              <a:t>+ </a:t>
            </a:r>
            <a:r>
              <a:rPr lang="zh-CN" altLang="en-US" sz="2400" spc="-10" dirty="0">
                <a:latin typeface="Cambria Math"/>
                <a:cs typeface="Cambria Math"/>
              </a:rPr>
              <a:t>𝟏</a:t>
            </a:r>
            <a:r>
              <a:rPr lang="zh-CN" altLang="en-US" sz="2400" spc="-10" dirty="0">
                <a:latin typeface="PMingLiU"/>
                <a:cs typeface="PMingLiU"/>
              </a:rPr>
              <a:t>，</a:t>
            </a:r>
            <a:r>
              <a:rPr lang="zh-CN" altLang="en-US" sz="2400" spc="-10" dirty="0">
                <a:latin typeface="Cambria Math"/>
                <a:cs typeface="Cambria Math"/>
              </a:rPr>
              <a:t>𝑨</a:t>
            </a:r>
            <a:r>
              <a:rPr lang="en-US" altLang="zh-CN" sz="2400" spc="-10" dirty="0">
                <a:latin typeface="Cambria Math"/>
                <a:cs typeface="Cambria Math"/>
              </a:rPr>
              <a:t>[𝒒]</a:t>
            </a:r>
            <a:r>
              <a:rPr lang="zh-CN" altLang="en-US" sz="2400" dirty="0">
                <a:latin typeface="PMingLiU"/>
                <a:cs typeface="PMingLiU"/>
              </a:rPr>
              <a:t>为数组第</a:t>
            </a:r>
            <a:r>
              <a:rPr lang="zh-CN" altLang="en-US" sz="2400" spc="-10" dirty="0">
                <a:latin typeface="Cambria Math"/>
                <a:cs typeface="Cambria Math"/>
              </a:rPr>
              <a:t>𝒌</a:t>
            </a:r>
            <a:r>
              <a:rPr lang="zh-CN" altLang="en-US" sz="2400" spc="-20" dirty="0">
                <a:latin typeface="PMingLiU"/>
                <a:cs typeface="PMingLiU"/>
              </a:rPr>
              <a:t>小元素</a:t>
            </a:r>
            <a:endParaRPr lang="en-US" altLang="zh-CN" sz="2400" spc="-20" dirty="0">
              <a:latin typeface="PMingLiU"/>
              <a:cs typeface="PMingLiU"/>
            </a:endParaRPr>
          </a:p>
          <a:p>
            <a:pPr marL="704215" lvl="1" indent="-347980"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PMingLiU"/>
                <a:cs typeface="PMingLiU"/>
              </a:rPr>
              <a:t>情况</a:t>
            </a:r>
            <a:r>
              <a:rPr lang="zh-CN" altLang="en-US" sz="2400" dirty="0">
                <a:latin typeface="Cambria Math"/>
                <a:cs typeface="Cambria Math"/>
              </a:rPr>
              <a:t>𝟐</a:t>
            </a:r>
            <a:r>
              <a:rPr lang="zh-CN" altLang="en-US" sz="2400" dirty="0">
                <a:latin typeface="PMingLiU"/>
                <a:cs typeface="PMingLiU"/>
              </a:rPr>
              <a:t>：</a:t>
            </a:r>
            <a:r>
              <a:rPr lang="zh-CN" altLang="en-US" sz="2400" dirty="0">
                <a:latin typeface="Cambria Math"/>
                <a:cs typeface="Cambria Math"/>
              </a:rPr>
              <a:t>𝒌</a:t>
            </a:r>
            <a:r>
              <a:rPr lang="zh-CN" altLang="en-US" sz="2400" spc="90" dirty="0">
                <a:latin typeface="Cambria Math"/>
                <a:cs typeface="Cambria Math"/>
              </a:rPr>
              <a:t> </a:t>
            </a:r>
            <a:r>
              <a:rPr lang="en-US" altLang="zh-CN" sz="2400" spc="90" dirty="0">
                <a:latin typeface="Cambria Math"/>
                <a:cs typeface="Cambria Math"/>
              </a:rPr>
              <a:t>&lt; </a:t>
            </a:r>
            <a:r>
              <a:rPr lang="zh-CN" altLang="en-US" sz="2400" dirty="0">
                <a:latin typeface="Cambria Math"/>
                <a:cs typeface="Cambria Math"/>
              </a:rPr>
              <a:t>𝒒 − 𝒑 </a:t>
            </a:r>
            <a:r>
              <a:rPr lang="en-US" altLang="zh-CN" sz="2400" dirty="0">
                <a:latin typeface="Cambria Math"/>
                <a:cs typeface="Cambria Math"/>
              </a:rPr>
              <a:t>+ 𝟏</a:t>
            </a:r>
            <a:r>
              <a:rPr lang="zh-CN" altLang="en-US" sz="2400" dirty="0">
                <a:latin typeface="PMingLiU"/>
                <a:cs typeface="PMingLiU"/>
              </a:rPr>
              <a:t>，在</a:t>
            </a:r>
            <a:r>
              <a:rPr lang="zh-CN" altLang="en-US" sz="2400" spc="-10" dirty="0">
                <a:solidFill>
                  <a:srgbClr val="FF0000"/>
                </a:solidFill>
                <a:latin typeface="Cambria Math"/>
                <a:cs typeface="Cambria Math"/>
              </a:rPr>
              <a:t>𝑨</a:t>
            </a:r>
            <a:r>
              <a:rPr lang="en-US" altLang="zh-CN" sz="2400" spc="-10" dirty="0">
                <a:solidFill>
                  <a:srgbClr val="FF0000"/>
                </a:solidFill>
                <a:latin typeface="Cambria Math"/>
                <a:cs typeface="Cambria Math"/>
              </a:rPr>
              <a:t>[𝒑</a:t>
            </a:r>
            <a:r>
              <a:rPr lang="en-US" altLang="zh-CN" sz="2400" spc="-75" dirty="0">
                <a:solidFill>
                  <a:srgbClr val="FF0000"/>
                </a:solidFill>
                <a:latin typeface="Cambria Math"/>
                <a:cs typeface="Cambria Math"/>
              </a:rPr>
              <a:t>. . </a:t>
            </a:r>
            <a:r>
              <a:rPr lang="zh-CN" altLang="en-US" sz="2400" dirty="0">
                <a:solidFill>
                  <a:srgbClr val="FF0000"/>
                </a:solidFill>
                <a:latin typeface="Cambria Math"/>
                <a:cs typeface="Cambria Math"/>
              </a:rPr>
              <a:t>𝒒</a:t>
            </a:r>
            <a:r>
              <a:rPr lang="zh-CN" altLang="en-US" sz="2400" spc="5" dirty="0">
                <a:solidFill>
                  <a:srgbClr val="FF0000"/>
                </a:solidFill>
                <a:latin typeface="Cambria Math"/>
                <a:cs typeface="Cambria Math"/>
              </a:rPr>
              <a:t> − </a:t>
            </a:r>
            <a:r>
              <a:rPr lang="zh-CN" altLang="en-US" sz="2400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lang="en-US" altLang="zh-CN" sz="2400" dirty="0">
                <a:solidFill>
                  <a:srgbClr val="FF0000"/>
                </a:solidFill>
                <a:latin typeface="Cambria Math"/>
                <a:cs typeface="Cambria Math"/>
              </a:rPr>
              <a:t>]</a:t>
            </a:r>
            <a:r>
              <a:rPr lang="zh-CN" altLang="en-US" sz="2400" dirty="0">
                <a:latin typeface="PMingLiU"/>
                <a:cs typeface="PMingLiU"/>
              </a:rPr>
              <a:t>中寻找第</a:t>
            </a:r>
            <a:r>
              <a:rPr lang="zh-CN" altLang="en-US" sz="2400" dirty="0">
                <a:solidFill>
                  <a:srgbClr val="FF0000"/>
                </a:solidFill>
                <a:latin typeface="Cambria Math"/>
                <a:cs typeface="Cambria Math"/>
              </a:rPr>
              <a:t>𝒌</a:t>
            </a:r>
            <a:r>
              <a:rPr lang="zh-CN" altLang="en-US" sz="2400" spc="-20" dirty="0">
                <a:latin typeface="PMingLiU"/>
                <a:cs typeface="PMingLiU"/>
              </a:rPr>
              <a:t>小元素</a:t>
            </a:r>
            <a:endParaRPr lang="en-US" altLang="zh-CN" sz="2400" spc="-20" dirty="0">
              <a:latin typeface="PMingLiU"/>
              <a:cs typeface="PMingLiU"/>
            </a:endParaRPr>
          </a:p>
          <a:p>
            <a:pPr marL="704215" lvl="1" indent="-347980"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2B955010-3BD2-A045-BEB3-03C84983AD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2641" y="218172"/>
            <a:ext cx="540893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固定位置划分求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解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22" name="object 6">
            <a:extLst>
              <a:ext uri="{FF2B5EF4-FFF2-40B4-BE49-F238E27FC236}">
                <a16:creationId xmlns:a16="http://schemas.microsoft.com/office/drawing/2014/main" id="{8F2B1FE8-1848-B44E-B0A0-368301ACFEEE}"/>
              </a:ext>
            </a:extLst>
          </p:cNvPr>
          <p:cNvGraphicFramePr>
            <a:graphicFrameLocks noGrp="1"/>
          </p:cNvGraphicFramePr>
          <p:nvPr/>
        </p:nvGraphicFramePr>
        <p:xfrm>
          <a:off x="1468500" y="4340605"/>
          <a:ext cx="921511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object 7">
            <a:extLst>
              <a:ext uri="{FF2B5EF4-FFF2-40B4-BE49-F238E27FC236}">
                <a16:creationId xmlns:a16="http://schemas.microsoft.com/office/drawing/2014/main" id="{77A900A9-E217-784B-8F18-1242B9091560}"/>
              </a:ext>
            </a:extLst>
          </p:cNvPr>
          <p:cNvSpPr txBox="1"/>
          <p:nvPr/>
        </p:nvSpPr>
        <p:spPr>
          <a:xfrm>
            <a:off x="1721611" y="3746246"/>
            <a:ext cx="24637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>
                <a:latin typeface="Cambria Math"/>
                <a:cs typeface="Cambria Math"/>
              </a:rPr>
              <a:t>𝒑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4" name="object 8">
            <a:extLst>
              <a:ext uri="{FF2B5EF4-FFF2-40B4-BE49-F238E27FC236}">
                <a16:creationId xmlns:a16="http://schemas.microsoft.com/office/drawing/2014/main" id="{12C2E0F4-D5A8-B547-A1DC-1B3F2E877BD3}"/>
              </a:ext>
            </a:extLst>
          </p:cNvPr>
          <p:cNvSpPr txBox="1"/>
          <p:nvPr/>
        </p:nvSpPr>
        <p:spPr>
          <a:xfrm>
            <a:off x="10231119" y="3746246"/>
            <a:ext cx="2165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>
                <a:latin typeface="Cambria Math"/>
                <a:cs typeface="Cambria Math"/>
              </a:rPr>
              <a:t>𝒓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5" name="object 9">
            <a:extLst>
              <a:ext uri="{FF2B5EF4-FFF2-40B4-BE49-F238E27FC236}">
                <a16:creationId xmlns:a16="http://schemas.microsoft.com/office/drawing/2014/main" id="{E9234CF1-5458-D740-A842-6988FB77A613}"/>
              </a:ext>
            </a:extLst>
          </p:cNvPr>
          <p:cNvSpPr txBox="1"/>
          <p:nvPr/>
        </p:nvSpPr>
        <p:spPr>
          <a:xfrm>
            <a:off x="4569459" y="3746246"/>
            <a:ext cx="2406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>
                <a:latin typeface="Cambria Math"/>
                <a:cs typeface="Cambria Math"/>
              </a:rPr>
              <a:t>𝒒</a:t>
            </a:r>
            <a:endParaRPr sz="2800">
              <a:latin typeface="Cambria Math"/>
              <a:cs typeface="Cambria Math"/>
            </a:endParaRPr>
          </a:p>
        </p:txBody>
      </p:sp>
      <p:graphicFrame>
        <p:nvGraphicFramePr>
          <p:cNvPr id="10" name="object 4">
            <a:extLst>
              <a:ext uri="{FF2B5EF4-FFF2-40B4-BE49-F238E27FC236}">
                <a16:creationId xmlns:a16="http://schemas.microsoft.com/office/drawing/2014/main" id="{B90CF380-022E-874B-A25A-FA08540595D9}"/>
              </a:ext>
            </a:extLst>
          </p:cNvPr>
          <p:cNvGraphicFramePr>
            <a:graphicFrameLocks noGrp="1"/>
          </p:cNvGraphicFramePr>
          <p:nvPr/>
        </p:nvGraphicFramePr>
        <p:xfrm>
          <a:off x="1468500" y="5997016"/>
          <a:ext cx="2879723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bject 5">
            <a:extLst>
              <a:ext uri="{FF2B5EF4-FFF2-40B4-BE49-F238E27FC236}">
                <a16:creationId xmlns:a16="http://schemas.microsoft.com/office/drawing/2014/main" id="{F0503377-29B0-1246-86C1-11EE038EA9B4}"/>
              </a:ext>
            </a:extLst>
          </p:cNvPr>
          <p:cNvSpPr/>
          <p:nvPr/>
        </p:nvSpPr>
        <p:spPr>
          <a:xfrm>
            <a:off x="1487424" y="5638800"/>
            <a:ext cx="1776730" cy="314960"/>
          </a:xfrm>
          <a:custGeom>
            <a:avLst/>
            <a:gdLst/>
            <a:ahLst/>
            <a:cxnLst/>
            <a:rect l="l" t="t" r="r" b="b"/>
            <a:pathLst>
              <a:path w="1776729" h="314960">
                <a:moveTo>
                  <a:pt x="0" y="314706"/>
                </a:moveTo>
                <a:lnTo>
                  <a:pt x="2051" y="253456"/>
                </a:lnTo>
                <a:lnTo>
                  <a:pt x="7651" y="203439"/>
                </a:lnTo>
                <a:lnTo>
                  <a:pt x="15966" y="169718"/>
                </a:lnTo>
                <a:lnTo>
                  <a:pt x="26162" y="157353"/>
                </a:lnTo>
                <a:lnTo>
                  <a:pt x="831595" y="157353"/>
                </a:lnTo>
                <a:lnTo>
                  <a:pt x="841811" y="144987"/>
                </a:lnTo>
                <a:lnTo>
                  <a:pt x="850169" y="111266"/>
                </a:lnTo>
                <a:lnTo>
                  <a:pt x="855813" y="61249"/>
                </a:lnTo>
                <a:lnTo>
                  <a:pt x="857884" y="0"/>
                </a:lnTo>
                <a:lnTo>
                  <a:pt x="859936" y="61249"/>
                </a:lnTo>
                <a:lnTo>
                  <a:pt x="865536" y="111266"/>
                </a:lnTo>
                <a:lnTo>
                  <a:pt x="873851" y="144987"/>
                </a:lnTo>
                <a:lnTo>
                  <a:pt x="884046" y="157353"/>
                </a:lnTo>
                <a:lnTo>
                  <a:pt x="1750059" y="157353"/>
                </a:lnTo>
                <a:lnTo>
                  <a:pt x="1760255" y="169718"/>
                </a:lnTo>
                <a:lnTo>
                  <a:pt x="1768570" y="203439"/>
                </a:lnTo>
                <a:lnTo>
                  <a:pt x="1774170" y="253456"/>
                </a:lnTo>
                <a:lnTo>
                  <a:pt x="1776222" y="314706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345EF993-3846-704C-A042-D16470CA36E4}"/>
              </a:ext>
            </a:extLst>
          </p:cNvPr>
          <p:cNvSpPr txBox="1"/>
          <p:nvPr/>
        </p:nvSpPr>
        <p:spPr>
          <a:xfrm>
            <a:off x="2253742" y="5171947"/>
            <a:ext cx="243204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>
                <a:latin typeface="Cambria Math"/>
                <a:cs typeface="Cambria Math"/>
              </a:rPr>
              <a:t>𝒌</a:t>
            </a:r>
            <a:endParaRPr sz="28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363323711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FB54B2FE-AB8F-F740-A478-C39DF2D5120B}"/>
              </a:ext>
            </a:extLst>
          </p:cNvPr>
          <p:cNvSpPr txBox="1"/>
          <p:nvPr/>
        </p:nvSpPr>
        <p:spPr>
          <a:xfrm>
            <a:off x="771467" y="1219479"/>
            <a:ext cx="10345024" cy="17825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25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选取固定位置主元</a:t>
            </a:r>
            <a:r>
              <a:rPr lang="zh-CN" altLang="en-US" sz="2800" spc="-10" dirty="0">
                <a:latin typeface="PMingLiU"/>
                <a:cs typeface="PMingLiU"/>
              </a:rPr>
              <a:t>，小于主元的元素个数</a:t>
            </a:r>
            <a:r>
              <a:rPr lang="zh-CN" altLang="en-US" sz="2800" dirty="0">
                <a:latin typeface="Cambria Math"/>
                <a:cs typeface="Cambria Math"/>
              </a:rPr>
              <a:t>𝒒</a:t>
            </a:r>
            <a:r>
              <a:rPr lang="zh-CN" altLang="en-US" sz="2800" spc="-5" dirty="0">
                <a:latin typeface="Cambria Math"/>
                <a:cs typeface="Cambria Math"/>
              </a:rPr>
              <a:t> − </a:t>
            </a:r>
            <a:r>
              <a:rPr lang="zh-CN" altLang="en-US" sz="2800" spc="-50" dirty="0">
                <a:latin typeface="Cambria Math"/>
                <a:cs typeface="Cambria Math"/>
              </a:rPr>
              <a:t>𝒑</a:t>
            </a:r>
            <a:endParaRPr lang="zh-CN" altLang="en-US" sz="2800" dirty="0">
              <a:latin typeface="Cambria Math"/>
              <a:cs typeface="Cambria Math"/>
            </a:endParaRPr>
          </a:p>
          <a:p>
            <a:pPr marL="704215" lvl="1" indent="-347980">
              <a:lnSpc>
                <a:spcPct val="100000"/>
              </a:lnSpc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PMingLiU"/>
                <a:cs typeface="PMingLiU"/>
              </a:rPr>
              <a:t>情况</a:t>
            </a:r>
            <a:r>
              <a:rPr lang="zh-CN" altLang="en-US" sz="2400" dirty="0">
                <a:latin typeface="Cambria Math"/>
                <a:cs typeface="Cambria Math"/>
              </a:rPr>
              <a:t>𝟏</a:t>
            </a:r>
            <a:r>
              <a:rPr lang="zh-CN" altLang="en-US" sz="2400" dirty="0">
                <a:latin typeface="PMingLiU"/>
                <a:cs typeface="PMingLiU"/>
              </a:rPr>
              <a:t>：</a:t>
            </a:r>
            <a:r>
              <a:rPr lang="zh-CN" altLang="en-US" sz="2400" dirty="0">
                <a:latin typeface="Cambria Math"/>
                <a:cs typeface="Cambria Math"/>
              </a:rPr>
              <a:t>𝒌</a:t>
            </a:r>
            <a:r>
              <a:rPr lang="zh-CN" altLang="en-US" sz="2400" spc="85" dirty="0">
                <a:latin typeface="Cambria Math"/>
                <a:cs typeface="Cambria Math"/>
              </a:rPr>
              <a:t> </a:t>
            </a:r>
            <a:r>
              <a:rPr lang="en-US" altLang="zh-CN" sz="2400" spc="85" dirty="0">
                <a:latin typeface="Cambria Math"/>
                <a:cs typeface="Cambria Math"/>
              </a:rPr>
              <a:t>= </a:t>
            </a:r>
            <a:r>
              <a:rPr lang="zh-CN" altLang="en-US" sz="2400" dirty="0">
                <a:latin typeface="Cambria Math"/>
                <a:cs typeface="Cambria Math"/>
              </a:rPr>
              <a:t>𝒒 − 𝒑 </a:t>
            </a:r>
            <a:r>
              <a:rPr lang="en-US" altLang="zh-CN" sz="2400" dirty="0">
                <a:latin typeface="Cambria Math"/>
                <a:cs typeface="Cambria Math"/>
              </a:rPr>
              <a:t>+ </a:t>
            </a:r>
            <a:r>
              <a:rPr lang="zh-CN" altLang="en-US" sz="2400" spc="-10" dirty="0">
                <a:latin typeface="Cambria Math"/>
                <a:cs typeface="Cambria Math"/>
              </a:rPr>
              <a:t>𝟏</a:t>
            </a:r>
            <a:r>
              <a:rPr lang="zh-CN" altLang="en-US" sz="2400" spc="-10" dirty="0">
                <a:latin typeface="PMingLiU"/>
                <a:cs typeface="PMingLiU"/>
              </a:rPr>
              <a:t>，</a:t>
            </a:r>
            <a:r>
              <a:rPr lang="zh-CN" altLang="en-US" sz="2400" spc="-10" dirty="0">
                <a:latin typeface="Cambria Math"/>
                <a:cs typeface="Cambria Math"/>
              </a:rPr>
              <a:t>𝑨</a:t>
            </a:r>
            <a:r>
              <a:rPr lang="en-US" altLang="zh-CN" sz="2400" spc="-10" dirty="0">
                <a:latin typeface="Cambria Math"/>
                <a:cs typeface="Cambria Math"/>
              </a:rPr>
              <a:t>[𝒒]</a:t>
            </a:r>
            <a:r>
              <a:rPr lang="zh-CN" altLang="en-US" sz="2400" dirty="0">
                <a:latin typeface="PMingLiU"/>
                <a:cs typeface="PMingLiU"/>
              </a:rPr>
              <a:t>为数组第</a:t>
            </a:r>
            <a:r>
              <a:rPr lang="zh-CN" altLang="en-US" sz="2400" spc="-10" dirty="0">
                <a:latin typeface="Cambria Math"/>
                <a:cs typeface="Cambria Math"/>
              </a:rPr>
              <a:t>𝒌</a:t>
            </a:r>
            <a:r>
              <a:rPr lang="zh-CN" altLang="en-US" sz="2400" spc="-20" dirty="0">
                <a:latin typeface="PMingLiU"/>
                <a:cs typeface="PMingLiU"/>
              </a:rPr>
              <a:t>小元素</a:t>
            </a:r>
            <a:endParaRPr lang="en-US" altLang="zh-CN" sz="2400" spc="-20" dirty="0">
              <a:latin typeface="PMingLiU"/>
              <a:cs typeface="PMingLiU"/>
            </a:endParaRPr>
          </a:p>
          <a:p>
            <a:pPr marL="704215" lvl="1" indent="-347980"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PMingLiU"/>
                <a:cs typeface="PMingLiU"/>
              </a:rPr>
              <a:t>情况</a:t>
            </a:r>
            <a:r>
              <a:rPr lang="zh-CN" altLang="en-US" sz="2400" dirty="0">
                <a:latin typeface="Cambria Math"/>
                <a:cs typeface="Cambria Math"/>
              </a:rPr>
              <a:t>𝟐</a:t>
            </a:r>
            <a:r>
              <a:rPr lang="zh-CN" altLang="en-US" sz="2400" dirty="0">
                <a:latin typeface="PMingLiU"/>
                <a:cs typeface="PMingLiU"/>
              </a:rPr>
              <a:t>：</a:t>
            </a:r>
            <a:r>
              <a:rPr lang="zh-CN" altLang="en-US" sz="2400" dirty="0">
                <a:latin typeface="Cambria Math"/>
                <a:cs typeface="Cambria Math"/>
              </a:rPr>
              <a:t>𝒌</a:t>
            </a:r>
            <a:r>
              <a:rPr lang="zh-CN" altLang="en-US" sz="2400" spc="90" dirty="0">
                <a:latin typeface="Cambria Math"/>
                <a:cs typeface="Cambria Math"/>
              </a:rPr>
              <a:t> </a:t>
            </a:r>
            <a:r>
              <a:rPr lang="en-US" altLang="zh-CN" sz="2400" spc="90" dirty="0">
                <a:latin typeface="Cambria Math"/>
                <a:cs typeface="Cambria Math"/>
              </a:rPr>
              <a:t>&lt; </a:t>
            </a:r>
            <a:r>
              <a:rPr lang="zh-CN" altLang="en-US" sz="2400" dirty="0">
                <a:latin typeface="Cambria Math"/>
                <a:cs typeface="Cambria Math"/>
              </a:rPr>
              <a:t>𝒒 − 𝒑 </a:t>
            </a:r>
            <a:r>
              <a:rPr lang="en-US" altLang="zh-CN" sz="2400" dirty="0">
                <a:latin typeface="Cambria Math"/>
                <a:cs typeface="Cambria Math"/>
              </a:rPr>
              <a:t>+ 𝟏</a:t>
            </a:r>
            <a:r>
              <a:rPr lang="zh-CN" altLang="en-US" sz="2400" dirty="0">
                <a:latin typeface="PMingLiU"/>
                <a:cs typeface="PMingLiU"/>
              </a:rPr>
              <a:t>，在</a:t>
            </a:r>
            <a:r>
              <a:rPr lang="zh-CN" altLang="en-US" sz="2400" spc="-10" dirty="0">
                <a:solidFill>
                  <a:srgbClr val="FF0000"/>
                </a:solidFill>
                <a:latin typeface="Cambria Math"/>
                <a:cs typeface="Cambria Math"/>
              </a:rPr>
              <a:t>𝑨</a:t>
            </a:r>
            <a:r>
              <a:rPr lang="en-US" altLang="zh-CN" sz="2400" spc="-10" dirty="0">
                <a:solidFill>
                  <a:srgbClr val="FF0000"/>
                </a:solidFill>
                <a:latin typeface="Cambria Math"/>
                <a:cs typeface="Cambria Math"/>
              </a:rPr>
              <a:t>[𝒑</a:t>
            </a:r>
            <a:r>
              <a:rPr lang="en-US" altLang="zh-CN" sz="2400" spc="-75" dirty="0">
                <a:solidFill>
                  <a:srgbClr val="FF0000"/>
                </a:solidFill>
                <a:latin typeface="Cambria Math"/>
                <a:cs typeface="Cambria Math"/>
              </a:rPr>
              <a:t>. . </a:t>
            </a:r>
            <a:r>
              <a:rPr lang="zh-CN" altLang="en-US" sz="2400" dirty="0">
                <a:solidFill>
                  <a:srgbClr val="FF0000"/>
                </a:solidFill>
                <a:latin typeface="Cambria Math"/>
                <a:cs typeface="Cambria Math"/>
              </a:rPr>
              <a:t>𝒒</a:t>
            </a:r>
            <a:r>
              <a:rPr lang="zh-CN" altLang="en-US" sz="2400" spc="5" dirty="0">
                <a:solidFill>
                  <a:srgbClr val="FF0000"/>
                </a:solidFill>
                <a:latin typeface="Cambria Math"/>
                <a:cs typeface="Cambria Math"/>
              </a:rPr>
              <a:t> − </a:t>
            </a:r>
            <a:r>
              <a:rPr lang="zh-CN" altLang="en-US" sz="2400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lang="en-US" altLang="zh-CN" sz="2400" dirty="0">
                <a:solidFill>
                  <a:srgbClr val="FF0000"/>
                </a:solidFill>
                <a:latin typeface="Cambria Math"/>
                <a:cs typeface="Cambria Math"/>
              </a:rPr>
              <a:t>]</a:t>
            </a:r>
            <a:r>
              <a:rPr lang="zh-CN" altLang="en-US" sz="2400" dirty="0">
                <a:latin typeface="PMingLiU"/>
                <a:cs typeface="PMingLiU"/>
              </a:rPr>
              <a:t>中寻找第</a:t>
            </a:r>
            <a:r>
              <a:rPr lang="zh-CN" altLang="en-US" sz="2400" dirty="0">
                <a:solidFill>
                  <a:srgbClr val="FF0000"/>
                </a:solidFill>
                <a:latin typeface="Cambria Math"/>
                <a:cs typeface="Cambria Math"/>
              </a:rPr>
              <a:t>𝒌</a:t>
            </a:r>
            <a:r>
              <a:rPr lang="zh-CN" altLang="en-US" sz="2400" spc="-20" dirty="0">
                <a:latin typeface="PMingLiU"/>
                <a:cs typeface="PMingLiU"/>
              </a:rPr>
              <a:t>小元素</a:t>
            </a:r>
            <a:endParaRPr lang="en-US" altLang="zh-CN" sz="2400" spc="-20" dirty="0">
              <a:latin typeface="PMingLiU"/>
              <a:cs typeface="PMingLiU"/>
            </a:endParaRPr>
          </a:p>
          <a:p>
            <a:pPr marL="704215" lvl="1" indent="-347980">
              <a:spcBef>
                <a:spcPts val="62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lang="zh-CN" altLang="en-US" sz="2400" dirty="0">
                <a:latin typeface="PMingLiU"/>
                <a:cs typeface="PMingLiU"/>
              </a:rPr>
              <a:t>情况</a:t>
            </a:r>
            <a:r>
              <a:rPr lang="zh-CN" altLang="en-US" sz="2400" dirty="0">
                <a:latin typeface="Cambria Math"/>
                <a:cs typeface="Cambria Math"/>
              </a:rPr>
              <a:t>𝟑</a:t>
            </a:r>
            <a:r>
              <a:rPr lang="zh-CN" altLang="en-US" sz="2400" dirty="0">
                <a:latin typeface="PMingLiU"/>
                <a:cs typeface="PMingLiU"/>
              </a:rPr>
              <a:t>：</a:t>
            </a:r>
            <a:r>
              <a:rPr lang="zh-CN" altLang="en-US" sz="2400" dirty="0">
                <a:latin typeface="Cambria Math"/>
                <a:cs typeface="Cambria Math"/>
              </a:rPr>
              <a:t>𝒌</a:t>
            </a:r>
            <a:r>
              <a:rPr lang="zh-CN" altLang="en-US" sz="2400" spc="85" dirty="0">
                <a:latin typeface="Cambria Math"/>
                <a:cs typeface="Cambria Math"/>
              </a:rPr>
              <a:t> </a:t>
            </a:r>
            <a:r>
              <a:rPr lang="en-US" altLang="zh-CN" sz="2400" spc="85" dirty="0">
                <a:latin typeface="Cambria Math"/>
                <a:cs typeface="Cambria Math"/>
              </a:rPr>
              <a:t>&gt; </a:t>
            </a:r>
            <a:r>
              <a:rPr lang="zh-CN" altLang="en-US" sz="2400" dirty="0">
                <a:latin typeface="Cambria Math"/>
                <a:cs typeface="Cambria Math"/>
              </a:rPr>
              <a:t>𝒒 − 𝒑 </a:t>
            </a:r>
            <a:r>
              <a:rPr lang="en-US" altLang="zh-CN" sz="2400" dirty="0">
                <a:latin typeface="Cambria Math"/>
                <a:cs typeface="Cambria Math"/>
              </a:rPr>
              <a:t>+ 𝟏</a:t>
            </a:r>
            <a:r>
              <a:rPr lang="zh-CN" altLang="en-US" sz="2400" dirty="0">
                <a:latin typeface="PMingLiU"/>
                <a:cs typeface="PMingLiU"/>
              </a:rPr>
              <a:t>，在</a:t>
            </a:r>
            <a:r>
              <a:rPr lang="zh-CN" altLang="en-US" sz="2400" dirty="0">
                <a:solidFill>
                  <a:srgbClr val="FF0000"/>
                </a:solidFill>
                <a:latin typeface="Cambria Math"/>
                <a:cs typeface="Cambria Math"/>
              </a:rPr>
              <a:t>𝑨</a:t>
            </a:r>
            <a:r>
              <a:rPr lang="en-US" altLang="zh-CN" sz="2400" dirty="0">
                <a:solidFill>
                  <a:srgbClr val="FF0000"/>
                </a:solidFill>
                <a:latin typeface="Cambria Math"/>
                <a:cs typeface="Cambria Math"/>
              </a:rPr>
              <a:t>[𝒒</a:t>
            </a:r>
            <a:r>
              <a:rPr lang="zh-CN" altLang="en-US" sz="2400" spc="-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en-US" altLang="zh-CN" sz="2400" spc="-5" dirty="0">
                <a:solidFill>
                  <a:srgbClr val="FF0000"/>
                </a:solidFill>
                <a:latin typeface="Cambria Math"/>
                <a:cs typeface="Cambria Math"/>
              </a:rPr>
              <a:t>+ </a:t>
            </a:r>
            <a:r>
              <a:rPr lang="zh-CN" altLang="en-US" sz="2400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lang="en-US" altLang="zh-CN" sz="2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lang="zh-CN" altLang="en-US" sz="2400" spc="-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en-US" altLang="zh-CN" sz="2400" spc="-95" dirty="0">
                <a:solidFill>
                  <a:srgbClr val="FF0000"/>
                </a:solidFill>
                <a:latin typeface="Cambria Math"/>
                <a:cs typeface="Cambria Math"/>
              </a:rPr>
              <a:t>. </a:t>
            </a:r>
            <a:r>
              <a:rPr lang="zh-CN" altLang="en-US" sz="2400" spc="-10" dirty="0">
                <a:solidFill>
                  <a:srgbClr val="FF0000"/>
                </a:solidFill>
                <a:latin typeface="Cambria Math"/>
                <a:cs typeface="Cambria Math"/>
              </a:rPr>
              <a:t>𝒓</a:t>
            </a:r>
            <a:r>
              <a:rPr lang="en-US" altLang="zh-CN" sz="2400" spc="-10" dirty="0">
                <a:solidFill>
                  <a:srgbClr val="FF0000"/>
                </a:solidFill>
                <a:latin typeface="Cambria Math"/>
                <a:cs typeface="Cambria Math"/>
              </a:rPr>
              <a:t>]</a:t>
            </a:r>
            <a:r>
              <a:rPr lang="zh-CN" altLang="en-US" sz="2400" dirty="0">
                <a:latin typeface="PMingLiU"/>
                <a:cs typeface="PMingLiU"/>
              </a:rPr>
              <a:t>中寻找第</a:t>
            </a:r>
            <a:r>
              <a:rPr lang="zh-CN" altLang="en-US" sz="2400" dirty="0">
                <a:solidFill>
                  <a:srgbClr val="FF0000"/>
                </a:solidFill>
                <a:latin typeface="Cambria Math"/>
                <a:cs typeface="Cambria Math"/>
              </a:rPr>
              <a:t>𝒌</a:t>
            </a:r>
            <a:r>
              <a:rPr lang="zh-CN" altLang="en-US" sz="2400" spc="-5" dirty="0">
                <a:solidFill>
                  <a:srgbClr val="FF0000"/>
                </a:solidFill>
                <a:latin typeface="Cambria Math"/>
                <a:cs typeface="Cambria Math"/>
              </a:rPr>
              <a:t> − </a:t>
            </a:r>
            <a:r>
              <a:rPr lang="en-US" altLang="zh-CN" sz="2400" spc="-5" dirty="0">
                <a:solidFill>
                  <a:srgbClr val="FF0000"/>
                </a:solidFill>
                <a:latin typeface="Cambria Math"/>
                <a:cs typeface="Cambria Math"/>
              </a:rPr>
              <a:t>(</a:t>
            </a:r>
            <a:r>
              <a:rPr lang="zh-CN" altLang="en-US" sz="2400" dirty="0">
                <a:solidFill>
                  <a:srgbClr val="FF0000"/>
                </a:solidFill>
                <a:latin typeface="Cambria Math"/>
                <a:cs typeface="Cambria Math"/>
              </a:rPr>
              <a:t>𝒒 − 𝒑 </a:t>
            </a:r>
            <a:r>
              <a:rPr lang="en-US" altLang="zh-CN" sz="2400" dirty="0">
                <a:solidFill>
                  <a:srgbClr val="FF0000"/>
                </a:solidFill>
                <a:latin typeface="Cambria Math"/>
                <a:cs typeface="Cambria Math"/>
              </a:rPr>
              <a:t>+ 𝟏)</a:t>
            </a:r>
            <a:r>
              <a:rPr lang="zh-CN" altLang="en-US" sz="2400" spc="-20" dirty="0">
                <a:latin typeface="PMingLiU"/>
                <a:cs typeface="PMingLiU"/>
              </a:rPr>
              <a:t>小元素</a:t>
            </a:r>
            <a:endParaRPr lang="zh-CN" altLang="en-US" sz="2400" dirty="0">
              <a:latin typeface="PMingLiU"/>
              <a:cs typeface="PMingLiU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2B955010-3BD2-A045-BEB3-03C84983AD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2641" y="218172"/>
            <a:ext cx="540893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固定位置划分求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解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22" name="object 6">
            <a:extLst>
              <a:ext uri="{FF2B5EF4-FFF2-40B4-BE49-F238E27FC236}">
                <a16:creationId xmlns:a16="http://schemas.microsoft.com/office/drawing/2014/main" id="{8F2B1FE8-1848-B44E-B0A0-368301ACFEEE}"/>
              </a:ext>
            </a:extLst>
          </p:cNvPr>
          <p:cNvGraphicFramePr>
            <a:graphicFrameLocks noGrp="1"/>
          </p:cNvGraphicFramePr>
          <p:nvPr/>
        </p:nvGraphicFramePr>
        <p:xfrm>
          <a:off x="1468500" y="4340605"/>
          <a:ext cx="921511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object 7">
            <a:extLst>
              <a:ext uri="{FF2B5EF4-FFF2-40B4-BE49-F238E27FC236}">
                <a16:creationId xmlns:a16="http://schemas.microsoft.com/office/drawing/2014/main" id="{77A900A9-E217-784B-8F18-1242B9091560}"/>
              </a:ext>
            </a:extLst>
          </p:cNvPr>
          <p:cNvSpPr txBox="1"/>
          <p:nvPr/>
        </p:nvSpPr>
        <p:spPr>
          <a:xfrm>
            <a:off x="1721611" y="3746246"/>
            <a:ext cx="24637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>
                <a:latin typeface="Cambria Math"/>
                <a:cs typeface="Cambria Math"/>
              </a:rPr>
              <a:t>𝒑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4" name="object 8">
            <a:extLst>
              <a:ext uri="{FF2B5EF4-FFF2-40B4-BE49-F238E27FC236}">
                <a16:creationId xmlns:a16="http://schemas.microsoft.com/office/drawing/2014/main" id="{12C2E0F4-D5A8-B547-A1DC-1B3F2E877BD3}"/>
              </a:ext>
            </a:extLst>
          </p:cNvPr>
          <p:cNvSpPr txBox="1"/>
          <p:nvPr/>
        </p:nvSpPr>
        <p:spPr>
          <a:xfrm>
            <a:off x="10231119" y="3746246"/>
            <a:ext cx="2165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>
                <a:latin typeface="Cambria Math"/>
                <a:cs typeface="Cambria Math"/>
              </a:rPr>
              <a:t>𝒓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5" name="object 9">
            <a:extLst>
              <a:ext uri="{FF2B5EF4-FFF2-40B4-BE49-F238E27FC236}">
                <a16:creationId xmlns:a16="http://schemas.microsoft.com/office/drawing/2014/main" id="{E9234CF1-5458-D740-A842-6988FB77A613}"/>
              </a:ext>
            </a:extLst>
          </p:cNvPr>
          <p:cNvSpPr txBox="1"/>
          <p:nvPr/>
        </p:nvSpPr>
        <p:spPr>
          <a:xfrm>
            <a:off x="4569459" y="3746246"/>
            <a:ext cx="2406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>
                <a:latin typeface="Cambria Math"/>
                <a:cs typeface="Cambria Math"/>
              </a:rPr>
              <a:t>𝒒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540C2624-19B9-3242-9A84-B972ECC3BFA6}"/>
              </a:ext>
            </a:extLst>
          </p:cNvPr>
          <p:cNvSpPr/>
          <p:nvPr/>
        </p:nvSpPr>
        <p:spPr>
          <a:xfrm>
            <a:off x="5125973" y="5638800"/>
            <a:ext cx="2443480" cy="314960"/>
          </a:xfrm>
          <a:custGeom>
            <a:avLst/>
            <a:gdLst/>
            <a:ahLst/>
            <a:cxnLst/>
            <a:rect l="l" t="t" r="r" b="b"/>
            <a:pathLst>
              <a:path w="2443479" h="314960">
                <a:moveTo>
                  <a:pt x="0" y="314706"/>
                </a:moveTo>
                <a:lnTo>
                  <a:pt x="2051" y="253456"/>
                </a:lnTo>
                <a:lnTo>
                  <a:pt x="7651" y="203439"/>
                </a:lnTo>
                <a:lnTo>
                  <a:pt x="15966" y="169718"/>
                </a:lnTo>
                <a:lnTo>
                  <a:pt x="26162" y="157353"/>
                </a:lnTo>
                <a:lnTo>
                  <a:pt x="1153667" y="157353"/>
                </a:lnTo>
                <a:lnTo>
                  <a:pt x="1163863" y="144987"/>
                </a:lnTo>
                <a:lnTo>
                  <a:pt x="1172178" y="111266"/>
                </a:lnTo>
                <a:lnTo>
                  <a:pt x="1177778" y="61249"/>
                </a:lnTo>
                <a:lnTo>
                  <a:pt x="1179829" y="0"/>
                </a:lnTo>
                <a:lnTo>
                  <a:pt x="1181883" y="61249"/>
                </a:lnTo>
                <a:lnTo>
                  <a:pt x="1187497" y="111266"/>
                </a:lnTo>
                <a:lnTo>
                  <a:pt x="1195849" y="144987"/>
                </a:lnTo>
                <a:lnTo>
                  <a:pt x="1206118" y="157353"/>
                </a:lnTo>
                <a:lnTo>
                  <a:pt x="2416682" y="157353"/>
                </a:lnTo>
                <a:lnTo>
                  <a:pt x="2426952" y="169718"/>
                </a:lnTo>
                <a:lnTo>
                  <a:pt x="2435304" y="203439"/>
                </a:lnTo>
                <a:lnTo>
                  <a:pt x="2440918" y="253456"/>
                </a:lnTo>
                <a:lnTo>
                  <a:pt x="2442972" y="314706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2732F395-D9C9-3842-9A9F-4EC3AF63AC4E}"/>
              </a:ext>
            </a:extLst>
          </p:cNvPr>
          <p:cNvSpPr txBox="1"/>
          <p:nvPr/>
        </p:nvSpPr>
        <p:spPr>
          <a:xfrm>
            <a:off x="5140197" y="5070602"/>
            <a:ext cx="245554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>
                <a:latin typeface="Cambria Math"/>
                <a:cs typeface="Cambria Math"/>
              </a:rPr>
              <a:t>𝒌 − (𝒒</a:t>
            </a:r>
            <a:r>
              <a:rPr sz="2800" spc="-10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− 𝒑 + </a:t>
            </a:r>
            <a:r>
              <a:rPr sz="2800" spc="-25">
                <a:latin typeface="Cambria Math"/>
                <a:cs typeface="Cambria Math"/>
              </a:rPr>
              <a:t>𝟏)</a:t>
            </a:r>
            <a:endParaRPr sz="2800">
              <a:latin typeface="Cambria Math"/>
              <a:cs typeface="Cambria Math"/>
            </a:endParaRPr>
          </a:p>
        </p:txBody>
      </p:sp>
      <p:graphicFrame>
        <p:nvGraphicFramePr>
          <p:cNvPr id="15" name="object 6">
            <a:extLst>
              <a:ext uri="{FF2B5EF4-FFF2-40B4-BE49-F238E27FC236}">
                <a16:creationId xmlns:a16="http://schemas.microsoft.com/office/drawing/2014/main" id="{2F04BB0D-6A0D-9048-9785-E8D8383213ED}"/>
              </a:ext>
            </a:extLst>
          </p:cNvPr>
          <p:cNvGraphicFramePr>
            <a:graphicFrameLocks noGrp="1"/>
          </p:cNvGraphicFramePr>
          <p:nvPr/>
        </p:nvGraphicFramePr>
        <p:xfrm>
          <a:off x="1455356" y="5619750"/>
          <a:ext cx="9215117" cy="9531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15684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055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1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05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710"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10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37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object 7">
            <a:extLst>
              <a:ext uri="{FF2B5EF4-FFF2-40B4-BE49-F238E27FC236}">
                <a16:creationId xmlns:a16="http://schemas.microsoft.com/office/drawing/2014/main" id="{9B323D4B-0E1C-0543-A148-E7554835AC16}"/>
              </a:ext>
            </a:extLst>
          </p:cNvPr>
          <p:cNvSpPr txBox="1"/>
          <p:nvPr/>
        </p:nvSpPr>
        <p:spPr>
          <a:xfrm>
            <a:off x="2535935" y="5070602"/>
            <a:ext cx="15195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>
                <a:latin typeface="Cambria Math"/>
                <a:cs typeface="Cambria Math"/>
              </a:rPr>
              <a:t>𝒒</a:t>
            </a:r>
            <a:r>
              <a:rPr sz="2800" spc="-5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− 𝒑 +</a:t>
            </a:r>
            <a:r>
              <a:rPr sz="2800" spc="-1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B5A3A6BC-C7C1-1745-840E-8F8ADD95816E}"/>
              </a:ext>
            </a:extLst>
          </p:cNvPr>
          <p:cNvCxnSpPr/>
          <p:nvPr/>
        </p:nvCxnSpPr>
        <p:spPr>
          <a:xfrm>
            <a:off x="3158836" y="5777345"/>
            <a:ext cx="17145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550047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E2230314-6263-284F-8DBD-9C6CEC35A2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1372" y="209974"/>
            <a:ext cx="559616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固定位置划分求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解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778DE81-F6FB-2F4D-B3D8-3C7A9FF6CC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9436622"/>
              </p:ext>
            </p:extLst>
          </p:nvPr>
        </p:nvGraphicFramePr>
        <p:xfrm>
          <a:off x="4029455" y="3533631"/>
          <a:ext cx="575944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7D2D2264-32DE-DA48-B9BA-126BB4EA7E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571470"/>
              </p:ext>
            </p:extLst>
          </p:nvPr>
        </p:nvGraphicFramePr>
        <p:xfrm>
          <a:off x="573112" y="3533631"/>
          <a:ext cx="2879723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7E7E7E"/>
                      </a:solidFill>
                      <a:prstDash val="sysDash"/>
                    </a:lnL>
                    <a:lnR w="38100">
                      <a:solidFill>
                        <a:srgbClr val="7E7E7E"/>
                      </a:solidFill>
                      <a:prstDash val="sysDash"/>
                    </a:lnR>
                    <a:lnT w="38100">
                      <a:solidFill>
                        <a:srgbClr val="7E7E7E"/>
                      </a:solidFill>
                      <a:prstDash val="sysDash"/>
                    </a:lnT>
                    <a:lnB w="38100">
                      <a:solidFill>
                        <a:srgbClr val="7E7E7E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7E7E7E"/>
                      </a:solidFill>
                      <a:prstDash val="sysDash"/>
                    </a:lnL>
                    <a:lnR w="38100">
                      <a:solidFill>
                        <a:srgbClr val="7E7E7E"/>
                      </a:solidFill>
                      <a:prstDash val="sysDash"/>
                    </a:lnR>
                    <a:lnT w="38100">
                      <a:solidFill>
                        <a:srgbClr val="7E7E7E"/>
                      </a:solidFill>
                      <a:prstDash val="sysDash"/>
                    </a:lnT>
                    <a:lnB w="38100">
                      <a:solidFill>
                        <a:srgbClr val="7E7E7E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7E7E7E"/>
                      </a:solidFill>
                      <a:prstDash val="sysDash"/>
                    </a:lnL>
                    <a:lnR w="38100">
                      <a:solidFill>
                        <a:srgbClr val="7E7E7E"/>
                      </a:solidFill>
                      <a:prstDash val="sysDash"/>
                    </a:lnR>
                    <a:lnT w="38100">
                      <a:solidFill>
                        <a:srgbClr val="7E7E7E"/>
                      </a:solidFill>
                      <a:prstDash val="sysDash"/>
                    </a:lnT>
                    <a:lnB w="38100">
                      <a:solidFill>
                        <a:srgbClr val="7E7E7E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7E7E7E"/>
                      </a:solidFill>
                      <a:prstDash val="sysDash"/>
                    </a:lnL>
                    <a:lnR w="38100">
                      <a:solidFill>
                        <a:srgbClr val="7E7E7E"/>
                      </a:solidFill>
                      <a:prstDash val="sysDash"/>
                    </a:lnR>
                    <a:lnT w="38100">
                      <a:solidFill>
                        <a:srgbClr val="7E7E7E"/>
                      </a:solidFill>
                      <a:prstDash val="sysDash"/>
                    </a:lnT>
                    <a:lnB w="38100">
                      <a:solidFill>
                        <a:srgbClr val="7E7E7E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7E7E7E"/>
                      </a:solidFill>
                      <a:prstDash val="sysDash"/>
                    </a:lnL>
                    <a:lnR w="38100">
                      <a:solidFill>
                        <a:srgbClr val="7E7E7E"/>
                      </a:solidFill>
                      <a:prstDash val="sysDash"/>
                    </a:lnR>
                    <a:lnT w="38100">
                      <a:solidFill>
                        <a:srgbClr val="7E7E7E"/>
                      </a:solidFill>
                      <a:prstDash val="sysDash"/>
                    </a:lnT>
                    <a:lnB w="38100">
                      <a:solidFill>
                        <a:srgbClr val="7E7E7E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67CA50AA-CB58-C246-8CC3-F4F81B368A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602371"/>
              </p:ext>
            </p:extLst>
          </p:nvPr>
        </p:nvGraphicFramePr>
        <p:xfrm>
          <a:off x="573112" y="1877169"/>
          <a:ext cx="921511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" name="object 6">
            <a:extLst>
              <a:ext uri="{FF2B5EF4-FFF2-40B4-BE49-F238E27FC236}">
                <a16:creationId xmlns:a16="http://schemas.microsoft.com/office/drawing/2014/main" id="{3B6D22F8-3A77-2044-A1A0-BF0A36A1737B}"/>
              </a:ext>
            </a:extLst>
          </p:cNvPr>
          <p:cNvGrpSpPr/>
          <p:nvPr/>
        </p:nvGrpSpPr>
        <p:grpSpPr>
          <a:xfrm>
            <a:off x="2013204" y="2454512"/>
            <a:ext cx="4935220" cy="1117600"/>
            <a:chOff x="2013204" y="1984248"/>
            <a:chExt cx="4935220" cy="1117600"/>
          </a:xfrm>
        </p:grpSpPr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1C3ACFBC-4C5B-594E-B163-1DEBB76A6F4B}"/>
                </a:ext>
              </a:extLst>
            </p:cNvPr>
            <p:cNvSpPr/>
            <p:nvPr/>
          </p:nvSpPr>
          <p:spPr>
            <a:xfrm>
              <a:off x="3797808" y="2003298"/>
              <a:ext cx="3131185" cy="1079500"/>
            </a:xfrm>
            <a:custGeom>
              <a:avLst/>
              <a:gdLst/>
              <a:ahLst/>
              <a:cxnLst/>
              <a:rect l="l" t="t" r="r" b="b"/>
              <a:pathLst>
                <a:path w="3131184" h="1079500">
                  <a:moveTo>
                    <a:pt x="0" y="0"/>
                  </a:moveTo>
                  <a:lnTo>
                    <a:pt x="3131185" y="1079246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90AA1178-3149-B448-AD28-F3603649A7A0}"/>
                </a:ext>
              </a:extLst>
            </p:cNvPr>
            <p:cNvSpPr/>
            <p:nvPr/>
          </p:nvSpPr>
          <p:spPr>
            <a:xfrm>
              <a:off x="2032254" y="2003298"/>
              <a:ext cx="1765935" cy="1079500"/>
            </a:xfrm>
            <a:custGeom>
              <a:avLst/>
              <a:gdLst/>
              <a:ahLst/>
              <a:cxnLst/>
              <a:rect l="l" t="t" r="r" b="b"/>
              <a:pathLst>
                <a:path w="1765935" h="1079500">
                  <a:moveTo>
                    <a:pt x="1765426" y="0"/>
                  </a:moveTo>
                  <a:lnTo>
                    <a:pt x="0" y="1079246"/>
                  </a:lnTo>
                </a:path>
              </a:pathLst>
            </a:custGeom>
            <a:ln w="38100">
              <a:solidFill>
                <a:srgbClr val="7E7E7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8A307EFB-A5AC-264C-9CD8-FF1EEA717682}"/>
              </a:ext>
            </a:extLst>
          </p:cNvPr>
          <p:cNvSpPr txBox="1"/>
          <p:nvPr/>
        </p:nvSpPr>
        <p:spPr>
          <a:xfrm>
            <a:off x="557348" y="1214628"/>
            <a:ext cx="4179570" cy="461024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2984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35"/>
              </a:spcBef>
            </a:pPr>
            <a:r>
              <a:rPr sz="2800" spc="-5" dirty="0" err="1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原问题解在某个子问题中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DAD67C9D-EB79-8F44-8442-57F36516D43B}"/>
              </a:ext>
            </a:extLst>
          </p:cNvPr>
          <p:cNvSpPr/>
          <p:nvPr/>
        </p:nvSpPr>
        <p:spPr>
          <a:xfrm>
            <a:off x="9894951" y="1654030"/>
            <a:ext cx="2118360" cy="976630"/>
          </a:xfrm>
          <a:custGeom>
            <a:avLst/>
            <a:gdLst/>
            <a:ahLst/>
            <a:cxnLst/>
            <a:rect l="l" t="t" r="r" b="b"/>
            <a:pathLst>
              <a:path w="2118359" h="976630">
                <a:moveTo>
                  <a:pt x="2020697" y="0"/>
                </a:moveTo>
                <a:lnTo>
                  <a:pt x="97663" y="0"/>
                </a:lnTo>
                <a:lnTo>
                  <a:pt x="59632" y="7669"/>
                </a:lnTo>
                <a:lnTo>
                  <a:pt x="28590" y="28590"/>
                </a:lnTo>
                <a:lnTo>
                  <a:pt x="7669" y="59632"/>
                </a:lnTo>
                <a:lnTo>
                  <a:pt x="0" y="97662"/>
                </a:lnTo>
                <a:lnTo>
                  <a:pt x="0" y="878459"/>
                </a:lnTo>
                <a:lnTo>
                  <a:pt x="7669" y="916489"/>
                </a:lnTo>
                <a:lnTo>
                  <a:pt x="28590" y="947531"/>
                </a:lnTo>
                <a:lnTo>
                  <a:pt x="59632" y="968452"/>
                </a:lnTo>
                <a:lnTo>
                  <a:pt x="97663" y="976122"/>
                </a:lnTo>
                <a:lnTo>
                  <a:pt x="2020697" y="976122"/>
                </a:lnTo>
                <a:lnTo>
                  <a:pt x="2058727" y="968452"/>
                </a:lnTo>
                <a:lnTo>
                  <a:pt x="2089769" y="947531"/>
                </a:lnTo>
                <a:lnTo>
                  <a:pt x="2110690" y="916489"/>
                </a:lnTo>
                <a:lnTo>
                  <a:pt x="2118359" y="878459"/>
                </a:lnTo>
                <a:lnTo>
                  <a:pt x="2118359" y="97662"/>
                </a:lnTo>
                <a:lnTo>
                  <a:pt x="2110690" y="59632"/>
                </a:lnTo>
                <a:lnTo>
                  <a:pt x="2089769" y="28590"/>
                </a:lnTo>
                <a:lnTo>
                  <a:pt x="2058727" y="7669"/>
                </a:lnTo>
                <a:lnTo>
                  <a:pt x="2020697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CF4095CB-0AC4-F74A-BBF6-4E958301B848}"/>
              </a:ext>
            </a:extLst>
          </p:cNvPr>
          <p:cNvSpPr txBox="1"/>
          <p:nvPr/>
        </p:nvSpPr>
        <p:spPr>
          <a:xfrm>
            <a:off x="10017506" y="1253599"/>
            <a:ext cx="1854200" cy="1040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>
                <a:latin typeface="PMingLiU"/>
                <a:cs typeface="PMingLiU"/>
              </a:rPr>
              <a:t>分而治之框架</a:t>
            </a:r>
            <a:endParaRPr sz="2400">
              <a:latin typeface="PMingLiU"/>
              <a:cs typeface="PMingLiU"/>
            </a:endParaRPr>
          </a:p>
          <a:p>
            <a:pPr marL="111760">
              <a:lnSpc>
                <a:spcPct val="100000"/>
              </a:lnSpc>
              <a:spcBef>
                <a:spcPts val="1989"/>
              </a:spcBef>
            </a:pPr>
            <a:r>
              <a:rPr sz="2600" spc="-35">
                <a:solidFill>
                  <a:srgbClr val="FFC000"/>
                </a:solidFill>
                <a:latin typeface="PMingLiU"/>
                <a:cs typeface="PMingLiU"/>
              </a:rPr>
              <a:t>分解</a:t>
            </a:r>
            <a:r>
              <a:rPr sz="2600" spc="-35">
                <a:solidFill>
                  <a:srgbClr val="FFFFFF"/>
                </a:solidFill>
                <a:latin typeface="PMingLiU"/>
                <a:cs typeface="PMingLiU"/>
              </a:rPr>
              <a:t>原问</a:t>
            </a:r>
            <a:r>
              <a:rPr sz="2600" spc="-50">
                <a:solidFill>
                  <a:srgbClr val="FFFFFF"/>
                </a:solidFill>
                <a:latin typeface="PMingLiU"/>
                <a:cs typeface="PMingLiU"/>
              </a:rPr>
              <a:t>题</a:t>
            </a:r>
            <a:endParaRPr sz="2600">
              <a:latin typeface="PMingLiU"/>
              <a:cs typeface="PMingLiU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E560AE15-825F-1C45-931B-219EF8C58E74}"/>
              </a:ext>
            </a:extLst>
          </p:cNvPr>
          <p:cNvSpPr/>
          <p:nvPr/>
        </p:nvSpPr>
        <p:spPr>
          <a:xfrm>
            <a:off x="10618469" y="2728069"/>
            <a:ext cx="670560" cy="589280"/>
          </a:xfrm>
          <a:custGeom>
            <a:avLst/>
            <a:gdLst/>
            <a:ahLst/>
            <a:cxnLst/>
            <a:rect l="l" t="t" r="r" b="b"/>
            <a:pathLst>
              <a:path w="670559" h="589280">
                <a:moveTo>
                  <a:pt x="536448" y="0"/>
                </a:moveTo>
                <a:lnTo>
                  <a:pt x="134111" y="0"/>
                </a:lnTo>
                <a:lnTo>
                  <a:pt x="134111" y="294513"/>
                </a:lnTo>
                <a:lnTo>
                  <a:pt x="0" y="294513"/>
                </a:lnTo>
                <a:lnTo>
                  <a:pt x="335279" y="589026"/>
                </a:lnTo>
                <a:lnTo>
                  <a:pt x="670559" y="294513"/>
                </a:lnTo>
                <a:lnTo>
                  <a:pt x="536448" y="294513"/>
                </a:lnTo>
                <a:lnTo>
                  <a:pt x="53644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55241D48-A942-104D-9908-0E363377F4E7}"/>
              </a:ext>
            </a:extLst>
          </p:cNvPr>
          <p:cNvSpPr/>
          <p:nvPr/>
        </p:nvSpPr>
        <p:spPr>
          <a:xfrm>
            <a:off x="9894951" y="3415774"/>
            <a:ext cx="2118360" cy="976630"/>
          </a:xfrm>
          <a:custGeom>
            <a:avLst/>
            <a:gdLst/>
            <a:ahLst/>
            <a:cxnLst/>
            <a:rect l="l" t="t" r="r" b="b"/>
            <a:pathLst>
              <a:path w="2118359" h="976628">
                <a:moveTo>
                  <a:pt x="2020697" y="0"/>
                </a:moveTo>
                <a:lnTo>
                  <a:pt x="97663" y="0"/>
                </a:lnTo>
                <a:lnTo>
                  <a:pt x="59632" y="7669"/>
                </a:lnTo>
                <a:lnTo>
                  <a:pt x="28590" y="28590"/>
                </a:lnTo>
                <a:lnTo>
                  <a:pt x="7669" y="59632"/>
                </a:lnTo>
                <a:lnTo>
                  <a:pt x="0" y="97662"/>
                </a:lnTo>
                <a:lnTo>
                  <a:pt x="0" y="878458"/>
                </a:lnTo>
                <a:lnTo>
                  <a:pt x="7669" y="916489"/>
                </a:lnTo>
                <a:lnTo>
                  <a:pt x="28590" y="947531"/>
                </a:lnTo>
                <a:lnTo>
                  <a:pt x="59632" y="968452"/>
                </a:lnTo>
                <a:lnTo>
                  <a:pt x="97663" y="976121"/>
                </a:lnTo>
                <a:lnTo>
                  <a:pt x="2020697" y="976121"/>
                </a:lnTo>
                <a:lnTo>
                  <a:pt x="2058727" y="968452"/>
                </a:lnTo>
                <a:lnTo>
                  <a:pt x="2089769" y="947531"/>
                </a:lnTo>
                <a:lnTo>
                  <a:pt x="2110690" y="916489"/>
                </a:lnTo>
                <a:lnTo>
                  <a:pt x="2118359" y="878458"/>
                </a:lnTo>
                <a:lnTo>
                  <a:pt x="2118359" y="97662"/>
                </a:lnTo>
                <a:lnTo>
                  <a:pt x="2110690" y="59632"/>
                </a:lnTo>
                <a:lnTo>
                  <a:pt x="2089769" y="28590"/>
                </a:lnTo>
                <a:lnTo>
                  <a:pt x="2058727" y="7669"/>
                </a:lnTo>
                <a:lnTo>
                  <a:pt x="2020697" y="0"/>
                </a:lnTo>
                <a:close/>
              </a:path>
            </a:pathLst>
          </a:custGeom>
          <a:solidFill>
            <a:srgbClr val="25AD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2E0D4393-EA05-324F-B299-B7D113D2400A}"/>
              </a:ext>
            </a:extLst>
          </p:cNvPr>
          <p:cNvSpPr txBox="1"/>
          <p:nvPr/>
        </p:nvSpPr>
        <p:spPr>
          <a:xfrm>
            <a:off x="10116566" y="3634596"/>
            <a:ext cx="167513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35">
                <a:solidFill>
                  <a:srgbClr val="FFC000"/>
                </a:solidFill>
                <a:latin typeface="PMingLiU"/>
                <a:cs typeface="PMingLiU"/>
              </a:rPr>
              <a:t>解决</a:t>
            </a:r>
            <a:r>
              <a:rPr sz="2600" spc="-35">
                <a:solidFill>
                  <a:srgbClr val="FFFFFF"/>
                </a:solidFill>
                <a:latin typeface="PMingLiU"/>
                <a:cs typeface="PMingLiU"/>
              </a:rPr>
              <a:t>子问</a:t>
            </a:r>
            <a:r>
              <a:rPr sz="2600" spc="-50">
                <a:solidFill>
                  <a:srgbClr val="FFFFFF"/>
                </a:solidFill>
                <a:latin typeface="PMingLiU"/>
                <a:cs typeface="PMingLiU"/>
              </a:rPr>
              <a:t>题</a:t>
            </a:r>
            <a:endParaRPr sz="2600">
              <a:latin typeface="PMingLiU"/>
              <a:cs typeface="PMingLiU"/>
            </a:endParaRPr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37E9E46D-956B-A94B-BDDF-B00621DEECE9}"/>
              </a:ext>
            </a:extLst>
          </p:cNvPr>
          <p:cNvSpPr/>
          <p:nvPr/>
        </p:nvSpPr>
        <p:spPr>
          <a:xfrm>
            <a:off x="10618469" y="4491337"/>
            <a:ext cx="670560" cy="600075"/>
          </a:xfrm>
          <a:custGeom>
            <a:avLst/>
            <a:gdLst/>
            <a:ahLst/>
            <a:cxnLst/>
            <a:rect l="l" t="t" r="r" b="b"/>
            <a:pathLst>
              <a:path w="670559" h="600075">
                <a:moveTo>
                  <a:pt x="536448" y="0"/>
                </a:moveTo>
                <a:lnTo>
                  <a:pt x="134111" y="0"/>
                </a:lnTo>
                <a:lnTo>
                  <a:pt x="134111" y="299846"/>
                </a:lnTo>
                <a:lnTo>
                  <a:pt x="0" y="299846"/>
                </a:lnTo>
                <a:lnTo>
                  <a:pt x="335279" y="599694"/>
                </a:lnTo>
                <a:lnTo>
                  <a:pt x="670559" y="299846"/>
                </a:lnTo>
                <a:lnTo>
                  <a:pt x="536448" y="299846"/>
                </a:lnTo>
                <a:lnTo>
                  <a:pt x="53644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247913A5-5813-684A-A294-5E7396BA130E}"/>
              </a:ext>
            </a:extLst>
          </p:cNvPr>
          <p:cNvSpPr/>
          <p:nvPr/>
        </p:nvSpPr>
        <p:spPr>
          <a:xfrm>
            <a:off x="9894951" y="5191235"/>
            <a:ext cx="2118360" cy="975360"/>
          </a:xfrm>
          <a:custGeom>
            <a:avLst/>
            <a:gdLst/>
            <a:ahLst/>
            <a:cxnLst/>
            <a:rect l="l" t="t" r="r" b="b"/>
            <a:pathLst>
              <a:path w="2118359" h="975360">
                <a:moveTo>
                  <a:pt x="2020824" y="0"/>
                </a:moveTo>
                <a:lnTo>
                  <a:pt x="97535" y="0"/>
                </a:lnTo>
                <a:lnTo>
                  <a:pt x="59578" y="7667"/>
                </a:lnTo>
                <a:lnTo>
                  <a:pt x="28575" y="28574"/>
                </a:lnTo>
                <a:lnTo>
                  <a:pt x="7667" y="59578"/>
                </a:lnTo>
                <a:lnTo>
                  <a:pt x="0" y="97535"/>
                </a:lnTo>
                <a:lnTo>
                  <a:pt x="0" y="877823"/>
                </a:lnTo>
                <a:lnTo>
                  <a:pt x="7667" y="915786"/>
                </a:lnTo>
                <a:lnTo>
                  <a:pt x="28575" y="946789"/>
                </a:lnTo>
                <a:lnTo>
                  <a:pt x="59578" y="967694"/>
                </a:lnTo>
                <a:lnTo>
                  <a:pt x="97535" y="975359"/>
                </a:lnTo>
                <a:lnTo>
                  <a:pt x="2020824" y="975359"/>
                </a:lnTo>
                <a:lnTo>
                  <a:pt x="2058781" y="967694"/>
                </a:lnTo>
                <a:lnTo>
                  <a:pt x="2089784" y="946789"/>
                </a:lnTo>
                <a:lnTo>
                  <a:pt x="2110692" y="915786"/>
                </a:lnTo>
                <a:lnTo>
                  <a:pt x="2118359" y="877823"/>
                </a:lnTo>
                <a:lnTo>
                  <a:pt x="2118359" y="97535"/>
                </a:lnTo>
                <a:lnTo>
                  <a:pt x="2110692" y="59578"/>
                </a:lnTo>
                <a:lnTo>
                  <a:pt x="2089784" y="28574"/>
                </a:lnTo>
                <a:lnTo>
                  <a:pt x="2058781" y="7667"/>
                </a:lnTo>
                <a:lnTo>
                  <a:pt x="2020824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B7A3787D-4C4F-2649-9B10-E66126B7B314}"/>
              </a:ext>
            </a:extLst>
          </p:cNvPr>
          <p:cNvSpPr txBox="1"/>
          <p:nvPr/>
        </p:nvSpPr>
        <p:spPr>
          <a:xfrm>
            <a:off x="10116566" y="5410055"/>
            <a:ext cx="167513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35">
                <a:solidFill>
                  <a:srgbClr val="FFC000"/>
                </a:solidFill>
                <a:latin typeface="PMingLiU"/>
                <a:cs typeface="PMingLiU"/>
              </a:rPr>
              <a:t>合并</a:t>
            </a:r>
            <a:r>
              <a:rPr sz="2600" spc="-35">
                <a:solidFill>
                  <a:srgbClr val="FFFFFF"/>
                </a:solidFill>
                <a:latin typeface="PMingLiU"/>
                <a:cs typeface="PMingLiU"/>
              </a:rPr>
              <a:t>问题</a:t>
            </a:r>
            <a:r>
              <a:rPr sz="2600" spc="-50">
                <a:solidFill>
                  <a:srgbClr val="FFFFFF"/>
                </a:solidFill>
                <a:latin typeface="PMingLiU"/>
                <a:cs typeface="PMingLiU"/>
              </a:rPr>
              <a:t>解</a:t>
            </a:r>
            <a:endParaRPr sz="2600">
              <a:latin typeface="PMingLiU"/>
              <a:cs typeface="PMingLiU"/>
            </a:endParaRPr>
          </a:p>
        </p:txBody>
      </p:sp>
    </p:spTree>
    <p:extLst>
      <p:ext uri="{BB962C8B-B14F-4D97-AF65-F5344CB8AC3E}">
        <p14:creationId xmlns:p14="http://schemas.microsoft.com/office/powerpoint/2010/main" val="111375674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CB180609-A60B-3148-B3E5-FBF5EB39D8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22347" y="214185"/>
            <a:ext cx="5883548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固定位置划分求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解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8188918F-6BDC-DB49-9904-ADDF09D40595}"/>
              </a:ext>
            </a:extLst>
          </p:cNvPr>
          <p:cNvGraphicFramePr>
            <a:graphicFrameLocks noGrp="1"/>
          </p:cNvGraphicFramePr>
          <p:nvPr/>
        </p:nvGraphicFramePr>
        <p:xfrm>
          <a:off x="4029455" y="3063367"/>
          <a:ext cx="575944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053B2CB-CA83-0E4E-BED2-99A33BFBDF8A}"/>
              </a:ext>
            </a:extLst>
          </p:cNvPr>
          <p:cNvGraphicFramePr>
            <a:graphicFrameLocks noGrp="1"/>
          </p:cNvGraphicFramePr>
          <p:nvPr/>
        </p:nvGraphicFramePr>
        <p:xfrm>
          <a:off x="573112" y="3063367"/>
          <a:ext cx="2879723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7E7E7E"/>
                      </a:solidFill>
                      <a:prstDash val="sysDash"/>
                    </a:lnL>
                    <a:lnR w="38100">
                      <a:solidFill>
                        <a:srgbClr val="7E7E7E"/>
                      </a:solidFill>
                      <a:prstDash val="sysDash"/>
                    </a:lnR>
                    <a:lnT w="38100">
                      <a:solidFill>
                        <a:srgbClr val="7E7E7E"/>
                      </a:solidFill>
                      <a:prstDash val="sysDash"/>
                    </a:lnT>
                    <a:lnB w="38100">
                      <a:solidFill>
                        <a:srgbClr val="7E7E7E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7E7E7E"/>
                      </a:solidFill>
                      <a:prstDash val="sysDash"/>
                    </a:lnL>
                    <a:lnR w="38100">
                      <a:solidFill>
                        <a:srgbClr val="7E7E7E"/>
                      </a:solidFill>
                      <a:prstDash val="sysDash"/>
                    </a:lnR>
                    <a:lnT w="38100">
                      <a:solidFill>
                        <a:srgbClr val="7E7E7E"/>
                      </a:solidFill>
                      <a:prstDash val="sysDash"/>
                    </a:lnT>
                    <a:lnB w="38100">
                      <a:solidFill>
                        <a:srgbClr val="7E7E7E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7E7E7E"/>
                      </a:solidFill>
                      <a:prstDash val="sysDash"/>
                    </a:lnL>
                    <a:lnR w="38100">
                      <a:solidFill>
                        <a:srgbClr val="7E7E7E"/>
                      </a:solidFill>
                      <a:prstDash val="sysDash"/>
                    </a:lnR>
                    <a:lnT w="38100">
                      <a:solidFill>
                        <a:srgbClr val="7E7E7E"/>
                      </a:solidFill>
                      <a:prstDash val="sysDash"/>
                    </a:lnT>
                    <a:lnB w="38100">
                      <a:solidFill>
                        <a:srgbClr val="7E7E7E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7E7E7E"/>
                      </a:solidFill>
                      <a:prstDash val="sysDash"/>
                    </a:lnL>
                    <a:lnR w="38100">
                      <a:solidFill>
                        <a:srgbClr val="7E7E7E"/>
                      </a:solidFill>
                      <a:prstDash val="sysDash"/>
                    </a:lnR>
                    <a:lnT w="38100">
                      <a:solidFill>
                        <a:srgbClr val="7E7E7E"/>
                      </a:solidFill>
                      <a:prstDash val="sysDash"/>
                    </a:lnT>
                    <a:lnB w="38100">
                      <a:solidFill>
                        <a:srgbClr val="7E7E7E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7E7E7E"/>
                      </a:solidFill>
                      <a:prstDash val="sysDash"/>
                    </a:lnL>
                    <a:lnR w="38100">
                      <a:solidFill>
                        <a:srgbClr val="7E7E7E"/>
                      </a:solidFill>
                      <a:prstDash val="sysDash"/>
                    </a:lnR>
                    <a:lnT w="38100">
                      <a:solidFill>
                        <a:srgbClr val="7E7E7E"/>
                      </a:solidFill>
                      <a:prstDash val="sysDash"/>
                    </a:lnT>
                    <a:lnB w="38100">
                      <a:solidFill>
                        <a:srgbClr val="7E7E7E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105DC447-4CF8-D048-B3F0-9D23C1C7E882}"/>
              </a:ext>
            </a:extLst>
          </p:cNvPr>
          <p:cNvGraphicFramePr>
            <a:graphicFrameLocks noGrp="1"/>
          </p:cNvGraphicFramePr>
          <p:nvPr/>
        </p:nvGraphicFramePr>
        <p:xfrm>
          <a:off x="573112" y="1406905"/>
          <a:ext cx="921511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" name="object 6">
            <a:extLst>
              <a:ext uri="{FF2B5EF4-FFF2-40B4-BE49-F238E27FC236}">
                <a16:creationId xmlns:a16="http://schemas.microsoft.com/office/drawing/2014/main" id="{40C38F81-CAB1-F547-98D5-241CC7DF5E41}"/>
              </a:ext>
            </a:extLst>
          </p:cNvPr>
          <p:cNvGrpSpPr/>
          <p:nvPr/>
        </p:nvGrpSpPr>
        <p:grpSpPr>
          <a:xfrm>
            <a:off x="2013204" y="1984248"/>
            <a:ext cx="4935220" cy="1117600"/>
            <a:chOff x="2013204" y="1984248"/>
            <a:chExt cx="4935220" cy="1117600"/>
          </a:xfrm>
        </p:grpSpPr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3A06DB22-6C24-F147-B6C8-4A604F170837}"/>
                </a:ext>
              </a:extLst>
            </p:cNvPr>
            <p:cNvSpPr/>
            <p:nvPr/>
          </p:nvSpPr>
          <p:spPr>
            <a:xfrm>
              <a:off x="3797808" y="2003298"/>
              <a:ext cx="3131185" cy="1079500"/>
            </a:xfrm>
            <a:custGeom>
              <a:avLst/>
              <a:gdLst/>
              <a:ahLst/>
              <a:cxnLst/>
              <a:rect l="l" t="t" r="r" b="b"/>
              <a:pathLst>
                <a:path w="3131184" h="1079500">
                  <a:moveTo>
                    <a:pt x="0" y="0"/>
                  </a:moveTo>
                  <a:lnTo>
                    <a:pt x="3131185" y="1079246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692D5A83-6741-FC45-8D51-A86776CE85B8}"/>
                </a:ext>
              </a:extLst>
            </p:cNvPr>
            <p:cNvSpPr/>
            <p:nvPr/>
          </p:nvSpPr>
          <p:spPr>
            <a:xfrm>
              <a:off x="2032254" y="2003298"/>
              <a:ext cx="1765935" cy="1079500"/>
            </a:xfrm>
            <a:custGeom>
              <a:avLst/>
              <a:gdLst/>
              <a:ahLst/>
              <a:cxnLst/>
              <a:rect l="l" t="t" r="r" b="b"/>
              <a:pathLst>
                <a:path w="1765935" h="1079500">
                  <a:moveTo>
                    <a:pt x="1765426" y="0"/>
                  </a:moveTo>
                  <a:lnTo>
                    <a:pt x="0" y="1079246"/>
                  </a:lnTo>
                </a:path>
              </a:pathLst>
            </a:custGeom>
            <a:ln w="38100">
              <a:solidFill>
                <a:srgbClr val="7E7E7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7F8E45C4-7BB0-F146-9E12-83B0399B36AC}"/>
              </a:ext>
            </a:extLst>
          </p:cNvPr>
          <p:cNvSpPr txBox="1"/>
          <p:nvPr/>
        </p:nvSpPr>
        <p:spPr>
          <a:xfrm>
            <a:off x="4047744" y="3761232"/>
            <a:ext cx="2673985" cy="46166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048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40"/>
              </a:spcBef>
            </a:pPr>
            <a:r>
              <a:rPr sz="2800" spc="-10" dirty="0" err="1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递归求解子问题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6ABB8C18-71D2-8044-9A64-C724D65B8FB3}"/>
              </a:ext>
            </a:extLst>
          </p:cNvPr>
          <p:cNvSpPr/>
          <p:nvPr/>
        </p:nvSpPr>
        <p:spPr>
          <a:xfrm>
            <a:off x="6928866" y="3659885"/>
            <a:ext cx="678180" cy="864869"/>
          </a:xfrm>
          <a:custGeom>
            <a:avLst/>
            <a:gdLst/>
            <a:ahLst/>
            <a:cxnLst/>
            <a:rect l="l" t="t" r="r" b="b"/>
            <a:pathLst>
              <a:path w="678179" h="864869">
                <a:moveTo>
                  <a:pt x="678052" y="864869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BE0A7D11-033F-7140-8E7C-62D38DDB0359}"/>
              </a:ext>
            </a:extLst>
          </p:cNvPr>
          <p:cNvSpPr txBox="1"/>
          <p:nvPr/>
        </p:nvSpPr>
        <p:spPr>
          <a:xfrm>
            <a:off x="7441183" y="4515103"/>
            <a:ext cx="33083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>
                <a:latin typeface="Cambria Math"/>
                <a:cs typeface="Cambria Math"/>
              </a:rPr>
              <a:t>…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BDE7D8B0-6EF2-3F4F-A5BA-D60AA10D7CD5}"/>
              </a:ext>
            </a:extLst>
          </p:cNvPr>
          <p:cNvSpPr/>
          <p:nvPr/>
        </p:nvSpPr>
        <p:spPr>
          <a:xfrm>
            <a:off x="9894951" y="1183766"/>
            <a:ext cx="2118360" cy="976630"/>
          </a:xfrm>
          <a:custGeom>
            <a:avLst/>
            <a:gdLst/>
            <a:ahLst/>
            <a:cxnLst/>
            <a:rect l="l" t="t" r="r" b="b"/>
            <a:pathLst>
              <a:path w="2118359" h="976630">
                <a:moveTo>
                  <a:pt x="2020697" y="0"/>
                </a:moveTo>
                <a:lnTo>
                  <a:pt x="97663" y="0"/>
                </a:lnTo>
                <a:lnTo>
                  <a:pt x="59632" y="7669"/>
                </a:lnTo>
                <a:lnTo>
                  <a:pt x="28590" y="28590"/>
                </a:lnTo>
                <a:lnTo>
                  <a:pt x="7669" y="59632"/>
                </a:lnTo>
                <a:lnTo>
                  <a:pt x="0" y="97662"/>
                </a:lnTo>
                <a:lnTo>
                  <a:pt x="0" y="878459"/>
                </a:lnTo>
                <a:lnTo>
                  <a:pt x="7669" y="916489"/>
                </a:lnTo>
                <a:lnTo>
                  <a:pt x="28590" y="947531"/>
                </a:lnTo>
                <a:lnTo>
                  <a:pt x="59632" y="968452"/>
                </a:lnTo>
                <a:lnTo>
                  <a:pt x="97663" y="976122"/>
                </a:lnTo>
                <a:lnTo>
                  <a:pt x="2020697" y="976122"/>
                </a:lnTo>
                <a:lnTo>
                  <a:pt x="2058727" y="968452"/>
                </a:lnTo>
                <a:lnTo>
                  <a:pt x="2089769" y="947531"/>
                </a:lnTo>
                <a:lnTo>
                  <a:pt x="2110690" y="916489"/>
                </a:lnTo>
                <a:lnTo>
                  <a:pt x="2118359" y="878459"/>
                </a:lnTo>
                <a:lnTo>
                  <a:pt x="2118359" y="97662"/>
                </a:lnTo>
                <a:lnTo>
                  <a:pt x="2110690" y="59632"/>
                </a:lnTo>
                <a:lnTo>
                  <a:pt x="2089769" y="28590"/>
                </a:lnTo>
                <a:lnTo>
                  <a:pt x="2058727" y="7669"/>
                </a:lnTo>
                <a:lnTo>
                  <a:pt x="2020697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DAFD6E12-955D-E647-A165-68BEAADB3251}"/>
              </a:ext>
            </a:extLst>
          </p:cNvPr>
          <p:cNvSpPr txBox="1"/>
          <p:nvPr/>
        </p:nvSpPr>
        <p:spPr>
          <a:xfrm>
            <a:off x="10017506" y="783335"/>
            <a:ext cx="1854200" cy="1040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>
                <a:latin typeface="PMingLiU"/>
                <a:cs typeface="PMingLiU"/>
              </a:rPr>
              <a:t>分而治之框架</a:t>
            </a:r>
            <a:endParaRPr sz="2400">
              <a:latin typeface="PMingLiU"/>
              <a:cs typeface="PMingLiU"/>
            </a:endParaRPr>
          </a:p>
          <a:p>
            <a:pPr marL="111760">
              <a:lnSpc>
                <a:spcPct val="100000"/>
              </a:lnSpc>
              <a:spcBef>
                <a:spcPts val="1989"/>
              </a:spcBef>
            </a:pPr>
            <a:r>
              <a:rPr sz="2600" spc="-35">
                <a:solidFill>
                  <a:srgbClr val="FFC000"/>
                </a:solidFill>
                <a:latin typeface="PMingLiU"/>
                <a:cs typeface="PMingLiU"/>
              </a:rPr>
              <a:t>分解</a:t>
            </a:r>
            <a:r>
              <a:rPr sz="2600" spc="-35">
                <a:solidFill>
                  <a:srgbClr val="FFFFFF"/>
                </a:solidFill>
                <a:latin typeface="PMingLiU"/>
                <a:cs typeface="PMingLiU"/>
              </a:rPr>
              <a:t>原问</a:t>
            </a:r>
            <a:r>
              <a:rPr sz="2600" spc="-50">
                <a:solidFill>
                  <a:srgbClr val="FFFFFF"/>
                </a:solidFill>
                <a:latin typeface="PMingLiU"/>
                <a:cs typeface="PMingLiU"/>
              </a:rPr>
              <a:t>题</a:t>
            </a:r>
            <a:endParaRPr sz="2600">
              <a:latin typeface="PMingLiU"/>
              <a:cs typeface="PMingLiU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4CB9682A-9759-C644-B8D9-7D1DE68A7B73}"/>
              </a:ext>
            </a:extLst>
          </p:cNvPr>
          <p:cNvSpPr/>
          <p:nvPr/>
        </p:nvSpPr>
        <p:spPr>
          <a:xfrm>
            <a:off x="10618469" y="2257805"/>
            <a:ext cx="670560" cy="589280"/>
          </a:xfrm>
          <a:custGeom>
            <a:avLst/>
            <a:gdLst/>
            <a:ahLst/>
            <a:cxnLst/>
            <a:rect l="l" t="t" r="r" b="b"/>
            <a:pathLst>
              <a:path w="670559" h="589280">
                <a:moveTo>
                  <a:pt x="536448" y="0"/>
                </a:moveTo>
                <a:lnTo>
                  <a:pt x="134111" y="0"/>
                </a:lnTo>
                <a:lnTo>
                  <a:pt x="134111" y="294513"/>
                </a:lnTo>
                <a:lnTo>
                  <a:pt x="0" y="294513"/>
                </a:lnTo>
                <a:lnTo>
                  <a:pt x="335279" y="589026"/>
                </a:lnTo>
                <a:lnTo>
                  <a:pt x="670559" y="294513"/>
                </a:lnTo>
                <a:lnTo>
                  <a:pt x="536448" y="294513"/>
                </a:lnTo>
                <a:lnTo>
                  <a:pt x="53644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0C0ADA80-FF7E-1246-BC7C-C82EE69F92E8}"/>
              </a:ext>
            </a:extLst>
          </p:cNvPr>
          <p:cNvSpPr/>
          <p:nvPr/>
        </p:nvSpPr>
        <p:spPr>
          <a:xfrm>
            <a:off x="9894951" y="2945510"/>
            <a:ext cx="2118360" cy="976630"/>
          </a:xfrm>
          <a:custGeom>
            <a:avLst/>
            <a:gdLst/>
            <a:ahLst/>
            <a:cxnLst/>
            <a:rect l="l" t="t" r="r" b="b"/>
            <a:pathLst>
              <a:path w="2118359" h="976628">
                <a:moveTo>
                  <a:pt x="2020697" y="0"/>
                </a:moveTo>
                <a:lnTo>
                  <a:pt x="97663" y="0"/>
                </a:lnTo>
                <a:lnTo>
                  <a:pt x="59632" y="7669"/>
                </a:lnTo>
                <a:lnTo>
                  <a:pt x="28590" y="28590"/>
                </a:lnTo>
                <a:lnTo>
                  <a:pt x="7669" y="59632"/>
                </a:lnTo>
                <a:lnTo>
                  <a:pt x="0" y="97662"/>
                </a:lnTo>
                <a:lnTo>
                  <a:pt x="0" y="878458"/>
                </a:lnTo>
                <a:lnTo>
                  <a:pt x="7669" y="916489"/>
                </a:lnTo>
                <a:lnTo>
                  <a:pt x="28590" y="947531"/>
                </a:lnTo>
                <a:lnTo>
                  <a:pt x="59632" y="968452"/>
                </a:lnTo>
                <a:lnTo>
                  <a:pt x="97663" y="976121"/>
                </a:lnTo>
                <a:lnTo>
                  <a:pt x="2020697" y="976121"/>
                </a:lnTo>
                <a:lnTo>
                  <a:pt x="2058727" y="968452"/>
                </a:lnTo>
                <a:lnTo>
                  <a:pt x="2089769" y="947531"/>
                </a:lnTo>
                <a:lnTo>
                  <a:pt x="2110690" y="916489"/>
                </a:lnTo>
                <a:lnTo>
                  <a:pt x="2118359" y="878458"/>
                </a:lnTo>
                <a:lnTo>
                  <a:pt x="2118359" y="97662"/>
                </a:lnTo>
                <a:lnTo>
                  <a:pt x="2110690" y="59632"/>
                </a:lnTo>
                <a:lnTo>
                  <a:pt x="2089769" y="28590"/>
                </a:lnTo>
                <a:lnTo>
                  <a:pt x="2058727" y="7669"/>
                </a:lnTo>
                <a:lnTo>
                  <a:pt x="2020697" y="0"/>
                </a:lnTo>
                <a:close/>
              </a:path>
            </a:pathLst>
          </a:custGeom>
          <a:solidFill>
            <a:srgbClr val="083C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544D1CC2-55A8-164E-B0F3-4B7F6EC6D91D}"/>
              </a:ext>
            </a:extLst>
          </p:cNvPr>
          <p:cNvSpPr txBox="1"/>
          <p:nvPr/>
        </p:nvSpPr>
        <p:spPr>
          <a:xfrm>
            <a:off x="10116566" y="3164332"/>
            <a:ext cx="167513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35">
                <a:solidFill>
                  <a:srgbClr val="FFC000"/>
                </a:solidFill>
                <a:latin typeface="PMingLiU"/>
                <a:cs typeface="PMingLiU"/>
              </a:rPr>
              <a:t>解决</a:t>
            </a:r>
            <a:r>
              <a:rPr sz="2600" spc="-35">
                <a:solidFill>
                  <a:srgbClr val="FFFFFF"/>
                </a:solidFill>
                <a:latin typeface="PMingLiU"/>
                <a:cs typeface="PMingLiU"/>
              </a:rPr>
              <a:t>子问</a:t>
            </a:r>
            <a:r>
              <a:rPr sz="2600" spc="-50">
                <a:solidFill>
                  <a:srgbClr val="FFFFFF"/>
                </a:solidFill>
                <a:latin typeface="PMingLiU"/>
                <a:cs typeface="PMingLiU"/>
              </a:rPr>
              <a:t>题</a:t>
            </a:r>
            <a:endParaRPr sz="2600">
              <a:latin typeface="PMingLiU"/>
              <a:cs typeface="PMingLiU"/>
            </a:endParaRPr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E470B6FE-8BBA-6048-8D97-605D00940C46}"/>
              </a:ext>
            </a:extLst>
          </p:cNvPr>
          <p:cNvSpPr/>
          <p:nvPr/>
        </p:nvSpPr>
        <p:spPr>
          <a:xfrm>
            <a:off x="10618469" y="4021073"/>
            <a:ext cx="670560" cy="600075"/>
          </a:xfrm>
          <a:custGeom>
            <a:avLst/>
            <a:gdLst/>
            <a:ahLst/>
            <a:cxnLst/>
            <a:rect l="l" t="t" r="r" b="b"/>
            <a:pathLst>
              <a:path w="670559" h="600075">
                <a:moveTo>
                  <a:pt x="536448" y="0"/>
                </a:moveTo>
                <a:lnTo>
                  <a:pt x="134111" y="0"/>
                </a:lnTo>
                <a:lnTo>
                  <a:pt x="134111" y="299846"/>
                </a:lnTo>
                <a:lnTo>
                  <a:pt x="0" y="299846"/>
                </a:lnTo>
                <a:lnTo>
                  <a:pt x="335279" y="599694"/>
                </a:lnTo>
                <a:lnTo>
                  <a:pt x="670559" y="299846"/>
                </a:lnTo>
                <a:lnTo>
                  <a:pt x="536448" y="299846"/>
                </a:lnTo>
                <a:lnTo>
                  <a:pt x="53644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8">
            <a:extLst>
              <a:ext uri="{FF2B5EF4-FFF2-40B4-BE49-F238E27FC236}">
                <a16:creationId xmlns:a16="http://schemas.microsoft.com/office/drawing/2014/main" id="{FCEF2A04-5F3A-4A48-9C74-25C42C7A5090}"/>
              </a:ext>
            </a:extLst>
          </p:cNvPr>
          <p:cNvSpPr/>
          <p:nvPr/>
        </p:nvSpPr>
        <p:spPr>
          <a:xfrm>
            <a:off x="9894951" y="4720971"/>
            <a:ext cx="2118360" cy="975360"/>
          </a:xfrm>
          <a:custGeom>
            <a:avLst/>
            <a:gdLst/>
            <a:ahLst/>
            <a:cxnLst/>
            <a:rect l="l" t="t" r="r" b="b"/>
            <a:pathLst>
              <a:path w="2118359" h="975360">
                <a:moveTo>
                  <a:pt x="2020824" y="0"/>
                </a:moveTo>
                <a:lnTo>
                  <a:pt x="97535" y="0"/>
                </a:lnTo>
                <a:lnTo>
                  <a:pt x="59578" y="7667"/>
                </a:lnTo>
                <a:lnTo>
                  <a:pt x="28575" y="28574"/>
                </a:lnTo>
                <a:lnTo>
                  <a:pt x="7667" y="59578"/>
                </a:lnTo>
                <a:lnTo>
                  <a:pt x="0" y="97535"/>
                </a:lnTo>
                <a:lnTo>
                  <a:pt x="0" y="877823"/>
                </a:lnTo>
                <a:lnTo>
                  <a:pt x="7667" y="915786"/>
                </a:lnTo>
                <a:lnTo>
                  <a:pt x="28575" y="946789"/>
                </a:lnTo>
                <a:lnTo>
                  <a:pt x="59578" y="967694"/>
                </a:lnTo>
                <a:lnTo>
                  <a:pt x="97535" y="975359"/>
                </a:lnTo>
                <a:lnTo>
                  <a:pt x="2020824" y="975359"/>
                </a:lnTo>
                <a:lnTo>
                  <a:pt x="2058781" y="967694"/>
                </a:lnTo>
                <a:lnTo>
                  <a:pt x="2089784" y="946789"/>
                </a:lnTo>
                <a:lnTo>
                  <a:pt x="2110692" y="915786"/>
                </a:lnTo>
                <a:lnTo>
                  <a:pt x="2118359" y="877823"/>
                </a:lnTo>
                <a:lnTo>
                  <a:pt x="2118359" y="97535"/>
                </a:lnTo>
                <a:lnTo>
                  <a:pt x="2110692" y="59578"/>
                </a:lnTo>
                <a:lnTo>
                  <a:pt x="2089784" y="28574"/>
                </a:lnTo>
                <a:lnTo>
                  <a:pt x="2058781" y="7667"/>
                </a:lnTo>
                <a:lnTo>
                  <a:pt x="2020824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9">
            <a:extLst>
              <a:ext uri="{FF2B5EF4-FFF2-40B4-BE49-F238E27FC236}">
                <a16:creationId xmlns:a16="http://schemas.microsoft.com/office/drawing/2014/main" id="{306459D3-124A-DE43-B9CA-DC4807D4F022}"/>
              </a:ext>
            </a:extLst>
          </p:cNvPr>
          <p:cNvSpPr txBox="1"/>
          <p:nvPr/>
        </p:nvSpPr>
        <p:spPr>
          <a:xfrm>
            <a:off x="10116566" y="4939791"/>
            <a:ext cx="167513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35">
                <a:solidFill>
                  <a:srgbClr val="FFC000"/>
                </a:solidFill>
                <a:latin typeface="PMingLiU"/>
                <a:cs typeface="PMingLiU"/>
              </a:rPr>
              <a:t>合并</a:t>
            </a:r>
            <a:r>
              <a:rPr sz="2600" spc="-35">
                <a:solidFill>
                  <a:srgbClr val="FFFFFF"/>
                </a:solidFill>
                <a:latin typeface="PMingLiU"/>
                <a:cs typeface="PMingLiU"/>
              </a:rPr>
              <a:t>问题</a:t>
            </a:r>
            <a:r>
              <a:rPr sz="2600" spc="-50">
                <a:solidFill>
                  <a:srgbClr val="FFFFFF"/>
                </a:solidFill>
                <a:latin typeface="PMingLiU"/>
                <a:cs typeface="PMingLiU"/>
              </a:rPr>
              <a:t>解</a:t>
            </a:r>
            <a:endParaRPr sz="2600">
              <a:latin typeface="PMingLiU"/>
              <a:cs typeface="PMingLiU"/>
            </a:endParaRPr>
          </a:p>
        </p:txBody>
      </p:sp>
    </p:spTree>
    <p:extLst>
      <p:ext uri="{BB962C8B-B14F-4D97-AF65-F5344CB8AC3E}">
        <p14:creationId xmlns:p14="http://schemas.microsoft.com/office/powerpoint/2010/main" val="384677859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498CE219-94A0-B14C-B331-5DB0675C9A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4884" y="221270"/>
            <a:ext cx="5125847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固定位置划分求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解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3C76E16-2DF0-324A-A582-75B93AD0C642}"/>
              </a:ext>
            </a:extLst>
          </p:cNvPr>
          <p:cNvGraphicFramePr>
            <a:graphicFrameLocks noGrp="1"/>
          </p:cNvGraphicFramePr>
          <p:nvPr/>
        </p:nvGraphicFramePr>
        <p:xfrm>
          <a:off x="4029455" y="3063367"/>
          <a:ext cx="575944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107FA3EF-ACCC-0B41-A940-8981B3C85FA8}"/>
              </a:ext>
            </a:extLst>
          </p:cNvPr>
          <p:cNvGraphicFramePr>
            <a:graphicFrameLocks noGrp="1"/>
          </p:cNvGraphicFramePr>
          <p:nvPr/>
        </p:nvGraphicFramePr>
        <p:xfrm>
          <a:off x="573112" y="3063367"/>
          <a:ext cx="2879723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7E7E7E"/>
                      </a:solidFill>
                      <a:prstDash val="sysDash"/>
                    </a:lnL>
                    <a:lnR w="38100">
                      <a:solidFill>
                        <a:srgbClr val="7E7E7E"/>
                      </a:solidFill>
                      <a:prstDash val="sysDash"/>
                    </a:lnR>
                    <a:lnT w="38100">
                      <a:solidFill>
                        <a:srgbClr val="7E7E7E"/>
                      </a:solidFill>
                      <a:prstDash val="sysDash"/>
                    </a:lnT>
                    <a:lnB w="38100">
                      <a:solidFill>
                        <a:srgbClr val="7E7E7E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7E7E7E"/>
                      </a:solidFill>
                      <a:prstDash val="sysDash"/>
                    </a:lnL>
                    <a:lnR w="38100">
                      <a:solidFill>
                        <a:srgbClr val="7E7E7E"/>
                      </a:solidFill>
                      <a:prstDash val="sysDash"/>
                    </a:lnR>
                    <a:lnT w="38100">
                      <a:solidFill>
                        <a:srgbClr val="7E7E7E"/>
                      </a:solidFill>
                      <a:prstDash val="sysDash"/>
                    </a:lnT>
                    <a:lnB w="38100">
                      <a:solidFill>
                        <a:srgbClr val="7E7E7E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7E7E7E"/>
                      </a:solidFill>
                      <a:prstDash val="sysDash"/>
                    </a:lnL>
                    <a:lnR w="38100">
                      <a:solidFill>
                        <a:srgbClr val="7E7E7E"/>
                      </a:solidFill>
                      <a:prstDash val="sysDash"/>
                    </a:lnR>
                    <a:lnT w="38100">
                      <a:solidFill>
                        <a:srgbClr val="7E7E7E"/>
                      </a:solidFill>
                      <a:prstDash val="sysDash"/>
                    </a:lnT>
                    <a:lnB w="38100">
                      <a:solidFill>
                        <a:srgbClr val="7E7E7E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7E7E7E"/>
                      </a:solidFill>
                      <a:prstDash val="sysDash"/>
                    </a:lnL>
                    <a:lnR w="38100">
                      <a:solidFill>
                        <a:srgbClr val="7E7E7E"/>
                      </a:solidFill>
                      <a:prstDash val="sysDash"/>
                    </a:lnR>
                    <a:lnT w="38100">
                      <a:solidFill>
                        <a:srgbClr val="7E7E7E"/>
                      </a:solidFill>
                      <a:prstDash val="sysDash"/>
                    </a:lnT>
                    <a:lnB w="38100">
                      <a:solidFill>
                        <a:srgbClr val="7E7E7E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7E7E7E"/>
                      </a:solidFill>
                      <a:prstDash val="sysDash"/>
                    </a:lnL>
                    <a:lnR w="38100">
                      <a:solidFill>
                        <a:srgbClr val="7E7E7E"/>
                      </a:solidFill>
                      <a:prstDash val="sysDash"/>
                    </a:lnR>
                    <a:lnT w="38100">
                      <a:solidFill>
                        <a:srgbClr val="7E7E7E"/>
                      </a:solidFill>
                      <a:prstDash val="sysDash"/>
                    </a:lnT>
                    <a:lnB w="38100">
                      <a:solidFill>
                        <a:srgbClr val="7E7E7E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404980E8-A1E6-6A44-847B-F601B1C4D63B}"/>
              </a:ext>
            </a:extLst>
          </p:cNvPr>
          <p:cNvGraphicFramePr>
            <a:graphicFrameLocks noGrp="1"/>
          </p:cNvGraphicFramePr>
          <p:nvPr/>
        </p:nvGraphicFramePr>
        <p:xfrm>
          <a:off x="573112" y="1406905"/>
          <a:ext cx="921511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" name="object 6">
            <a:extLst>
              <a:ext uri="{FF2B5EF4-FFF2-40B4-BE49-F238E27FC236}">
                <a16:creationId xmlns:a16="http://schemas.microsoft.com/office/drawing/2014/main" id="{9AA774DC-B7D5-0D4E-9F0C-78789AA20D41}"/>
              </a:ext>
            </a:extLst>
          </p:cNvPr>
          <p:cNvGrpSpPr/>
          <p:nvPr/>
        </p:nvGrpSpPr>
        <p:grpSpPr>
          <a:xfrm>
            <a:off x="2013204" y="1984248"/>
            <a:ext cx="4935220" cy="1117600"/>
            <a:chOff x="2013204" y="1984248"/>
            <a:chExt cx="4935220" cy="1117600"/>
          </a:xfrm>
        </p:grpSpPr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66837782-82FC-8040-9A16-F6BFEFADED3B}"/>
                </a:ext>
              </a:extLst>
            </p:cNvPr>
            <p:cNvSpPr/>
            <p:nvPr/>
          </p:nvSpPr>
          <p:spPr>
            <a:xfrm>
              <a:off x="3797808" y="2003298"/>
              <a:ext cx="3131185" cy="1079500"/>
            </a:xfrm>
            <a:custGeom>
              <a:avLst/>
              <a:gdLst/>
              <a:ahLst/>
              <a:cxnLst/>
              <a:rect l="l" t="t" r="r" b="b"/>
              <a:pathLst>
                <a:path w="3131184" h="1079500">
                  <a:moveTo>
                    <a:pt x="0" y="0"/>
                  </a:moveTo>
                  <a:lnTo>
                    <a:pt x="3131185" y="1079246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546A9B5F-6ABE-F646-A204-5FB12BAC5398}"/>
                </a:ext>
              </a:extLst>
            </p:cNvPr>
            <p:cNvSpPr/>
            <p:nvPr/>
          </p:nvSpPr>
          <p:spPr>
            <a:xfrm>
              <a:off x="2032254" y="2003298"/>
              <a:ext cx="1765935" cy="1079500"/>
            </a:xfrm>
            <a:custGeom>
              <a:avLst/>
              <a:gdLst/>
              <a:ahLst/>
              <a:cxnLst/>
              <a:rect l="l" t="t" r="r" b="b"/>
              <a:pathLst>
                <a:path w="1765935" h="1079500">
                  <a:moveTo>
                    <a:pt x="1765426" y="0"/>
                  </a:moveTo>
                  <a:lnTo>
                    <a:pt x="0" y="1079246"/>
                  </a:lnTo>
                </a:path>
              </a:pathLst>
            </a:custGeom>
            <a:ln w="38100">
              <a:solidFill>
                <a:srgbClr val="7E7E7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8CC75019-F2EC-4343-8206-0DAC3304C185}"/>
              </a:ext>
            </a:extLst>
          </p:cNvPr>
          <p:cNvSpPr/>
          <p:nvPr/>
        </p:nvSpPr>
        <p:spPr>
          <a:xfrm>
            <a:off x="2157983" y="5340965"/>
            <a:ext cx="3309620" cy="1042669"/>
          </a:xfrm>
          <a:custGeom>
            <a:avLst/>
            <a:gdLst/>
            <a:ahLst/>
            <a:cxnLst/>
            <a:rect l="l" t="t" r="r" b="b"/>
            <a:pathLst>
              <a:path w="3309620" h="1042669">
                <a:moveTo>
                  <a:pt x="3309366" y="0"/>
                </a:moveTo>
                <a:lnTo>
                  <a:pt x="0" y="0"/>
                </a:lnTo>
                <a:lnTo>
                  <a:pt x="0" y="1042416"/>
                </a:lnTo>
                <a:lnTo>
                  <a:pt x="3309366" y="1042416"/>
                </a:lnTo>
                <a:lnTo>
                  <a:pt x="330936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986BA3A2-3541-FB42-A6D9-976F5753A7A2}"/>
              </a:ext>
            </a:extLst>
          </p:cNvPr>
          <p:cNvSpPr txBox="1"/>
          <p:nvPr/>
        </p:nvSpPr>
        <p:spPr>
          <a:xfrm>
            <a:off x="2554223" y="5416984"/>
            <a:ext cx="2516505" cy="88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spc="-20" dirty="0" err="1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子问题始终唯一</a:t>
            </a:r>
            <a:r>
              <a:rPr sz="2800" spc="-10" dirty="0" err="1">
                <a:solidFill>
                  <a:srgbClr val="FFFFFF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无需合并问题解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C4B02F24-10FB-3647-AF65-52E676401626}"/>
              </a:ext>
            </a:extLst>
          </p:cNvPr>
          <p:cNvSpPr/>
          <p:nvPr/>
        </p:nvSpPr>
        <p:spPr>
          <a:xfrm>
            <a:off x="6928866" y="3659885"/>
            <a:ext cx="678180" cy="864869"/>
          </a:xfrm>
          <a:custGeom>
            <a:avLst/>
            <a:gdLst/>
            <a:ahLst/>
            <a:cxnLst/>
            <a:rect l="l" t="t" r="r" b="b"/>
            <a:pathLst>
              <a:path w="678179" h="864869">
                <a:moveTo>
                  <a:pt x="678052" y="864869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C8FD1FBC-E39F-9040-A69C-384A6C2ED504}"/>
              </a:ext>
            </a:extLst>
          </p:cNvPr>
          <p:cNvSpPr txBox="1"/>
          <p:nvPr/>
        </p:nvSpPr>
        <p:spPr>
          <a:xfrm>
            <a:off x="7441183" y="4515103"/>
            <a:ext cx="33083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>
                <a:latin typeface="Cambria Math"/>
                <a:cs typeface="Cambria Math"/>
              </a:rPr>
              <a:t>…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D77BB994-B762-BE4F-8E64-8519F6A2CB70}"/>
              </a:ext>
            </a:extLst>
          </p:cNvPr>
          <p:cNvSpPr/>
          <p:nvPr/>
        </p:nvSpPr>
        <p:spPr>
          <a:xfrm>
            <a:off x="6695693" y="5109209"/>
            <a:ext cx="911225" cy="754380"/>
          </a:xfrm>
          <a:custGeom>
            <a:avLst/>
            <a:gdLst/>
            <a:ahLst/>
            <a:cxnLst/>
            <a:rect l="l" t="t" r="r" b="b"/>
            <a:pathLst>
              <a:path w="911225" h="754379">
                <a:moveTo>
                  <a:pt x="910844" y="0"/>
                </a:moveTo>
                <a:lnTo>
                  <a:pt x="0" y="754367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0F7CF390-B138-C64D-A913-A369D293B7CE}"/>
              </a:ext>
            </a:extLst>
          </p:cNvPr>
          <p:cNvGraphicFramePr>
            <a:graphicFrameLocks noGrp="1"/>
          </p:cNvGraphicFramePr>
          <p:nvPr/>
        </p:nvGraphicFramePr>
        <p:xfrm>
          <a:off x="5812916" y="5844463"/>
          <a:ext cx="1727835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24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object 15">
            <a:extLst>
              <a:ext uri="{FF2B5EF4-FFF2-40B4-BE49-F238E27FC236}">
                <a16:creationId xmlns:a16="http://schemas.microsoft.com/office/drawing/2014/main" id="{17564060-4CA4-524E-A32C-927EC5788BB3}"/>
              </a:ext>
            </a:extLst>
          </p:cNvPr>
          <p:cNvSpPr/>
          <p:nvPr/>
        </p:nvSpPr>
        <p:spPr>
          <a:xfrm>
            <a:off x="5752882" y="5696331"/>
            <a:ext cx="676910" cy="865830"/>
          </a:xfrm>
          <a:custGeom>
            <a:avLst/>
            <a:gdLst/>
            <a:ahLst/>
            <a:cxnLst/>
            <a:rect l="l" t="t" r="r" b="b"/>
            <a:pathLst>
              <a:path w="676910" h="1012190">
                <a:moveTo>
                  <a:pt x="0" y="112776"/>
                </a:moveTo>
                <a:lnTo>
                  <a:pt x="8870" y="68880"/>
                </a:lnTo>
                <a:lnTo>
                  <a:pt x="33051" y="33032"/>
                </a:lnTo>
                <a:lnTo>
                  <a:pt x="68901" y="8863"/>
                </a:lnTo>
                <a:lnTo>
                  <a:pt x="112775" y="0"/>
                </a:lnTo>
                <a:lnTo>
                  <a:pt x="563879" y="0"/>
                </a:lnTo>
                <a:lnTo>
                  <a:pt x="607754" y="8863"/>
                </a:lnTo>
                <a:lnTo>
                  <a:pt x="643604" y="33032"/>
                </a:lnTo>
                <a:lnTo>
                  <a:pt x="667785" y="68880"/>
                </a:lnTo>
                <a:lnTo>
                  <a:pt x="676655" y="112776"/>
                </a:lnTo>
                <a:lnTo>
                  <a:pt x="676655" y="899160"/>
                </a:lnTo>
                <a:lnTo>
                  <a:pt x="667785" y="943055"/>
                </a:lnTo>
                <a:lnTo>
                  <a:pt x="643604" y="978903"/>
                </a:lnTo>
                <a:lnTo>
                  <a:pt x="607754" y="1003072"/>
                </a:lnTo>
                <a:lnTo>
                  <a:pt x="563879" y="1011936"/>
                </a:lnTo>
                <a:lnTo>
                  <a:pt x="112775" y="1011936"/>
                </a:lnTo>
                <a:lnTo>
                  <a:pt x="68901" y="1003072"/>
                </a:lnTo>
                <a:lnTo>
                  <a:pt x="33051" y="978903"/>
                </a:lnTo>
                <a:lnTo>
                  <a:pt x="8870" y="943055"/>
                </a:lnTo>
                <a:lnTo>
                  <a:pt x="0" y="899160"/>
                </a:lnTo>
                <a:lnTo>
                  <a:pt x="0" y="112776"/>
                </a:lnTo>
                <a:close/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F77FA985-6FC2-3F48-AA8D-A134299AF0FE}"/>
              </a:ext>
            </a:extLst>
          </p:cNvPr>
          <p:cNvSpPr/>
          <p:nvPr/>
        </p:nvSpPr>
        <p:spPr>
          <a:xfrm>
            <a:off x="9894951" y="1183766"/>
            <a:ext cx="2118360" cy="976630"/>
          </a:xfrm>
          <a:custGeom>
            <a:avLst/>
            <a:gdLst/>
            <a:ahLst/>
            <a:cxnLst/>
            <a:rect l="l" t="t" r="r" b="b"/>
            <a:pathLst>
              <a:path w="2118359" h="976630">
                <a:moveTo>
                  <a:pt x="2020697" y="0"/>
                </a:moveTo>
                <a:lnTo>
                  <a:pt x="97663" y="0"/>
                </a:lnTo>
                <a:lnTo>
                  <a:pt x="59632" y="7669"/>
                </a:lnTo>
                <a:lnTo>
                  <a:pt x="28590" y="28590"/>
                </a:lnTo>
                <a:lnTo>
                  <a:pt x="7669" y="59632"/>
                </a:lnTo>
                <a:lnTo>
                  <a:pt x="0" y="97662"/>
                </a:lnTo>
                <a:lnTo>
                  <a:pt x="0" y="878459"/>
                </a:lnTo>
                <a:lnTo>
                  <a:pt x="7669" y="916489"/>
                </a:lnTo>
                <a:lnTo>
                  <a:pt x="28590" y="947531"/>
                </a:lnTo>
                <a:lnTo>
                  <a:pt x="59632" y="968452"/>
                </a:lnTo>
                <a:lnTo>
                  <a:pt x="97663" y="976122"/>
                </a:lnTo>
                <a:lnTo>
                  <a:pt x="2020697" y="976122"/>
                </a:lnTo>
                <a:lnTo>
                  <a:pt x="2058727" y="968452"/>
                </a:lnTo>
                <a:lnTo>
                  <a:pt x="2089769" y="947531"/>
                </a:lnTo>
                <a:lnTo>
                  <a:pt x="2110690" y="916489"/>
                </a:lnTo>
                <a:lnTo>
                  <a:pt x="2118359" y="878459"/>
                </a:lnTo>
                <a:lnTo>
                  <a:pt x="2118359" y="97662"/>
                </a:lnTo>
                <a:lnTo>
                  <a:pt x="2110690" y="59632"/>
                </a:lnTo>
                <a:lnTo>
                  <a:pt x="2089769" y="28590"/>
                </a:lnTo>
                <a:lnTo>
                  <a:pt x="2058727" y="7669"/>
                </a:lnTo>
                <a:lnTo>
                  <a:pt x="2020697" y="0"/>
                </a:lnTo>
                <a:close/>
              </a:path>
            </a:pathLst>
          </a:custGeom>
          <a:solidFill>
            <a:srgbClr val="25AD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561EEFC6-CAB4-7840-A77D-CE47FD84DAD6}"/>
              </a:ext>
            </a:extLst>
          </p:cNvPr>
          <p:cNvSpPr txBox="1"/>
          <p:nvPr/>
        </p:nvSpPr>
        <p:spPr>
          <a:xfrm>
            <a:off x="10017506" y="783335"/>
            <a:ext cx="1854200" cy="1040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>
                <a:latin typeface="PMingLiU"/>
                <a:cs typeface="PMingLiU"/>
              </a:rPr>
              <a:t>分而治之框架</a:t>
            </a:r>
            <a:endParaRPr sz="2400">
              <a:latin typeface="PMingLiU"/>
              <a:cs typeface="PMingLiU"/>
            </a:endParaRPr>
          </a:p>
          <a:p>
            <a:pPr marL="111760">
              <a:lnSpc>
                <a:spcPct val="100000"/>
              </a:lnSpc>
              <a:spcBef>
                <a:spcPts val="1989"/>
              </a:spcBef>
            </a:pPr>
            <a:r>
              <a:rPr sz="2600" spc="-35">
                <a:solidFill>
                  <a:srgbClr val="FFC000"/>
                </a:solidFill>
                <a:latin typeface="PMingLiU"/>
                <a:cs typeface="PMingLiU"/>
              </a:rPr>
              <a:t>分解</a:t>
            </a:r>
            <a:r>
              <a:rPr sz="2600" spc="-35">
                <a:solidFill>
                  <a:srgbClr val="FFFFFF"/>
                </a:solidFill>
                <a:latin typeface="PMingLiU"/>
                <a:cs typeface="PMingLiU"/>
              </a:rPr>
              <a:t>原问</a:t>
            </a:r>
            <a:r>
              <a:rPr sz="2600" spc="-50">
                <a:solidFill>
                  <a:srgbClr val="FFFFFF"/>
                </a:solidFill>
                <a:latin typeface="PMingLiU"/>
                <a:cs typeface="PMingLiU"/>
              </a:rPr>
              <a:t>题</a:t>
            </a:r>
            <a:endParaRPr sz="2600">
              <a:latin typeface="PMingLiU"/>
              <a:cs typeface="PMingLiU"/>
            </a:endParaRPr>
          </a:p>
        </p:txBody>
      </p:sp>
      <p:sp>
        <p:nvSpPr>
          <p:cNvPr id="19" name="object 18">
            <a:extLst>
              <a:ext uri="{FF2B5EF4-FFF2-40B4-BE49-F238E27FC236}">
                <a16:creationId xmlns:a16="http://schemas.microsoft.com/office/drawing/2014/main" id="{53646ACD-ED14-904D-A30D-27389839CCAD}"/>
              </a:ext>
            </a:extLst>
          </p:cNvPr>
          <p:cNvSpPr/>
          <p:nvPr/>
        </p:nvSpPr>
        <p:spPr>
          <a:xfrm>
            <a:off x="10618469" y="2257805"/>
            <a:ext cx="670560" cy="589280"/>
          </a:xfrm>
          <a:custGeom>
            <a:avLst/>
            <a:gdLst/>
            <a:ahLst/>
            <a:cxnLst/>
            <a:rect l="l" t="t" r="r" b="b"/>
            <a:pathLst>
              <a:path w="670559" h="589280">
                <a:moveTo>
                  <a:pt x="536448" y="0"/>
                </a:moveTo>
                <a:lnTo>
                  <a:pt x="134111" y="0"/>
                </a:lnTo>
                <a:lnTo>
                  <a:pt x="134111" y="294513"/>
                </a:lnTo>
                <a:lnTo>
                  <a:pt x="0" y="294513"/>
                </a:lnTo>
                <a:lnTo>
                  <a:pt x="335279" y="589026"/>
                </a:lnTo>
                <a:lnTo>
                  <a:pt x="670559" y="294513"/>
                </a:lnTo>
                <a:lnTo>
                  <a:pt x="536448" y="294513"/>
                </a:lnTo>
                <a:lnTo>
                  <a:pt x="53644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9">
            <a:extLst>
              <a:ext uri="{FF2B5EF4-FFF2-40B4-BE49-F238E27FC236}">
                <a16:creationId xmlns:a16="http://schemas.microsoft.com/office/drawing/2014/main" id="{256DC5AB-D742-E14B-9725-8B8C4753AD35}"/>
              </a:ext>
            </a:extLst>
          </p:cNvPr>
          <p:cNvSpPr/>
          <p:nvPr/>
        </p:nvSpPr>
        <p:spPr>
          <a:xfrm>
            <a:off x="9894951" y="2945510"/>
            <a:ext cx="2118360" cy="976630"/>
          </a:xfrm>
          <a:custGeom>
            <a:avLst/>
            <a:gdLst/>
            <a:ahLst/>
            <a:cxnLst/>
            <a:rect l="l" t="t" r="r" b="b"/>
            <a:pathLst>
              <a:path w="2118359" h="976628">
                <a:moveTo>
                  <a:pt x="2020697" y="0"/>
                </a:moveTo>
                <a:lnTo>
                  <a:pt x="97663" y="0"/>
                </a:lnTo>
                <a:lnTo>
                  <a:pt x="59632" y="7669"/>
                </a:lnTo>
                <a:lnTo>
                  <a:pt x="28590" y="28590"/>
                </a:lnTo>
                <a:lnTo>
                  <a:pt x="7669" y="59632"/>
                </a:lnTo>
                <a:lnTo>
                  <a:pt x="0" y="97662"/>
                </a:lnTo>
                <a:lnTo>
                  <a:pt x="0" y="878458"/>
                </a:lnTo>
                <a:lnTo>
                  <a:pt x="7669" y="916489"/>
                </a:lnTo>
                <a:lnTo>
                  <a:pt x="28590" y="947531"/>
                </a:lnTo>
                <a:lnTo>
                  <a:pt x="59632" y="968452"/>
                </a:lnTo>
                <a:lnTo>
                  <a:pt x="97663" y="976121"/>
                </a:lnTo>
                <a:lnTo>
                  <a:pt x="2020697" y="976121"/>
                </a:lnTo>
                <a:lnTo>
                  <a:pt x="2058727" y="968452"/>
                </a:lnTo>
                <a:lnTo>
                  <a:pt x="2089769" y="947531"/>
                </a:lnTo>
                <a:lnTo>
                  <a:pt x="2110690" y="916489"/>
                </a:lnTo>
                <a:lnTo>
                  <a:pt x="2118359" y="878458"/>
                </a:lnTo>
                <a:lnTo>
                  <a:pt x="2118359" y="97662"/>
                </a:lnTo>
                <a:lnTo>
                  <a:pt x="2110690" y="59632"/>
                </a:lnTo>
                <a:lnTo>
                  <a:pt x="2089769" y="28590"/>
                </a:lnTo>
                <a:lnTo>
                  <a:pt x="2058727" y="7669"/>
                </a:lnTo>
                <a:lnTo>
                  <a:pt x="2020697" y="0"/>
                </a:lnTo>
                <a:close/>
              </a:path>
            </a:pathLst>
          </a:custGeom>
          <a:solidFill>
            <a:srgbClr val="25AD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0">
            <a:extLst>
              <a:ext uri="{FF2B5EF4-FFF2-40B4-BE49-F238E27FC236}">
                <a16:creationId xmlns:a16="http://schemas.microsoft.com/office/drawing/2014/main" id="{71AF20B3-DD3E-894C-A07D-DC55A86F6BEC}"/>
              </a:ext>
            </a:extLst>
          </p:cNvPr>
          <p:cNvSpPr txBox="1"/>
          <p:nvPr/>
        </p:nvSpPr>
        <p:spPr>
          <a:xfrm>
            <a:off x="10116566" y="3164332"/>
            <a:ext cx="167513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35">
                <a:solidFill>
                  <a:srgbClr val="FFC000"/>
                </a:solidFill>
                <a:latin typeface="PMingLiU"/>
                <a:cs typeface="PMingLiU"/>
              </a:rPr>
              <a:t>解决</a:t>
            </a:r>
            <a:r>
              <a:rPr sz="2600" spc="-35">
                <a:solidFill>
                  <a:srgbClr val="FFFFFF"/>
                </a:solidFill>
                <a:latin typeface="PMingLiU"/>
                <a:cs typeface="PMingLiU"/>
              </a:rPr>
              <a:t>子问</a:t>
            </a:r>
            <a:r>
              <a:rPr sz="2600" spc="-50">
                <a:solidFill>
                  <a:srgbClr val="FFFFFF"/>
                </a:solidFill>
                <a:latin typeface="PMingLiU"/>
                <a:cs typeface="PMingLiU"/>
              </a:rPr>
              <a:t>题</a:t>
            </a:r>
            <a:endParaRPr sz="2600">
              <a:latin typeface="PMingLiU"/>
              <a:cs typeface="PMingLiU"/>
            </a:endParaRPr>
          </a:p>
        </p:txBody>
      </p:sp>
      <p:sp>
        <p:nvSpPr>
          <p:cNvPr id="22" name="object 21">
            <a:extLst>
              <a:ext uri="{FF2B5EF4-FFF2-40B4-BE49-F238E27FC236}">
                <a16:creationId xmlns:a16="http://schemas.microsoft.com/office/drawing/2014/main" id="{C9B90399-B103-C545-BAA2-0EA32BA61782}"/>
              </a:ext>
            </a:extLst>
          </p:cNvPr>
          <p:cNvSpPr/>
          <p:nvPr/>
        </p:nvSpPr>
        <p:spPr>
          <a:xfrm>
            <a:off x="10618469" y="4021073"/>
            <a:ext cx="670560" cy="600075"/>
          </a:xfrm>
          <a:custGeom>
            <a:avLst/>
            <a:gdLst/>
            <a:ahLst/>
            <a:cxnLst/>
            <a:rect l="l" t="t" r="r" b="b"/>
            <a:pathLst>
              <a:path w="670559" h="600075">
                <a:moveTo>
                  <a:pt x="536448" y="0"/>
                </a:moveTo>
                <a:lnTo>
                  <a:pt x="134111" y="0"/>
                </a:lnTo>
                <a:lnTo>
                  <a:pt x="134111" y="299846"/>
                </a:lnTo>
                <a:lnTo>
                  <a:pt x="0" y="299846"/>
                </a:lnTo>
                <a:lnTo>
                  <a:pt x="335279" y="599694"/>
                </a:lnTo>
                <a:lnTo>
                  <a:pt x="670559" y="299846"/>
                </a:lnTo>
                <a:lnTo>
                  <a:pt x="536448" y="299846"/>
                </a:lnTo>
                <a:lnTo>
                  <a:pt x="53644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2">
            <a:extLst>
              <a:ext uri="{FF2B5EF4-FFF2-40B4-BE49-F238E27FC236}">
                <a16:creationId xmlns:a16="http://schemas.microsoft.com/office/drawing/2014/main" id="{91F5D534-CC97-7F40-B863-1DB0F7980EF3}"/>
              </a:ext>
            </a:extLst>
          </p:cNvPr>
          <p:cNvSpPr/>
          <p:nvPr/>
        </p:nvSpPr>
        <p:spPr>
          <a:xfrm>
            <a:off x="9894951" y="4720971"/>
            <a:ext cx="2118360" cy="975360"/>
          </a:xfrm>
          <a:custGeom>
            <a:avLst/>
            <a:gdLst/>
            <a:ahLst/>
            <a:cxnLst/>
            <a:rect l="l" t="t" r="r" b="b"/>
            <a:pathLst>
              <a:path w="2118359" h="975360">
                <a:moveTo>
                  <a:pt x="2020824" y="0"/>
                </a:moveTo>
                <a:lnTo>
                  <a:pt x="97535" y="0"/>
                </a:lnTo>
                <a:lnTo>
                  <a:pt x="59578" y="7667"/>
                </a:lnTo>
                <a:lnTo>
                  <a:pt x="28575" y="28574"/>
                </a:lnTo>
                <a:lnTo>
                  <a:pt x="7667" y="59578"/>
                </a:lnTo>
                <a:lnTo>
                  <a:pt x="0" y="97535"/>
                </a:lnTo>
                <a:lnTo>
                  <a:pt x="0" y="877823"/>
                </a:lnTo>
                <a:lnTo>
                  <a:pt x="7667" y="915786"/>
                </a:lnTo>
                <a:lnTo>
                  <a:pt x="28575" y="946789"/>
                </a:lnTo>
                <a:lnTo>
                  <a:pt x="59578" y="967694"/>
                </a:lnTo>
                <a:lnTo>
                  <a:pt x="97535" y="975359"/>
                </a:lnTo>
                <a:lnTo>
                  <a:pt x="2020824" y="975359"/>
                </a:lnTo>
                <a:lnTo>
                  <a:pt x="2058781" y="967694"/>
                </a:lnTo>
                <a:lnTo>
                  <a:pt x="2089784" y="946789"/>
                </a:lnTo>
                <a:lnTo>
                  <a:pt x="2110692" y="915786"/>
                </a:lnTo>
                <a:lnTo>
                  <a:pt x="2118359" y="877823"/>
                </a:lnTo>
                <a:lnTo>
                  <a:pt x="2118359" y="97535"/>
                </a:lnTo>
                <a:lnTo>
                  <a:pt x="2110692" y="59578"/>
                </a:lnTo>
                <a:lnTo>
                  <a:pt x="2089784" y="28574"/>
                </a:lnTo>
                <a:lnTo>
                  <a:pt x="2058781" y="7667"/>
                </a:lnTo>
                <a:lnTo>
                  <a:pt x="202082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3">
            <a:extLst>
              <a:ext uri="{FF2B5EF4-FFF2-40B4-BE49-F238E27FC236}">
                <a16:creationId xmlns:a16="http://schemas.microsoft.com/office/drawing/2014/main" id="{334EFEF3-4CD9-184C-A402-6EFC4E8D4E6B}"/>
              </a:ext>
            </a:extLst>
          </p:cNvPr>
          <p:cNvSpPr txBox="1"/>
          <p:nvPr/>
        </p:nvSpPr>
        <p:spPr>
          <a:xfrm>
            <a:off x="10116566" y="4939791"/>
            <a:ext cx="167513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35">
                <a:solidFill>
                  <a:srgbClr val="D9D9D9"/>
                </a:solidFill>
                <a:latin typeface="PMingLiU"/>
                <a:cs typeface="PMingLiU"/>
              </a:rPr>
              <a:t>合并问题</a:t>
            </a:r>
            <a:r>
              <a:rPr sz="2600" spc="-50">
                <a:solidFill>
                  <a:srgbClr val="D9D9D9"/>
                </a:solidFill>
                <a:latin typeface="PMingLiU"/>
                <a:cs typeface="PMingLiU"/>
              </a:rPr>
              <a:t>解</a:t>
            </a:r>
            <a:endParaRPr sz="2600">
              <a:latin typeface="PMingLiU"/>
              <a:cs typeface="PMingLiU"/>
            </a:endParaRPr>
          </a:p>
        </p:txBody>
      </p:sp>
    </p:spTree>
    <p:extLst>
      <p:ext uri="{BB962C8B-B14F-4D97-AF65-F5344CB8AC3E}">
        <p14:creationId xmlns:p14="http://schemas.microsoft.com/office/powerpoint/2010/main" val="98090209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BB9EBC17-F700-CB44-BE44-12E8F77DE7B1}"/>
              </a:ext>
            </a:extLst>
          </p:cNvPr>
          <p:cNvSpPr txBox="1"/>
          <p:nvPr/>
        </p:nvSpPr>
        <p:spPr>
          <a:xfrm>
            <a:off x="688340" y="1146569"/>
            <a:ext cx="11503660" cy="1896673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选取固定位置主元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=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𝑨[𝒒]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为数组第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𝟐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&lt;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在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𝑨[𝒑</a:t>
            </a:r>
            <a:r>
              <a:rPr sz="2400" spc="-7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. .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</a:t>
            </a:r>
            <a:r>
              <a:rPr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−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中寻找第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𝟑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&gt;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在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𝑨[𝒒</a:t>
            </a:r>
            <a:r>
              <a:rPr sz="2400" spc="-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+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𝟏.</a:t>
            </a:r>
            <a:r>
              <a:rPr sz="2400" spc="-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. 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𝒓]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中寻找第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−(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𝒒−𝒑+𝟏)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4402BF0-E862-CE4A-8B6B-7E81E1DA0E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6902" y="219898"/>
            <a:ext cx="3715114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0879B52A-C065-324E-8034-020EAF6F85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4824328"/>
              </p:ext>
            </p:extLst>
          </p:nvPr>
        </p:nvGraphicFramePr>
        <p:xfrm>
          <a:off x="1573275" y="3135740"/>
          <a:ext cx="921511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object 5">
            <a:extLst>
              <a:ext uri="{FF2B5EF4-FFF2-40B4-BE49-F238E27FC236}">
                <a16:creationId xmlns:a16="http://schemas.microsoft.com/office/drawing/2014/main" id="{DDB7603C-0270-5A42-B4D4-4F32380DA150}"/>
              </a:ext>
            </a:extLst>
          </p:cNvPr>
          <p:cNvSpPr txBox="1"/>
          <p:nvPr/>
        </p:nvSpPr>
        <p:spPr>
          <a:xfrm>
            <a:off x="536194" y="3205081"/>
            <a:ext cx="92201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>
                <a:latin typeface="Cambria Math"/>
                <a:cs typeface="Cambria Math"/>
              </a:rPr>
              <a:t>𝒑</a:t>
            </a:r>
            <a:r>
              <a:rPr sz="2800" spc="160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=</a:t>
            </a:r>
            <a:r>
              <a:rPr sz="2800" spc="15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42A332D5-5948-D147-8EAB-69D0ADCF3A94}"/>
              </a:ext>
            </a:extLst>
          </p:cNvPr>
          <p:cNvSpPr txBox="1"/>
          <p:nvPr/>
        </p:nvSpPr>
        <p:spPr>
          <a:xfrm>
            <a:off x="10869421" y="3205081"/>
            <a:ext cx="11049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>
                <a:latin typeface="Cambria Math"/>
                <a:cs typeface="Cambria Math"/>
              </a:rPr>
              <a:t>𝒓</a:t>
            </a:r>
            <a:r>
              <a:rPr sz="2800" spc="155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=</a:t>
            </a:r>
            <a:r>
              <a:rPr sz="2800" spc="155">
                <a:latin typeface="Cambria Math"/>
                <a:cs typeface="Cambria Math"/>
              </a:rPr>
              <a:t> </a:t>
            </a:r>
            <a:r>
              <a:rPr sz="2800" spc="-25">
                <a:latin typeface="Cambria Math"/>
                <a:cs typeface="Cambria Math"/>
              </a:rPr>
              <a:t>𝟏𝟔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FCADE7F2-15DF-214B-AD0C-AA5FB7B86CE0}"/>
              </a:ext>
            </a:extLst>
          </p:cNvPr>
          <p:cNvSpPr txBox="1"/>
          <p:nvPr/>
        </p:nvSpPr>
        <p:spPr>
          <a:xfrm>
            <a:off x="1639061" y="4396087"/>
            <a:ext cx="2552700" cy="57785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746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95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查找第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𝟖</a:t>
            </a:r>
            <a:r>
              <a:rPr sz="2800" spc="-20">
                <a:solidFill>
                  <a:srgbClr val="FFFFFF"/>
                </a:solidFill>
                <a:latin typeface="PMingLiU"/>
                <a:cs typeface="PMingLiU"/>
              </a:rPr>
              <a:t>小元素</a:t>
            </a:r>
            <a:endParaRPr sz="2800">
              <a:latin typeface="PMingLiU"/>
              <a:cs typeface="PMingLiU"/>
            </a:endParaRPr>
          </a:p>
        </p:txBody>
      </p:sp>
    </p:spTree>
    <p:extLst>
      <p:ext uri="{BB962C8B-B14F-4D97-AF65-F5344CB8AC3E}">
        <p14:creationId xmlns:p14="http://schemas.microsoft.com/office/powerpoint/2010/main" val="303050000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BB9EBC17-F700-CB44-BE44-12E8F77DE7B1}"/>
              </a:ext>
            </a:extLst>
          </p:cNvPr>
          <p:cNvSpPr txBox="1"/>
          <p:nvPr/>
        </p:nvSpPr>
        <p:spPr>
          <a:xfrm>
            <a:off x="688340" y="1146569"/>
            <a:ext cx="11503660" cy="1896673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选取固定位置主元</a:t>
            </a:r>
            <a:endParaRPr sz="2800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=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𝑨[𝒒]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为数组第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𝟐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&lt;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在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𝑨[𝒑</a:t>
            </a:r>
            <a:r>
              <a:rPr sz="2400" spc="-7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. .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</a:t>
            </a:r>
            <a:r>
              <a:rPr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−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中寻找第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𝟑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&gt;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在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𝑨[𝒒</a:t>
            </a:r>
            <a:r>
              <a:rPr sz="2400" spc="-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+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𝟏.</a:t>
            </a:r>
            <a:r>
              <a:rPr sz="2400" spc="-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. 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𝒓]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中寻找第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−(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𝒒−𝒑+𝟏)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4402BF0-E862-CE4A-8B6B-7E81E1DA0E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6902" y="219898"/>
            <a:ext cx="3715114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0879B52A-C065-324E-8034-020EAF6F85E9}"/>
              </a:ext>
            </a:extLst>
          </p:cNvPr>
          <p:cNvGraphicFramePr>
            <a:graphicFrameLocks noGrp="1"/>
          </p:cNvGraphicFramePr>
          <p:nvPr/>
        </p:nvGraphicFramePr>
        <p:xfrm>
          <a:off x="1573275" y="3135740"/>
          <a:ext cx="921511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object 5">
            <a:extLst>
              <a:ext uri="{FF2B5EF4-FFF2-40B4-BE49-F238E27FC236}">
                <a16:creationId xmlns:a16="http://schemas.microsoft.com/office/drawing/2014/main" id="{DDB7603C-0270-5A42-B4D4-4F32380DA150}"/>
              </a:ext>
            </a:extLst>
          </p:cNvPr>
          <p:cNvSpPr txBox="1"/>
          <p:nvPr/>
        </p:nvSpPr>
        <p:spPr>
          <a:xfrm>
            <a:off x="536194" y="3205081"/>
            <a:ext cx="92201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>
                <a:latin typeface="Cambria Math"/>
                <a:cs typeface="Cambria Math"/>
              </a:rPr>
              <a:t>𝒑</a:t>
            </a:r>
            <a:r>
              <a:rPr sz="2800" spc="160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=</a:t>
            </a:r>
            <a:r>
              <a:rPr sz="2800" spc="15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42A332D5-5948-D147-8EAB-69D0ADCF3A94}"/>
              </a:ext>
            </a:extLst>
          </p:cNvPr>
          <p:cNvSpPr txBox="1"/>
          <p:nvPr/>
        </p:nvSpPr>
        <p:spPr>
          <a:xfrm>
            <a:off x="10869421" y="3205081"/>
            <a:ext cx="11049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>
                <a:latin typeface="Cambria Math"/>
                <a:cs typeface="Cambria Math"/>
              </a:rPr>
              <a:t>𝒓</a:t>
            </a:r>
            <a:r>
              <a:rPr sz="2800" spc="155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=</a:t>
            </a:r>
            <a:r>
              <a:rPr sz="2800" spc="155">
                <a:latin typeface="Cambria Math"/>
                <a:cs typeface="Cambria Math"/>
              </a:rPr>
              <a:t> </a:t>
            </a:r>
            <a:r>
              <a:rPr sz="2800" spc="-25">
                <a:latin typeface="Cambria Math"/>
                <a:cs typeface="Cambria Math"/>
              </a:rPr>
              <a:t>𝟏𝟔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FCADE7F2-15DF-214B-AD0C-AA5FB7B86CE0}"/>
              </a:ext>
            </a:extLst>
          </p:cNvPr>
          <p:cNvSpPr txBox="1"/>
          <p:nvPr/>
        </p:nvSpPr>
        <p:spPr>
          <a:xfrm>
            <a:off x="1639061" y="4396087"/>
            <a:ext cx="2552700" cy="57785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746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95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查找第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𝟖</a:t>
            </a:r>
            <a:r>
              <a:rPr sz="2800" spc="-20">
                <a:solidFill>
                  <a:srgbClr val="FFFFFF"/>
                </a:solidFill>
                <a:latin typeface="PMingLiU"/>
                <a:cs typeface="PMingLiU"/>
              </a:rPr>
              <a:t>小元素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25A33534-1E80-CE43-9187-DC892694C526}"/>
              </a:ext>
            </a:extLst>
          </p:cNvPr>
          <p:cNvSpPr txBox="1"/>
          <p:nvPr/>
        </p:nvSpPr>
        <p:spPr>
          <a:xfrm>
            <a:off x="10180066" y="4161753"/>
            <a:ext cx="5848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5">
                <a:solidFill>
                  <a:srgbClr val="FF0000"/>
                </a:solidFill>
                <a:latin typeface="PMingLiU"/>
                <a:cs typeface="PMingLiU"/>
              </a:rPr>
              <a:t>主元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6096616F-8B50-A349-9C9A-C1B01A08A4EF}"/>
              </a:ext>
            </a:extLst>
          </p:cNvPr>
          <p:cNvSpPr/>
          <p:nvPr/>
        </p:nvSpPr>
        <p:spPr>
          <a:xfrm>
            <a:off x="10426445" y="3841459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76200" y="95250"/>
                </a:moveTo>
                <a:lnTo>
                  <a:pt x="38100" y="95250"/>
                </a:lnTo>
                <a:lnTo>
                  <a:pt x="38100" y="337184"/>
                </a:lnTo>
                <a:lnTo>
                  <a:pt x="76200" y="337184"/>
                </a:lnTo>
                <a:lnTo>
                  <a:pt x="76200" y="95250"/>
                </a:lnTo>
                <a:close/>
              </a:path>
              <a:path w="114300" h="337185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337185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1" name="object 4">
            <a:extLst>
              <a:ext uri="{FF2B5EF4-FFF2-40B4-BE49-F238E27FC236}">
                <a16:creationId xmlns:a16="http://schemas.microsoft.com/office/drawing/2014/main" id="{306B8429-9FB6-B347-BDAA-A96122F478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590111"/>
              </p:ext>
            </p:extLst>
          </p:nvPr>
        </p:nvGraphicFramePr>
        <p:xfrm>
          <a:off x="1573275" y="3135742"/>
          <a:ext cx="921511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13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136110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BB9EBC17-F700-CB44-BE44-12E8F77DE7B1}"/>
              </a:ext>
            </a:extLst>
          </p:cNvPr>
          <p:cNvSpPr txBox="1"/>
          <p:nvPr/>
        </p:nvSpPr>
        <p:spPr>
          <a:xfrm>
            <a:off x="688340" y="1146569"/>
            <a:ext cx="11503660" cy="1896673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选取固定位置主元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=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𝑨[𝒒]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为数组第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𝟐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&lt;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在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𝑨[𝒑</a:t>
            </a:r>
            <a:r>
              <a:rPr sz="2400" spc="-7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. .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</a:t>
            </a:r>
            <a:r>
              <a:rPr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−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中寻找第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𝟑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&gt;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在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𝑨[𝒒</a:t>
            </a:r>
            <a:r>
              <a:rPr sz="2400" spc="-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+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𝟏.</a:t>
            </a:r>
            <a:r>
              <a:rPr sz="2400" spc="-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. 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𝒓]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中寻找第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−(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𝒒−𝒑+𝟏)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4402BF0-E862-CE4A-8B6B-7E81E1DA0E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6902" y="219898"/>
            <a:ext cx="3715114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DDB7603C-0270-5A42-B4D4-4F32380DA150}"/>
              </a:ext>
            </a:extLst>
          </p:cNvPr>
          <p:cNvSpPr txBox="1"/>
          <p:nvPr/>
        </p:nvSpPr>
        <p:spPr>
          <a:xfrm>
            <a:off x="536194" y="3205081"/>
            <a:ext cx="92201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>
                <a:latin typeface="Cambria Math"/>
                <a:cs typeface="Cambria Math"/>
              </a:rPr>
              <a:t>𝒑</a:t>
            </a:r>
            <a:r>
              <a:rPr sz="2800" spc="160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=</a:t>
            </a:r>
            <a:r>
              <a:rPr sz="2800" spc="15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42A332D5-5948-D147-8EAB-69D0ADCF3A94}"/>
              </a:ext>
            </a:extLst>
          </p:cNvPr>
          <p:cNvSpPr txBox="1"/>
          <p:nvPr/>
        </p:nvSpPr>
        <p:spPr>
          <a:xfrm>
            <a:off x="10869421" y="3205081"/>
            <a:ext cx="11049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>
                <a:latin typeface="Cambria Math"/>
                <a:cs typeface="Cambria Math"/>
              </a:rPr>
              <a:t>𝒓</a:t>
            </a:r>
            <a:r>
              <a:rPr sz="2800" spc="155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=</a:t>
            </a:r>
            <a:r>
              <a:rPr sz="2800" spc="155">
                <a:latin typeface="Cambria Math"/>
                <a:cs typeface="Cambria Math"/>
              </a:rPr>
              <a:t> </a:t>
            </a:r>
            <a:r>
              <a:rPr sz="2800" spc="-25">
                <a:latin typeface="Cambria Math"/>
                <a:cs typeface="Cambria Math"/>
              </a:rPr>
              <a:t>𝟏𝟔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FCADE7F2-15DF-214B-AD0C-AA5FB7B86CE0}"/>
              </a:ext>
            </a:extLst>
          </p:cNvPr>
          <p:cNvSpPr txBox="1"/>
          <p:nvPr/>
        </p:nvSpPr>
        <p:spPr>
          <a:xfrm>
            <a:off x="1639061" y="4396087"/>
            <a:ext cx="2552700" cy="57785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746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95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查找第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𝟖</a:t>
            </a:r>
            <a:r>
              <a:rPr sz="2800" spc="-20">
                <a:solidFill>
                  <a:srgbClr val="FFFFFF"/>
                </a:solidFill>
                <a:latin typeface="PMingLiU"/>
                <a:cs typeface="PMingLiU"/>
              </a:rPr>
              <a:t>小元素</a:t>
            </a:r>
            <a:endParaRPr sz="2800">
              <a:latin typeface="PMingLiU"/>
              <a:cs typeface="PMingLiU"/>
            </a:endParaRPr>
          </a:p>
        </p:txBody>
      </p:sp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2F16BFB1-E34D-F842-94D4-900343E489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39773"/>
              </p:ext>
            </p:extLst>
          </p:nvPr>
        </p:nvGraphicFramePr>
        <p:xfrm>
          <a:off x="1573275" y="3135740"/>
          <a:ext cx="921511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37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object 4">
            <a:extLst>
              <a:ext uri="{FF2B5EF4-FFF2-40B4-BE49-F238E27FC236}">
                <a16:creationId xmlns:a16="http://schemas.microsoft.com/office/drawing/2014/main" id="{9E0274C1-3EE3-3D44-A215-956C760C7B88}"/>
              </a:ext>
            </a:extLst>
          </p:cNvPr>
          <p:cNvSpPr/>
          <p:nvPr/>
        </p:nvSpPr>
        <p:spPr>
          <a:xfrm>
            <a:off x="4728971" y="3841462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76200" y="95250"/>
                </a:moveTo>
                <a:lnTo>
                  <a:pt x="38100" y="95250"/>
                </a:lnTo>
                <a:lnTo>
                  <a:pt x="38100" y="337184"/>
                </a:lnTo>
                <a:lnTo>
                  <a:pt x="76200" y="337184"/>
                </a:lnTo>
                <a:lnTo>
                  <a:pt x="76200" y="95250"/>
                </a:lnTo>
                <a:close/>
              </a:path>
              <a:path w="114300" h="337185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337185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6">
            <a:extLst>
              <a:ext uri="{FF2B5EF4-FFF2-40B4-BE49-F238E27FC236}">
                <a16:creationId xmlns:a16="http://schemas.microsoft.com/office/drawing/2014/main" id="{A6E67AC9-C9E5-2E45-AA73-B943C6EBCAD6}"/>
              </a:ext>
            </a:extLst>
          </p:cNvPr>
          <p:cNvSpPr txBox="1"/>
          <p:nvPr/>
        </p:nvSpPr>
        <p:spPr>
          <a:xfrm>
            <a:off x="4324858" y="4140637"/>
            <a:ext cx="915669" cy="836294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265"/>
              </a:spcBef>
            </a:pPr>
            <a:r>
              <a:rPr sz="2200" spc="-25">
                <a:latin typeface="PMingLiU"/>
                <a:cs typeface="PMingLiU"/>
              </a:rPr>
              <a:t>主元</a:t>
            </a:r>
            <a:endParaRPr sz="2200">
              <a:latin typeface="PMingLiU"/>
              <a:cs typeface="PMingLiU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2800">
                <a:latin typeface="Cambria Math"/>
                <a:cs typeface="Cambria Math"/>
              </a:rPr>
              <a:t>𝒒</a:t>
            </a:r>
            <a:r>
              <a:rPr sz="2800" spc="155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=</a:t>
            </a:r>
            <a:r>
              <a:rPr sz="2800" spc="155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5" name="object 10">
            <a:extLst>
              <a:ext uri="{FF2B5EF4-FFF2-40B4-BE49-F238E27FC236}">
                <a16:creationId xmlns:a16="http://schemas.microsoft.com/office/drawing/2014/main" id="{4794C1FD-4AD7-844E-8BC6-092DE323F5FC}"/>
              </a:ext>
            </a:extLst>
          </p:cNvPr>
          <p:cNvSpPr txBox="1"/>
          <p:nvPr/>
        </p:nvSpPr>
        <p:spPr>
          <a:xfrm>
            <a:off x="686562" y="5272277"/>
            <a:ext cx="4457065" cy="57785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63500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500"/>
              </a:spcBef>
            </a:pP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𝒒</a:t>
            </a:r>
            <a:r>
              <a:rPr sz="2800" spc="-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− 𝒑 +</a:t>
            </a:r>
            <a:r>
              <a:rPr sz="2800" spc="-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r>
              <a:rPr sz="2800" spc="16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2800" spc="15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𝟔</a:t>
            </a:r>
            <a:r>
              <a:rPr sz="2800" spc="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−</a:t>
            </a:r>
            <a:r>
              <a:rPr sz="2800" spc="-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r>
              <a:rPr sz="2800" spc="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+ 𝟏</a:t>
            </a:r>
            <a:r>
              <a:rPr sz="2800" spc="16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2800" spc="15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spc="-50">
                <a:solidFill>
                  <a:srgbClr val="FFFFFF"/>
                </a:solidFill>
                <a:latin typeface="Cambria Math"/>
                <a:cs typeface="Cambria Math"/>
              </a:rPr>
              <a:t>𝟔</a:t>
            </a:r>
            <a:endParaRPr sz="28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2493251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BB9EBC17-F700-CB44-BE44-12E8F77DE7B1}"/>
              </a:ext>
            </a:extLst>
          </p:cNvPr>
          <p:cNvSpPr txBox="1"/>
          <p:nvPr/>
        </p:nvSpPr>
        <p:spPr>
          <a:xfrm>
            <a:off x="688340" y="1146569"/>
            <a:ext cx="11503660" cy="1896673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选取固定位置主元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=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𝑨[𝒒]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为数组第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𝟐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&lt;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在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𝑨[𝒑</a:t>
            </a:r>
            <a:r>
              <a:rPr sz="2400" spc="-7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. .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</a:t>
            </a:r>
            <a:r>
              <a:rPr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−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中寻找第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𝟑</a:t>
            </a:r>
            <a:r>
              <a:rPr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&gt; </a:t>
            </a:r>
            <a:r>
              <a:rPr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𝟏</a:t>
            </a:r>
            <a:r>
              <a:rPr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在</a:t>
            </a:r>
            <a:r>
              <a:rPr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𝑨[𝒒</a:t>
            </a:r>
            <a:r>
              <a:rPr sz="2400" spc="-5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+ </a:t>
            </a:r>
            <a:r>
              <a:rPr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𝟏.</a:t>
            </a:r>
            <a:r>
              <a:rPr sz="2400" spc="-95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. </a:t>
            </a:r>
            <a:r>
              <a:rPr sz="2400" spc="-1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𝒓]</a:t>
            </a:r>
            <a:r>
              <a:rPr sz="24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中寻找第</a:t>
            </a:r>
            <a:r>
              <a:rPr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5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−(</a:t>
            </a:r>
            <a:r>
              <a:rPr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𝒒−𝒑+𝟏)</a:t>
            </a:r>
            <a:r>
              <a:rPr sz="2400" spc="-2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4402BF0-E862-CE4A-8B6B-7E81E1DA0E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6902" y="219898"/>
            <a:ext cx="3715114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DDB7603C-0270-5A42-B4D4-4F32380DA150}"/>
              </a:ext>
            </a:extLst>
          </p:cNvPr>
          <p:cNvSpPr txBox="1"/>
          <p:nvPr/>
        </p:nvSpPr>
        <p:spPr>
          <a:xfrm>
            <a:off x="536194" y="3205081"/>
            <a:ext cx="92201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>
                <a:latin typeface="Cambria Math"/>
                <a:cs typeface="Cambria Math"/>
              </a:rPr>
              <a:t>𝒑</a:t>
            </a:r>
            <a:r>
              <a:rPr sz="2800" spc="160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=</a:t>
            </a:r>
            <a:r>
              <a:rPr sz="2800" spc="15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42A332D5-5948-D147-8EAB-69D0ADCF3A94}"/>
              </a:ext>
            </a:extLst>
          </p:cNvPr>
          <p:cNvSpPr txBox="1"/>
          <p:nvPr/>
        </p:nvSpPr>
        <p:spPr>
          <a:xfrm>
            <a:off x="10869421" y="3205081"/>
            <a:ext cx="11049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>
                <a:latin typeface="Cambria Math"/>
                <a:cs typeface="Cambria Math"/>
              </a:rPr>
              <a:t>𝒓</a:t>
            </a:r>
            <a:r>
              <a:rPr sz="2800" spc="155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=</a:t>
            </a:r>
            <a:r>
              <a:rPr sz="2800" spc="155">
                <a:latin typeface="Cambria Math"/>
                <a:cs typeface="Cambria Math"/>
              </a:rPr>
              <a:t> </a:t>
            </a:r>
            <a:r>
              <a:rPr sz="2800" spc="-25">
                <a:latin typeface="Cambria Math"/>
                <a:cs typeface="Cambria Math"/>
              </a:rPr>
              <a:t>𝟏𝟔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FCADE7F2-15DF-214B-AD0C-AA5FB7B86CE0}"/>
              </a:ext>
            </a:extLst>
          </p:cNvPr>
          <p:cNvSpPr txBox="1"/>
          <p:nvPr/>
        </p:nvSpPr>
        <p:spPr>
          <a:xfrm>
            <a:off x="1639061" y="4396087"/>
            <a:ext cx="2552700" cy="57785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746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95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查找第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𝟖</a:t>
            </a:r>
            <a:r>
              <a:rPr sz="2800" spc="-20">
                <a:solidFill>
                  <a:srgbClr val="FFFFFF"/>
                </a:solidFill>
                <a:latin typeface="PMingLiU"/>
                <a:cs typeface="PMingLiU"/>
              </a:rPr>
              <a:t>小元素</a:t>
            </a:r>
            <a:endParaRPr sz="2800">
              <a:latin typeface="PMingLiU"/>
              <a:cs typeface="PMingLiU"/>
            </a:endParaRPr>
          </a:p>
        </p:txBody>
      </p:sp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2F16BFB1-E34D-F842-94D4-900343E48926}"/>
              </a:ext>
            </a:extLst>
          </p:cNvPr>
          <p:cNvGraphicFramePr>
            <a:graphicFrameLocks noGrp="1"/>
          </p:cNvGraphicFramePr>
          <p:nvPr/>
        </p:nvGraphicFramePr>
        <p:xfrm>
          <a:off x="1573275" y="3135740"/>
          <a:ext cx="921511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37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object 4">
            <a:extLst>
              <a:ext uri="{FF2B5EF4-FFF2-40B4-BE49-F238E27FC236}">
                <a16:creationId xmlns:a16="http://schemas.microsoft.com/office/drawing/2014/main" id="{9E0274C1-3EE3-3D44-A215-956C760C7B88}"/>
              </a:ext>
            </a:extLst>
          </p:cNvPr>
          <p:cNvSpPr/>
          <p:nvPr/>
        </p:nvSpPr>
        <p:spPr>
          <a:xfrm>
            <a:off x="4728971" y="3841462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76200" y="95250"/>
                </a:moveTo>
                <a:lnTo>
                  <a:pt x="38100" y="95250"/>
                </a:lnTo>
                <a:lnTo>
                  <a:pt x="38100" y="337184"/>
                </a:lnTo>
                <a:lnTo>
                  <a:pt x="76200" y="337184"/>
                </a:lnTo>
                <a:lnTo>
                  <a:pt x="76200" y="95250"/>
                </a:lnTo>
                <a:close/>
              </a:path>
              <a:path w="114300" h="337185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337185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6">
            <a:extLst>
              <a:ext uri="{FF2B5EF4-FFF2-40B4-BE49-F238E27FC236}">
                <a16:creationId xmlns:a16="http://schemas.microsoft.com/office/drawing/2014/main" id="{A6E67AC9-C9E5-2E45-AA73-B943C6EBCAD6}"/>
              </a:ext>
            </a:extLst>
          </p:cNvPr>
          <p:cNvSpPr txBox="1"/>
          <p:nvPr/>
        </p:nvSpPr>
        <p:spPr>
          <a:xfrm>
            <a:off x="4324858" y="4140637"/>
            <a:ext cx="915669" cy="836294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265"/>
              </a:spcBef>
            </a:pPr>
            <a:r>
              <a:rPr sz="2200" spc="-25">
                <a:latin typeface="PMingLiU"/>
                <a:cs typeface="PMingLiU"/>
              </a:rPr>
              <a:t>主元</a:t>
            </a:r>
            <a:endParaRPr sz="2200">
              <a:latin typeface="PMingLiU"/>
              <a:cs typeface="PMingLiU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2800">
                <a:latin typeface="Cambria Math"/>
                <a:cs typeface="Cambria Math"/>
              </a:rPr>
              <a:t>𝒒</a:t>
            </a:r>
            <a:r>
              <a:rPr sz="2800" spc="155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=</a:t>
            </a:r>
            <a:r>
              <a:rPr sz="2800" spc="155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5" name="object 10">
            <a:extLst>
              <a:ext uri="{FF2B5EF4-FFF2-40B4-BE49-F238E27FC236}">
                <a16:creationId xmlns:a16="http://schemas.microsoft.com/office/drawing/2014/main" id="{4794C1FD-4AD7-844E-8BC6-092DE323F5FC}"/>
              </a:ext>
            </a:extLst>
          </p:cNvPr>
          <p:cNvSpPr txBox="1"/>
          <p:nvPr/>
        </p:nvSpPr>
        <p:spPr>
          <a:xfrm>
            <a:off x="686562" y="5272277"/>
            <a:ext cx="4457065" cy="57785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63500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500"/>
              </a:spcBef>
            </a:pP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𝒒</a:t>
            </a:r>
            <a:r>
              <a:rPr sz="2800" spc="-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− 𝒑 +</a:t>
            </a:r>
            <a:r>
              <a:rPr sz="2800" spc="-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r>
              <a:rPr sz="2800" spc="16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2800" spc="15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𝟔</a:t>
            </a:r>
            <a:r>
              <a:rPr sz="2800" spc="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−</a:t>
            </a:r>
            <a:r>
              <a:rPr sz="2800" spc="-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r>
              <a:rPr sz="2800" spc="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+ 𝟏</a:t>
            </a:r>
            <a:r>
              <a:rPr sz="2800" spc="16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2800" spc="15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spc="-50">
                <a:solidFill>
                  <a:srgbClr val="FFFFFF"/>
                </a:solidFill>
                <a:latin typeface="Cambria Math"/>
                <a:cs typeface="Cambria Math"/>
              </a:rPr>
              <a:t>𝟔</a:t>
            </a:r>
            <a:endParaRPr sz="28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341858986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BB9EBC17-F700-CB44-BE44-12E8F77DE7B1}"/>
              </a:ext>
            </a:extLst>
          </p:cNvPr>
          <p:cNvSpPr txBox="1"/>
          <p:nvPr/>
        </p:nvSpPr>
        <p:spPr>
          <a:xfrm>
            <a:off x="688340" y="1146569"/>
            <a:ext cx="11503660" cy="1896673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选取固定位置主元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=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𝑨[𝒒]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为数组第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𝟐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&lt;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在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𝑨[𝒑</a:t>
            </a:r>
            <a:r>
              <a:rPr sz="2400" spc="-7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. .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</a:t>
            </a:r>
            <a:r>
              <a:rPr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−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中寻找第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𝟑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&gt;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在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𝑨[𝒒</a:t>
            </a:r>
            <a:r>
              <a:rPr sz="2400" spc="-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+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𝟏.</a:t>
            </a:r>
            <a:r>
              <a:rPr sz="2400" spc="-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. 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𝒓]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中寻找第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−(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𝒒−𝒑+𝟏)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4402BF0-E862-CE4A-8B6B-7E81E1DA0E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6902" y="219898"/>
            <a:ext cx="3715114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2F16BFB1-E34D-F842-94D4-900343E48926}"/>
              </a:ext>
            </a:extLst>
          </p:cNvPr>
          <p:cNvGraphicFramePr>
            <a:graphicFrameLocks noGrp="1"/>
          </p:cNvGraphicFramePr>
          <p:nvPr/>
        </p:nvGraphicFramePr>
        <p:xfrm>
          <a:off x="1573275" y="3135740"/>
          <a:ext cx="921511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37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object 4">
            <a:extLst>
              <a:ext uri="{FF2B5EF4-FFF2-40B4-BE49-F238E27FC236}">
                <a16:creationId xmlns:a16="http://schemas.microsoft.com/office/drawing/2014/main" id="{46917E57-BC2D-B44B-9FDD-2EE2EB7723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555013"/>
              </p:ext>
            </p:extLst>
          </p:nvPr>
        </p:nvGraphicFramePr>
        <p:xfrm>
          <a:off x="5029580" y="4345649"/>
          <a:ext cx="575944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object 6">
            <a:extLst>
              <a:ext uri="{FF2B5EF4-FFF2-40B4-BE49-F238E27FC236}">
                <a16:creationId xmlns:a16="http://schemas.microsoft.com/office/drawing/2014/main" id="{EB145031-0004-8745-8EBB-F25B1A1AB799}"/>
              </a:ext>
            </a:extLst>
          </p:cNvPr>
          <p:cNvSpPr/>
          <p:nvPr/>
        </p:nvSpPr>
        <p:spPr>
          <a:xfrm>
            <a:off x="4693158" y="3744685"/>
            <a:ext cx="3235960" cy="619760"/>
          </a:xfrm>
          <a:custGeom>
            <a:avLst/>
            <a:gdLst/>
            <a:ahLst/>
            <a:cxnLst/>
            <a:rect l="l" t="t" r="r" b="b"/>
            <a:pathLst>
              <a:path w="3235959" h="619760">
                <a:moveTo>
                  <a:pt x="0" y="0"/>
                </a:moveTo>
                <a:lnTo>
                  <a:pt x="3235960" y="619759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7">
            <a:extLst>
              <a:ext uri="{FF2B5EF4-FFF2-40B4-BE49-F238E27FC236}">
                <a16:creationId xmlns:a16="http://schemas.microsoft.com/office/drawing/2014/main" id="{A26629B7-7445-1E4D-84AD-22F76A1E22AD}"/>
              </a:ext>
            </a:extLst>
          </p:cNvPr>
          <p:cNvSpPr txBox="1"/>
          <p:nvPr/>
        </p:nvSpPr>
        <p:spPr>
          <a:xfrm>
            <a:off x="3992879" y="4416261"/>
            <a:ext cx="92201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>
                <a:latin typeface="Cambria Math"/>
                <a:cs typeface="Cambria Math"/>
              </a:rPr>
              <a:t>𝒑</a:t>
            </a:r>
            <a:r>
              <a:rPr sz="2800" spc="160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=</a:t>
            </a:r>
            <a:r>
              <a:rPr sz="2800" spc="15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8" name="object 8">
            <a:extLst>
              <a:ext uri="{FF2B5EF4-FFF2-40B4-BE49-F238E27FC236}">
                <a16:creationId xmlns:a16="http://schemas.microsoft.com/office/drawing/2014/main" id="{1081043B-FF1A-7F42-93CE-ADB804DBC789}"/>
              </a:ext>
            </a:extLst>
          </p:cNvPr>
          <p:cNvSpPr txBox="1"/>
          <p:nvPr/>
        </p:nvSpPr>
        <p:spPr>
          <a:xfrm>
            <a:off x="10869421" y="4353523"/>
            <a:ext cx="11049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>
                <a:latin typeface="Cambria Math"/>
                <a:cs typeface="Cambria Math"/>
              </a:rPr>
              <a:t>𝒓</a:t>
            </a:r>
            <a:r>
              <a:rPr sz="2800" spc="155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=</a:t>
            </a:r>
            <a:r>
              <a:rPr sz="2800" spc="155">
                <a:latin typeface="Cambria Math"/>
                <a:cs typeface="Cambria Math"/>
              </a:rPr>
              <a:t> </a:t>
            </a:r>
            <a:r>
              <a:rPr sz="2800" spc="-25">
                <a:latin typeface="Cambria Math"/>
                <a:cs typeface="Cambria Math"/>
              </a:rPr>
              <a:t>𝟏𝟔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9" name="object 9">
            <a:extLst>
              <a:ext uri="{FF2B5EF4-FFF2-40B4-BE49-F238E27FC236}">
                <a16:creationId xmlns:a16="http://schemas.microsoft.com/office/drawing/2014/main" id="{2FA7DFCB-B211-D242-9B08-3674FA9BBA57}"/>
              </a:ext>
            </a:extLst>
          </p:cNvPr>
          <p:cNvSpPr txBox="1"/>
          <p:nvPr/>
        </p:nvSpPr>
        <p:spPr>
          <a:xfrm>
            <a:off x="2502407" y="5070566"/>
            <a:ext cx="2552700" cy="57785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81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查找第</a:t>
            </a:r>
            <a:r>
              <a:rPr sz="2800" spc="-1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r>
              <a:rPr sz="2800" spc="-20">
                <a:solidFill>
                  <a:srgbClr val="FFFFFF"/>
                </a:solidFill>
                <a:latin typeface="PMingLiU"/>
                <a:cs typeface="PMingLiU"/>
              </a:rPr>
              <a:t>小元素</a:t>
            </a:r>
            <a:endParaRPr sz="2800">
              <a:latin typeface="PMingLiU"/>
              <a:cs typeface="PMingLiU"/>
            </a:endParaRPr>
          </a:p>
        </p:txBody>
      </p:sp>
    </p:spTree>
    <p:extLst>
      <p:ext uri="{BB962C8B-B14F-4D97-AF65-F5344CB8AC3E}">
        <p14:creationId xmlns:p14="http://schemas.microsoft.com/office/powerpoint/2010/main" val="335344820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BB9EBC17-F700-CB44-BE44-12E8F77DE7B1}"/>
              </a:ext>
            </a:extLst>
          </p:cNvPr>
          <p:cNvSpPr txBox="1"/>
          <p:nvPr/>
        </p:nvSpPr>
        <p:spPr>
          <a:xfrm>
            <a:off x="688340" y="1146569"/>
            <a:ext cx="11503660" cy="1896673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选取固定位置主元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=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𝑨[𝒒]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为数组第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𝟐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&lt;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在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𝑨[𝒑</a:t>
            </a:r>
            <a:r>
              <a:rPr sz="2400" spc="-7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. .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</a:t>
            </a:r>
            <a:r>
              <a:rPr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−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中寻找第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𝟑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&gt;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在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𝑨[𝒒</a:t>
            </a:r>
            <a:r>
              <a:rPr sz="2400" spc="-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+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𝟏.</a:t>
            </a:r>
            <a:r>
              <a:rPr sz="2400" spc="-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. 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𝒓]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中寻找第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−(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𝒒−𝒑+𝟏)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4402BF0-E862-CE4A-8B6B-7E81E1DA0E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6902" y="219898"/>
            <a:ext cx="3715114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2F16BFB1-E34D-F842-94D4-900343E48926}"/>
              </a:ext>
            </a:extLst>
          </p:cNvPr>
          <p:cNvGraphicFramePr>
            <a:graphicFrameLocks noGrp="1"/>
          </p:cNvGraphicFramePr>
          <p:nvPr/>
        </p:nvGraphicFramePr>
        <p:xfrm>
          <a:off x="1573275" y="3135740"/>
          <a:ext cx="921511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37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object 6">
            <a:extLst>
              <a:ext uri="{FF2B5EF4-FFF2-40B4-BE49-F238E27FC236}">
                <a16:creationId xmlns:a16="http://schemas.microsoft.com/office/drawing/2014/main" id="{EB145031-0004-8745-8EBB-F25B1A1AB799}"/>
              </a:ext>
            </a:extLst>
          </p:cNvPr>
          <p:cNvSpPr/>
          <p:nvPr/>
        </p:nvSpPr>
        <p:spPr>
          <a:xfrm>
            <a:off x="4693158" y="3744685"/>
            <a:ext cx="3235960" cy="619760"/>
          </a:xfrm>
          <a:custGeom>
            <a:avLst/>
            <a:gdLst/>
            <a:ahLst/>
            <a:cxnLst/>
            <a:rect l="l" t="t" r="r" b="b"/>
            <a:pathLst>
              <a:path w="3235959" h="619760">
                <a:moveTo>
                  <a:pt x="0" y="0"/>
                </a:moveTo>
                <a:lnTo>
                  <a:pt x="3235960" y="619759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7">
            <a:extLst>
              <a:ext uri="{FF2B5EF4-FFF2-40B4-BE49-F238E27FC236}">
                <a16:creationId xmlns:a16="http://schemas.microsoft.com/office/drawing/2014/main" id="{A26629B7-7445-1E4D-84AD-22F76A1E22AD}"/>
              </a:ext>
            </a:extLst>
          </p:cNvPr>
          <p:cNvSpPr txBox="1"/>
          <p:nvPr/>
        </p:nvSpPr>
        <p:spPr>
          <a:xfrm>
            <a:off x="3992879" y="4416261"/>
            <a:ext cx="92201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>
                <a:latin typeface="Cambria Math"/>
                <a:cs typeface="Cambria Math"/>
              </a:rPr>
              <a:t>𝒑</a:t>
            </a:r>
            <a:r>
              <a:rPr sz="2800" spc="160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=</a:t>
            </a:r>
            <a:r>
              <a:rPr sz="2800" spc="15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8" name="object 8">
            <a:extLst>
              <a:ext uri="{FF2B5EF4-FFF2-40B4-BE49-F238E27FC236}">
                <a16:creationId xmlns:a16="http://schemas.microsoft.com/office/drawing/2014/main" id="{1081043B-FF1A-7F42-93CE-ADB804DBC789}"/>
              </a:ext>
            </a:extLst>
          </p:cNvPr>
          <p:cNvSpPr txBox="1"/>
          <p:nvPr/>
        </p:nvSpPr>
        <p:spPr>
          <a:xfrm>
            <a:off x="10869421" y="4353523"/>
            <a:ext cx="11049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>
                <a:latin typeface="Cambria Math"/>
                <a:cs typeface="Cambria Math"/>
              </a:rPr>
              <a:t>𝒓</a:t>
            </a:r>
            <a:r>
              <a:rPr sz="2800" spc="155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=</a:t>
            </a:r>
            <a:r>
              <a:rPr sz="2800" spc="155">
                <a:latin typeface="Cambria Math"/>
                <a:cs typeface="Cambria Math"/>
              </a:rPr>
              <a:t> </a:t>
            </a:r>
            <a:r>
              <a:rPr sz="2800" spc="-25">
                <a:latin typeface="Cambria Math"/>
                <a:cs typeface="Cambria Math"/>
              </a:rPr>
              <a:t>𝟏𝟔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9" name="object 9">
            <a:extLst>
              <a:ext uri="{FF2B5EF4-FFF2-40B4-BE49-F238E27FC236}">
                <a16:creationId xmlns:a16="http://schemas.microsoft.com/office/drawing/2014/main" id="{2FA7DFCB-B211-D242-9B08-3674FA9BBA57}"/>
              </a:ext>
            </a:extLst>
          </p:cNvPr>
          <p:cNvSpPr txBox="1"/>
          <p:nvPr/>
        </p:nvSpPr>
        <p:spPr>
          <a:xfrm>
            <a:off x="2502407" y="5070566"/>
            <a:ext cx="2552700" cy="57785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81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查找第</a:t>
            </a:r>
            <a:r>
              <a:rPr sz="2800" spc="-1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r>
              <a:rPr sz="2800" spc="-20">
                <a:solidFill>
                  <a:srgbClr val="FFFFFF"/>
                </a:solidFill>
                <a:latin typeface="PMingLiU"/>
                <a:cs typeface="PMingLiU"/>
              </a:rPr>
              <a:t>小元素</a:t>
            </a:r>
            <a:endParaRPr sz="2800">
              <a:latin typeface="PMingLiU"/>
              <a:cs typeface="PMingLiU"/>
            </a:endParaRPr>
          </a:p>
        </p:txBody>
      </p:sp>
      <p:graphicFrame>
        <p:nvGraphicFramePr>
          <p:cNvPr id="10" name="object 4">
            <a:extLst>
              <a:ext uri="{FF2B5EF4-FFF2-40B4-BE49-F238E27FC236}">
                <a16:creationId xmlns:a16="http://schemas.microsoft.com/office/drawing/2014/main" id="{7327C260-AE90-0944-A687-9D8034E0F1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445257"/>
              </p:ext>
            </p:extLst>
          </p:nvPr>
        </p:nvGraphicFramePr>
        <p:xfrm>
          <a:off x="5029580" y="4371775"/>
          <a:ext cx="575944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52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37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object 5">
            <a:extLst>
              <a:ext uri="{FF2B5EF4-FFF2-40B4-BE49-F238E27FC236}">
                <a16:creationId xmlns:a16="http://schemas.microsoft.com/office/drawing/2014/main" id="{730FE128-E85B-7B44-9899-61C4CF5B436A}"/>
              </a:ext>
            </a:extLst>
          </p:cNvPr>
          <p:cNvSpPr txBox="1"/>
          <p:nvPr/>
        </p:nvSpPr>
        <p:spPr>
          <a:xfrm>
            <a:off x="10235438" y="5410672"/>
            <a:ext cx="5848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5">
                <a:solidFill>
                  <a:srgbClr val="FF0000"/>
                </a:solidFill>
                <a:latin typeface="PMingLiU"/>
                <a:cs typeface="PMingLiU"/>
              </a:rPr>
              <a:t>主元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14" name="object 6">
            <a:extLst>
              <a:ext uri="{FF2B5EF4-FFF2-40B4-BE49-F238E27FC236}">
                <a16:creationId xmlns:a16="http://schemas.microsoft.com/office/drawing/2014/main" id="{CFD109E1-AD47-D34E-AFC2-7BB4B892B22E}"/>
              </a:ext>
            </a:extLst>
          </p:cNvPr>
          <p:cNvSpPr/>
          <p:nvPr/>
        </p:nvSpPr>
        <p:spPr>
          <a:xfrm>
            <a:off x="10482071" y="5090378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76200" y="95250"/>
                </a:moveTo>
                <a:lnTo>
                  <a:pt x="38100" y="95250"/>
                </a:lnTo>
                <a:lnTo>
                  <a:pt x="38100" y="337185"/>
                </a:lnTo>
                <a:lnTo>
                  <a:pt x="76200" y="337185"/>
                </a:lnTo>
                <a:lnTo>
                  <a:pt x="76200" y="95250"/>
                </a:lnTo>
                <a:close/>
              </a:path>
              <a:path w="114300" h="337185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337185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99985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BB9EBC17-F700-CB44-BE44-12E8F77DE7B1}"/>
              </a:ext>
            </a:extLst>
          </p:cNvPr>
          <p:cNvSpPr txBox="1"/>
          <p:nvPr/>
        </p:nvSpPr>
        <p:spPr>
          <a:xfrm>
            <a:off x="688340" y="1146569"/>
            <a:ext cx="11503660" cy="1896673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选取固定位置主元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=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𝑨[𝒒]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为数组第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𝟐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&lt;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在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𝑨[𝒑</a:t>
            </a:r>
            <a:r>
              <a:rPr sz="2400" spc="-7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. .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</a:t>
            </a:r>
            <a:r>
              <a:rPr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−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中寻找第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𝟑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&gt;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在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𝑨[𝒒</a:t>
            </a:r>
            <a:r>
              <a:rPr sz="2400" spc="-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+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𝟏.</a:t>
            </a:r>
            <a:r>
              <a:rPr sz="2400" spc="-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. 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𝒓]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中寻找第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−(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𝒒−𝒑+𝟏)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4402BF0-E862-CE4A-8B6B-7E81E1DA0E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6902" y="219898"/>
            <a:ext cx="3715114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2F16BFB1-E34D-F842-94D4-900343E48926}"/>
              </a:ext>
            </a:extLst>
          </p:cNvPr>
          <p:cNvGraphicFramePr>
            <a:graphicFrameLocks noGrp="1"/>
          </p:cNvGraphicFramePr>
          <p:nvPr/>
        </p:nvGraphicFramePr>
        <p:xfrm>
          <a:off x="1573275" y="3135740"/>
          <a:ext cx="921511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37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object 6">
            <a:extLst>
              <a:ext uri="{FF2B5EF4-FFF2-40B4-BE49-F238E27FC236}">
                <a16:creationId xmlns:a16="http://schemas.microsoft.com/office/drawing/2014/main" id="{EB145031-0004-8745-8EBB-F25B1A1AB799}"/>
              </a:ext>
            </a:extLst>
          </p:cNvPr>
          <p:cNvSpPr/>
          <p:nvPr/>
        </p:nvSpPr>
        <p:spPr>
          <a:xfrm>
            <a:off x="4693158" y="3744685"/>
            <a:ext cx="3235960" cy="619760"/>
          </a:xfrm>
          <a:custGeom>
            <a:avLst/>
            <a:gdLst/>
            <a:ahLst/>
            <a:cxnLst/>
            <a:rect l="l" t="t" r="r" b="b"/>
            <a:pathLst>
              <a:path w="3235959" h="619760">
                <a:moveTo>
                  <a:pt x="0" y="0"/>
                </a:moveTo>
                <a:lnTo>
                  <a:pt x="3235960" y="619759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7">
            <a:extLst>
              <a:ext uri="{FF2B5EF4-FFF2-40B4-BE49-F238E27FC236}">
                <a16:creationId xmlns:a16="http://schemas.microsoft.com/office/drawing/2014/main" id="{A26629B7-7445-1E4D-84AD-22F76A1E22AD}"/>
              </a:ext>
            </a:extLst>
          </p:cNvPr>
          <p:cNvSpPr txBox="1"/>
          <p:nvPr/>
        </p:nvSpPr>
        <p:spPr>
          <a:xfrm>
            <a:off x="3992879" y="4416261"/>
            <a:ext cx="92201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>
                <a:latin typeface="Cambria Math"/>
                <a:cs typeface="Cambria Math"/>
              </a:rPr>
              <a:t>𝒑</a:t>
            </a:r>
            <a:r>
              <a:rPr sz="2800" spc="160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=</a:t>
            </a:r>
            <a:r>
              <a:rPr sz="2800" spc="15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8" name="object 8">
            <a:extLst>
              <a:ext uri="{FF2B5EF4-FFF2-40B4-BE49-F238E27FC236}">
                <a16:creationId xmlns:a16="http://schemas.microsoft.com/office/drawing/2014/main" id="{1081043B-FF1A-7F42-93CE-ADB804DBC789}"/>
              </a:ext>
            </a:extLst>
          </p:cNvPr>
          <p:cNvSpPr txBox="1"/>
          <p:nvPr/>
        </p:nvSpPr>
        <p:spPr>
          <a:xfrm>
            <a:off x="10869421" y="4353523"/>
            <a:ext cx="11049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>
                <a:latin typeface="Cambria Math"/>
                <a:cs typeface="Cambria Math"/>
              </a:rPr>
              <a:t>𝒓</a:t>
            </a:r>
            <a:r>
              <a:rPr sz="2800" spc="155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=</a:t>
            </a:r>
            <a:r>
              <a:rPr sz="2800" spc="155">
                <a:latin typeface="Cambria Math"/>
                <a:cs typeface="Cambria Math"/>
              </a:rPr>
              <a:t> </a:t>
            </a:r>
            <a:r>
              <a:rPr sz="2800" spc="-25">
                <a:latin typeface="Cambria Math"/>
                <a:cs typeface="Cambria Math"/>
              </a:rPr>
              <a:t>𝟏𝟔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9" name="object 9">
            <a:extLst>
              <a:ext uri="{FF2B5EF4-FFF2-40B4-BE49-F238E27FC236}">
                <a16:creationId xmlns:a16="http://schemas.microsoft.com/office/drawing/2014/main" id="{2FA7DFCB-B211-D242-9B08-3674FA9BBA57}"/>
              </a:ext>
            </a:extLst>
          </p:cNvPr>
          <p:cNvSpPr txBox="1"/>
          <p:nvPr/>
        </p:nvSpPr>
        <p:spPr>
          <a:xfrm>
            <a:off x="2502407" y="5070566"/>
            <a:ext cx="2552700" cy="57785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81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查找第</a:t>
            </a:r>
            <a:r>
              <a:rPr sz="2800" spc="-1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r>
              <a:rPr sz="2800" spc="-20">
                <a:solidFill>
                  <a:srgbClr val="FFFFFF"/>
                </a:solidFill>
                <a:latin typeface="PMingLiU"/>
                <a:cs typeface="PMingLiU"/>
              </a:rPr>
              <a:t>小元素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15" name="object 4">
            <a:extLst>
              <a:ext uri="{FF2B5EF4-FFF2-40B4-BE49-F238E27FC236}">
                <a16:creationId xmlns:a16="http://schemas.microsoft.com/office/drawing/2014/main" id="{7DA43627-A0DD-154A-A4BD-1BE6B4F7F457}"/>
              </a:ext>
            </a:extLst>
          </p:cNvPr>
          <p:cNvSpPr/>
          <p:nvPr/>
        </p:nvSpPr>
        <p:spPr>
          <a:xfrm>
            <a:off x="7605521" y="5090378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76200" y="95250"/>
                </a:moveTo>
                <a:lnTo>
                  <a:pt x="38100" y="95250"/>
                </a:lnTo>
                <a:lnTo>
                  <a:pt x="38100" y="337185"/>
                </a:lnTo>
                <a:lnTo>
                  <a:pt x="76200" y="337185"/>
                </a:lnTo>
                <a:lnTo>
                  <a:pt x="76200" y="95250"/>
                </a:lnTo>
                <a:close/>
              </a:path>
              <a:path w="114300" h="337185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337185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CB524C10-D8D1-9F4E-BC96-38D7804C8374}"/>
              </a:ext>
            </a:extLst>
          </p:cNvPr>
          <p:cNvSpPr txBox="1"/>
          <p:nvPr/>
        </p:nvSpPr>
        <p:spPr>
          <a:xfrm>
            <a:off x="7196835" y="5375382"/>
            <a:ext cx="1128395" cy="86868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380"/>
              </a:spcBef>
            </a:pPr>
            <a:r>
              <a:rPr sz="2200" spc="-25">
                <a:latin typeface="PMingLiU"/>
                <a:cs typeface="PMingLiU"/>
              </a:rPr>
              <a:t>主元</a:t>
            </a:r>
            <a:endParaRPr sz="2200">
              <a:latin typeface="PMingLiU"/>
              <a:cs typeface="PMingLiU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2800">
                <a:latin typeface="Cambria Math"/>
                <a:cs typeface="Cambria Math"/>
              </a:rPr>
              <a:t>𝒒</a:t>
            </a:r>
            <a:r>
              <a:rPr sz="2800" spc="155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=</a:t>
            </a:r>
            <a:r>
              <a:rPr sz="2800" spc="155">
                <a:latin typeface="Cambria Math"/>
                <a:cs typeface="Cambria Math"/>
              </a:rPr>
              <a:t> </a:t>
            </a:r>
            <a:r>
              <a:rPr sz="2800" spc="-25">
                <a:latin typeface="Cambria Math"/>
                <a:cs typeface="Cambria Math"/>
              </a:rPr>
              <a:t>𝟏𝟏</a:t>
            </a:r>
            <a:endParaRPr sz="2800">
              <a:latin typeface="Cambria Math"/>
              <a:cs typeface="Cambria Math"/>
            </a:endParaRPr>
          </a:p>
        </p:txBody>
      </p:sp>
      <p:graphicFrame>
        <p:nvGraphicFramePr>
          <p:cNvPr id="21" name="object 8">
            <a:extLst>
              <a:ext uri="{FF2B5EF4-FFF2-40B4-BE49-F238E27FC236}">
                <a16:creationId xmlns:a16="http://schemas.microsoft.com/office/drawing/2014/main" id="{5991C6AD-EC78-B94F-AF84-3ED46F1727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627055"/>
              </p:ext>
            </p:extLst>
          </p:nvPr>
        </p:nvGraphicFramePr>
        <p:xfrm>
          <a:off x="5029580" y="4384838"/>
          <a:ext cx="575944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24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52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48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15661D97-0E9A-1141-9765-A009C5B85B45}"/>
              </a:ext>
            </a:extLst>
          </p:cNvPr>
          <p:cNvGrpSpPr/>
          <p:nvPr/>
        </p:nvGrpSpPr>
        <p:grpSpPr>
          <a:xfrm>
            <a:off x="1668906" y="5831133"/>
            <a:ext cx="4457065" cy="577215"/>
            <a:chOff x="1668906" y="5831133"/>
            <a:chExt cx="4457065" cy="577215"/>
          </a:xfrm>
        </p:grpSpPr>
        <p:sp>
          <p:nvSpPr>
            <p:cNvPr id="23" name="object 11">
              <a:extLst>
                <a:ext uri="{FF2B5EF4-FFF2-40B4-BE49-F238E27FC236}">
                  <a16:creationId xmlns:a16="http://schemas.microsoft.com/office/drawing/2014/main" id="{4403B066-4BC5-0C40-9507-373E6453DD6E}"/>
                </a:ext>
              </a:extLst>
            </p:cNvPr>
            <p:cNvSpPr/>
            <p:nvPr/>
          </p:nvSpPr>
          <p:spPr>
            <a:xfrm>
              <a:off x="1668906" y="5831133"/>
              <a:ext cx="4457065" cy="577215"/>
            </a:xfrm>
            <a:custGeom>
              <a:avLst/>
              <a:gdLst/>
              <a:ahLst/>
              <a:cxnLst/>
              <a:rect l="l" t="t" r="r" b="b"/>
              <a:pathLst>
                <a:path w="4457065" h="577214">
                  <a:moveTo>
                    <a:pt x="4456937" y="0"/>
                  </a:moveTo>
                  <a:lnTo>
                    <a:pt x="0" y="0"/>
                  </a:lnTo>
                  <a:lnTo>
                    <a:pt x="0" y="576834"/>
                  </a:lnTo>
                  <a:lnTo>
                    <a:pt x="4456937" y="576834"/>
                  </a:lnTo>
                  <a:lnTo>
                    <a:pt x="4456937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2">
              <a:extLst>
                <a:ext uri="{FF2B5EF4-FFF2-40B4-BE49-F238E27FC236}">
                  <a16:creationId xmlns:a16="http://schemas.microsoft.com/office/drawing/2014/main" id="{664E94CD-E8A7-9543-BCB2-4F4EEE5D6D37}"/>
                </a:ext>
              </a:extLst>
            </p:cNvPr>
            <p:cNvSpPr txBox="1"/>
            <p:nvPr/>
          </p:nvSpPr>
          <p:spPr>
            <a:xfrm>
              <a:off x="1718617" y="5901840"/>
              <a:ext cx="4354830" cy="430887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spcBef>
                  <a:spcPts val="2260"/>
                </a:spcBef>
              </a:pPr>
              <a:r>
                <a:rPr sz="2800" dirty="0">
                  <a:solidFill>
                    <a:schemeClr val="bg1"/>
                  </a:solidFill>
                  <a:latin typeface="Cambria Math"/>
                  <a:cs typeface="Cambria Math"/>
                </a:rPr>
                <a:t>𝒒</a:t>
              </a:r>
              <a:r>
                <a:rPr sz="2800" spc="-10" dirty="0">
                  <a:solidFill>
                    <a:schemeClr val="bg1"/>
                  </a:solidFill>
                  <a:latin typeface="Cambria Math"/>
                  <a:cs typeface="Cambria Math"/>
                </a:rPr>
                <a:t> </a:t>
              </a:r>
              <a:r>
                <a:rPr sz="2800" dirty="0">
                  <a:solidFill>
                    <a:schemeClr val="bg1"/>
                  </a:solidFill>
                  <a:latin typeface="Cambria Math"/>
                  <a:cs typeface="Cambria Math"/>
                </a:rPr>
                <a:t>− 𝒑 +</a:t>
              </a:r>
              <a:r>
                <a:rPr sz="2800" spc="-5" dirty="0">
                  <a:solidFill>
                    <a:schemeClr val="bg1"/>
                  </a:solidFill>
                  <a:latin typeface="Cambria Math"/>
                  <a:cs typeface="Cambria Math"/>
                </a:rPr>
                <a:t> </a:t>
              </a:r>
              <a:r>
                <a:rPr sz="2800" dirty="0">
                  <a:solidFill>
                    <a:schemeClr val="bg1"/>
                  </a:solidFill>
                  <a:latin typeface="Cambria Math"/>
                  <a:cs typeface="Cambria Math"/>
                </a:rPr>
                <a:t>𝟏</a:t>
              </a:r>
              <a:r>
                <a:rPr sz="2800" spc="160" dirty="0">
                  <a:solidFill>
                    <a:schemeClr val="bg1"/>
                  </a:solidFill>
                  <a:latin typeface="Cambria Math"/>
                  <a:cs typeface="Cambria Math"/>
                </a:rPr>
                <a:t> </a:t>
              </a:r>
              <a:r>
                <a:rPr sz="2800" dirty="0">
                  <a:solidFill>
                    <a:schemeClr val="bg1"/>
                  </a:solidFill>
                  <a:latin typeface="Cambria Math"/>
                  <a:cs typeface="Cambria Math"/>
                </a:rPr>
                <a:t>=</a:t>
              </a:r>
              <a:r>
                <a:rPr sz="2800" spc="155" dirty="0">
                  <a:solidFill>
                    <a:schemeClr val="bg1"/>
                  </a:solidFill>
                  <a:latin typeface="Cambria Math"/>
                  <a:cs typeface="Cambria Math"/>
                </a:rPr>
                <a:t> </a:t>
              </a:r>
              <a:r>
                <a:rPr sz="2800" dirty="0">
                  <a:solidFill>
                    <a:schemeClr val="bg1"/>
                  </a:solidFill>
                  <a:latin typeface="Cambria Math"/>
                  <a:cs typeface="Cambria Math"/>
                </a:rPr>
                <a:t>𝟏𝟏</a:t>
              </a:r>
              <a:r>
                <a:rPr sz="2800" spc="5" dirty="0">
                  <a:solidFill>
                    <a:schemeClr val="bg1"/>
                  </a:solidFill>
                  <a:latin typeface="Cambria Math"/>
                  <a:cs typeface="Cambria Math"/>
                </a:rPr>
                <a:t> </a:t>
              </a:r>
              <a:r>
                <a:rPr sz="2800" dirty="0">
                  <a:solidFill>
                    <a:schemeClr val="bg1"/>
                  </a:solidFill>
                  <a:latin typeface="Cambria Math"/>
                  <a:cs typeface="Cambria Math"/>
                </a:rPr>
                <a:t>−</a:t>
              </a:r>
              <a:r>
                <a:rPr sz="2800" spc="-5" dirty="0">
                  <a:solidFill>
                    <a:schemeClr val="bg1"/>
                  </a:solidFill>
                  <a:latin typeface="Cambria Math"/>
                  <a:cs typeface="Cambria Math"/>
                </a:rPr>
                <a:t> </a:t>
              </a:r>
              <a:r>
                <a:rPr sz="2800" dirty="0">
                  <a:solidFill>
                    <a:schemeClr val="bg1"/>
                  </a:solidFill>
                  <a:latin typeface="Cambria Math"/>
                  <a:cs typeface="Cambria Math"/>
                </a:rPr>
                <a:t>𝟕</a:t>
              </a:r>
              <a:r>
                <a:rPr sz="2800" spc="5" dirty="0">
                  <a:solidFill>
                    <a:schemeClr val="bg1"/>
                  </a:solidFill>
                  <a:latin typeface="Cambria Math"/>
                  <a:cs typeface="Cambria Math"/>
                </a:rPr>
                <a:t> </a:t>
              </a:r>
              <a:r>
                <a:rPr sz="2800" dirty="0">
                  <a:solidFill>
                    <a:schemeClr val="bg1"/>
                  </a:solidFill>
                  <a:latin typeface="Cambria Math"/>
                  <a:cs typeface="Cambria Math"/>
                </a:rPr>
                <a:t>+ 𝟏</a:t>
              </a:r>
              <a:r>
                <a:rPr sz="2800" spc="160" dirty="0">
                  <a:solidFill>
                    <a:schemeClr val="bg1"/>
                  </a:solidFill>
                  <a:latin typeface="Cambria Math"/>
                  <a:cs typeface="Cambria Math"/>
                </a:rPr>
                <a:t> </a:t>
              </a:r>
              <a:r>
                <a:rPr sz="2800" dirty="0">
                  <a:solidFill>
                    <a:schemeClr val="bg1"/>
                  </a:solidFill>
                  <a:latin typeface="Cambria Math"/>
                  <a:cs typeface="Cambria Math"/>
                </a:rPr>
                <a:t>=</a:t>
              </a:r>
              <a:r>
                <a:rPr sz="2800" spc="150" dirty="0">
                  <a:solidFill>
                    <a:schemeClr val="bg1"/>
                  </a:solidFill>
                  <a:latin typeface="Cambria Math"/>
                  <a:cs typeface="Cambria Math"/>
                </a:rPr>
                <a:t> </a:t>
              </a:r>
              <a:r>
                <a:rPr sz="2800" spc="-50" dirty="0">
                  <a:solidFill>
                    <a:schemeClr val="bg1"/>
                  </a:solidFill>
                  <a:latin typeface="Cambria Math"/>
                  <a:cs typeface="Cambria Math"/>
                </a:rPr>
                <a:t>𝟓</a:t>
              </a:r>
              <a:endParaRPr sz="2800" dirty="0">
                <a:solidFill>
                  <a:schemeClr val="bg1"/>
                </a:solidFill>
                <a:latin typeface="Cambria Math"/>
                <a:cs typeface="Cambria Math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1425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BB9EBC17-F700-CB44-BE44-12E8F77DE7B1}"/>
              </a:ext>
            </a:extLst>
          </p:cNvPr>
          <p:cNvSpPr txBox="1"/>
          <p:nvPr/>
        </p:nvSpPr>
        <p:spPr>
          <a:xfrm>
            <a:off x="688340" y="1146569"/>
            <a:ext cx="11503660" cy="1896673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选取固定位置主元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=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𝑨[𝒒]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为数组第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𝟐</a:t>
            </a:r>
            <a:r>
              <a:rPr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&lt; </a:t>
            </a:r>
            <a:r>
              <a:rPr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𝟏</a:t>
            </a:r>
            <a:r>
              <a:rPr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在</a:t>
            </a:r>
            <a:r>
              <a:rPr sz="2400" spc="-1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𝑨[𝒑</a:t>
            </a:r>
            <a:r>
              <a:rPr sz="2400" spc="-75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. . </a:t>
            </a:r>
            <a:r>
              <a:rPr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</a:t>
            </a:r>
            <a:r>
              <a:rPr sz="2400" spc="5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− </a:t>
            </a:r>
            <a:r>
              <a:rPr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𝟏]</a:t>
            </a:r>
            <a:r>
              <a:rPr sz="24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中寻找第</a:t>
            </a:r>
            <a:r>
              <a:rPr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2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𝟑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&gt;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在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𝑨[𝒒</a:t>
            </a:r>
            <a:r>
              <a:rPr sz="2400" spc="-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+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𝟏.</a:t>
            </a:r>
            <a:r>
              <a:rPr sz="2400" spc="-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. 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𝒓]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中寻找第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−(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𝒒−𝒑+𝟏)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4402BF0-E862-CE4A-8B6B-7E81E1DA0E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6902" y="219898"/>
            <a:ext cx="3715114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2F16BFB1-E34D-F842-94D4-900343E48926}"/>
              </a:ext>
            </a:extLst>
          </p:cNvPr>
          <p:cNvGraphicFramePr>
            <a:graphicFrameLocks noGrp="1"/>
          </p:cNvGraphicFramePr>
          <p:nvPr/>
        </p:nvGraphicFramePr>
        <p:xfrm>
          <a:off x="1573275" y="3135740"/>
          <a:ext cx="921511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37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object 6">
            <a:extLst>
              <a:ext uri="{FF2B5EF4-FFF2-40B4-BE49-F238E27FC236}">
                <a16:creationId xmlns:a16="http://schemas.microsoft.com/office/drawing/2014/main" id="{EB145031-0004-8745-8EBB-F25B1A1AB799}"/>
              </a:ext>
            </a:extLst>
          </p:cNvPr>
          <p:cNvSpPr/>
          <p:nvPr/>
        </p:nvSpPr>
        <p:spPr>
          <a:xfrm>
            <a:off x="4693158" y="3744685"/>
            <a:ext cx="3235960" cy="619760"/>
          </a:xfrm>
          <a:custGeom>
            <a:avLst/>
            <a:gdLst/>
            <a:ahLst/>
            <a:cxnLst/>
            <a:rect l="l" t="t" r="r" b="b"/>
            <a:pathLst>
              <a:path w="3235959" h="619760">
                <a:moveTo>
                  <a:pt x="0" y="0"/>
                </a:moveTo>
                <a:lnTo>
                  <a:pt x="3235960" y="619759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7">
            <a:extLst>
              <a:ext uri="{FF2B5EF4-FFF2-40B4-BE49-F238E27FC236}">
                <a16:creationId xmlns:a16="http://schemas.microsoft.com/office/drawing/2014/main" id="{A26629B7-7445-1E4D-84AD-22F76A1E22AD}"/>
              </a:ext>
            </a:extLst>
          </p:cNvPr>
          <p:cNvSpPr txBox="1"/>
          <p:nvPr/>
        </p:nvSpPr>
        <p:spPr>
          <a:xfrm>
            <a:off x="3992879" y="4416261"/>
            <a:ext cx="92201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>
                <a:latin typeface="Cambria Math"/>
                <a:cs typeface="Cambria Math"/>
              </a:rPr>
              <a:t>𝒑</a:t>
            </a:r>
            <a:r>
              <a:rPr sz="2800" spc="160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=</a:t>
            </a:r>
            <a:r>
              <a:rPr sz="2800" spc="15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8" name="object 8">
            <a:extLst>
              <a:ext uri="{FF2B5EF4-FFF2-40B4-BE49-F238E27FC236}">
                <a16:creationId xmlns:a16="http://schemas.microsoft.com/office/drawing/2014/main" id="{1081043B-FF1A-7F42-93CE-ADB804DBC789}"/>
              </a:ext>
            </a:extLst>
          </p:cNvPr>
          <p:cNvSpPr txBox="1"/>
          <p:nvPr/>
        </p:nvSpPr>
        <p:spPr>
          <a:xfrm>
            <a:off x="10869421" y="4353523"/>
            <a:ext cx="11049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>
                <a:latin typeface="Cambria Math"/>
                <a:cs typeface="Cambria Math"/>
              </a:rPr>
              <a:t>𝒓</a:t>
            </a:r>
            <a:r>
              <a:rPr sz="2800" spc="155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=</a:t>
            </a:r>
            <a:r>
              <a:rPr sz="2800" spc="155">
                <a:latin typeface="Cambria Math"/>
                <a:cs typeface="Cambria Math"/>
              </a:rPr>
              <a:t> </a:t>
            </a:r>
            <a:r>
              <a:rPr sz="2800" spc="-25">
                <a:latin typeface="Cambria Math"/>
                <a:cs typeface="Cambria Math"/>
              </a:rPr>
              <a:t>𝟏𝟔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9" name="object 9">
            <a:extLst>
              <a:ext uri="{FF2B5EF4-FFF2-40B4-BE49-F238E27FC236}">
                <a16:creationId xmlns:a16="http://schemas.microsoft.com/office/drawing/2014/main" id="{2FA7DFCB-B211-D242-9B08-3674FA9BBA57}"/>
              </a:ext>
            </a:extLst>
          </p:cNvPr>
          <p:cNvSpPr txBox="1"/>
          <p:nvPr/>
        </p:nvSpPr>
        <p:spPr>
          <a:xfrm>
            <a:off x="2502407" y="5070566"/>
            <a:ext cx="2552700" cy="57785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81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查找第</a:t>
            </a:r>
            <a:r>
              <a:rPr sz="2800" spc="-1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r>
              <a:rPr sz="2800" spc="-20">
                <a:solidFill>
                  <a:srgbClr val="FFFFFF"/>
                </a:solidFill>
                <a:latin typeface="PMingLiU"/>
                <a:cs typeface="PMingLiU"/>
              </a:rPr>
              <a:t>小元素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15" name="object 4">
            <a:extLst>
              <a:ext uri="{FF2B5EF4-FFF2-40B4-BE49-F238E27FC236}">
                <a16:creationId xmlns:a16="http://schemas.microsoft.com/office/drawing/2014/main" id="{7DA43627-A0DD-154A-A4BD-1BE6B4F7F457}"/>
              </a:ext>
            </a:extLst>
          </p:cNvPr>
          <p:cNvSpPr/>
          <p:nvPr/>
        </p:nvSpPr>
        <p:spPr>
          <a:xfrm>
            <a:off x="7605521" y="5090378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76200" y="95250"/>
                </a:moveTo>
                <a:lnTo>
                  <a:pt x="38100" y="95250"/>
                </a:lnTo>
                <a:lnTo>
                  <a:pt x="38100" y="337185"/>
                </a:lnTo>
                <a:lnTo>
                  <a:pt x="76200" y="337185"/>
                </a:lnTo>
                <a:lnTo>
                  <a:pt x="76200" y="95250"/>
                </a:lnTo>
                <a:close/>
              </a:path>
              <a:path w="114300" h="337185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337185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CB524C10-D8D1-9F4E-BC96-38D7804C8374}"/>
              </a:ext>
            </a:extLst>
          </p:cNvPr>
          <p:cNvSpPr txBox="1"/>
          <p:nvPr/>
        </p:nvSpPr>
        <p:spPr>
          <a:xfrm>
            <a:off x="7196835" y="5375382"/>
            <a:ext cx="1128395" cy="86868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380"/>
              </a:spcBef>
            </a:pPr>
            <a:r>
              <a:rPr sz="2200" spc="-25">
                <a:latin typeface="PMingLiU"/>
                <a:cs typeface="PMingLiU"/>
              </a:rPr>
              <a:t>主元</a:t>
            </a:r>
            <a:endParaRPr sz="2200">
              <a:latin typeface="PMingLiU"/>
              <a:cs typeface="PMingLiU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2800">
                <a:latin typeface="Cambria Math"/>
                <a:cs typeface="Cambria Math"/>
              </a:rPr>
              <a:t>𝒒</a:t>
            </a:r>
            <a:r>
              <a:rPr sz="2800" spc="155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=</a:t>
            </a:r>
            <a:r>
              <a:rPr sz="2800" spc="155">
                <a:latin typeface="Cambria Math"/>
                <a:cs typeface="Cambria Math"/>
              </a:rPr>
              <a:t> </a:t>
            </a:r>
            <a:r>
              <a:rPr sz="2800" spc="-25">
                <a:latin typeface="Cambria Math"/>
                <a:cs typeface="Cambria Math"/>
              </a:rPr>
              <a:t>𝟏𝟏</a:t>
            </a:r>
            <a:endParaRPr sz="2800">
              <a:latin typeface="Cambria Math"/>
              <a:cs typeface="Cambria Math"/>
            </a:endParaRPr>
          </a:p>
        </p:txBody>
      </p:sp>
      <p:graphicFrame>
        <p:nvGraphicFramePr>
          <p:cNvPr id="21" name="object 8">
            <a:extLst>
              <a:ext uri="{FF2B5EF4-FFF2-40B4-BE49-F238E27FC236}">
                <a16:creationId xmlns:a16="http://schemas.microsoft.com/office/drawing/2014/main" id="{5991C6AD-EC78-B94F-AF84-3ED46F172762}"/>
              </a:ext>
            </a:extLst>
          </p:cNvPr>
          <p:cNvGraphicFramePr>
            <a:graphicFrameLocks noGrp="1"/>
          </p:cNvGraphicFramePr>
          <p:nvPr/>
        </p:nvGraphicFramePr>
        <p:xfrm>
          <a:off x="5029580" y="4384838"/>
          <a:ext cx="575944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24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52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48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15661D97-0E9A-1141-9765-A009C5B85B45}"/>
              </a:ext>
            </a:extLst>
          </p:cNvPr>
          <p:cNvGrpSpPr/>
          <p:nvPr/>
        </p:nvGrpSpPr>
        <p:grpSpPr>
          <a:xfrm>
            <a:off x="1668906" y="5831133"/>
            <a:ext cx="4457065" cy="577215"/>
            <a:chOff x="1668906" y="5831133"/>
            <a:chExt cx="4457065" cy="577215"/>
          </a:xfrm>
        </p:grpSpPr>
        <p:sp>
          <p:nvSpPr>
            <p:cNvPr id="23" name="object 11">
              <a:extLst>
                <a:ext uri="{FF2B5EF4-FFF2-40B4-BE49-F238E27FC236}">
                  <a16:creationId xmlns:a16="http://schemas.microsoft.com/office/drawing/2014/main" id="{4403B066-4BC5-0C40-9507-373E6453DD6E}"/>
                </a:ext>
              </a:extLst>
            </p:cNvPr>
            <p:cNvSpPr/>
            <p:nvPr/>
          </p:nvSpPr>
          <p:spPr>
            <a:xfrm>
              <a:off x="1668906" y="5831133"/>
              <a:ext cx="4457065" cy="577215"/>
            </a:xfrm>
            <a:custGeom>
              <a:avLst/>
              <a:gdLst/>
              <a:ahLst/>
              <a:cxnLst/>
              <a:rect l="l" t="t" r="r" b="b"/>
              <a:pathLst>
                <a:path w="4457065" h="577214">
                  <a:moveTo>
                    <a:pt x="4456937" y="0"/>
                  </a:moveTo>
                  <a:lnTo>
                    <a:pt x="0" y="0"/>
                  </a:lnTo>
                  <a:lnTo>
                    <a:pt x="0" y="576834"/>
                  </a:lnTo>
                  <a:lnTo>
                    <a:pt x="4456937" y="576834"/>
                  </a:lnTo>
                  <a:lnTo>
                    <a:pt x="4456937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2">
              <a:extLst>
                <a:ext uri="{FF2B5EF4-FFF2-40B4-BE49-F238E27FC236}">
                  <a16:creationId xmlns:a16="http://schemas.microsoft.com/office/drawing/2014/main" id="{664E94CD-E8A7-9543-BCB2-4F4EEE5D6D37}"/>
                </a:ext>
              </a:extLst>
            </p:cNvPr>
            <p:cNvSpPr txBox="1"/>
            <p:nvPr/>
          </p:nvSpPr>
          <p:spPr>
            <a:xfrm>
              <a:off x="1718617" y="5901840"/>
              <a:ext cx="4354830" cy="430887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spcBef>
                  <a:spcPts val="2260"/>
                </a:spcBef>
              </a:pPr>
              <a:r>
                <a:rPr sz="2800" dirty="0">
                  <a:solidFill>
                    <a:schemeClr val="bg1"/>
                  </a:solidFill>
                  <a:latin typeface="Cambria Math"/>
                  <a:cs typeface="Cambria Math"/>
                </a:rPr>
                <a:t>𝒒</a:t>
              </a:r>
              <a:r>
                <a:rPr sz="2800" spc="-10" dirty="0">
                  <a:solidFill>
                    <a:schemeClr val="bg1"/>
                  </a:solidFill>
                  <a:latin typeface="Cambria Math"/>
                  <a:cs typeface="Cambria Math"/>
                </a:rPr>
                <a:t> </a:t>
              </a:r>
              <a:r>
                <a:rPr sz="2800" dirty="0">
                  <a:solidFill>
                    <a:schemeClr val="bg1"/>
                  </a:solidFill>
                  <a:latin typeface="Cambria Math"/>
                  <a:cs typeface="Cambria Math"/>
                </a:rPr>
                <a:t>− 𝒑 +</a:t>
              </a:r>
              <a:r>
                <a:rPr sz="2800" spc="-5" dirty="0">
                  <a:solidFill>
                    <a:schemeClr val="bg1"/>
                  </a:solidFill>
                  <a:latin typeface="Cambria Math"/>
                  <a:cs typeface="Cambria Math"/>
                </a:rPr>
                <a:t> </a:t>
              </a:r>
              <a:r>
                <a:rPr sz="2800" dirty="0">
                  <a:solidFill>
                    <a:schemeClr val="bg1"/>
                  </a:solidFill>
                  <a:latin typeface="Cambria Math"/>
                  <a:cs typeface="Cambria Math"/>
                </a:rPr>
                <a:t>𝟏</a:t>
              </a:r>
              <a:r>
                <a:rPr sz="2800" spc="160" dirty="0">
                  <a:solidFill>
                    <a:schemeClr val="bg1"/>
                  </a:solidFill>
                  <a:latin typeface="Cambria Math"/>
                  <a:cs typeface="Cambria Math"/>
                </a:rPr>
                <a:t> </a:t>
              </a:r>
              <a:r>
                <a:rPr sz="2800" dirty="0">
                  <a:solidFill>
                    <a:schemeClr val="bg1"/>
                  </a:solidFill>
                  <a:latin typeface="Cambria Math"/>
                  <a:cs typeface="Cambria Math"/>
                </a:rPr>
                <a:t>=</a:t>
              </a:r>
              <a:r>
                <a:rPr sz="2800" spc="155" dirty="0">
                  <a:solidFill>
                    <a:schemeClr val="bg1"/>
                  </a:solidFill>
                  <a:latin typeface="Cambria Math"/>
                  <a:cs typeface="Cambria Math"/>
                </a:rPr>
                <a:t> </a:t>
              </a:r>
              <a:r>
                <a:rPr sz="2800" dirty="0">
                  <a:solidFill>
                    <a:schemeClr val="bg1"/>
                  </a:solidFill>
                  <a:latin typeface="Cambria Math"/>
                  <a:cs typeface="Cambria Math"/>
                </a:rPr>
                <a:t>𝟏𝟏</a:t>
              </a:r>
              <a:r>
                <a:rPr sz="2800" spc="5" dirty="0">
                  <a:solidFill>
                    <a:schemeClr val="bg1"/>
                  </a:solidFill>
                  <a:latin typeface="Cambria Math"/>
                  <a:cs typeface="Cambria Math"/>
                </a:rPr>
                <a:t> </a:t>
              </a:r>
              <a:r>
                <a:rPr sz="2800" dirty="0">
                  <a:solidFill>
                    <a:schemeClr val="bg1"/>
                  </a:solidFill>
                  <a:latin typeface="Cambria Math"/>
                  <a:cs typeface="Cambria Math"/>
                </a:rPr>
                <a:t>−</a:t>
              </a:r>
              <a:r>
                <a:rPr sz="2800" spc="-5" dirty="0">
                  <a:solidFill>
                    <a:schemeClr val="bg1"/>
                  </a:solidFill>
                  <a:latin typeface="Cambria Math"/>
                  <a:cs typeface="Cambria Math"/>
                </a:rPr>
                <a:t> </a:t>
              </a:r>
              <a:r>
                <a:rPr sz="2800" dirty="0">
                  <a:solidFill>
                    <a:schemeClr val="bg1"/>
                  </a:solidFill>
                  <a:latin typeface="Cambria Math"/>
                  <a:cs typeface="Cambria Math"/>
                </a:rPr>
                <a:t>𝟕</a:t>
              </a:r>
              <a:r>
                <a:rPr sz="2800" spc="5" dirty="0">
                  <a:solidFill>
                    <a:schemeClr val="bg1"/>
                  </a:solidFill>
                  <a:latin typeface="Cambria Math"/>
                  <a:cs typeface="Cambria Math"/>
                </a:rPr>
                <a:t> </a:t>
              </a:r>
              <a:r>
                <a:rPr sz="2800" dirty="0">
                  <a:solidFill>
                    <a:schemeClr val="bg1"/>
                  </a:solidFill>
                  <a:latin typeface="Cambria Math"/>
                  <a:cs typeface="Cambria Math"/>
                </a:rPr>
                <a:t>+ 𝟏</a:t>
              </a:r>
              <a:r>
                <a:rPr sz="2800" spc="160" dirty="0">
                  <a:solidFill>
                    <a:schemeClr val="bg1"/>
                  </a:solidFill>
                  <a:latin typeface="Cambria Math"/>
                  <a:cs typeface="Cambria Math"/>
                </a:rPr>
                <a:t> </a:t>
              </a:r>
              <a:r>
                <a:rPr sz="2800" dirty="0">
                  <a:solidFill>
                    <a:schemeClr val="bg1"/>
                  </a:solidFill>
                  <a:latin typeface="Cambria Math"/>
                  <a:cs typeface="Cambria Math"/>
                </a:rPr>
                <a:t>=</a:t>
              </a:r>
              <a:r>
                <a:rPr sz="2800" spc="150" dirty="0">
                  <a:solidFill>
                    <a:schemeClr val="bg1"/>
                  </a:solidFill>
                  <a:latin typeface="Cambria Math"/>
                  <a:cs typeface="Cambria Math"/>
                </a:rPr>
                <a:t> </a:t>
              </a:r>
              <a:r>
                <a:rPr sz="2800" spc="-50" dirty="0">
                  <a:solidFill>
                    <a:schemeClr val="bg1"/>
                  </a:solidFill>
                  <a:latin typeface="Cambria Math"/>
                  <a:cs typeface="Cambria Math"/>
                </a:rPr>
                <a:t>𝟓</a:t>
              </a:r>
              <a:endParaRPr sz="2800" dirty="0">
                <a:solidFill>
                  <a:schemeClr val="bg1"/>
                </a:solidFill>
                <a:latin typeface="Cambria Math"/>
                <a:cs typeface="Cambria Math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0881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BB9EBC17-F700-CB44-BE44-12E8F77DE7B1}"/>
              </a:ext>
            </a:extLst>
          </p:cNvPr>
          <p:cNvSpPr txBox="1"/>
          <p:nvPr/>
        </p:nvSpPr>
        <p:spPr>
          <a:xfrm>
            <a:off x="688340" y="1146569"/>
            <a:ext cx="11503660" cy="1896673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选取固定位置主元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=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𝑨[𝒒]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为数组第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𝟐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&lt;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在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𝑨[𝒑</a:t>
            </a:r>
            <a:r>
              <a:rPr sz="2400" spc="-7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. .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</a:t>
            </a:r>
            <a:r>
              <a:rPr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−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中寻找第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𝟑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&gt;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在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𝑨[𝒒</a:t>
            </a:r>
            <a:r>
              <a:rPr sz="2400" spc="-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+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𝟏.</a:t>
            </a:r>
            <a:r>
              <a:rPr sz="2400" spc="-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. 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𝒓]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中寻找第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−(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𝒒−𝒑+𝟏)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4402BF0-E862-CE4A-8B6B-7E81E1DA0E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6902" y="219898"/>
            <a:ext cx="3715114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2F16BFB1-E34D-F842-94D4-900343E48926}"/>
              </a:ext>
            </a:extLst>
          </p:cNvPr>
          <p:cNvGraphicFramePr>
            <a:graphicFrameLocks noGrp="1"/>
          </p:cNvGraphicFramePr>
          <p:nvPr/>
        </p:nvGraphicFramePr>
        <p:xfrm>
          <a:off x="1573275" y="3135740"/>
          <a:ext cx="921511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37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object 6">
            <a:extLst>
              <a:ext uri="{FF2B5EF4-FFF2-40B4-BE49-F238E27FC236}">
                <a16:creationId xmlns:a16="http://schemas.microsoft.com/office/drawing/2014/main" id="{EB145031-0004-8745-8EBB-F25B1A1AB799}"/>
              </a:ext>
            </a:extLst>
          </p:cNvPr>
          <p:cNvSpPr/>
          <p:nvPr/>
        </p:nvSpPr>
        <p:spPr>
          <a:xfrm>
            <a:off x="4693158" y="3744685"/>
            <a:ext cx="3235960" cy="619760"/>
          </a:xfrm>
          <a:custGeom>
            <a:avLst/>
            <a:gdLst/>
            <a:ahLst/>
            <a:cxnLst/>
            <a:rect l="l" t="t" r="r" b="b"/>
            <a:pathLst>
              <a:path w="3235959" h="619760">
                <a:moveTo>
                  <a:pt x="0" y="0"/>
                </a:moveTo>
                <a:lnTo>
                  <a:pt x="3235960" y="619759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1" name="object 8">
            <a:extLst>
              <a:ext uri="{FF2B5EF4-FFF2-40B4-BE49-F238E27FC236}">
                <a16:creationId xmlns:a16="http://schemas.microsoft.com/office/drawing/2014/main" id="{5991C6AD-EC78-B94F-AF84-3ED46F172762}"/>
              </a:ext>
            </a:extLst>
          </p:cNvPr>
          <p:cNvGraphicFramePr>
            <a:graphicFrameLocks noGrp="1"/>
          </p:cNvGraphicFramePr>
          <p:nvPr/>
        </p:nvGraphicFramePr>
        <p:xfrm>
          <a:off x="5029580" y="4384838"/>
          <a:ext cx="575944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24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52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48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object 4">
            <a:extLst>
              <a:ext uri="{FF2B5EF4-FFF2-40B4-BE49-F238E27FC236}">
                <a16:creationId xmlns:a16="http://schemas.microsoft.com/office/drawing/2014/main" id="{98F7D5E4-21D0-D145-B96F-672E7255D5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63350"/>
              </p:ext>
            </p:extLst>
          </p:nvPr>
        </p:nvGraphicFramePr>
        <p:xfrm>
          <a:off x="4729131" y="5556232"/>
          <a:ext cx="2303779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object 8">
            <a:extLst>
              <a:ext uri="{FF2B5EF4-FFF2-40B4-BE49-F238E27FC236}">
                <a16:creationId xmlns:a16="http://schemas.microsoft.com/office/drawing/2014/main" id="{341CAADE-1B3F-3646-AEC7-F1934D6A622D}"/>
              </a:ext>
            </a:extLst>
          </p:cNvPr>
          <p:cNvSpPr/>
          <p:nvPr/>
        </p:nvSpPr>
        <p:spPr>
          <a:xfrm>
            <a:off x="5900706" y="5020165"/>
            <a:ext cx="1728470" cy="554990"/>
          </a:xfrm>
          <a:custGeom>
            <a:avLst/>
            <a:gdLst/>
            <a:ahLst/>
            <a:cxnLst/>
            <a:rect l="l" t="t" r="r" b="b"/>
            <a:pathLst>
              <a:path w="1728470" h="554989">
                <a:moveTo>
                  <a:pt x="1728216" y="0"/>
                </a:moveTo>
                <a:lnTo>
                  <a:pt x="0" y="554989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9">
            <a:extLst>
              <a:ext uri="{FF2B5EF4-FFF2-40B4-BE49-F238E27FC236}">
                <a16:creationId xmlns:a16="http://schemas.microsoft.com/office/drawing/2014/main" id="{943B9E93-6C28-EA4E-B1A7-CCB5539BDE48}"/>
              </a:ext>
            </a:extLst>
          </p:cNvPr>
          <p:cNvSpPr txBox="1"/>
          <p:nvPr/>
        </p:nvSpPr>
        <p:spPr>
          <a:xfrm>
            <a:off x="3692430" y="5623415"/>
            <a:ext cx="92201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>
                <a:latin typeface="Cambria Math"/>
                <a:cs typeface="Cambria Math"/>
              </a:rPr>
              <a:t>𝒑</a:t>
            </a:r>
            <a:r>
              <a:rPr sz="2800" spc="160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=</a:t>
            </a:r>
            <a:r>
              <a:rPr sz="2800" spc="15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7" name="object 10">
            <a:extLst>
              <a:ext uri="{FF2B5EF4-FFF2-40B4-BE49-F238E27FC236}">
                <a16:creationId xmlns:a16="http://schemas.microsoft.com/office/drawing/2014/main" id="{6EAC0E1E-CD52-894A-8675-0DD2CB918868}"/>
              </a:ext>
            </a:extLst>
          </p:cNvPr>
          <p:cNvSpPr txBox="1"/>
          <p:nvPr/>
        </p:nvSpPr>
        <p:spPr>
          <a:xfrm>
            <a:off x="7186455" y="5621130"/>
            <a:ext cx="11049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>
                <a:latin typeface="Cambria Math"/>
                <a:cs typeface="Cambria Math"/>
              </a:rPr>
              <a:t>𝒓</a:t>
            </a:r>
            <a:r>
              <a:rPr sz="2800" spc="155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=</a:t>
            </a:r>
            <a:r>
              <a:rPr sz="2800" spc="160">
                <a:latin typeface="Cambria Math"/>
                <a:cs typeface="Cambria Math"/>
              </a:rPr>
              <a:t> </a:t>
            </a:r>
            <a:r>
              <a:rPr sz="2800" spc="-25">
                <a:latin typeface="Cambria Math"/>
                <a:cs typeface="Cambria Math"/>
              </a:rPr>
              <a:t>𝟏𝟎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8" name="object 11">
            <a:extLst>
              <a:ext uri="{FF2B5EF4-FFF2-40B4-BE49-F238E27FC236}">
                <a16:creationId xmlns:a16="http://schemas.microsoft.com/office/drawing/2014/main" id="{70053DCF-92B4-374D-B947-0C09A95A1D6E}"/>
              </a:ext>
            </a:extLst>
          </p:cNvPr>
          <p:cNvSpPr txBox="1"/>
          <p:nvPr/>
        </p:nvSpPr>
        <p:spPr>
          <a:xfrm>
            <a:off x="986185" y="5075234"/>
            <a:ext cx="2552700" cy="57721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746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95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查找第</a:t>
            </a:r>
            <a:r>
              <a:rPr sz="2800" spc="-1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r>
              <a:rPr sz="2800" spc="-20">
                <a:solidFill>
                  <a:srgbClr val="FFFFFF"/>
                </a:solidFill>
                <a:latin typeface="PMingLiU"/>
                <a:cs typeface="PMingLiU"/>
              </a:rPr>
              <a:t>小元素</a:t>
            </a:r>
            <a:endParaRPr sz="2800">
              <a:latin typeface="PMingLiU"/>
              <a:cs typeface="PMingLiU"/>
            </a:endParaRPr>
          </a:p>
        </p:txBody>
      </p:sp>
    </p:spTree>
    <p:extLst>
      <p:ext uri="{BB962C8B-B14F-4D97-AF65-F5344CB8AC3E}">
        <p14:creationId xmlns:p14="http://schemas.microsoft.com/office/powerpoint/2010/main" val="239283201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BB9EBC17-F700-CB44-BE44-12E8F77DE7B1}"/>
              </a:ext>
            </a:extLst>
          </p:cNvPr>
          <p:cNvSpPr txBox="1"/>
          <p:nvPr/>
        </p:nvSpPr>
        <p:spPr>
          <a:xfrm>
            <a:off x="688340" y="1146569"/>
            <a:ext cx="11503660" cy="1896673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选取固定位置主元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=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𝑨[𝒒]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为数组第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𝟐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&lt;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在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𝑨[𝒑</a:t>
            </a:r>
            <a:r>
              <a:rPr sz="2400" spc="-7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. .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</a:t>
            </a:r>
            <a:r>
              <a:rPr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−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中寻找第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𝟑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&gt;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在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𝑨[𝒒</a:t>
            </a:r>
            <a:r>
              <a:rPr sz="2400" spc="-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+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𝟏.</a:t>
            </a:r>
            <a:r>
              <a:rPr sz="2400" spc="-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. 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𝒓]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中寻找第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−(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𝒒−𝒑+𝟏)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4402BF0-E862-CE4A-8B6B-7E81E1DA0E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6902" y="219898"/>
            <a:ext cx="3715114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2F16BFB1-E34D-F842-94D4-900343E48926}"/>
              </a:ext>
            </a:extLst>
          </p:cNvPr>
          <p:cNvGraphicFramePr>
            <a:graphicFrameLocks noGrp="1"/>
          </p:cNvGraphicFramePr>
          <p:nvPr/>
        </p:nvGraphicFramePr>
        <p:xfrm>
          <a:off x="1573275" y="3135740"/>
          <a:ext cx="921511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37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object 6">
            <a:extLst>
              <a:ext uri="{FF2B5EF4-FFF2-40B4-BE49-F238E27FC236}">
                <a16:creationId xmlns:a16="http://schemas.microsoft.com/office/drawing/2014/main" id="{EB145031-0004-8745-8EBB-F25B1A1AB799}"/>
              </a:ext>
            </a:extLst>
          </p:cNvPr>
          <p:cNvSpPr/>
          <p:nvPr/>
        </p:nvSpPr>
        <p:spPr>
          <a:xfrm>
            <a:off x="4693158" y="3744685"/>
            <a:ext cx="3235960" cy="619760"/>
          </a:xfrm>
          <a:custGeom>
            <a:avLst/>
            <a:gdLst/>
            <a:ahLst/>
            <a:cxnLst/>
            <a:rect l="l" t="t" r="r" b="b"/>
            <a:pathLst>
              <a:path w="3235959" h="619760">
                <a:moveTo>
                  <a:pt x="0" y="0"/>
                </a:moveTo>
                <a:lnTo>
                  <a:pt x="3235960" y="619759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1" name="object 8">
            <a:extLst>
              <a:ext uri="{FF2B5EF4-FFF2-40B4-BE49-F238E27FC236}">
                <a16:creationId xmlns:a16="http://schemas.microsoft.com/office/drawing/2014/main" id="{5991C6AD-EC78-B94F-AF84-3ED46F172762}"/>
              </a:ext>
            </a:extLst>
          </p:cNvPr>
          <p:cNvGraphicFramePr>
            <a:graphicFrameLocks noGrp="1"/>
          </p:cNvGraphicFramePr>
          <p:nvPr/>
        </p:nvGraphicFramePr>
        <p:xfrm>
          <a:off x="5029580" y="4384838"/>
          <a:ext cx="575944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24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52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48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object 8">
            <a:extLst>
              <a:ext uri="{FF2B5EF4-FFF2-40B4-BE49-F238E27FC236}">
                <a16:creationId xmlns:a16="http://schemas.microsoft.com/office/drawing/2014/main" id="{341CAADE-1B3F-3646-AEC7-F1934D6A622D}"/>
              </a:ext>
            </a:extLst>
          </p:cNvPr>
          <p:cNvSpPr/>
          <p:nvPr/>
        </p:nvSpPr>
        <p:spPr>
          <a:xfrm>
            <a:off x="5900706" y="5020165"/>
            <a:ext cx="1728470" cy="554990"/>
          </a:xfrm>
          <a:custGeom>
            <a:avLst/>
            <a:gdLst/>
            <a:ahLst/>
            <a:cxnLst/>
            <a:rect l="l" t="t" r="r" b="b"/>
            <a:pathLst>
              <a:path w="1728470" h="554989">
                <a:moveTo>
                  <a:pt x="1728216" y="0"/>
                </a:moveTo>
                <a:lnTo>
                  <a:pt x="0" y="554989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9">
            <a:extLst>
              <a:ext uri="{FF2B5EF4-FFF2-40B4-BE49-F238E27FC236}">
                <a16:creationId xmlns:a16="http://schemas.microsoft.com/office/drawing/2014/main" id="{943B9E93-6C28-EA4E-B1A7-CCB5539BDE48}"/>
              </a:ext>
            </a:extLst>
          </p:cNvPr>
          <p:cNvSpPr txBox="1"/>
          <p:nvPr/>
        </p:nvSpPr>
        <p:spPr>
          <a:xfrm>
            <a:off x="3692430" y="5623415"/>
            <a:ext cx="92201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>
                <a:latin typeface="Cambria Math"/>
                <a:cs typeface="Cambria Math"/>
              </a:rPr>
              <a:t>𝒑</a:t>
            </a:r>
            <a:r>
              <a:rPr sz="2800" spc="160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=</a:t>
            </a:r>
            <a:r>
              <a:rPr sz="2800" spc="15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7" name="object 10">
            <a:extLst>
              <a:ext uri="{FF2B5EF4-FFF2-40B4-BE49-F238E27FC236}">
                <a16:creationId xmlns:a16="http://schemas.microsoft.com/office/drawing/2014/main" id="{6EAC0E1E-CD52-894A-8675-0DD2CB918868}"/>
              </a:ext>
            </a:extLst>
          </p:cNvPr>
          <p:cNvSpPr txBox="1"/>
          <p:nvPr/>
        </p:nvSpPr>
        <p:spPr>
          <a:xfrm>
            <a:off x="7186455" y="5621130"/>
            <a:ext cx="11049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>
                <a:latin typeface="Cambria Math"/>
                <a:cs typeface="Cambria Math"/>
              </a:rPr>
              <a:t>𝒓</a:t>
            </a:r>
            <a:r>
              <a:rPr sz="2800" spc="155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=</a:t>
            </a:r>
            <a:r>
              <a:rPr sz="2800" spc="160">
                <a:latin typeface="Cambria Math"/>
                <a:cs typeface="Cambria Math"/>
              </a:rPr>
              <a:t> </a:t>
            </a:r>
            <a:r>
              <a:rPr sz="2800" spc="-25">
                <a:latin typeface="Cambria Math"/>
                <a:cs typeface="Cambria Math"/>
              </a:rPr>
              <a:t>𝟏𝟎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8" name="object 11">
            <a:extLst>
              <a:ext uri="{FF2B5EF4-FFF2-40B4-BE49-F238E27FC236}">
                <a16:creationId xmlns:a16="http://schemas.microsoft.com/office/drawing/2014/main" id="{70053DCF-92B4-374D-B947-0C09A95A1D6E}"/>
              </a:ext>
            </a:extLst>
          </p:cNvPr>
          <p:cNvSpPr txBox="1"/>
          <p:nvPr/>
        </p:nvSpPr>
        <p:spPr>
          <a:xfrm>
            <a:off x="986185" y="5075234"/>
            <a:ext cx="2552700" cy="57721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746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95"/>
              </a:spcBef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查找第</a:t>
            </a:r>
            <a:r>
              <a:rPr sz="2800" spc="-10">
                <a:solidFill>
                  <a:srgbClr val="FFFFFF"/>
                </a:solidFill>
                <a:latin typeface="Cambria Math"/>
                <a:cs typeface="Cambria Math"/>
              </a:rPr>
              <a:t>𝟐</a:t>
            </a:r>
            <a:r>
              <a:rPr sz="2800" spc="-20">
                <a:solidFill>
                  <a:srgbClr val="FFFFFF"/>
                </a:solidFill>
                <a:latin typeface="PMingLiU"/>
                <a:cs typeface="PMingLiU"/>
              </a:rPr>
              <a:t>小元素</a:t>
            </a:r>
            <a:endParaRPr sz="2800">
              <a:latin typeface="PMingLiU"/>
              <a:cs typeface="PMingLiU"/>
            </a:endParaRPr>
          </a:p>
        </p:txBody>
      </p:sp>
      <p:graphicFrame>
        <p:nvGraphicFramePr>
          <p:cNvPr id="13" name="object 4">
            <a:extLst>
              <a:ext uri="{FF2B5EF4-FFF2-40B4-BE49-F238E27FC236}">
                <a16:creationId xmlns:a16="http://schemas.microsoft.com/office/drawing/2014/main" id="{5EC8E8C7-13F3-C24E-A1D8-AA83A2006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375277"/>
              </p:ext>
            </p:extLst>
          </p:nvPr>
        </p:nvGraphicFramePr>
        <p:xfrm>
          <a:off x="4742196" y="5608484"/>
          <a:ext cx="2303779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21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object 9">
            <a:extLst>
              <a:ext uri="{FF2B5EF4-FFF2-40B4-BE49-F238E27FC236}">
                <a16:creationId xmlns:a16="http://schemas.microsoft.com/office/drawing/2014/main" id="{CDCA5F5C-7C89-7F41-A4D2-58FD66E3547C}"/>
              </a:ext>
            </a:extLst>
          </p:cNvPr>
          <p:cNvSpPr txBox="1"/>
          <p:nvPr/>
        </p:nvSpPr>
        <p:spPr>
          <a:xfrm>
            <a:off x="6480699" y="6535458"/>
            <a:ext cx="5848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5">
                <a:solidFill>
                  <a:srgbClr val="FF0000"/>
                </a:solidFill>
                <a:latin typeface="PMingLiU"/>
                <a:cs typeface="PMingLiU"/>
              </a:rPr>
              <a:t>主元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15" name="object 10">
            <a:extLst>
              <a:ext uri="{FF2B5EF4-FFF2-40B4-BE49-F238E27FC236}">
                <a16:creationId xmlns:a16="http://schemas.microsoft.com/office/drawing/2014/main" id="{384021F7-A3E9-5B41-805B-CE86F523E197}"/>
              </a:ext>
            </a:extLst>
          </p:cNvPr>
          <p:cNvSpPr/>
          <p:nvPr/>
        </p:nvSpPr>
        <p:spPr>
          <a:xfrm>
            <a:off x="6727587" y="6214656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76200" y="95250"/>
                </a:moveTo>
                <a:lnTo>
                  <a:pt x="38100" y="95250"/>
                </a:lnTo>
                <a:lnTo>
                  <a:pt x="38100" y="337184"/>
                </a:lnTo>
                <a:lnTo>
                  <a:pt x="76200" y="337184"/>
                </a:lnTo>
                <a:lnTo>
                  <a:pt x="76200" y="95250"/>
                </a:lnTo>
                <a:close/>
              </a:path>
              <a:path w="114300" h="337185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337185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219665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BB9EBC17-F700-CB44-BE44-12E8F77DE7B1}"/>
              </a:ext>
            </a:extLst>
          </p:cNvPr>
          <p:cNvSpPr txBox="1"/>
          <p:nvPr/>
        </p:nvSpPr>
        <p:spPr>
          <a:xfrm>
            <a:off x="688340" y="1146569"/>
            <a:ext cx="11503660" cy="1896673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选取固定位置主元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=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𝑨[𝒒]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为数组第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𝟐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&lt;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在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𝑨[𝒑</a:t>
            </a:r>
            <a:r>
              <a:rPr sz="2400" spc="-7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. .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</a:t>
            </a:r>
            <a:r>
              <a:rPr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−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中寻找第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𝟑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&gt;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在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𝑨[𝒒</a:t>
            </a:r>
            <a:r>
              <a:rPr sz="2400" spc="-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+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𝟏.</a:t>
            </a:r>
            <a:r>
              <a:rPr sz="2400" spc="-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. 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𝒓]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中寻找第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−(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𝒒−𝒑+𝟏)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4402BF0-E862-CE4A-8B6B-7E81E1DA0E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6902" y="219898"/>
            <a:ext cx="3715114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2F16BFB1-E34D-F842-94D4-900343E48926}"/>
              </a:ext>
            </a:extLst>
          </p:cNvPr>
          <p:cNvGraphicFramePr>
            <a:graphicFrameLocks noGrp="1"/>
          </p:cNvGraphicFramePr>
          <p:nvPr/>
        </p:nvGraphicFramePr>
        <p:xfrm>
          <a:off x="1573275" y="3135740"/>
          <a:ext cx="921511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37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object 6">
            <a:extLst>
              <a:ext uri="{FF2B5EF4-FFF2-40B4-BE49-F238E27FC236}">
                <a16:creationId xmlns:a16="http://schemas.microsoft.com/office/drawing/2014/main" id="{EB145031-0004-8745-8EBB-F25B1A1AB799}"/>
              </a:ext>
            </a:extLst>
          </p:cNvPr>
          <p:cNvSpPr/>
          <p:nvPr/>
        </p:nvSpPr>
        <p:spPr>
          <a:xfrm>
            <a:off x="4693158" y="3744685"/>
            <a:ext cx="3235960" cy="619760"/>
          </a:xfrm>
          <a:custGeom>
            <a:avLst/>
            <a:gdLst/>
            <a:ahLst/>
            <a:cxnLst/>
            <a:rect l="l" t="t" r="r" b="b"/>
            <a:pathLst>
              <a:path w="3235959" h="619760">
                <a:moveTo>
                  <a:pt x="0" y="0"/>
                </a:moveTo>
                <a:lnTo>
                  <a:pt x="3235960" y="619759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1" name="object 8">
            <a:extLst>
              <a:ext uri="{FF2B5EF4-FFF2-40B4-BE49-F238E27FC236}">
                <a16:creationId xmlns:a16="http://schemas.microsoft.com/office/drawing/2014/main" id="{5991C6AD-EC78-B94F-AF84-3ED46F172762}"/>
              </a:ext>
            </a:extLst>
          </p:cNvPr>
          <p:cNvGraphicFramePr>
            <a:graphicFrameLocks noGrp="1"/>
          </p:cNvGraphicFramePr>
          <p:nvPr/>
        </p:nvGraphicFramePr>
        <p:xfrm>
          <a:off x="5029580" y="4384838"/>
          <a:ext cx="575944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24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52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48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object 8">
            <a:extLst>
              <a:ext uri="{FF2B5EF4-FFF2-40B4-BE49-F238E27FC236}">
                <a16:creationId xmlns:a16="http://schemas.microsoft.com/office/drawing/2014/main" id="{341CAADE-1B3F-3646-AEC7-F1934D6A622D}"/>
              </a:ext>
            </a:extLst>
          </p:cNvPr>
          <p:cNvSpPr/>
          <p:nvPr/>
        </p:nvSpPr>
        <p:spPr>
          <a:xfrm>
            <a:off x="5900706" y="5020165"/>
            <a:ext cx="1728470" cy="554990"/>
          </a:xfrm>
          <a:custGeom>
            <a:avLst/>
            <a:gdLst/>
            <a:ahLst/>
            <a:cxnLst/>
            <a:rect l="l" t="t" r="r" b="b"/>
            <a:pathLst>
              <a:path w="1728470" h="554989">
                <a:moveTo>
                  <a:pt x="1728216" y="0"/>
                </a:moveTo>
                <a:lnTo>
                  <a:pt x="0" y="554989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9">
            <a:extLst>
              <a:ext uri="{FF2B5EF4-FFF2-40B4-BE49-F238E27FC236}">
                <a16:creationId xmlns:a16="http://schemas.microsoft.com/office/drawing/2014/main" id="{943B9E93-6C28-EA4E-B1A7-CCB5539BDE48}"/>
              </a:ext>
            </a:extLst>
          </p:cNvPr>
          <p:cNvSpPr txBox="1"/>
          <p:nvPr/>
        </p:nvSpPr>
        <p:spPr>
          <a:xfrm>
            <a:off x="3705493" y="5623415"/>
            <a:ext cx="92201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>
                <a:latin typeface="Cambria Math"/>
                <a:cs typeface="Cambria Math"/>
              </a:rPr>
              <a:t>𝒑</a:t>
            </a:r>
            <a:r>
              <a:rPr sz="2800" spc="160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=</a:t>
            </a:r>
            <a:r>
              <a:rPr sz="2800" spc="15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7" name="object 10">
            <a:extLst>
              <a:ext uri="{FF2B5EF4-FFF2-40B4-BE49-F238E27FC236}">
                <a16:creationId xmlns:a16="http://schemas.microsoft.com/office/drawing/2014/main" id="{6EAC0E1E-CD52-894A-8675-0DD2CB918868}"/>
              </a:ext>
            </a:extLst>
          </p:cNvPr>
          <p:cNvSpPr txBox="1"/>
          <p:nvPr/>
        </p:nvSpPr>
        <p:spPr>
          <a:xfrm>
            <a:off x="7186455" y="5621130"/>
            <a:ext cx="11049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>
                <a:latin typeface="Cambria Math"/>
                <a:cs typeface="Cambria Math"/>
              </a:rPr>
              <a:t>𝒓</a:t>
            </a:r>
            <a:r>
              <a:rPr sz="2800" spc="155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=</a:t>
            </a:r>
            <a:r>
              <a:rPr sz="2800" spc="160">
                <a:latin typeface="Cambria Math"/>
                <a:cs typeface="Cambria Math"/>
              </a:rPr>
              <a:t> </a:t>
            </a:r>
            <a:r>
              <a:rPr sz="2800" spc="-25">
                <a:latin typeface="Cambria Math"/>
                <a:cs typeface="Cambria Math"/>
              </a:rPr>
              <a:t>𝟏𝟎</a:t>
            </a:r>
            <a:endParaRPr sz="2800">
              <a:latin typeface="Cambria Math"/>
              <a:cs typeface="Cambria Math"/>
            </a:endParaRPr>
          </a:p>
        </p:txBody>
      </p:sp>
      <p:graphicFrame>
        <p:nvGraphicFramePr>
          <p:cNvPr id="17" name="object 4">
            <a:extLst>
              <a:ext uri="{FF2B5EF4-FFF2-40B4-BE49-F238E27FC236}">
                <a16:creationId xmlns:a16="http://schemas.microsoft.com/office/drawing/2014/main" id="{57F96FDA-4E9E-FD49-9D9A-4F127A4D3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196261"/>
              </p:ext>
            </p:extLst>
          </p:nvPr>
        </p:nvGraphicFramePr>
        <p:xfrm>
          <a:off x="4807509" y="5608482"/>
          <a:ext cx="2303779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28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22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object 5">
            <a:extLst>
              <a:ext uri="{FF2B5EF4-FFF2-40B4-BE49-F238E27FC236}">
                <a16:creationId xmlns:a16="http://schemas.microsoft.com/office/drawing/2014/main" id="{C3A6709B-FC60-0846-98C7-BE8C57FA60B2}"/>
              </a:ext>
            </a:extLst>
          </p:cNvPr>
          <p:cNvSpPr/>
          <p:nvPr/>
        </p:nvSpPr>
        <p:spPr>
          <a:xfrm>
            <a:off x="5100499" y="6214654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76200" y="95250"/>
                </a:moveTo>
                <a:lnTo>
                  <a:pt x="38100" y="95250"/>
                </a:lnTo>
                <a:lnTo>
                  <a:pt x="38100" y="337184"/>
                </a:lnTo>
                <a:lnTo>
                  <a:pt x="76200" y="337184"/>
                </a:lnTo>
                <a:lnTo>
                  <a:pt x="76200" y="95250"/>
                </a:lnTo>
                <a:close/>
              </a:path>
              <a:path w="114300" h="337185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337185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0">
            <a:extLst>
              <a:ext uri="{FF2B5EF4-FFF2-40B4-BE49-F238E27FC236}">
                <a16:creationId xmlns:a16="http://schemas.microsoft.com/office/drawing/2014/main" id="{A794316F-4B4E-5B41-953D-D56D0082C0FB}"/>
              </a:ext>
            </a:extLst>
          </p:cNvPr>
          <p:cNvSpPr txBox="1"/>
          <p:nvPr/>
        </p:nvSpPr>
        <p:spPr>
          <a:xfrm>
            <a:off x="5087436" y="6114056"/>
            <a:ext cx="915669" cy="757259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24765" algn="ctr">
              <a:spcBef>
                <a:spcPts val="645"/>
              </a:spcBef>
            </a:pPr>
            <a:r>
              <a:rPr spc="-25" dirty="0" err="1">
                <a:latin typeface="PMingLiU"/>
                <a:cs typeface="PMingLiU"/>
              </a:rPr>
              <a:t>主元</a:t>
            </a:r>
            <a:endParaRPr dirty="0">
              <a:latin typeface="PMingLiU"/>
              <a:cs typeface="PMingLiU"/>
            </a:endParaRPr>
          </a:p>
          <a:p>
            <a:pPr algn="ctr">
              <a:spcBef>
                <a:spcPts val="695"/>
              </a:spcBef>
            </a:pPr>
            <a:r>
              <a:rPr sz="2000" dirty="0">
                <a:latin typeface="Cambria Math"/>
                <a:cs typeface="Cambria Math"/>
              </a:rPr>
              <a:t>𝒒</a:t>
            </a:r>
            <a:r>
              <a:rPr sz="2000" spc="15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=</a:t>
            </a:r>
            <a:r>
              <a:rPr sz="2000" spc="155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𝟕</a:t>
            </a:r>
            <a:endParaRPr sz="2000" dirty="0">
              <a:latin typeface="Cambria Math"/>
              <a:cs typeface="Cambria Math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D67948F-CB37-A24D-B4E9-F19CB088B1AD}"/>
              </a:ext>
            </a:extLst>
          </p:cNvPr>
          <p:cNvGrpSpPr/>
          <p:nvPr/>
        </p:nvGrpSpPr>
        <p:grpSpPr>
          <a:xfrm>
            <a:off x="33047" y="5558093"/>
            <a:ext cx="4457065" cy="1194435"/>
            <a:chOff x="-84520" y="4447748"/>
            <a:chExt cx="4457065" cy="1194435"/>
          </a:xfrm>
        </p:grpSpPr>
        <p:sp>
          <p:nvSpPr>
            <p:cNvPr id="20" name="object 10">
              <a:extLst>
                <a:ext uri="{FF2B5EF4-FFF2-40B4-BE49-F238E27FC236}">
                  <a16:creationId xmlns:a16="http://schemas.microsoft.com/office/drawing/2014/main" id="{F77F2ECF-6670-0948-8B1B-2ECDB4444EC7}"/>
                </a:ext>
              </a:extLst>
            </p:cNvPr>
            <p:cNvSpPr/>
            <p:nvPr/>
          </p:nvSpPr>
          <p:spPr>
            <a:xfrm>
              <a:off x="-84520" y="4447748"/>
              <a:ext cx="4457065" cy="1194435"/>
            </a:xfrm>
            <a:custGeom>
              <a:avLst/>
              <a:gdLst/>
              <a:ahLst/>
              <a:cxnLst/>
              <a:rect l="l" t="t" r="r" b="b"/>
              <a:pathLst>
                <a:path w="4457065" h="1194434">
                  <a:moveTo>
                    <a:pt x="3505200" y="0"/>
                  </a:moveTo>
                  <a:lnTo>
                    <a:pt x="952500" y="0"/>
                  </a:lnTo>
                  <a:lnTo>
                    <a:pt x="952500" y="576834"/>
                  </a:lnTo>
                  <a:lnTo>
                    <a:pt x="3505200" y="576834"/>
                  </a:lnTo>
                  <a:lnTo>
                    <a:pt x="3505200" y="0"/>
                  </a:lnTo>
                  <a:close/>
                </a:path>
                <a:path w="4457065" h="1194434">
                  <a:moveTo>
                    <a:pt x="4456938" y="617220"/>
                  </a:moveTo>
                  <a:lnTo>
                    <a:pt x="0" y="617220"/>
                  </a:lnTo>
                  <a:lnTo>
                    <a:pt x="0" y="1194054"/>
                  </a:lnTo>
                  <a:lnTo>
                    <a:pt x="4456938" y="1194054"/>
                  </a:lnTo>
                  <a:lnTo>
                    <a:pt x="4456938" y="61722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3" name="object 13">
              <a:extLst>
                <a:ext uri="{FF2B5EF4-FFF2-40B4-BE49-F238E27FC236}">
                  <a16:creationId xmlns:a16="http://schemas.microsoft.com/office/drawing/2014/main" id="{ADA9B7FE-D699-6049-AE76-DFF3C7F3E329}"/>
                </a:ext>
              </a:extLst>
            </p:cNvPr>
            <p:cNvSpPr txBox="1"/>
            <p:nvPr/>
          </p:nvSpPr>
          <p:spPr>
            <a:xfrm>
              <a:off x="73049" y="4515562"/>
              <a:ext cx="4142740" cy="106616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R="13970" algn="ctr">
                <a:lnSpc>
                  <a:spcPts val="3165"/>
                </a:lnSpc>
              </a:pPr>
              <a:r>
                <a:rPr sz="2800" dirty="0" err="1">
                  <a:solidFill>
                    <a:srgbClr val="FFFFFF"/>
                  </a:solidFill>
                  <a:latin typeface="PMingLiU"/>
                  <a:cs typeface="PMingLiU"/>
                </a:rPr>
                <a:t>查找第</a:t>
              </a:r>
              <a:r>
                <a:rPr sz="2800" spc="-10" dirty="0">
                  <a:solidFill>
                    <a:srgbClr val="FFFFFF"/>
                  </a:solidFill>
                  <a:latin typeface="Cambria Math"/>
                  <a:cs typeface="Cambria Math"/>
                </a:rPr>
                <a:t>𝟐</a:t>
              </a:r>
              <a:r>
                <a:rPr sz="2800" spc="-20" dirty="0" err="1">
                  <a:solidFill>
                    <a:srgbClr val="FFFFFF"/>
                  </a:solidFill>
                  <a:latin typeface="PMingLiU"/>
                  <a:cs typeface="PMingLiU"/>
                </a:rPr>
                <a:t>小元素</a:t>
              </a:r>
              <a:endParaRPr sz="2800" dirty="0">
                <a:latin typeface="PMingLiU"/>
                <a:cs typeface="PMingLiU"/>
              </a:endParaRPr>
            </a:p>
            <a:p>
              <a:pPr algn="ctr">
                <a:lnSpc>
                  <a:spcPct val="100000"/>
                </a:lnSpc>
                <a:spcBef>
                  <a:spcPts val="1705"/>
                </a:spcBef>
              </a:pPr>
              <a:r>
                <a:rPr sz="2800" dirty="0">
                  <a:solidFill>
                    <a:srgbClr val="FFFFFF"/>
                  </a:solidFill>
                  <a:latin typeface="Cambria Math"/>
                  <a:cs typeface="Cambria Math"/>
                </a:rPr>
                <a:t>𝒒</a:t>
              </a:r>
              <a:r>
                <a:rPr sz="2800" spc="-5" dirty="0">
                  <a:solidFill>
                    <a:srgbClr val="FFFFFF"/>
                  </a:solidFill>
                  <a:latin typeface="Cambria Math"/>
                  <a:cs typeface="Cambria Math"/>
                </a:rPr>
                <a:t> </a:t>
              </a:r>
              <a:r>
                <a:rPr sz="2800" dirty="0">
                  <a:solidFill>
                    <a:srgbClr val="FFFFFF"/>
                  </a:solidFill>
                  <a:latin typeface="Cambria Math"/>
                  <a:cs typeface="Cambria Math"/>
                </a:rPr>
                <a:t>− 𝒑 +</a:t>
              </a:r>
              <a:r>
                <a:rPr sz="2800" spc="-5" dirty="0">
                  <a:solidFill>
                    <a:srgbClr val="FFFFFF"/>
                  </a:solidFill>
                  <a:latin typeface="Cambria Math"/>
                  <a:cs typeface="Cambria Math"/>
                </a:rPr>
                <a:t> </a:t>
              </a:r>
              <a:r>
                <a:rPr sz="2800" dirty="0">
                  <a:solidFill>
                    <a:srgbClr val="FFFFFF"/>
                  </a:solidFill>
                  <a:latin typeface="Cambria Math"/>
                  <a:cs typeface="Cambria Math"/>
                </a:rPr>
                <a:t>𝟏</a:t>
              </a:r>
              <a:r>
                <a:rPr sz="2800" spc="160" dirty="0">
                  <a:solidFill>
                    <a:srgbClr val="FFFFFF"/>
                  </a:solidFill>
                  <a:latin typeface="Cambria Math"/>
                  <a:cs typeface="Cambria Math"/>
                </a:rPr>
                <a:t> </a:t>
              </a:r>
              <a:r>
                <a:rPr sz="2800" dirty="0">
                  <a:solidFill>
                    <a:srgbClr val="FFFFFF"/>
                  </a:solidFill>
                  <a:latin typeface="Cambria Math"/>
                  <a:cs typeface="Cambria Math"/>
                </a:rPr>
                <a:t>=</a:t>
              </a:r>
              <a:r>
                <a:rPr sz="2800" spc="155" dirty="0">
                  <a:solidFill>
                    <a:srgbClr val="FFFFFF"/>
                  </a:solidFill>
                  <a:latin typeface="Cambria Math"/>
                  <a:cs typeface="Cambria Math"/>
                </a:rPr>
                <a:t> </a:t>
              </a:r>
              <a:r>
                <a:rPr sz="2800" dirty="0">
                  <a:solidFill>
                    <a:srgbClr val="FFFFFF"/>
                  </a:solidFill>
                  <a:latin typeface="Cambria Math"/>
                  <a:cs typeface="Cambria Math"/>
                </a:rPr>
                <a:t>𝟕</a:t>
              </a:r>
              <a:r>
                <a:rPr sz="2800" spc="5" dirty="0">
                  <a:solidFill>
                    <a:srgbClr val="FFFFFF"/>
                  </a:solidFill>
                  <a:latin typeface="Cambria Math"/>
                  <a:cs typeface="Cambria Math"/>
                </a:rPr>
                <a:t> </a:t>
              </a:r>
              <a:r>
                <a:rPr sz="2800" dirty="0">
                  <a:solidFill>
                    <a:srgbClr val="FFFFFF"/>
                  </a:solidFill>
                  <a:latin typeface="Cambria Math"/>
                  <a:cs typeface="Cambria Math"/>
                </a:rPr>
                <a:t>−</a:t>
              </a:r>
              <a:r>
                <a:rPr sz="2800" spc="-5" dirty="0">
                  <a:solidFill>
                    <a:srgbClr val="FFFFFF"/>
                  </a:solidFill>
                  <a:latin typeface="Cambria Math"/>
                  <a:cs typeface="Cambria Math"/>
                </a:rPr>
                <a:t> </a:t>
              </a:r>
              <a:r>
                <a:rPr sz="2800" dirty="0">
                  <a:solidFill>
                    <a:srgbClr val="FFFFFF"/>
                  </a:solidFill>
                  <a:latin typeface="Cambria Math"/>
                  <a:cs typeface="Cambria Math"/>
                </a:rPr>
                <a:t>𝟕</a:t>
              </a:r>
              <a:r>
                <a:rPr sz="2800" spc="5" dirty="0">
                  <a:solidFill>
                    <a:srgbClr val="FFFFFF"/>
                  </a:solidFill>
                  <a:latin typeface="Cambria Math"/>
                  <a:cs typeface="Cambria Math"/>
                </a:rPr>
                <a:t> </a:t>
              </a:r>
              <a:r>
                <a:rPr sz="2800" dirty="0">
                  <a:solidFill>
                    <a:srgbClr val="FFFFFF"/>
                  </a:solidFill>
                  <a:latin typeface="Cambria Math"/>
                  <a:cs typeface="Cambria Math"/>
                </a:rPr>
                <a:t>+ 𝟏</a:t>
              </a:r>
              <a:r>
                <a:rPr sz="2800" spc="160" dirty="0">
                  <a:solidFill>
                    <a:srgbClr val="FFFFFF"/>
                  </a:solidFill>
                  <a:latin typeface="Cambria Math"/>
                  <a:cs typeface="Cambria Math"/>
                </a:rPr>
                <a:t> </a:t>
              </a:r>
              <a:r>
                <a:rPr sz="2800" dirty="0">
                  <a:solidFill>
                    <a:srgbClr val="FFFFFF"/>
                  </a:solidFill>
                  <a:latin typeface="Cambria Math"/>
                  <a:cs typeface="Cambria Math"/>
                </a:rPr>
                <a:t>=</a:t>
              </a:r>
              <a:r>
                <a:rPr sz="2800" spc="150" dirty="0">
                  <a:solidFill>
                    <a:srgbClr val="FFFFFF"/>
                  </a:solidFill>
                  <a:latin typeface="Cambria Math"/>
                  <a:cs typeface="Cambria Math"/>
                </a:rPr>
                <a:t> </a:t>
              </a:r>
              <a:r>
                <a:rPr sz="2800" spc="-50" dirty="0">
                  <a:solidFill>
                    <a:srgbClr val="FFFFFF"/>
                  </a:solidFill>
                  <a:latin typeface="Cambria Math"/>
                  <a:cs typeface="Cambria Math"/>
                </a:rPr>
                <a:t>𝟏</a:t>
              </a:r>
              <a:endParaRPr sz="2800" dirty="0">
                <a:latin typeface="Cambria Math"/>
                <a:cs typeface="Cambria Math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4905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BB9EBC17-F700-CB44-BE44-12E8F77DE7B1}"/>
              </a:ext>
            </a:extLst>
          </p:cNvPr>
          <p:cNvSpPr txBox="1"/>
          <p:nvPr/>
        </p:nvSpPr>
        <p:spPr>
          <a:xfrm>
            <a:off x="688340" y="1146569"/>
            <a:ext cx="11503660" cy="1896673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选取固定位置主元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=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𝑨[𝒒]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为数组第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𝟐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&lt;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在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𝑨[𝒑</a:t>
            </a:r>
            <a:r>
              <a:rPr sz="2400" spc="-7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. .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</a:t>
            </a:r>
            <a:r>
              <a:rPr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−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中寻找第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𝟑</a:t>
            </a:r>
            <a:r>
              <a:rPr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&gt; </a:t>
            </a:r>
            <a:r>
              <a:rPr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𝟏</a:t>
            </a:r>
            <a:r>
              <a:rPr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在</a:t>
            </a:r>
            <a:r>
              <a:rPr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𝑨[𝒒</a:t>
            </a:r>
            <a:r>
              <a:rPr sz="2400" spc="-5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+ </a:t>
            </a:r>
            <a:r>
              <a:rPr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𝟏.</a:t>
            </a:r>
            <a:r>
              <a:rPr sz="2400" spc="-95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. </a:t>
            </a:r>
            <a:r>
              <a:rPr sz="2400" spc="-1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𝒓]</a:t>
            </a:r>
            <a:r>
              <a:rPr sz="24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中寻找第</a:t>
            </a:r>
            <a:r>
              <a:rPr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5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−(</a:t>
            </a:r>
            <a:r>
              <a:rPr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𝒒−𝒑+𝟏)</a:t>
            </a:r>
            <a:r>
              <a:rPr sz="2400" spc="-2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4402BF0-E862-CE4A-8B6B-7E81E1DA0E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6902" y="219898"/>
            <a:ext cx="3715114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2F16BFB1-E34D-F842-94D4-900343E48926}"/>
              </a:ext>
            </a:extLst>
          </p:cNvPr>
          <p:cNvGraphicFramePr>
            <a:graphicFrameLocks noGrp="1"/>
          </p:cNvGraphicFramePr>
          <p:nvPr/>
        </p:nvGraphicFramePr>
        <p:xfrm>
          <a:off x="1573275" y="3135740"/>
          <a:ext cx="921511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37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object 6">
            <a:extLst>
              <a:ext uri="{FF2B5EF4-FFF2-40B4-BE49-F238E27FC236}">
                <a16:creationId xmlns:a16="http://schemas.microsoft.com/office/drawing/2014/main" id="{EB145031-0004-8745-8EBB-F25B1A1AB799}"/>
              </a:ext>
            </a:extLst>
          </p:cNvPr>
          <p:cNvSpPr/>
          <p:nvPr/>
        </p:nvSpPr>
        <p:spPr>
          <a:xfrm>
            <a:off x="4693158" y="3744685"/>
            <a:ext cx="3235960" cy="619760"/>
          </a:xfrm>
          <a:custGeom>
            <a:avLst/>
            <a:gdLst/>
            <a:ahLst/>
            <a:cxnLst/>
            <a:rect l="l" t="t" r="r" b="b"/>
            <a:pathLst>
              <a:path w="3235959" h="619760">
                <a:moveTo>
                  <a:pt x="0" y="0"/>
                </a:moveTo>
                <a:lnTo>
                  <a:pt x="3235960" y="619759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1" name="object 8">
            <a:extLst>
              <a:ext uri="{FF2B5EF4-FFF2-40B4-BE49-F238E27FC236}">
                <a16:creationId xmlns:a16="http://schemas.microsoft.com/office/drawing/2014/main" id="{5991C6AD-EC78-B94F-AF84-3ED46F172762}"/>
              </a:ext>
            </a:extLst>
          </p:cNvPr>
          <p:cNvGraphicFramePr>
            <a:graphicFrameLocks noGrp="1"/>
          </p:cNvGraphicFramePr>
          <p:nvPr/>
        </p:nvGraphicFramePr>
        <p:xfrm>
          <a:off x="5029580" y="4384838"/>
          <a:ext cx="575944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24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52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48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object 8">
            <a:extLst>
              <a:ext uri="{FF2B5EF4-FFF2-40B4-BE49-F238E27FC236}">
                <a16:creationId xmlns:a16="http://schemas.microsoft.com/office/drawing/2014/main" id="{341CAADE-1B3F-3646-AEC7-F1934D6A622D}"/>
              </a:ext>
            </a:extLst>
          </p:cNvPr>
          <p:cNvSpPr/>
          <p:nvPr/>
        </p:nvSpPr>
        <p:spPr>
          <a:xfrm>
            <a:off x="5900706" y="5020165"/>
            <a:ext cx="1728470" cy="554990"/>
          </a:xfrm>
          <a:custGeom>
            <a:avLst/>
            <a:gdLst/>
            <a:ahLst/>
            <a:cxnLst/>
            <a:rect l="l" t="t" r="r" b="b"/>
            <a:pathLst>
              <a:path w="1728470" h="554989">
                <a:moveTo>
                  <a:pt x="1728216" y="0"/>
                </a:moveTo>
                <a:lnTo>
                  <a:pt x="0" y="554989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9">
            <a:extLst>
              <a:ext uri="{FF2B5EF4-FFF2-40B4-BE49-F238E27FC236}">
                <a16:creationId xmlns:a16="http://schemas.microsoft.com/office/drawing/2014/main" id="{943B9E93-6C28-EA4E-B1A7-CCB5539BDE48}"/>
              </a:ext>
            </a:extLst>
          </p:cNvPr>
          <p:cNvSpPr txBox="1"/>
          <p:nvPr/>
        </p:nvSpPr>
        <p:spPr>
          <a:xfrm>
            <a:off x="3705493" y="5623415"/>
            <a:ext cx="92201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>
                <a:latin typeface="Cambria Math"/>
                <a:cs typeface="Cambria Math"/>
              </a:rPr>
              <a:t>𝒑</a:t>
            </a:r>
            <a:r>
              <a:rPr sz="2800" spc="160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=</a:t>
            </a:r>
            <a:r>
              <a:rPr sz="2800" spc="15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𝟕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27" name="object 10">
            <a:extLst>
              <a:ext uri="{FF2B5EF4-FFF2-40B4-BE49-F238E27FC236}">
                <a16:creationId xmlns:a16="http://schemas.microsoft.com/office/drawing/2014/main" id="{6EAC0E1E-CD52-894A-8675-0DD2CB918868}"/>
              </a:ext>
            </a:extLst>
          </p:cNvPr>
          <p:cNvSpPr txBox="1"/>
          <p:nvPr/>
        </p:nvSpPr>
        <p:spPr>
          <a:xfrm>
            <a:off x="7186455" y="5621130"/>
            <a:ext cx="11049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>
                <a:latin typeface="Cambria Math"/>
                <a:cs typeface="Cambria Math"/>
              </a:rPr>
              <a:t>𝒓</a:t>
            </a:r>
            <a:r>
              <a:rPr sz="2800" spc="155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=</a:t>
            </a:r>
            <a:r>
              <a:rPr sz="2800" spc="160">
                <a:latin typeface="Cambria Math"/>
                <a:cs typeface="Cambria Math"/>
              </a:rPr>
              <a:t> </a:t>
            </a:r>
            <a:r>
              <a:rPr sz="2800" spc="-25">
                <a:latin typeface="Cambria Math"/>
                <a:cs typeface="Cambria Math"/>
              </a:rPr>
              <a:t>𝟏𝟎</a:t>
            </a:r>
            <a:endParaRPr sz="2800">
              <a:latin typeface="Cambria Math"/>
              <a:cs typeface="Cambria Math"/>
            </a:endParaRPr>
          </a:p>
        </p:txBody>
      </p:sp>
      <p:graphicFrame>
        <p:nvGraphicFramePr>
          <p:cNvPr id="17" name="object 4">
            <a:extLst>
              <a:ext uri="{FF2B5EF4-FFF2-40B4-BE49-F238E27FC236}">
                <a16:creationId xmlns:a16="http://schemas.microsoft.com/office/drawing/2014/main" id="{57F96FDA-4E9E-FD49-9D9A-4F127A4D3052}"/>
              </a:ext>
            </a:extLst>
          </p:cNvPr>
          <p:cNvGraphicFramePr>
            <a:graphicFrameLocks noGrp="1"/>
          </p:cNvGraphicFramePr>
          <p:nvPr/>
        </p:nvGraphicFramePr>
        <p:xfrm>
          <a:off x="4807509" y="5608482"/>
          <a:ext cx="2303779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28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22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object 5">
            <a:extLst>
              <a:ext uri="{FF2B5EF4-FFF2-40B4-BE49-F238E27FC236}">
                <a16:creationId xmlns:a16="http://schemas.microsoft.com/office/drawing/2014/main" id="{C3A6709B-FC60-0846-98C7-BE8C57FA60B2}"/>
              </a:ext>
            </a:extLst>
          </p:cNvPr>
          <p:cNvSpPr/>
          <p:nvPr/>
        </p:nvSpPr>
        <p:spPr>
          <a:xfrm>
            <a:off x="5100499" y="6214654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76200" y="95250"/>
                </a:moveTo>
                <a:lnTo>
                  <a:pt x="38100" y="95250"/>
                </a:lnTo>
                <a:lnTo>
                  <a:pt x="38100" y="337184"/>
                </a:lnTo>
                <a:lnTo>
                  <a:pt x="76200" y="337184"/>
                </a:lnTo>
                <a:lnTo>
                  <a:pt x="76200" y="95250"/>
                </a:lnTo>
                <a:close/>
              </a:path>
              <a:path w="114300" h="337185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337185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0">
            <a:extLst>
              <a:ext uri="{FF2B5EF4-FFF2-40B4-BE49-F238E27FC236}">
                <a16:creationId xmlns:a16="http://schemas.microsoft.com/office/drawing/2014/main" id="{A794316F-4B4E-5B41-953D-D56D0082C0FB}"/>
              </a:ext>
            </a:extLst>
          </p:cNvPr>
          <p:cNvSpPr txBox="1"/>
          <p:nvPr/>
        </p:nvSpPr>
        <p:spPr>
          <a:xfrm>
            <a:off x="5087436" y="6114056"/>
            <a:ext cx="915669" cy="757259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24765" algn="ctr">
              <a:spcBef>
                <a:spcPts val="645"/>
              </a:spcBef>
            </a:pPr>
            <a:r>
              <a:rPr spc="-25" dirty="0" err="1">
                <a:latin typeface="PMingLiU"/>
                <a:cs typeface="PMingLiU"/>
              </a:rPr>
              <a:t>主元</a:t>
            </a:r>
            <a:endParaRPr dirty="0">
              <a:latin typeface="PMingLiU"/>
              <a:cs typeface="PMingLiU"/>
            </a:endParaRPr>
          </a:p>
          <a:p>
            <a:pPr algn="ctr">
              <a:spcBef>
                <a:spcPts val="695"/>
              </a:spcBef>
            </a:pPr>
            <a:r>
              <a:rPr sz="2000" dirty="0">
                <a:latin typeface="Cambria Math"/>
                <a:cs typeface="Cambria Math"/>
              </a:rPr>
              <a:t>𝒒</a:t>
            </a:r>
            <a:r>
              <a:rPr sz="2000" spc="15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=</a:t>
            </a:r>
            <a:r>
              <a:rPr sz="2000" spc="155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𝟕</a:t>
            </a:r>
            <a:endParaRPr sz="2000" dirty="0">
              <a:latin typeface="Cambria Math"/>
              <a:cs typeface="Cambria Math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D67948F-CB37-A24D-B4E9-F19CB088B1AD}"/>
              </a:ext>
            </a:extLst>
          </p:cNvPr>
          <p:cNvGrpSpPr/>
          <p:nvPr/>
        </p:nvGrpSpPr>
        <p:grpSpPr>
          <a:xfrm>
            <a:off x="33047" y="5558093"/>
            <a:ext cx="4457065" cy="1194435"/>
            <a:chOff x="-84520" y="4447748"/>
            <a:chExt cx="4457065" cy="1194435"/>
          </a:xfrm>
        </p:grpSpPr>
        <p:sp>
          <p:nvSpPr>
            <p:cNvPr id="20" name="object 10">
              <a:extLst>
                <a:ext uri="{FF2B5EF4-FFF2-40B4-BE49-F238E27FC236}">
                  <a16:creationId xmlns:a16="http://schemas.microsoft.com/office/drawing/2014/main" id="{F77F2ECF-6670-0948-8B1B-2ECDB4444EC7}"/>
                </a:ext>
              </a:extLst>
            </p:cNvPr>
            <p:cNvSpPr/>
            <p:nvPr/>
          </p:nvSpPr>
          <p:spPr>
            <a:xfrm>
              <a:off x="-84520" y="4447748"/>
              <a:ext cx="4457065" cy="1194435"/>
            </a:xfrm>
            <a:custGeom>
              <a:avLst/>
              <a:gdLst/>
              <a:ahLst/>
              <a:cxnLst/>
              <a:rect l="l" t="t" r="r" b="b"/>
              <a:pathLst>
                <a:path w="4457065" h="1194434">
                  <a:moveTo>
                    <a:pt x="3505200" y="0"/>
                  </a:moveTo>
                  <a:lnTo>
                    <a:pt x="952500" y="0"/>
                  </a:lnTo>
                  <a:lnTo>
                    <a:pt x="952500" y="576834"/>
                  </a:lnTo>
                  <a:lnTo>
                    <a:pt x="3505200" y="576834"/>
                  </a:lnTo>
                  <a:lnTo>
                    <a:pt x="3505200" y="0"/>
                  </a:lnTo>
                  <a:close/>
                </a:path>
                <a:path w="4457065" h="1194434">
                  <a:moveTo>
                    <a:pt x="4456938" y="617220"/>
                  </a:moveTo>
                  <a:lnTo>
                    <a:pt x="0" y="617220"/>
                  </a:lnTo>
                  <a:lnTo>
                    <a:pt x="0" y="1194054"/>
                  </a:lnTo>
                  <a:lnTo>
                    <a:pt x="4456938" y="1194054"/>
                  </a:lnTo>
                  <a:lnTo>
                    <a:pt x="4456938" y="61722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3" name="object 13">
              <a:extLst>
                <a:ext uri="{FF2B5EF4-FFF2-40B4-BE49-F238E27FC236}">
                  <a16:creationId xmlns:a16="http://schemas.microsoft.com/office/drawing/2014/main" id="{ADA9B7FE-D699-6049-AE76-DFF3C7F3E329}"/>
                </a:ext>
              </a:extLst>
            </p:cNvPr>
            <p:cNvSpPr txBox="1"/>
            <p:nvPr/>
          </p:nvSpPr>
          <p:spPr>
            <a:xfrm>
              <a:off x="73049" y="4515562"/>
              <a:ext cx="4142740" cy="106616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R="13970" algn="ctr">
                <a:lnSpc>
                  <a:spcPts val="3165"/>
                </a:lnSpc>
              </a:pPr>
              <a:r>
                <a:rPr sz="2800" dirty="0" err="1">
                  <a:solidFill>
                    <a:srgbClr val="FFFFFF"/>
                  </a:solidFill>
                  <a:latin typeface="PMingLiU"/>
                  <a:cs typeface="PMingLiU"/>
                </a:rPr>
                <a:t>查找第</a:t>
              </a:r>
              <a:r>
                <a:rPr sz="2800" spc="-10" dirty="0">
                  <a:solidFill>
                    <a:srgbClr val="FFFFFF"/>
                  </a:solidFill>
                  <a:latin typeface="Cambria Math"/>
                  <a:cs typeface="Cambria Math"/>
                </a:rPr>
                <a:t>𝟐</a:t>
              </a:r>
              <a:r>
                <a:rPr sz="2800" spc="-20" dirty="0" err="1">
                  <a:solidFill>
                    <a:srgbClr val="FFFFFF"/>
                  </a:solidFill>
                  <a:latin typeface="PMingLiU"/>
                  <a:cs typeface="PMingLiU"/>
                </a:rPr>
                <a:t>小元素</a:t>
              </a:r>
              <a:endParaRPr sz="2800" dirty="0">
                <a:latin typeface="PMingLiU"/>
                <a:cs typeface="PMingLiU"/>
              </a:endParaRPr>
            </a:p>
            <a:p>
              <a:pPr algn="ctr">
                <a:lnSpc>
                  <a:spcPct val="100000"/>
                </a:lnSpc>
                <a:spcBef>
                  <a:spcPts val="1705"/>
                </a:spcBef>
              </a:pPr>
              <a:r>
                <a:rPr sz="2800" dirty="0">
                  <a:solidFill>
                    <a:srgbClr val="FFFFFF"/>
                  </a:solidFill>
                  <a:latin typeface="Cambria Math"/>
                  <a:cs typeface="Cambria Math"/>
                </a:rPr>
                <a:t>𝒒</a:t>
              </a:r>
              <a:r>
                <a:rPr sz="2800" spc="-5" dirty="0">
                  <a:solidFill>
                    <a:srgbClr val="FFFFFF"/>
                  </a:solidFill>
                  <a:latin typeface="Cambria Math"/>
                  <a:cs typeface="Cambria Math"/>
                </a:rPr>
                <a:t> </a:t>
              </a:r>
              <a:r>
                <a:rPr sz="2800" dirty="0">
                  <a:solidFill>
                    <a:srgbClr val="FFFFFF"/>
                  </a:solidFill>
                  <a:latin typeface="Cambria Math"/>
                  <a:cs typeface="Cambria Math"/>
                </a:rPr>
                <a:t>− 𝒑 +</a:t>
              </a:r>
              <a:r>
                <a:rPr sz="2800" spc="-5" dirty="0">
                  <a:solidFill>
                    <a:srgbClr val="FFFFFF"/>
                  </a:solidFill>
                  <a:latin typeface="Cambria Math"/>
                  <a:cs typeface="Cambria Math"/>
                </a:rPr>
                <a:t> </a:t>
              </a:r>
              <a:r>
                <a:rPr sz="2800" dirty="0">
                  <a:solidFill>
                    <a:srgbClr val="FFFFFF"/>
                  </a:solidFill>
                  <a:latin typeface="Cambria Math"/>
                  <a:cs typeface="Cambria Math"/>
                </a:rPr>
                <a:t>𝟏</a:t>
              </a:r>
              <a:r>
                <a:rPr sz="2800" spc="160" dirty="0">
                  <a:solidFill>
                    <a:srgbClr val="FFFFFF"/>
                  </a:solidFill>
                  <a:latin typeface="Cambria Math"/>
                  <a:cs typeface="Cambria Math"/>
                </a:rPr>
                <a:t> </a:t>
              </a:r>
              <a:r>
                <a:rPr sz="2800" dirty="0">
                  <a:solidFill>
                    <a:srgbClr val="FFFFFF"/>
                  </a:solidFill>
                  <a:latin typeface="Cambria Math"/>
                  <a:cs typeface="Cambria Math"/>
                </a:rPr>
                <a:t>=</a:t>
              </a:r>
              <a:r>
                <a:rPr sz="2800" spc="155" dirty="0">
                  <a:solidFill>
                    <a:srgbClr val="FFFFFF"/>
                  </a:solidFill>
                  <a:latin typeface="Cambria Math"/>
                  <a:cs typeface="Cambria Math"/>
                </a:rPr>
                <a:t> </a:t>
              </a:r>
              <a:r>
                <a:rPr sz="2800" dirty="0">
                  <a:solidFill>
                    <a:srgbClr val="FFFFFF"/>
                  </a:solidFill>
                  <a:latin typeface="Cambria Math"/>
                  <a:cs typeface="Cambria Math"/>
                </a:rPr>
                <a:t>𝟕</a:t>
              </a:r>
              <a:r>
                <a:rPr sz="2800" spc="5" dirty="0">
                  <a:solidFill>
                    <a:srgbClr val="FFFFFF"/>
                  </a:solidFill>
                  <a:latin typeface="Cambria Math"/>
                  <a:cs typeface="Cambria Math"/>
                </a:rPr>
                <a:t> </a:t>
              </a:r>
              <a:r>
                <a:rPr sz="2800" dirty="0">
                  <a:solidFill>
                    <a:srgbClr val="FFFFFF"/>
                  </a:solidFill>
                  <a:latin typeface="Cambria Math"/>
                  <a:cs typeface="Cambria Math"/>
                </a:rPr>
                <a:t>−</a:t>
              </a:r>
              <a:r>
                <a:rPr sz="2800" spc="-5" dirty="0">
                  <a:solidFill>
                    <a:srgbClr val="FFFFFF"/>
                  </a:solidFill>
                  <a:latin typeface="Cambria Math"/>
                  <a:cs typeface="Cambria Math"/>
                </a:rPr>
                <a:t> </a:t>
              </a:r>
              <a:r>
                <a:rPr sz="2800" dirty="0">
                  <a:solidFill>
                    <a:srgbClr val="FFFFFF"/>
                  </a:solidFill>
                  <a:latin typeface="Cambria Math"/>
                  <a:cs typeface="Cambria Math"/>
                </a:rPr>
                <a:t>𝟕</a:t>
              </a:r>
              <a:r>
                <a:rPr sz="2800" spc="5" dirty="0">
                  <a:solidFill>
                    <a:srgbClr val="FFFFFF"/>
                  </a:solidFill>
                  <a:latin typeface="Cambria Math"/>
                  <a:cs typeface="Cambria Math"/>
                </a:rPr>
                <a:t> </a:t>
              </a:r>
              <a:r>
                <a:rPr sz="2800" dirty="0">
                  <a:solidFill>
                    <a:srgbClr val="FFFFFF"/>
                  </a:solidFill>
                  <a:latin typeface="Cambria Math"/>
                  <a:cs typeface="Cambria Math"/>
                </a:rPr>
                <a:t>+ 𝟏</a:t>
              </a:r>
              <a:r>
                <a:rPr sz="2800" spc="160" dirty="0">
                  <a:solidFill>
                    <a:srgbClr val="FFFFFF"/>
                  </a:solidFill>
                  <a:latin typeface="Cambria Math"/>
                  <a:cs typeface="Cambria Math"/>
                </a:rPr>
                <a:t> </a:t>
              </a:r>
              <a:r>
                <a:rPr sz="2800" dirty="0">
                  <a:solidFill>
                    <a:srgbClr val="FFFFFF"/>
                  </a:solidFill>
                  <a:latin typeface="Cambria Math"/>
                  <a:cs typeface="Cambria Math"/>
                </a:rPr>
                <a:t>=</a:t>
              </a:r>
              <a:r>
                <a:rPr sz="2800" spc="150" dirty="0">
                  <a:solidFill>
                    <a:srgbClr val="FFFFFF"/>
                  </a:solidFill>
                  <a:latin typeface="Cambria Math"/>
                  <a:cs typeface="Cambria Math"/>
                </a:rPr>
                <a:t> </a:t>
              </a:r>
              <a:r>
                <a:rPr sz="2800" spc="-50" dirty="0">
                  <a:solidFill>
                    <a:srgbClr val="FFFFFF"/>
                  </a:solidFill>
                  <a:latin typeface="Cambria Math"/>
                  <a:cs typeface="Cambria Math"/>
                </a:rPr>
                <a:t>𝟏</a:t>
              </a:r>
              <a:endParaRPr sz="2800" dirty="0">
                <a:latin typeface="Cambria Math"/>
                <a:cs typeface="Cambria Math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8228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BB9EBC17-F700-CB44-BE44-12E8F77DE7B1}"/>
              </a:ext>
            </a:extLst>
          </p:cNvPr>
          <p:cNvSpPr txBox="1"/>
          <p:nvPr/>
        </p:nvSpPr>
        <p:spPr>
          <a:xfrm>
            <a:off x="688340" y="1146569"/>
            <a:ext cx="11503660" cy="1896673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选取固定位置主元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=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𝑨[𝒒]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为数组第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𝟐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&lt;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在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𝑨[𝒑</a:t>
            </a:r>
            <a:r>
              <a:rPr sz="2400" spc="-7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. .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</a:t>
            </a:r>
            <a:r>
              <a:rPr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−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中寻找第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𝟑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&gt;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在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𝑨[𝒒</a:t>
            </a:r>
            <a:r>
              <a:rPr sz="2400" spc="-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+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𝟏.</a:t>
            </a:r>
            <a:r>
              <a:rPr sz="2400" spc="-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. 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𝒓]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中寻找第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−(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𝒒−𝒑+𝟏)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4402BF0-E862-CE4A-8B6B-7E81E1DA0E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6902" y="219898"/>
            <a:ext cx="3715114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2F16BFB1-E34D-F842-94D4-900343E48926}"/>
              </a:ext>
            </a:extLst>
          </p:cNvPr>
          <p:cNvGraphicFramePr>
            <a:graphicFrameLocks noGrp="1"/>
          </p:cNvGraphicFramePr>
          <p:nvPr/>
        </p:nvGraphicFramePr>
        <p:xfrm>
          <a:off x="1573275" y="3135740"/>
          <a:ext cx="921511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37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object 6">
            <a:extLst>
              <a:ext uri="{FF2B5EF4-FFF2-40B4-BE49-F238E27FC236}">
                <a16:creationId xmlns:a16="http://schemas.microsoft.com/office/drawing/2014/main" id="{EB145031-0004-8745-8EBB-F25B1A1AB799}"/>
              </a:ext>
            </a:extLst>
          </p:cNvPr>
          <p:cNvSpPr/>
          <p:nvPr/>
        </p:nvSpPr>
        <p:spPr>
          <a:xfrm>
            <a:off x="4693158" y="3744685"/>
            <a:ext cx="3235960" cy="619760"/>
          </a:xfrm>
          <a:custGeom>
            <a:avLst/>
            <a:gdLst/>
            <a:ahLst/>
            <a:cxnLst/>
            <a:rect l="l" t="t" r="r" b="b"/>
            <a:pathLst>
              <a:path w="3235959" h="619760">
                <a:moveTo>
                  <a:pt x="0" y="0"/>
                </a:moveTo>
                <a:lnTo>
                  <a:pt x="3235960" y="619759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1" name="object 8">
            <a:extLst>
              <a:ext uri="{FF2B5EF4-FFF2-40B4-BE49-F238E27FC236}">
                <a16:creationId xmlns:a16="http://schemas.microsoft.com/office/drawing/2014/main" id="{5991C6AD-EC78-B94F-AF84-3ED46F172762}"/>
              </a:ext>
            </a:extLst>
          </p:cNvPr>
          <p:cNvGraphicFramePr>
            <a:graphicFrameLocks noGrp="1"/>
          </p:cNvGraphicFramePr>
          <p:nvPr/>
        </p:nvGraphicFramePr>
        <p:xfrm>
          <a:off x="5029580" y="4384838"/>
          <a:ext cx="575944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24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52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48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object 8">
            <a:extLst>
              <a:ext uri="{FF2B5EF4-FFF2-40B4-BE49-F238E27FC236}">
                <a16:creationId xmlns:a16="http://schemas.microsoft.com/office/drawing/2014/main" id="{341CAADE-1B3F-3646-AEC7-F1934D6A622D}"/>
              </a:ext>
            </a:extLst>
          </p:cNvPr>
          <p:cNvSpPr/>
          <p:nvPr/>
        </p:nvSpPr>
        <p:spPr>
          <a:xfrm rot="683201">
            <a:off x="5939895" y="4811157"/>
            <a:ext cx="1728470" cy="554990"/>
          </a:xfrm>
          <a:custGeom>
            <a:avLst/>
            <a:gdLst/>
            <a:ahLst/>
            <a:cxnLst/>
            <a:rect l="l" t="t" r="r" b="b"/>
            <a:pathLst>
              <a:path w="1728470" h="554989">
                <a:moveTo>
                  <a:pt x="1728216" y="0"/>
                </a:moveTo>
                <a:lnTo>
                  <a:pt x="0" y="554989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7" name="object 4">
            <a:extLst>
              <a:ext uri="{FF2B5EF4-FFF2-40B4-BE49-F238E27FC236}">
                <a16:creationId xmlns:a16="http://schemas.microsoft.com/office/drawing/2014/main" id="{57F96FDA-4E9E-FD49-9D9A-4F127A4D3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607301"/>
              </p:ext>
            </p:extLst>
          </p:nvPr>
        </p:nvGraphicFramePr>
        <p:xfrm>
          <a:off x="4729131" y="5216594"/>
          <a:ext cx="2303779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28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22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object 4">
            <a:extLst>
              <a:ext uri="{FF2B5EF4-FFF2-40B4-BE49-F238E27FC236}">
                <a16:creationId xmlns:a16="http://schemas.microsoft.com/office/drawing/2014/main" id="{1A392A8F-41D1-3048-8C16-AF333EE6FC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366784"/>
              </p:ext>
            </p:extLst>
          </p:nvPr>
        </p:nvGraphicFramePr>
        <p:xfrm>
          <a:off x="5723220" y="6030720"/>
          <a:ext cx="1727835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22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object 10">
            <a:extLst>
              <a:ext uri="{FF2B5EF4-FFF2-40B4-BE49-F238E27FC236}">
                <a16:creationId xmlns:a16="http://schemas.microsoft.com/office/drawing/2014/main" id="{B7EA5B16-ED04-1D48-9C97-CB3850134707}"/>
              </a:ext>
            </a:extLst>
          </p:cNvPr>
          <p:cNvSpPr/>
          <p:nvPr/>
        </p:nvSpPr>
        <p:spPr>
          <a:xfrm rot="18710896">
            <a:off x="6083588" y="5577731"/>
            <a:ext cx="288290" cy="666750"/>
          </a:xfrm>
          <a:custGeom>
            <a:avLst/>
            <a:gdLst/>
            <a:ahLst/>
            <a:cxnLst/>
            <a:rect l="l" t="t" r="r" b="b"/>
            <a:pathLst>
              <a:path w="288289" h="666750">
                <a:moveTo>
                  <a:pt x="0" y="0"/>
                </a:moveTo>
                <a:lnTo>
                  <a:pt x="288036" y="666686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11">
            <a:extLst>
              <a:ext uri="{FF2B5EF4-FFF2-40B4-BE49-F238E27FC236}">
                <a16:creationId xmlns:a16="http://schemas.microsoft.com/office/drawing/2014/main" id="{4B518AC7-6535-B34A-AD0B-6FCCB5F1AE2B}"/>
              </a:ext>
            </a:extLst>
          </p:cNvPr>
          <p:cNvSpPr/>
          <p:nvPr/>
        </p:nvSpPr>
        <p:spPr>
          <a:xfrm>
            <a:off x="2058161" y="6190487"/>
            <a:ext cx="2552700" cy="577850"/>
          </a:xfrm>
          <a:custGeom>
            <a:avLst/>
            <a:gdLst/>
            <a:ahLst/>
            <a:cxnLst/>
            <a:rect l="l" t="t" r="r" b="b"/>
            <a:pathLst>
              <a:path w="2552700" h="577850">
                <a:moveTo>
                  <a:pt x="2552700" y="0"/>
                </a:moveTo>
                <a:lnTo>
                  <a:pt x="0" y="0"/>
                </a:lnTo>
                <a:lnTo>
                  <a:pt x="0" y="577596"/>
                </a:lnTo>
                <a:lnTo>
                  <a:pt x="2552700" y="577596"/>
                </a:lnTo>
                <a:lnTo>
                  <a:pt x="255270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2">
            <a:extLst>
              <a:ext uri="{FF2B5EF4-FFF2-40B4-BE49-F238E27FC236}">
                <a16:creationId xmlns:a16="http://schemas.microsoft.com/office/drawing/2014/main" id="{40077156-5095-134F-8F9E-0BD86C230925}"/>
              </a:ext>
            </a:extLst>
          </p:cNvPr>
          <p:cNvSpPr txBox="1"/>
          <p:nvPr/>
        </p:nvSpPr>
        <p:spPr>
          <a:xfrm>
            <a:off x="2136901" y="6279290"/>
            <a:ext cx="2373630" cy="462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65"/>
              </a:lnSpc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查找第</a:t>
            </a:r>
            <a:r>
              <a:rPr sz="2800" spc="-1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r>
              <a:rPr sz="2800" spc="-20">
                <a:solidFill>
                  <a:srgbClr val="FFFFFF"/>
                </a:solidFill>
                <a:latin typeface="PMingLiU"/>
                <a:cs typeface="PMingLiU"/>
              </a:rPr>
              <a:t>小元素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30" name="object 13">
            <a:extLst>
              <a:ext uri="{FF2B5EF4-FFF2-40B4-BE49-F238E27FC236}">
                <a16:creationId xmlns:a16="http://schemas.microsoft.com/office/drawing/2014/main" id="{A0359944-4012-1241-BAD1-321E79521982}"/>
              </a:ext>
            </a:extLst>
          </p:cNvPr>
          <p:cNvSpPr txBox="1"/>
          <p:nvPr/>
        </p:nvSpPr>
        <p:spPr>
          <a:xfrm>
            <a:off x="4730931" y="6227759"/>
            <a:ext cx="922019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>
                <a:latin typeface="Cambria Math"/>
                <a:cs typeface="Cambria Math"/>
              </a:rPr>
              <a:t>𝒑</a:t>
            </a:r>
            <a:r>
              <a:rPr sz="2800" spc="160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=</a:t>
            </a:r>
            <a:r>
              <a:rPr sz="2800" spc="15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1" name="object 14">
            <a:extLst>
              <a:ext uri="{FF2B5EF4-FFF2-40B4-BE49-F238E27FC236}">
                <a16:creationId xmlns:a16="http://schemas.microsoft.com/office/drawing/2014/main" id="{D59D9D6D-85FE-8848-BADF-9BCCDE86CDD1}"/>
              </a:ext>
            </a:extLst>
          </p:cNvPr>
          <p:cNvSpPr txBox="1"/>
          <p:nvPr/>
        </p:nvSpPr>
        <p:spPr>
          <a:xfrm>
            <a:off x="7539156" y="6227759"/>
            <a:ext cx="110490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>
                <a:latin typeface="Cambria Math"/>
                <a:cs typeface="Cambria Math"/>
              </a:rPr>
              <a:t>𝒓</a:t>
            </a:r>
            <a:r>
              <a:rPr sz="2800" spc="155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=</a:t>
            </a:r>
            <a:r>
              <a:rPr sz="2800" spc="160">
                <a:latin typeface="Cambria Math"/>
                <a:cs typeface="Cambria Math"/>
              </a:rPr>
              <a:t> </a:t>
            </a:r>
            <a:r>
              <a:rPr sz="2800" spc="-25">
                <a:latin typeface="Cambria Math"/>
                <a:cs typeface="Cambria Math"/>
              </a:rPr>
              <a:t>𝟏𝟎</a:t>
            </a:r>
            <a:endParaRPr sz="28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234231169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BB9EBC17-F700-CB44-BE44-12E8F77DE7B1}"/>
              </a:ext>
            </a:extLst>
          </p:cNvPr>
          <p:cNvSpPr txBox="1"/>
          <p:nvPr/>
        </p:nvSpPr>
        <p:spPr>
          <a:xfrm>
            <a:off x="688340" y="1146569"/>
            <a:ext cx="11503660" cy="1896673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选取固定位置主元</a:t>
            </a:r>
            <a:endParaRPr sz="2800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=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𝑨[𝒒]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为数组第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𝟐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&lt;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在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𝑨[𝒑</a:t>
            </a:r>
            <a:r>
              <a:rPr sz="2400" spc="-7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. .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</a:t>
            </a:r>
            <a:r>
              <a:rPr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−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中寻找第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𝟑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&gt;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在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𝑨[𝒒</a:t>
            </a:r>
            <a:r>
              <a:rPr sz="2400" spc="-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+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𝟏.</a:t>
            </a:r>
            <a:r>
              <a:rPr sz="2400" spc="-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. 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𝒓]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中寻找第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−(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𝒒−𝒑+𝟏)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4402BF0-E862-CE4A-8B6B-7E81E1DA0E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6902" y="219898"/>
            <a:ext cx="3715114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2F16BFB1-E34D-F842-94D4-900343E48926}"/>
              </a:ext>
            </a:extLst>
          </p:cNvPr>
          <p:cNvGraphicFramePr>
            <a:graphicFrameLocks noGrp="1"/>
          </p:cNvGraphicFramePr>
          <p:nvPr/>
        </p:nvGraphicFramePr>
        <p:xfrm>
          <a:off x="1573275" y="3135740"/>
          <a:ext cx="921511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37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object 6">
            <a:extLst>
              <a:ext uri="{FF2B5EF4-FFF2-40B4-BE49-F238E27FC236}">
                <a16:creationId xmlns:a16="http://schemas.microsoft.com/office/drawing/2014/main" id="{EB145031-0004-8745-8EBB-F25B1A1AB799}"/>
              </a:ext>
            </a:extLst>
          </p:cNvPr>
          <p:cNvSpPr/>
          <p:nvPr/>
        </p:nvSpPr>
        <p:spPr>
          <a:xfrm>
            <a:off x="4693158" y="3744685"/>
            <a:ext cx="3235960" cy="619760"/>
          </a:xfrm>
          <a:custGeom>
            <a:avLst/>
            <a:gdLst/>
            <a:ahLst/>
            <a:cxnLst/>
            <a:rect l="l" t="t" r="r" b="b"/>
            <a:pathLst>
              <a:path w="3235959" h="619760">
                <a:moveTo>
                  <a:pt x="0" y="0"/>
                </a:moveTo>
                <a:lnTo>
                  <a:pt x="3235960" y="619759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1" name="object 8">
            <a:extLst>
              <a:ext uri="{FF2B5EF4-FFF2-40B4-BE49-F238E27FC236}">
                <a16:creationId xmlns:a16="http://schemas.microsoft.com/office/drawing/2014/main" id="{5991C6AD-EC78-B94F-AF84-3ED46F172762}"/>
              </a:ext>
            </a:extLst>
          </p:cNvPr>
          <p:cNvGraphicFramePr>
            <a:graphicFrameLocks noGrp="1"/>
          </p:cNvGraphicFramePr>
          <p:nvPr/>
        </p:nvGraphicFramePr>
        <p:xfrm>
          <a:off x="5029580" y="4384838"/>
          <a:ext cx="575944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24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52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48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object 8">
            <a:extLst>
              <a:ext uri="{FF2B5EF4-FFF2-40B4-BE49-F238E27FC236}">
                <a16:creationId xmlns:a16="http://schemas.microsoft.com/office/drawing/2014/main" id="{341CAADE-1B3F-3646-AEC7-F1934D6A622D}"/>
              </a:ext>
            </a:extLst>
          </p:cNvPr>
          <p:cNvSpPr/>
          <p:nvPr/>
        </p:nvSpPr>
        <p:spPr>
          <a:xfrm rot="683201">
            <a:off x="5939895" y="4811157"/>
            <a:ext cx="1728470" cy="554990"/>
          </a:xfrm>
          <a:custGeom>
            <a:avLst/>
            <a:gdLst/>
            <a:ahLst/>
            <a:cxnLst/>
            <a:rect l="l" t="t" r="r" b="b"/>
            <a:pathLst>
              <a:path w="1728470" h="554989">
                <a:moveTo>
                  <a:pt x="1728216" y="0"/>
                </a:moveTo>
                <a:lnTo>
                  <a:pt x="0" y="554989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7" name="object 4">
            <a:extLst>
              <a:ext uri="{FF2B5EF4-FFF2-40B4-BE49-F238E27FC236}">
                <a16:creationId xmlns:a16="http://schemas.microsoft.com/office/drawing/2014/main" id="{57F96FDA-4E9E-FD49-9D9A-4F127A4D3052}"/>
              </a:ext>
            </a:extLst>
          </p:cNvPr>
          <p:cNvGraphicFramePr>
            <a:graphicFrameLocks noGrp="1"/>
          </p:cNvGraphicFramePr>
          <p:nvPr/>
        </p:nvGraphicFramePr>
        <p:xfrm>
          <a:off x="4729131" y="5216594"/>
          <a:ext cx="2303779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28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22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object 4">
            <a:extLst>
              <a:ext uri="{FF2B5EF4-FFF2-40B4-BE49-F238E27FC236}">
                <a16:creationId xmlns:a16="http://schemas.microsoft.com/office/drawing/2014/main" id="{1A392A8F-41D1-3048-8C16-AF333EE6FC44}"/>
              </a:ext>
            </a:extLst>
          </p:cNvPr>
          <p:cNvGraphicFramePr>
            <a:graphicFrameLocks noGrp="1"/>
          </p:cNvGraphicFramePr>
          <p:nvPr/>
        </p:nvGraphicFramePr>
        <p:xfrm>
          <a:off x="5723220" y="6030720"/>
          <a:ext cx="1727835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22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object 10">
            <a:extLst>
              <a:ext uri="{FF2B5EF4-FFF2-40B4-BE49-F238E27FC236}">
                <a16:creationId xmlns:a16="http://schemas.microsoft.com/office/drawing/2014/main" id="{B7EA5B16-ED04-1D48-9C97-CB3850134707}"/>
              </a:ext>
            </a:extLst>
          </p:cNvPr>
          <p:cNvSpPr/>
          <p:nvPr/>
        </p:nvSpPr>
        <p:spPr>
          <a:xfrm rot="18710896">
            <a:off x="6083588" y="5577731"/>
            <a:ext cx="288290" cy="666750"/>
          </a:xfrm>
          <a:custGeom>
            <a:avLst/>
            <a:gdLst/>
            <a:ahLst/>
            <a:cxnLst/>
            <a:rect l="l" t="t" r="r" b="b"/>
            <a:pathLst>
              <a:path w="288289" h="666750">
                <a:moveTo>
                  <a:pt x="0" y="0"/>
                </a:moveTo>
                <a:lnTo>
                  <a:pt x="288036" y="666686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11">
            <a:extLst>
              <a:ext uri="{FF2B5EF4-FFF2-40B4-BE49-F238E27FC236}">
                <a16:creationId xmlns:a16="http://schemas.microsoft.com/office/drawing/2014/main" id="{4B518AC7-6535-B34A-AD0B-6FCCB5F1AE2B}"/>
              </a:ext>
            </a:extLst>
          </p:cNvPr>
          <p:cNvSpPr/>
          <p:nvPr/>
        </p:nvSpPr>
        <p:spPr>
          <a:xfrm>
            <a:off x="2058161" y="6190487"/>
            <a:ext cx="2552700" cy="577850"/>
          </a:xfrm>
          <a:custGeom>
            <a:avLst/>
            <a:gdLst/>
            <a:ahLst/>
            <a:cxnLst/>
            <a:rect l="l" t="t" r="r" b="b"/>
            <a:pathLst>
              <a:path w="2552700" h="577850">
                <a:moveTo>
                  <a:pt x="2552700" y="0"/>
                </a:moveTo>
                <a:lnTo>
                  <a:pt x="0" y="0"/>
                </a:lnTo>
                <a:lnTo>
                  <a:pt x="0" y="577596"/>
                </a:lnTo>
                <a:lnTo>
                  <a:pt x="2552700" y="577596"/>
                </a:lnTo>
                <a:lnTo>
                  <a:pt x="255270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2">
            <a:extLst>
              <a:ext uri="{FF2B5EF4-FFF2-40B4-BE49-F238E27FC236}">
                <a16:creationId xmlns:a16="http://schemas.microsoft.com/office/drawing/2014/main" id="{40077156-5095-134F-8F9E-0BD86C230925}"/>
              </a:ext>
            </a:extLst>
          </p:cNvPr>
          <p:cNvSpPr txBox="1"/>
          <p:nvPr/>
        </p:nvSpPr>
        <p:spPr>
          <a:xfrm>
            <a:off x="2136901" y="6279290"/>
            <a:ext cx="2373630" cy="462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65"/>
              </a:lnSpc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查找第</a:t>
            </a:r>
            <a:r>
              <a:rPr sz="2800" spc="-1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r>
              <a:rPr sz="2800" spc="-20">
                <a:solidFill>
                  <a:srgbClr val="FFFFFF"/>
                </a:solidFill>
                <a:latin typeface="PMingLiU"/>
                <a:cs typeface="PMingLiU"/>
              </a:rPr>
              <a:t>小元素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30" name="object 13">
            <a:extLst>
              <a:ext uri="{FF2B5EF4-FFF2-40B4-BE49-F238E27FC236}">
                <a16:creationId xmlns:a16="http://schemas.microsoft.com/office/drawing/2014/main" id="{A0359944-4012-1241-BAD1-321E79521982}"/>
              </a:ext>
            </a:extLst>
          </p:cNvPr>
          <p:cNvSpPr txBox="1"/>
          <p:nvPr/>
        </p:nvSpPr>
        <p:spPr>
          <a:xfrm>
            <a:off x="4730931" y="6227759"/>
            <a:ext cx="922019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>
                <a:latin typeface="Cambria Math"/>
                <a:cs typeface="Cambria Math"/>
              </a:rPr>
              <a:t>𝒑</a:t>
            </a:r>
            <a:r>
              <a:rPr sz="2800" spc="160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=</a:t>
            </a:r>
            <a:r>
              <a:rPr sz="2800" spc="15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1" name="object 14">
            <a:extLst>
              <a:ext uri="{FF2B5EF4-FFF2-40B4-BE49-F238E27FC236}">
                <a16:creationId xmlns:a16="http://schemas.microsoft.com/office/drawing/2014/main" id="{D59D9D6D-85FE-8848-BADF-9BCCDE86CDD1}"/>
              </a:ext>
            </a:extLst>
          </p:cNvPr>
          <p:cNvSpPr txBox="1"/>
          <p:nvPr/>
        </p:nvSpPr>
        <p:spPr>
          <a:xfrm>
            <a:off x="7539156" y="6227759"/>
            <a:ext cx="110490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>
                <a:latin typeface="Cambria Math"/>
                <a:cs typeface="Cambria Math"/>
              </a:rPr>
              <a:t>𝒓</a:t>
            </a:r>
            <a:r>
              <a:rPr sz="2800" spc="155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=</a:t>
            </a:r>
            <a:r>
              <a:rPr sz="2800" spc="160">
                <a:latin typeface="Cambria Math"/>
                <a:cs typeface="Cambria Math"/>
              </a:rPr>
              <a:t> </a:t>
            </a:r>
            <a:r>
              <a:rPr sz="2800" spc="-25">
                <a:latin typeface="Cambria Math"/>
                <a:cs typeface="Cambria Math"/>
              </a:rPr>
              <a:t>𝟏𝟎</a:t>
            </a:r>
            <a:endParaRPr sz="2800">
              <a:latin typeface="Cambria Math"/>
              <a:cs typeface="Cambria Math"/>
            </a:endParaRPr>
          </a:p>
        </p:txBody>
      </p:sp>
      <p:graphicFrame>
        <p:nvGraphicFramePr>
          <p:cNvPr id="15" name="object 4">
            <a:extLst>
              <a:ext uri="{FF2B5EF4-FFF2-40B4-BE49-F238E27FC236}">
                <a16:creationId xmlns:a16="http://schemas.microsoft.com/office/drawing/2014/main" id="{BDE5650F-94F2-B041-84A4-DB4F7F7954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370059"/>
              </p:ext>
            </p:extLst>
          </p:nvPr>
        </p:nvGraphicFramePr>
        <p:xfrm>
          <a:off x="5723220" y="6030720"/>
          <a:ext cx="1727835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28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22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object 11">
            <a:extLst>
              <a:ext uri="{FF2B5EF4-FFF2-40B4-BE49-F238E27FC236}">
                <a16:creationId xmlns:a16="http://schemas.microsoft.com/office/drawing/2014/main" id="{7D0E53F0-66CE-7B49-8575-8A0151D40B35}"/>
              </a:ext>
            </a:extLst>
          </p:cNvPr>
          <p:cNvSpPr txBox="1"/>
          <p:nvPr/>
        </p:nvSpPr>
        <p:spPr>
          <a:xfrm>
            <a:off x="7083118" y="5338351"/>
            <a:ext cx="5848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5" dirty="0" err="1">
                <a:solidFill>
                  <a:srgbClr val="FF0000"/>
                </a:solidFill>
                <a:latin typeface="PMingLiU"/>
                <a:cs typeface="PMingLiU"/>
              </a:rPr>
              <a:t>主元</a:t>
            </a:r>
            <a:endParaRPr sz="2200" dirty="0">
              <a:latin typeface="PMingLiU"/>
              <a:cs typeface="PMingLiU"/>
            </a:endParaRPr>
          </a:p>
        </p:txBody>
      </p:sp>
      <p:sp>
        <p:nvSpPr>
          <p:cNvPr id="19" name="object 12">
            <a:extLst>
              <a:ext uri="{FF2B5EF4-FFF2-40B4-BE49-F238E27FC236}">
                <a16:creationId xmlns:a16="http://schemas.microsoft.com/office/drawing/2014/main" id="{99761AE6-8342-D040-A5B8-1930BE05BE5D}"/>
              </a:ext>
            </a:extLst>
          </p:cNvPr>
          <p:cNvSpPr/>
          <p:nvPr/>
        </p:nvSpPr>
        <p:spPr>
          <a:xfrm>
            <a:off x="7330006" y="5678965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72"/>
                </a:moveTo>
                <a:lnTo>
                  <a:pt x="0" y="222872"/>
                </a:lnTo>
                <a:lnTo>
                  <a:pt x="57150" y="337172"/>
                </a:lnTo>
                <a:lnTo>
                  <a:pt x="104775" y="241922"/>
                </a:lnTo>
                <a:lnTo>
                  <a:pt x="38100" y="241922"/>
                </a:lnTo>
                <a:lnTo>
                  <a:pt x="38100" y="222872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22"/>
                </a:lnTo>
                <a:lnTo>
                  <a:pt x="76200" y="241922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72"/>
                </a:moveTo>
                <a:lnTo>
                  <a:pt x="76200" y="222872"/>
                </a:lnTo>
                <a:lnTo>
                  <a:pt x="76200" y="241922"/>
                </a:lnTo>
                <a:lnTo>
                  <a:pt x="104775" y="241922"/>
                </a:lnTo>
                <a:lnTo>
                  <a:pt x="114300" y="2228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187564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BB9EBC17-F700-CB44-BE44-12E8F77DE7B1}"/>
              </a:ext>
            </a:extLst>
          </p:cNvPr>
          <p:cNvSpPr txBox="1"/>
          <p:nvPr/>
        </p:nvSpPr>
        <p:spPr>
          <a:xfrm>
            <a:off x="688340" y="1146569"/>
            <a:ext cx="11503660" cy="1896673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选取固定位置主元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=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𝑨[𝒒]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为数组第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𝟐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&lt;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在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𝑨[𝒑</a:t>
            </a:r>
            <a:r>
              <a:rPr sz="2400" spc="-7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. .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</a:t>
            </a:r>
            <a:r>
              <a:rPr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−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中寻找第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𝟑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&gt;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在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𝑨[𝒒</a:t>
            </a:r>
            <a:r>
              <a:rPr sz="2400" spc="-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+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𝟏.</a:t>
            </a:r>
            <a:r>
              <a:rPr sz="2400" spc="-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. 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𝒓]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中寻找第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−(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𝒒−𝒑+𝟏)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4402BF0-E862-CE4A-8B6B-7E81E1DA0E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6902" y="219898"/>
            <a:ext cx="3715114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2F16BFB1-E34D-F842-94D4-900343E48926}"/>
              </a:ext>
            </a:extLst>
          </p:cNvPr>
          <p:cNvGraphicFramePr>
            <a:graphicFrameLocks noGrp="1"/>
          </p:cNvGraphicFramePr>
          <p:nvPr/>
        </p:nvGraphicFramePr>
        <p:xfrm>
          <a:off x="1573275" y="3135740"/>
          <a:ext cx="921511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37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object 6">
            <a:extLst>
              <a:ext uri="{FF2B5EF4-FFF2-40B4-BE49-F238E27FC236}">
                <a16:creationId xmlns:a16="http://schemas.microsoft.com/office/drawing/2014/main" id="{EB145031-0004-8745-8EBB-F25B1A1AB799}"/>
              </a:ext>
            </a:extLst>
          </p:cNvPr>
          <p:cNvSpPr/>
          <p:nvPr/>
        </p:nvSpPr>
        <p:spPr>
          <a:xfrm>
            <a:off x="4693158" y="3744685"/>
            <a:ext cx="3235960" cy="619760"/>
          </a:xfrm>
          <a:custGeom>
            <a:avLst/>
            <a:gdLst/>
            <a:ahLst/>
            <a:cxnLst/>
            <a:rect l="l" t="t" r="r" b="b"/>
            <a:pathLst>
              <a:path w="3235959" h="619760">
                <a:moveTo>
                  <a:pt x="0" y="0"/>
                </a:moveTo>
                <a:lnTo>
                  <a:pt x="3235960" y="619759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1" name="object 8">
            <a:extLst>
              <a:ext uri="{FF2B5EF4-FFF2-40B4-BE49-F238E27FC236}">
                <a16:creationId xmlns:a16="http://schemas.microsoft.com/office/drawing/2014/main" id="{5991C6AD-EC78-B94F-AF84-3ED46F172762}"/>
              </a:ext>
            </a:extLst>
          </p:cNvPr>
          <p:cNvGraphicFramePr>
            <a:graphicFrameLocks noGrp="1"/>
          </p:cNvGraphicFramePr>
          <p:nvPr/>
        </p:nvGraphicFramePr>
        <p:xfrm>
          <a:off x="5029580" y="4384838"/>
          <a:ext cx="575944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24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52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48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object 8">
            <a:extLst>
              <a:ext uri="{FF2B5EF4-FFF2-40B4-BE49-F238E27FC236}">
                <a16:creationId xmlns:a16="http://schemas.microsoft.com/office/drawing/2014/main" id="{341CAADE-1B3F-3646-AEC7-F1934D6A622D}"/>
              </a:ext>
            </a:extLst>
          </p:cNvPr>
          <p:cNvSpPr/>
          <p:nvPr/>
        </p:nvSpPr>
        <p:spPr>
          <a:xfrm rot="683201">
            <a:off x="5939895" y="4811157"/>
            <a:ext cx="1728470" cy="554990"/>
          </a:xfrm>
          <a:custGeom>
            <a:avLst/>
            <a:gdLst/>
            <a:ahLst/>
            <a:cxnLst/>
            <a:rect l="l" t="t" r="r" b="b"/>
            <a:pathLst>
              <a:path w="1728470" h="554989">
                <a:moveTo>
                  <a:pt x="1728216" y="0"/>
                </a:moveTo>
                <a:lnTo>
                  <a:pt x="0" y="554989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7" name="object 4">
            <a:extLst>
              <a:ext uri="{FF2B5EF4-FFF2-40B4-BE49-F238E27FC236}">
                <a16:creationId xmlns:a16="http://schemas.microsoft.com/office/drawing/2014/main" id="{57F96FDA-4E9E-FD49-9D9A-4F127A4D3052}"/>
              </a:ext>
            </a:extLst>
          </p:cNvPr>
          <p:cNvGraphicFramePr>
            <a:graphicFrameLocks noGrp="1"/>
          </p:cNvGraphicFramePr>
          <p:nvPr/>
        </p:nvGraphicFramePr>
        <p:xfrm>
          <a:off x="4729131" y="5216594"/>
          <a:ext cx="2303779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28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22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object 4">
            <a:extLst>
              <a:ext uri="{FF2B5EF4-FFF2-40B4-BE49-F238E27FC236}">
                <a16:creationId xmlns:a16="http://schemas.microsoft.com/office/drawing/2014/main" id="{1A392A8F-41D1-3048-8C16-AF333EE6FC44}"/>
              </a:ext>
            </a:extLst>
          </p:cNvPr>
          <p:cNvGraphicFramePr>
            <a:graphicFrameLocks noGrp="1"/>
          </p:cNvGraphicFramePr>
          <p:nvPr/>
        </p:nvGraphicFramePr>
        <p:xfrm>
          <a:off x="5723220" y="6030720"/>
          <a:ext cx="1727835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22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object 10">
            <a:extLst>
              <a:ext uri="{FF2B5EF4-FFF2-40B4-BE49-F238E27FC236}">
                <a16:creationId xmlns:a16="http://schemas.microsoft.com/office/drawing/2014/main" id="{B7EA5B16-ED04-1D48-9C97-CB3850134707}"/>
              </a:ext>
            </a:extLst>
          </p:cNvPr>
          <p:cNvSpPr/>
          <p:nvPr/>
        </p:nvSpPr>
        <p:spPr>
          <a:xfrm rot="18710896">
            <a:off x="6083588" y="5577731"/>
            <a:ext cx="288290" cy="666750"/>
          </a:xfrm>
          <a:custGeom>
            <a:avLst/>
            <a:gdLst/>
            <a:ahLst/>
            <a:cxnLst/>
            <a:rect l="l" t="t" r="r" b="b"/>
            <a:pathLst>
              <a:path w="288289" h="666750">
                <a:moveTo>
                  <a:pt x="0" y="0"/>
                </a:moveTo>
                <a:lnTo>
                  <a:pt x="288036" y="666686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11">
            <a:extLst>
              <a:ext uri="{FF2B5EF4-FFF2-40B4-BE49-F238E27FC236}">
                <a16:creationId xmlns:a16="http://schemas.microsoft.com/office/drawing/2014/main" id="{4B518AC7-6535-B34A-AD0B-6FCCB5F1AE2B}"/>
              </a:ext>
            </a:extLst>
          </p:cNvPr>
          <p:cNvSpPr/>
          <p:nvPr/>
        </p:nvSpPr>
        <p:spPr>
          <a:xfrm>
            <a:off x="2058161" y="6190487"/>
            <a:ext cx="2552700" cy="577850"/>
          </a:xfrm>
          <a:custGeom>
            <a:avLst/>
            <a:gdLst/>
            <a:ahLst/>
            <a:cxnLst/>
            <a:rect l="l" t="t" r="r" b="b"/>
            <a:pathLst>
              <a:path w="2552700" h="577850">
                <a:moveTo>
                  <a:pt x="2552700" y="0"/>
                </a:moveTo>
                <a:lnTo>
                  <a:pt x="0" y="0"/>
                </a:lnTo>
                <a:lnTo>
                  <a:pt x="0" y="577596"/>
                </a:lnTo>
                <a:lnTo>
                  <a:pt x="2552700" y="577596"/>
                </a:lnTo>
                <a:lnTo>
                  <a:pt x="255270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2">
            <a:extLst>
              <a:ext uri="{FF2B5EF4-FFF2-40B4-BE49-F238E27FC236}">
                <a16:creationId xmlns:a16="http://schemas.microsoft.com/office/drawing/2014/main" id="{40077156-5095-134F-8F9E-0BD86C230925}"/>
              </a:ext>
            </a:extLst>
          </p:cNvPr>
          <p:cNvSpPr txBox="1"/>
          <p:nvPr/>
        </p:nvSpPr>
        <p:spPr>
          <a:xfrm>
            <a:off x="2136901" y="6279290"/>
            <a:ext cx="2373630" cy="462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65"/>
              </a:lnSpc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查找第</a:t>
            </a:r>
            <a:r>
              <a:rPr sz="2800" spc="-1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r>
              <a:rPr sz="2800" spc="-20">
                <a:solidFill>
                  <a:srgbClr val="FFFFFF"/>
                </a:solidFill>
                <a:latin typeface="PMingLiU"/>
                <a:cs typeface="PMingLiU"/>
              </a:rPr>
              <a:t>小元素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30" name="object 13">
            <a:extLst>
              <a:ext uri="{FF2B5EF4-FFF2-40B4-BE49-F238E27FC236}">
                <a16:creationId xmlns:a16="http://schemas.microsoft.com/office/drawing/2014/main" id="{A0359944-4012-1241-BAD1-321E79521982}"/>
              </a:ext>
            </a:extLst>
          </p:cNvPr>
          <p:cNvSpPr txBox="1"/>
          <p:nvPr/>
        </p:nvSpPr>
        <p:spPr>
          <a:xfrm>
            <a:off x="4730931" y="6227759"/>
            <a:ext cx="922019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>
                <a:latin typeface="Cambria Math"/>
                <a:cs typeface="Cambria Math"/>
              </a:rPr>
              <a:t>𝒑</a:t>
            </a:r>
            <a:r>
              <a:rPr sz="2800" spc="160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=</a:t>
            </a:r>
            <a:r>
              <a:rPr sz="2800" spc="15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1" name="object 14">
            <a:extLst>
              <a:ext uri="{FF2B5EF4-FFF2-40B4-BE49-F238E27FC236}">
                <a16:creationId xmlns:a16="http://schemas.microsoft.com/office/drawing/2014/main" id="{D59D9D6D-85FE-8848-BADF-9BCCDE86CDD1}"/>
              </a:ext>
            </a:extLst>
          </p:cNvPr>
          <p:cNvSpPr txBox="1"/>
          <p:nvPr/>
        </p:nvSpPr>
        <p:spPr>
          <a:xfrm>
            <a:off x="7539156" y="6227759"/>
            <a:ext cx="110490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>
                <a:latin typeface="Cambria Math"/>
                <a:cs typeface="Cambria Math"/>
              </a:rPr>
              <a:t>𝒓</a:t>
            </a:r>
            <a:r>
              <a:rPr sz="2800" spc="155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=</a:t>
            </a:r>
            <a:r>
              <a:rPr sz="2800" spc="160">
                <a:latin typeface="Cambria Math"/>
                <a:cs typeface="Cambria Math"/>
              </a:rPr>
              <a:t> </a:t>
            </a:r>
            <a:r>
              <a:rPr sz="2800" spc="-25">
                <a:latin typeface="Cambria Math"/>
                <a:cs typeface="Cambria Math"/>
              </a:rPr>
              <a:t>𝟏𝟎</a:t>
            </a:r>
            <a:endParaRPr sz="2800">
              <a:latin typeface="Cambria Math"/>
              <a:cs typeface="Cambria Math"/>
            </a:endParaRPr>
          </a:p>
        </p:txBody>
      </p:sp>
      <p:graphicFrame>
        <p:nvGraphicFramePr>
          <p:cNvPr id="15" name="object 4">
            <a:extLst>
              <a:ext uri="{FF2B5EF4-FFF2-40B4-BE49-F238E27FC236}">
                <a16:creationId xmlns:a16="http://schemas.microsoft.com/office/drawing/2014/main" id="{BDE5650F-94F2-B041-84A4-DB4F7F795488}"/>
              </a:ext>
            </a:extLst>
          </p:cNvPr>
          <p:cNvGraphicFramePr>
            <a:graphicFrameLocks noGrp="1"/>
          </p:cNvGraphicFramePr>
          <p:nvPr/>
        </p:nvGraphicFramePr>
        <p:xfrm>
          <a:off x="5723220" y="6030720"/>
          <a:ext cx="1727835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28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22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object 11">
            <a:extLst>
              <a:ext uri="{FF2B5EF4-FFF2-40B4-BE49-F238E27FC236}">
                <a16:creationId xmlns:a16="http://schemas.microsoft.com/office/drawing/2014/main" id="{EB032EC5-C184-8840-92C0-C2782E45EB87}"/>
              </a:ext>
            </a:extLst>
          </p:cNvPr>
          <p:cNvSpPr/>
          <p:nvPr/>
        </p:nvSpPr>
        <p:spPr>
          <a:xfrm>
            <a:off x="5755387" y="5848785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72"/>
                </a:moveTo>
                <a:lnTo>
                  <a:pt x="0" y="222872"/>
                </a:lnTo>
                <a:lnTo>
                  <a:pt x="57150" y="337172"/>
                </a:lnTo>
                <a:lnTo>
                  <a:pt x="104775" y="241922"/>
                </a:lnTo>
                <a:lnTo>
                  <a:pt x="38100" y="241922"/>
                </a:lnTo>
                <a:lnTo>
                  <a:pt x="38100" y="222872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22"/>
                </a:lnTo>
                <a:lnTo>
                  <a:pt x="76200" y="241922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72"/>
                </a:moveTo>
                <a:lnTo>
                  <a:pt x="76200" y="222872"/>
                </a:lnTo>
                <a:lnTo>
                  <a:pt x="76200" y="241922"/>
                </a:lnTo>
                <a:lnTo>
                  <a:pt x="104775" y="241922"/>
                </a:lnTo>
                <a:lnTo>
                  <a:pt x="114300" y="2228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3" name="object 12">
            <a:extLst>
              <a:ext uri="{FF2B5EF4-FFF2-40B4-BE49-F238E27FC236}">
                <a16:creationId xmlns:a16="http://schemas.microsoft.com/office/drawing/2014/main" id="{591CE335-D7DB-9748-BE01-BC6B0B1609A4}"/>
              </a:ext>
            </a:extLst>
          </p:cNvPr>
          <p:cNvSpPr txBox="1"/>
          <p:nvPr/>
        </p:nvSpPr>
        <p:spPr>
          <a:xfrm>
            <a:off x="4568190" y="5634156"/>
            <a:ext cx="15506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𝒒</a:t>
            </a:r>
            <a:r>
              <a:rPr sz="2800" spc="100">
                <a:solidFill>
                  <a:srgbClr val="FF0000"/>
                </a:solidFill>
                <a:latin typeface="Cambria Math"/>
                <a:cs typeface="Cambria Math"/>
              </a:rPr>
              <a:t> = </a:t>
            </a:r>
            <a:r>
              <a:rPr sz="2800" spc="19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r>
              <a:rPr sz="3300" spc="-37" baseline="40404">
                <a:solidFill>
                  <a:srgbClr val="FF0000"/>
                </a:solidFill>
                <a:latin typeface="PMingLiU"/>
                <a:cs typeface="PMingLiU"/>
              </a:rPr>
              <a:t>主元</a:t>
            </a:r>
            <a:endParaRPr sz="3300" baseline="40404">
              <a:solidFill>
                <a:srgbClr val="FF0000"/>
              </a:solidFill>
              <a:latin typeface="PMingLiU"/>
              <a:cs typeface="PMingLiU"/>
            </a:endParaRPr>
          </a:p>
        </p:txBody>
      </p:sp>
      <p:sp>
        <p:nvSpPr>
          <p:cNvPr id="26" name="object 13">
            <a:extLst>
              <a:ext uri="{FF2B5EF4-FFF2-40B4-BE49-F238E27FC236}">
                <a16:creationId xmlns:a16="http://schemas.microsoft.com/office/drawing/2014/main" id="{67164A4E-4582-A04A-8590-BA632CFF50B5}"/>
              </a:ext>
            </a:extLst>
          </p:cNvPr>
          <p:cNvSpPr/>
          <p:nvPr/>
        </p:nvSpPr>
        <p:spPr>
          <a:xfrm>
            <a:off x="7623047" y="5344775"/>
            <a:ext cx="4457065" cy="577850"/>
          </a:xfrm>
          <a:custGeom>
            <a:avLst/>
            <a:gdLst/>
            <a:ahLst/>
            <a:cxnLst/>
            <a:rect l="l" t="t" r="r" b="b"/>
            <a:pathLst>
              <a:path w="4457065" h="577850">
                <a:moveTo>
                  <a:pt x="4456938" y="0"/>
                </a:moveTo>
                <a:lnTo>
                  <a:pt x="0" y="0"/>
                </a:lnTo>
                <a:lnTo>
                  <a:pt x="0" y="577595"/>
                </a:lnTo>
                <a:lnTo>
                  <a:pt x="4456938" y="577595"/>
                </a:lnTo>
                <a:lnTo>
                  <a:pt x="445693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15">
            <a:extLst>
              <a:ext uri="{FF2B5EF4-FFF2-40B4-BE49-F238E27FC236}">
                <a16:creationId xmlns:a16="http://schemas.microsoft.com/office/drawing/2014/main" id="{84D442E0-7508-5F41-B655-70634C63850A}"/>
              </a:ext>
            </a:extLst>
          </p:cNvPr>
          <p:cNvSpPr txBox="1"/>
          <p:nvPr/>
        </p:nvSpPr>
        <p:spPr>
          <a:xfrm>
            <a:off x="7780781" y="5474540"/>
            <a:ext cx="414274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𝒒</a:t>
            </a:r>
            <a:r>
              <a:rPr sz="2800" spc="-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− 𝒑 +</a:t>
            </a:r>
            <a:r>
              <a:rPr sz="2800" spc="-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r>
              <a:rPr sz="2800" spc="16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2800" spc="15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𝟖</a:t>
            </a:r>
            <a:r>
              <a:rPr sz="2800" spc="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−</a:t>
            </a:r>
            <a:r>
              <a:rPr sz="2800" spc="-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𝟖</a:t>
            </a:r>
            <a:r>
              <a:rPr sz="2800" spc="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+ 𝟏</a:t>
            </a:r>
            <a:r>
              <a:rPr sz="2800" spc="16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2800" spc="15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spc="-5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454258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3" grpId="0"/>
      <p:bldP spid="26" grpId="0" animBg="1"/>
      <p:bldP spid="27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BB9EBC17-F700-CB44-BE44-12E8F77DE7B1}"/>
              </a:ext>
            </a:extLst>
          </p:cNvPr>
          <p:cNvSpPr txBox="1"/>
          <p:nvPr/>
        </p:nvSpPr>
        <p:spPr>
          <a:xfrm>
            <a:off x="688340" y="1146569"/>
            <a:ext cx="11503660" cy="1896673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选取固定位置主元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= </a:t>
            </a:r>
            <a:r>
              <a:rPr sz="240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</a:t>
            </a:r>
            <a:r>
              <a:rPr sz="2400" spc="-1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sz="2400" spc="-1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spc="-1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𝑨[𝒒]</a:t>
            </a:r>
            <a:r>
              <a:rPr sz="240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为数组第</a:t>
            </a:r>
            <a:r>
              <a:rPr sz="2400" spc="-10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20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𝟐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&lt;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在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𝑨[𝒑</a:t>
            </a:r>
            <a:r>
              <a:rPr sz="2400" spc="-7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. .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</a:t>
            </a:r>
            <a:r>
              <a:rPr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−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中寻找第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𝟑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&gt;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在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𝑨[𝒒</a:t>
            </a:r>
            <a:r>
              <a:rPr sz="2400" spc="-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+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𝟏.</a:t>
            </a:r>
            <a:r>
              <a:rPr sz="2400" spc="-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. 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𝒓]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中寻找第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−(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𝒒−𝒑+𝟏)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4402BF0-E862-CE4A-8B6B-7E81E1DA0E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6902" y="219898"/>
            <a:ext cx="3715114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2F16BFB1-E34D-F842-94D4-900343E48926}"/>
              </a:ext>
            </a:extLst>
          </p:cNvPr>
          <p:cNvGraphicFramePr>
            <a:graphicFrameLocks noGrp="1"/>
          </p:cNvGraphicFramePr>
          <p:nvPr/>
        </p:nvGraphicFramePr>
        <p:xfrm>
          <a:off x="1573275" y="3135740"/>
          <a:ext cx="921511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37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object 6">
            <a:extLst>
              <a:ext uri="{FF2B5EF4-FFF2-40B4-BE49-F238E27FC236}">
                <a16:creationId xmlns:a16="http://schemas.microsoft.com/office/drawing/2014/main" id="{EB145031-0004-8745-8EBB-F25B1A1AB799}"/>
              </a:ext>
            </a:extLst>
          </p:cNvPr>
          <p:cNvSpPr/>
          <p:nvPr/>
        </p:nvSpPr>
        <p:spPr>
          <a:xfrm>
            <a:off x="4693158" y="3744685"/>
            <a:ext cx="3235960" cy="619760"/>
          </a:xfrm>
          <a:custGeom>
            <a:avLst/>
            <a:gdLst/>
            <a:ahLst/>
            <a:cxnLst/>
            <a:rect l="l" t="t" r="r" b="b"/>
            <a:pathLst>
              <a:path w="3235959" h="619760">
                <a:moveTo>
                  <a:pt x="0" y="0"/>
                </a:moveTo>
                <a:lnTo>
                  <a:pt x="3235960" y="619759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1" name="object 8">
            <a:extLst>
              <a:ext uri="{FF2B5EF4-FFF2-40B4-BE49-F238E27FC236}">
                <a16:creationId xmlns:a16="http://schemas.microsoft.com/office/drawing/2014/main" id="{5991C6AD-EC78-B94F-AF84-3ED46F172762}"/>
              </a:ext>
            </a:extLst>
          </p:cNvPr>
          <p:cNvGraphicFramePr>
            <a:graphicFrameLocks noGrp="1"/>
          </p:cNvGraphicFramePr>
          <p:nvPr/>
        </p:nvGraphicFramePr>
        <p:xfrm>
          <a:off x="5029580" y="4384838"/>
          <a:ext cx="575944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24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52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48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object 8">
            <a:extLst>
              <a:ext uri="{FF2B5EF4-FFF2-40B4-BE49-F238E27FC236}">
                <a16:creationId xmlns:a16="http://schemas.microsoft.com/office/drawing/2014/main" id="{341CAADE-1B3F-3646-AEC7-F1934D6A622D}"/>
              </a:ext>
            </a:extLst>
          </p:cNvPr>
          <p:cNvSpPr/>
          <p:nvPr/>
        </p:nvSpPr>
        <p:spPr>
          <a:xfrm rot="683201">
            <a:off x="5939895" y="4811157"/>
            <a:ext cx="1728470" cy="554990"/>
          </a:xfrm>
          <a:custGeom>
            <a:avLst/>
            <a:gdLst/>
            <a:ahLst/>
            <a:cxnLst/>
            <a:rect l="l" t="t" r="r" b="b"/>
            <a:pathLst>
              <a:path w="1728470" h="554989">
                <a:moveTo>
                  <a:pt x="1728216" y="0"/>
                </a:moveTo>
                <a:lnTo>
                  <a:pt x="0" y="554989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7" name="object 4">
            <a:extLst>
              <a:ext uri="{FF2B5EF4-FFF2-40B4-BE49-F238E27FC236}">
                <a16:creationId xmlns:a16="http://schemas.microsoft.com/office/drawing/2014/main" id="{57F96FDA-4E9E-FD49-9D9A-4F127A4D3052}"/>
              </a:ext>
            </a:extLst>
          </p:cNvPr>
          <p:cNvGraphicFramePr>
            <a:graphicFrameLocks noGrp="1"/>
          </p:cNvGraphicFramePr>
          <p:nvPr/>
        </p:nvGraphicFramePr>
        <p:xfrm>
          <a:off x="4729131" y="5216594"/>
          <a:ext cx="2303779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28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22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object 4">
            <a:extLst>
              <a:ext uri="{FF2B5EF4-FFF2-40B4-BE49-F238E27FC236}">
                <a16:creationId xmlns:a16="http://schemas.microsoft.com/office/drawing/2014/main" id="{1A392A8F-41D1-3048-8C16-AF333EE6FC44}"/>
              </a:ext>
            </a:extLst>
          </p:cNvPr>
          <p:cNvGraphicFramePr>
            <a:graphicFrameLocks noGrp="1"/>
          </p:cNvGraphicFramePr>
          <p:nvPr/>
        </p:nvGraphicFramePr>
        <p:xfrm>
          <a:off x="5723220" y="6030720"/>
          <a:ext cx="1727835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22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object 10">
            <a:extLst>
              <a:ext uri="{FF2B5EF4-FFF2-40B4-BE49-F238E27FC236}">
                <a16:creationId xmlns:a16="http://schemas.microsoft.com/office/drawing/2014/main" id="{B7EA5B16-ED04-1D48-9C97-CB3850134707}"/>
              </a:ext>
            </a:extLst>
          </p:cNvPr>
          <p:cNvSpPr/>
          <p:nvPr/>
        </p:nvSpPr>
        <p:spPr>
          <a:xfrm rot="18710896">
            <a:off x="6083588" y="5577731"/>
            <a:ext cx="288290" cy="666750"/>
          </a:xfrm>
          <a:custGeom>
            <a:avLst/>
            <a:gdLst/>
            <a:ahLst/>
            <a:cxnLst/>
            <a:rect l="l" t="t" r="r" b="b"/>
            <a:pathLst>
              <a:path w="288289" h="666750">
                <a:moveTo>
                  <a:pt x="0" y="0"/>
                </a:moveTo>
                <a:lnTo>
                  <a:pt x="288036" y="666686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11">
            <a:extLst>
              <a:ext uri="{FF2B5EF4-FFF2-40B4-BE49-F238E27FC236}">
                <a16:creationId xmlns:a16="http://schemas.microsoft.com/office/drawing/2014/main" id="{4B518AC7-6535-B34A-AD0B-6FCCB5F1AE2B}"/>
              </a:ext>
            </a:extLst>
          </p:cNvPr>
          <p:cNvSpPr/>
          <p:nvPr/>
        </p:nvSpPr>
        <p:spPr>
          <a:xfrm>
            <a:off x="2058161" y="6190487"/>
            <a:ext cx="2552700" cy="577850"/>
          </a:xfrm>
          <a:custGeom>
            <a:avLst/>
            <a:gdLst/>
            <a:ahLst/>
            <a:cxnLst/>
            <a:rect l="l" t="t" r="r" b="b"/>
            <a:pathLst>
              <a:path w="2552700" h="577850">
                <a:moveTo>
                  <a:pt x="2552700" y="0"/>
                </a:moveTo>
                <a:lnTo>
                  <a:pt x="0" y="0"/>
                </a:lnTo>
                <a:lnTo>
                  <a:pt x="0" y="577596"/>
                </a:lnTo>
                <a:lnTo>
                  <a:pt x="2552700" y="577596"/>
                </a:lnTo>
                <a:lnTo>
                  <a:pt x="255270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2">
            <a:extLst>
              <a:ext uri="{FF2B5EF4-FFF2-40B4-BE49-F238E27FC236}">
                <a16:creationId xmlns:a16="http://schemas.microsoft.com/office/drawing/2014/main" id="{40077156-5095-134F-8F9E-0BD86C230925}"/>
              </a:ext>
            </a:extLst>
          </p:cNvPr>
          <p:cNvSpPr txBox="1"/>
          <p:nvPr/>
        </p:nvSpPr>
        <p:spPr>
          <a:xfrm>
            <a:off x="2136901" y="6279290"/>
            <a:ext cx="2373630" cy="462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65"/>
              </a:lnSpc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查找第</a:t>
            </a:r>
            <a:r>
              <a:rPr sz="2800" spc="-1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r>
              <a:rPr sz="2800" spc="-20">
                <a:solidFill>
                  <a:srgbClr val="FFFFFF"/>
                </a:solidFill>
                <a:latin typeface="PMingLiU"/>
                <a:cs typeface="PMingLiU"/>
              </a:rPr>
              <a:t>小元素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30" name="object 13">
            <a:extLst>
              <a:ext uri="{FF2B5EF4-FFF2-40B4-BE49-F238E27FC236}">
                <a16:creationId xmlns:a16="http://schemas.microsoft.com/office/drawing/2014/main" id="{A0359944-4012-1241-BAD1-321E79521982}"/>
              </a:ext>
            </a:extLst>
          </p:cNvPr>
          <p:cNvSpPr txBox="1"/>
          <p:nvPr/>
        </p:nvSpPr>
        <p:spPr>
          <a:xfrm>
            <a:off x="4730931" y="6227759"/>
            <a:ext cx="922019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>
                <a:latin typeface="Cambria Math"/>
                <a:cs typeface="Cambria Math"/>
              </a:rPr>
              <a:t>𝒑</a:t>
            </a:r>
            <a:r>
              <a:rPr sz="2800" spc="160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=</a:t>
            </a:r>
            <a:r>
              <a:rPr sz="2800" spc="15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1" name="object 14">
            <a:extLst>
              <a:ext uri="{FF2B5EF4-FFF2-40B4-BE49-F238E27FC236}">
                <a16:creationId xmlns:a16="http://schemas.microsoft.com/office/drawing/2014/main" id="{D59D9D6D-85FE-8848-BADF-9BCCDE86CDD1}"/>
              </a:ext>
            </a:extLst>
          </p:cNvPr>
          <p:cNvSpPr txBox="1"/>
          <p:nvPr/>
        </p:nvSpPr>
        <p:spPr>
          <a:xfrm>
            <a:off x="7539156" y="6227759"/>
            <a:ext cx="110490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>
                <a:latin typeface="Cambria Math"/>
                <a:cs typeface="Cambria Math"/>
              </a:rPr>
              <a:t>𝒓</a:t>
            </a:r>
            <a:r>
              <a:rPr sz="2800" spc="155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=</a:t>
            </a:r>
            <a:r>
              <a:rPr sz="2800" spc="160">
                <a:latin typeface="Cambria Math"/>
                <a:cs typeface="Cambria Math"/>
              </a:rPr>
              <a:t> </a:t>
            </a:r>
            <a:r>
              <a:rPr sz="2800" spc="-25">
                <a:latin typeface="Cambria Math"/>
                <a:cs typeface="Cambria Math"/>
              </a:rPr>
              <a:t>𝟏𝟎</a:t>
            </a:r>
            <a:endParaRPr sz="2800">
              <a:latin typeface="Cambria Math"/>
              <a:cs typeface="Cambria Math"/>
            </a:endParaRPr>
          </a:p>
        </p:txBody>
      </p:sp>
      <p:graphicFrame>
        <p:nvGraphicFramePr>
          <p:cNvPr id="15" name="object 4">
            <a:extLst>
              <a:ext uri="{FF2B5EF4-FFF2-40B4-BE49-F238E27FC236}">
                <a16:creationId xmlns:a16="http://schemas.microsoft.com/office/drawing/2014/main" id="{BDE5650F-94F2-B041-84A4-DB4F7F795488}"/>
              </a:ext>
            </a:extLst>
          </p:cNvPr>
          <p:cNvGraphicFramePr>
            <a:graphicFrameLocks noGrp="1"/>
          </p:cNvGraphicFramePr>
          <p:nvPr/>
        </p:nvGraphicFramePr>
        <p:xfrm>
          <a:off x="5723220" y="6030720"/>
          <a:ext cx="1727835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28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22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object 11">
            <a:extLst>
              <a:ext uri="{FF2B5EF4-FFF2-40B4-BE49-F238E27FC236}">
                <a16:creationId xmlns:a16="http://schemas.microsoft.com/office/drawing/2014/main" id="{EB032EC5-C184-8840-92C0-C2782E45EB87}"/>
              </a:ext>
            </a:extLst>
          </p:cNvPr>
          <p:cNvSpPr/>
          <p:nvPr/>
        </p:nvSpPr>
        <p:spPr>
          <a:xfrm>
            <a:off x="5755387" y="5848785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72"/>
                </a:moveTo>
                <a:lnTo>
                  <a:pt x="0" y="222872"/>
                </a:lnTo>
                <a:lnTo>
                  <a:pt x="57150" y="337172"/>
                </a:lnTo>
                <a:lnTo>
                  <a:pt x="104775" y="241922"/>
                </a:lnTo>
                <a:lnTo>
                  <a:pt x="38100" y="241922"/>
                </a:lnTo>
                <a:lnTo>
                  <a:pt x="38100" y="222872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22"/>
                </a:lnTo>
                <a:lnTo>
                  <a:pt x="76200" y="241922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72"/>
                </a:moveTo>
                <a:lnTo>
                  <a:pt x="76200" y="222872"/>
                </a:lnTo>
                <a:lnTo>
                  <a:pt x="76200" y="241922"/>
                </a:lnTo>
                <a:lnTo>
                  <a:pt x="104775" y="241922"/>
                </a:lnTo>
                <a:lnTo>
                  <a:pt x="114300" y="2228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3" name="object 12">
            <a:extLst>
              <a:ext uri="{FF2B5EF4-FFF2-40B4-BE49-F238E27FC236}">
                <a16:creationId xmlns:a16="http://schemas.microsoft.com/office/drawing/2014/main" id="{591CE335-D7DB-9748-BE01-BC6B0B1609A4}"/>
              </a:ext>
            </a:extLst>
          </p:cNvPr>
          <p:cNvSpPr txBox="1"/>
          <p:nvPr/>
        </p:nvSpPr>
        <p:spPr>
          <a:xfrm>
            <a:off x="4568190" y="5634156"/>
            <a:ext cx="15506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𝒒</a:t>
            </a:r>
            <a:r>
              <a:rPr sz="2800" spc="100">
                <a:solidFill>
                  <a:srgbClr val="FF0000"/>
                </a:solidFill>
                <a:latin typeface="Cambria Math"/>
                <a:cs typeface="Cambria Math"/>
              </a:rPr>
              <a:t> = </a:t>
            </a:r>
            <a:r>
              <a:rPr sz="2800" spc="19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r>
              <a:rPr sz="3300" spc="-37" baseline="40404">
                <a:solidFill>
                  <a:srgbClr val="FF0000"/>
                </a:solidFill>
                <a:latin typeface="PMingLiU"/>
                <a:cs typeface="PMingLiU"/>
              </a:rPr>
              <a:t>主元</a:t>
            </a:r>
            <a:endParaRPr sz="3300" baseline="40404">
              <a:solidFill>
                <a:srgbClr val="FF0000"/>
              </a:solidFill>
              <a:latin typeface="PMingLiU"/>
              <a:cs typeface="PMingLiU"/>
            </a:endParaRPr>
          </a:p>
        </p:txBody>
      </p:sp>
      <p:sp>
        <p:nvSpPr>
          <p:cNvPr id="26" name="object 13">
            <a:extLst>
              <a:ext uri="{FF2B5EF4-FFF2-40B4-BE49-F238E27FC236}">
                <a16:creationId xmlns:a16="http://schemas.microsoft.com/office/drawing/2014/main" id="{67164A4E-4582-A04A-8590-BA632CFF50B5}"/>
              </a:ext>
            </a:extLst>
          </p:cNvPr>
          <p:cNvSpPr/>
          <p:nvPr/>
        </p:nvSpPr>
        <p:spPr>
          <a:xfrm>
            <a:off x="7623047" y="5344775"/>
            <a:ext cx="4457065" cy="577850"/>
          </a:xfrm>
          <a:custGeom>
            <a:avLst/>
            <a:gdLst/>
            <a:ahLst/>
            <a:cxnLst/>
            <a:rect l="l" t="t" r="r" b="b"/>
            <a:pathLst>
              <a:path w="4457065" h="577850">
                <a:moveTo>
                  <a:pt x="4456938" y="0"/>
                </a:moveTo>
                <a:lnTo>
                  <a:pt x="0" y="0"/>
                </a:lnTo>
                <a:lnTo>
                  <a:pt x="0" y="577595"/>
                </a:lnTo>
                <a:lnTo>
                  <a:pt x="4456938" y="577595"/>
                </a:lnTo>
                <a:lnTo>
                  <a:pt x="445693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15">
            <a:extLst>
              <a:ext uri="{FF2B5EF4-FFF2-40B4-BE49-F238E27FC236}">
                <a16:creationId xmlns:a16="http://schemas.microsoft.com/office/drawing/2014/main" id="{84D442E0-7508-5F41-B655-70634C63850A}"/>
              </a:ext>
            </a:extLst>
          </p:cNvPr>
          <p:cNvSpPr txBox="1"/>
          <p:nvPr/>
        </p:nvSpPr>
        <p:spPr>
          <a:xfrm>
            <a:off x="7780781" y="5474540"/>
            <a:ext cx="414274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𝒒</a:t>
            </a:r>
            <a:r>
              <a:rPr sz="2800" spc="-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− 𝒑 +</a:t>
            </a:r>
            <a:r>
              <a:rPr sz="2800" spc="-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r>
              <a:rPr sz="2800" spc="16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2800" spc="15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𝟖</a:t>
            </a:r>
            <a:r>
              <a:rPr sz="2800" spc="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−</a:t>
            </a:r>
            <a:r>
              <a:rPr sz="2800" spc="-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𝟖</a:t>
            </a:r>
            <a:r>
              <a:rPr sz="2800" spc="5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+ 𝟏</a:t>
            </a:r>
            <a:r>
              <a:rPr sz="2800" spc="16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>
                <a:solidFill>
                  <a:srgbClr val="FFFFFF"/>
                </a:solidFill>
                <a:latin typeface="Cambria Math"/>
                <a:cs typeface="Cambria Math"/>
              </a:rPr>
              <a:t>=</a:t>
            </a:r>
            <a:r>
              <a:rPr sz="2800" spc="150">
                <a:solidFill>
                  <a:srgbClr val="FFFFFF"/>
                </a:solidFill>
                <a:latin typeface="Cambria Math"/>
                <a:cs typeface="Cambria Math"/>
              </a:rPr>
              <a:t> </a:t>
            </a:r>
            <a:r>
              <a:rPr sz="2800" spc="-5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endParaRPr sz="28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396541015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BB9EBC17-F700-CB44-BE44-12E8F77DE7B1}"/>
              </a:ext>
            </a:extLst>
          </p:cNvPr>
          <p:cNvSpPr txBox="1"/>
          <p:nvPr/>
        </p:nvSpPr>
        <p:spPr>
          <a:xfrm>
            <a:off x="688340" y="1146569"/>
            <a:ext cx="11503660" cy="1896673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选取固定位置主元</a:t>
            </a:r>
            <a:endParaRPr sz="28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6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=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𝑨[𝒒]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为数组第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𝟐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&lt;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在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𝑨[𝒑</a:t>
            </a:r>
            <a:r>
              <a:rPr sz="2400" spc="-7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. .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</a:t>
            </a:r>
            <a:r>
              <a:rPr sz="2400" spc="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−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中寻找第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  <a:p>
            <a:pPr marL="704215" lvl="1" indent="-347980">
              <a:lnSpc>
                <a:spcPct val="100000"/>
              </a:lnSpc>
              <a:spcBef>
                <a:spcPts val="575"/>
              </a:spcBef>
              <a:buClr>
                <a:srgbClr val="DAB6FB"/>
              </a:buClr>
              <a:buSzPct val="68750"/>
              <a:buFont typeface="Wingdings"/>
              <a:buChar char=""/>
              <a:tabLst>
                <a:tab pos="704215" algn="l"/>
                <a:tab pos="704850" algn="l"/>
              </a:tabLst>
            </a:pP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情况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𝟑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：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8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&gt;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 − 𝒑 + 𝟏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，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在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𝑨[𝒒</a:t>
            </a:r>
            <a:r>
              <a:rPr sz="2400" spc="-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+ 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𝟏.</a:t>
            </a:r>
            <a:r>
              <a:rPr sz="2400" spc="-9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 . </a:t>
            </a:r>
            <a:r>
              <a:rPr sz="2400" spc="-1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𝒓]</a:t>
            </a:r>
            <a:r>
              <a:rPr sz="240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中寻找第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𝒌</a:t>
            </a:r>
            <a:r>
              <a:rPr sz="2400" spc="-5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−(</a:t>
            </a:r>
            <a:r>
              <a:rPr sz="2400" dirty="0">
                <a:latin typeface="SimSun" panose="02010600030101010101" pitchFamily="2" charset="-122"/>
                <a:ea typeface="SimSun" panose="02010600030101010101" pitchFamily="2" charset="-122"/>
                <a:cs typeface="Cambria Math"/>
              </a:rPr>
              <a:t>𝒒−𝒑+𝟏)</a:t>
            </a:r>
            <a:r>
              <a:rPr sz="2400" spc="-2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小元素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4402BF0-E862-CE4A-8B6B-7E81E1DA0E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6902" y="219898"/>
            <a:ext cx="3715114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算法实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2F16BFB1-E34D-F842-94D4-900343E48926}"/>
              </a:ext>
            </a:extLst>
          </p:cNvPr>
          <p:cNvGraphicFramePr>
            <a:graphicFrameLocks noGrp="1"/>
          </p:cNvGraphicFramePr>
          <p:nvPr/>
        </p:nvGraphicFramePr>
        <p:xfrm>
          <a:off x="1573275" y="3135740"/>
          <a:ext cx="921511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13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14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>
                          <a:latin typeface="Times New Roman"/>
                          <a:cs typeface="Times New Roman"/>
                        </a:rPr>
                        <a:t>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dirty="0">
                          <a:latin typeface="Times New Roman"/>
                          <a:cs typeface="Times New Roman"/>
                        </a:rPr>
                        <a:t>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52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37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object 6">
            <a:extLst>
              <a:ext uri="{FF2B5EF4-FFF2-40B4-BE49-F238E27FC236}">
                <a16:creationId xmlns:a16="http://schemas.microsoft.com/office/drawing/2014/main" id="{EB145031-0004-8745-8EBB-F25B1A1AB799}"/>
              </a:ext>
            </a:extLst>
          </p:cNvPr>
          <p:cNvSpPr/>
          <p:nvPr/>
        </p:nvSpPr>
        <p:spPr>
          <a:xfrm>
            <a:off x="4693158" y="3744685"/>
            <a:ext cx="3235960" cy="619760"/>
          </a:xfrm>
          <a:custGeom>
            <a:avLst/>
            <a:gdLst/>
            <a:ahLst/>
            <a:cxnLst/>
            <a:rect l="l" t="t" r="r" b="b"/>
            <a:pathLst>
              <a:path w="3235959" h="619760">
                <a:moveTo>
                  <a:pt x="0" y="0"/>
                </a:moveTo>
                <a:lnTo>
                  <a:pt x="3235960" y="619759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1" name="object 8">
            <a:extLst>
              <a:ext uri="{FF2B5EF4-FFF2-40B4-BE49-F238E27FC236}">
                <a16:creationId xmlns:a16="http://schemas.microsoft.com/office/drawing/2014/main" id="{5991C6AD-EC78-B94F-AF84-3ED46F172762}"/>
              </a:ext>
            </a:extLst>
          </p:cNvPr>
          <p:cNvGraphicFramePr>
            <a:graphicFrameLocks noGrp="1"/>
          </p:cNvGraphicFramePr>
          <p:nvPr/>
        </p:nvGraphicFramePr>
        <p:xfrm>
          <a:off x="5029580" y="4384838"/>
          <a:ext cx="5759448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24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40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47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52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42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48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object 8">
            <a:extLst>
              <a:ext uri="{FF2B5EF4-FFF2-40B4-BE49-F238E27FC236}">
                <a16:creationId xmlns:a16="http://schemas.microsoft.com/office/drawing/2014/main" id="{341CAADE-1B3F-3646-AEC7-F1934D6A622D}"/>
              </a:ext>
            </a:extLst>
          </p:cNvPr>
          <p:cNvSpPr/>
          <p:nvPr/>
        </p:nvSpPr>
        <p:spPr>
          <a:xfrm rot="683201">
            <a:off x="5939895" y="4811157"/>
            <a:ext cx="1728470" cy="554990"/>
          </a:xfrm>
          <a:custGeom>
            <a:avLst/>
            <a:gdLst/>
            <a:ahLst/>
            <a:cxnLst/>
            <a:rect l="l" t="t" r="r" b="b"/>
            <a:pathLst>
              <a:path w="1728470" h="554989">
                <a:moveTo>
                  <a:pt x="1728216" y="0"/>
                </a:moveTo>
                <a:lnTo>
                  <a:pt x="0" y="554989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7" name="object 4">
            <a:extLst>
              <a:ext uri="{FF2B5EF4-FFF2-40B4-BE49-F238E27FC236}">
                <a16:creationId xmlns:a16="http://schemas.microsoft.com/office/drawing/2014/main" id="{57F96FDA-4E9E-FD49-9D9A-4F127A4D3052}"/>
              </a:ext>
            </a:extLst>
          </p:cNvPr>
          <p:cNvGraphicFramePr>
            <a:graphicFrameLocks noGrp="1"/>
          </p:cNvGraphicFramePr>
          <p:nvPr/>
        </p:nvGraphicFramePr>
        <p:xfrm>
          <a:off x="4729131" y="5216594"/>
          <a:ext cx="2303779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21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28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22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87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object 4">
            <a:extLst>
              <a:ext uri="{FF2B5EF4-FFF2-40B4-BE49-F238E27FC236}">
                <a16:creationId xmlns:a16="http://schemas.microsoft.com/office/drawing/2014/main" id="{1A392A8F-41D1-3048-8C16-AF333EE6FC44}"/>
              </a:ext>
            </a:extLst>
          </p:cNvPr>
          <p:cNvGraphicFramePr>
            <a:graphicFrameLocks noGrp="1"/>
          </p:cNvGraphicFramePr>
          <p:nvPr/>
        </p:nvGraphicFramePr>
        <p:xfrm>
          <a:off x="5723220" y="6030720"/>
          <a:ext cx="1727835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28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22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object 10">
            <a:extLst>
              <a:ext uri="{FF2B5EF4-FFF2-40B4-BE49-F238E27FC236}">
                <a16:creationId xmlns:a16="http://schemas.microsoft.com/office/drawing/2014/main" id="{B7EA5B16-ED04-1D48-9C97-CB3850134707}"/>
              </a:ext>
            </a:extLst>
          </p:cNvPr>
          <p:cNvSpPr/>
          <p:nvPr/>
        </p:nvSpPr>
        <p:spPr>
          <a:xfrm rot="18710896">
            <a:off x="6083588" y="5577731"/>
            <a:ext cx="288290" cy="666750"/>
          </a:xfrm>
          <a:custGeom>
            <a:avLst/>
            <a:gdLst/>
            <a:ahLst/>
            <a:cxnLst/>
            <a:rect l="l" t="t" r="r" b="b"/>
            <a:pathLst>
              <a:path w="288289" h="666750">
                <a:moveTo>
                  <a:pt x="0" y="0"/>
                </a:moveTo>
                <a:lnTo>
                  <a:pt x="288036" y="666686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11">
            <a:extLst>
              <a:ext uri="{FF2B5EF4-FFF2-40B4-BE49-F238E27FC236}">
                <a16:creationId xmlns:a16="http://schemas.microsoft.com/office/drawing/2014/main" id="{4B518AC7-6535-B34A-AD0B-6FCCB5F1AE2B}"/>
              </a:ext>
            </a:extLst>
          </p:cNvPr>
          <p:cNvSpPr/>
          <p:nvPr/>
        </p:nvSpPr>
        <p:spPr>
          <a:xfrm>
            <a:off x="2058161" y="6190487"/>
            <a:ext cx="2552700" cy="577850"/>
          </a:xfrm>
          <a:custGeom>
            <a:avLst/>
            <a:gdLst/>
            <a:ahLst/>
            <a:cxnLst/>
            <a:rect l="l" t="t" r="r" b="b"/>
            <a:pathLst>
              <a:path w="2552700" h="577850">
                <a:moveTo>
                  <a:pt x="2552700" y="0"/>
                </a:moveTo>
                <a:lnTo>
                  <a:pt x="0" y="0"/>
                </a:lnTo>
                <a:lnTo>
                  <a:pt x="0" y="577596"/>
                </a:lnTo>
                <a:lnTo>
                  <a:pt x="2552700" y="577596"/>
                </a:lnTo>
                <a:lnTo>
                  <a:pt x="255270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2">
            <a:extLst>
              <a:ext uri="{FF2B5EF4-FFF2-40B4-BE49-F238E27FC236}">
                <a16:creationId xmlns:a16="http://schemas.microsoft.com/office/drawing/2014/main" id="{40077156-5095-134F-8F9E-0BD86C230925}"/>
              </a:ext>
            </a:extLst>
          </p:cNvPr>
          <p:cNvSpPr txBox="1"/>
          <p:nvPr/>
        </p:nvSpPr>
        <p:spPr>
          <a:xfrm>
            <a:off x="2136901" y="6279290"/>
            <a:ext cx="2373630" cy="462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65"/>
              </a:lnSpc>
            </a:pPr>
            <a:r>
              <a:rPr sz="2800">
                <a:solidFill>
                  <a:srgbClr val="FFFFFF"/>
                </a:solidFill>
                <a:latin typeface="PMingLiU"/>
                <a:cs typeface="PMingLiU"/>
              </a:rPr>
              <a:t>查找第</a:t>
            </a:r>
            <a:r>
              <a:rPr sz="2800" spc="-10">
                <a:solidFill>
                  <a:srgbClr val="FFFFFF"/>
                </a:solidFill>
                <a:latin typeface="Cambria Math"/>
                <a:cs typeface="Cambria Math"/>
              </a:rPr>
              <a:t>𝟏</a:t>
            </a:r>
            <a:r>
              <a:rPr sz="2800" spc="-20">
                <a:solidFill>
                  <a:srgbClr val="FFFFFF"/>
                </a:solidFill>
                <a:latin typeface="PMingLiU"/>
                <a:cs typeface="PMingLiU"/>
              </a:rPr>
              <a:t>小元素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30" name="object 13">
            <a:extLst>
              <a:ext uri="{FF2B5EF4-FFF2-40B4-BE49-F238E27FC236}">
                <a16:creationId xmlns:a16="http://schemas.microsoft.com/office/drawing/2014/main" id="{A0359944-4012-1241-BAD1-321E79521982}"/>
              </a:ext>
            </a:extLst>
          </p:cNvPr>
          <p:cNvSpPr txBox="1"/>
          <p:nvPr/>
        </p:nvSpPr>
        <p:spPr>
          <a:xfrm>
            <a:off x="4730931" y="6227759"/>
            <a:ext cx="922019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>
                <a:latin typeface="Cambria Math"/>
                <a:cs typeface="Cambria Math"/>
              </a:rPr>
              <a:t>𝒑</a:t>
            </a:r>
            <a:r>
              <a:rPr sz="2800" spc="160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=</a:t>
            </a:r>
            <a:r>
              <a:rPr sz="2800" spc="150">
                <a:latin typeface="Cambria Math"/>
                <a:cs typeface="Cambria Math"/>
              </a:rPr>
              <a:t> </a:t>
            </a:r>
            <a:r>
              <a:rPr sz="2800" spc="-50">
                <a:latin typeface="Cambria Math"/>
                <a:cs typeface="Cambria Math"/>
              </a:rPr>
              <a:t>𝟖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1" name="object 14">
            <a:extLst>
              <a:ext uri="{FF2B5EF4-FFF2-40B4-BE49-F238E27FC236}">
                <a16:creationId xmlns:a16="http://schemas.microsoft.com/office/drawing/2014/main" id="{D59D9D6D-85FE-8848-BADF-9BCCDE86CDD1}"/>
              </a:ext>
            </a:extLst>
          </p:cNvPr>
          <p:cNvSpPr txBox="1"/>
          <p:nvPr/>
        </p:nvSpPr>
        <p:spPr>
          <a:xfrm>
            <a:off x="7539156" y="6227759"/>
            <a:ext cx="110490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800">
                <a:latin typeface="Cambria Math"/>
                <a:cs typeface="Cambria Math"/>
              </a:rPr>
              <a:t>𝒓</a:t>
            </a:r>
            <a:r>
              <a:rPr sz="2800" spc="155">
                <a:latin typeface="Cambria Math"/>
                <a:cs typeface="Cambria Math"/>
              </a:rPr>
              <a:t> </a:t>
            </a:r>
            <a:r>
              <a:rPr sz="2800">
                <a:latin typeface="Cambria Math"/>
                <a:cs typeface="Cambria Math"/>
              </a:rPr>
              <a:t>=</a:t>
            </a:r>
            <a:r>
              <a:rPr sz="2800" spc="160">
                <a:latin typeface="Cambria Math"/>
                <a:cs typeface="Cambria Math"/>
              </a:rPr>
              <a:t> </a:t>
            </a:r>
            <a:r>
              <a:rPr sz="2800" spc="-25">
                <a:latin typeface="Cambria Math"/>
                <a:cs typeface="Cambria Math"/>
              </a:rPr>
              <a:t>𝟏𝟎</a:t>
            </a:r>
            <a:endParaRPr sz="2800">
              <a:latin typeface="Cambria Math"/>
              <a:cs typeface="Cambria Math"/>
            </a:endParaRPr>
          </a:p>
        </p:txBody>
      </p:sp>
      <p:graphicFrame>
        <p:nvGraphicFramePr>
          <p:cNvPr id="15" name="object 4">
            <a:extLst>
              <a:ext uri="{FF2B5EF4-FFF2-40B4-BE49-F238E27FC236}">
                <a16:creationId xmlns:a16="http://schemas.microsoft.com/office/drawing/2014/main" id="{BDE5650F-94F2-B041-84A4-DB4F7F795488}"/>
              </a:ext>
            </a:extLst>
          </p:cNvPr>
          <p:cNvGraphicFramePr>
            <a:graphicFrameLocks noGrp="1"/>
          </p:cNvGraphicFramePr>
          <p:nvPr/>
        </p:nvGraphicFramePr>
        <p:xfrm>
          <a:off x="5723220" y="6030720"/>
          <a:ext cx="1727835" cy="576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580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>
                          <a:latin typeface="Times New Roman"/>
                          <a:cs typeface="Times New Roman"/>
                        </a:rPr>
                        <a:t>24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latin typeface="Times New Roman"/>
                          <a:cs typeface="Times New Roman"/>
                        </a:rPr>
                        <a:t>28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26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22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object 11">
            <a:extLst>
              <a:ext uri="{FF2B5EF4-FFF2-40B4-BE49-F238E27FC236}">
                <a16:creationId xmlns:a16="http://schemas.microsoft.com/office/drawing/2014/main" id="{EB032EC5-C184-8840-92C0-C2782E45EB87}"/>
              </a:ext>
            </a:extLst>
          </p:cNvPr>
          <p:cNvSpPr/>
          <p:nvPr/>
        </p:nvSpPr>
        <p:spPr>
          <a:xfrm>
            <a:off x="5755387" y="5848785"/>
            <a:ext cx="114300" cy="337185"/>
          </a:xfrm>
          <a:custGeom>
            <a:avLst/>
            <a:gdLst/>
            <a:ahLst/>
            <a:cxnLst/>
            <a:rect l="l" t="t" r="r" b="b"/>
            <a:pathLst>
              <a:path w="114300" h="337185">
                <a:moveTo>
                  <a:pt x="38100" y="222872"/>
                </a:moveTo>
                <a:lnTo>
                  <a:pt x="0" y="222872"/>
                </a:lnTo>
                <a:lnTo>
                  <a:pt x="57150" y="337172"/>
                </a:lnTo>
                <a:lnTo>
                  <a:pt x="104775" y="241922"/>
                </a:lnTo>
                <a:lnTo>
                  <a:pt x="38100" y="241922"/>
                </a:lnTo>
                <a:lnTo>
                  <a:pt x="38100" y="222872"/>
                </a:lnTo>
                <a:close/>
              </a:path>
              <a:path w="114300" h="337185">
                <a:moveTo>
                  <a:pt x="76200" y="0"/>
                </a:moveTo>
                <a:lnTo>
                  <a:pt x="38100" y="0"/>
                </a:lnTo>
                <a:lnTo>
                  <a:pt x="38100" y="241922"/>
                </a:lnTo>
                <a:lnTo>
                  <a:pt x="76200" y="241922"/>
                </a:lnTo>
                <a:lnTo>
                  <a:pt x="76200" y="0"/>
                </a:lnTo>
                <a:close/>
              </a:path>
              <a:path w="114300" h="337185">
                <a:moveTo>
                  <a:pt x="114300" y="222872"/>
                </a:moveTo>
                <a:lnTo>
                  <a:pt x="76200" y="222872"/>
                </a:lnTo>
                <a:lnTo>
                  <a:pt x="76200" y="241922"/>
                </a:lnTo>
                <a:lnTo>
                  <a:pt x="104775" y="241922"/>
                </a:lnTo>
                <a:lnTo>
                  <a:pt x="114300" y="2228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srgbClr val="FF0000"/>
              </a:solidFill>
            </a:endParaRPr>
          </a:p>
        </p:txBody>
      </p:sp>
      <p:sp>
        <p:nvSpPr>
          <p:cNvPr id="23" name="object 12">
            <a:extLst>
              <a:ext uri="{FF2B5EF4-FFF2-40B4-BE49-F238E27FC236}">
                <a16:creationId xmlns:a16="http://schemas.microsoft.com/office/drawing/2014/main" id="{591CE335-D7DB-9748-BE01-BC6B0B1609A4}"/>
              </a:ext>
            </a:extLst>
          </p:cNvPr>
          <p:cNvSpPr txBox="1"/>
          <p:nvPr/>
        </p:nvSpPr>
        <p:spPr>
          <a:xfrm>
            <a:off x="4568190" y="5634156"/>
            <a:ext cx="15506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>
                <a:solidFill>
                  <a:srgbClr val="FF0000"/>
                </a:solidFill>
                <a:latin typeface="Cambria Math"/>
                <a:cs typeface="Cambria Math"/>
              </a:rPr>
              <a:t>𝒒</a:t>
            </a:r>
            <a:r>
              <a:rPr sz="2800" spc="100">
                <a:solidFill>
                  <a:srgbClr val="FF0000"/>
                </a:solidFill>
                <a:latin typeface="Cambria Math"/>
                <a:cs typeface="Cambria Math"/>
              </a:rPr>
              <a:t> = </a:t>
            </a:r>
            <a:r>
              <a:rPr sz="2800" spc="190">
                <a:solidFill>
                  <a:srgbClr val="FF0000"/>
                </a:solidFill>
                <a:latin typeface="Cambria Math"/>
                <a:cs typeface="Cambria Math"/>
              </a:rPr>
              <a:t>𝟖</a:t>
            </a:r>
            <a:r>
              <a:rPr sz="3300" spc="-37" baseline="40404">
                <a:solidFill>
                  <a:srgbClr val="FF0000"/>
                </a:solidFill>
                <a:latin typeface="PMingLiU"/>
                <a:cs typeface="PMingLiU"/>
              </a:rPr>
              <a:t>主元</a:t>
            </a:r>
            <a:endParaRPr sz="3300" baseline="40404">
              <a:solidFill>
                <a:srgbClr val="FF0000"/>
              </a:solidFill>
              <a:latin typeface="PMingLiU"/>
              <a:cs typeface="PMingLiU"/>
            </a:endParaRPr>
          </a:p>
        </p:txBody>
      </p:sp>
      <p:sp>
        <p:nvSpPr>
          <p:cNvPr id="32" name="object 13">
            <a:extLst>
              <a:ext uri="{FF2B5EF4-FFF2-40B4-BE49-F238E27FC236}">
                <a16:creationId xmlns:a16="http://schemas.microsoft.com/office/drawing/2014/main" id="{1DCA31A4-EEDD-3840-8F9A-6EA9EA62D9F5}"/>
              </a:ext>
            </a:extLst>
          </p:cNvPr>
          <p:cNvSpPr/>
          <p:nvPr/>
        </p:nvSpPr>
        <p:spPr>
          <a:xfrm>
            <a:off x="5663185" y="5975711"/>
            <a:ext cx="676910" cy="707390"/>
          </a:xfrm>
          <a:custGeom>
            <a:avLst/>
            <a:gdLst/>
            <a:ahLst/>
            <a:cxnLst/>
            <a:rect l="l" t="t" r="r" b="b"/>
            <a:pathLst>
              <a:path w="676910" h="707390">
                <a:moveTo>
                  <a:pt x="0" y="112776"/>
                </a:moveTo>
                <a:lnTo>
                  <a:pt x="8870" y="68880"/>
                </a:lnTo>
                <a:lnTo>
                  <a:pt x="33051" y="33032"/>
                </a:lnTo>
                <a:lnTo>
                  <a:pt x="68901" y="8863"/>
                </a:lnTo>
                <a:lnTo>
                  <a:pt x="112775" y="0"/>
                </a:lnTo>
                <a:lnTo>
                  <a:pt x="563879" y="0"/>
                </a:lnTo>
                <a:lnTo>
                  <a:pt x="607754" y="8863"/>
                </a:lnTo>
                <a:lnTo>
                  <a:pt x="643604" y="33032"/>
                </a:lnTo>
                <a:lnTo>
                  <a:pt x="667785" y="68880"/>
                </a:lnTo>
                <a:lnTo>
                  <a:pt x="676655" y="112776"/>
                </a:lnTo>
                <a:lnTo>
                  <a:pt x="676655" y="594357"/>
                </a:lnTo>
                <a:lnTo>
                  <a:pt x="667785" y="638255"/>
                </a:lnTo>
                <a:lnTo>
                  <a:pt x="643604" y="674103"/>
                </a:lnTo>
                <a:lnTo>
                  <a:pt x="607754" y="698272"/>
                </a:lnTo>
                <a:lnTo>
                  <a:pt x="563879" y="707135"/>
                </a:lnTo>
                <a:lnTo>
                  <a:pt x="112775" y="707135"/>
                </a:lnTo>
                <a:lnTo>
                  <a:pt x="68901" y="698272"/>
                </a:lnTo>
                <a:lnTo>
                  <a:pt x="33051" y="674103"/>
                </a:lnTo>
                <a:lnTo>
                  <a:pt x="8870" y="638255"/>
                </a:lnTo>
                <a:lnTo>
                  <a:pt x="0" y="594357"/>
                </a:lnTo>
                <a:lnTo>
                  <a:pt x="0" y="112776"/>
                </a:lnTo>
                <a:close/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62131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A8BF4DE4-CE57-0A43-943D-BC4641A2E7FC}"/>
              </a:ext>
            </a:extLst>
          </p:cNvPr>
          <p:cNvSpPr txBox="1"/>
          <p:nvPr/>
        </p:nvSpPr>
        <p:spPr>
          <a:xfrm>
            <a:off x="648680" y="993579"/>
            <a:ext cx="28822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dirty="0">
                <a:latin typeface="Times New Roman"/>
                <a:cs typeface="Times New Roman"/>
              </a:rPr>
              <a:t>Partition(</a:t>
            </a:r>
            <a:r>
              <a:rPr sz="2800" dirty="0">
                <a:latin typeface="Cambria Math"/>
                <a:cs typeface="Cambria Math"/>
              </a:rPr>
              <a:t>𝑨,</a:t>
            </a:r>
            <a:r>
              <a:rPr sz="2800" spc="-1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𝒑,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𝒓</a:t>
            </a:r>
            <a:r>
              <a:rPr sz="2800" b="1" spc="-2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FE3E191-7E24-4641-90A4-90F15B2BBD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5708" y="191331"/>
            <a:ext cx="644525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固定位置划分：伪代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733BCD36-1DBB-9F47-B184-9B8A7860DDFF}"/>
              </a:ext>
            </a:extLst>
          </p:cNvPr>
          <p:cNvSpPr/>
          <p:nvPr/>
        </p:nvSpPr>
        <p:spPr>
          <a:xfrm>
            <a:off x="1036319" y="2252472"/>
            <a:ext cx="3972560" cy="483234"/>
          </a:xfrm>
          <a:custGeom>
            <a:avLst/>
            <a:gdLst/>
            <a:ahLst/>
            <a:cxnLst/>
            <a:rect l="l" t="t" r="r" b="b"/>
            <a:pathLst>
              <a:path w="3972560" h="483234">
                <a:moveTo>
                  <a:pt x="0" y="80517"/>
                </a:moveTo>
                <a:lnTo>
                  <a:pt x="6328" y="49184"/>
                </a:lnTo>
                <a:lnTo>
                  <a:pt x="23585" y="23590"/>
                </a:lnTo>
                <a:lnTo>
                  <a:pt x="49179" y="6330"/>
                </a:lnTo>
                <a:lnTo>
                  <a:pt x="80518" y="0"/>
                </a:lnTo>
                <a:lnTo>
                  <a:pt x="3891788" y="0"/>
                </a:lnTo>
                <a:lnTo>
                  <a:pt x="3923121" y="6330"/>
                </a:lnTo>
                <a:lnTo>
                  <a:pt x="3948715" y="23590"/>
                </a:lnTo>
                <a:lnTo>
                  <a:pt x="3965975" y="49184"/>
                </a:lnTo>
                <a:lnTo>
                  <a:pt x="3972305" y="80517"/>
                </a:lnTo>
                <a:lnTo>
                  <a:pt x="3972305" y="402589"/>
                </a:lnTo>
                <a:lnTo>
                  <a:pt x="3965975" y="433923"/>
                </a:lnTo>
                <a:lnTo>
                  <a:pt x="3948715" y="459517"/>
                </a:lnTo>
                <a:lnTo>
                  <a:pt x="3923121" y="476777"/>
                </a:lnTo>
                <a:lnTo>
                  <a:pt x="3891788" y="483107"/>
                </a:lnTo>
                <a:lnTo>
                  <a:pt x="80518" y="483107"/>
                </a:lnTo>
                <a:lnTo>
                  <a:pt x="49179" y="476777"/>
                </a:lnTo>
                <a:lnTo>
                  <a:pt x="23585" y="459517"/>
                </a:lnTo>
                <a:lnTo>
                  <a:pt x="6328" y="433923"/>
                </a:lnTo>
                <a:lnTo>
                  <a:pt x="0" y="402589"/>
                </a:lnTo>
                <a:lnTo>
                  <a:pt x="0" y="80517"/>
                </a:lnTo>
                <a:close/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D37400F9-706F-1440-8A64-9C11A42D1431}"/>
              </a:ext>
            </a:extLst>
          </p:cNvPr>
          <p:cNvSpPr txBox="1"/>
          <p:nvPr/>
        </p:nvSpPr>
        <p:spPr>
          <a:xfrm>
            <a:off x="8319134" y="2252852"/>
            <a:ext cx="1586230" cy="483234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233679">
              <a:lnSpc>
                <a:spcPct val="100000"/>
              </a:lnSpc>
              <a:spcBef>
                <a:spcPts val="525"/>
              </a:spcBef>
            </a:pPr>
            <a:r>
              <a:rPr sz="2200" spc="-15">
                <a:latin typeface="PMingLiU"/>
                <a:cs typeface="PMingLiU"/>
              </a:rPr>
              <a:t>选取主元</a:t>
            </a:r>
            <a:endParaRPr sz="2200">
              <a:latin typeface="PMingLiU"/>
              <a:cs typeface="PMingLiU"/>
            </a:endParaRPr>
          </a:p>
        </p:txBody>
      </p:sp>
      <p:pic>
        <p:nvPicPr>
          <p:cNvPr id="7" name="object 6">
            <a:extLst>
              <a:ext uri="{FF2B5EF4-FFF2-40B4-BE49-F238E27FC236}">
                <a16:creationId xmlns:a16="http://schemas.microsoft.com/office/drawing/2014/main" id="{FD6B7084-3BFA-B34A-BD3F-2F2C769D9FF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61743" y="1485523"/>
            <a:ext cx="11062716" cy="5128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0105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A8BF4DE4-CE57-0A43-943D-BC4641A2E7FC}"/>
              </a:ext>
            </a:extLst>
          </p:cNvPr>
          <p:cNvSpPr txBox="1"/>
          <p:nvPr/>
        </p:nvSpPr>
        <p:spPr>
          <a:xfrm>
            <a:off x="648680" y="993579"/>
            <a:ext cx="28822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dirty="0">
                <a:latin typeface="Times New Roman"/>
                <a:cs typeface="Times New Roman"/>
              </a:rPr>
              <a:t>Partition(</a:t>
            </a:r>
            <a:r>
              <a:rPr sz="2800" dirty="0">
                <a:latin typeface="Cambria Math"/>
                <a:cs typeface="Cambria Math"/>
              </a:rPr>
              <a:t>𝑨,</a:t>
            </a:r>
            <a:r>
              <a:rPr sz="2800" spc="-1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𝒑,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𝒓</a:t>
            </a:r>
            <a:r>
              <a:rPr sz="2800" b="1" spc="-2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FE3E191-7E24-4641-90A4-90F15B2BBD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5708" y="191331"/>
            <a:ext cx="644525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固定位置划分：伪代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8" name="object 6">
            <a:extLst>
              <a:ext uri="{FF2B5EF4-FFF2-40B4-BE49-F238E27FC236}">
                <a16:creationId xmlns:a16="http://schemas.microsoft.com/office/drawing/2014/main" id="{84276C11-C709-2C44-95F3-2FBD7ABBEAB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61743" y="1472460"/>
            <a:ext cx="11062716" cy="5128895"/>
          </a:xfrm>
          <a:prstGeom prst="rect">
            <a:avLst/>
          </a:prstGeom>
        </p:spPr>
      </p:pic>
      <p:sp>
        <p:nvSpPr>
          <p:cNvPr id="9" name="object 4">
            <a:extLst>
              <a:ext uri="{FF2B5EF4-FFF2-40B4-BE49-F238E27FC236}">
                <a16:creationId xmlns:a16="http://schemas.microsoft.com/office/drawing/2014/main" id="{A98E1D12-DB3F-9045-B547-9A9384D8FB14}"/>
              </a:ext>
            </a:extLst>
          </p:cNvPr>
          <p:cNvSpPr/>
          <p:nvPr/>
        </p:nvSpPr>
        <p:spPr>
          <a:xfrm>
            <a:off x="1023256" y="2695629"/>
            <a:ext cx="2333898" cy="452520"/>
          </a:xfrm>
          <a:custGeom>
            <a:avLst/>
            <a:gdLst/>
            <a:ahLst/>
            <a:cxnLst/>
            <a:rect l="l" t="t" r="r" b="b"/>
            <a:pathLst>
              <a:path w="3972560" h="482600">
                <a:moveTo>
                  <a:pt x="0" y="80391"/>
                </a:moveTo>
                <a:lnTo>
                  <a:pt x="6317" y="49077"/>
                </a:lnTo>
                <a:lnTo>
                  <a:pt x="23545" y="23526"/>
                </a:lnTo>
                <a:lnTo>
                  <a:pt x="49098" y="6310"/>
                </a:lnTo>
                <a:lnTo>
                  <a:pt x="80391" y="0"/>
                </a:lnTo>
                <a:lnTo>
                  <a:pt x="3891915" y="0"/>
                </a:lnTo>
                <a:lnTo>
                  <a:pt x="3923228" y="6310"/>
                </a:lnTo>
                <a:lnTo>
                  <a:pt x="3948779" y="23526"/>
                </a:lnTo>
                <a:lnTo>
                  <a:pt x="3965995" y="49077"/>
                </a:lnTo>
                <a:lnTo>
                  <a:pt x="3972305" y="80391"/>
                </a:lnTo>
                <a:lnTo>
                  <a:pt x="3972305" y="401955"/>
                </a:lnTo>
                <a:lnTo>
                  <a:pt x="3965995" y="433268"/>
                </a:lnTo>
                <a:lnTo>
                  <a:pt x="3948779" y="458819"/>
                </a:lnTo>
                <a:lnTo>
                  <a:pt x="3923228" y="476035"/>
                </a:lnTo>
                <a:lnTo>
                  <a:pt x="3891915" y="482346"/>
                </a:lnTo>
                <a:lnTo>
                  <a:pt x="80391" y="482346"/>
                </a:lnTo>
                <a:lnTo>
                  <a:pt x="49098" y="476035"/>
                </a:lnTo>
                <a:lnTo>
                  <a:pt x="23545" y="458819"/>
                </a:lnTo>
                <a:lnTo>
                  <a:pt x="6317" y="433268"/>
                </a:lnTo>
                <a:lnTo>
                  <a:pt x="0" y="401955"/>
                </a:lnTo>
                <a:lnTo>
                  <a:pt x="0" y="80391"/>
                </a:lnTo>
                <a:close/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536D1942-C3CD-1F4F-8CCD-3DF09ECC3D2C}"/>
              </a:ext>
            </a:extLst>
          </p:cNvPr>
          <p:cNvSpPr txBox="1"/>
          <p:nvPr/>
        </p:nvSpPr>
        <p:spPr>
          <a:xfrm>
            <a:off x="8306071" y="2696010"/>
            <a:ext cx="1830706" cy="405880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93345" algn="ctr">
              <a:lnSpc>
                <a:spcPct val="100000"/>
              </a:lnSpc>
              <a:spcBef>
                <a:spcPts val="525"/>
              </a:spcBef>
            </a:pPr>
            <a:r>
              <a:rPr sz="2200" spc="-10" dirty="0" err="1">
                <a:latin typeface="SimSun" panose="02010600030101010101" pitchFamily="2" charset="-122"/>
                <a:ea typeface="SimSun" panose="02010600030101010101" pitchFamily="2" charset="-122"/>
                <a:cs typeface="PMingLiU"/>
              </a:rPr>
              <a:t>初始化下标</a:t>
            </a:r>
            <a:endParaRPr sz="2200" dirty="0">
              <a:latin typeface="SimSun" panose="02010600030101010101" pitchFamily="2" charset="-122"/>
              <a:ea typeface="SimSun" panose="02010600030101010101" pitchFamily="2" charset="-122"/>
              <a:cs typeface="PMingLiU"/>
            </a:endParaRPr>
          </a:p>
        </p:txBody>
      </p:sp>
    </p:spTree>
    <p:extLst>
      <p:ext uri="{BB962C8B-B14F-4D97-AF65-F5344CB8AC3E}">
        <p14:creationId xmlns:p14="http://schemas.microsoft.com/office/powerpoint/2010/main" val="168100070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A8BF4DE4-CE57-0A43-943D-BC4641A2E7FC}"/>
              </a:ext>
            </a:extLst>
          </p:cNvPr>
          <p:cNvSpPr txBox="1"/>
          <p:nvPr/>
        </p:nvSpPr>
        <p:spPr>
          <a:xfrm>
            <a:off x="648680" y="993579"/>
            <a:ext cx="28822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dirty="0">
                <a:latin typeface="Times New Roman"/>
                <a:cs typeface="Times New Roman"/>
              </a:rPr>
              <a:t>Partition(</a:t>
            </a:r>
            <a:r>
              <a:rPr sz="2800" dirty="0">
                <a:latin typeface="Cambria Math"/>
                <a:cs typeface="Cambria Math"/>
              </a:rPr>
              <a:t>𝑨,</a:t>
            </a:r>
            <a:r>
              <a:rPr sz="2800" spc="-1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𝒑,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𝒓</a:t>
            </a:r>
            <a:r>
              <a:rPr sz="2800" b="1" spc="-2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FE3E191-7E24-4641-90A4-90F15B2BBD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5708" y="191331"/>
            <a:ext cx="644525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固定位置划分：伪代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00DD24F4-A9A1-4743-ADB5-10604D21216C}"/>
              </a:ext>
            </a:extLst>
          </p:cNvPr>
          <p:cNvSpPr/>
          <p:nvPr/>
        </p:nvSpPr>
        <p:spPr>
          <a:xfrm>
            <a:off x="1101634" y="3134868"/>
            <a:ext cx="3972560" cy="482600"/>
          </a:xfrm>
          <a:custGeom>
            <a:avLst/>
            <a:gdLst/>
            <a:ahLst/>
            <a:cxnLst/>
            <a:rect l="l" t="t" r="r" b="b"/>
            <a:pathLst>
              <a:path w="3972560" h="482600">
                <a:moveTo>
                  <a:pt x="0" y="80391"/>
                </a:moveTo>
                <a:lnTo>
                  <a:pt x="6317" y="49077"/>
                </a:lnTo>
                <a:lnTo>
                  <a:pt x="23545" y="23526"/>
                </a:lnTo>
                <a:lnTo>
                  <a:pt x="49098" y="6310"/>
                </a:lnTo>
                <a:lnTo>
                  <a:pt x="80391" y="0"/>
                </a:lnTo>
                <a:lnTo>
                  <a:pt x="3891915" y="0"/>
                </a:lnTo>
                <a:lnTo>
                  <a:pt x="3923228" y="6310"/>
                </a:lnTo>
                <a:lnTo>
                  <a:pt x="3948779" y="23526"/>
                </a:lnTo>
                <a:lnTo>
                  <a:pt x="3965995" y="49077"/>
                </a:lnTo>
                <a:lnTo>
                  <a:pt x="3972305" y="80391"/>
                </a:lnTo>
                <a:lnTo>
                  <a:pt x="3972305" y="401955"/>
                </a:lnTo>
                <a:lnTo>
                  <a:pt x="3965995" y="433268"/>
                </a:lnTo>
                <a:lnTo>
                  <a:pt x="3948779" y="458819"/>
                </a:lnTo>
                <a:lnTo>
                  <a:pt x="3923228" y="476035"/>
                </a:lnTo>
                <a:lnTo>
                  <a:pt x="3891915" y="482346"/>
                </a:lnTo>
                <a:lnTo>
                  <a:pt x="80391" y="482346"/>
                </a:lnTo>
                <a:lnTo>
                  <a:pt x="49098" y="476035"/>
                </a:lnTo>
                <a:lnTo>
                  <a:pt x="23545" y="458819"/>
                </a:lnTo>
                <a:lnTo>
                  <a:pt x="6317" y="433268"/>
                </a:lnTo>
                <a:lnTo>
                  <a:pt x="0" y="401955"/>
                </a:lnTo>
                <a:lnTo>
                  <a:pt x="0" y="80391"/>
                </a:lnTo>
                <a:close/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11AE3DB2-455B-3F48-8FEB-0083B4BF0E21}"/>
              </a:ext>
            </a:extLst>
          </p:cNvPr>
          <p:cNvSpPr txBox="1"/>
          <p:nvPr/>
        </p:nvSpPr>
        <p:spPr>
          <a:xfrm>
            <a:off x="8384449" y="3135249"/>
            <a:ext cx="1586230" cy="482600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233679">
              <a:lnSpc>
                <a:spcPct val="100000"/>
              </a:lnSpc>
              <a:spcBef>
                <a:spcPts val="525"/>
              </a:spcBef>
            </a:pPr>
            <a:r>
              <a:rPr sz="2200" spc="-15">
                <a:latin typeface="PMingLiU"/>
                <a:cs typeface="PMingLiU"/>
              </a:rPr>
              <a:t>依次扫描</a:t>
            </a:r>
            <a:endParaRPr sz="2200">
              <a:latin typeface="PMingLiU"/>
              <a:cs typeface="PMingLiU"/>
            </a:endParaRPr>
          </a:p>
        </p:txBody>
      </p:sp>
      <p:pic>
        <p:nvPicPr>
          <p:cNvPr id="12" name="object 6">
            <a:extLst>
              <a:ext uri="{FF2B5EF4-FFF2-40B4-BE49-F238E27FC236}">
                <a16:creationId xmlns:a16="http://schemas.microsoft.com/office/drawing/2014/main" id="{BFFB8EBB-D761-F04A-A4EC-DD401F5175A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87869" y="1524712"/>
            <a:ext cx="11062716" cy="5128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41848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A8BF4DE4-CE57-0A43-943D-BC4641A2E7FC}"/>
              </a:ext>
            </a:extLst>
          </p:cNvPr>
          <p:cNvSpPr txBox="1"/>
          <p:nvPr/>
        </p:nvSpPr>
        <p:spPr>
          <a:xfrm>
            <a:off x="648680" y="993579"/>
            <a:ext cx="28822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dirty="0">
                <a:latin typeface="Times New Roman"/>
                <a:cs typeface="Times New Roman"/>
              </a:rPr>
              <a:t>Partition(</a:t>
            </a:r>
            <a:r>
              <a:rPr sz="2800" dirty="0">
                <a:latin typeface="Cambria Math"/>
                <a:cs typeface="Cambria Math"/>
              </a:rPr>
              <a:t>𝑨,</a:t>
            </a:r>
            <a:r>
              <a:rPr sz="2800" spc="-1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𝒑,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𝒓</a:t>
            </a:r>
            <a:r>
              <a:rPr sz="2800" b="1" spc="-2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FE3E191-7E24-4641-90A4-90F15B2BBD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5708" y="191331"/>
            <a:ext cx="644525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固定位置划分：伪代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E12D2331-6E01-8946-B080-616BD807D530}"/>
              </a:ext>
            </a:extLst>
          </p:cNvPr>
          <p:cNvSpPr/>
          <p:nvPr/>
        </p:nvSpPr>
        <p:spPr>
          <a:xfrm>
            <a:off x="1016726" y="3481252"/>
            <a:ext cx="5069205" cy="1485900"/>
          </a:xfrm>
          <a:custGeom>
            <a:avLst/>
            <a:gdLst/>
            <a:ahLst/>
            <a:cxnLst/>
            <a:rect l="l" t="t" r="r" b="b"/>
            <a:pathLst>
              <a:path w="5069205" h="1485900">
                <a:moveTo>
                  <a:pt x="0" y="247650"/>
                </a:moveTo>
                <a:lnTo>
                  <a:pt x="5031" y="197738"/>
                </a:lnTo>
                <a:lnTo>
                  <a:pt x="19462" y="151251"/>
                </a:lnTo>
                <a:lnTo>
                  <a:pt x="42296" y="109184"/>
                </a:lnTo>
                <a:lnTo>
                  <a:pt x="72537" y="72532"/>
                </a:lnTo>
                <a:lnTo>
                  <a:pt x="109189" y="42293"/>
                </a:lnTo>
                <a:lnTo>
                  <a:pt x="151256" y="19460"/>
                </a:lnTo>
                <a:lnTo>
                  <a:pt x="197741" y="5031"/>
                </a:lnTo>
                <a:lnTo>
                  <a:pt x="247650" y="0"/>
                </a:lnTo>
                <a:lnTo>
                  <a:pt x="4821174" y="0"/>
                </a:lnTo>
                <a:lnTo>
                  <a:pt x="4871085" y="5031"/>
                </a:lnTo>
                <a:lnTo>
                  <a:pt x="4917572" y="19460"/>
                </a:lnTo>
                <a:lnTo>
                  <a:pt x="4959639" y="42293"/>
                </a:lnTo>
                <a:lnTo>
                  <a:pt x="4996291" y="72532"/>
                </a:lnTo>
                <a:lnTo>
                  <a:pt x="5026530" y="109184"/>
                </a:lnTo>
                <a:lnTo>
                  <a:pt x="5049363" y="151251"/>
                </a:lnTo>
                <a:lnTo>
                  <a:pt x="5063792" y="197738"/>
                </a:lnTo>
                <a:lnTo>
                  <a:pt x="5068824" y="247650"/>
                </a:lnTo>
                <a:lnTo>
                  <a:pt x="5068824" y="1238250"/>
                </a:lnTo>
                <a:lnTo>
                  <a:pt x="5063792" y="1288161"/>
                </a:lnTo>
                <a:lnTo>
                  <a:pt x="5049363" y="1334648"/>
                </a:lnTo>
                <a:lnTo>
                  <a:pt x="5026530" y="1376715"/>
                </a:lnTo>
                <a:lnTo>
                  <a:pt x="4996291" y="1413367"/>
                </a:lnTo>
                <a:lnTo>
                  <a:pt x="4959639" y="1443606"/>
                </a:lnTo>
                <a:lnTo>
                  <a:pt x="4917572" y="1466439"/>
                </a:lnTo>
                <a:lnTo>
                  <a:pt x="4871085" y="1480868"/>
                </a:lnTo>
                <a:lnTo>
                  <a:pt x="4821174" y="1485900"/>
                </a:lnTo>
                <a:lnTo>
                  <a:pt x="247650" y="1485900"/>
                </a:lnTo>
                <a:lnTo>
                  <a:pt x="197741" y="1480868"/>
                </a:lnTo>
                <a:lnTo>
                  <a:pt x="151256" y="1466439"/>
                </a:lnTo>
                <a:lnTo>
                  <a:pt x="109189" y="1443606"/>
                </a:lnTo>
                <a:lnTo>
                  <a:pt x="72537" y="1413367"/>
                </a:lnTo>
                <a:lnTo>
                  <a:pt x="42296" y="1376715"/>
                </a:lnTo>
                <a:lnTo>
                  <a:pt x="19462" y="1334648"/>
                </a:lnTo>
                <a:lnTo>
                  <a:pt x="5031" y="1288161"/>
                </a:lnTo>
                <a:lnTo>
                  <a:pt x="0" y="1238250"/>
                </a:lnTo>
                <a:lnTo>
                  <a:pt x="0" y="247650"/>
                </a:lnTo>
                <a:close/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FBF14752-1B25-184A-853C-D95EE94EE0D1}"/>
              </a:ext>
            </a:extLst>
          </p:cNvPr>
          <p:cNvSpPr txBox="1"/>
          <p:nvPr/>
        </p:nvSpPr>
        <p:spPr>
          <a:xfrm>
            <a:off x="6212422" y="3481632"/>
            <a:ext cx="3718560" cy="482600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181610">
              <a:lnSpc>
                <a:spcPct val="100000"/>
              </a:lnSpc>
              <a:spcBef>
                <a:spcPts val="525"/>
              </a:spcBef>
            </a:pPr>
            <a:r>
              <a:rPr sz="2200" spc="-5">
                <a:latin typeface="PMingLiU"/>
                <a:cs typeface="PMingLiU"/>
              </a:rPr>
              <a:t>比主元小的元素交换到前面</a:t>
            </a:r>
            <a:endParaRPr sz="2200">
              <a:latin typeface="PMingLiU"/>
              <a:cs typeface="PMingLiU"/>
            </a:endParaRPr>
          </a:p>
        </p:txBody>
      </p:sp>
      <p:pic>
        <p:nvPicPr>
          <p:cNvPr id="10" name="object 6">
            <a:extLst>
              <a:ext uri="{FF2B5EF4-FFF2-40B4-BE49-F238E27FC236}">
                <a16:creationId xmlns:a16="http://schemas.microsoft.com/office/drawing/2014/main" id="{E27A6B2C-A8BA-3C49-94D8-CA4CE3E38CA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48680" y="1485523"/>
            <a:ext cx="11062716" cy="5128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69580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A8BF4DE4-CE57-0A43-943D-BC4641A2E7FC}"/>
              </a:ext>
            </a:extLst>
          </p:cNvPr>
          <p:cNvSpPr txBox="1"/>
          <p:nvPr/>
        </p:nvSpPr>
        <p:spPr>
          <a:xfrm>
            <a:off x="648680" y="993579"/>
            <a:ext cx="28822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dirty="0">
                <a:latin typeface="Times New Roman"/>
                <a:cs typeface="Times New Roman"/>
              </a:rPr>
              <a:t>Partition(</a:t>
            </a:r>
            <a:r>
              <a:rPr sz="2800" dirty="0">
                <a:latin typeface="Cambria Math"/>
                <a:cs typeface="Cambria Math"/>
              </a:rPr>
              <a:t>𝑨,</a:t>
            </a:r>
            <a:r>
              <a:rPr sz="2800" spc="-1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𝒑,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𝒓</a:t>
            </a:r>
            <a:r>
              <a:rPr sz="2800" b="1" spc="-2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FE3E191-7E24-4641-90A4-90F15B2BBD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5708" y="191331"/>
            <a:ext cx="644525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固定位置划分：伪代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0F70F980-6BF8-9B40-A79B-12D5A3AE0350}"/>
              </a:ext>
            </a:extLst>
          </p:cNvPr>
          <p:cNvSpPr txBox="1"/>
          <p:nvPr/>
        </p:nvSpPr>
        <p:spPr>
          <a:xfrm>
            <a:off x="6361557" y="5383693"/>
            <a:ext cx="3719829" cy="482600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1020444">
              <a:lnSpc>
                <a:spcPct val="100000"/>
              </a:lnSpc>
              <a:spcBef>
                <a:spcPts val="525"/>
              </a:spcBef>
            </a:pPr>
            <a:r>
              <a:rPr sz="2200" spc="-20">
                <a:latin typeface="PMingLiU"/>
                <a:cs typeface="PMingLiU"/>
              </a:rPr>
              <a:t>主元作分界线</a:t>
            </a:r>
            <a:endParaRPr sz="2200">
              <a:latin typeface="PMingLiU"/>
              <a:cs typeface="PMingLiU"/>
            </a:endParaRPr>
          </a:p>
        </p:txBody>
      </p:sp>
      <p:grpSp>
        <p:nvGrpSpPr>
          <p:cNvPr id="11" name="object 5">
            <a:extLst>
              <a:ext uri="{FF2B5EF4-FFF2-40B4-BE49-F238E27FC236}">
                <a16:creationId xmlns:a16="http://schemas.microsoft.com/office/drawing/2014/main" id="{45F46252-105E-C245-B6E2-B50E090CB8C4}"/>
              </a:ext>
            </a:extLst>
          </p:cNvPr>
          <p:cNvGrpSpPr/>
          <p:nvPr/>
        </p:nvGrpSpPr>
        <p:grpSpPr>
          <a:xfrm>
            <a:off x="622554" y="1498586"/>
            <a:ext cx="11062970" cy="5128895"/>
            <a:chOff x="622554" y="1433271"/>
            <a:chExt cx="11062970" cy="5128895"/>
          </a:xfrm>
        </p:grpSpPr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17BEE30B-4B83-1F4C-9B92-55C7CA8095B2}"/>
                </a:ext>
              </a:extLst>
            </p:cNvPr>
            <p:cNvSpPr/>
            <p:nvPr/>
          </p:nvSpPr>
          <p:spPr>
            <a:xfrm>
              <a:off x="990600" y="5317998"/>
              <a:ext cx="5069205" cy="482600"/>
            </a:xfrm>
            <a:custGeom>
              <a:avLst/>
              <a:gdLst/>
              <a:ahLst/>
              <a:cxnLst/>
              <a:rect l="l" t="t" r="r" b="b"/>
              <a:pathLst>
                <a:path w="5069205" h="482600">
                  <a:moveTo>
                    <a:pt x="0" y="80390"/>
                  </a:moveTo>
                  <a:lnTo>
                    <a:pt x="6317" y="49077"/>
                  </a:lnTo>
                  <a:lnTo>
                    <a:pt x="23545" y="23526"/>
                  </a:lnTo>
                  <a:lnTo>
                    <a:pt x="49098" y="6310"/>
                  </a:lnTo>
                  <a:lnTo>
                    <a:pt x="80390" y="0"/>
                  </a:lnTo>
                  <a:lnTo>
                    <a:pt x="4988433" y="0"/>
                  </a:lnTo>
                  <a:lnTo>
                    <a:pt x="5019746" y="6310"/>
                  </a:lnTo>
                  <a:lnTo>
                    <a:pt x="5045297" y="23526"/>
                  </a:lnTo>
                  <a:lnTo>
                    <a:pt x="5062513" y="49077"/>
                  </a:lnTo>
                  <a:lnTo>
                    <a:pt x="5068824" y="80390"/>
                  </a:lnTo>
                  <a:lnTo>
                    <a:pt x="5068824" y="401954"/>
                  </a:lnTo>
                  <a:lnTo>
                    <a:pt x="5062513" y="433247"/>
                  </a:lnTo>
                  <a:lnTo>
                    <a:pt x="5045297" y="458800"/>
                  </a:lnTo>
                  <a:lnTo>
                    <a:pt x="5019746" y="476028"/>
                  </a:lnTo>
                  <a:lnTo>
                    <a:pt x="4988433" y="482345"/>
                  </a:lnTo>
                  <a:lnTo>
                    <a:pt x="80390" y="482345"/>
                  </a:lnTo>
                  <a:lnTo>
                    <a:pt x="49098" y="476028"/>
                  </a:lnTo>
                  <a:lnTo>
                    <a:pt x="23545" y="458800"/>
                  </a:lnTo>
                  <a:lnTo>
                    <a:pt x="6317" y="433247"/>
                  </a:lnTo>
                  <a:lnTo>
                    <a:pt x="0" y="401954"/>
                  </a:lnTo>
                  <a:lnTo>
                    <a:pt x="0" y="80390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7">
              <a:extLst>
                <a:ext uri="{FF2B5EF4-FFF2-40B4-BE49-F238E27FC236}">
                  <a16:creationId xmlns:a16="http://schemas.microsoft.com/office/drawing/2014/main" id="{EDE7AAFC-E99A-7C4E-9875-9D17769273AF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22554" y="1433271"/>
              <a:ext cx="11062716" cy="51288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6345506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A8BF4DE4-CE57-0A43-943D-BC4641A2E7FC}"/>
              </a:ext>
            </a:extLst>
          </p:cNvPr>
          <p:cNvSpPr txBox="1"/>
          <p:nvPr/>
        </p:nvSpPr>
        <p:spPr>
          <a:xfrm>
            <a:off x="648680" y="993579"/>
            <a:ext cx="28822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dirty="0">
                <a:latin typeface="Times New Roman"/>
                <a:cs typeface="Times New Roman"/>
              </a:rPr>
              <a:t>Partition(</a:t>
            </a:r>
            <a:r>
              <a:rPr sz="2800" dirty="0">
                <a:latin typeface="Cambria Math"/>
                <a:cs typeface="Cambria Math"/>
              </a:rPr>
              <a:t>𝑨,</a:t>
            </a:r>
            <a:r>
              <a:rPr sz="2800" spc="-1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𝒑,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𝒓</a:t>
            </a:r>
            <a:r>
              <a:rPr sz="2800" b="1" spc="-2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FE3E191-7E24-4641-90A4-90F15B2BBD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5708" y="191331"/>
            <a:ext cx="644525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固定位置划分：伪代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CC7FAD56-DFE5-E94C-B057-955C6A02423A}"/>
              </a:ext>
            </a:extLst>
          </p:cNvPr>
          <p:cNvSpPr txBox="1"/>
          <p:nvPr/>
        </p:nvSpPr>
        <p:spPr>
          <a:xfrm>
            <a:off x="6413809" y="5745643"/>
            <a:ext cx="3719829" cy="482600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1020444">
              <a:lnSpc>
                <a:spcPct val="100000"/>
              </a:lnSpc>
              <a:spcBef>
                <a:spcPts val="525"/>
              </a:spcBef>
            </a:pPr>
            <a:r>
              <a:rPr sz="2200" spc="-10">
                <a:latin typeface="PMingLiU"/>
                <a:cs typeface="PMingLiU"/>
              </a:rPr>
              <a:t>返回划分位置</a:t>
            </a:r>
            <a:endParaRPr sz="2200">
              <a:latin typeface="PMingLiU"/>
              <a:cs typeface="PMingLiU"/>
            </a:endParaRPr>
          </a:p>
        </p:txBody>
      </p:sp>
      <p:grpSp>
        <p:nvGrpSpPr>
          <p:cNvPr id="9" name="object 5">
            <a:extLst>
              <a:ext uri="{FF2B5EF4-FFF2-40B4-BE49-F238E27FC236}">
                <a16:creationId xmlns:a16="http://schemas.microsoft.com/office/drawing/2014/main" id="{9D0A20C9-E447-F042-903E-7E98B0942416}"/>
              </a:ext>
            </a:extLst>
          </p:cNvPr>
          <p:cNvGrpSpPr/>
          <p:nvPr/>
        </p:nvGrpSpPr>
        <p:grpSpPr>
          <a:xfrm>
            <a:off x="674806" y="1498586"/>
            <a:ext cx="11062970" cy="5128895"/>
            <a:chOff x="622554" y="1433271"/>
            <a:chExt cx="11062970" cy="5128895"/>
          </a:xfrm>
        </p:grpSpPr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F1CC9579-0048-3A42-A969-748513F46146}"/>
                </a:ext>
              </a:extLst>
            </p:cNvPr>
            <p:cNvSpPr/>
            <p:nvPr/>
          </p:nvSpPr>
          <p:spPr>
            <a:xfrm>
              <a:off x="990600" y="5679948"/>
              <a:ext cx="5069205" cy="797560"/>
            </a:xfrm>
            <a:custGeom>
              <a:avLst/>
              <a:gdLst/>
              <a:ahLst/>
              <a:cxnLst/>
              <a:rect l="l" t="t" r="r" b="b"/>
              <a:pathLst>
                <a:path w="5069205" h="797560">
                  <a:moveTo>
                    <a:pt x="0" y="132841"/>
                  </a:moveTo>
                  <a:lnTo>
                    <a:pt x="6772" y="90853"/>
                  </a:lnTo>
                  <a:lnTo>
                    <a:pt x="25630" y="54386"/>
                  </a:lnTo>
                  <a:lnTo>
                    <a:pt x="54386" y="25630"/>
                  </a:lnTo>
                  <a:lnTo>
                    <a:pt x="90853" y="6772"/>
                  </a:lnTo>
                  <a:lnTo>
                    <a:pt x="132841" y="0"/>
                  </a:lnTo>
                  <a:lnTo>
                    <a:pt x="4935982" y="0"/>
                  </a:lnTo>
                  <a:lnTo>
                    <a:pt x="4977985" y="6772"/>
                  </a:lnTo>
                  <a:lnTo>
                    <a:pt x="5014453" y="25630"/>
                  </a:lnTo>
                  <a:lnTo>
                    <a:pt x="5043204" y="54386"/>
                  </a:lnTo>
                  <a:lnTo>
                    <a:pt x="5062055" y="90853"/>
                  </a:lnTo>
                  <a:lnTo>
                    <a:pt x="5068824" y="132841"/>
                  </a:lnTo>
                  <a:lnTo>
                    <a:pt x="5068824" y="664209"/>
                  </a:lnTo>
                  <a:lnTo>
                    <a:pt x="5062055" y="706198"/>
                  </a:lnTo>
                  <a:lnTo>
                    <a:pt x="5043204" y="742665"/>
                  </a:lnTo>
                  <a:lnTo>
                    <a:pt x="5014453" y="771421"/>
                  </a:lnTo>
                  <a:lnTo>
                    <a:pt x="4977985" y="790279"/>
                  </a:lnTo>
                  <a:lnTo>
                    <a:pt x="4935982" y="797051"/>
                  </a:lnTo>
                  <a:lnTo>
                    <a:pt x="132841" y="797051"/>
                  </a:lnTo>
                  <a:lnTo>
                    <a:pt x="90853" y="790279"/>
                  </a:lnTo>
                  <a:lnTo>
                    <a:pt x="54386" y="771421"/>
                  </a:lnTo>
                  <a:lnTo>
                    <a:pt x="25630" y="742665"/>
                  </a:lnTo>
                  <a:lnTo>
                    <a:pt x="6772" y="706198"/>
                  </a:lnTo>
                  <a:lnTo>
                    <a:pt x="0" y="664209"/>
                  </a:lnTo>
                  <a:lnTo>
                    <a:pt x="0" y="132841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7">
              <a:extLst>
                <a:ext uri="{FF2B5EF4-FFF2-40B4-BE49-F238E27FC236}">
                  <a16:creationId xmlns:a16="http://schemas.microsoft.com/office/drawing/2014/main" id="{8F041869-19C1-FA4B-BC2D-539E97204FCE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22554" y="1433271"/>
              <a:ext cx="11062716" cy="51288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2824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8C4EC6D5-BF83-D14E-B84D-282C8EFB947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85515" y="1505645"/>
            <a:ext cx="11048558" cy="5010494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79EA1795-4D50-2B43-8DB7-9480FBBFDA91}"/>
              </a:ext>
            </a:extLst>
          </p:cNvPr>
          <p:cNvSpPr txBox="1"/>
          <p:nvPr/>
        </p:nvSpPr>
        <p:spPr>
          <a:xfrm>
            <a:off x="688340" y="1018251"/>
            <a:ext cx="32308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dirty="0">
                <a:latin typeface="Times New Roman"/>
                <a:cs typeface="Times New Roman"/>
              </a:rPr>
              <a:t>Selection(</a:t>
            </a:r>
            <a:r>
              <a:rPr sz="2800" dirty="0">
                <a:latin typeface="Cambria Math"/>
                <a:cs typeface="Cambria Math"/>
              </a:rPr>
              <a:t>𝑨,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𝒑,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𝒓,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𝒌</a:t>
            </a:r>
            <a:r>
              <a:rPr sz="2800" b="1" spc="-2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565A7B6D-22F7-0843-BD52-FADFE62183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0881" y="146078"/>
            <a:ext cx="708190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固定位置次序选择：伪代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5FAE1D94-1207-5945-A096-34D043486FF5}"/>
              </a:ext>
            </a:extLst>
          </p:cNvPr>
          <p:cNvSpPr txBox="1"/>
          <p:nvPr/>
        </p:nvSpPr>
        <p:spPr>
          <a:xfrm>
            <a:off x="7768970" y="2361820"/>
            <a:ext cx="3718560" cy="482600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525"/>
              </a:spcBef>
            </a:pPr>
            <a:r>
              <a:rPr sz="2200" spc="-15">
                <a:latin typeface="PMingLiU"/>
                <a:cs typeface="PMingLiU"/>
              </a:rPr>
              <a:t>划分数组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40856968-33A9-4C4C-BD18-13A141CBAFA2}"/>
              </a:ext>
            </a:extLst>
          </p:cNvPr>
          <p:cNvSpPr/>
          <p:nvPr/>
        </p:nvSpPr>
        <p:spPr>
          <a:xfrm>
            <a:off x="990600" y="2321814"/>
            <a:ext cx="5069205" cy="482600"/>
          </a:xfrm>
          <a:custGeom>
            <a:avLst/>
            <a:gdLst/>
            <a:ahLst/>
            <a:cxnLst/>
            <a:rect l="l" t="t" r="r" b="b"/>
            <a:pathLst>
              <a:path w="5069205" h="482600">
                <a:moveTo>
                  <a:pt x="0" y="80390"/>
                </a:moveTo>
                <a:lnTo>
                  <a:pt x="6317" y="49077"/>
                </a:lnTo>
                <a:lnTo>
                  <a:pt x="23545" y="23526"/>
                </a:lnTo>
                <a:lnTo>
                  <a:pt x="49098" y="6310"/>
                </a:lnTo>
                <a:lnTo>
                  <a:pt x="80390" y="0"/>
                </a:lnTo>
                <a:lnTo>
                  <a:pt x="4988433" y="0"/>
                </a:lnTo>
                <a:lnTo>
                  <a:pt x="5019746" y="6310"/>
                </a:lnTo>
                <a:lnTo>
                  <a:pt x="5045297" y="23526"/>
                </a:lnTo>
                <a:lnTo>
                  <a:pt x="5062513" y="49077"/>
                </a:lnTo>
                <a:lnTo>
                  <a:pt x="5068824" y="80390"/>
                </a:lnTo>
                <a:lnTo>
                  <a:pt x="5068824" y="401954"/>
                </a:lnTo>
                <a:lnTo>
                  <a:pt x="5062513" y="433268"/>
                </a:lnTo>
                <a:lnTo>
                  <a:pt x="5045297" y="458819"/>
                </a:lnTo>
                <a:lnTo>
                  <a:pt x="5019746" y="476035"/>
                </a:lnTo>
                <a:lnTo>
                  <a:pt x="4988433" y="482346"/>
                </a:lnTo>
                <a:lnTo>
                  <a:pt x="80390" y="482346"/>
                </a:lnTo>
                <a:lnTo>
                  <a:pt x="49098" y="476035"/>
                </a:lnTo>
                <a:lnTo>
                  <a:pt x="23545" y="458819"/>
                </a:lnTo>
                <a:lnTo>
                  <a:pt x="6317" y="433268"/>
                </a:lnTo>
                <a:lnTo>
                  <a:pt x="0" y="401954"/>
                </a:lnTo>
                <a:lnTo>
                  <a:pt x="0" y="80390"/>
                </a:lnTo>
                <a:close/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8067653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79EA1795-4D50-2B43-8DB7-9480FBBFDA91}"/>
              </a:ext>
            </a:extLst>
          </p:cNvPr>
          <p:cNvSpPr txBox="1"/>
          <p:nvPr/>
        </p:nvSpPr>
        <p:spPr>
          <a:xfrm>
            <a:off x="688340" y="1018251"/>
            <a:ext cx="32308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dirty="0">
                <a:latin typeface="Times New Roman"/>
                <a:cs typeface="Times New Roman"/>
              </a:rPr>
              <a:t>Selection(</a:t>
            </a:r>
            <a:r>
              <a:rPr sz="2800" dirty="0">
                <a:latin typeface="Cambria Math"/>
                <a:cs typeface="Cambria Math"/>
              </a:rPr>
              <a:t>𝑨,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𝒑,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𝒓,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𝒌</a:t>
            </a:r>
            <a:r>
              <a:rPr sz="2800" b="1" spc="-2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565A7B6D-22F7-0843-BD52-FADFE62183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0881" y="146078"/>
            <a:ext cx="708190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固定位置次序选择：伪代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8" name="object 2">
            <a:extLst>
              <a:ext uri="{FF2B5EF4-FFF2-40B4-BE49-F238E27FC236}">
                <a16:creationId xmlns:a16="http://schemas.microsoft.com/office/drawing/2014/main" id="{E57E4DAA-3F9A-E749-B1EB-67CF74F6C2C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85515" y="1479519"/>
            <a:ext cx="11048558" cy="5010494"/>
          </a:xfrm>
          <a:prstGeom prst="rect">
            <a:avLst/>
          </a:prstGeom>
        </p:spPr>
      </p:pic>
      <p:sp>
        <p:nvSpPr>
          <p:cNvPr id="9" name="object 5">
            <a:extLst>
              <a:ext uri="{FF2B5EF4-FFF2-40B4-BE49-F238E27FC236}">
                <a16:creationId xmlns:a16="http://schemas.microsoft.com/office/drawing/2014/main" id="{88D783A9-FFD7-8944-9D31-1DE85546545F}"/>
              </a:ext>
            </a:extLst>
          </p:cNvPr>
          <p:cNvSpPr txBox="1"/>
          <p:nvPr/>
        </p:nvSpPr>
        <p:spPr>
          <a:xfrm>
            <a:off x="7829168" y="2724313"/>
            <a:ext cx="3718560" cy="483234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 marL="795020">
              <a:lnSpc>
                <a:spcPct val="100000"/>
              </a:lnSpc>
              <a:spcBef>
                <a:spcPts val="565"/>
              </a:spcBef>
            </a:pPr>
            <a:r>
              <a:rPr sz="2200">
                <a:latin typeface="PMingLiU"/>
                <a:cs typeface="PMingLiU"/>
              </a:rPr>
              <a:t>主元为第</a:t>
            </a:r>
            <a:r>
              <a:rPr sz="2200">
                <a:latin typeface="Cambria Math"/>
                <a:cs typeface="Cambria Math"/>
              </a:rPr>
              <a:t>𝒌</a:t>
            </a:r>
            <a:r>
              <a:rPr sz="2200" spc="-20">
                <a:latin typeface="PMingLiU"/>
                <a:cs typeface="PMingLiU"/>
              </a:rPr>
              <a:t>小元素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B74E2730-E7BC-684B-8073-0B2F1F69B941}"/>
              </a:ext>
            </a:extLst>
          </p:cNvPr>
          <p:cNvSpPr/>
          <p:nvPr/>
        </p:nvSpPr>
        <p:spPr>
          <a:xfrm>
            <a:off x="990600" y="2723932"/>
            <a:ext cx="5069205" cy="1207135"/>
          </a:xfrm>
          <a:custGeom>
            <a:avLst/>
            <a:gdLst/>
            <a:ahLst/>
            <a:cxnLst/>
            <a:rect l="l" t="t" r="r" b="b"/>
            <a:pathLst>
              <a:path w="5069205" h="1207135">
                <a:moveTo>
                  <a:pt x="0" y="201168"/>
                </a:moveTo>
                <a:lnTo>
                  <a:pt x="5313" y="155034"/>
                </a:lnTo>
                <a:lnTo>
                  <a:pt x="20447" y="112689"/>
                </a:lnTo>
                <a:lnTo>
                  <a:pt x="44195" y="75338"/>
                </a:lnTo>
                <a:lnTo>
                  <a:pt x="75348" y="44187"/>
                </a:lnTo>
                <a:lnTo>
                  <a:pt x="112700" y="20442"/>
                </a:lnTo>
                <a:lnTo>
                  <a:pt x="155042" y="5311"/>
                </a:lnTo>
                <a:lnTo>
                  <a:pt x="201168" y="0"/>
                </a:lnTo>
                <a:lnTo>
                  <a:pt x="4867656" y="0"/>
                </a:lnTo>
                <a:lnTo>
                  <a:pt x="4913789" y="5311"/>
                </a:lnTo>
                <a:lnTo>
                  <a:pt x="4956134" y="20442"/>
                </a:lnTo>
                <a:lnTo>
                  <a:pt x="4993485" y="44187"/>
                </a:lnTo>
                <a:lnTo>
                  <a:pt x="5024636" y="75338"/>
                </a:lnTo>
                <a:lnTo>
                  <a:pt x="5048381" y="112689"/>
                </a:lnTo>
                <a:lnTo>
                  <a:pt x="5063512" y="155034"/>
                </a:lnTo>
                <a:lnTo>
                  <a:pt x="5068824" y="201168"/>
                </a:lnTo>
                <a:lnTo>
                  <a:pt x="5068824" y="1005840"/>
                </a:lnTo>
                <a:lnTo>
                  <a:pt x="5063512" y="1051973"/>
                </a:lnTo>
                <a:lnTo>
                  <a:pt x="5048381" y="1094318"/>
                </a:lnTo>
                <a:lnTo>
                  <a:pt x="5024636" y="1131669"/>
                </a:lnTo>
                <a:lnTo>
                  <a:pt x="4993485" y="1162820"/>
                </a:lnTo>
                <a:lnTo>
                  <a:pt x="4956134" y="1186565"/>
                </a:lnTo>
                <a:lnTo>
                  <a:pt x="4913789" y="1201696"/>
                </a:lnTo>
                <a:lnTo>
                  <a:pt x="4867656" y="1207008"/>
                </a:lnTo>
                <a:lnTo>
                  <a:pt x="201168" y="1207008"/>
                </a:lnTo>
                <a:lnTo>
                  <a:pt x="155042" y="1201696"/>
                </a:lnTo>
                <a:lnTo>
                  <a:pt x="112700" y="1186565"/>
                </a:lnTo>
                <a:lnTo>
                  <a:pt x="75348" y="1162820"/>
                </a:lnTo>
                <a:lnTo>
                  <a:pt x="44195" y="1131669"/>
                </a:lnTo>
                <a:lnTo>
                  <a:pt x="20447" y="1094318"/>
                </a:lnTo>
                <a:lnTo>
                  <a:pt x="5313" y="1051973"/>
                </a:lnTo>
                <a:lnTo>
                  <a:pt x="0" y="1005840"/>
                </a:lnTo>
                <a:lnTo>
                  <a:pt x="0" y="201168"/>
                </a:lnTo>
                <a:close/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1475761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79EA1795-4D50-2B43-8DB7-9480FBBFDA91}"/>
              </a:ext>
            </a:extLst>
          </p:cNvPr>
          <p:cNvSpPr txBox="1"/>
          <p:nvPr/>
        </p:nvSpPr>
        <p:spPr>
          <a:xfrm>
            <a:off x="688340" y="1018251"/>
            <a:ext cx="32308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dirty="0">
                <a:latin typeface="Times New Roman"/>
                <a:cs typeface="Times New Roman"/>
              </a:rPr>
              <a:t>Selection(</a:t>
            </a:r>
            <a:r>
              <a:rPr sz="2800" dirty="0">
                <a:latin typeface="Cambria Math"/>
                <a:cs typeface="Cambria Math"/>
              </a:rPr>
              <a:t>𝑨,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𝒑,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𝒓,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𝒌</a:t>
            </a:r>
            <a:r>
              <a:rPr sz="2800" b="1" spc="-2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565A7B6D-22F7-0843-BD52-FADFE62183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0881" y="146078"/>
            <a:ext cx="708190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固定位置次序选择：伪代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7" name="object 2">
            <a:extLst>
              <a:ext uri="{FF2B5EF4-FFF2-40B4-BE49-F238E27FC236}">
                <a16:creationId xmlns:a16="http://schemas.microsoft.com/office/drawing/2014/main" id="{71DD9E6D-6B09-5C4D-98D1-E4E2275DE59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85515" y="1518708"/>
            <a:ext cx="11048558" cy="5010494"/>
          </a:xfrm>
          <a:prstGeom prst="rect">
            <a:avLst/>
          </a:prstGeom>
        </p:spPr>
      </p:pic>
      <p:sp>
        <p:nvSpPr>
          <p:cNvPr id="11" name="object 5">
            <a:extLst>
              <a:ext uri="{FF2B5EF4-FFF2-40B4-BE49-F238E27FC236}">
                <a16:creationId xmlns:a16="http://schemas.microsoft.com/office/drawing/2014/main" id="{22408F20-A2F9-AA4A-90F2-F37AC6537CD8}"/>
              </a:ext>
            </a:extLst>
          </p:cNvPr>
          <p:cNvSpPr txBox="1"/>
          <p:nvPr/>
        </p:nvSpPr>
        <p:spPr>
          <a:xfrm>
            <a:off x="7527417" y="3883643"/>
            <a:ext cx="4020820" cy="483234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 marL="370840">
              <a:lnSpc>
                <a:spcPct val="100000"/>
              </a:lnSpc>
              <a:spcBef>
                <a:spcPts val="565"/>
              </a:spcBef>
            </a:pPr>
            <a:r>
              <a:rPr sz="2200">
                <a:latin typeface="PMingLiU"/>
                <a:cs typeface="PMingLiU"/>
              </a:rPr>
              <a:t>第</a:t>
            </a:r>
            <a:r>
              <a:rPr sz="2200">
                <a:latin typeface="Cambria Math"/>
                <a:cs typeface="Cambria Math"/>
              </a:rPr>
              <a:t>𝒌</a:t>
            </a:r>
            <a:r>
              <a:rPr sz="2200" spc="-5">
                <a:latin typeface="PMingLiU"/>
                <a:cs typeface="PMingLiU"/>
              </a:rPr>
              <a:t>小元素在</a:t>
            </a:r>
            <a:r>
              <a:rPr sz="2200" spc="-10">
                <a:latin typeface="Cambria Math"/>
                <a:cs typeface="Cambria Math"/>
              </a:rPr>
              <a:t>𝑨[𝒑.</a:t>
            </a:r>
            <a:r>
              <a:rPr sz="2200" spc="-85">
                <a:latin typeface="Cambria Math"/>
                <a:cs typeface="Cambria Math"/>
              </a:rPr>
              <a:t> . </a:t>
            </a:r>
            <a:r>
              <a:rPr sz="2200">
                <a:latin typeface="Cambria Math"/>
                <a:cs typeface="Cambria Math"/>
              </a:rPr>
              <a:t>𝒒</a:t>
            </a:r>
            <a:r>
              <a:rPr sz="2200" spc="5">
                <a:latin typeface="Cambria Math"/>
                <a:cs typeface="Cambria Math"/>
              </a:rPr>
              <a:t> − </a:t>
            </a:r>
            <a:r>
              <a:rPr sz="2200" spc="-10">
                <a:latin typeface="Cambria Math"/>
                <a:cs typeface="Cambria Math"/>
              </a:rPr>
              <a:t>𝟏]</a:t>
            </a:r>
            <a:r>
              <a:rPr sz="2200" spc="-50">
                <a:latin typeface="PMingLiU"/>
                <a:cs typeface="PMingLiU"/>
              </a:rPr>
              <a:t>中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9DBCF853-83CC-1E43-8462-206A8E64780E}"/>
              </a:ext>
            </a:extLst>
          </p:cNvPr>
          <p:cNvSpPr/>
          <p:nvPr/>
        </p:nvSpPr>
        <p:spPr>
          <a:xfrm>
            <a:off x="990600" y="3883262"/>
            <a:ext cx="5069205" cy="1207135"/>
          </a:xfrm>
          <a:custGeom>
            <a:avLst/>
            <a:gdLst/>
            <a:ahLst/>
            <a:cxnLst/>
            <a:rect l="l" t="t" r="r" b="b"/>
            <a:pathLst>
              <a:path w="5069205" h="1207135">
                <a:moveTo>
                  <a:pt x="0" y="201168"/>
                </a:moveTo>
                <a:lnTo>
                  <a:pt x="5313" y="155034"/>
                </a:lnTo>
                <a:lnTo>
                  <a:pt x="20447" y="112689"/>
                </a:lnTo>
                <a:lnTo>
                  <a:pt x="44195" y="75338"/>
                </a:lnTo>
                <a:lnTo>
                  <a:pt x="75348" y="44187"/>
                </a:lnTo>
                <a:lnTo>
                  <a:pt x="112700" y="20442"/>
                </a:lnTo>
                <a:lnTo>
                  <a:pt x="155042" y="5311"/>
                </a:lnTo>
                <a:lnTo>
                  <a:pt x="201168" y="0"/>
                </a:lnTo>
                <a:lnTo>
                  <a:pt x="4867656" y="0"/>
                </a:lnTo>
                <a:lnTo>
                  <a:pt x="4913789" y="5311"/>
                </a:lnTo>
                <a:lnTo>
                  <a:pt x="4956134" y="20442"/>
                </a:lnTo>
                <a:lnTo>
                  <a:pt x="4993485" y="44187"/>
                </a:lnTo>
                <a:lnTo>
                  <a:pt x="5024636" y="75338"/>
                </a:lnTo>
                <a:lnTo>
                  <a:pt x="5048381" y="112689"/>
                </a:lnTo>
                <a:lnTo>
                  <a:pt x="5063512" y="155034"/>
                </a:lnTo>
                <a:lnTo>
                  <a:pt x="5068824" y="201168"/>
                </a:lnTo>
                <a:lnTo>
                  <a:pt x="5068824" y="1005840"/>
                </a:lnTo>
                <a:lnTo>
                  <a:pt x="5063512" y="1051973"/>
                </a:lnTo>
                <a:lnTo>
                  <a:pt x="5048381" y="1094318"/>
                </a:lnTo>
                <a:lnTo>
                  <a:pt x="5024636" y="1131669"/>
                </a:lnTo>
                <a:lnTo>
                  <a:pt x="4993485" y="1162820"/>
                </a:lnTo>
                <a:lnTo>
                  <a:pt x="4956134" y="1186565"/>
                </a:lnTo>
                <a:lnTo>
                  <a:pt x="4913789" y="1201696"/>
                </a:lnTo>
                <a:lnTo>
                  <a:pt x="4867656" y="1207008"/>
                </a:lnTo>
                <a:lnTo>
                  <a:pt x="201168" y="1207008"/>
                </a:lnTo>
                <a:lnTo>
                  <a:pt x="155042" y="1201696"/>
                </a:lnTo>
                <a:lnTo>
                  <a:pt x="112700" y="1186565"/>
                </a:lnTo>
                <a:lnTo>
                  <a:pt x="75348" y="1162820"/>
                </a:lnTo>
                <a:lnTo>
                  <a:pt x="44195" y="1131669"/>
                </a:lnTo>
                <a:lnTo>
                  <a:pt x="20447" y="1094318"/>
                </a:lnTo>
                <a:lnTo>
                  <a:pt x="5313" y="1051973"/>
                </a:lnTo>
                <a:lnTo>
                  <a:pt x="0" y="1005840"/>
                </a:lnTo>
                <a:lnTo>
                  <a:pt x="0" y="201168"/>
                </a:lnTo>
                <a:close/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838944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79EA1795-4D50-2B43-8DB7-9480FBBFDA91}"/>
              </a:ext>
            </a:extLst>
          </p:cNvPr>
          <p:cNvSpPr txBox="1"/>
          <p:nvPr/>
        </p:nvSpPr>
        <p:spPr>
          <a:xfrm>
            <a:off x="688340" y="1018251"/>
            <a:ext cx="32308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8092F0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b="1" dirty="0">
                <a:latin typeface="Times New Roman"/>
                <a:cs typeface="Times New Roman"/>
              </a:rPr>
              <a:t>Selection(</a:t>
            </a:r>
            <a:r>
              <a:rPr sz="2800" dirty="0">
                <a:latin typeface="Cambria Math"/>
                <a:cs typeface="Cambria Math"/>
              </a:rPr>
              <a:t>𝑨,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𝒑,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𝒓,</a:t>
            </a:r>
            <a:r>
              <a:rPr sz="2800" spc="-155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𝒌</a:t>
            </a:r>
            <a:r>
              <a:rPr sz="2800" b="1" spc="-2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565A7B6D-22F7-0843-BD52-FADFE62183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0881" y="146078"/>
            <a:ext cx="708190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 err="1">
                <a:latin typeface="SimSun" panose="02010600030101010101" pitchFamily="2" charset="-122"/>
                <a:ea typeface="SimSun" panose="02010600030101010101" pitchFamily="2" charset="-122"/>
              </a:rPr>
              <a:t>固定位置次序选择：伪代</a:t>
            </a:r>
            <a:r>
              <a:rPr spc="-50" dirty="0" err="1">
                <a:latin typeface="SimSun" panose="02010600030101010101" pitchFamily="2" charset="-122"/>
                <a:ea typeface="SimSun" panose="02010600030101010101" pitchFamily="2" charset="-122"/>
              </a:rPr>
              <a:t>码</a:t>
            </a:r>
            <a:endParaRPr spc="-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8" name="object 2">
            <a:extLst>
              <a:ext uri="{FF2B5EF4-FFF2-40B4-BE49-F238E27FC236}">
                <a16:creationId xmlns:a16="http://schemas.microsoft.com/office/drawing/2014/main" id="{0C13DA5F-A381-8848-8A2D-D76175F4635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85515" y="1518708"/>
            <a:ext cx="11048558" cy="5010494"/>
          </a:xfrm>
          <a:prstGeom prst="rect">
            <a:avLst/>
          </a:prstGeom>
        </p:spPr>
      </p:pic>
      <p:sp>
        <p:nvSpPr>
          <p:cNvPr id="9" name="object 5">
            <a:extLst>
              <a:ext uri="{FF2B5EF4-FFF2-40B4-BE49-F238E27FC236}">
                <a16:creationId xmlns:a16="http://schemas.microsoft.com/office/drawing/2014/main" id="{B56BD1BB-BED6-C246-905B-BE3E3A24213E}"/>
              </a:ext>
            </a:extLst>
          </p:cNvPr>
          <p:cNvSpPr txBox="1"/>
          <p:nvPr/>
        </p:nvSpPr>
        <p:spPr>
          <a:xfrm>
            <a:off x="7527417" y="5002258"/>
            <a:ext cx="4020820" cy="482600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 marL="382270">
              <a:lnSpc>
                <a:spcPct val="100000"/>
              </a:lnSpc>
              <a:spcBef>
                <a:spcPts val="565"/>
              </a:spcBef>
            </a:pPr>
            <a:r>
              <a:rPr sz="2200">
                <a:latin typeface="PMingLiU"/>
                <a:cs typeface="PMingLiU"/>
              </a:rPr>
              <a:t>第</a:t>
            </a:r>
            <a:r>
              <a:rPr sz="2200">
                <a:latin typeface="Cambria Math"/>
                <a:cs typeface="Cambria Math"/>
              </a:rPr>
              <a:t>𝒌</a:t>
            </a:r>
            <a:r>
              <a:rPr sz="2200">
                <a:latin typeface="PMingLiU"/>
                <a:cs typeface="PMingLiU"/>
              </a:rPr>
              <a:t>小元素在</a:t>
            </a:r>
            <a:r>
              <a:rPr sz="2200">
                <a:latin typeface="Cambria Math"/>
                <a:cs typeface="Cambria Math"/>
              </a:rPr>
              <a:t>𝑨[𝒒</a:t>
            </a:r>
            <a:r>
              <a:rPr sz="2200" spc="-5">
                <a:latin typeface="Cambria Math"/>
                <a:cs typeface="Cambria Math"/>
              </a:rPr>
              <a:t> + </a:t>
            </a:r>
            <a:r>
              <a:rPr sz="2200">
                <a:latin typeface="Cambria Math"/>
                <a:cs typeface="Cambria Math"/>
              </a:rPr>
              <a:t>𝟏.</a:t>
            </a:r>
            <a:r>
              <a:rPr sz="2200" spc="-85">
                <a:latin typeface="Cambria Math"/>
                <a:cs typeface="Cambria Math"/>
              </a:rPr>
              <a:t> . </a:t>
            </a:r>
            <a:r>
              <a:rPr sz="2200" spc="-10">
                <a:latin typeface="Cambria Math"/>
                <a:cs typeface="Cambria Math"/>
              </a:rPr>
              <a:t>𝒓]</a:t>
            </a:r>
            <a:r>
              <a:rPr sz="2200" spc="-50">
                <a:latin typeface="PMingLiU"/>
                <a:cs typeface="PMingLiU"/>
              </a:rPr>
              <a:t>中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9B804F7D-B8EE-9F49-9067-975191B87F6A}"/>
              </a:ext>
            </a:extLst>
          </p:cNvPr>
          <p:cNvSpPr/>
          <p:nvPr/>
        </p:nvSpPr>
        <p:spPr>
          <a:xfrm>
            <a:off x="990600" y="5001877"/>
            <a:ext cx="6456680" cy="843915"/>
          </a:xfrm>
          <a:custGeom>
            <a:avLst/>
            <a:gdLst/>
            <a:ahLst/>
            <a:cxnLst/>
            <a:rect l="l" t="t" r="r" b="b"/>
            <a:pathLst>
              <a:path w="6456680" h="843914">
                <a:moveTo>
                  <a:pt x="0" y="140588"/>
                </a:moveTo>
                <a:lnTo>
                  <a:pt x="7167" y="96170"/>
                </a:lnTo>
                <a:lnTo>
                  <a:pt x="27124" y="57579"/>
                </a:lnTo>
                <a:lnTo>
                  <a:pt x="57557" y="27139"/>
                </a:lnTo>
                <a:lnTo>
                  <a:pt x="96150" y="7171"/>
                </a:lnTo>
                <a:lnTo>
                  <a:pt x="140588" y="0"/>
                </a:lnTo>
                <a:lnTo>
                  <a:pt x="6315836" y="0"/>
                </a:lnTo>
                <a:lnTo>
                  <a:pt x="6360255" y="7171"/>
                </a:lnTo>
                <a:lnTo>
                  <a:pt x="6398846" y="27139"/>
                </a:lnTo>
                <a:lnTo>
                  <a:pt x="6429286" y="57579"/>
                </a:lnTo>
                <a:lnTo>
                  <a:pt x="6449254" y="96170"/>
                </a:lnTo>
                <a:lnTo>
                  <a:pt x="6456426" y="140588"/>
                </a:lnTo>
                <a:lnTo>
                  <a:pt x="6456426" y="702944"/>
                </a:lnTo>
                <a:lnTo>
                  <a:pt x="6449254" y="747383"/>
                </a:lnTo>
                <a:lnTo>
                  <a:pt x="6429286" y="785976"/>
                </a:lnTo>
                <a:lnTo>
                  <a:pt x="6398846" y="816409"/>
                </a:lnTo>
                <a:lnTo>
                  <a:pt x="6360255" y="836366"/>
                </a:lnTo>
                <a:lnTo>
                  <a:pt x="6315836" y="843534"/>
                </a:lnTo>
                <a:lnTo>
                  <a:pt x="140588" y="843534"/>
                </a:lnTo>
                <a:lnTo>
                  <a:pt x="96150" y="836366"/>
                </a:lnTo>
                <a:lnTo>
                  <a:pt x="57557" y="816409"/>
                </a:lnTo>
                <a:lnTo>
                  <a:pt x="27124" y="785976"/>
                </a:lnTo>
                <a:lnTo>
                  <a:pt x="7167" y="747383"/>
                </a:lnTo>
                <a:lnTo>
                  <a:pt x="0" y="702944"/>
                </a:lnTo>
                <a:lnTo>
                  <a:pt x="0" y="140588"/>
                </a:lnTo>
                <a:close/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0332509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53131;#53131;#177509;#76194;#81515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53131;#53131;#177509;#76194;#81515;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20461</TotalTime>
  <Words>6309</Words>
  <Application>Microsoft Macintosh PowerPoint</Application>
  <PresentationFormat>宽屏</PresentationFormat>
  <Paragraphs>2422</Paragraphs>
  <Slides>105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105</vt:i4>
      </vt:variant>
    </vt:vector>
  </HeadingPairs>
  <TitlesOfParts>
    <vt:vector size="119" baseType="lpstr">
      <vt:lpstr>等线</vt:lpstr>
      <vt:lpstr>等线 Light</vt:lpstr>
      <vt:lpstr>方正大标宋简体</vt:lpstr>
      <vt:lpstr>方正清刻本悦宋简体</vt:lpstr>
      <vt:lpstr>宋体</vt:lpstr>
      <vt:lpstr>宋体</vt:lpstr>
      <vt:lpstr>微软雅黑</vt:lpstr>
      <vt:lpstr>PMingLiU</vt:lpstr>
      <vt:lpstr>Times New Roman Regular</vt:lpstr>
      <vt:lpstr>Arial</vt:lpstr>
      <vt:lpstr>Cambria Math</vt:lpstr>
      <vt:lpstr>Times New Roman</vt:lpstr>
      <vt:lpstr>Wingdings</vt:lpstr>
      <vt:lpstr>Office 主题​​</vt:lpstr>
      <vt:lpstr>算法设计与分析</vt:lpstr>
      <vt:lpstr>PowerPoint 演示文稿</vt:lpstr>
      <vt:lpstr>PowerPoint 演示文稿</vt:lpstr>
      <vt:lpstr>分而治之：一般步骤</vt:lpstr>
      <vt:lpstr>算法回顾：归并排序</vt:lpstr>
      <vt:lpstr>算法回顾：归并排序</vt:lpstr>
      <vt:lpstr>算法回顾：归并排序</vt:lpstr>
      <vt:lpstr>算法回顾：归并排序</vt:lpstr>
      <vt:lpstr>数组划分</vt:lpstr>
      <vt:lpstr>数组划分</vt:lpstr>
      <vt:lpstr>数组划分</vt:lpstr>
      <vt:lpstr>数组划分</vt:lpstr>
      <vt:lpstr>数组划分</vt:lpstr>
      <vt:lpstr>数组划分</vt:lpstr>
      <vt:lpstr>数组划分</vt:lpstr>
      <vt:lpstr>数组划分</vt:lpstr>
      <vt:lpstr>数组划分</vt:lpstr>
      <vt:lpstr>数组划分</vt:lpstr>
      <vt:lpstr>数组划分</vt:lpstr>
      <vt:lpstr>数组划分</vt:lpstr>
      <vt:lpstr>数组划分</vt:lpstr>
      <vt:lpstr>数组划分</vt:lpstr>
      <vt:lpstr>数组划分</vt:lpstr>
      <vt:lpstr>数组划分</vt:lpstr>
      <vt:lpstr>数组划分</vt:lpstr>
      <vt:lpstr>数组划分</vt:lpstr>
      <vt:lpstr>数组划分</vt:lpstr>
      <vt:lpstr>数组划分</vt:lpstr>
      <vt:lpstr>数组划分</vt:lpstr>
      <vt:lpstr>数组划分</vt:lpstr>
      <vt:lpstr>数组划分：伪代码</vt:lpstr>
      <vt:lpstr>数组划分：伪代码</vt:lpstr>
      <vt:lpstr>数组划分：伪代码</vt:lpstr>
      <vt:lpstr>数组划分：伪代码</vt:lpstr>
      <vt:lpstr>快速排序：算法框架</vt:lpstr>
      <vt:lpstr>快速排序：算法框架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快速排序：伪代码</vt:lpstr>
      <vt:lpstr>快速排序：伪代码</vt:lpstr>
      <vt:lpstr>算法设计与分析</vt:lpstr>
      <vt:lpstr>问题背景：最小值查找</vt:lpstr>
      <vt:lpstr>问题定义</vt:lpstr>
      <vt:lpstr>排序求解</vt:lpstr>
      <vt:lpstr>问题分析</vt:lpstr>
      <vt:lpstr>问题分析</vt:lpstr>
      <vt:lpstr>问题分析</vt:lpstr>
      <vt:lpstr>问题分析</vt:lpstr>
      <vt:lpstr>回顾与启发</vt:lpstr>
      <vt:lpstr>回顾与启发</vt:lpstr>
      <vt:lpstr>回顾与启发</vt:lpstr>
      <vt:lpstr>回顾与启发</vt:lpstr>
      <vt:lpstr>回顾与启发</vt:lpstr>
      <vt:lpstr>回顾与启发</vt:lpstr>
      <vt:lpstr>回顾与启发</vt:lpstr>
      <vt:lpstr>回顾与启发</vt:lpstr>
      <vt:lpstr>回顾与启发</vt:lpstr>
      <vt:lpstr>回顾与启发</vt:lpstr>
      <vt:lpstr>回顾与启发</vt:lpstr>
      <vt:lpstr>回顾与启发</vt:lpstr>
      <vt:lpstr>回顾与启发</vt:lpstr>
      <vt:lpstr>回顾与启发</vt:lpstr>
      <vt:lpstr>回顾与启发</vt:lpstr>
      <vt:lpstr>回顾与启发</vt:lpstr>
      <vt:lpstr>回顾与启发</vt:lpstr>
      <vt:lpstr>固定位置划分求解</vt:lpstr>
      <vt:lpstr>固定位置划分求解</vt:lpstr>
      <vt:lpstr>固定位置划分求解</vt:lpstr>
      <vt:lpstr>固定位置划分求解</vt:lpstr>
      <vt:lpstr>固定位置划分求解</vt:lpstr>
      <vt:lpstr>固定位置划分求解</vt:lpstr>
      <vt:lpstr>固定位置划分求解</vt:lpstr>
      <vt:lpstr>固定位置划分求解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算法实例</vt:lpstr>
      <vt:lpstr>固定位置划分：伪代码</vt:lpstr>
      <vt:lpstr>固定位置划分：伪代码</vt:lpstr>
      <vt:lpstr>固定位置划分：伪代码</vt:lpstr>
      <vt:lpstr>固定位置划分：伪代码</vt:lpstr>
      <vt:lpstr>固定位置划分：伪代码</vt:lpstr>
      <vt:lpstr>固定位置划分：伪代码</vt:lpstr>
      <vt:lpstr>固定位置次序选择：伪代码</vt:lpstr>
      <vt:lpstr>固定位置次序选择：伪代码</vt:lpstr>
      <vt:lpstr>固定位置次序选择：伪代码</vt:lpstr>
      <vt:lpstr>固定位置次序选择：伪代码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赵 浩然</dc:creator>
  <cp:lastModifiedBy>赵 浩然</cp:lastModifiedBy>
  <cp:revision>758</cp:revision>
  <dcterms:created xsi:type="dcterms:W3CDTF">2022-08-31T02:13:47Z</dcterms:created>
  <dcterms:modified xsi:type="dcterms:W3CDTF">2023-05-17T00:56:50Z</dcterms:modified>
</cp:coreProperties>
</file>