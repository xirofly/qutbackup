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2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395" r:id="rId2"/>
    <p:sldId id="259" r:id="rId3"/>
    <p:sldId id="425" r:id="rId4"/>
    <p:sldId id="527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8" r:id="rId19"/>
    <p:sldId id="549" r:id="rId20"/>
    <p:sldId id="550" r:id="rId21"/>
    <p:sldId id="551" r:id="rId22"/>
    <p:sldId id="552" r:id="rId23"/>
    <p:sldId id="427" r:id="rId24"/>
    <p:sldId id="435" r:id="rId25"/>
    <p:sldId id="436" r:id="rId26"/>
    <p:sldId id="440" r:id="rId27"/>
    <p:sldId id="441" r:id="rId28"/>
    <p:sldId id="437" r:id="rId29"/>
    <p:sldId id="438" r:id="rId30"/>
    <p:sldId id="439" r:id="rId31"/>
    <p:sldId id="442" r:id="rId32"/>
    <p:sldId id="443" r:id="rId33"/>
    <p:sldId id="444" r:id="rId34"/>
    <p:sldId id="445" r:id="rId35"/>
    <p:sldId id="446" r:id="rId36"/>
    <p:sldId id="447" r:id="rId37"/>
    <p:sldId id="448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56" r:id="rId46"/>
    <p:sldId id="457" r:id="rId47"/>
    <p:sldId id="458" r:id="rId48"/>
    <p:sldId id="459" r:id="rId49"/>
    <p:sldId id="460" r:id="rId50"/>
    <p:sldId id="461" r:id="rId51"/>
    <p:sldId id="462" r:id="rId52"/>
    <p:sldId id="463" r:id="rId53"/>
    <p:sldId id="464" r:id="rId54"/>
    <p:sldId id="465" r:id="rId55"/>
    <p:sldId id="466" r:id="rId56"/>
    <p:sldId id="467" r:id="rId57"/>
    <p:sldId id="468" r:id="rId58"/>
    <p:sldId id="469" r:id="rId59"/>
    <p:sldId id="553" r:id="rId60"/>
    <p:sldId id="470" r:id="rId61"/>
    <p:sldId id="471" r:id="rId62"/>
    <p:sldId id="472" r:id="rId63"/>
    <p:sldId id="473" r:id="rId64"/>
    <p:sldId id="474" r:id="rId65"/>
    <p:sldId id="475" r:id="rId66"/>
    <p:sldId id="476" r:id="rId67"/>
    <p:sldId id="477" r:id="rId68"/>
    <p:sldId id="478" r:id="rId69"/>
    <p:sldId id="479" r:id="rId70"/>
    <p:sldId id="480" r:id="rId71"/>
    <p:sldId id="481" r:id="rId72"/>
    <p:sldId id="483" r:id="rId73"/>
    <p:sldId id="484" r:id="rId74"/>
    <p:sldId id="485" r:id="rId75"/>
    <p:sldId id="486" r:id="rId76"/>
    <p:sldId id="487" r:id="rId77"/>
    <p:sldId id="488" r:id="rId78"/>
    <p:sldId id="489" r:id="rId79"/>
    <p:sldId id="490" r:id="rId80"/>
    <p:sldId id="491" r:id="rId81"/>
    <p:sldId id="492" r:id="rId82"/>
    <p:sldId id="493" r:id="rId83"/>
    <p:sldId id="494" r:id="rId84"/>
    <p:sldId id="495" r:id="rId85"/>
    <p:sldId id="497" r:id="rId86"/>
    <p:sldId id="496" r:id="rId87"/>
    <p:sldId id="498" r:id="rId88"/>
    <p:sldId id="499" r:id="rId89"/>
    <p:sldId id="500" r:id="rId90"/>
    <p:sldId id="503" r:id="rId91"/>
    <p:sldId id="504" r:id="rId92"/>
    <p:sldId id="505" r:id="rId93"/>
    <p:sldId id="506" r:id="rId94"/>
    <p:sldId id="507" r:id="rId95"/>
    <p:sldId id="508" r:id="rId96"/>
    <p:sldId id="509" r:id="rId97"/>
    <p:sldId id="510" r:id="rId98"/>
    <p:sldId id="511" r:id="rId99"/>
    <p:sldId id="512" r:id="rId100"/>
    <p:sldId id="513" r:id="rId101"/>
    <p:sldId id="514" r:id="rId102"/>
    <p:sldId id="515" r:id="rId103"/>
    <p:sldId id="516" r:id="rId104"/>
    <p:sldId id="517" r:id="rId105"/>
    <p:sldId id="518" r:id="rId106"/>
    <p:sldId id="519" r:id="rId107"/>
    <p:sldId id="520" r:id="rId108"/>
    <p:sldId id="521" r:id="rId109"/>
    <p:sldId id="522" r:id="rId110"/>
    <p:sldId id="523" r:id="rId111"/>
    <p:sldId id="524" r:id="rId112"/>
    <p:sldId id="525" r:id="rId113"/>
    <p:sldId id="528" r:id="rId114"/>
    <p:sldId id="530" r:id="rId115"/>
    <p:sldId id="531" r:id="rId116"/>
    <p:sldId id="532" r:id="rId117"/>
    <p:sldId id="533" r:id="rId118"/>
    <p:sldId id="529" r:id="rId119"/>
    <p:sldId id="526" r:id="rId120"/>
    <p:sldId id="428" r:id="rId121"/>
    <p:sldId id="429" r:id="rId122"/>
    <p:sldId id="430" r:id="rId123"/>
    <p:sldId id="431" r:id="rId124"/>
    <p:sldId id="432" r:id="rId125"/>
    <p:sldId id="433" r:id="rId1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26"/>
    <p:restoredTop sz="83632"/>
  </p:normalViewPr>
  <p:slideViewPr>
    <p:cSldViewPr snapToGrid="0" snapToObjects="1">
      <p:cViewPr varScale="1">
        <p:scale>
          <a:sx n="70" d="100"/>
          <a:sy n="70" d="100"/>
        </p:scale>
        <p:origin x="946" y="-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抽象出来，就是分而治之策略。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0893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6457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5801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306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0513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0678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7996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2566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如果是一个未受过算法设计训练的同学来做，通常会想到蛮力枚举这种方法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5980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817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113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0172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5079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2152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5742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9726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1868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4862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共三层循环，首先第一层循环，枚举所有可能的起点下标，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9821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9226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然后计算</a:t>
            </a:r>
            <a:r>
              <a:rPr kumimoji="1" lang="en-US" altLang="zh-CN" dirty="0"/>
              <a:t>S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l,r</a:t>
            </a:r>
            <a:r>
              <a:rPr kumimoji="1" lang="zh-CN" altLang="en-US" dirty="0"/>
              <a:t>）</a:t>
            </a:r>
            <a:r>
              <a:rPr kumimoji="1" lang="en-US" altLang="zh-CN" dirty="0"/>
              <a:t>,</a:t>
            </a:r>
            <a:r>
              <a:rPr kumimoji="1" lang="zh-CN" altLang="en-US" dirty="0"/>
              <a:t>初始为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，然后</a:t>
            </a:r>
            <a:r>
              <a:rPr kumimoji="1" lang="en-US" altLang="zh-CN" dirty="0" err="1"/>
              <a:t>i</a:t>
            </a:r>
            <a:r>
              <a:rPr kumimoji="1" lang="zh-CN" altLang="en-US" dirty="0"/>
              <a:t>从</a:t>
            </a:r>
            <a:r>
              <a:rPr kumimoji="1" lang="en-US" altLang="zh-CN" dirty="0"/>
              <a:t>l</a:t>
            </a:r>
            <a:r>
              <a:rPr kumimoji="1" lang="zh-CN" altLang="en-US" dirty="0"/>
              <a:t>一直到</a:t>
            </a:r>
            <a:r>
              <a:rPr kumimoji="1" lang="en-US" altLang="zh-CN" dirty="0"/>
              <a:t>r</a:t>
            </a:r>
            <a:r>
              <a:rPr kumimoji="1" lang="zh-CN" altLang="en-US" dirty="0"/>
              <a:t>，计算出</a:t>
            </a:r>
            <a:r>
              <a:rPr kumimoji="1" lang="en-US" altLang="zh-CN" dirty="0"/>
              <a:t>s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l,r</a:t>
            </a:r>
            <a:r>
              <a:rPr kumimoji="1" lang="zh-CN" altLang="en-US" dirty="0"/>
              <a:t>）</a:t>
            </a:r>
            <a:r>
              <a:rPr kumimoji="1" lang="en-US" altLang="zh-CN" dirty="0"/>
              <a:t>,</a:t>
            </a:r>
            <a:r>
              <a:rPr kumimoji="1" lang="zh-CN" altLang="en-US" dirty="0"/>
              <a:t>然后比较当前</a:t>
            </a:r>
            <a:r>
              <a:rPr kumimoji="1" lang="en-US" altLang="zh-CN" dirty="0"/>
              <a:t>s(</a:t>
            </a:r>
            <a:r>
              <a:rPr kumimoji="1" lang="en-US" altLang="zh-CN" dirty="0" err="1"/>
              <a:t>l,r</a:t>
            </a:r>
            <a:r>
              <a:rPr kumimoji="1" lang="en-US" altLang="zh-CN" dirty="0"/>
              <a:t>)</a:t>
            </a:r>
            <a:r>
              <a:rPr kumimoji="1" lang="zh-CN" altLang="en-US" dirty="0"/>
              <a:t>如果比之前的</a:t>
            </a:r>
            <a:r>
              <a:rPr kumimoji="1" lang="en-US" altLang="zh-CN" dirty="0" err="1"/>
              <a:t>smax</a:t>
            </a:r>
            <a:r>
              <a:rPr kumimoji="1" lang="zh-CN" altLang="en-US" dirty="0"/>
              <a:t>值大，就更新一下</a:t>
            </a:r>
            <a:r>
              <a:rPr kumimoji="1" lang="en-US" altLang="zh-CN" dirty="0" err="1"/>
              <a:t>smax</a:t>
            </a:r>
            <a:r>
              <a:rPr kumimoji="1" lang="zh-CN" altLang="en-US" dirty="0"/>
              <a:t>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3283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算法虽然很容易理解，很简单，但是它的开销并不低，我们来看一下时间复杂度。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77887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05517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我们稍微观察一下，可以发现这个计算过程存在重复计算，其中有</a:t>
            </a:r>
            <a:r>
              <a:rPr kumimoji="1" lang="en-US" altLang="zh-CN" dirty="0"/>
              <a:t>6</a:t>
            </a:r>
            <a:r>
              <a:rPr kumimoji="1" lang="zh-CN" altLang="en-US" dirty="0"/>
              <a:t>位数在之前</a:t>
            </a:r>
            <a:r>
              <a:rPr kumimoji="1" lang="en-US" altLang="zh-CN" dirty="0"/>
              <a:t>S(3,8)</a:t>
            </a:r>
            <a:r>
              <a:rPr kumimoji="1" lang="zh-CN" altLang="en-US" dirty="0"/>
              <a:t>里面算过，在</a:t>
            </a:r>
            <a:r>
              <a:rPr kumimoji="1" lang="en-US" altLang="zh-CN" dirty="0"/>
              <a:t>S(3,9)</a:t>
            </a:r>
            <a:r>
              <a:rPr kumimoji="1" lang="zh-CN" altLang="en-US" dirty="0"/>
              <a:t>里又重复计算了，如何避免这种重复计算，可以启发我们优化枚举。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541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善于利用已经有的数据，避免重复计算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99252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枚举算法已经优化到这个地步了，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38445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0914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64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05380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85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5404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85523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873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04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44526" y="2794468"/>
            <a:ext cx="6301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第四章 基本的算法策略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871972-7126-AE40-8810-E975CFED9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873" y="1434464"/>
            <a:ext cx="7488237" cy="47148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4.1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迭代算法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4.2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蛮力法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4.3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分治算法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4.4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贪婪算法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4.5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动态规划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4.6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算法策略间的比较</a:t>
            </a:r>
          </a:p>
        </p:txBody>
      </p:sp>
    </p:spTree>
    <p:extLst>
      <p:ext uri="{BB962C8B-B14F-4D97-AF65-F5344CB8AC3E}">
        <p14:creationId xmlns:p14="http://schemas.microsoft.com/office/powerpoint/2010/main" val="8279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EC8EAB-113D-E944-8247-A200BF8FD4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9776" y="346867"/>
            <a:ext cx="484622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E748A7F-0E30-CF40-90CB-B6B22C48576D}"/>
              </a:ext>
            </a:extLst>
          </p:cNvPr>
          <p:cNvSpPr/>
          <p:nvPr/>
        </p:nvSpPr>
        <p:spPr>
          <a:xfrm>
            <a:off x="1874139" y="1288569"/>
            <a:ext cx="2117725" cy="902335"/>
          </a:xfrm>
          <a:custGeom>
            <a:avLst/>
            <a:gdLst/>
            <a:ahLst/>
            <a:cxnLst/>
            <a:rect l="l" t="t" r="r" b="b"/>
            <a:pathLst>
              <a:path w="2117725" h="902335">
                <a:moveTo>
                  <a:pt x="2027427" y="0"/>
                </a:moveTo>
                <a:lnTo>
                  <a:pt x="90169" y="0"/>
                </a:lnTo>
                <a:lnTo>
                  <a:pt x="55078" y="7088"/>
                </a:lnTo>
                <a:lnTo>
                  <a:pt x="26415" y="26416"/>
                </a:lnTo>
                <a:lnTo>
                  <a:pt x="7088" y="55078"/>
                </a:lnTo>
                <a:lnTo>
                  <a:pt x="0" y="90170"/>
                </a:lnTo>
                <a:lnTo>
                  <a:pt x="0" y="812038"/>
                </a:lnTo>
                <a:lnTo>
                  <a:pt x="7088" y="847129"/>
                </a:lnTo>
                <a:lnTo>
                  <a:pt x="26415" y="875791"/>
                </a:lnTo>
                <a:lnTo>
                  <a:pt x="55078" y="895119"/>
                </a:lnTo>
                <a:lnTo>
                  <a:pt x="90169" y="902208"/>
                </a:lnTo>
                <a:lnTo>
                  <a:pt x="2027427" y="902208"/>
                </a:lnTo>
                <a:lnTo>
                  <a:pt x="2062519" y="895119"/>
                </a:lnTo>
                <a:lnTo>
                  <a:pt x="2091181" y="875791"/>
                </a:lnTo>
                <a:lnTo>
                  <a:pt x="2110509" y="847129"/>
                </a:lnTo>
                <a:lnTo>
                  <a:pt x="2117598" y="812038"/>
                </a:lnTo>
                <a:lnTo>
                  <a:pt x="2117598" y="90170"/>
                </a:lnTo>
                <a:lnTo>
                  <a:pt x="2110509" y="55078"/>
                </a:lnTo>
                <a:lnTo>
                  <a:pt x="2091181" y="26416"/>
                </a:lnTo>
                <a:lnTo>
                  <a:pt x="2062519" y="7088"/>
                </a:lnTo>
                <a:lnTo>
                  <a:pt x="2027427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767CB25-F465-ED41-B2D3-91C4D7F2BDAD}"/>
              </a:ext>
            </a:extLst>
          </p:cNvPr>
          <p:cNvSpPr txBox="1"/>
          <p:nvPr/>
        </p:nvSpPr>
        <p:spPr>
          <a:xfrm>
            <a:off x="2094992" y="1470560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分解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原问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36A797-24A3-D148-87A5-FC83798DED3E}"/>
              </a:ext>
            </a:extLst>
          </p:cNvPr>
          <p:cNvSpPr/>
          <p:nvPr/>
        </p:nvSpPr>
        <p:spPr>
          <a:xfrm>
            <a:off x="2622804" y="2315364"/>
            <a:ext cx="620395" cy="750570"/>
          </a:xfrm>
          <a:custGeom>
            <a:avLst/>
            <a:gdLst/>
            <a:ahLst/>
            <a:cxnLst/>
            <a:rect l="l" t="t" r="r" b="b"/>
            <a:pathLst>
              <a:path w="620394" h="750569">
                <a:moveTo>
                  <a:pt x="496188" y="0"/>
                </a:moveTo>
                <a:lnTo>
                  <a:pt x="124078" y="0"/>
                </a:lnTo>
                <a:lnTo>
                  <a:pt x="124078" y="440436"/>
                </a:lnTo>
                <a:lnTo>
                  <a:pt x="0" y="440436"/>
                </a:lnTo>
                <a:lnTo>
                  <a:pt x="310133" y="750570"/>
                </a:lnTo>
                <a:lnTo>
                  <a:pt x="620268" y="440436"/>
                </a:lnTo>
                <a:lnTo>
                  <a:pt x="496188" y="440436"/>
                </a:lnTo>
                <a:lnTo>
                  <a:pt x="49618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BDF4D93-B60A-304D-B9C3-1423734AE853}"/>
              </a:ext>
            </a:extLst>
          </p:cNvPr>
          <p:cNvSpPr/>
          <p:nvPr/>
        </p:nvSpPr>
        <p:spPr>
          <a:xfrm>
            <a:off x="1874139" y="3191283"/>
            <a:ext cx="2117725" cy="902335"/>
          </a:xfrm>
          <a:custGeom>
            <a:avLst/>
            <a:gdLst/>
            <a:ahLst/>
            <a:cxnLst/>
            <a:rect l="l" t="t" r="r" b="b"/>
            <a:pathLst>
              <a:path w="2117725" h="902335">
                <a:moveTo>
                  <a:pt x="2027427" y="0"/>
                </a:moveTo>
                <a:lnTo>
                  <a:pt x="90169" y="0"/>
                </a:lnTo>
                <a:lnTo>
                  <a:pt x="55078" y="7088"/>
                </a:lnTo>
                <a:lnTo>
                  <a:pt x="26415" y="26416"/>
                </a:lnTo>
                <a:lnTo>
                  <a:pt x="7088" y="55078"/>
                </a:lnTo>
                <a:lnTo>
                  <a:pt x="0" y="90170"/>
                </a:lnTo>
                <a:lnTo>
                  <a:pt x="0" y="812038"/>
                </a:lnTo>
                <a:lnTo>
                  <a:pt x="7088" y="847129"/>
                </a:lnTo>
                <a:lnTo>
                  <a:pt x="26415" y="875792"/>
                </a:lnTo>
                <a:lnTo>
                  <a:pt x="55078" y="895119"/>
                </a:lnTo>
                <a:lnTo>
                  <a:pt x="90169" y="902208"/>
                </a:lnTo>
                <a:lnTo>
                  <a:pt x="2027427" y="902208"/>
                </a:lnTo>
                <a:lnTo>
                  <a:pt x="2062519" y="895119"/>
                </a:lnTo>
                <a:lnTo>
                  <a:pt x="2091181" y="875792"/>
                </a:lnTo>
                <a:lnTo>
                  <a:pt x="2110509" y="847129"/>
                </a:lnTo>
                <a:lnTo>
                  <a:pt x="2117598" y="812038"/>
                </a:lnTo>
                <a:lnTo>
                  <a:pt x="2117598" y="90170"/>
                </a:lnTo>
                <a:lnTo>
                  <a:pt x="2110509" y="55078"/>
                </a:lnTo>
                <a:lnTo>
                  <a:pt x="2091181" y="26416"/>
                </a:lnTo>
                <a:lnTo>
                  <a:pt x="2062519" y="7088"/>
                </a:lnTo>
                <a:lnTo>
                  <a:pt x="2027427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12B8261-623F-3843-8015-DF28C69DE7D1}"/>
              </a:ext>
            </a:extLst>
          </p:cNvPr>
          <p:cNvSpPr txBox="1"/>
          <p:nvPr/>
        </p:nvSpPr>
        <p:spPr>
          <a:xfrm>
            <a:off x="2094992" y="3372766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0DED55D-B7B7-FD43-B038-F94E413DAC27}"/>
              </a:ext>
            </a:extLst>
          </p:cNvPr>
          <p:cNvSpPr/>
          <p:nvPr/>
        </p:nvSpPr>
        <p:spPr>
          <a:xfrm>
            <a:off x="2622804" y="4218079"/>
            <a:ext cx="620395" cy="749935"/>
          </a:xfrm>
          <a:custGeom>
            <a:avLst/>
            <a:gdLst/>
            <a:ahLst/>
            <a:cxnLst/>
            <a:rect l="l" t="t" r="r" b="b"/>
            <a:pathLst>
              <a:path w="620394" h="749935">
                <a:moveTo>
                  <a:pt x="496188" y="0"/>
                </a:moveTo>
                <a:lnTo>
                  <a:pt x="124078" y="0"/>
                </a:lnTo>
                <a:lnTo>
                  <a:pt x="124078" y="439674"/>
                </a:lnTo>
                <a:lnTo>
                  <a:pt x="0" y="439674"/>
                </a:lnTo>
                <a:lnTo>
                  <a:pt x="310133" y="749807"/>
                </a:lnTo>
                <a:lnTo>
                  <a:pt x="620268" y="439674"/>
                </a:lnTo>
                <a:lnTo>
                  <a:pt x="496188" y="439674"/>
                </a:lnTo>
                <a:lnTo>
                  <a:pt x="49618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C99F854-136F-844D-B983-1EE965A3AC90}"/>
              </a:ext>
            </a:extLst>
          </p:cNvPr>
          <p:cNvSpPr/>
          <p:nvPr/>
        </p:nvSpPr>
        <p:spPr>
          <a:xfrm>
            <a:off x="1874139" y="5093236"/>
            <a:ext cx="2117725" cy="901700"/>
          </a:xfrm>
          <a:custGeom>
            <a:avLst/>
            <a:gdLst/>
            <a:ahLst/>
            <a:cxnLst/>
            <a:rect l="l" t="t" r="r" b="b"/>
            <a:pathLst>
              <a:path w="2117725" h="901700">
                <a:moveTo>
                  <a:pt x="2027427" y="0"/>
                </a:moveTo>
                <a:lnTo>
                  <a:pt x="90169" y="0"/>
                </a:lnTo>
                <a:lnTo>
                  <a:pt x="55078" y="7088"/>
                </a:lnTo>
                <a:lnTo>
                  <a:pt x="26415" y="26415"/>
                </a:lnTo>
                <a:lnTo>
                  <a:pt x="7088" y="55078"/>
                </a:lnTo>
                <a:lnTo>
                  <a:pt x="0" y="90169"/>
                </a:lnTo>
                <a:lnTo>
                  <a:pt x="0" y="811301"/>
                </a:lnTo>
                <a:lnTo>
                  <a:pt x="7088" y="846389"/>
                </a:lnTo>
                <a:lnTo>
                  <a:pt x="26415" y="875042"/>
                </a:lnTo>
                <a:lnTo>
                  <a:pt x="55078" y="894361"/>
                </a:lnTo>
                <a:lnTo>
                  <a:pt x="90169" y="901445"/>
                </a:lnTo>
                <a:lnTo>
                  <a:pt x="2027427" y="901445"/>
                </a:lnTo>
                <a:lnTo>
                  <a:pt x="2062519" y="894361"/>
                </a:lnTo>
                <a:lnTo>
                  <a:pt x="2091181" y="875042"/>
                </a:lnTo>
                <a:lnTo>
                  <a:pt x="2110509" y="846389"/>
                </a:lnTo>
                <a:lnTo>
                  <a:pt x="2117598" y="811301"/>
                </a:lnTo>
                <a:lnTo>
                  <a:pt x="2117598" y="90169"/>
                </a:lnTo>
                <a:lnTo>
                  <a:pt x="2110509" y="55078"/>
                </a:lnTo>
                <a:lnTo>
                  <a:pt x="2091181" y="26415"/>
                </a:lnTo>
                <a:lnTo>
                  <a:pt x="2062519" y="7088"/>
                </a:lnTo>
                <a:lnTo>
                  <a:pt x="2027427" y="0"/>
                </a:lnTo>
                <a:close/>
              </a:path>
            </a:pathLst>
          </a:custGeom>
          <a:solidFill>
            <a:srgbClr val="18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E4D2940E-AB00-664C-BAB6-A519C499657E}"/>
              </a:ext>
            </a:extLst>
          </p:cNvPr>
          <p:cNvSpPr txBox="1"/>
          <p:nvPr/>
        </p:nvSpPr>
        <p:spPr>
          <a:xfrm>
            <a:off x="2094992" y="5274464"/>
            <a:ext cx="16751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25">
                <a:solidFill>
                  <a:srgbClr val="FFFFFF"/>
                </a:solidFill>
                <a:latin typeface="宋体"/>
                <a:cs typeface="宋体"/>
              </a:rPr>
              <a:t>问题解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A7C01172-E82C-9742-8D5C-36FBD611B133}"/>
              </a:ext>
            </a:extLst>
          </p:cNvPr>
          <p:cNvSpPr txBox="1"/>
          <p:nvPr/>
        </p:nvSpPr>
        <p:spPr>
          <a:xfrm>
            <a:off x="5836539" y="1324383"/>
            <a:ext cx="4607560" cy="81153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L="488315">
              <a:lnSpc>
                <a:spcPct val="100000"/>
              </a:lnSpc>
              <a:spcBef>
                <a:spcPts val="1305"/>
              </a:spcBef>
            </a:pPr>
            <a:r>
              <a:rPr sz="2600" spc="-35">
                <a:latin typeface="宋体"/>
                <a:cs typeface="宋体"/>
              </a:rPr>
              <a:t>原问题分解成多个子问</a:t>
            </a:r>
            <a:r>
              <a:rPr sz="2600" spc="-50"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30F75F1E-E282-714B-A9FA-BC8B7B53C1F7}"/>
              </a:ext>
            </a:extLst>
          </p:cNvPr>
          <p:cNvSpPr txBox="1"/>
          <p:nvPr/>
        </p:nvSpPr>
        <p:spPr>
          <a:xfrm>
            <a:off x="5836539" y="3236242"/>
            <a:ext cx="4607560" cy="81153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2600" spc="-35">
                <a:latin typeface="宋体"/>
                <a:cs typeface="宋体"/>
              </a:rPr>
              <a:t>递归地求解各个子问</a:t>
            </a:r>
            <a:r>
              <a:rPr sz="2600" spc="-50"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912C0C9D-5941-5642-93C0-79B369045C7F}"/>
              </a:ext>
            </a:extLst>
          </p:cNvPr>
          <p:cNvSpPr txBox="1"/>
          <p:nvPr/>
        </p:nvSpPr>
        <p:spPr>
          <a:xfrm>
            <a:off x="5836539" y="5124477"/>
            <a:ext cx="4607560" cy="810895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sz="2600" spc="-35">
                <a:latin typeface="宋体"/>
                <a:cs typeface="宋体"/>
              </a:rPr>
              <a:t>将结果合并为原问题</a:t>
            </a:r>
            <a:r>
              <a:rPr sz="2600" spc="-50"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77313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152288-E81F-F042-B332-4AD1AF8F3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9776" y="316090"/>
            <a:ext cx="224370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D9B9355-450C-1D48-A2A3-DB7904D8FEEF}"/>
              </a:ext>
            </a:extLst>
          </p:cNvPr>
          <p:cNvGraphicFramePr>
            <a:graphicFrameLocks noGrp="1"/>
          </p:cNvGraphicFramePr>
          <p:nvPr/>
        </p:nvGraphicFramePr>
        <p:xfrm>
          <a:off x="1329514" y="123499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15C87B3-92C5-EF46-9EE6-C14ABEF4D4CC}"/>
              </a:ext>
            </a:extLst>
          </p:cNvPr>
          <p:cNvGraphicFramePr>
            <a:graphicFrameLocks noGrp="1"/>
          </p:cNvGraphicFramePr>
          <p:nvPr/>
        </p:nvGraphicFramePr>
        <p:xfrm>
          <a:off x="1055423" y="2300272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7C2C6C3-B3A5-7D49-962E-CE8D6F02F327}"/>
              </a:ext>
            </a:extLst>
          </p:cNvPr>
          <p:cNvGraphicFramePr>
            <a:graphicFrameLocks noGrp="1"/>
          </p:cNvGraphicFramePr>
          <p:nvPr/>
        </p:nvGraphicFramePr>
        <p:xfrm>
          <a:off x="6152212" y="2304970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9">
            <a:extLst>
              <a:ext uri="{FF2B5EF4-FFF2-40B4-BE49-F238E27FC236}">
                <a16:creationId xmlns:a16="http://schemas.microsoft.com/office/drawing/2014/main" id="{667B7FA7-E7CC-F041-A945-527B6570F6E5}"/>
              </a:ext>
            </a:extLst>
          </p:cNvPr>
          <p:cNvSpPr/>
          <p:nvPr/>
        </p:nvSpPr>
        <p:spPr>
          <a:xfrm>
            <a:off x="3378532" y="1831260"/>
            <a:ext cx="5097145" cy="492759"/>
          </a:xfrm>
          <a:custGeom>
            <a:avLst/>
            <a:gdLst/>
            <a:ahLst/>
            <a:cxnLst/>
            <a:rect l="l" t="t" r="r" b="b"/>
            <a:pathLst>
              <a:path w="5097145" h="492759">
                <a:moveTo>
                  <a:pt x="2578227" y="0"/>
                </a:moveTo>
                <a:lnTo>
                  <a:pt x="0" y="488188"/>
                </a:lnTo>
              </a:path>
              <a:path w="5097145" h="492759">
                <a:moveTo>
                  <a:pt x="2578608" y="0"/>
                </a:moveTo>
                <a:lnTo>
                  <a:pt x="5097145" y="492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DDB5EFA9-C7BC-AF45-9CB4-E7627F45C017}"/>
              </a:ext>
            </a:extLst>
          </p:cNvPr>
          <p:cNvSpPr/>
          <p:nvPr/>
        </p:nvSpPr>
        <p:spPr>
          <a:xfrm>
            <a:off x="3173163" y="395272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6E4C482F-3F7A-8044-B41A-AC3E6E9C5E44}"/>
              </a:ext>
            </a:extLst>
          </p:cNvPr>
          <p:cNvSpPr/>
          <p:nvPr/>
        </p:nvSpPr>
        <p:spPr>
          <a:xfrm>
            <a:off x="2601790" y="395272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5452ECCF-8EC1-2A49-A756-40917E152861}"/>
              </a:ext>
            </a:extLst>
          </p:cNvPr>
          <p:cNvSpPr txBox="1"/>
          <p:nvPr/>
        </p:nvSpPr>
        <p:spPr>
          <a:xfrm>
            <a:off x="746955" y="3206223"/>
            <a:ext cx="5226050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算法流程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1814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将数组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𝒏</a:t>
            </a:r>
            <a:r>
              <a:rPr sz="2400" spc="300" dirty="0">
                <a:latin typeface="Cambria Math"/>
                <a:cs typeface="Cambria Math"/>
              </a:rPr>
              <a:t> </a:t>
            </a:r>
            <a:r>
              <a:rPr sz="2400" dirty="0" err="1">
                <a:latin typeface="宋体"/>
                <a:cs typeface="宋体"/>
              </a:rPr>
              <a:t>排序问题</a:t>
            </a:r>
            <a:r>
              <a:rPr sz="2400" dirty="0" err="1">
                <a:solidFill>
                  <a:srgbClr val="FF0000"/>
                </a:solidFill>
                <a:latin typeface="宋体"/>
                <a:cs typeface="宋体"/>
              </a:rPr>
              <a:t>分解</a:t>
            </a:r>
            <a:r>
              <a:rPr sz="2400" dirty="0" err="1">
                <a:latin typeface="宋体"/>
                <a:cs typeface="宋体"/>
              </a:rPr>
              <a:t>为</a:t>
            </a:r>
            <a:r>
              <a:rPr sz="2400" spc="-20" dirty="0">
                <a:latin typeface="Cambria Math"/>
                <a:cs typeface="Cambria Math"/>
              </a:rPr>
              <a:t>𝑨[𝟏,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1450FE1D-6E59-3A4B-8E1B-7418B0B9ECE0}"/>
              </a:ext>
            </a:extLst>
          </p:cNvPr>
          <p:cNvSpPr/>
          <p:nvPr/>
        </p:nvSpPr>
        <p:spPr>
          <a:xfrm>
            <a:off x="6042982" y="3843509"/>
            <a:ext cx="300355" cy="500380"/>
          </a:xfrm>
          <a:custGeom>
            <a:avLst/>
            <a:gdLst/>
            <a:ahLst/>
            <a:cxnLst/>
            <a:rect l="l" t="t" r="r" b="b"/>
            <a:pathLst>
              <a:path w="300354" h="500379">
                <a:moveTo>
                  <a:pt x="70739" y="487680"/>
                </a:moveTo>
                <a:lnTo>
                  <a:pt x="27686" y="487680"/>
                </a:lnTo>
                <a:lnTo>
                  <a:pt x="27686" y="0"/>
                </a:lnTo>
                <a:lnTo>
                  <a:pt x="0" y="0"/>
                </a:lnTo>
                <a:lnTo>
                  <a:pt x="0" y="487680"/>
                </a:lnTo>
                <a:lnTo>
                  <a:pt x="0" y="500380"/>
                </a:lnTo>
                <a:lnTo>
                  <a:pt x="70739" y="500380"/>
                </a:lnTo>
                <a:lnTo>
                  <a:pt x="70739" y="487680"/>
                </a:lnTo>
                <a:close/>
              </a:path>
              <a:path w="300354" h="500379">
                <a:moveTo>
                  <a:pt x="222885" y="240665"/>
                </a:moveTo>
                <a:lnTo>
                  <a:pt x="78105" y="240665"/>
                </a:lnTo>
                <a:lnTo>
                  <a:pt x="78105" y="260477"/>
                </a:lnTo>
                <a:lnTo>
                  <a:pt x="222885" y="260477"/>
                </a:lnTo>
                <a:lnTo>
                  <a:pt x="222885" y="240665"/>
                </a:lnTo>
                <a:close/>
              </a:path>
              <a:path w="300354" h="500379">
                <a:moveTo>
                  <a:pt x="300228" y="0"/>
                </a:moveTo>
                <a:lnTo>
                  <a:pt x="271907" y="0"/>
                </a:lnTo>
                <a:lnTo>
                  <a:pt x="271907" y="487680"/>
                </a:lnTo>
                <a:lnTo>
                  <a:pt x="229616" y="487680"/>
                </a:lnTo>
                <a:lnTo>
                  <a:pt x="229616" y="500380"/>
                </a:lnTo>
                <a:lnTo>
                  <a:pt x="300228" y="500380"/>
                </a:lnTo>
                <a:lnTo>
                  <a:pt x="300228" y="487680"/>
                </a:lnTo>
                <a:lnTo>
                  <a:pt x="3002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E64ACD9B-C4D4-2240-BD8C-62C5DDF9620B}"/>
              </a:ext>
            </a:extLst>
          </p:cNvPr>
          <p:cNvSpPr/>
          <p:nvPr/>
        </p:nvSpPr>
        <p:spPr>
          <a:xfrm>
            <a:off x="7130356" y="3843509"/>
            <a:ext cx="299720" cy="500380"/>
          </a:xfrm>
          <a:custGeom>
            <a:avLst/>
            <a:gdLst/>
            <a:ahLst/>
            <a:cxnLst/>
            <a:rect l="l" t="t" r="r" b="b"/>
            <a:pathLst>
              <a:path w="299720" h="500379">
                <a:moveTo>
                  <a:pt x="70739" y="487680"/>
                </a:moveTo>
                <a:lnTo>
                  <a:pt x="27686" y="487680"/>
                </a:lnTo>
                <a:lnTo>
                  <a:pt x="27686" y="0"/>
                </a:lnTo>
                <a:lnTo>
                  <a:pt x="0" y="0"/>
                </a:lnTo>
                <a:lnTo>
                  <a:pt x="0" y="487680"/>
                </a:lnTo>
                <a:lnTo>
                  <a:pt x="0" y="500380"/>
                </a:lnTo>
                <a:lnTo>
                  <a:pt x="70739" y="500380"/>
                </a:lnTo>
                <a:lnTo>
                  <a:pt x="70739" y="487680"/>
                </a:lnTo>
                <a:close/>
              </a:path>
              <a:path w="299720" h="500379">
                <a:moveTo>
                  <a:pt x="222110" y="240665"/>
                </a:moveTo>
                <a:lnTo>
                  <a:pt x="77343" y="240665"/>
                </a:lnTo>
                <a:lnTo>
                  <a:pt x="77343" y="260477"/>
                </a:lnTo>
                <a:lnTo>
                  <a:pt x="222110" y="260477"/>
                </a:lnTo>
                <a:lnTo>
                  <a:pt x="222110" y="240665"/>
                </a:lnTo>
                <a:close/>
              </a:path>
              <a:path w="299720" h="500379">
                <a:moveTo>
                  <a:pt x="299466" y="0"/>
                </a:moveTo>
                <a:lnTo>
                  <a:pt x="271145" y="0"/>
                </a:lnTo>
                <a:lnTo>
                  <a:pt x="271145" y="487680"/>
                </a:lnTo>
                <a:lnTo>
                  <a:pt x="228854" y="487680"/>
                </a:lnTo>
                <a:lnTo>
                  <a:pt x="228854" y="500380"/>
                </a:lnTo>
                <a:lnTo>
                  <a:pt x="299466" y="500380"/>
                </a:lnTo>
                <a:lnTo>
                  <a:pt x="299466" y="487680"/>
                </a:lnTo>
                <a:lnTo>
                  <a:pt x="299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21C40492-E63C-5F49-96A5-624F4827C834}"/>
              </a:ext>
            </a:extLst>
          </p:cNvPr>
          <p:cNvSpPr txBox="1"/>
          <p:nvPr/>
        </p:nvSpPr>
        <p:spPr>
          <a:xfrm>
            <a:off x="6070794" y="3863830"/>
            <a:ext cx="13322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370"/>
              </a:lnSpc>
              <a:spcBef>
                <a:spcPts val="100"/>
              </a:spcBef>
            </a:pPr>
            <a:r>
              <a:rPr sz="2625" baseline="44444">
                <a:latin typeface="Cambria Math"/>
                <a:cs typeface="Cambria Math"/>
              </a:rPr>
              <a:t>𝒏</a:t>
            </a:r>
            <a:r>
              <a:rPr sz="2625" spc="742" baseline="4444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]</a:t>
            </a:r>
            <a:r>
              <a:rPr sz="2400">
                <a:latin typeface="宋体"/>
                <a:cs typeface="宋体"/>
              </a:rPr>
              <a:t>和</a:t>
            </a:r>
            <a:r>
              <a:rPr sz="2400">
                <a:latin typeface="Cambria Math"/>
                <a:cs typeface="Cambria Math"/>
              </a:rPr>
              <a:t>𝑨[</a:t>
            </a:r>
            <a:r>
              <a:rPr sz="2400" spc="340">
                <a:latin typeface="Cambria Math"/>
                <a:cs typeface="Cambria Math"/>
              </a:rPr>
              <a:t> </a:t>
            </a:r>
            <a:r>
              <a:rPr sz="2625" spc="-75" baseline="44444">
                <a:latin typeface="Cambria Math"/>
                <a:cs typeface="Cambria Math"/>
              </a:rPr>
              <a:t>𝒏</a:t>
            </a:r>
            <a:endParaRPr sz="2625" baseline="44444">
              <a:latin typeface="Cambria Math"/>
              <a:cs typeface="Cambria Math"/>
            </a:endParaRPr>
          </a:p>
          <a:p>
            <a:pPr marL="55880">
              <a:lnSpc>
                <a:spcPts val="1590"/>
              </a:lnSpc>
              <a:tabLst>
                <a:tab pos="1142365" algn="l"/>
              </a:tabLst>
            </a:pPr>
            <a:r>
              <a:rPr sz="1750" spc="-50">
                <a:latin typeface="Cambria Math"/>
                <a:cs typeface="Cambria Math"/>
              </a:rPr>
              <a:t>𝟐</a:t>
            </a:r>
            <a:r>
              <a:rPr sz="1750">
                <a:latin typeface="Cambria Math"/>
                <a:cs typeface="Cambria Math"/>
              </a:rPr>
              <a:t>	</a:t>
            </a:r>
            <a:r>
              <a:rPr sz="1750" spc="-5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A15B12E2-36E4-F249-A19F-94214C34A59A}"/>
              </a:ext>
            </a:extLst>
          </p:cNvPr>
          <p:cNvSpPr txBox="1"/>
          <p:nvPr/>
        </p:nvSpPr>
        <p:spPr>
          <a:xfrm>
            <a:off x="7518595" y="3863830"/>
            <a:ext cx="2138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>
                <a:latin typeface="Cambria Math"/>
                <a:cs typeface="Cambria Math"/>
              </a:rPr>
              <a:t>+ </a:t>
            </a:r>
            <a:r>
              <a:rPr sz="2400">
                <a:latin typeface="Cambria Math"/>
                <a:cs typeface="Cambria Math"/>
              </a:rPr>
              <a:t>𝟏,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𝒏]</a:t>
            </a:r>
            <a:r>
              <a:rPr sz="2400" spc="-15">
                <a:latin typeface="宋体"/>
                <a:cs typeface="宋体"/>
              </a:rPr>
              <a:t>排序问题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D75440A3-C297-AC4F-83F3-A163A0BE72AE}"/>
              </a:ext>
            </a:extLst>
          </p:cNvPr>
          <p:cNvSpPr/>
          <p:nvPr/>
        </p:nvSpPr>
        <p:spPr>
          <a:xfrm>
            <a:off x="10019859" y="3783185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1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1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41A818A7-2E05-4D45-A4B0-CA79319E9B72}"/>
              </a:ext>
            </a:extLst>
          </p:cNvPr>
          <p:cNvSpPr txBox="1"/>
          <p:nvPr/>
        </p:nvSpPr>
        <p:spPr>
          <a:xfrm>
            <a:off x="10192960" y="3862051"/>
            <a:ext cx="155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C000"/>
                </a:solidFill>
                <a:latin typeface="宋体"/>
                <a:cs typeface="宋体"/>
              </a:rPr>
              <a:t>分解</a:t>
            </a:r>
            <a:r>
              <a:rPr sz="2400" spc="-20">
                <a:solidFill>
                  <a:srgbClr val="FFFFFF"/>
                </a:solidFill>
                <a:latin typeface="宋体"/>
                <a:cs typeface="宋体"/>
              </a:rPr>
              <a:t>原问题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27766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152288-E81F-F042-B332-4AD1AF8F3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9776" y="316090"/>
            <a:ext cx="224370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D9B9355-450C-1D48-A2A3-DB7904D8FEEF}"/>
              </a:ext>
            </a:extLst>
          </p:cNvPr>
          <p:cNvGraphicFramePr>
            <a:graphicFrameLocks noGrp="1"/>
          </p:cNvGraphicFramePr>
          <p:nvPr/>
        </p:nvGraphicFramePr>
        <p:xfrm>
          <a:off x="1329514" y="123499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15C87B3-92C5-EF46-9EE6-C14ABEF4D4CC}"/>
              </a:ext>
            </a:extLst>
          </p:cNvPr>
          <p:cNvGraphicFramePr>
            <a:graphicFrameLocks noGrp="1"/>
          </p:cNvGraphicFramePr>
          <p:nvPr/>
        </p:nvGraphicFramePr>
        <p:xfrm>
          <a:off x="1055423" y="2288549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7C2C6C3-B3A5-7D49-962E-CE8D6F02F327}"/>
              </a:ext>
            </a:extLst>
          </p:cNvPr>
          <p:cNvGraphicFramePr>
            <a:graphicFrameLocks noGrp="1"/>
          </p:cNvGraphicFramePr>
          <p:nvPr/>
        </p:nvGraphicFramePr>
        <p:xfrm>
          <a:off x="6152212" y="2293247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9">
            <a:extLst>
              <a:ext uri="{FF2B5EF4-FFF2-40B4-BE49-F238E27FC236}">
                <a16:creationId xmlns:a16="http://schemas.microsoft.com/office/drawing/2014/main" id="{667B7FA7-E7CC-F041-A945-527B6570F6E5}"/>
              </a:ext>
            </a:extLst>
          </p:cNvPr>
          <p:cNvSpPr/>
          <p:nvPr/>
        </p:nvSpPr>
        <p:spPr>
          <a:xfrm>
            <a:off x="3378532" y="1819537"/>
            <a:ext cx="5097145" cy="492759"/>
          </a:xfrm>
          <a:custGeom>
            <a:avLst/>
            <a:gdLst/>
            <a:ahLst/>
            <a:cxnLst/>
            <a:rect l="l" t="t" r="r" b="b"/>
            <a:pathLst>
              <a:path w="5097145" h="492759">
                <a:moveTo>
                  <a:pt x="2578227" y="0"/>
                </a:moveTo>
                <a:lnTo>
                  <a:pt x="0" y="488188"/>
                </a:lnTo>
              </a:path>
              <a:path w="5097145" h="492759">
                <a:moveTo>
                  <a:pt x="2578608" y="0"/>
                </a:moveTo>
                <a:lnTo>
                  <a:pt x="5097145" y="492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DDB5EFA9-C7BC-AF45-9CB4-E7627F45C017}"/>
              </a:ext>
            </a:extLst>
          </p:cNvPr>
          <p:cNvSpPr/>
          <p:nvPr/>
        </p:nvSpPr>
        <p:spPr>
          <a:xfrm>
            <a:off x="3173163" y="395272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6E4C482F-3F7A-8044-B41A-AC3E6E9C5E44}"/>
              </a:ext>
            </a:extLst>
          </p:cNvPr>
          <p:cNvSpPr/>
          <p:nvPr/>
        </p:nvSpPr>
        <p:spPr>
          <a:xfrm>
            <a:off x="2601790" y="395272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5452ECCF-8EC1-2A49-A756-40917E152861}"/>
              </a:ext>
            </a:extLst>
          </p:cNvPr>
          <p:cNvSpPr txBox="1"/>
          <p:nvPr/>
        </p:nvSpPr>
        <p:spPr>
          <a:xfrm>
            <a:off x="746955" y="3206223"/>
            <a:ext cx="5226050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算法流程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1814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将数组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𝒏</a:t>
            </a:r>
            <a:r>
              <a:rPr sz="2400" spc="300" dirty="0">
                <a:latin typeface="Cambria Math"/>
                <a:cs typeface="Cambria Math"/>
              </a:rPr>
              <a:t> </a:t>
            </a:r>
            <a:r>
              <a:rPr sz="2400" dirty="0" err="1">
                <a:latin typeface="宋体"/>
                <a:cs typeface="宋体"/>
              </a:rPr>
              <a:t>排序问题</a:t>
            </a:r>
            <a:r>
              <a:rPr sz="2400" dirty="0" err="1">
                <a:solidFill>
                  <a:srgbClr val="FF0000"/>
                </a:solidFill>
                <a:latin typeface="宋体"/>
                <a:cs typeface="宋体"/>
              </a:rPr>
              <a:t>分解</a:t>
            </a:r>
            <a:r>
              <a:rPr sz="2400" dirty="0" err="1">
                <a:latin typeface="宋体"/>
                <a:cs typeface="宋体"/>
              </a:rPr>
              <a:t>为</a:t>
            </a:r>
            <a:r>
              <a:rPr sz="2400" spc="-20" dirty="0">
                <a:latin typeface="Cambria Math"/>
                <a:cs typeface="Cambria Math"/>
              </a:rPr>
              <a:t>𝑨[𝟏,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1450FE1D-6E59-3A4B-8E1B-7418B0B9ECE0}"/>
              </a:ext>
            </a:extLst>
          </p:cNvPr>
          <p:cNvSpPr/>
          <p:nvPr/>
        </p:nvSpPr>
        <p:spPr>
          <a:xfrm>
            <a:off x="6042982" y="3843509"/>
            <a:ext cx="300355" cy="500380"/>
          </a:xfrm>
          <a:custGeom>
            <a:avLst/>
            <a:gdLst/>
            <a:ahLst/>
            <a:cxnLst/>
            <a:rect l="l" t="t" r="r" b="b"/>
            <a:pathLst>
              <a:path w="300354" h="500379">
                <a:moveTo>
                  <a:pt x="70739" y="487680"/>
                </a:moveTo>
                <a:lnTo>
                  <a:pt x="27686" y="487680"/>
                </a:lnTo>
                <a:lnTo>
                  <a:pt x="27686" y="0"/>
                </a:lnTo>
                <a:lnTo>
                  <a:pt x="0" y="0"/>
                </a:lnTo>
                <a:lnTo>
                  <a:pt x="0" y="487680"/>
                </a:lnTo>
                <a:lnTo>
                  <a:pt x="0" y="500380"/>
                </a:lnTo>
                <a:lnTo>
                  <a:pt x="70739" y="500380"/>
                </a:lnTo>
                <a:lnTo>
                  <a:pt x="70739" y="487680"/>
                </a:lnTo>
                <a:close/>
              </a:path>
              <a:path w="300354" h="500379">
                <a:moveTo>
                  <a:pt x="222885" y="240665"/>
                </a:moveTo>
                <a:lnTo>
                  <a:pt x="78105" y="240665"/>
                </a:lnTo>
                <a:lnTo>
                  <a:pt x="78105" y="260477"/>
                </a:lnTo>
                <a:lnTo>
                  <a:pt x="222885" y="260477"/>
                </a:lnTo>
                <a:lnTo>
                  <a:pt x="222885" y="240665"/>
                </a:lnTo>
                <a:close/>
              </a:path>
              <a:path w="300354" h="500379">
                <a:moveTo>
                  <a:pt x="300228" y="0"/>
                </a:moveTo>
                <a:lnTo>
                  <a:pt x="271907" y="0"/>
                </a:lnTo>
                <a:lnTo>
                  <a:pt x="271907" y="487680"/>
                </a:lnTo>
                <a:lnTo>
                  <a:pt x="229616" y="487680"/>
                </a:lnTo>
                <a:lnTo>
                  <a:pt x="229616" y="500380"/>
                </a:lnTo>
                <a:lnTo>
                  <a:pt x="300228" y="500380"/>
                </a:lnTo>
                <a:lnTo>
                  <a:pt x="300228" y="487680"/>
                </a:lnTo>
                <a:lnTo>
                  <a:pt x="3002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E64ACD9B-C4D4-2240-BD8C-62C5DDF9620B}"/>
              </a:ext>
            </a:extLst>
          </p:cNvPr>
          <p:cNvSpPr/>
          <p:nvPr/>
        </p:nvSpPr>
        <p:spPr>
          <a:xfrm>
            <a:off x="7130356" y="3843509"/>
            <a:ext cx="299720" cy="500380"/>
          </a:xfrm>
          <a:custGeom>
            <a:avLst/>
            <a:gdLst/>
            <a:ahLst/>
            <a:cxnLst/>
            <a:rect l="l" t="t" r="r" b="b"/>
            <a:pathLst>
              <a:path w="299720" h="500379">
                <a:moveTo>
                  <a:pt x="70739" y="487680"/>
                </a:moveTo>
                <a:lnTo>
                  <a:pt x="27686" y="487680"/>
                </a:lnTo>
                <a:lnTo>
                  <a:pt x="27686" y="0"/>
                </a:lnTo>
                <a:lnTo>
                  <a:pt x="0" y="0"/>
                </a:lnTo>
                <a:lnTo>
                  <a:pt x="0" y="487680"/>
                </a:lnTo>
                <a:lnTo>
                  <a:pt x="0" y="500380"/>
                </a:lnTo>
                <a:lnTo>
                  <a:pt x="70739" y="500380"/>
                </a:lnTo>
                <a:lnTo>
                  <a:pt x="70739" y="487680"/>
                </a:lnTo>
                <a:close/>
              </a:path>
              <a:path w="299720" h="500379">
                <a:moveTo>
                  <a:pt x="222110" y="240665"/>
                </a:moveTo>
                <a:lnTo>
                  <a:pt x="77343" y="240665"/>
                </a:lnTo>
                <a:lnTo>
                  <a:pt x="77343" y="260477"/>
                </a:lnTo>
                <a:lnTo>
                  <a:pt x="222110" y="260477"/>
                </a:lnTo>
                <a:lnTo>
                  <a:pt x="222110" y="240665"/>
                </a:lnTo>
                <a:close/>
              </a:path>
              <a:path w="299720" h="500379">
                <a:moveTo>
                  <a:pt x="299466" y="0"/>
                </a:moveTo>
                <a:lnTo>
                  <a:pt x="271145" y="0"/>
                </a:lnTo>
                <a:lnTo>
                  <a:pt x="271145" y="487680"/>
                </a:lnTo>
                <a:lnTo>
                  <a:pt x="228854" y="487680"/>
                </a:lnTo>
                <a:lnTo>
                  <a:pt x="228854" y="500380"/>
                </a:lnTo>
                <a:lnTo>
                  <a:pt x="299466" y="500380"/>
                </a:lnTo>
                <a:lnTo>
                  <a:pt x="299466" y="487680"/>
                </a:lnTo>
                <a:lnTo>
                  <a:pt x="299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21C40492-E63C-5F49-96A5-624F4827C834}"/>
              </a:ext>
            </a:extLst>
          </p:cNvPr>
          <p:cNvSpPr txBox="1"/>
          <p:nvPr/>
        </p:nvSpPr>
        <p:spPr>
          <a:xfrm>
            <a:off x="6070794" y="3863830"/>
            <a:ext cx="13322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370"/>
              </a:lnSpc>
              <a:spcBef>
                <a:spcPts val="100"/>
              </a:spcBef>
            </a:pPr>
            <a:r>
              <a:rPr sz="2625" baseline="44444">
                <a:latin typeface="Cambria Math"/>
                <a:cs typeface="Cambria Math"/>
              </a:rPr>
              <a:t>𝒏</a:t>
            </a:r>
            <a:r>
              <a:rPr sz="2625" spc="742" baseline="4444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]</a:t>
            </a:r>
            <a:r>
              <a:rPr sz="2400">
                <a:latin typeface="宋体"/>
                <a:cs typeface="宋体"/>
              </a:rPr>
              <a:t>和</a:t>
            </a:r>
            <a:r>
              <a:rPr sz="2400">
                <a:latin typeface="Cambria Math"/>
                <a:cs typeface="Cambria Math"/>
              </a:rPr>
              <a:t>𝑨[</a:t>
            </a:r>
            <a:r>
              <a:rPr sz="2400" spc="340">
                <a:latin typeface="Cambria Math"/>
                <a:cs typeface="Cambria Math"/>
              </a:rPr>
              <a:t> </a:t>
            </a:r>
            <a:r>
              <a:rPr sz="2625" spc="-75" baseline="44444">
                <a:latin typeface="Cambria Math"/>
                <a:cs typeface="Cambria Math"/>
              </a:rPr>
              <a:t>𝒏</a:t>
            </a:r>
            <a:endParaRPr sz="2625" baseline="44444">
              <a:latin typeface="Cambria Math"/>
              <a:cs typeface="Cambria Math"/>
            </a:endParaRPr>
          </a:p>
          <a:p>
            <a:pPr marL="55880">
              <a:lnSpc>
                <a:spcPts val="1590"/>
              </a:lnSpc>
              <a:tabLst>
                <a:tab pos="1142365" algn="l"/>
              </a:tabLst>
            </a:pPr>
            <a:r>
              <a:rPr sz="1750" spc="-50">
                <a:latin typeface="Cambria Math"/>
                <a:cs typeface="Cambria Math"/>
              </a:rPr>
              <a:t>𝟐</a:t>
            </a:r>
            <a:r>
              <a:rPr sz="1750">
                <a:latin typeface="Cambria Math"/>
                <a:cs typeface="Cambria Math"/>
              </a:rPr>
              <a:t>	</a:t>
            </a:r>
            <a:r>
              <a:rPr sz="1750" spc="-5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A15B12E2-36E4-F249-A19F-94214C34A59A}"/>
              </a:ext>
            </a:extLst>
          </p:cNvPr>
          <p:cNvSpPr txBox="1"/>
          <p:nvPr/>
        </p:nvSpPr>
        <p:spPr>
          <a:xfrm>
            <a:off x="7518595" y="3863830"/>
            <a:ext cx="2138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>
                <a:latin typeface="Cambria Math"/>
                <a:cs typeface="Cambria Math"/>
              </a:rPr>
              <a:t>+ </a:t>
            </a:r>
            <a:r>
              <a:rPr sz="2400">
                <a:latin typeface="Cambria Math"/>
                <a:cs typeface="Cambria Math"/>
              </a:rPr>
              <a:t>𝟏,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𝒏]</a:t>
            </a:r>
            <a:r>
              <a:rPr sz="2400" spc="-15">
                <a:latin typeface="宋体"/>
                <a:cs typeface="宋体"/>
              </a:rPr>
              <a:t>排序问题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D75440A3-C297-AC4F-83F3-A163A0BE72AE}"/>
              </a:ext>
            </a:extLst>
          </p:cNvPr>
          <p:cNvSpPr/>
          <p:nvPr/>
        </p:nvSpPr>
        <p:spPr>
          <a:xfrm>
            <a:off x="10019859" y="3783185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1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1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41A818A7-2E05-4D45-A4B0-CA79319E9B72}"/>
              </a:ext>
            </a:extLst>
          </p:cNvPr>
          <p:cNvSpPr txBox="1"/>
          <p:nvPr/>
        </p:nvSpPr>
        <p:spPr>
          <a:xfrm>
            <a:off x="10192960" y="3862051"/>
            <a:ext cx="155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C000"/>
                </a:solidFill>
                <a:latin typeface="宋体"/>
                <a:cs typeface="宋体"/>
              </a:rPr>
              <a:t>分解</a:t>
            </a:r>
            <a:r>
              <a:rPr sz="2400" spc="-20">
                <a:solidFill>
                  <a:srgbClr val="FFFFFF"/>
                </a:solidFill>
                <a:latin typeface="宋体"/>
                <a:cs typeface="宋体"/>
              </a:rPr>
              <a:t>原问题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21" name="object 12">
            <a:extLst>
              <a:ext uri="{FF2B5EF4-FFF2-40B4-BE49-F238E27FC236}">
                <a16:creationId xmlns:a16="http://schemas.microsoft.com/office/drawing/2014/main" id="{43D2785B-A5B9-7243-AC41-6C72D3E81D86}"/>
              </a:ext>
            </a:extLst>
          </p:cNvPr>
          <p:cNvGraphicFramePr>
            <a:graphicFrameLocks noGrp="1"/>
          </p:cNvGraphicFramePr>
          <p:nvPr/>
        </p:nvGraphicFramePr>
        <p:xfrm>
          <a:off x="1043700" y="2288549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13">
            <a:extLst>
              <a:ext uri="{FF2B5EF4-FFF2-40B4-BE49-F238E27FC236}">
                <a16:creationId xmlns:a16="http://schemas.microsoft.com/office/drawing/2014/main" id="{C00AE585-15BE-BA46-B523-A3AEDD2AFF35}"/>
              </a:ext>
            </a:extLst>
          </p:cNvPr>
          <p:cNvGraphicFramePr>
            <a:graphicFrameLocks noGrp="1"/>
          </p:cNvGraphicFramePr>
          <p:nvPr/>
        </p:nvGraphicFramePr>
        <p:xfrm>
          <a:off x="6140489" y="2293247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14">
            <a:extLst>
              <a:ext uri="{FF2B5EF4-FFF2-40B4-BE49-F238E27FC236}">
                <a16:creationId xmlns:a16="http://schemas.microsoft.com/office/drawing/2014/main" id="{CFD9667A-CF8D-1F4A-B17F-DE9250767EA1}"/>
              </a:ext>
            </a:extLst>
          </p:cNvPr>
          <p:cNvSpPr/>
          <p:nvPr/>
        </p:nvSpPr>
        <p:spPr>
          <a:xfrm>
            <a:off x="3366809" y="1819537"/>
            <a:ext cx="5097145" cy="492759"/>
          </a:xfrm>
          <a:custGeom>
            <a:avLst/>
            <a:gdLst/>
            <a:ahLst/>
            <a:cxnLst/>
            <a:rect l="l" t="t" r="r" b="b"/>
            <a:pathLst>
              <a:path w="5097145" h="492759">
                <a:moveTo>
                  <a:pt x="2578227" y="0"/>
                </a:moveTo>
                <a:lnTo>
                  <a:pt x="0" y="488188"/>
                </a:lnTo>
              </a:path>
              <a:path w="5097145" h="492759">
                <a:moveTo>
                  <a:pt x="2578608" y="0"/>
                </a:moveTo>
                <a:lnTo>
                  <a:pt x="5097145" y="492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899DEB69-A987-2E4D-BEB2-8544118E0414}"/>
              </a:ext>
            </a:extLst>
          </p:cNvPr>
          <p:cNvSpPr txBox="1"/>
          <p:nvPr/>
        </p:nvSpPr>
        <p:spPr>
          <a:xfrm>
            <a:off x="1091378" y="4629343"/>
            <a:ext cx="5554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dirty="0" err="1">
                <a:solidFill>
                  <a:srgbClr val="FF0000"/>
                </a:solidFill>
                <a:latin typeface="宋体"/>
                <a:cs typeface="宋体"/>
              </a:rPr>
              <a:t>递归解决</a:t>
            </a:r>
            <a:r>
              <a:rPr sz="2400" spc="-5" dirty="0" err="1">
                <a:latin typeface="宋体"/>
                <a:cs typeface="宋体"/>
              </a:rPr>
              <a:t>子问题得到两个有序的子数组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1E07C3E3-082F-564C-BA6F-A328D5FB378B}"/>
              </a:ext>
            </a:extLst>
          </p:cNvPr>
          <p:cNvSpPr/>
          <p:nvPr/>
        </p:nvSpPr>
        <p:spPr>
          <a:xfrm>
            <a:off x="10019859" y="4555556"/>
            <a:ext cx="1896110" cy="651510"/>
          </a:xfrm>
          <a:custGeom>
            <a:avLst/>
            <a:gdLst/>
            <a:ahLst/>
            <a:cxnLst/>
            <a:rect l="l" t="t" r="r" b="b"/>
            <a:pathLst>
              <a:path w="1896108" h="651510">
                <a:moveTo>
                  <a:pt x="1787271" y="0"/>
                </a:moveTo>
                <a:lnTo>
                  <a:pt x="108584" y="0"/>
                </a:lnTo>
                <a:lnTo>
                  <a:pt x="66329" y="8536"/>
                </a:lnTo>
                <a:lnTo>
                  <a:pt x="31813" y="31813"/>
                </a:lnTo>
                <a:lnTo>
                  <a:pt x="8536" y="66329"/>
                </a:lnTo>
                <a:lnTo>
                  <a:pt x="0" y="108584"/>
                </a:lnTo>
                <a:lnTo>
                  <a:pt x="0" y="542924"/>
                </a:lnTo>
                <a:lnTo>
                  <a:pt x="8536" y="585180"/>
                </a:lnTo>
                <a:lnTo>
                  <a:pt x="31813" y="619696"/>
                </a:lnTo>
                <a:lnTo>
                  <a:pt x="66329" y="642973"/>
                </a:lnTo>
                <a:lnTo>
                  <a:pt x="108584" y="651509"/>
                </a:lnTo>
                <a:lnTo>
                  <a:pt x="1787271" y="651509"/>
                </a:lnTo>
                <a:lnTo>
                  <a:pt x="1829526" y="642973"/>
                </a:lnTo>
                <a:lnTo>
                  <a:pt x="1864042" y="619696"/>
                </a:lnTo>
                <a:lnTo>
                  <a:pt x="1887319" y="585180"/>
                </a:lnTo>
                <a:lnTo>
                  <a:pt x="1895855" y="542924"/>
                </a:lnTo>
                <a:lnTo>
                  <a:pt x="1895855" y="108584"/>
                </a:lnTo>
                <a:lnTo>
                  <a:pt x="1887319" y="66329"/>
                </a:lnTo>
                <a:lnTo>
                  <a:pt x="1864042" y="31813"/>
                </a:lnTo>
                <a:lnTo>
                  <a:pt x="1829526" y="8536"/>
                </a:lnTo>
                <a:lnTo>
                  <a:pt x="17872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E8609146-8EF2-0F4B-A6BB-DCB783023B15}"/>
              </a:ext>
            </a:extLst>
          </p:cNvPr>
          <p:cNvSpPr txBox="1"/>
          <p:nvPr/>
        </p:nvSpPr>
        <p:spPr>
          <a:xfrm>
            <a:off x="10192960" y="4633916"/>
            <a:ext cx="155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400" spc="-20">
                <a:solidFill>
                  <a:srgbClr val="FFFFFF"/>
                </a:solidFill>
                <a:latin typeface="宋体"/>
                <a:cs typeface="宋体"/>
              </a:rPr>
              <a:t>子问题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95580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152288-E81F-F042-B332-4AD1AF8F3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9776" y="316090"/>
            <a:ext cx="224370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</a:t>
            </a:r>
            <a:r>
              <a:rPr sz="40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z="40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DDB5EFA9-C7BC-AF45-9CB4-E7627F45C017}"/>
              </a:ext>
            </a:extLst>
          </p:cNvPr>
          <p:cNvSpPr/>
          <p:nvPr/>
        </p:nvSpPr>
        <p:spPr>
          <a:xfrm>
            <a:off x="3173163" y="395272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6E4C482F-3F7A-8044-B41A-AC3E6E9C5E44}"/>
              </a:ext>
            </a:extLst>
          </p:cNvPr>
          <p:cNvSpPr/>
          <p:nvPr/>
        </p:nvSpPr>
        <p:spPr>
          <a:xfrm>
            <a:off x="2601790" y="395272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5452ECCF-8EC1-2A49-A756-40917E152861}"/>
              </a:ext>
            </a:extLst>
          </p:cNvPr>
          <p:cNvSpPr txBox="1"/>
          <p:nvPr/>
        </p:nvSpPr>
        <p:spPr>
          <a:xfrm>
            <a:off x="746955" y="3206223"/>
            <a:ext cx="5226050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算法流程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1814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将数组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𝒏</a:t>
            </a:r>
            <a:r>
              <a:rPr sz="2400" spc="300" dirty="0">
                <a:latin typeface="Cambria Math"/>
                <a:cs typeface="Cambria Math"/>
              </a:rPr>
              <a:t> </a:t>
            </a:r>
            <a:r>
              <a:rPr sz="2400" dirty="0" err="1">
                <a:latin typeface="宋体"/>
                <a:cs typeface="宋体"/>
              </a:rPr>
              <a:t>排序问题</a:t>
            </a:r>
            <a:r>
              <a:rPr sz="2400" dirty="0" err="1">
                <a:solidFill>
                  <a:srgbClr val="FF0000"/>
                </a:solidFill>
                <a:latin typeface="宋体"/>
                <a:cs typeface="宋体"/>
              </a:rPr>
              <a:t>分解</a:t>
            </a:r>
            <a:r>
              <a:rPr sz="2400" dirty="0" err="1">
                <a:latin typeface="宋体"/>
                <a:cs typeface="宋体"/>
              </a:rPr>
              <a:t>为</a:t>
            </a:r>
            <a:r>
              <a:rPr sz="2400" spc="-20" dirty="0">
                <a:latin typeface="Cambria Math"/>
                <a:cs typeface="Cambria Math"/>
              </a:rPr>
              <a:t>𝑨[𝟏,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1450FE1D-6E59-3A4B-8E1B-7418B0B9ECE0}"/>
              </a:ext>
            </a:extLst>
          </p:cNvPr>
          <p:cNvSpPr/>
          <p:nvPr/>
        </p:nvSpPr>
        <p:spPr>
          <a:xfrm>
            <a:off x="6042982" y="3843509"/>
            <a:ext cx="300355" cy="500380"/>
          </a:xfrm>
          <a:custGeom>
            <a:avLst/>
            <a:gdLst/>
            <a:ahLst/>
            <a:cxnLst/>
            <a:rect l="l" t="t" r="r" b="b"/>
            <a:pathLst>
              <a:path w="300354" h="500379">
                <a:moveTo>
                  <a:pt x="70739" y="487680"/>
                </a:moveTo>
                <a:lnTo>
                  <a:pt x="27686" y="487680"/>
                </a:lnTo>
                <a:lnTo>
                  <a:pt x="27686" y="0"/>
                </a:lnTo>
                <a:lnTo>
                  <a:pt x="0" y="0"/>
                </a:lnTo>
                <a:lnTo>
                  <a:pt x="0" y="487680"/>
                </a:lnTo>
                <a:lnTo>
                  <a:pt x="0" y="500380"/>
                </a:lnTo>
                <a:lnTo>
                  <a:pt x="70739" y="500380"/>
                </a:lnTo>
                <a:lnTo>
                  <a:pt x="70739" y="487680"/>
                </a:lnTo>
                <a:close/>
              </a:path>
              <a:path w="300354" h="500379">
                <a:moveTo>
                  <a:pt x="222885" y="240665"/>
                </a:moveTo>
                <a:lnTo>
                  <a:pt x="78105" y="240665"/>
                </a:lnTo>
                <a:lnTo>
                  <a:pt x="78105" y="260477"/>
                </a:lnTo>
                <a:lnTo>
                  <a:pt x="222885" y="260477"/>
                </a:lnTo>
                <a:lnTo>
                  <a:pt x="222885" y="240665"/>
                </a:lnTo>
                <a:close/>
              </a:path>
              <a:path w="300354" h="500379">
                <a:moveTo>
                  <a:pt x="300228" y="0"/>
                </a:moveTo>
                <a:lnTo>
                  <a:pt x="271907" y="0"/>
                </a:lnTo>
                <a:lnTo>
                  <a:pt x="271907" y="487680"/>
                </a:lnTo>
                <a:lnTo>
                  <a:pt x="229616" y="487680"/>
                </a:lnTo>
                <a:lnTo>
                  <a:pt x="229616" y="500380"/>
                </a:lnTo>
                <a:lnTo>
                  <a:pt x="300228" y="500380"/>
                </a:lnTo>
                <a:lnTo>
                  <a:pt x="300228" y="487680"/>
                </a:lnTo>
                <a:lnTo>
                  <a:pt x="3002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E64ACD9B-C4D4-2240-BD8C-62C5DDF9620B}"/>
              </a:ext>
            </a:extLst>
          </p:cNvPr>
          <p:cNvSpPr/>
          <p:nvPr/>
        </p:nvSpPr>
        <p:spPr>
          <a:xfrm>
            <a:off x="7130356" y="3843509"/>
            <a:ext cx="299720" cy="500380"/>
          </a:xfrm>
          <a:custGeom>
            <a:avLst/>
            <a:gdLst/>
            <a:ahLst/>
            <a:cxnLst/>
            <a:rect l="l" t="t" r="r" b="b"/>
            <a:pathLst>
              <a:path w="299720" h="500379">
                <a:moveTo>
                  <a:pt x="70739" y="487680"/>
                </a:moveTo>
                <a:lnTo>
                  <a:pt x="27686" y="487680"/>
                </a:lnTo>
                <a:lnTo>
                  <a:pt x="27686" y="0"/>
                </a:lnTo>
                <a:lnTo>
                  <a:pt x="0" y="0"/>
                </a:lnTo>
                <a:lnTo>
                  <a:pt x="0" y="487680"/>
                </a:lnTo>
                <a:lnTo>
                  <a:pt x="0" y="500380"/>
                </a:lnTo>
                <a:lnTo>
                  <a:pt x="70739" y="500380"/>
                </a:lnTo>
                <a:lnTo>
                  <a:pt x="70739" y="487680"/>
                </a:lnTo>
                <a:close/>
              </a:path>
              <a:path w="299720" h="500379">
                <a:moveTo>
                  <a:pt x="222110" y="240665"/>
                </a:moveTo>
                <a:lnTo>
                  <a:pt x="77343" y="240665"/>
                </a:lnTo>
                <a:lnTo>
                  <a:pt x="77343" y="260477"/>
                </a:lnTo>
                <a:lnTo>
                  <a:pt x="222110" y="260477"/>
                </a:lnTo>
                <a:lnTo>
                  <a:pt x="222110" y="240665"/>
                </a:lnTo>
                <a:close/>
              </a:path>
              <a:path w="299720" h="500379">
                <a:moveTo>
                  <a:pt x="299466" y="0"/>
                </a:moveTo>
                <a:lnTo>
                  <a:pt x="271145" y="0"/>
                </a:lnTo>
                <a:lnTo>
                  <a:pt x="271145" y="487680"/>
                </a:lnTo>
                <a:lnTo>
                  <a:pt x="228854" y="487680"/>
                </a:lnTo>
                <a:lnTo>
                  <a:pt x="228854" y="500380"/>
                </a:lnTo>
                <a:lnTo>
                  <a:pt x="299466" y="500380"/>
                </a:lnTo>
                <a:lnTo>
                  <a:pt x="299466" y="487680"/>
                </a:lnTo>
                <a:lnTo>
                  <a:pt x="299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21C40492-E63C-5F49-96A5-624F4827C834}"/>
              </a:ext>
            </a:extLst>
          </p:cNvPr>
          <p:cNvSpPr txBox="1"/>
          <p:nvPr/>
        </p:nvSpPr>
        <p:spPr>
          <a:xfrm>
            <a:off x="6070794" y="3863830"/>
            <a:ext cx="13322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370"/>
              </a:lnSpc>
              <a:spcBef>
                <a:spcPts val="100"/>
              </a:spcBef>
            </a:pPr>
            <a:r>
              <a:rPr sz="2625" baseline="44444">
                <a:latin typeface="Cambria Math"/>
                <a:cs typeface="Cambria Math"/>
              </a:rPr>
              <a:t>𝒏</a:t>
            </a:r>
            <a:r>
              <a:rPr sz="2625" spc="742" baseline="4444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]</a:t>
            </a:r>
            <a:r>
              <a:rPr sz="2400">
                <a:latin typeface="宋体"/>
                <a:cs typeface="宋体"/>
              </a:rPr>
              <a:t>和</a:t>
            </a:r>
            <a:r>
              <a:rPr sz="2400">
                <a:latin typeface="Cambria Math"/>
                <a:cs typeface="Cambria Math"/>
              </a:rPr>
              <a:t>𝑨[</a:t>
            </a:r>
            <a:r>
              <a:rPr sz="2400" spc="340">
                <a:latin typeface="Cambria Math"/>
                <a:cs typeface="Cambria Math"/>
              </a:rPr>
              <a:t> </a:t>
            </a:r>
            <a:r>
              <a:rPr sz="2625" spc="-75" baseline="44444">
                <a:latin typeface="Cambria Math"/>
                <a:cs typeface="Cambria Math"/>
              </a:rPr>
              <a:t>𝒏</a:t>
            </a:r>
            <a:endParaRPr sz="2625" baseline="44444">
              <a:latin typeface="Cambria Math"/>
              <a:cs typeface="Cambria Math"/>
            </a:endParaRPr>
          </a:p>
          <a:p>
            <a:pPr marL="55880">
              <a:lnSpc>
                <a:spcPts val="1590"/>
              </a:lnSpc>
              <a:tabLst>
                <a:tab pos="1142365" algn="l"/>
              </a:tabLst>
            </a:pPr>
            <a:r>
              <a:rPr sz="1750" spc="-50">
                <a:latin typeface="Cambria Math"/>
                <a:cs typeface="Cambria Math"/>
              </a:rPr>
              <a:t>𝟐</a:t>
            </a:r>
            <a:r>
              <a:rPr sz="1750">
                <a:latin typeface="Cambria Math"/>
                <a:cs typeface="Cambria Math"/>
              </a:rPr>
              <a:t>	</a:t>
            </a:r>
            <a:r>
              <a:rPr sz="1750" spc="-5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A15B12E2-36E4-F249-A19F-94214C34A59A}"/>
              </a:ext>
            </a:extLst>
          </p:cNvPr>
          <p:cNvSpPr txBox="1"/>
          <p:nvPr/>
        </p:nvSpPr>
        <p:spPr>
          <a:xfrm>
            <a:off x="7518595" y="3863830"/>
            <a:ext cx="2138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>
                <a:latin typeface="Cambria Math"/>
                <a:cs typeface="Cambria Math"/>
              </a:rPr>
              <a:t>+ </a:t>
            </a:r>
            <a:r>
              <a:rPr sz="2400">
                <a:latin typeface="Cambria Math"/>
                <a:cs typeface="Cambria Math"/>
              </a:rPr>
              <a:t>𝟏,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𝒏]</a:t>
            </a:r>
            <a:r>
              <a:rPr sz="2400" spc="-15">
                <a:latin typeface="宋体"/>
                <a:cs typeface="宋体"/>
              </a:rPr>
              <a:t>排序问题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D75440A3-C297-AC4F-83F3-A163A0BE72AE}"/>
              </a:ext>
            </a:extLst>
          </p:cNvPr>
          <p:cNvSpPr/>
          <p:nvPr/>
        </p:nvSpPr>
        <p:spPr>
          <a:xfrm>
            <a:off x="10019859" y="3783185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1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1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41A818A7-2E05-4D45-A4B0-CA79319E9B72}"/>
              </a:ext>
            </a:extLst>
          </p:cNvPr>
          <p:cNvSpPr txBox="1"/>
          <p:nvPr/>
        </p:nvSpPr>
        <p:spPr>
          <a:xfrm>
            <a:off x="10192960" y="3862051"/>
            <a:ext cx="155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C000"/>
                </a:solidFill>
                <a:latin typeface="宋体"/>
                <a:cs typeface="宋体"/>
              </a:rPr>
              <a:t>分解</a:t>
            </a:r>
            <a:r>
              <a:rPr sz="2400" spc="-20">
                <a:solidFill>
                  <a:srgbClr val="FFFFFF"/>
                </a:solidFill>
                <a:latin typeface="宋体"/>
                <a:cs typeface="宋体"/>
              </a:rPr>
              <a:t>原问题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899DEB69-A987-2E4D-BEB2-8544118E0414}"/>
              </a:ext>
            </a:extLst>
          </p:cNvPr>
          <p:cNvSpPr txBox="1"/>
          <p:nvPr/>
        </p:nvSpPr>
        <p:spPr>
          <a:xfrm>
            <a:off x="1091378" y="4629343"/>
            <a:ext cx="5554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dirty="0" err="1">
                <a:solidFill>
                  <a:srgbClr val="FF0000"/>
                </a:solidFill>
                <a:latin typeface="宋体"/>
                <a:cs typeface="宋体"/>
              </a:rPr>
              <a:t>递归解决</a:t>
            </a:r>
            <a:r>
              <a:rPr sz="2400" spc="-5" dirty="0" err="1">
                <a:latin typeface="宋体"/>
                <a:cs typeface="宋体"/>
              </a:rPr>
              <a:t>子问题得到两个有序的子数组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1E07C3E3-082F-564C-BA6F-A328D5FB378B}"/>
              </a:ext>
            </a:extLst>
          </p:cNvPr>
          <p:cNvSpPr/>
          <p:nvPr/>
        </p:nvSpPr>
        <p:spPr>
          <a:xfrm>
            <a:off x="10019859" y="4555556"/>
            <a:ext cx="1896110" cy="651510"/>
          </a:xfrm>
          <a:custGeom>
            <a:avLst/>
            <a:gdLst/>
            <a:ahLst/>
            <a:cxnLst/>
            <a:rect l="l" t="t" r="r" b="b"/>
            <a:pathLst>
              <a:path w="1896108" h="651510">
                <a:moveTo>
                  <a:pt x="1787271" y="0"/>
                </a:moveTo>
                <a:lnTo>
                  <a:pt x="108584" y="0"/>
                </a:lnTo>
                <a:lnTo>
                  <a:pt x="66329" y="8536"/>
                </a:lnTo>
                <a:lnTo>
                  <a:pt x="31813" y="31813"/>
                </a:lnTo>
                <a:lnTo>
                  <a:pt x="8536" y="66329"/>
                </a:lnTo>
                <a:lnTo>
                  <a:pt x="0" y="108584"/>
                </a:lnTo>
                <a:lnTo>
                  <a:pt x="0" y="542924"/>
                </a:lnTo>
                <a:lnTo>
                  <a:pt x="8536" y="585180"/>
                </a:lnTo>
                <a:lnTo>
                  <a:pt x="31813" y="619696"/>
                </a:lnTo>
                <a:lnTo>
                  <a:pt x="66329" y="642973"/>
                </a:lnTo>
                <a:lnTo>
                  <a:pt x="108584" y="651509"/>
                </a:lnTo>
                <a:lnTo>
                  <a:pt x="1787271" y="651509"/>
                </a:lnTo>
                <a:lnTo>
                  <a:pt x="1829526" y="642973"/>
                </a:lnTo>
                <a:lnTo>
                  <a:pt x="1864042" y="619696"/>
                </a:lnTo>
                <a:lnTo>
                  <a:pt x="1887319" y="585180"/>
                </a:lnTo>
                <a:lnTo>
                  <a:pt x="1895855" y="542924"/>
                </a:lnTo>
                <a:lnTo>
                  <a:pt x="1895855" y="108584"/>
                </a:lnTo>
                <a:lnTo>
                  <a:pt x="1887319" y="66329"/>
                </a:lnTo>
                <a:lnTo>
                  <a:pt x="1864042" y="31813"/>
                </a:lnTo>
                <a:lnTo>
                  <a:pt x="1829526" y="8536"/>
                </a:lnTo>
                <a:lnTo>
                  <a:pt x="17872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E8609146-8EF2-0F4B-A6BB-DCB783023B15}"/>
              </a:ext>
            </a:extLst>
          </p:cNvPr>
          <p:cNvSpPr txBox="1"/>
          <p:nvPr/>
        </p:nvSpPr>
        <p:spPr>
          <a:xfrm>
            <a:off x="10192960" y="4633916"/>
            <a:ext cx="155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400" spc="-20">
                <a:solidFill>
                  <a:srgbClr val="FFFFFF"/>
                </a:solidFill>
                <a:latin typeface="宋体"/>
                <a:cs typeface="宋体"/>
              </a:rPr>
              <a:t>子问题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27" name="object 18">
            <a:extLst>
              <a:ext uri="{FF2B5EF4-FFF2-40B4-BE49-F238E27FC236}">
                <a16:creationId xmlns:a16="http://schemas.microsoft.com/office/drawing/2014/main" id="{418D46D6-5E18-7F49-8763-A6FD6F4418B8}"/>
              </a:ext>
            </a:extLst>
          </p:cNvPr>
          <p:cNvGraphicFramePr>
            <a:graphicFrameLocks noGrp="1"/>
          </p:cNvGraphicFramePr>
          <p:nvPr/>
        </p:nvGraphicFramePr>
        <p:xfrm>
          <a:off x="1458467" y="1141211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object 19">
            <a:extLst>
              <a:ext uri="{FF2B5EF4-FFF2-40B4-BE49-F238E27FC236}">
                <a16:creationId xmlns:a16="http://schemas.microsoft.com/office/drawing/2014/main" id="{2A375A6A-C8A1-FE43-A44B-C7D18D2AA03D}"/>
              </a:ext>
            </a:extLst>
          </p:cNvPr>
          <p:cNvGraphicFramePr>
            <a:graphicFrameLocks noGrp="1"/>
          </p:cNvGraphicFramePr>
          <p:nvPr/>
        </p:nvGraphicFramePr>
        <p:xfrm>
          <a:off x="1184376" y="2206488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object 20">
            <a:extLst>
              <a:ext uri="{FF2B5EF4-FFF2-40B4-BE49-F238E27FC236}">
                <a16:creationId xmlns:a16="http://schemas.microsoft.com/office/drawing/2014/main" id="{37F46772-5AE8-2B42-B51B-D4E6EE7B1A04}"/>
              </a:ext>
            </a:extLst>
          </p:cNvPr>
          <p:cNvGraphicFramePr>
            <a:graphicFrameLocks noGrp="1"/>
          </p:cNvGraphicFramePr>
          <p:nvPr/>
        </p:nvGraphicFramePr>
        <p:xfrm>
          <a:off x="6281165" y="2211186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21">
            <a:extLst>
              <a:ext uri="{FF2B5EF4-FFF2-40B4-BE49-F238E27FC236}">
                <a16:creationId xmlns:a16="http://schemas.microsoft.com/office/drawing/2014/main" id="{0FD6CB1E-0A73-3F40-AC3F-EE5C955E296B}"/>
              </a:ext>
            </a:extLst>
          </p:cNvPr>
          <p:cNvSpPr/>
          <p:nvPr/>
        </p:nvSpPr>
        <p:spPr>
          <a:xfrm>
            <a:off x="3507485" y="1737476"/>
            <a:ext cx="5097145" cy="492759"/>
          </a:xfrm>
          <a:custGeom>
            <a:avLst/>
            <a:gdLst/>
            <a:ahLst/>
            <a:cxnLst/>
            <a:rect l="l" t="t" r="r" b="b"/>
            <a:pathLst>
              <a:path w="5097145" h="492759">
                <a:moveTo>
                  <a:pt x="2578227" y="0"/>
                </a:moveTo>
                <a:lnTo>
                  <a:pt x="0" y="488188"/>
                </a:lnTo>
              </a:path>
              <a:path w="5097145" h="492759">
                <a:moveTo>
                  <a:pt x="2578608" y="0"/>
                </a:moveTo>
                <a:lnTo>
                  <a:pt x="5097145" y="492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B9184B96-0C21-AB49-B68F-B15F23B33C2E}"/>
              </a:ext>
            </a:extLst>
          </p:cNvPr>
          <p:cNvSpPr txBox="1"/>
          <p:nvPr/>
        </p:nvSpPr>
        <p:spPr>
          <a:xfrm>
            <a:off x="1091378" y="5375401"/>
            <a:ext cx="5554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>
                <a:latin typeface="宋体"/>
                <a:cs typeface="宋体"/>
              </a:rPr>
              <a:t>将两个有序子数组</a:t>
            </a:r>
            <a:r>
              <a:rPr sz="2400">
                <a:solidFill>
                  <a:srgbClr val="FF0000"/>
                </a:solidFill>
                <a:latin typeface="宋体"/>
                <a:cs typeface="宋体"/>
              </a:rPr>
              <a:t>合并</a:t>
            </a:r>
            <a:r>
              <a:rPr sz="2400" spc="-10">
                <a:latin typeface="宋体"/>
                <a:cs typeface="宋体"/>
              </a:rPr>
              <a:t>为一个有序数组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CE6DE83A-7E96-2746-A37A-7E765CA4A918}"/>
              </a:ext>
            </a:extLst>
          </p:cNvPr>
          <p:cNvSpPr/>
          <p:nvPr/>
        </p:nvSpPr>
        <p:spPr>
          <a:xfrm>
            <a:off x="10019859" y="5280277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1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60"/>
                </a:lnTo>
                <a:lnTo>
                  <a:pt x="8538" y="585872"/>
                </a:lnTo>
                <a:lnTo>
                  <a:pt x="31829" y="620428"/>
                </a:lnTo>
                <a:lnTo>
                  <a:pt x="66383" y="643727"/>
                </a:lnTo>
                <a:lnTo>
                  <a:pt x="108711" y="652272"/>
                </a:lnTo>
                <a:lnTo>
                  <a:pt x="1787144" y="652272"/>
                </a:lnTo>
                <a:lnTo>
                  <a:pt x="1829472" y="643727"/>
                </a:lnTo>
                <a:lnTo>
                  <a:pt x="1864026" y="620428"/>
                </a:lnTo>
                <a:lnTo>
                  <a:pt x="1887317" y="585872"/>
                </a:lnTo>
                <a:lnTo>
                  <a:pt x="1895855" y="543560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044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BB64545D-2AFC-0B43-B6C0-702E45124B2B}"/>
              </a:ext>
            </a:extLst>
          </p:cNvPr>
          <p:cNvSpPr txBox="1"/>
          <p:nvPr/>
        </p:nvSpPr>
        <p:spPr>
          <a:xfrm>
            <a:off x="10192960" y="5358890"/>
            <a:ext cx="155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400" spc="-20">
                <a:solidFill>
                  <a:srgbClr val="FFFFFF"/>
                </a:solidFill>
                <a:latin typeface="宋体"/>
                <a:cs typeface="宋体"/>
              </a:rPr>
              <a:t>问题解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097BA438-52C7-E741-8B1F-5641A7921CE0}"/>
              </a:ext>
            </a:extLst>
          </p:cNvPr>
          <p:cNvSpPr txBox="1"/>
          <p:nvPr/>
        </p:nvSpPr>
        <p:spPr>
          <a:xfrm>
            <a:off x="2123694" y="6051041"/>
            <a:ext cx="7377430" cy="59563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76835" rIns="0" bIns="0" rtlCol="0">
            <a:spAutoFit/>
          </a:bodyPr>
          <a:lstStyle/>
          <a:p>
            <a:pPr marL="792480">
              <a:lnSpc>
                <a:spcPct val="100000"/>
              </a:lnSpc>
              <a:spcBef>
                <a:spcPts val="605"/>
              </a:spcBef>
            </a:pPr>
            <a:r>
              <a:rPr sz="2400">
                <a:solidFill>
                  <a:srgbClr val="FFFFFF"/>
                </a:solidFill>
                <a:latin typeface="宋体"/>
                <a:cs typeface="宋体"/>
              </a:rPr>
              <a:t>归并排序：分解数组，递</a:t>
            </a:r>
            <a:r>
              <a:rPr sz="2400">
                <a:solidFill>
                  <a:srgbClr val="FFC000"/>
                </a:solidFill>
                <a:latin typeface="宋体"/>
                <a:cs typeface="宋体"/>
              </a:rPr>
              <a:t>归</a:t>
            </a:r>
            <a:r>
              <a:rPr sz="2400">
                <a:solidFill>
                  <a:srgbClr val="FFFFFF"/>
                </a:solidFill>
                <a:latin typeface="宋体"/>
                <a:cs typeface="宋体"/>
              </a:rPr>
              <a:t>求解，合</a:t>
            </a:r>
            <a:r>
              <a:rPr sz="2400" spc="-20">
                <a:solidFill>
                  <a:srgbClr val="FFC000"/>
                </a:solidFill>
                <a:latin typeface="宋体"/>
                <a:cs typeface="宋体"/>
              </a:rPr>
              <a:t>并排序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E059E070-E0F1-7047-A360-B733B28F0D3D}"/>
              </a:ext>
            </a:extLst>
          </p:cNvPr>
          <p:cNvSpPr/>
          <p:nvPr/>
        </p:nvSpPr>
        <p:spPr>
          <a:xfrm>
            <a:off x="9906000" y="3540369"/>
            <a:ext cx="2145323" cy="31063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3DC328-8875-7945-8440-B3871FEAB7A2}"/>
              </a:ext>
            </a:extLst>
          </p:cNvPr>
          <p:cNvSpPr txBox="1"/>
          <p:nvPr/>
        </p:nvSpPr>
        <p:spPr>
          <a:xfrm>
            <a:off x="10103475" y="6099399"/>
            <a:ext cx="1682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分而治之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B0C9EA33-0957-E645-AB70-D66A38CC19C7}"/>
              </a:ext>
            </a:extLst>
          </p:cNvPr>
          <p:cNvCxnSpPr/>
          <p:nvPr/>
        </p:nvCxnSpPr>
        <p:spPr>
          <a:xfrm>
            <a:off x="9530858" y="6342179"/>
            <a:ext cx="3282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62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DB89623B-8A2E-1C4B-AE9D-7105F37D6F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BBA9D16-40CB-1042-9634-96CEB71A7736}"/>
              </a:ext>
            </a:extLst>
          </p:cNvPr>
          <p:cNvSpPr txBox="1"/>
          <p:nvPr/>
        </p:nvSpPr>
        <p:spPr>
          <a:xfrm>
            <a:off x="711200" y="1184613"/>
            <a:ext cx="44151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MergeSort</a:t>
            </a:r>
            <a:r>
              <a:rPr sz="2800" spc="-10" dirty="0">
                <a:latin typeface="Cambria Math"/>
                <a:cs typeface="Cambria Math"/>
              </a:rPr>
              <a:t>(𝑨,</a:t>
            </a:r>
            <a:r>
              <a:rPr sz="2800" spc="-9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𝒍𝒆𝒇𝒕,</a:t>
            </a:r>
            <a:r>
              <a:rPr sz="2800" spc="-9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𝒓𝒊𝒈𝒉𝒕)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2295580-45C6-2844-8C64-555A45B3D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415BA78-B5EE-C34B-98F3-C2D6CEC3288A}"/>
              </a:ext>
            </a:extLst>
          </p:cNvPr>
          <p:cNvSpPr txBox="1"/>
          <p:nvPr/>
        </p:nvSpPr>
        <p:spPr>
          <a:xfrm>
            <a:off x="6662928" y="1431797"/>
            <a:ext cx="4215765" cy="5257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82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80"/>
              </a:spcBef>
            </a:pPr>
            <a:r>
              <a:rPr sz="2400">
                <a:solidFill>
                  <a:srgbClr val="FFFFFF"/>
                </a:solidFill>
                <a:latin typeface="宋体"/>
                <a:cs typeface="宋体"/>
              </a:rPr>
              <a:t>初始调用：</a:t>
            </a:r>
            <a:r>
              <a:rPr sz="2400" b="1">
                <a:solidFill>
                  <a:srgbClr val="FFFFFF"/>
                </a:solidFill>
                <a:latin typeface="Times New Roman"/>
                <a:cs typeface="Times New Roman"/>
              </a:rPr>
              <a:t>MergeSort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(𝑨,</a:t>
            </a:r>
            <a:r>
              <a:rPr sz="2400" spc="-1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400" spc="-7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𝒏)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24774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DB89623B-8A2E-1C4B-AE9D-7105F37D6F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BBA9D16-40CB-1042-9634-96CEB71A7736}"/>
              </a:ext>
            </a:extLst>
          </p:cNvPr>
          <p:cNvSpPr txBox="1"/>
          <p:nvPr/>
        </p:nvSpPr>
        <p:spPr>
          <a:xfrm>
            <a:off x="711200" y="1184613"/>
            <a:ext cx="44151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MergeSort</a:t>
            </a:r>
            <a:r>
              <a:rPr sz="2800" spc="-10" dirty="0">
                <a:latin typeface="Cambria Math"/>
                <a:cs typeface="Cambria Math"/>
              </a:rPr>
              <a:t>(𝑨,</a:t>
            </a:r>
            <a:r>
              <a:rPr sz="2800" spc="-9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𝒍𝒆𝒇𝒕,</a:t>
            </a:r>
            <a:r>
              <a:rPr sz="2800" spc="-9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𝒓𝒊𝒈𝒉𝒕)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2295580-45C6-2844-8C64-555A45B3D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415BA78-B5EE-C34B-98F3-C2D6CEC3288A}"/>
              </a:ext>
            </a:extLst>
          </p:cNvPr>
          <p:cNvSpPr txBox="1"/>
          <p:nvPr/>
        </p:nvSpPr>
        <p:spPr>
          <a:xfrm>
            <a:off x="6662928" y="1431797"/>
            <a:ext cx="4215765" cy="5257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82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80"/>
              </a:spcBef>
            </a:pPr>
            <a:r>
              <a:rPr sz="2400">
                <a:solidFill>
                  <a:srgbClr val="FFFFFF"/>
                </a:solidFill>
                <a:latin typeface="宋体"/>
                <a:cs typeface="宋体"/>
              </a:rPr>
              <a:t>初始调用：</a:t>
            </a:r>
            <a:r>
              <a:rPr sz="2400" b="1">
                <a:solidFill>
                  <a:srgbClr val="FFFFFF"/>
                </a:solidFill>
                <a:latin typeface="Times New Roman"/>
                <a:cs typeface="Times New Roman"/>
              </a:rPr>
              <a:t>MergeSort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(𝑨,</a:t>
            </a:r>
            <a:r>
              <a:rPr sz="2400" spc="-1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400" spc="-7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𝒏)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7" name="object 2">
            <a:extLst>
              <a:ext uri="{FF2B5EF4-FFF2-40B4-BE49-F238E27FC236}">
                <a16:creationId xmlns:a16="http://schemas.microsoft.com/office/drawing/2014/main" id="{5BCE61D5-7FED-9547-A8C3-763C1C2DC056}"/>
              </a:ext>
            </a:extLst>
          </p:cNvPr>
          <p:cNvGrpSpPr/>
          <p:nvPr/>
        </p:nvGrpSpPr>
        <p:grpSpPr>
          <a:xfrm>
            <a:off x="1159717" y="1956201"/>
            <a:ext cx="9706020" cy="3557295"/>
            <a:chOff x="1159717" y="1956201"/>
            <a:chExt cx="9706020" cy="3557295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33C4B301-74BB-7C4A-827D-A6EC63FC8F83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159717" y="1956201"/>
              <a:ext cx="9706020" cy="3557295"/>
            </a:xfrm>
            <a:prstGeom prst="rect">
              <a:avLst/>
            </a:prstGeom>
          </p:spPr>
        </p:pic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66EFFB7B-42AB-834F-BB00-8AE028AE674C}"/>
                </a:ext>
              </a:extLst>
            </p:cNvPr>
            <p:cNvSpPr/>
            <p:nvPr/>
          </p:nvSpPr>
          <p:spPr>
            <a:xfrm>
              <a:off x="1416557" y="2681477"/>
              <a:ext cx="3864103" cy="1033273"/>
            </a:xfrm>
            <a:custGeom>
              <a:avLst/>
              <a:gdLst/>
              <a:ahLst/>
              <a:cxnLst/>
              <a:rect l="l" t="t" r="r" b="b"/>
              <a:pathLst>
                <a:path w="3851275" h="1035685">
                  <a:moveTo>
                    <a:pt x="0" y="172593"/>
                  </a:moveTo>
                  <a:lnTo>
                    <a:pt x="6161" y="126691"/>
                  </a:lnTo>
                  <a:lnTo>
                    <a:pt x="23551" y="85456"/>
                  </a:lnTo>
                  <a:lnTo>
                    <a:pt x="50530" y="50530"/>
                  </a:lnTo>
                  <a:lnTo>
                    <a:pt x="85456" y="23551"/>
                  </a:lnTo>
                  <a:lnTo>
                    <a:pt x="126691" y="6161"/>
                  </a:lnTo>
                  <a:lnTo>
                    <a:pt x="172593" y="0"/>
                  </a:lnTo>
                  <a:lnTo>
                    <a:pt x="3678554" y="0"/>
                  </a:lnTo>
                  <a:lnTo>
                    <a:pt x="3724456" y="6161"/>
                  </a:lnTo>
                  <a:lnTo>
                    <a:pt x="3765691" y="23551"/>
                  </a:lnTo>
                  <a:lnTo>
                    <a:pt x="3800617" y="50530"/>
                  </a:lnTo>
                  <a:lnTo>
                    <a:pt x="3827596" y="85456"/>
                  </a:lnTo>
                  <a:lnTo>
                    <a:pt x="3844986" y="126691"/>
                  </a:lnTo>
                  <a:lnTo>
                    <a:pt x="3851148" y="172593"/>
                  </a:lnTo>
                  <a:lnTo>
                    <a:pt x="3851148" y="862965"/>
                  </a:lnTo>
                  <a:lnTo>
                    <a:pt x="3844986" y="908866"/>
                  </a:lnTo>
                  <a:lnTo>
                    <a:pt x="3827596" y="950101"/>
                  </a:lnTo>
                  <a:lnTo>
                    <a:pt x="3800617" y="985027"/>
                  </a:lnTo>
                  <a:lnTo>
                    <a:pt x="3765691" y="1012006"/>
                  </a:lnTo>
                  <a:lnTo>
                    <a:pt x="3724456" y="1029396"/>
                  </a:lnTo>
                  <a:lnTo>
                    <a:pt x="3678554" y="1035558"/>
                  </a:lnTo>
                  <a:lnTo>
                    <a:pt x="172593" y="1035558"/>
                  </a:lnTo>
                  <a:lnTo>
                    <a:pt x="126691" y="1029396"/>
                  </a:lnTo>
                  <a:lnTo>
                    <a:pt x="85456" y="1012006"/>
                  </a:lnTo>
                  <a:lnTo>
                    <a:pt x="50530" y="985027"/>
                  </a:lnTo>
                  <a:lnTo>
                    <a:pt x="23551" y="950101"/>
                  </a:lnTo>
                  <a:lnTo>
                    <a:pt x="6161" y="908866"/>
                  </a:lnTo>
                  <a:lnTo>
                    <a:pt x="0" y="862965"/>
                  </a:lnTo>
                  <a:lnTo>
                    <a:pt x="0" y="172593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7">
            <a:extLst>
              <a:ext uri="{FF2B5EF4-FFF2-40B4-BE49-F238E27FC236}">
                <a16:creationId xmlns:a16="http://schemas.microsoft.com/office/drawing/2014/main" id="{7FB05481-7609-EC4E-B066-EE1CB436343E}"/>
              </a:ext>
            </a:extLst>
          </p:cNvPr>
          <p:cNvSpPr txBox="1"/>
          <p:nvPr/>
        </p:nvSpPr>
        <p:spPr>
          <a:xfrm>
            <a:off x="5716142" y="2873882"/>
            <a:ext cx="4215765" cy="56769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490"/>
              </a:spcBef>
            </a:pPr>
            <a:r>
              <a:rPr sz="2400" spc="-5">
                <a:latin typeface="宋体"/>
                <a:cs typeface="宋体"/>
              </a:rPr>
              <a:t>递归终止：仅有一个元素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64068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DB89623B-8A2E-1C4B-AE9D-7105F37D6F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BBA9D16-40CB-1042-9634-96CEB71A7736}"/>
              </a:ext>
            </a:extLst>
          </p:cNvPr>
          <p:cNvSpPr txBox="1"/>
          <p:nvPr/>
        </p:nvSpPr>
        <p:spPr>
          <a:xfrm>
            <a:off x="711200" y="1184613"/>
            <a:ext cx="44151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MergeSort</a:t>
            </a:r>
            <a:r>
              <a:rPr sz="2800" spc="-10" dirty="0">
                <a:latin typeface="Cambria Math"/>
                <a:cs typeface="Cambria Math"/>
              </a:rPr>
              <a:t>(𝑨,</a:t>
            </a:r>
            <a:r>
              <a:rPr sz="2800" spc="-9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𝒍𝒆𝒇𝒕,</a:t>
            </a:r>
            <a:r>
              <a:rPr sz="2800" spc="-9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𝒓𝒊𝒈𝒉𝒕)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2295580-45C6-2844-8C64-555A45B3D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415BA78-B5EE-C34B-98F3-C2D6CEC3288A}"/>
              </a:ext>
            </a:extLst>
          </p:cNvPr>
          <p:cNvSpPr txBox="1"/>
          <p:nvPr/>
        </p:nvSpPr>
        <p:spPr>
          <a:xfrm>
            <a:off x="6662928" y="1431797"/>
            <a:ext cx="4215765" cy="5257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82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80"/>
              </a:spcBef>
            </a:pPr>
            <a:r>
              <a:rPr sz="2400">
                <a:solidFill>
                  <a:srgbClr val="FFFFFF"/>
                </a:solidFill>
                <a:latin typeface="宋体"/>
                <a:cs typeface="宋体"/>
              </a:rPr>
              <a:t>初始调用：</a:t>
            </a:r>
            <a:r>
              <a:rPr sz="2400" b="1">
                <a:solidFill>
                  <a:srgbClr val="FFFFFF"/>
                </a:solidFill>
                <a:latin typeface="Times New Roman"/>
                <a:cs typeface="Times New Roman"/>
              </a:rPr>
              <a:t>MergeSort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(𝑨,</a:t>
            </a:r>
            <a:r>
              <a:rPr sz="2400" spc="-1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400" spc="-7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𝒏)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2">
            <a:extLst>
              <a:ext uri="{FF2B5EF4-FFF2-40B4-BE49-F238E27FC236}">
                <a16:creationId xmlns:a16="http://schemas.microsoft.com/office/drawing/2014/main" id="{12CA277B-8216-1143-9889-7D28F1ADF003}"/>
              </a:ext>
            </a:extLst>
          </p:cNvPr>
          <p:cNvGrpSpPr/>
          <p:nvPr/>
        </p:nvGrpSpPr>
        <p:grpSpPr>
          <a:xfrm>
            <a:off x="1159717" y="1956201"/>
            <a:ext cx="9706020" cy="3557295"/>
            <a:chOff x="1159717" y="1956201"/>
            <a:chExt cx="9706020" cy="3557295"/>
          </a:xfrm>
        </p:grpSpPr>
        <p:pic>
          <p:nvPicPr>
            <p:cNvPr id="12" name="object 3">
              <a:extLst>
                <a:ext uri="{FF2B5EF4-FFF2-40B4-BE49-F238E27FC236}">
                  <a16:creationId xmlns:a16="http://schemas.microsoft.com/office/drawing/2014/main" id="{88E5F5FF-9751-9E42-AD86-12301044EAC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159717" y="1956201"/>
              <a:ext cx="9706020" cy="3557295"/>
            </a:xfrm>
            <a:prstGeom prst="rect">
              <a:avLst/>
            </a:prstGeom>
          </p:spPr>
        </p:pic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4A9B86BC-BE41-3643-AA69-42FF17FA3389}"/>
                </a:ext>
              </a:extLst>
            </p:cNvPr>
            <p:cNvSpPr/>
            <p:nvPr/>
          </p:nvSpPr>
          <p:spPr>
            <a:xfrm>
              <a:off x="1506473" y="3637787"/>
              <a:ext cx="3281679" cy="480059"/>
            </a:xfrm>
            <a:custGeom>
              <a:avLst/>
              <a:gdLst/>
              <a:ahLst/>
              <a:cxnLst/>
              <a:rect l="l" t="t" r="r" b="b"/>
              <a:pathLst>
                <a:path w="3281679" h="480059">
                  <a:moveTo>
                    <a:pt x="0" y="80010"/>
                  </a:moveTo>
                  <a:lnTo>
                    <a:pt x="6286" y="48863"/>
                  </a:lnTo>
                  <a:lnTo>
                    <a:pt x="23431" y="23431"/>
                  </a:lnTo>
                  <a:lnTo>
                    <a:pt x="48863" y="6286"/>
                  </a:lnTo>
                  <a:lnTo>
                    <a:pt x="80009" y="0"/>
                  </a:lnTo>
                  <a:lnTo>
                    <a:pt x="3201162" y="0"/>
                  </a:lnTo>
                  <a:lnTo>
                    <a:pt x="3232308" y="6286"/>
                  </a:lnTo>
                  <a:lnTo>
                    <a:pt x="3257740" y="23431"/>
                  </a:lnTo>
                  <a:lnTo>
                    <a:pt x="3274885" y="48863"/>
                  </a:lnTo>
                  <a:lnTo>
                    <a:pt x="3281171" y="80010"/>
                  </a:lnTo>
                  <a:lnTo>
                    <a:pt x="3281171" y="400050"/>
                  </a:lnTo>
                  <a:lnTo>
                    <a:pt x="3274885" y="431196"/>
                  </a:lnTo>
                  <a:lnTo>
                    <a:pt x="3257740" y="456628"/>
                  </a:lnTo>
                  <a:lnTo>
                    <a:pt x="3232308" y="473773"/>
                  </a:lnTo>
                  <a:lnTo>
                    <a:pt x="3201162" y="480060"/>
                  </a:lnTo>
                  <a:lnTo>
                    <a:pt x="80009" y="480060"/>
                  </a:lnTo>
                  <a:lnTo>
                    <a:pt x="48863" y="473773"/>
                  </a:lnTo>
                  <a:lnTo>
                    <a:pt x="23431" y="456628"/>
                  </a:lnTo>
                  <a:lnTo>
                    <a:pt x="6286" y="431196"/>
                  </a:lnTo>
                  <a:lnTo>
                    <a:pt x="0" y="400050"/>
                  </a:lnTo>
                  <a:lnTo>
                    <a:pt x="0" y="8001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7">
            <a:extLst>
              <a:ext uri="{FF2B5EF4-FFF2-40B4-BE49-F238E27FC236}">
                <a16:creationId xmlns:a16="http://schemas.microsoft.com/office/drawing/2014/main" id="{76136361-B949-E543-9A28-4961921E0FAA}"/>
              </a:ext>
            </a:extLst>
          </p:cNvPr>
          <p:cNvSpPr txBox="1"/>
          <p:nvPr/>
        </p:nvSpPr>
        <p:spPr>
          <a:xfrm>
            <a:off x="5755004" y="3534536"/>
            <a:ext cx="3191510" cy="56769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528955">
              <a:lnSpc>
                <a:spcPct val="100000"/>
              </a:lnSpc>
              <a:spcBef>
                <a:spcPts val="490"/>
              </a:spcBef>
            </a:pPr>
            <a:r>
              <a:rPr sz="2400" spc="-10">
                <a:latin typeface="宋体"/>
                <a:cs typeface="宋体"/>
              </a:rPr>
              <a:t>计算子问题规模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27838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DB89623B-8A2E-1C4B-AE9D-7105F37D6F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BBA9D16-40CB-1042-9634-96CEB71A7736}"/>
              </a:ext>
            </a:extLst>
          </p:cNvPr>
          <p:cNvSpPr txBox="1"/>
          <p:nvPr/>
        </p:nvSpPr>
        <p:spPr>
          <a:xfrm>
            <a:off x="711200" y="1184613"/>
            <a:ext cx="44151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MergeSort</a:t>
            </a:r>
            <a:r>
              <a:rPr sz="2800" spc="-10" dirty="0">
                <a:latin typeface="Cambria Math"/>
                <a:cs typeface="Cambria Math"/>
              </a:rPr>
              <a:t>(𝑨,</a:t>
            </a:r>
            <a:r>
              <a:rPr sz="2800" spc="-9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𝒍𝒆𝒇𝒕,</a:t>
            </a:r>
            <a:r>
              <a:rPr sz="2800" spc="-9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𝒓𝒊𝒈𝒉𝒕)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2295580-45C6-2844-8C64-555A45B3D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415BA78-B5EE-C34B-98F3-C2D6CEC3288A}"/>
              </a:ext>
            </a:extLst>
          </p:cNvPr>
          <p:cNvSpPr txBox="1"/>
          <p:nvPr/>
        </p:nvSpPr>
        <p:spPr>
          <a:xfrm>
            <a:off x="6662928" y="1431797"/>
            <a:ext cx="4215765" cy="5257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82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80"/>
              </a:spcBef>
            </a:pPr>
            <a:r>
              <a:rPr sz="2400">
                <a:solidFill>
                  <a:srgbClr val="FFFFFF"/>
                </a:solidFill>
                <a:latin typeface="宋体"/>
                <a:cs typeface="宋体"/>
              </a:rPr>
              <a:t>初始调用：</a:t>
            </a:r>
            <a:r>
              <a:rPr sz="2400" b="1">
                <a:solidFill>
                  <a:srgbClr val="FFFFFF"/>
                </a:solidFill>
                <a:latin typeface="Times New Roman"/>
                <a:cs typeface="Times New Roman"/>
              </a:rPr>
              <a:t>MergeSort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(𝑨,</a:t>
            </a:r>
            <a:r>
              <a:rPr sz="2400" spc="-1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400" spc="-7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𝒏)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88E5F5FF-9751-9E42-AD86-12301044EA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grpSp>
        <p:nvGrpSpPr>
          <p:cNvPr id="10" name="object 2">
            <a:extLst>
              <a:ext uri="{FF2B5EF4-FFF2-40B4-BE49-F238E27FC236}">
                <a16:creationId xmlns:a16="http://schemas.microsoft.com/office/drawing/2014/main" id="{355A3B61-5142-BC4C-84FA-9E716B40D7EE}"/>
              </a:ext>
            </a:extLst>
          </p:cNvPr>
          <p:cNvGrpSpPr/>
          <p:nvPr/>
        </p:nvGrpSpPr>
        <p:grpSpPr>
          <a:xfrm>
            <a:off x="1159717" y="1956201"/>
            <a:ext cx="9706020" cy="3557295"/>
            <a:chOff x="1159717" y="1956201"/>
            <a:chExt cx="9706020" cy="3557295"/>
          </a:xfrm>
        </p:grpSpPr>
        <p:pic>
          <p:nvPicPr>
            <p:cNvPr id="15" name="object 3">
              <a:extLst>
                <a:ext uri="{FF2B5EF4-FFF2-40B4-BE49-F238E27FC236}">
                  <a16:creationId xmlns:a16="http://schemas.microsoft.com/office/drawing/2014/main" id="{B35FFE66-A7E3-9643-B95F-A8AB03591224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159717" y="1956201"/>
              <a:ext cx="9706020" cy="3557295"/>
            </a:xfrm>
            <a:prstGeom prst="rect">
              <a:avLst/>
            </a:prstGeom>
          </p:spPr>
        </p:pic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964662C1-9E09-A040-97D7-58EBE626D1C4}"/>
                </a:ext>
              </a:extLst>
            </p:cNvPr>
            <p:cNvSpPr/>
            <p:nvPr/>
          </p:nvSpPr>
          <p:spPr>
            <a:xfrm>
              <a:off x="1453133" y="4084319"/>
              <a:ext cx="4022090" cy="630555"/>
            </a:xfrm>
            <a:custGeom>
              <a:avLst/>
              <a:gdLst/>
              <a:ahLst/>
              <a:cxnLst/>
              <a:rect l="l" t="t" r="r" b="b"/>
              <a:pathLst>
                <a:path w="4022090" h="630554">
                  <a:moveTo>
                    <a:pt x="0" y="105028"/>
                  </a:moveTo>
                  <a:lnTo>
                    <a:pt x="8249" y="64133"/>
                  </a:lnTo>
                  <a:lnTo>
                    <a:pt x="30749" y="30749"/>
                  </a:lnTo>
                  <a:lnTo>
                    <a:pt x="64133" y="8249"/>
                  </a:lnTo>
                  <a:lnTo>
                    <a:pt x="105029" y="0"/>
                  </a:lnTo>
                  <a:lnTo>
                    <a:pt x="3916807" y="0"/>
                  </a:lnTo>
                  <a:lnTo>
                    <a:pt x="3957702" y="8249"/>
                  </a:lnTo>
                  <a:lnTo>
                    <a:pt x="3991086" y="30749"/>
                  </a:lnTo>
                  <a:lnTo>
                    <a:pt x="4013586" y="64133"/>
                  </a:lnTo>
                  <a:lnTo>
                    <a:pt x="4021836" y="105028"/>
                  </a:lnTo>
                  <a:lnTo>
                    <a:pt x="4021836" y="525144"/>
                  </a:lnTo>
                  <a:lnTo>
                    <a:pt x="4013586" y="566040"/>
                  </a:lnTo>
                  <a:lnTo>
                    <a:pt x="3991086" y="599424"/>
                  </a:lnTo>
                  <a:lnTo>
                    <a:pt x="3957702" y="621924"/>
                  </a:lnTo>
                  <a:lnTo>
                    <a:pt x="3916807" y="630173"/>
                  </a:lnTo>
                  <a:lnTo>
                    <a:pt x="105029" y="630173"/>
                  </a:lnTo>
                  <a:lnTo>
                    <a:pt x="64133" y="621924"/>
                  </a:lnTo>
                  <a:lnTo>
                    <a:pt x="30749" y="599424"/>
                  </a:lnTo>
                  <a:lnTo>
                    <a:pt x="8249" y="566040"/>
                  </a:lnTo>
                  <a:lnTo>
                    <a:pt x="0" y="525144"/>
                  </a:lnTo>
                  <a:lnTo>
                    <a:pt x="0" y="10502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CAB57770-5E9C-434F-A8F2-E1AEEE500707}"/>
              </a:ext>
            </a:extLst>
          </p:cNvPr>
          <p:cNvSpPr txBox="1"/>
          <p:nvPr/>
        </p:nvSpPr>
        <p:spPr>
          <a:xfrm>
            <a:off x="5755004" y="4083939"/>
            <a:ext cx="3191510" cy="56769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528955">
              <a:lnSpc>
                <a:spcPct val="100000"/>
              </a:lnSpc>
              <a:spcBef>
                <a:spcPts val="495"/>
              </a:spcBef>
            </a:pPr>
            <a:r>
              <a:rPr sz="2400" spc="-10">
                <a:latin typeface="宋体"/>
                <a:cs typeface="宋体"/>
              </a:rPr>
              <a:t>递归求解子问题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14330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DB89623B-8A2E-1C4B-AE9D-7105F37D6F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BBA9D16-40CB-1042-9634-96CEB71A7736}"/>
              </a:ext>
            </a:extLst>
          </p:cNvPr>
          <p:cNvSpPr txBox="1"/>
          <p:nvPr/>
        </p:nvSpPr>
        <p:spPr>
          <a:xfrm>
            <a:off x="711200" y="1184613"/>
            <a:ext cx="44151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MergeSort</a:t>
            </a:r>
            <a:r>
              <a:rPr sz="2800" spc="-10" dirty="0">
                <a:latin typeface="Cambria Math"/>
                <a:cs typeface="Cambria Math"/>
              </a:rPr>
              <a:t>(𝑨,</a:t>
            </a:r>
            <a:r>
              <a:rPr sz="2800" spc="-9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𝒍𝒆𝒇𝒕,</a:t>
            </a:r>
            <a:r>
              <a:rPr sz="2800" spc="-9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𝒓𝒊𝒈𝒉𝒕)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2295580-45C6-2844-8C64-555A45B3D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415BA78-B5EE-C34B-98F3-C2D6CEC3288A}"/>
              </a:ext>
            </a:extLst>
          </p:cNvPr>
          <p:cNvSpPr txBox="1"/>
          <p:nvPr/>
        </p:nvSpPr>
        <p:spPr>
          <a:xfrm>
            <a:off x="6662928" y="1431797"/>
            <a:ext cx="4215765" cy="52578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82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80"/>
              </a:spcBef>
            </a:pPr>
            <a:r>
              <a:rPr sz="2400">
                <a:solidFill>
                  <a:srgbClr val="FFFFFF"/>
                </a:solidFill>
                <a:latin typeface="宋体"/>
                <a:cs typeface="宋体"/>
              </a:rPr>
              <a:t>初始调用：</a:t>
            </a:r>
            <a:r>
              <a:rPr sz="2400" b="1">
                <a:solidFill>
                  <a:srgbClr val="FFFFFF"/>
                </a:solidFill>
                <a:latin typeface="Times New Roman"/>
                <a:cs typeface="Times New Roman"/>
              </a:rPr>
              <a:t>MergeSort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(𝑨,</a:t>
            </a:r>
            <a:r>
              <a:rPr sz="2400" spc="-1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400" spc="-7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𝒏)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88E5F5FF-9751-9E42-AD86-12301044EA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pic>
        <p:nvPicPr>
          <p:cNvPr id="15" name="object 3">
            <a:extLst>
              <a:ext uri="{FF2B5EF4-FFF2-40B4-BE49-F238E27FC236}">
                <a16:creationId xmlns:a16="http://schemas.microsoft.com/office/drawing/2014/main" id="{B35FFE66-A7E3-9643-B95F-A8AB035912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9717" y="1956201"/>
            <a:ext cx="9706020" cy="3557295"/>
          </a:xfrm>
          <a:prstGeom prst="rect">
            <a:avLst/>
          </a:prstGeom>
        </p:spPr>
      </p:pic>
      <p:grpSp>
        <p:nvGrpSpPr>
          <p:cNvPr id="11" name="object 2">
            <a:extLst>
              <a:ext uri="{FF2B5EF4-FFF2-40B4-BE49-F238E27FC236}">
                <a16:creationId xmlns:a16="http://schemas.microsoft.com/office/drawing/2014/main" id="{6CD2A347-9FFA-5A4F-9F35-7990F5D1ED0D}"/>
              </a:ext>
            </a:extLst>
          </p:cNvPr>
          <p:cNvGrpSpPr/>
          <p:nvPr/>
        </p:nvGrpSpPr>
        <p:grpSpPr>
          <a:xfrm>
            <a:off x="1159717" y="1956201"/>
            <a:ext cx="9706020" cy="3557295"/>
            <a:chOff x="1159717" y="1956201"/>
            <a:chExt cx="9706020" cy="3557295"/>
          </a:xfrm>
        </p:grpSpPr>
        <p:pic>
          <p:nvPicPr>
            <p:cNvPr id="13" name="object 3">
              <a:extLst>
                <a:ext uri="{FF2B5EF4-FFF2-40B4-BE49-F238E27FC236}">
                  <a16:creationId xmlns:a16="http://schemas.microsoft.com/office/drawing/2014/main" id="{1AE54470-7E5A-824D-8180-9A37A5631834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159717" y="1956201"/>
              <a:ext cx="9706020" cy="3557295"/>
            </a:xfrm>
            <a:prstGeom prst="rect">
              <a:avLst/>
            </a:prstGeom>
          </p:spPr>
        </p:pic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E31B2CCA-4B04-C549-95B0-58ABF615063A}"/>
                </a:ext>
              </a:extLst>
            </p:cNvPr>
            <p:cNvSpPr/>
            <p:nvPr/>
          </p:nvSpPr>
          <p:spPr>
            <a:xfrm>
              <a:off x="1475993" y="4724399"/>
              <a:ext cx="3522345" cy="386080"/>
            </a:xfrm>
            <a:custGeom>
              <a:avLst/>
              <a:gdLst/>
              <a:ahLst/>
              <a:cxnLst/>
              <a:rect l="l" t="t" r="r" b="b"/>
              <a:pathLst>
                <a:path w="3522345" h="386079">
                  <a:moveTo>
                    <a:pt x="0" y="64262"/>
                  </a:moveTo>
                  <a:lnTo>
                    <a:pt x="5058" y="39272"/>
                  </a:lnTo>
                  <a:lnTo>
                    <a:pt x="18843" y="18843"/>
                  </a:lnTo>
                  <a:lnTo>
                    <a:pt x="39272" y="5058"/>
                  </a:lnTo>
                  <a:lnTo>
                    <a:pt x="64262" y="0"/>
                  </a:lnTo>
                  <a:lnTo>
                    <a:pt x="3457702" y="0"/>
                  </a:lnTo>
                  <a:lnTo>
                    <a:pt x="3482691" y="5058"/>
                  </a:lnTo>
                  <a:lnTo>
                    <a:pt x="3503120" y="18843"/>
                  </a:lnTo>
                  <a:lnTo>
                    <a:pt x="3516905" y="39272"/>
                  </a:lnTo>
                  <a:lnTo>
                    <a:pt x="3521964" y="64262"/>
                  </a:lnTo>
                  <a:lnTo>
                    <a:pt x="3521964" y="321310"/>
                  </a:lnTo>
                  <a:lnTo>
                    <a:pt x="3516905" y="346299"/>
                  </a:lnTo>
                  <a:lnTo>
                    <a:pt x="3503120" y="366728"/>
                  </a:lnTo>
                  <a:lnTo>
                    <a:pt x="3482691" y="380513"/>
                  </a:lnTo>
                  <a:lnTo>
                    <a:pt x="3457702" y="385572"/>
                  </a:lnTo>
                  <a:lnTo>
                    <a:pt x="64262" y="385572"/>
                  </a:lnTo>
                  <a:lnTo>
                    <a:pt x="39272" y="380513"/>
                  </a:lnTo>
                  <a:lnTo>
                    <a:pt x="18843" y="366728"/>
                  </a:lnTo>
                  <a:lnTo>
                    <a:pt x="5058" y="346299"/>
                  </a:lnTo>
                  <a:lnTo>
                    <a:pt x="0" y="321310"/>
                  </a:lnTo>
                  <a:lnTo>
                    <a:pt x="0" y="64262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7">
            <a:extLst>
              <a:ext uri="{FF2B5EF4-FFF2-40B4-BE49-F238E27FC236}">
                <a16:creationId xmlns:a16="http://schemas.microsoft.com/office/drawing/2014/main" id="{7662AD41-A15E-3F43-A5D9-A213D4391F5D}"/>
              </a:ext>
            </a:extLst>
          </p:cNvPr>
          <p:cNvSpPr txBox="1"/>
          <p:nvPr/>
        </p:nvSpPr>
        <p:spPr>
          <a:xfrm>
            <a:off x="5745860" y="4618101"/>
            <a:ext cx="3192145" cy="567055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681355">
              <a:lnSpc>
                <a:spcPct val="100000"/>
              </a:lnSpc>
              <a:spcBef>
                <a:spcPts val="490"/>
              </a:spcBef>
            </a:pPr>
            <a:r>
              <a:rPr sz="2400" spc="-10">
                <a:latin typeface="宋体"/>
                <a:cs typeface="宋体"/>
              </a:rPr>
              <a:t>合并子问题解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48371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87398F15-076C-5A4F-BFD6-A3DBDC611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7ADEE7FA-4ABD-4543-9E4F-C8EBE898D2D6}"/>
              </a:ext>
            </a:extLst>
          </p:cNvPr>
          <p:cNvGrpSpPr/>
          <p:nvPr/>
        </p:nvGrpSpPr>
        <p:grpSpPr>
          <a:xfrm>
            <a:off x="2458130" y="1483421"/>
            <a:ext cx="7300595" cy="5362575"/>
            <a:chOff x="2458130" y="1260996"/>
            <a:chExt cx="7300595" cy="5362575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E47A2D93-ED55-4841-956C-2B691724A89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458130" y="1260996"/>
              <a:ext cx="7300596" cy="5362575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8B69DDA8-FC90-C24E-921E-ECABC9072F9E}"/>
                </a:ext>
              </a:extLst>
            </p:cNvPr>
            <p:cNvSpPr/>
            <p:nvPr/>
          </p:nvSpPr>
          <p:spPr>
            <a:xfrm>
              <a:off x="2648712" y="1826514"/>
              <a:ext cx="3362325" cy="513715"/>
            </a:xfrm>
            <a:custGeom>
              <a:avLst/>
              <a:gdLst/>
              <a:ahLst/>
              <a:cxnLst/>
              <a:rect l="l" t="t" r="r" b="b"/>
              <a:pathLst>
                <a:path w="3362325" h="513714">
                  <a:moveTo>
                    <a:pt x="0" y="85598"/>
                  </a:moveTo>
                  <a:lnTo>
                    <a:pt x="6731" y="52292"/>
                  </a:lnTo>
                  <a:lnTo>
                    <a:pt x="25082" y="25082"/>
                  </a:lnTo>
                  <a:lnTo>
                    <a:pt x="52292" y="6731"/>
                  </a:lnTo>
                  <a:lnTo>
                    <a:pt x="85598" y="0"/>
                  </a:lnTo>
                  <a:lnTo>
                    <a:pt x="3276346" y="0"/>
                  </a:lnTo>
                  <a:lnTo>
                    <a:pt x="3309651" y="6730"/>
                  </a:lnTo>
                  <a:lnTo>
                    <a:pt x="3336861" y="25082"/>
                  </a:lnTo>
                  <a:lnTo>
                    <a:pt x="3355213" y="52292"/>
                  </a:lnTo>
                  <a:lnTo>
                    <a:pt x="3361943" y="85598"/>
                  </a:lnTo>
                  <a:lnTo>
                    <a:pt x="3361943" y="427989"/>
                  </a:lnTo>
                  <a:lnTo>
                    <a:pt x="3355213" y="461295"/>
                  </a:lnTo>
                  <a:lnTo>
                    <a:pt x="3336861" y="488505"/>
                  </a:lnTo>
                  <a:lnTo>
                    <a:pt x="3309651" y="506856"/>
                  </a:lnTo>
                  <a:lnTo>
                    <a:pt x="3276346" y="513588"/>
                  </a:lnTo>
                  <a:lnTo>
                    <a:pt x="85598" y="513588"/>
                  </a:lnTo>
                  <a:lnTo>
                    <a:pt x="52292" y="506857"/>
                  </a:lnTo>
                  <a:lnTo>
                    <a:pt x="25082" y="488505"/>
                  </a:lnTo>
                  <a:lnTo>
                    <a:pt x="6731" y="461295"/>
                  </a:lnTo>
                  <a:lnTo>
                    <a:pt x="0" y="427989"/>
                  </a:lnTo>
                  <a:lnTo>
                    <a:pt x="0" y="8559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5">
            <a:extLst>
              <a:ext uri="{FF2B5EF4-FFF2-40B4-BE49-F238E27FC236}">
                <a16:creationId xmlns:a16="http://schemas.microsoft.com/office/drawing/2014/main" id="{0A0CEF38-02AC-FD41-9CDA-2B598BAFE276}"/>
              </a:ext>
            </a:extLst>
          </p:cNvPr>
          <p:cNvSpPr txBox="1"/>
          <p:nvPr/>
        </p:nvSpPr>
        <p:spPr>
          <a:xfrm>
            <a:off x="688340" y="1005761"/>
            <a:ext cx="45853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>
                <a:latin typeface="Times New Roman"/>
                <a:cs typeface="Times New Roman"/>
              </a:rPr>
              <a:t>Merge</a:t>
            </a:r>
            <a:r>
              <a:rPr sz="2800" spc="-10">
                <a:latin typeface="Cambria Math"/>
                <a:cs typeface="Cambria Math"/>
              </a:rPr>
              <a:t>(𝑨,</a:t>
            </a:r>
            <a:r>
              <a:rPr sz="2800" spc="-13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𝒍𝒆𝒇𝒕,</a:t>
            </a:r>
            <a:r>
              <a:rPr sz="2800" spc="-12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𝒎𝒊𝒅,</a:t>
            </a:r>
            <a:r>
              <a:rPr sz="2800" spc="-11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𝒓𝒊𝒈𝒉𝒕)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88C8FF3-913F-794F-9112-2A91B5EF55B6}"/>
              </a:ext>
            </a:extLst>
          </p:cNvPr>
          <p:cNvSpPr txBox="1"/>
          <p:nvPr/>
        </p:nvSpPr>
        <p:spPr>
          <a:xfrm>
            <a:off x="6343269" y="2019601"/>
            <a:ext cx="3191510" cy="56769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2400" spc="-20">
                <a:latin typeface="宋体"/>
                <a:cs typeface="宋体"/>
              </a:rPr>
              <a:t>初始化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2380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87398F15-076C-5A4F-BFD6-A3DBDC611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E47A2D93-ED55-4841-956C-2B691724A8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58130" y="1483421"/>
            <a:ext cx="7300596" cy="5362575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0A0CEF38-02AC-FD41-9CDA-2B598BAFE276}"/>
              </a:ext>
            </a:extLst>
          </p:cNvPr>
          <p:cNvSpPr txBox="1"/>
          <p:nvPr/>
        </p:nvSpPr>
        <p:spPr>
          <a:xfrm>
            <a:off x="688340" y="1005761"/>
            <a:ext cx="45853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>
                <a:latin typeface="Times New Roman"/>
                <a:cs typeface="Times New Roman"/>
              </a:rPr>
              <a:t>Merge</a:t>
            </a:r>
            <a:r>
              <a:rPr sz="2800" spc="-10">
                <a:latin typeface="Cambria Math"/>
                <a:cs typeface="Cambria Math"/>
              </a:rPr>
              <a:t>(𝑨,</a:t>
            </a:r>
            <a:r>
              <a:rPr sz="2800" spc="-13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𝒍𝒆𝒇𝒕,</a:t>
            </a:r>
            <a:r>
              <a:rPr sz="2800" spc="-12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𝒎𝒊𝒅,</a:t>
            </a:r>
            <a:r>
              <a:rPr sz="2800" spc="-11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𝒓𝒊𝒈𝒉𝒕)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9" name="object 2">
            <a:extLst>
              <a:ext uri="{FF2B5EF4-FFF2-40B4-BE49-F238E27FC236}">
                <a16:creationId xmlns:a16="http://schemas.microsoft.com/office/drawing/2014/main" id="{A1525CD5-03FB-B548-9161-A14BF9C22289}"/>
              </a:ext>
            </a:extLst>
          </p:cNvPr>
          <p:cNvGrpSpPr/>
          <p:nvPr/>
        </p:nvGrpSpPr>
        <p:grpSpPr>
          <a:xfrm>
            <a:off x="2458130" y="1483421"/>
            <a:ext cx="7300596" cy="5362575"/>
            <a:chOff x="2445773" y="1260996"/>
            <a:chExt cx="7300596" cy="5362575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C877513C-0DFB-B44D-A14F-59A70F0D33A8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445773" y="1260996"/>
              <a:ext cx="7300596" cy="5362575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24689DDE-DAD2-0D4E-AB4B-C56CBBB7AB23}"/>
                </a:ext>
              </a:extLst>
            </p:cNvPr>
            <p:cNvSpPr/>
            <p:nvPr/>
          </p:nvSpPr>
          <p:spPr>
            <a:xfrm>
              <a:off x="2636355" y="2342388"/>
              <a:ext cx="3564254" cy="2505710"/>
            </a:xfrm>
            <a:custGeom>
              <a:avLst/>
              <a:gdLst/>
              <a:ahLst/>
              <a:cxnLst/>
              <a:rect l="l" t="t" r="r" b="b"/>
              <a:pathLst>
                <a:path w="3564254" h="2505710">
                  <a:moveTo>
                    <a:pt x="0" y="215264"/>
                  </a:move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3348609" y="0"/>
                  </a:lnTo>
                  <a:lnTo>
                    <a:pt x="3397962" y="5686"/>
                  </a:lnTo>
                  <a:lnTo>
                    <a:pt x="3443270" y="21882"/>
                  </a:lnTo>
                  <a:lnTo>
                    <a:pt x="3483239" y="47296"/>
                  </a:lnTo>
                  <a:lnTo>
                    <a:pt x="3516577" y="80634"/>
                  </a:lnTo>
                  <a:lnTo>
                    <a:pt x="3541991" y="120603"/>
                  </a:lnTo>
                  <a:lnTo>
                    <a:pt x="3558187" y="165911"/>
                  </a:lnTo>
                  <a:lnTo>
                    <a:pt x="3563874" y="215264"/>
                  </a:lnTo>
                  <a:lnTo>
                    <a:pt x="3563874" y="2290191"/>
                  </a:lnTo>
                  <a:lnTo>
                    <a:pt x="3558187" y="2339544"/>
                  </a:lnTo>
                  <a:lnTo>
                    <a:pt x="3541991" y="2384852"/>
                  </a:lnTo>
                  <a:lnTo>
                    <a:pt x="3516577" y="2424821"/>
                  </a:lnTo>
                  <a:lnTo>
                    <a:pt x="3483239" y="2458159"/>
                  </a:lnTo>
                  <a:lnTo>
                    <a:pt x="3443270" y="2483573"/>
                  </a:lnTo>
                  <a:lnTo>
                    <a:pt x="3397962" y="2499769"/>
                  </a:lnTo>
                  <a:lnTo>
                    <a:pt x="3348609" y="2505456"/>
                  </a:lnTo>
                  <a:lnTo>
                    <a:pt x="215264" y="2505456"/>
                  </a:lnTo>
                  <a:lnTo>
                    <a:pt x="165911" y="2499769"/>
                  </a:lnTo>
                  <a:lnTo>
                    <a:pt x="120603" y="2483573"/>
                  </a:lnTo>
                  <a:lnTo>
                    <a:pt x="80634" y="2458159"/>
                  </a:lnTo>
                  <a:lnTo>
                    <a:pt x="47296" y="2424821"/>
                  </a:lnTo>
                  <a:lnTo>
                    <a:pt x="21882" y="2384852"/>
                  </a:lnTo>
                  <a:lnTo>
                    <a:pt x="5686" y="2339544"/>
                  </a:lnTo>
                  <a:lnTo>
                    <a:pt x="0" y="2290191"/>
                  </a:lnTo>
                  <a:lnTo>
                    <a:pt x="0" y="21526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7">
            <a:extLst>
              <a:ext uri="{FF2B5EF4-FFF2-40B4-BE49-F238E27FC236}">
                <a16:creationId xmlns:a16="http://schemas.microsoft.com/office/drawing/2014/main" id="{59017431-90BC-DC4A-AA8F-7665F8BC214B}"/>
              </a:ext>
            </a:extLst>
          </p:cNvPr>
          <p:cNvSpPr txBox="1"/>
          <p:nvPr/>
        </p:nvSpPr>
        <p:spPr>
          <a:xfrm>
            <a:off x="6343269" y="3462829"/>
            <a:ext cx="3191510" cy="56769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495"/>
              </a:spcBef>
            </a:pPr>
            <a:r>
              <a:rPr sz="2400" spc="-5">
                <a:latin typeface="宋体"/>
                <a:cs typeface="宋体"/>
              </a:rPr>
              <a:t>遍历子数组，进行合并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297491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87398F15-076C-5A4F-BFD6-A3DBDC611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A0CEF38-02AC-FD41-9CDA-2B598BAFE276}"/>
              </a:ext>
            </a:extLst>
          </p:cNvPr>
          <p:cNvSpPr txBox="1"/>
          <p:nvPr/>
        </p:nvSpPr>
        <p:spPr>
          <a:xfrm>
            <a:off x="688340" y="1005761"/>
            <a:ext cx="45853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>
                <a:latin typeface="Times New Roman"/>
                <a:cs typeface="Times New Roman"/>
              </a:rPr>
              <a:t>Merge</a:t>
            </a:r>
            <a:r>
              <a:rPr sz="2800" spc="-10">
                <a:latin typeface="Cambria Math"/>
                <a:cs typeface="Cambria Math"/>
              </a:rPr>
              <a:t>(𝑨,</a:t>
            </a:r>
            <a:r>
              <a:rPr sz="2800" spc="-13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𝒍𝒆𝒇𝒕,</a:t>
            </a:r>
            <a:r>
              <a:rPr sz="2800" spc="-12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𝒎𝒊𝒅,</a:t>
            </a:r>
            <a:r>
              <a:rPr sz="2800" spc="-11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𝒓𝒊𝒈𝒉𝒕)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3" name="object 2">
            <a:extLst>
              <a:ext uri="{FF2B5EF4-FFF2-40B4-BE49-F238E27FC236}">
                <a16:creationId xmlns:a16="http://schemas.microsoft.com/office/drawing/2014/main" id="{3C374476-9E55-D14D-BE82-7E9A6ABDAD0D}"/>
              </a:ext>
            </a:extLst>
          </p:cNvPr>
          <p:cNvGrpSpPr/>
          <p:nvPr/>
        </p:nvGrpSpPr>
        <p:grpSpPr>
          <a:xfrm>
            <a:off x="2458130" y="1508135"/>
            <a:ext cx="7300595" cy="5362575"/>
            <a:chOff x="2458130" y="1260996"/>
            <a:chExt cx="7300595" cy="5362575"/>
          </a:xfrm>
        </p:grpSpPr>
        <p:pic>
          <p:nvPicPr>
            <p:cNvPr id="14" name="object 3">
              <a:extLst>
                <a:ext uri="{FF2B5EF4-FFF2-40B4-BE49-F238E27FC236}">
                  <a16:creationId xmlns:a16="http://schemas.microsoft.com/office/drawing/2014/main" id="{559B8DD0-8B5F-7141-807C-F6EA962C4DD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458130" y="1260996"/>
              <a:ext cx="7300596" cy="5362575"/>
            </a:xfrm>
            <a:prstGeom prst="rect">
              <a:avLst/>
            </a:prstGeom>
          </p:spPr>
        </p:pic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4EFABDE3-97CD-1044-8FB6-3780D099B7AA}"/>
                </a:ext>
              </a:extLst>
            </p:cNvPr>
            <p:cNvSpPr/>
            <p:nvPr/>
          </p:nvSpPr>
          <p:spPr>
            <a:xfrm>
              <a:off x="2648712" y="4812030"/>
              <a:ext cx="3362325" cy="1481455"/>
            </a:xfrm>
            <a:custGeom>
              <a:avLst/>
              <a:gdLst/>
              <a:ahLst/>
              <a:cxnLst/>
              <a:rect l="l" t="t" r="r" b="b"/>
              <a:pathLst>
                <a:path w="3362325" h="1481454">
                  <a:moveTo>
                    <a:pt x="0" y="246888"/>
                  </a:moveTo>
                  <a:lnTo>
                    <a:pt x="5014" y="197118"/>
                  </a:lnTo>
                  <a:lnTo>
                    <a:pt x="19395" y="150768"/>
                  </a:lnTo>
                  <a:lnTo>
                    <a:pt x="42152" y="108830"/>
                  </a:lnTo>
                  <a:lnTo>
                    <a:pt x="72294" y="72294"/>
                  </a:lnTo>
                  <a:lnTo>
                    <a:pt x="108830" y="42152"/>
                  </a:lnTo>
                  <a:lnTo>
                    <a:pt x="150768" y="19395"/>
                  </a:lnTo>
                  <a:lnTo>
                    <a:pt x="197118" y="5014"/>
                  </a:lnTo>
                  <a:lnTo>
                    <a:pt x="246887" y="0"/>
                  </a:lnTo>
                  <a:lnTo>
                    <a:pt x="3115055" y="0"/>
                  </a:lnTo>
                  <a:lnTo>
                    <a:pt x="3164825" y="5014"/>
                  </a:lnTo>
                  <a:lnTo>
                    <a:pt x="3211175" y="19395"/>
                  </a:lnTo>
                  <a:lnTo>
                    <a:pt x="3253113" y="42152"/>
                  </a:lnTo>
                  <a:lnTo>
                    <a:pt x="3289649" y="72294"/>
                  </a:lnTo>
                  <a:lnTo>
                    <a:pt x="3319791" y="108830"/>
                  </a:lnTo>
                  <a:lnTo>
                    <a:pt x="3342548" y="150768"/>
                  </a:lnTo>
                  <a:lnTo>
                    <a:pt x="3356929" y="197118"/>
                  </a:lnTo>
                  <a:lnTo>
                    <a:pt x="3361943" y="246888"/>
                  </a:lnTo>
                  <a:lnTo>
                    <a:pt x="3361943" y="1234440"/>
                  </a:lnTo>
                  <a:lnTo>
                    <a:pt x="3356929" y="1284195"/>
                  </a:lnTo>
                  <a:lnTo>
                    <a:pt x="3342548" y="1330537"/>
                  </a:lnTo>
                  <a:lnTo>
                    <a:pt x="3319791" y="1372475"/>
                  </a:lnTo>
                  <a:lnTo>
                    <a:pt x="3289649" y="1409014"/>
                  </a:lnTo>
                  <a:lnTo>
                    <a:pt x="3253113" y="1439162"/>
                  </a:lnTo>
                  <a:lnTo>
                    <a:pt x="3211175" y="1461925"/>
                  </a:lnTo>
                  <a:lnTo>
                    <a:pt x="3164825" y="1476311"/>
                  </a:lnTo>
                  <a:lnTo>
                    <a:pt x="3115055" y="1481328"/>
                  </a:lnTo>
                  <a:lnTo>
                    <a:pt x="246887" y="1481328"/>
                  </a:lnTo>
                  <a:lnTo>
                    <a:pt x="197118" y="1476311"/>
                  </a:lnTo>
                  <a:lnTo>
                    <a:pt x="150768" y="1461925"/>
                  </a:lnTo>
                  <a:lnTo>
                    <a:pt x="108830" y="1439162"/>
                  </a:lnTo>
                  <a:lnTo>
                    <a:pt x="72294" y="1409014"/>
                  </a:lnTo>
                  <a:lnTo>
                    <a:pt x="42152" y="1372475"/>
                  </a:lnTo>
                  <a:lnTo>
                    <a:pt x="19395" y="1330537"/>
                  </a:lnTo>
                  <a:lnTo>
                    <a:pt x="5014" y="1284195"/>
                  </a:lnTo>
                  <a:lnTo>
                    <a:pt x="0" y="1234440"/>
                  </a:lnTo>
                  <a:lnTo>
                    <a:pt x="0" y="24688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6">
            <a:extLst>
              <a:ext uri="{FF2B5EF4-FFF2-40B4-BE49-F238E27FC236}">
                <a16:creationId xmlns:a16="http://schemas.microsoft.com/office/drawing/2014/main" id="{9EF8435D-2BAE-AF44-8A5A-8356158062A9}"/>
              </a:ext>
            </a:extLst>
          </p:cNvPr>
          <p:cNvSpPr txBox="1"/>
          <p:nvPr/>
        </p:nvSpPr>
        <p:spPr>
          <a:xfrm>
            <a:off x="6343269" y="5258180"/>
            <a:ext cx="3191510" cy="567055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490"/>
              </a:spcBef>
            </a:pPr>
            <a:r>
              <a:rPr sz="2400" spc="-5">
                <a:latin typeface="宋体"/>
                <a:cs typeface="宋体"/>
              </a:rPr>
              <a:t>添加剩余元素保证有序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16782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87398F15-076C-5A4F-BFD6-A3DBDC611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717" y="176489"/>
            <a:ext cx="51650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A0CEF38-02AC-FD41-9CDA-2B598BAFE276}"/>
              </a:ext>
            </a:extLst>
          </p:cNvPr>
          <p:cNvSpPr txBox="1"/>
          <p:nvPr/>
        </p:nvSpPr>
        <p:spPr>
          <a:xfrm>
            <a:off x="688340" y="1005761"/>
            <a:ext cx="45853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>
                <a:latin typeface="Times New Roman"/>
                <a:cs typeface="Times New Roman"/>
              </a:rPr>
              <a:t>Merge</a:t>
            </a:r>
            <a:r>
              <a:rPr sz="2800" spc="-10">
                <a:latin typeface="Cambria Math"/>
                <a:cs typeface="Cambria Math"/>
              </a:rPr>
              <a:t>(𝑨,</a:t>
            </a:r>
            <a:r>
              <a:rPr sz="2800" spc="-13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𝒍𝒆𝒇𝒕,</a:t>
            </a:r>
            <a:r>
              <a:rPr sz="2800" spc="-12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𝒎𝒊𝒅,</a:t>
            </a:r>
            <a:r>
              <a:rPr sz="2800" spc="-110">
                <a:latin typeface="Cambria Math"/>
                <a:cs typeface="Cambria Math"/>
              </a:rPr>
              <a:t> </a:t>
            </a:r>
            <a:r>
              <a:rPr sz="2800" spc="-10">
                <a:latin typeface="Cambria Math"/>
                <a:cs typeface="Cambria Math"/>
              </a:rPr>
              <a:t>𝒓𝒊𝒈𝒉𝒕)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CC133D4B-80ED-5647-92BC-044B32F248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8559" y="1458516"/>
            <a:ext cx="7300596" cy="5362575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89551C12-81E4-F449-8803-28C483603E5E}"/>
              </a:ext>
            </a:extLst>
          </p:cNvPr>
          <p:cNvSpPr txBox="1"/>
          <p:nvPr/>
        </p:nvSpPr>
        <p:spPr>
          <a:xfrm>
            <a:off x="6605778" y="6243747"/>
            <a:ext cx="3136900" cy="5994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01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95"/>
              </a:spcBef>
            </a:pPr>
            <a:r>
              <a:rPr sz="2800" spc="-5">
                <a:solidFill>
                  <a:srgbClr val="FFFFFF"/>
                </a:solidFill>
                <a:latin typeface="宋体"/>
                <a:cs typeface="宋体"/>
              </a:rPr>
              <a:t>时间复杂度：</a:t>
            </a:r>
            <a:r>
              <a:rPr sz="2800" spc="-20">
                <a:solidFill>
                  <a:srgbClr val="FFFFFF"/>
                </a:solidFill>
                <a:latin typeface="Cambria Math"/>
                <a:cs typeface="Cambria Math"/>
              </a:rPr>
              <a:t>𝑶(𝒏)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745864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C254C95-7D1A-6D41-9697-BE9AB678C05F}"/>
              </a:ext>
            </a:extLst>
          </p:cNvPr>
          <p:cNvSpPr txBox="1"/>
          <p:nvPr/>
        </p:nvSpPr>
        <p:spPr>
          <a:xfrm>
            <a:off x="774838" y="991362"/>
            <a:ext cx="6986270" cy="151828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Cambria Math"/>
                <a:cs typeface="Cambria Math"/>
              </a:rPr>
              <a:t>𝑻(𝒏</a:t>
            </a:r>
            <a:r>
              <a:rPr sz="2800" spc="170" dirty="0">
                <a:latin typeface="Cambria Math"/>
                <a:cs typeface="Cambria Math"/>
              </a:rPr>
              <a:t>) </a:t>
            </a:r>
            <a:r>
              <a:rPr sz="2800" dirty="0">
                <a:latin typeface="宋体"/>
                <a:cs typeface="宋体"/>
              </a:rPr>
              <a:t>：</a:t>
            </a:r>
            <a:r>
              <a:rPr sz="2800" dirty="0" err="1">
                <a:latin typeface="宋体"/>
                <a:cs typeface="宋体"/>
              </a:rPr>
              <a:t>完成</a:t>
            </a:r>
            <a:r>
              <a:rPr sz="2800" b="1" spc="-10" dirty="0" err="1">
                <a:latin typeface="Times New Roman"/>
                <a:cs typeface="Times New Roman"/>
              </a:rPr>
              <a:t>MergeSort</a:t>
            </a:r>
            <a:r>
              <a:rPr sz="2800" b="1" spc="-10" dirty="0">
                <a:latin typeface="Times New Roman"/>
                <a:cs typeface="Times New Roman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𝑨,</a:t>
            </a:r>
            <a:r>
              <a:rPr sz="2800" spc="-13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75" dirty="0">
                <a:latin typeface="Cambria Math"/>
                <a:cs typeface="Cambria Math"/>
              </a:rPr>
              <a:t>, </a:t>
            </a:r>
            <a:r>
              <a:rPr sz="2800" dirty="0">
                <a:latin typeface="Cambria Math"/>
                <a:cs typeface="Cambria Math"/>
              </a:rPr>
              <a:t>𝒏</a:t>
            </a:r>
            <a:r>
              <a:rPr sz="2800" b="1" spc="10" dirty="0">
                <a:latin typeface="Times New Roman"/>
                <a:cs typeface="Times New Roman"/>
              </a:rPr>
              <a:t>) </a:t>
            </a:r>
            <a:r>
              <a:rPr sz="2800" spc="-10" dirty="0" err="1">
                <a:latin typeface="宋体"/>
                <a:cs typeface="宋体"/>
              </a:rPr>
              <a:t>的运行时间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为便于分析，假设</a:t>
            </a:r>
            <a:r>
              <a:rPr sz="2400" spc="-10" dirty="0">
                <a:latin typeface="Cambria Math"/>
                <a:cs typeface="Cambria Math"/>
              </a:rPr>
              <a:t>𝒏</a:t>
            </a:r>
            <a:r>
              <a:rPr sz="2400" dirty="0" err="1">
                <a:latin typeface="宋体"/>
                <a:cs typeface="宋体"/>
              </a:rPr>
              <a:t>是</a:t>
            </a:r>
            <a:r>
              <a:rPr sz="2400" dirty="0">
                <a:latin typeface="Cambria Math"/>
                <a:cs typeface="Cambria Math"/>
              </a:rPr>
              <a:t>𝟐</a:t>
            </a:r>
            <a:r>
              <a:rPr sz="2400" spc="-25" dirty="0" err="1">
                <a:latin typeface="宋体"/>
                <a:cs typeface="宋体"/>
              </a:rPr>
              <a:t>的幂</a:t>
            </a:r>
            <a:endParaRPr sz="24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 dirty="0" err="1">
                <a:latin typeface="Times New Roman"/>
                <a:cs typeface="Times New Roman"/>
              </a:rPr>
              <a:t>MergeSort</a:t>
            </a:r>
            <a:r>
              <a:rPr sz="2800" b="1" spc="-10" dirty="0">
                <a:latin typeface="Times New Roman"/>
                <a:cs typeface="Times New Roman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𝑨,</a:t>
            </a:r>
            <a:r>
              <a:rPr sz="2800" spc="-9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𝒍𝒆𝒇𝒕,</a:t>
            </a:r>
            <a:r>
              <a:rPr sz="2800" spc="-8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𝒓𝒊𝒈𝒉𝒕</a:t>
            </a:r>
            <a:r>
              <a:rPr sz="2800" b="1" spc="-10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1A2FCD4-A791-3641-88BE-8357DC558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1339" y="141785"/>
            <a:ext cx="638099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归并排序：复杂度分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2151F30-E808-BF4D-A332-228D6DCD05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4838" y="2669933"/>
            <a:ext cx="9812273" cy="367741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64A814-E183-7243-BDAB-1359D78690A2}"/>
              </a:ext>
            </a:extLst>
          </p:cNvPr>
          <p:cNvGrpSpPr/>
          <p:nvPr/>
        </p:nvGrpSpPr>
        <p:grpSpPr>
          <a:xfrm>
            <a:off x="5525684" y="3657600"/>
            <a:ext cx="1457157" cy="2207456"/>
            <a:chOff x="5525684" y="3657600"/>
            <a:chExt cx="1457157" cy="2207456"/>
          </a:xfrm>
        </p:grpSpPr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A89D34E8-31D6-3F4A-B95A-D2A9407B83AB}"/>
                </a:ext>
              </a:extLst>
            </p:cNvPr>
            <p:cNvSpPr txBox="1"/>
            <p:nvPr/>
          </p:nvSpPr>
          <p:spPr>
            <a:xfrm>
              <a:off x="6037326" y="4052131"/>
              <a:ext cx="945515" cy="181292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66040">
                <a:lnSpc>
                  <a:spcPct val="100000"/>
                </a:lnSpc>
                <a:spcBef>
                  <a:spcPts val="100"/>
                </a:spcBef>
              </a:pPr>
              <a:r>
                <a:rPr sz="2200" spc="-20">
                  <a:solidFill>
                    <a:srgbClr val="FF0000"/>
                  </a:solidFill>
                  <a:latin typeface="Cambria Math"/>
                  <a:cs typeface="Cambria Math"/>
                </a:rPr>
                <a:t>𝑶(𝟏)</a:t>
              </a:r>
              <a:endParaRPr sz="2200">
                <a:latin typeface="Cambria Math"/>
                <a:cs typeface="Cambria Math"/>
              </a:endParaRPr>
            </a:p>
            <a:p>
              <a:pPr>
                <a:lnSpc>
                  <a:spcPct val="100000"/>
                </a:lnSpc>
              </a:pPr>
              <a:endParaRPr sz="3000">
                <a:latin typeface="Cambria Math"/>
                <a:cs typeface="Cambria Math"/>
              </a:endParaRPr>
            </a:p>
            <a:p>
              <a:pPr marL="41275">
                <a:lnSpc>
                  <a:spcPct val="100000"/>
                </a:lnSpc>
              </a:pPr>
              <a:r>
                <a:rPr sz="2200" spc="-10">
                  <a:solidFill>
                    <a:srgbClr val="FF0000"/>
                  </a:solidFill>
                  <a:latin typeface="Cambria Math"/>
                  <a:cs typeface="Cambria Math"/>
                </a:rPr>
                <a:t>𝑻(𝒏/𝟐)</a:t>
              </a:r>
              <a:endParaRPr sz="2200">
                <a:latin typeface="Cambria Math"/>
                <a:cs typeface="Cambria Math"/>
              </a:endParaRPr>
            </a:p>
            <a:p>
              <a:pPr marL="41275">
                <a:lnSpc>
                  <a:spcPts val="2505"/>
                </a:lnSpc>
                <a:spcBef>
                  <a:spcPts val="265"/>
                </a:spcBef>
              </a:pPr>
              <a:r>
                <a:rPr sz="2200" spc="-10">
                  <a:solidFill>
                    <a:srgbClr val="FF0000"/>
                  </a:solidFill>
                  <a:latin typeface="Cambria Math"/>
                  <a:cs typeface="Cambria Math"/>
                </a:rPr>
                <a:t>𝑻(𝒏/𝟐)</a:t>
              </a:r>
              <a:endParaRPr sz="2200">
                <a:latin typeface="Cambria Math"/>
                <a:cs typeface="Cambria Math"/>
              </a:endParaRPr>
            </a:p>
            <a:p>
              <a:pPr marL="12700">
                <a:lnSpc>
                  <a:spcPts val="2505"/>
                </a:lnSpc>
              </a:pPr>
              <a:r>
                <a:rPr sz="2200" spc="-20">
                  <a:solidFill>
                    <a:srgbClr val="FF0000"/>
                  </a:solidFill>
                  <a:latin typeface="Cambria Math"/>
                  <a:cs typeface="Cambria Math"/>
                </a:rPr>
                <a:t>𝑶(𝒏)</a:t>
              </a:r>
              <a:endParaRPr sz="2200">
                <a:latin typeface="Cambria Math"/>
                <a:cs typeface="Cambria Math"/>
              </a:endParaRPr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04B0229A-15BB-734D-ACD7-0CF245A5E543}"/>
                </a:ext>
              </a:extLst>
            </p:cNvPr>
            <p:cNvSpPr/>
            <p:nvPr/>
          </p:nvSpPr>
          <p:spPr>
            <a:xfrm>
              <a:off x="5556504" y="5334830"/>
              <a:ext cx="412750" cy="469900"/>
            </a:xfrm>
            <a:custGeom>
              <a:avLst/>
              <a:gdLst/>
              <a:ahLst/>
              <a:cxnLst/>
              <a:rect l="l" t="t" r="r" b="b"/>
              <a:pathLst>
                <a:path w="412750" h="469900">
                  <a:moveTo>
                    <a:pt x="401955" y="57150"/>
                  </a:moveTo>
                  <a:lnTo>
                    <a:pt x="363855" y="38100"/>
                  </a:lnTo>
                  <a:lnTo>
                    <a:pt x="287655" y="0"/>
                  </a:lnTo>
                  <a:lnTo>
                    <a:pt x="287655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87655" y="76200"/>
                  </a:lnTo>
                  <a:lnTo>
                    <a:pt x="287655" y="114300"/>
                  </a:lnTo>
                  <a:lnTo>
                    <a:pt x="363855" y="76200"/>
                  </a:lnTo>
                  <a:lnTo>
                    <a:pt x="401955" y="57150"/>
                  </a:lnTo>
                  <a:close/>
                </a:path>
                <a:path w="412750" h="469900">
                  <a:moveTo>
                    <a:pt x="412623" y="412242"/>
                  </a:moveTo>
                  <a:lnTo>
                    <a:pt x="374523" y="393192"/>
                  </a:lnTo>
                  <a:lnTo>
                    <a:pt x="298323" y="355092"/>
                  </a:lnTo>
                  <a:lnTo>
                    <a:pt x="298323" y="393192"/>
                  </a:lnTo>
                  <a:lnTo>
                    <a:pt x="10668" y="393192"/>
                  </a:lnTo>
                  <a:lnTo>
                    <a:pt x="10668" y="431292"/>
                  </a:lnTo>
                  <a:lnTo>
                    <a:pt x="298323" y="431292"/>
                  </a:lnTo>
                  <a:lnTo>
                    <a:pt x="298323" y="469392"/>
                  </a:lnTo>
                  <a:lnTo>
                    <a:pt x="374523" y="431292"/>
                  </a:lnTo>
                  <a:lnTo>
                    <a:pt x="412623" y="412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3D761F73-21A3-AC4B-BF28-28F73A39068F}"/>
                </a:ext>
              </a:extLst>
            </p:cNvPr>
            <p:cNvCxnSpPr/>
            <p:nvPr/>
          </p:nvCxnSpPr>
          <p:spPr>
            <a:xfrm>
              <a:off x="5525684" y="5045675"/>
              <a:ext cx="43121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右大括号 10">
              <a:extLst>
                <a:ext uri="{FF2B5EF4-FFF2-40B4-BE49-F238E27FC236}">
                  <a16:creationId xmlns:a16="http://schemas.microsoft.com/office/drawing/2014/main" id="{507A8222-4920-474E-87FE-AE35B7736D4A}"/>
                </a:ext>
              </a:extLst>
            </p:cNvPr>
            <p:cNvSpPr/>
            <p:nvPr/>
          </p:nvSpPr>
          <p:spPr>
            <a:xfrm>
              <a:off x="5535829" y="3657600"/>
              <a:ext cx="424760" cy="1037968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" name="object 9">
            <a:extLst>
              <a:ext uri="{FF2B5EF4-FFF2-40B4-BE49-F238E27FC236}">
                <a16:creationId xmlns:a16="http://schemas.microsoft.com/office/drawing/2014/main" id="{C9632633-A0E1-7F41-A959-DD67627B67C6}"/>
              </a:ext>
            </a:extLst>
          </p:cNvPr>
          <p:cNvSpPr txBox="1"/>
          <p:nvPr/>
        </p:nvSpPr>
        <p:spPr>
          <a:xfrm>
            <a:off x="7963497" y="1951222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8F1298F8-004E-4943-AA7C-F8A2F5120316}"/>
              </a:ext>
            </a:extLst>
          </p:cNvPr>
          <p:cNvSpPr txBox="1"/>
          <p:nvPr/>
        </p:nvSpPr>
        <p:spPr>
          <a:xfrm>
            <a:off x="10754438" y="1951222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66DC1B50-7938-9440-BF10-A2D5791B8165}"/>
              </a:ext>
            </a:extLst>
          </p:cNvPr>
          <p:cNvSpPr/>
          <p:nvPr/>
        </p:nvSpPr>
        <p:spPr>
          <a:xfrm>
            <a:off x="8495568" y="2345507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452DB9F7-91A3-F049-8517-E1B6B31CC752}"/>
              </a:ext>
            </a:extLst>
          </p:cNvPr>
          <p:cNvSpPr txBox="1"/>
          <p:nvPr/>
        </p:nvSpPr>
        <p:spPr>
          <a:xfrm>
            <a:off x="6308422" y="2150865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310D4CB6-DBF6-5748-9368-4C95232EA4E5}"/>
              </a:ext>
            </a:extLst>
          </p:cNvPr>
          <p:cNvSpPr/>
          <p:nvPr/>
        </p:nvSpPr>
        <p:spPr>
          <a:xfrm>
            <a:off x="9925001" y="2355781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A0F1E0BF-D9C4-0A49-AA3F-A38F2EDD0E49}"/>
              </a:ext>
            </a:extLst>
          </p:cNvPr>
          <p:cNvSpPr txBox="1"/>
          <p:nvPr/>
        </p:nvSpPr>
        <p:spPr>
          <a:xfrm>
            <a:off x="9366837" y="2266374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B2688C6C-8777-6B40-807E-D9F257A46EA0}"/>
              </a:ext>
            </a:extLst>
          </p:cNvPr>
          <p:cNvSpPr/>
          <p:nvPr/>
        </p:nvSpPr>
        <p:spPr>
          <a:xfrm>
            <a:off x="7686372" y="2117320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239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7" grpId="0"/>
      <p:bldP spid="18" grpId="0" animBg="1"/>
      <p:bldP spid="19" grpId="0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914AE9EE-CAC8-194D-BC6C-12FF933C0473}"/>
              </a:ext>
            </a:extLst>
          </p:cNvPr>
          <p:cNvSpPr/>
          <p:nvPr/>
        </p:nvSpPr>
        <p:spPr>
          <a:xfrm>
            <a:off x="5519928" y="2424170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4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3"/>
                </a:lnTo>
                <a:lnTo>
                  <a:pt x="59944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">
            <a:extLst>
              <a:ext uri="{FF2B5EF4-FFF2-40B4-BE49-F238E27FC236}">
                <a16:creationId xmlns:a16="http://schemas.microsoft.com/office/drawing/2014/main" id="{910DF047-3EC3-DD4F-912B-C480650C1742}"/>
              </a:ext>
            </a:extLst>
          </p:cNvPr>
          <p:cNvSpPr txBox="1"/>
          <p:nvPr/>
        </p:nvSpPr>
        <p:spPr>
          <a:xfrm>
            <a:off x="5785611" y="2430520"/>
            <a:ext cx="5594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Cambria Math"/>
                <a:cs typeface="Cambria Math"/>
              </a:rPr>
              <a:t>𝑻(𝒏)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8" name="object 3">
            <a:extLst>
              <a:ext uri="{FF2B5EF4-FFF2-40B4-BE49-F238E27FC236}">
                <a16:creationId xmlns:a16="http://schemas.microsoft.com/office/drawing/2014/main" id="{943B56EC-AE35-814F-89A3-E72C7E9E6604}"/>
              </a:ext>
            </a:extLst>
          </p:cNvPr>
          <p:cNvGrpSpPr/>
          <p:nvPr/>
        </p:nvGrpSpPr>
        <p:grpSpPr>
          <a:xfrm>
            <a:off x="5500878" y="2405118"/>
            <a:ext cx="1190625" cy="398145"/>
            <a:chOff x="5500878" y="1994154"/>
            <a:chExt cx="1190625" cy="398145"/>
          </a:xfrm>
        </p:grpSpPr>
        <p:sp>
          <p:nvSpPr>
            <p:cNvPr id="69" name="object 4">
              <a:extLst>
                <a:ext uri="{FF2B5EF4-FFF2-40B4-BE49-F238E27FC236}">
                  <a16:creationId xmlns:a16="http://schemas.microsoft.com/office/drawing/2014/main" id="{84417A1D-A1F2-BC41-AF4F-2BC4A86BBC43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5">
              <a:extLst>
                <a:ext uri="{FF2B5EF4-FFF2-40B4-BE49-F238E27FC236}">
                  <a16:creationId xmlns:a16="http://schemas.microsoft.com/office/drawing/2014/main" id="{AD386363-94FE-1E4E-B1F6-A7C692C53F9A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6">
            <a:extLst>
              <a:ext uri="{FF2B5EF4-FFF2-40B4-BE49-F238E27FC236}">
                <a16:creationId xmlns:a16="http://schemas.microsoft.com/office/drawing/2014/main" id="{70EFB802-5853-1740-9C20-3EE88E567B9F}"/>
              </a:ext>
            </a:extLst>
          </p:cNvPr>
          <p:cNvSpPr txBox="1"/>
          <p:nvPr/>
        </p:nvSpPr>
        <p:spPr>
          <a:xfrm>
            <a:off x="5771134" y="2430518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72" name="object 7">
            <a:extLst>
              <a:ext uri="{FF2B5EF4-FFF2-40B4-BE49-F238E27FC236}">
                <a16:creationId xmlns:a16="http://schemas.microsoft.com/office/drawing/2014/main" id="{ECEA2095-88C7-0245-AAB8-2015ABCE7F97}"/>
              </a:ext>
            </a:extLst>
          </p:cNvPr>
          <p:cNvGrpSpPr/>
          <p:nvPr/>
        </p:nvGrpSpPr>
        <p:grpSpPr>
          <a:xfrm>
            <a:off x="4056126" y="2766433"/>
            <a:ext cx="3484879" cy="1040130"/>
            <a:chOff x="4056126" y="2355469"/>
            <a:chExt cx="3484879" cy="1040130"/>
          </a:xfrm>
        </p:grpSpPr>
        <p:sp>
          <p:nvSpPr>
            <p:cNvPr id="73" name="object 8">
              <a:extLst>
                <a:ext uri="{FF2B5EF4-FFF2-40B4-BE49-F238E27FC236}">
                  <a16:creationId xmlns:a16="http://schemas.microsoft.com/office/drawing/2014/main" id="{58E3200F-5C0F-4A4E-BFC7-07D8450C9CE8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9">
              <a:extLst>
                <a:ext uri="{FF2B5EF4-FFF2-40B4-BE49-F238E27FC236}">
                  <a16:creationId xmlns:a16="http://schemas.microsoft.com/office/drawing/2014/main" id="{4001CBB5-8F53-4A47-AF42-0E17904850B3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10">
            <a:extLst>
              <a:ext uri="{FF2B5EF4-FFF2-40B4-BE49-F238E27FC236}">
                <a16:creationId xmlns:a16="http://schemas.microsoft.com/office/drawing/2014/main" id="{615A61F6-363E-9447-85A3-388F609B97D5}"/>
              </a:ext>
            </a:extLst>
          </p:cNvPr>
          <p:cNvSpPr txBox="1"/>
          <p:nvPr/>
        </p:nvSpPr>
        <p:spPr>
          <a:xfrm>
            <a:off x="4201921" y="3434580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𝑻(𝒏/𝟐)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6" name="object 11">
            <a:extLst>
              <a:ext uri="{FF2B5EF4-FFF2-40B4-BE49-F238E27FC236}">
                <a16:creationId xmlns:a16="http://schemas.microsoft.com/office/drawing/2014/main" id="{B53D3E9B-8C14-3B47-BF6C-7BDB3E41E4FE}"/>
              </a:ext>
            </a:extLst>
          </p:cNvPr>
          <p:cNvSpPr/>
          <p:nvPr/>
        </p:nvSpPr>
        <p:spPr>
          <a:xfrm>
            <a:off x="6964680" y="342772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3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3"/>
                </a:lnTo>
                <a:lnTo>
                  <a:pt x="1152144" y="299719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3"/>
                </a:lnTo>
                <a:lnTo>
                  <a:pt x="59944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19"/>
                </a:lnTo>
                <a:lnTo>
                  <a:pt x="0" y="5994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12">
            <a:extLst>
              <a:ext uri="{FF2B5EF4-FFF2-40B4-BE49-F238E27FC236}">
                <a16:creationId xmlns:a16="http://schemas.microsoft.com/office/drawing/2014/main" id="{3DD7C7F5-4420-7242-AA2C-DC79DB975195}"/>
              </a:ext>
            </a:extLst>
          </p:cNvPr>
          <p:cNvSpPr txBox="1"/>
          <p:nvPr/>
        </p:nvSpPr>
        <p:spPr>
          <a:xfrm>
            <a:off x="7091933" y="3434580"/>
            <a:ext cx="83629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𝑻(𝒏/𝟐)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B478AE14-772D-8E4A-9C28-74AD8C3DCC9B}"/>
              </a:ext>
            </a:extLst>
          </p:cNvPr>
          <p:cNvSpPr/>
          <p:nvPr/>
        </p:nvSpPr>
        <p:spPr>
          <a:xfrm>
            <a:off x="7926037" y="2406134"/>
            <a:ext cx="2383604" cy="758190"/>
          </a:xfrm>
          <a:prstGeom prst="wedgeRectCallout">
            <a:avLst>
              <a:gd name="adj1" fmla="val -39799"/>
              <a:gd name="adj2" fmla="val 84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spc="-5" dirty="0">
              <a:solidFill>
                <a:srgbClr val="FFFFFF"/>
              </a:solidFill>
              <a:latin typeface="宋体"/>
              <a:cs typeface="宋体"/>
            </a:endParaRPr>
          </a:p>
          <a:p>
            <a:pPr algn="ctr"/>
            <a:r>
              <a:rPr lang="zh-CN" altLang="en-US" sz="1800" spc="-5" dirty="0">
                <a:solidFill>
                  <a:srgbClr val="FFFFFF"/>
                </a:solidFill>
                <a:latin typeface="宋体"/>
                <a:cs typeface="宋体"/>
              </a:rPr>
              <a:t>每个结点代表解决一个</a:t>
            </a:r>
            <a:r>
              <a:rPr lang="zh-CN" altLang="en-US" sz="1800" spc="-10" dirty="0">
                <a:solidFill>
                  <a:srgbClr val="FFFFFF"/>
                </a:solidFill>
                <a:latin typeface="宋体"/>
                <a:cs typeface="宋体"/>
              </a:rPr>
              <a:t>子问题的代价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819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7" grpId="0"/>
      <p:bldP spid="57" grpId="1"/>
      <p:bldP spid="71" grpId="0"/>
      <p:bldP spid="75" grpId="0"/>
      <p:bldP spid="76" grpId="0" animBg="1"/>
      <p:bldP spid="77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7" name="object 4">
            <a:extLst>
              <a:ext uri="{FF2B5EF4-FFF2-40B4-BE49-F238E27FC236}">
                <a16:creationId xmlns:a16="http://schemas.microsoft.com/office/drawing/2014/main" id="{6946D2BE-6DB5-554D-980D-851DEC89D7A7}"/>
              </a:ext>
            </a:extLst>
          </p:cNvPr>
          <p:cNvGrpSpPr/>
          <p:nvPr/>
        </p:nvGrpSpPr>
        <p:grpSpPr>
          <a:xfrm>
            <a:off x="5500878" y="2466763"/>
            <a:ext cx="1190625" cy="398145"/>
            <a:chOff x="5500878" y="1994154"/>
            <a:chExt cx="1190625" cy="398145"/>
          </a:xfrm>
        </p:grpSpPr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83FD5685-576B-2B44-AE11-03B68C5A7E21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A32AF93-2428-4A49-BCC2-D05101CE9CDE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7">
            <a:extLst>
              <a:ext uri="{FF2B5EF4-FFF2-40B4-BE49-F238E27FC236}">
                <a16:creationId xmlns:a16="http://schemas.microsoft.com/office/drawing/2014/main" id="{1C2BAD00-0A0D-4848-9F9E-9A647E498879}"/>
              </a:ext>
            </a:extLst>
          </p:cNvPr>
          <p:cNvSpPr txBox="1"/>
          <p:nvPr/>
        </p:nvSpPr>
        <p:spPr>
          <a:xfrm>
            <a:off x="5771134" y="2492163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1" name="object 8">
            <a:extLst>
              <a:ext uri="{FF2B5EF4-FFF2-40B4-BE49-F238E27FC236}">
                <a16:creationId xmlns:a16="http://schemas.microsoft.com/office/drawing/2014/main" id="{1E5B6A2E-4D5E-B341-B583-C450D415561C}"/>
              </a:ext>
            </a:extLst>
          </p:cNvPr>
          <p:cNvGrpSpPr/>
          <p:nvPr/>
        </p:nvGrpSpPr>
        <p:grpSpPr>
          <a:xfrm>
            <a:off x="4056126" y="2828078"/>
            <a:ext cx="3484879" cy="1040130"/>
            <a:chOff x="4056126" y="2355469"/>
            <a:chExt cx="3484879" cy="1040130"/>
          </a:xfrm>
        </p:grpSpPr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4DCC13BF-E93D-3046-B26F-781933ECAD65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0A9DFC86-3349-B745-AF96-3B504C373FC9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AED588E6-5279-7B48-B0FD-A11F018180A7}"/>
                </a:ext>
              </a:extLst>
            </p:cNvPr>
            <p:cNvSpPr/>
            <p:nvPr/>
          </p:nvSpPr>
          <p:spPr>
            <a:xfrm>
              <a:off x="4408805" y="3099943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8" y="0"/>
                  </a:moveTo>
                  <a:lnTo>
                    <a:pt x="527939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5" y="116459"/>
                  </a:lnTo>
                  <a:lnTo>
                    <a:pt x="583973" y="137148"/>
                  </a:lnTo>
                  <a:lnTo>
                    <a:pt x="570865" y="187833"/>
                  </a:lnTo>
                  <a:lnTo>
                    <a:pt x="541700" y="219622"/>
                  </a:lnTo>
                  <a:lnTo>
                    <a:pt x="528320" y="225552"/>
                  </a:lnTo>
                  <a:lnTo>
                    <a:pt x="531368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8" y="0"/>
                  </a:lnTo>
                  <a:close/>
                </a:path>
                <a:path w="606425" h="235585">
                  <a:moveTo>
                    <a:pt x="74930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30" y="235077"/>
                  </a:lnTo>
                  <a:lnTo>
                    <a:pt x="77978" y="225552"/>
                  </a:lnTo>
                  <a:lnTo>
                    <a:pt x="64541" y="219622"/>
                  </a:lnTo>
                  <a:lnTo>
                    <a:pt x="52974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6" y="46862"/>
                  </a:lnTo>
                  <a:lnTo>
                    <a:pt x="64702" y="15537"/>
                  </a:lnTo>
                  <a:lnTo>
                    <a:pt x="78232" y="9652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12">
            <a:extLst>
              <a:ext uri="{FF2B5EF4-FFF2-40B4-BE49-F238E27FC236}">
                <a16:creationId xmlns:a16="http://schemas.microsoft.com/office/drawing/2014/main" id="{E46BD768-1419-7F45-8C74-20639B288355}"/>
              </a:ext>
            </a:extLst>
          </p:cNvPr>
          <p:cNvSpPr txBox="1"/>
          <p:nvPr/>
        </p:nvSpPr>
        <p:spPr>
          <a:xfrm>
            <a:off x="4188205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9" name="object 13">
            <a:extLst>
              <a:ext uri="{FF2B5EF4-FFF2-40B4-BE49-F238E27FC236}">
                <a16:creationId xmlns:a16="http://schemas.microsoft.com/office/drawing/2014/main" id="{46A75C0C-43B7-7543-A06F-456930200A40}"/>
              </a:ext>
            </a:extLst>
          </p:cNvPr>
          <p:cNvGrpSpPr/>
          <p:nvPr/>
        </p:nvGrpSpPr>
        <p:grpSpPr>
          <a:xfrm>
            <a:off x="6945630" y="3470316"/>
            <a:ext cx="1190625" cy="398145"/>
            <a:chOff x="6945630" y="2997707"/>
            <a:chExt cx="1190625" cy="398145"/>
          </a:xfrm>
        </p:grpSpPr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B095FF37-7B98-504A-960D-62E656BC18E0}"/>
                </a:ext>
              </a:extLst>
            </p:cNvPr>
            <p:cNvSpPr/>
            <p:nvPr/>
          </p:nvSpPr>
          <p:spPr>
            <a:xfrm>
              <a:off x="6964680" y="301675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5">
              <a:extLst>
                <a:ext uri="{FF2B5EF4-FFF2-40B4-BE49-F238E27FC236}">
                  <a16:creationId xmlns:a16="http://schemas.microsoft.com/office/drawing/2014/main" id="{62E9446F-5ED0-A242-B959-27A412978AE8}"/>
                </a:ext>
              </a:extLst>
            </p:cNvPr>
            <p:cNvSpPr/>
            <p:nvPr/>
          </p:nvSpPr>
          <p:spPr>
            <a:xfrm>
              <a:off x="7298817" y="3099942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7" y="0"/>
                  </a:moveTo>
                  <a:lnTo>
                    <a:pt x="527938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4" y="116459"/>
                  </a:lnTo>
                  <a:lnTo>
                    <a:pt x="583973" y="137148"/>
                  </a:lnTo>
                  <a:lnTo>
                    <a:pt x="570864" y="187833"/>
                  </a:lnTo>
                  <a:lnTo>
                    <a:pt x="541700" y="219622"/>
                  </a:lnTo>
                  <a:lnTo>
                    <a:pt x="528319" y="225552"/>
                  </a:lnTo>
                  <a:lnTo>
                    <a:pt x="531367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7" y="0"/>
                  </a:lnTo>
                  <a:close/>
                </a:path>
                <a:path w="60642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878" y="220043"/>
                  </a:lnTo>
                  <a:lnTo>
                    <a:pt x="74929" y="235077"/>
                  </a:lnTo>
                  <a:lnTo>
                    <a:pt x="77850" y="225552"/>
                  </a:lnTo>
                  <a:lnTo>
                    <a:pt x="64488" y="219622"/>
                  </a:lnTo>
                  <a:lnTo>
                    <a:pt x="52959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2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16">
            <a:extLst>
              <a:ext uri="{FF2B5EF4-FFF2-40B4-BE49-F238E27FC236}">
                <a16:creationId xmlns:a16="http://schemas.microsoft.com/office/drawing/2014/main" id="{86C630AE-F14A-6248-82FE-572616B2E872}"/>
              </a:ext>
            </a:extLst>
          </p:cNvPr>
          <p:cNvSpPr txBox="1"/>
          <p:nvPr/>
        </p:nvSpPr>
        <p:spPr>
          <a:xfrm>
            <a:off x="7078218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C9B8EAEC-C6DB-B14E-8E4E-AB9F48BDC012}"/>
              </a:ext>
            </a:extLst>
          </p:cNvPr>
          <p:cNvSpPr/>
          <p:nvPr/>
        </p:nvSpPr>
        <p:spPr>
          <a:xfrm>
            <a:off x="2835401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8">
            <a:extLst>
              <a:ext uri="{FF2B5EF4-FFF2-40B4-BE49-F238E27FC236}">
                <a16:creationId xmlns:a16="http://schemas.microsoft.com/office/drawing/2014/main" id="{9CB3D66A-82F6-9342-9D22-32B830100B02}"/>
              </a:ext>
            </a:extLst>
          </p:cNvPr>
          <p:cNvSpPr txBox="1"/>
          <p:nvPr/>
        </p:nvSpPr>
        <p:spPr>
          <a:xfrm>
            <a:off x="2962148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5" name="object 19">
            <a:extLst>
              <a:ext uri="{FF2B5EF4-FFF2-40B4-BE49-F238E27FC236}">
                <a16:creationId xmlns:a16="http://schemas.microsoft.com/office/drawing/2014/main" id="{DFBA8789-797B-F44E-863E-55104BB9E8C9}"/>
              </a:ext>
            </a:extLst>
          </p:cNvPr>
          <p:cNvSpPr/>
          <p:nvPr/>
        </p:nvSpPr>
        <p:spPr>
          <a:xfrm>
            <a:off x="6414515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0">
            <a:extLst>
              <a:ext uri="{FF2B5EF4-FFF2-40B4-BE49-F238E27FC236}">
                <a16:creationId xmlns:a16="http://schemas.microsoft.com/office/drawing/2014/main" id="{A28CE115-625B-2A49-B214-37ABDCC5B2EB}"/>
              </a:ext>
            </a:extLst>
          </p:cNvPr>
          <p:cNvSpPr txBox="1"/>
          <p:nvPr/>
        </p:nvSpPr>
        <p:spPr>
          <a:xfrm>
            <a:off x="6541769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B2387F4A-DF7A-A942-B3C8-D98D81A6ABB0}"/>
              </a:ext>
            </a:extLst>
          </p:cNvPr>
          <p:cNvSpPr/>
          <p:nvPr/>
        </p:nvSpPr>
        <p:spPr>
          <a:xfrm>
            <a:off x="4625340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2">
            <a:extLst>
              <a:ext uri="{FF2B5EF4-FFF2-40B4-BE49-F238E27FC236}">
                <a16:creationId xmlns:a16="http://schemas.microsoft.com/office/drawing/2014/main" id="{28812EDE-582F-924B-A05B-7D0295FB7478}"/>
              </a:ext>
            </a:extLst>
          </p:cNvPr>
          <p:cNvSpPr txBox="1"/>
          <p:nvPr/>
        </p:nvSpPr>
        <p:spPr>
          <a:xfrm>
            <a:off x="4752085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9" name="object 23">
            <a:extLst>
              <a:ext uri="{FF2B5EF4-FFF2-40B4-BE49-F238E27FC236}">
                <a16:creationId xmlns:a16="http://schemas.microsoft.com/office/drawing/2014/main" id="{24EE2148-0E52-624F-850A-D601C422714B}"/>
              </a:ext>
            </a:extLst>
          </p:cNvPr>
          <p:cNvSpPr/>
          <p:nvPr/>
        </p:nvSpPr>
        <p:spPr>
          <a:xfrm>
            <a:off x="8204454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4">
            <a:extLst>
              <a:ext uri="{FF2B5EF4-FFF2-40B4-BE49-F238E27FC236}">
                <a16:creationId xmlns:a16="http://schemas.microsoft.com/office/drawing/2014/main" id="{28FE82E7-A197-924E-A243-B08CB4C90757}"/>
              </a:ext>
            </a:extLst>
          </p:cNvPr>
          <p:cNvSpPr txBox="1"/>
          <p:nvPr/>
        </p:nvSpPr>
        <p:spPr>
          <a:xfrm>
            <a:off x="8331707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9BCEDC0-2820-5544-BEFD-3A27A86EDB3B}"/>
              </a:ext>
            </a:extLst>
          </p:cNvPr>
          <p:cNvCxnSpPr>
            <a:cxnSpLocks/>
          </p:cNvCxnSpPr>
          <p:nvPr/>
        </p:nvCxnSpPr>
        <p:spPr>
          <a:xfrm flipH="1">
            <a:off x="3369704" y="3846973"/>
            <a:ext cx="1187005" cy="673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8E2A889-60A6-724D-BCC0-81D455B39183}"/>
              </a:ext>
            </a:extLst>
          </p:cNvPr>
          <p:cNvCxnSpPr/>
          <p:nvPr/>
        </p:nvCxnSpPr>
        <p:spPr>
          <a:xfrm>
            <a:off x="4594415" y="3849411"/>
            <a:ext cx="575500" cy="6506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B7317E1-5CD7-9248-A862-A5AF7741B8F6}"/>
              </a:ext>
            </a:extLst>
          </p:cNvPr>
          <p:cNvCxnSpPr>
            <a:endCxn id="66" idx="0"/>
          </p:cNvCxnSpPr>
          <p:nvPr/>
        </p:nvCxnSpPr>
        <p:spPr>
          <a:xfrm flipH="1">
            <a:off x="6959599" y="3845856"/>
            <a:ext cx="497396" cy="65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0483D7A-C02A-854D-9290-2350FD52DD78}"/>
              </a:ext>
            </a:extLst>
          </p:cNvPr>
          <p:cNvCxnSpPr/>
          <p:nvPr/>
        </p:nvCxnSpPr>
        <p:spPr>
          <a:xfrm>
            <a:off x="7447438" y="3856270"/>
            <a:ext cx="1333278" cy="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标注 20">
            <a:extLst>
              <a:ext uri="{FF2B5EF4-FFF2-40B4-BE49-F238E27FC236}">
                <a16:creationId xmlns:a16="http://schemas.microsoft.com/office/drawing/2014/main" id="{EBD51730-806B-9842-A4C8-1994B92473CE}"/>
              </a:ext>
            </a:extLst>
          </p:cNvPr>
          <p:cNvSpPr/>
          <p:nvPr/>
        </p:nvSpPr>
        <p:spPr>
          <a:xfrm>
            <a:off x="9167367" y="3429000"/>
            <a:ext cx="2288318" cy="567647"/>
          </a:xfrm>
          <a:prstGeom prst="wedgeRectCallout">
            <a:avLst>
              <a:gd name="adj1" fmla="val -45078"/>
              <a:gd name="adj2" fmla="val 1005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spc="-10" dirty="0">
              <a:solidFill>
                <a:srgbClr val="FFFFFF"/>
              </a:solidFill>
              <a:latin typeface="宋体"/>
              <a:cs typeface="宋体"/>
            </a:endParaRPr>
          </a:p>
          <a:p>
            <a:pPr algn="ctr"/>
            <a:r>
              <a:rPr lang="zh-CN" altLang="en-US" sz="1800" spc="-10" dirty="0">
                <a:solidFill>
                  <a:srgbClr val="FFFFFF"/>
                </a:solidFill>
                <a:latin typeface="宋体"/>
                <a:cs typeface="宋体"/>
              </a:rPr>
              <a:t>根据递归式向下分解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FDAC5C8-F330-1C4C-ADD1-339E73237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4886934"/>
            <a:ext cx="10020300" cy="1193800"/>
          </a:xfrm>
          <a:prstGeom prst="rect">
            <a:avLst/>
          </a:prstGeom>
        </p:spPr>
      </p:pic>
      <p:sp>
        <p:nvSpPr>
          <p:cNvPr id="23" name="矩形标注 22">
            <a:extLst>
              <a:ext uri="{FF2B5EF4-FFF2-40B4-BE49-F238E27FC236}">
                <a16:creationId xmlns:a16="http://schemas.microsoft.com/office/drawing/2014/main" id="{2FF6440C-F040-284E-A648-15DFAE5110B9}"/>
              </a:ext>
            </a:extLst>
          </p:cNvPr>
          <p:cNvSpPr/>
          <p:nvPr/>
        </p:nvSpPr>
        <p:spPr>
          <a:xfrm>
            <a:off x="6767073" y="5106178"/>
            <a:ext cx="2276338" cy="400693"/>
          </a:xfrm>
          <a:prstGeom prst="wedgeRectCallout">
            <a:avLst>
              <a:gd name="adj1" fmla="val -43852"/>
              <a:gd name="adj2" fmla="val 1035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spc="-10" dirty="0">
              <a:solidFill>
                <a:srgbClr val="FFFFFF"/>
              </a:solidFill>
              <a:latin typeface="宋体"/>
              <a:cs typeface="宋体"/>
            </a:endParaRPr>
          </a:p>
          <a:p>
            <a:pPr algn="ctr"/>
            <a:r>
              <a:rPr lang="zh-CN" altLang="en-US" sz="1800" spc="-10" dirty="0">
                <a:solidFill>
                  <a:srgbClr val="FFFFFF"/>
                </a:solidFill>
                <a:latin typeface="宋体"/>
                <a:cs typeface="宋体"/>
              </a:rPr>
              <a:t>递归终点为叶子结点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685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7" name="object 4">
            <a:extLst>
              <a:ext uri="{FF2B5EF4-FFF2-40B4-BE49-F238E27FC236}">
                <a16:creationId xmlns:a16="http://schemas.microsoft.com/office/drawing/2014/main" id="{6946D2BE-6DB5-554D-980D-851DEC89D7A7}"/>
              </a:ext>
            </a:extLst>
          </p:cNvPr>
          <p:cNvGrpSpPr/>
          <p:nvPr/>
        </p:nvGrpSpPr>
        <p:grpSpPr>
          <a:xfrm>
            <a:off x="5500878" y="2466763"/>
            <a:ext cx="1190625" cy="398145"/>
            <a:chOff x="5500878" y="1994154"/>
            <a:chExt cx="1190625" cy="398145"/>
          </a:xfrm>
        </p:grpSpPr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83FD5685-576B-2B44-AE11-03B68C5A7E21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A32AF93-2428-4A49-BCC2-D05101CE9CDE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7">
            <a:extLst>
              <a:ext uri="{FF2B5EF4-FFF2-40B4-BE49-F238E27FC236}">
                <a16:creationId xmlns:a16="http://schemas.microsoft.com/office/drawing/2014/main" id="{1C2BAD00-0A0D-4848-9F9E-9A647E498879}"/>
              </a:ext>
            </a:extLst>
          </p:cNvPr>
          <p:cNvSpPr txBox="1"/>
          <p:nvPr/>
        </p:nvSpPr>
        <p:spPr>
          <a:xfrm>
            <a:off x="5771134" y="2492163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1" name="object 8">
            <a:extLst>
              <a:ext uri="{FF2B5EF4-FFF2-40B4-BE49-F238E27FC236}">
                <a16:creationId xmlns:a16="http://schemas.microsoft.com/office/drawing/2014/main" id="{1E5B6A2E-4D5E-B341-B583-C450D415561C}"/>
              </a:ext>
            </a:extLst>
          </p:cNvPr>
          <p:cNvGrpSpPr/>
          <p:nvPr/>
        </p:nvGrpSpPr>
        <p:grpSpPr>
          <a:xfrm>
            <a:off x="4056126" y="2828078"/>
            <a:ext cx="3484879" cy="1040130"/>
            <a:chOff x="4056126" y="2355469"/>
            <a:chExt cx="3484879" cy="1040130"/>
          </a:xfrm>
        </p:grpSpPr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4DCC13BF-E93D-3046-B26F-781933ECAD65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0A9DFC86-3349-B745-AF96-3B504C373FC9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AED588E6-5279-7B48-B0FD-A11F018180A7}"/>
                </a:ext>
              </a:extLst>
            </p:cNvPr>
            <p:cNvSpPr/>
            <p:nvPr/>
          </p:nvSpPr>
          <p:spPr>
            <a:xfrm>
              <a:off x="4408805" y="3099943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8" y="0"/>
                  </a:moveTo>
                  <a:lnTo>
                    <a:pt x="527939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5" y="116459"/>
                  </a:lnTo>
                  <a:lnTo>
                    <a:pt x="583973" y="137148"/>
                  </a:lnTo>
                  <a:lnTo>
                    <a:pt x="570865" y="187833"/>
                  </a:lnTo>
                  <a:lnTo>
                    <a:pt x="541700" y="219622"/>
                  </a:lnTo>
                  <a:lnTo>
                    <a:pt x="528320" y="225552"/>
                  </a:lnTo>
                  <a:lnTo>
                    <a:pt x="531368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8" y="0"/>
                  </a:lnTo>
                  <a:close/>
                </a:path>
                <a:path w="606425" h="235585">
                  <a:moveTo>
                    <a:pt x="74930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30" y="235077"/>
                  </a:lnTo>
                  <a:lnTo>
                    <a:pt x="77978" y="225552"/>
                  </a:lnTo>
                  <a:lnTo>
                    <a:pt x="64541" y="219622"/>
                  </a:lnTo>
                  <a:lnTo>
                    <a:pt x="52974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6" y="46862"/>
                  </a:lnTo>
                  <a:lnTo>
                    <a:pt x="64702" y="15537"/>
                  </a:lnTo>
                  <a:lnTo>
                    <a:pt x="78232" y="9652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12">
            <a:extLst>
              <a:ext uri="{FF2B5EF4-FFF2-40B4-BE49-F238E27FC236}">
                <a16:creationId xmlns:a16="http://schemas.microsoft.com/office/drawing/2014/main" id="{E46BD768-1419-7F45-8C74-20639B288355}"/>
              </a:ext>
            </a:extLst>
          </p:cNvPr>
          <p:cNvSpPr txBox="1"/>
          <p:nvPr/>
        </p:nvSpPr>
        <p:spPr>
          <a:xfrm>
            <a:off x="4188205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9" name="object 13">
            <a:extLst>
              <a:ext uri="{FF2B5EF4-FFF2-40B4-BE49-F238E27FC236}">
                <a16:creationId xmlns:a16="http://schemas.microsoft.com/office/drawing/2014/main" id="{46A75C0C-43B7-7543-A06F-456930200A40}"/>
              </a:ext>
            </a:extLst>
          </p:cNvPr>
          <p:cNvGrpSpPr/>
          <p:nvPr/>
        </p:nvGrpSpPr>
        <p:grpSpPr>
          <a:xfrm>
            <a:off x="6945630" y="3470316"/>
            <a:ext cx="1190625" cy="398145"/>
            <a:chOff x="6945630" y="2997707"/>
            <a:chExt cx="1190625" cy="398145"/>
          </a:xfrm>
        </p:grpSpPr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B095FF37-7B98-504A-960D-62E656BC18E0}"/>
                </a:ext>
              </a:extLst>
            </p:cNvPr>
            <p:cNvSpPr/>
            <p:nvPr/>
          </p:nvSpPr>
          <p:spPr>
            <a:xfrm>
              <a:off x="6964680" y="301675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5">
              <a:extLst>
                <a:ext uri="{FF2B5EF4-FFF2-40B4-BE49-F238E27FC236}">
                  <a16:creationId xmlns:a16="http://schemas.microsoft.com/office/drawing/2014/main" id="{62E9446F-5ED0-A242-B959-27A412978AE8}"/>
                </a:ext>
              </a:extLst>
            </p:cNvPr>
            <p:cNvSpPr/>
            <p:nvPr/>
          </p:nvSpPr>
          <p:spPr>
            <a:xfrm>
              <a:off x="7298817" y="3099942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7" y="0"/>
                  </a:moveTo>
                  <a:lnTo>
                    <a:pt x="527938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4" y="116459"/>
                  </a:lnTo>
                  <a:lnTo>
                    <a:pt x="583973" y="137148"/>
                  </a:lnTo>
                  <a:lnTo>
                    <a:pt x="570864" y="187833"/>
                  </a:lnTo>
                  <a:lnTo>
                    <a:pt x="541700" y="219622"/>
                  </a:lnTo>
                  <a:lnTo>
                    <a:pt x="528319" y="225552"/>
                  </a:lnTo>
                  <a:lnTo>
                    <a:pt x="531367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7" y="0"/>
                  </a:lnTo>
                  <a:close/>
                </a:path>
                <a:path w="60642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878" y="220043"/>
                  </a:lnTo>
                  <a:lnTo>
                    <a:pt x="74929" y="235077"/>
                  </a:lnTo>
                  <a:lnTo>
                    <a:pt x="77850" y="225552"/>
                  </a:lnTo>
                  <a:lnTo>
                    <a:pt x="64488" y="219622"/>
                  </a:lnTo>
                  <a:lnTo>
                    <a:pt x="52959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2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16">
            <a:extLst>
              <a:ext uri="{FF2B5EF4-FFF2-40B4-BE49-F238E27FC236}">
                <a16:creationId xmlns:a16="http://schemas.microsoft.com/office/drawing/2014/main" id="{86C630AE-F14A-6248-82FE-572616B2E872}"/>
              </a:ext>
            </a:extLst>
          </p:cNvPr>
          <p:cNvSpPr txBox="1"/>
          <p:nvPr/>
        </p:nvSpPr>
        <p:spPr>
          <a:xfrm>
            <a:off x="7078218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C9B8EAEC-C6DB-B14E-8E4E-AB9F48BDC012}"/>
              </a:ext>
            </a:extLst>
          </p:cNvPr>
          <p:cNvSpPr/>
          <p:nvPr/>
        </p:nvSpPr>
        <p:spPr>
          <a:xfrm>
            <a:off x="2835401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8">
            <a:extLst>
              <a:ext uri="{FF2B5EF4-FFF2-40B4-BE49-F238E27FC236}">
                <a16:creationId xmlns:a16="http://schemas.microsoft.com/office/drawing/2014/main" id="{9CB3D66A-82F6-9342-9D22-32B830100B02}"/>
              </a:ext>
            </a:extLst>
          </p:cNvPr>
          <p:cNvSpPr txBox="1"/>
          <p:nvPr/>
        </p:nvSpPr>
        <p:spPr>
          <a:xfrm>
            <a:off x="2962148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5" name="object 19">
            <a:extLst>
              <a:ext uri="{FF2B5EF4-FFF2-40B4-BE49-F238E27FC236}">
                <a16:creationId xmlns:a16="http://schemas.microsoft.com/office/drawing/2014/main" id="{DFBA8789-797B-F44E-863E-55104BB9E8C9}"/>
              </a:ext>
            </a:extLst>
          </p:cNvPr>
          <p:cNvSpPr/>
          <p:nvPr/>
        </p:nvSpPr>
        <p:spPr>
          <a:xfrm>
            <a:off x="6414515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0">
            <a:extLst>
              <a:ext uri="{FF2B5EF4-FFF2-40B4-BE49-F238E27FC236}">
                <a16:creationId xmlns:a16="http://schemas.microsoft.com/office/drawing/2014/main" id="{A28CE115-625B-2A49-B214-37ABDCC5B2EB}"/>
              </a:ext>
            </a:extLst>
          </p:cNvPr>
          <p:cNvSpPr txBox="1"/>
          <p:nvPr/>
        </p:nvSpPr>
        <p:spPr>
          <a:xfrm>
            <a:off x="6541769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B2387F4A-DF7A-A942-B3C8-D98D81A6ABB0}"/>
              </a:ext>
            </a:extLst>
          </p:cNvPr>
          <p:cNvSpPr/>
          <p:nvPr/>
        </p:nvSpPr>
        <p:spPr>
          <a:xfrm>
            <a:off x="4625340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2">
            <a:extLst>
              <a:ext uri="{FF2B5EF4-FFF2-40B4-BE49-F238E27FC236}">
                <a16:creationId xmlns:a16="http://schemas.microsoft.com/office/drawing/2014/main" id="{28812EDE-582F-924B-A05B-7D0295FB7478}"/>
              </a:ext>
            </a:extLst>
          </p:cNvPr>
          <p:cNvSpPr txBox="1"/>
          <p:nvPr/>
        </p:nvSpPr>
        <p:spPr>
          <a:xfrm>
            <a:off x="4752085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9" name="object 23">
            <a:extLst>
              <a:ext uri="{FF2B5EF4-FFF2-40B4-BE49-F238E27FC236}">
                <a16:creationId xmlns:a16="http://schemas.microsoft.com/office/drawing/2014/main" id="{24EE2148-0E52-624F-850A-D601C422714B}"/>
              </a:ext>
            </a:extLst>
          </p:cNvPr>
          <p:cNvSpPr/>
          <p:nvPr/>
        </p:nvSpPr>
        <p:spPr>
          <a:xfrm>
            <a:off x="8204454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4">
            <a:extLst>
              <a:ext uri="{FF2B5EF4-FFF2-40B4-BE49-F238E27FC236}">
                <a16:creationId xmlns:a16="http://schemas.microsoft.com/office/drawing/2014/main" id="{28FE82E7-A197-924E-A243-B08CB4C90757}"/>
              </a:ext>
            </a:extLst>
          </p:cNvPr>
          <p:cNvSpPr txBox="1"/>
          <p:nvPr/>
        </p:nvSpPr>
        <p:spPr>
          <a:xfrm>
            <a:off x="8331707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9BCEDC0-2820-5544-BEFD-3A27A86EDB3B}"/>
              </a:ext>
            </a:extLst>
          </p:cNvPr>
          <p:cNvCxnSpPr>
            <a:cxnSpLocks/>
          </p:cNvCxnSpPr>
          <p:nvPr/>
        </p:nvCxnSpPr>
        <p:spPr>
          <a:xfrm flipH="1">
            <a:off x="3369704" y="3846973"/>
            <a:ext cx="1187005" cy="673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8E2A889-60A6-724D-BCC0-81D455B39183}"/>
              </a:ext>
            </a:extLst>
          </p:cNvPr>
          <p:cNvCxnSpPr/>
          <p:nvPr/>
        </p:nvCxnSpPr>
        <p:spPr>
          <a:xfrm>
            <a:off x="4594415" y="3849411"/>
            <a:ext cx="575500" cy="6506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B7317E1-5CD7-9248-A862-A5AF7741B8F6}"/>
              </a:ext>
            </a:extLst>
          </p:cNvPr>
          <p:cNvCxnSpPr>
            <a:endCxn id="66" idx="0"/>
          </p:cNvCxnSpPr>
          <p:nvPr/>
        </p:nvCxnSpPr>
        <p:spPr>
          <a:xfrm flipH="1">
            <a:off x="6959599" y="3845856"/>
            <a:ext cx="497396" cy="65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0483D7A-C02A-854D-9290-2350FD52DD78}"/>
              </a:ext>
            </a:extLst>
          </p:cNvPr>
          <p:cNvCxnSpPr/>
          <p:nvPr/>
        </p:nvCxnSpPr>
        <p:spPr>
          <a:xfrm>
            <a:off x="7447438" y="3856270"/>
            <a:ext cx="1333278" cy="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CFDAC5C8-F330-1C4C-ADD1-339E7323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886934"/>
            <a:ext cx="10020300" cy="1193800"/>
          </a:xfrm>
          <a:prstGeom prst="rect">
            <a:avLst/>
          </a:prstGeom>
        </p:spPr>
      </p:pic>
      <p:sp>
        <p:nvSpPr>
          <p:cNvPr id="39" name="object 18">
            <a:extLst>
              <a:ext uri="{FF2B5EF4-FFF2-40B4-BE49-F238E27FC236}">
                <a16:creationId xmlns:a16="http://schemas.microsoft.com/office/drawing/2014/main" id="{51007708-65F2-4148-861A-34B10AD37F8E}"/>
              </a:ext>
            </a:extLst>
          </p:cNvPr>
          <p:cNvSpPr txBox="1"/>
          <p:nvPr/>
        </p:nvSpPr>
        <p:spPr>
          <a:xfrm>
            <a:off x="11200383" y="2495529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B18B7DF3-3C21-F343-BCF8-C8D231DD7A2D}"/>
              </a:ext>
            </a:extLst>
          </p:cNvPr>
          <p:cNvSpPr txBox="1"/>
          <p:nvPr/>
        </p:nvSpPr>
        <p:spPr>
          <a:xfrm>
            <a:off x="11200383" y="3529817"/>
            <a:ext cx="20701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F958237-E341-164D-BEA4-B75795876381}"/>
              </a:ext>
            </a:extLst>
          </p:cNvPr>
          <p:cNvSpPr txBox="1"/>
          <p:nvPr/>
        </p:nvSpPr>
        <p:spPr>
          <a:xfrm>
            <a:off x="11200383" y="4502636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3327B771-8D50-4C4C-A29B-AB0E8E0DFC53}"/>
              </a:ext>
            </a:extLst>
          </p:cNvPr>
          <p:cNvSpPr txBox="1"/>
          <p:nvPr/>
        </p:nvSpPr>
        <p:spPr>
          <a:xfrm>
            <a:off x="11200383" y="5542513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FD74AF83-11C8-7E45-A6A9-3A5356830339}"/>
              </a:ext>
            </a:extLst>
          </p:cNvPr>
          <p:cNvCxnSpPr/>
          <p:nvPr/>
        </p:nvCxnSpPr>
        <p:spPr>
          <a:xfrm>
            <a:off x="6959599" y="2681555"/>
            <a:ext cx="387963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A99FD803-292F-5241-938C-46FC0037504D}"/>
              </a:ext>
            </a:extLst>
          </p:cNvPr>
          <p:cNvCxnSpPr>
            <a:cxnSpLocks/>
          </p:cNvCxnSpPr>
          <p:nvPr/>
        </p:nvCxnSpPr>
        <p:spPr>
          <a:xfrm>
            <a:off x="8204454" y="3666162"/>
            <a:ext cx="2874431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25CD4BE7-C9C4-CA42-8F71-98F782B1749C}"/>
              </a:ext>
            </a:extLst>
          </p:cNvPr>
          <p:cNvCxnSpPr>
            <a:cxnSpLocks/>
          </p:cNvCxnSpPr>
          <p:nvPr/>
        </p:nvCxnSpPr>
        <p:spPr>
          <a:xfrm>
            <a:off x="9382129" y="4691866"/>
            <a:ext cx="1686593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EC8A4922-9286-ED4E-A4E6-315F77E443AC}"/>
              </a:ext>
            </a:extLst>
          </p:cNvPr>
          <p:cNvCxnSpPr>
            <a:cxnSpLocks/>
          </p:cNvCxnSpPr>
          <p:nvPr/>
        </p:nvCxnSpPr>
        <p:spPr>
          <a:xfrm>
            <a:off x="10654301" y="5717569"/>
            <a:ext cx="451849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FC19D48C-F2C8-E74A-AE15-7F012E003937}"/>
              </a:ext>
            </a:extLst>
          </p:cNvPr>
          <p:cNvSpPr txBox="1"/>
          <p:nvPr/>
        </p:nvSpPr>
        <p:spPr>
          <a:xfrm>
            <a:off x="9411180" y="2234600"/>
            <a:ext cx="16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b="1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宋体"/>
              </a:rPr>
              <a:t>分析每层代价</a:t>
            </a:r>
            <a:endParaRPr lang="zh-CN" altLang="en-US" sz="1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宋体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2E729DD-EFE9-0D4C-BBD1-EBF8C8A00CDA}"/>
              </a:ext>
            </a:extLst>
          </p:cNvPr>
          <p:cNvSpPr txBox="1"/>
          <p:nvPr/>
        </p:nvSpPr>
        <p:spPr>
          <a:xfrm>
            <a:off x="617544" y="2485813"/>
            <a:ext cx="3939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1800" dirty="0">
                <a:latin typeface="宋体"/>
                <a:cs typeface="宋体"/>
              </a:rPr>
              <a:t>为便于分析，假设</a:t>
            </a:r>
            <a:r>
              <a:rPr lang="zh-CN" altLang="en-US" sz="1800" spc="-10" dirty="0">
                <a:latin typeface="Cambria Math"/>
                <a:cs typeface="Cambria Math"/>
              </a:rPr>
              <a:t>𝒏</a:t>
            </a:r>
            <a:r>
              <a:rPr lang="zh-CN" altLang="en-US" sz="1800" dirty="0">
                <a:latin typeface="宋体"/>
                <a:cs typeface="宋体"/>
              </a:rPr>
              <a:t>是</a:t>
            </a:r>
            <a:r>
              <a:rPr lang="zh-CN" altLang="en-US" sz="1800" dirty="0">
                <a:latin typeface="Cambria Math"/>
                <a:cs typeface="Cambria Math"/>
              </a:rPr>
              <a:t>𝟐</a:t>
            </a:r>
            <a:r>
              <a:rPr lang="zh-CN" altLang="en-US" sz="1800" spc="-25" dirty="0">
                <a:latin typeface="宋体"/>
                <a:cs typeface="宋体"/>
              </a:rPr>
              <a:t>的幂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70" name="object 21">
            <a:extLst>
              <a:ext uri="{FF2B5EF4-FFF2-40B4-BE49-F238E27FC236}">
                <a16:creationId xmlns:a16="http://schemas.microsoft.com/office/drawing/2014/main" id="{CE0E4A67-33A1-2C42-97A6-CF5D3F4E0709}"/>
              </a:ext>
            </a:extLst>
          </p:cNvPr>
          <p:cNvSpPr txBox="1"/>
          <p:nvPr/>
        </p:nvSpPr>
        <p:spPr>
          <a:xfrm>
            <a:off x="1375918" y="2991418"/>
            <a:ext cx="3172460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20"/>
              </a:lnSpc>
              <a:spcBef>
                <a:spcPts val="100"/>
              </a:spcBef>
            </a:pPr>
            <a:r>
              <a:rPr sz="2400" spc="-80" dirty="0" err="1">
                <a:solidFill>
                  <a:srgbClr val="FF0000"/>
                </a:solidFill>
                <a:latin typeface="宋体"/>
                <a:cs typeface="宋体"/>
              </a:rPr>
              <a:t>递归树层数</a:t>
            </a:r>
            <a:r>
              <a:rPr sz="2400" spc="-80" dirty="0">
                <a:solidFill>
                  <a:srgbClr val="FF0000"/>
                </a:solidFill>
                <a:latin typeface="宋体"/>
                <a:cs typeface="宋体"/>
              </a:rPr>
              <a:t>：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400" spc="-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 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 dirty="0">
              <a:solidFill>
                <a:srgbClr val="FF0000"/>
              </a:solidFill>
              <a:latin typeface="Cambria Math"/>
              <a:cs typeface="Cambria Math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5009773-927E-2D4C-B247-224C16838263}"/>
              </a:ext>
            </a:extLst>
          </p:cNvPr>
          <p:cNvSpPr/>
          <p:nvPr/>
        </p:nvSpPr>
        <p:spPr>
          <a:xfrm>
            <a:off x="452063" y="6080734"/>
            <a:ext cx="7993294" cy="722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dirty="0">
              <a:latin typeface="宋体"/>
              <a:cs typeface="宋体"/>
            </a:endParaRPr>
          </a:p>
          <a:p>
            <a:pPr algn="ctr"/>
            <a:r>
              <a:rPr lang="zh-CN" altLang="en-US" sz="1800" dirty="0">
                <a:latin typeface="宋体"/>
                <a:cs typeface="宋体"/>
              </a:rPr>
              <a:t>由于树的深度通常由</a:t>
            </a:r>
            <a:r>
              <a:rPr lang="zh-CN" altLang="en-US" sz="1800" dirty="0">
                <a:latin typeface="Cambria Math"/>
                <a:cs typeface="Cambria Math"/>
              </a:rPr>
              <a:t>𝟎</a:t>
            </a:r>
            <a:r>
              <a:rPr lang="zh-CN" altLang="en-US" sz="1800" spc="-10" dirty="0">
                <a:latin typeface="宋体"/>
                <a:cs typeface="宋体"/>
              </a:rPr>
              <a:t>开始计数，故</a:t>
            </a:r>
            <a:r>
              <a:rPr lang="zh-CN" altLang="en-US" sz="1800" spc="70" dirty="0">
                <a:latin typeface="宋体"/>
                <a:cs typeface="宋体"/>
              </a:rPr>
              <a:t>层数</a:t>
            </a:r>
            <a:r>
              <a:rPr lang="en-US" altLang="zh-CN" sz="1800" spc="70" dirty="0">
                <a:latin typeface="宋体"/>
                <a:cs typeface="宋体"/>
              </a:rPr>
              <a:t>=</a:t>
            </a:r>
            <a:r>
              <a:rPr lang="zh-CN" altLang="en-US" sz="1800" spc="70" dirty="0">
                <a:latin typeface="宋体"/>
                <a:cs typeface="宋体"/>
              </a:rPr>
              <a:t>深度</a:t>
            </a:r>
            <a:r>
              <a:rPr lang="en-US" altLang="zh-CN" sz="1800" spc="-10" dirty="0">
                <a:latin typeface="Cambria Math"/>
                <a:cs typeface="Cambria Math"/>
              </a:rPr>
              <a:t>+𝟏</a:t>
            </a:r>
            <a:r>
              <a:rPr lang="zh-CN" altLang="en-US" sz="1800" spc="-15" dirty="0">
                <a:latin typeface="宋体"/>
                <a:cs typeface="宋体"/>
              </a:rPr>
              <a:t>，后续统一用“深度”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  <p:sp>
        <p:nvSpPr>
          <p:cNvPr id="72" name="object 26">
            <a:extLst>
              <a:ext uri="{FF2B5EF4-FFF2-40B4-BE49-F238E27FC236}">
                <a16:creationId xmlns:a16="http://schemas.microsoft.com/office/drawing/2014/main" id="{3473AE88-1554-2041-A07B-A5F1C522B3F1}"/>
              </a:ext>
            </a:extLst>
          </p:cNvPr>
          <p:cNvSpPr txBox="1"/>
          <p:nvPr/>
        </p:nvSpPr>
        <p:spPr>
          <a:xfrm>
            <a:off x="1145371" y="3868015"/>
            <a:ext cx="1294130" cy="6718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spc="-20" dirty="0" err="1">
                <a:solidFill>
                  <a:srgbClr val="FF0000"/>
                </a:solidFill>
                <a:latin typeface="宋体"/>
                <a:cs typeface="宋体"/>
              </a:rPr>
              <a:t>递归树深</a:t>
            </a:r>
            <a:r>
              <a:rPr sz="2000" spc="-50" dirty="0" err="1">
                <a:solidFill>
                  <a:srgbClr val="FF0000"/>
                </a:solidFill>
                <a:latin typeface="宋体"/>
                <a:cs typeface="宋体"/>
              </a:rPr>
              <a:t>度</a:t>
            </a:r>
            <a:endParaRPr sz="2000" dirty="0">
              <a:latin typeface="宋体"/>
              <a:cs typeface="宋体"/>
            </a:endParaRPr>
          </a:p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73" name="object 19">
            <a:extLst>
              <a:ext uri="{FF2B5EF4-FFF2-40B4-BE49-F238E27FC236}">
                <a16:creationId xmlns:a16="http://schemas.microsoft.com/office/drawing/2014/main" id="{186EE374-79F6-0C4E-B8F0-856194986C95}"/>
              </a:ext>
            </a:extLst>
          </p:cNvPr>
          <p:cNvSpPr/>
          <p:nvPr/>
        </p:nvSpPr>
        <p:spPr>
          <a:xfrm>
            <a:off x="912136" y="2516389"/>
            <a:ext cx="218440" cy="3240405"/>
          </a:xfrm>
          <a:custGeom>
            <a:avLst/>
            <a:gdLst/>
            <a:ahLst/>
            <a:cxnLst/>
            <a:rect l="l" t="t" r="r" b="b"/>
            <a:pathLst>
              <a:path w="218439" h="3240404">
                <a:moveTo>
                  <a:pt x="217931" y="0"/>
                </a:moveTo>
                <a:lnTo>
                  <a:pt x="175510" y="1426"/>
                </a:lnTo>
                <a:lnTo>
                  <a:pt x="140874" y="5318"/>
                </a:lnTo>
                <a:lnTo>
                  <a:pt x="117526" y="11090"/>
                </a:lnTo>
                <a:lnTo>
                  <a:pt x="108965" y="18161"/>
                </a:lnTo>
                <a:lnTo>
                  <a:pt x="108965" y="1601851"/>
                </a:lnTo>
                <a:lnTo>
                  <a:pt x="100405" y="1608921"/>
                </a:lnTo>
                <a:lnTo>
                  <a:pt x="77057" y="1614693"/>
                </a:lnTo>
                <a:lnTo>
                  <a:pt x="42421" y="1618585"/>
                </a:lnTo>
                <a:lnTo>
                  <a:pt x="0" y="1620012"/>
                </a:lnTo>
                <a:lnTo>
                  <a:pt x="42421" y="1621438"/>
                </a:lnTo>
                <a:lnTo>
                  <a:pt x="77057" y="1625330"/>
                </a:lnTo>
                <a:lnTo>
                  <a:pt x="100405" y="1631102"/>
                </a:lnTo>
                <a:lnTo>
                  <a:pt x="108965" y="1638173"/>
                </a:lnTo>
                <a:lnTo>
                  <a:pt x="108965" y="3221863"/>
                </a:lnTo>
                <a:lnTo>
                  <a:pt x="117526" y="3228933"/>
                </a:lnTo>
                <a:lnTo>
                  <a:pt x="140874" y="3234705"/>
                </a:lnTo>
                <a:lnTo>
                  <a:pt x="175510" y="3238597"/>
                </a:lnTo>
                <a:lnTo>
                  <a:pt x="217931" y="32400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79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68" grpId="0"/>
      <p:bldP spid="69" grpId="0"/>
      <p:bldP spid="70" grpId="0"/>
      <p:bldP spid="25" grpId="0" animBg="1"/>
      <p:bldP spid="72" grpId="0"/>
      <p:bldP spid="7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7" name="object 4">
            <a:extLst>
              <a:ext uri="{FF2B5EF4-FFF2-40B4-BE49-F238E27FC236}">
                <a16:creationId xmlns:a16="http://schemas.microsoft.com/office/drawing/2014/main" id="{6946D2BE-6DB5-554D-980D-851DEC89D7A7}"/>
              </a:ext>
            </a:extLst>
          </p:cNvPr>
          <p:cNvGrpSpPr/>
          <p:nvPr/>
        </p:nvGrpSpPr>
        <p:grpSpPr>
          <a:xfrm>
            <a:off x="5500878" y="2466763"/>
            <a:ext cx="1190625" cy="398145"/>
            <a:chOff x="5500878" y="1994154"/>
            <a:chExt cx="1190625" cy="398145"/>
          </a:xfrm>
        </p:grpSpPr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83FD5685-576B-2B44-AE11-03B68C5A7E21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A32AF93-2428-4A49-BCC2-D05101CE9CDE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7">
            <a:extLst>
              <a:ext uri="{FF2B5EF4-FFF2-40B4-BE49-F238E27FC236}">
                <a16:creationId xmlns:a16="http://schemas.microsoft.com/office/drawing/2014/main" id="{1C2BAD00-0A0D-4848-9F9E-9A647E498879}"/>
              </a:ext>
            </a:extLst>
          </p:cNvPr>
          <p:cNvSpPr txBox="1"/>
          <p:nvPr/>
        </p:nvSpPr>
        <p:spPr>
          <a:xfrm>
            <a:off x="5771134" y="2492163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1" name="object 8">
            <a:extLst>
              <a:ext uri="{FF2B5EF4-FFF2-40B4-BE49-F238E27FC236}">
                <a16:creationId xmlns:a16="http://schemas.microsoft.com/office/drawing/2014/main" id="{1E5B6A2E-4D5E-B341-B583-C450D415561C}"/>
              </a:ext>
            </a:extLst>
          </p:cNvPr>
          <p:cNvGrpSpPr/>
          <p:nvPr/>
        </p:nvGrpSpPr>
        <p:grpSpPr>
          <a:xfrm>
            <a:off x="4056126" y="2828078"/>
            <a:ext cx="3484879" cy="1040130"/>
            <a:chOff x="4056126" y="2355469"/>
            <a:chExt cx="3484879" cy="1040130"/>
          </a:xfrm>
        </p:grpSpPr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4DCC13BF-E93D-3046-B26F-781933ECAD65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0A9DFC86-3349-B745-AF96-3B504C373FC9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AED588E6-5279-7B48-B0FD-A11F018180A7}"/>
                </a:ext>
              </a:extLst>
            </p:cNvPr>
            <p:cNvSpPr/>
            <p:nvPr/>
          </p:nvSpPr>
          <p:spPr>
            <a:xfrm>
              <a:off x="4408805" y="3099943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8" y="0"/>
                  </a:moveTo>
                  <a:lnTo>
                    <a:pt x="527939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5" y="116459"/>
                  </a:lnTo>
                  <a:lnTo>
                    <a:pt x="583973" y="137148"/>
                  </a:lnTo>
                  <a:lnTo>
                    <a:pt x="570865" y="187833"/>
                  </a:lnTo>
                  <a:lnTo>
                    <a:pt x="541700" y="219622"/>
                  </a:lnTo>
                  <a:lnTo>
                    <a:pt x="528320" y="225552"/>
                  </a:lnTo>
                  <a:lnTo>
                    <a:pt x="531368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8" y="0"/>
                  </a:lnTo>
                  <a:close/>
                </a:path>
                <a:path w="606425" h="235585">
                  <a:moveTo>
                    <a:pt x="74930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30" y="235077"/>
                  </a:lnTo>
                  <a:lnTo>
                    <a:pt x="77978" y="225552"/>
                  </a:lnTo>
                  <a:lnTo>
                    <a:pt x="64541" y="219622"/>
                  </a:lnTo>
                  <a:lnTo>
                    <a:pt x="52974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6" y="46862"/>
                  </a:lnTo>
                  <a:lnTo>
                    <a:pt x="64702" y="15537"/>
                  </a:lnTo>
                  <a:lnTo>
                    <a:pt x="78232" y="9652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12">
            <a:extLst>
              <a:ext uri="{FF2B5EF4-FFF2-40B4-BE49-F238E27FC236}">
                <a16:creationId xmlns:a16="http://schemas.microsoft.com/office/drawing/2014/main" id="{E46BD768-1419-7F45-8C74-20639B288355}"/>
              </a:ext>
            </a:extLst>
          </p:cNvPr>
          <p:cNvSpPr txBox="1"/>
          <p:nvPr/>
        </p:nvSpPr>
        <p:spPr>
          <a:xfrm>
            <a:off x="4188205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9" name="object 13">
            <a:extLst>
              <a:ext uri="{FF2B5EF4-FFF2-40B4-BE49-F238E27FC236}">
                <a16:creationId xmlns:a16="http://schemas.microsoft.com/office/drawing/2014/main" id="{46A75C0C-43B7-7543-A06F-456930200A40}"/>
              </a:ext>
            </a:extLst>
          </p:cNvPr>
          <p:cNvGrpSpPr/>
          <p:nvPr/>
        </p:nvGrpSpPr>
        <p:grpSpPr>
          <a:xfrm>
            <a:off x="6945630" y="3470316"/>
            <a:ext cx="1190625" cy="398145"/>
            <a:chOff x="6945630" y="2997707"/>
            <a:chExt cx="1190625" cy="398145"/>
          </a:xfrm>
        </p:grpSpPr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B095FF37-7B98-504A-960D-62E656BC18E0}"/>
                </a:ext>
              </a:extLst>
            </p:cNvPr>
            <p:cNvSpPr/>
            <p:nvPr/>
          </p:nvSpPr>
          <p:spPr>
            <a:xfrm>
              <a:off x="6964680" y="301675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5">
              <a:extLst>
                <a:ext uri="{FF2B5EF4-FFF2-40B4-BE49-F238E27FC236}">
                  <a16:creationId xmlns:a16="http://schemas.microsoft.com/office/drawing/2014/main" id="{62E9446F-5ED0-A242-B959-27A412978AE8}"/>
                </a:ext>
              </a:extLst>
            </p:cNvPr>
            <p:cNvSpPr/>
            <p:nvPr/>
          </p:nvSpPr>
          <p:spPr>
            <a:xfrm>
              <a:off x="7298817" y="3099942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7" y="0"/>
                  </a:moveTo>
                  <a:lnTo>
                    <a:pt x="527938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4" y="116459"/>
                  </a:lnTo>
                  <a:lnTo>
                    <a:pt x="583973" y="137148"/>
                  </a:lnTo>
                  <a:lnTo>
                    <a:pt x="570864" y="187833"/>
                  </a:lnTo>
                  <a:lnTo>
                    <a:pt x="541700" y="219622"/>
                  </a:lnTo>
                  <a:lnTo>
                    <a:pt x="528319" y="225552"/>
                  </a:lnTo>
                  <a:lnTo>
                    <a:pt x="531367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7" y="0"/>
                  </a:lnTo>
                  <a:close/>
                </a:path>
                <a:path w="60642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878" y="220043"/>
                  </a:lnTo>
                  <a:lnTo>
                    <a:pt x="74929" y="235077"/>
                  </a:lnTo>
                  <a:lnTo>
                    <a:pt x="77850" y="225552"/>
                  </a:lnTo>
                  <a:lnTo>
                    <a:pt x="64488" y="219622"/>
                  </a:lnTo>
                  <a:lnTo>
                    <a:pt x="52959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2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16">
            <a:extLst>
              <a:ext uri="{FF2B5EF4-FFF2-40B4-BE49-F238E27FC236}">
                <a16:creationId xmlns:a16="http://schemas.microsoft.com/office/drawing/2014/main" id="{86C630AE-F14A-6248-82FE-572616B2E872}"/>
              </a:ext>
            </a:extLst>
          </p:cNvPr>
          <p:cNvSpPr txBox="1"/>
          <p:nvPr/>
        </p:nvSpPr>
        <p:spPr>
          <a:xfrm>
            <a:off x="7078218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C9B8EAEC-C6DB-B14E-8E4E-AB9F48BDC012}"/>
              </a:ext>
            </a:extLst>
          </p:cNvPr>
          <p:cNvSpPr/>
          <p:nvPr/>
        </p:nvSpPr>
        <p:spPr>
          <a:xfrm>
            <a:off x="2835401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8">
            <a:extLst>
              <a:ext uri="{FF2B5EF4-FFF2-40B4-BE49-F238E27FC236}">
                <a16:creationId xmlns:a16="http://schemas.microsoft.com/office/drawing/2014/main" id="{9CB3D66A-82F6-9342-9D22-32B830100B02}"/>
              </a:ext>
            </a:extLst>
          </p:cNvPr>
          <p:cNvSpPr txBox="1"/>
          <p:nvPr/>
        </p:nvSpPr>
        <p:spPr>
          <a:xfrm>
            <a:off x="2962148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5" name="object 19">
            <a:extLst>
              <a:ext uri="{FF2B5EF4-FFF2-40B4-BE49-F238E27FC236}">
                <a16:creationId xmlns:a16="http://schemas.microsoft.com/office/drawing/2014/main" id="{DFBA8789-797B-F44E-863E-55104BB9E8C9}"/>
              </a:ext>
            </a:extLst>
          </p:cNvPr>
          <p:cNvSpPr/>
          <p:nvPr/>
        </p:nvSpPr>
        <p:spPr>
          <a:xfrm>
            <a:off x="6414515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0">
            <a:extLst>
              <a:ext uri="{FF2B5EF4-FFF2-40B4-BE49-F238E27FC236}">
                <a16:creationId xmlns:a16="http://schemas.microsoft.com/office/drawing/2014/main" id="{A28CE115-625B-2A49-B214-37ABDCC5B2EB}"/>
              </a:ext>
            </a:extLst>
          </p:cNvPr>
          <p:cNvSpPr txBox="1"/>
          <p:nvPr/>
        </p:nvSpPr>
        <p:spPr>
          <a:xfrm>
            <a:off x="6541769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B2387F4A-DF7A-A942-B3C8-D98D81A6ABB0}"/>
              </a:ext>
            </a:extLst>
          </p:cNvPr>
          <p:cNvSpPr/>
          <p:nvPr/>
        </p:nvSpPr>
        <p:spPr>
          <a:xfrm>
            <a:off x="4625340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2">
            <a:extLst>
              <a:ext uri="{FF2B5EF4-FFF2-40B4-BE49-F238E27FC236}">
                <a16:creationId xmlns:a16="http://schemas.microsoft.com/office/drawing/2014/main" id="{28812EDE-582F-924B-A05B-7D0295FB7478}"/>
              </a:ext>
            </a:extLst>
          </p:cNvPr>
          <p:cNvSpPr txBox="1"/>
          <p:nvPr/>
        </p:nvSpPr>
        <p:spPr>
          <a:xfrm>
            <a:off x="4752085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9" name="object 23">
            <a:extLst>
              <a:ext uri="{FF2B5EF4-FFF2-40B4-BE49-F238E27FC236}">
                <a16:creationId xmlns:a16="http://schemas.microsoft.com/office/drawing/2014/main" id="{24EE2148-0E52-624F-850A-D601C422714B}"/>
              </a:ext>
            </a:extLst>
          </p:cNvPr>
          <p:cNvSpPr/>
          <p:nvPr/>
        </p:nvSpPr>
        <p:spPr>
          <a:xfrm>
            <a:off x="8204454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4">
            <a:extLst>
              <a:ext uri="{FF2B5EF4-FFF2-40B4-BE49-F238E27FC236}">
                <a16:creationId xmlns:a16="http://schemas.microsoft.com/office/drawing/2014/main" id="{28FE82E7-A197-924E-A243-B08CB4C90757}"/>
              </a:ext>
            </a:extLst>
          </p:cNvPr>
          <p:cNvSpPr txBox="1"/>
          <p:nvPr/>
        </p:nvSpPr>
        <p:spPr>
          <a:xfrm>
            <a:off x="8331707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9BCEDC0-2820-5544-BEFD-3A27A86EDB3B}"/>
              </a:ext>
            </a:extLst>
          </p:cNvPr>
          <p:cNvCxnSpPr>
            <a:cxnSpLocks/>
          </p:cNvCxnSpPr>
          <p:nvPr/>
        </p:nvCxnSpPr>
        <p:spPr>
          <a:xfrm flipH="1">
            <a:off x="3369704" y="3846973"/>
            <a:ext cx="1187005" cy="673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8E2A889-60A6-724D-BCC0-81D455B39183}"/>
              </a:ext>
            </a:extLst>
          </p:cNvPr>
          <p:cNvCxnSpPr/>
          <p:nvPr/>
        </p:nvCxnSpPr>
        <p:spPr>
          <a:xfrm>
            <a:off x="4594415" y="3849411"/>
            <a:ext cx="575500" cy="6506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B7317E1-5CD7-9248-A862-A5AF7741B8F6}"/>
              </a:ext>
            </a:extLst>
          </p:cNvPr>
          <p:cNvCxnSpPr>
            <a:endCxn id="66" idx="0"/>
          </p:cNvCxnSpPr>
          <p:nvPr/>
        </p:nvCxnSpPr>
        <p:spPr>
          <a:xfrm flipH="1">
            <a:off x="6959599" y="3845856"/>
            <a:ext cx="497396" cy="65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0483D7A-C02A-854D-9290-2350FD52DD78}"/>
              </a:ext>
            </a:extLst>
          </p:cNvPr>
          <p:cNvCxnSpPr/>
          <p:nvPr/>
        </p:nvCxnSpPr>
        <p:spPr>
          <a:xfrm>
            <a:off x="7447438" y="3856270"/>
            <a:ext cx="1333278" cy="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CFDAC5C8-F330-1C4C-ADD1-339E7323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886934"/>
            <a:ext cx="10020300" cy="1193800"/>
          </a:xfrm>
          <a:prstGeom prst="rect">
            <a:avLst/>
          </a:prstGeom>
        </p:spPr>
      </p:pic>
      <p:sp>
        <p:nvSpPr>
          <p:cNvPr id="39" name="object 18">
            <a:extLst>
              <a:ext uri="{FF2B5EF4-FFF2-40B4-BE49-F238E27FC236}">
                <a16:creationId xmlns:a16="http://schemas.microsoft.com/office/drawing/2014/main" id="{51007708-65F2-4148-861A-34B10AD37F8E}"/>
              </a:ext>
            </a:extLst>
          </p:cNvPr>
          <p:cNvSpPr txBox="1"/>
          <p:nvPr/>
        </p:nvSpPr>
        <p:spPr>
          <a:xfrm>
            <a:off x="11200383" y="2495529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B18B7DF3-3C21-F343-BCF8-C8D231DD7A2D}"/>
              </a:ext>
            </a:extLst>
          </p:cNvPr>
          <p:cNvSpPr txBox="1"/>
          <p:nvPr/>
        </p:nvSpPr>
        <p:spPr>
          <a:xfrm>
            <a:off x="11200383" y="3529817"/>
            <a:ext cx="20701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F958237-E341-164D-BEA4-B75795876381}"/>
              </a:ext>
            </a:extLst>
          </p:cNvPr>
          <p:cNvSpPr txBox="1"/>
          <p:nvPr/>
        </p:nvSpPr>
        <p:spPr>
          <a:xfrm>
            <a:off x="11200383" y="4502636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3327B771-8D50-4C4C-A29B-AB0E8E0DFC53}"/>
              </a:ext>
            </a:extLst>
          </p:cNvPr>
          <p:cNvSpPr txBox="1"/>
          <p:nvPr/>
        </p:nvSpPr>
        <p:spPr>
          <a:xfrm>
            <a:off x="11200383" y="5542513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FD74AF83-11C8-7E45-A6A9-3A5356830339}"/>
              </a:ext>
            </a:extLst>
          </p:cNvPr>
          <p:cNvCxnSpPr/>
          <p:nvPr/>
        </p:nvCxnSpPr>
        <p:spPr>
          <a:xfrm>
            <a:off x="6959599" y="2681555"/>
            <a:ext cx="387963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A99FD803-292F-5241-938C-46FC0037504D}"/>
              </a:ext>
            </a:extLst>
          </p:cNvPr>
          <p:cNvCxnSpPr>
            <a:cxnSpLocks/>
          </p:cNvCxnSpPr>
          <p:nvPr/>
        </p:nvCxnSpPr>
        <p:spPr>
          <a:xfrm>
            <a:off x="8204454" y="3666162"/>
            <a:ext cx="2874431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25CD4BE7-C9C4-CA42-8F71-98F782B1749C}"/>
              </a:ext>
            </a:extLst>
          </p:cNvPr>
          <p:cNvCxnSpPr>
            <a:cxnSpLocks/>
          </p:cNvCxnSpPr>
          <p:nvPr/>
        </p:nvCxnSpPr>
        <p:spPr>
          <a:xfrm>
            <a:off x="9382129" y="4691866"/>
            <a:ext cx="1686593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EC8A4922-9286-ED4E-A4E6-315F77E443AC}"/>
              </a:ext>
            </a:extLst>
          </p:cNvPr>
          <p:cNvCxnSpPr>
            <a:cxnSpLocks/>
          </p:cNvCxnSpPr>
          <p:nvPr/>
        </p:nvCxnSpPr>
        <p:spPr>
          <a:xfrm>
            <a:off x="10654301" y="5717569"/>
            <a:ext cx="451849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bject 26">
            <a:extLst>
              <a:ext uri="{FF2B5EF4-FFF2-40B4-BE49-F238E27FC236}">
                <a16:creationId xmlns:a16="http://schemas.microsoft.com/office/drawing/2014/main" id="{3473AE88-1554-2041-A07B-A5F1C522B3F1}"/>
              </a:ext>
            </a:extLst>
          </p:cNvPr>
          <p:cNvSpPr txBox="1"/>
          <p:nvPr/>
        </p:nvSpPr>
        <p:spPr>
          <a:xfrm>
            <a:off x="1145371" y="3868015"/>
            <a:ext cx="1294130" cy="6718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spc="-20" dirty="0" err="1">
                <a:solidFill>
                  <a:srgbClr val="FF0000"/>
                </a:solidFill>
                <a:latin typeface="宋体"/>
                <a:cs typeface="宋体"/>
              </a:rPr>
              <a:t>递归树深</a:t>
            </a:r>
            <a:r>
              <a:rPr sz="2000" spc="-50" dirty="0" err="1">
                <a:solidFill>
                  <a:srgbClr val="FF0000"/>
                </a:solidFill>
                <a:latin typeface="宋体"/>
                <a:cs typeface="宋体"/>
              </a:rPr>
              <a:t>度</a:t>
            </a:r>
            <a:endParaRPr sz="2000" dirty="0">
              <a:latin typeface="宋体"/>
              <a:cs typeface="宋体"/>
            </a:endParaRPr>
          </a:p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73" name="object 19">
            <a:extLst>
              <a:ext uri="{FF2B5EF4-FFF2-40B4-BE49-F238E27FC236}">
                <a16:creationId xmlns:a16="http://schemas.microsoft.com/office/drawing/2014/main" id="{186EE374-79F6-0C4E-B8F0-856194986C95}"/>
              </a:ext>
            </a:extLst>
          </p:cNvPr>
          <p:cNvSpPr/>
          <p:nvPr/>
        </p:nvSpPr>
        <p:spPr>
          <a:xfrm>
            <a:off x="912136" y="2516389"/>
            <a:ext cx="218440" cy="3240405"/>
          </a:xfrm>
          <a:custGeom>
            <a:avLst/>
            <a:gdLst/>
            <a:ahLst/>
            <a:cxnLst/>
            <a:rect l="l" t="t" r="r" b="b"/>
            <a:pathLst>
              <a:path w="218439" h="3240404">
                <a:moveTo>
                  <a:pt x="217931" y="0"/>
                </a:moveTo>
                <a:lnTo>
                  <a:pt x="175510" y="1426"/>
                </a:lnTo>
                <a:lnTo>
                  <a:pt x="140874" y="5318"/>
                </a:lnTo>
                <a:lnTo>
                  <a:pt x="117526" y="11090"/>
                </a:lnTo>
                <a:lnTo>
                  <a:pt x="108965" y="18161"/>
                </a:lnTo>
                <a:lnTo>
                  <a:pt x="108965" y="1601851"/>
                </a:lnTo>
                <a:lnTo>
                  <a:pt x="100405" y="1608921"/>
                </a:lnTo>
                <a:lnTo>
                  <a:pt x="77057" y="1614693"/>
                </a:lnTo>
                <a:lnTo>
                  <a:pt x="42421" y="1618585"/>
                </a:lnTo>
                <a:lnTo>
                  <a:pt x="0" y="1620012"/>
                </a:lnTo>
                <a:lnTo>
                  <a:pt x="42421" y="1621438"/>
                </a:lnTo>
                <a:lnTo>
                  <a:pt x="77057" y="1625330"/>
                </a:lnTo>
                <a:lnTo>
                  <a:pt x="100405" y="1631102"/>
                </a:lnTo>
                <a:lnTo>
                  <a:pt x="108965" y="1638173"/>
                </a:lnTo>
                <a:lnTo>
                  <a:pt x="108965" y="3221863"/>
                </a:lnTo>
                <a:lnTo>
                  <a:pt x="117526" y="3228933"/>
                </a:lnTo>
                <a:lnTo>
                  <a:pt x="140874" y="3234705"/>
                </a:lnTo>
                <a:lnTo>
                  <a:pt x="175510" y="3238597"/>
                </a:lnTo>
                <a:lnTo>
                  <a:pt x="217931" y="32400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17">
            <a:extLst>
              <a:ext uri="{FF2B5EF4-FFF2-40B4-BE49-F238E27FC236}">
                <a16:creationId xmlns:a16="http://schemas.microsoft.com/office/drawing/2014/main" id="{8682B7FD-F793-5A4F-87FA-8201D6F31B0D}"/>
              </a:ext>
            </a:extLst>
          </p:cNvPr>
          <p:cNvSpPr/>
          <p:nvPr/>
        </p:nvSpPr>
        <p:spPr>
          <a:xfrm>
            <a:off x="3227556" y="6084200"/>
            <a:ext cx="330835" cy="235585"/>
          </a:xfrm>
          <a:custGeom>
            <a:avLst/>
            <a:gdLst/>
            <a:ahLst/>
            <a:cxnLst/>
            <a:rect l="l" t="t" r="r" b="b"/>
            <a:pathLst>
              <a:path w="330835" h="235585">
                <a:moveTo>
                  <a:pt x="255524" y="0"/>
                </a:moveTo>
                <a:lnTo>
                  <a:pt x="252222" y="9537"/>
                </a:lnTo>
                <a:lnTo>
                  <a:pt x="265822" y="15443"/>
                </a:lnTo>
                <a:lnTo>
                  <a:pt x="277494" y="23617"/>
                </a:lnTo>
                <a:lnTo>
                  <a:pt x="301242" y="61502"/>
                </a:lnTo>
                <a:lnTo>
                  <a:pt x="309118" y="116344"/>
                </a:lnTo>
                <a:lnTo>
                  <a:pt x="308238" y="137071"/>
                </a:lnTo>
                <a:lnTo>
                  <a:pt x="295148" y="187832"/>
                </a:lnTo>
                <a:lnTo>
                  <a:pt x="265983" y="219567"/>
                </a:lnTo>
                <a:lnTo>
                  <a:pt x="252602" y="225501"/>
                </a:lnTo>
                <a:lnTo>
                  <a:pt x="255524" y="235038"/>
                </a:lnTo>
                <a:lnTo>
                  <a:pt x="300458" y="208356"/>
                </a:lnTo>
                <a:lnTo>
                  <a:pt x="325659" y="159100"/>
                </a:lnTo>
                <a:lnTo>
                  <a:pt x="330454" y="117576"/>
                </a:lnTo>
                <a:lnTo>
                  <a:pt x="329241" y="96028"/>
                </a:lnTo>
                <a:lnTo>
                  <a:pt x="319577" y="57838"/>
                </a:lnTo>
                <a:lnTo>
                  <a:pt x="287528" y="15070"/>
                </a:lnTo>
                <a:lnTo>
                  <a:pt x="272573" y="6153"/>
                </a:lnTo>
                <a:lnTo>
                  <a:pt x="255524" y="0"/>
                </a:lnTo>
                <a:close/>
              </a:path>
              <a:path w="330835" h="235585">
                <a:moveTo>
                  <a:pt x="75057" y="0"/>
                </a:moveTo>
                <a:lnTo>
                  <a:pt x="30194" y="26751"/>
                </a:lnTo>
                <a:lnTo>
                  <a:pt x="4857" y="76115"/>
                </a:lnTo>
                <a:lnTo>
                  <a:pt x="0" y="117576"/>
                </a:lnTo>
                <a:lnTo>
                  <a:pt x="1214" y="139172"/>
                </a:lnTo>
                <a:lnTo>
                  <a:pt x="10929" y="177364"/>
                </a:lnTo>
                <a:lnTo>
                  <a:pt x="42957" y="219998"/>
                </a:lnTo>
                <a:lnTo>
                  <a:pt x="75057" y="235038"/>
                </a:lnTo>
                <a:lnTo>
                  <a:pt x="77977" y="225501"/>
                </a:lnTo>
                <a:lnTo>
                  <a:pt x="64597" y="219567"/>
                </a:lnTo>
                <a:lnTo>
                  <a:pt x="53038" y="211310"/>
                </a:lnTo>
                <a:lnTo>
                  <a:pt x="29338" y="172814"/>
                </a:lnTo>
                <a:lnTo>
                  <a:pt x="21462" y="116344"/>
                </a:lnTo>
                <a:lnTo>
                  <a:pt x="22342" y="96287"/>
                </a:lnTo>
                <a:lnTo>
                  <a:pt x="35433" y="46774"/>
                </a:lnTo>
                <a:lnTo>
                  <a:pt x="64811" y="15443"/>
                </a:lnTo>
                <a:lnTo>
                  <a:pt x="78359" y="9537"/>
                </a:lnTo>
                <a:lnTo>
                  <a:pt x="750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18">
            <a:extLst>
              <a:ext uri="{FF2B5EF4-FFF2-40B4-BE49-F238E27FC236}">
                <a16:creationId xmlns:a16="http://schemas.microsoft.com/office/drawing/2014/main" id="{AE97AA6B-01F6-8246-B3DB-0CD918687A5D}"/>
              </a:ext>
            </a:extLst>
          </p:cNvPr>
          <p:cNvSpPr txBox="1"/>
          <p:nvPr/>
        </p:nvSpPr>
        <p:spPr>
          <a:xfrm>
            <a:off x="3034516" y="6007949"/>
            <a:ext cx="453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𝑻</a:t>
            </a:r>
            <a:r>
              <a:rPr sz="2000" spc="37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5" name="object 19">
            <a:extLst>
              <a:ext uri="{FF2B5EF4-FFF2-40B4-BE49-F238E27FC236}">
                <a16:creationId xmlns:a16="http://schemas.microsoft.com/office/drawing/2014/main" id="{3117042B-4BC7-1041-8FD1-9F79721BA649}"/>
              </a:ext>
            </a:extLst>
          </p:cNvPr>
          <p:cNvSpPr/>
          <p:nvPr/>
        </p:nvSpPr>
        <p:spPr>
          <a:xfrm>
            <a:off x="4120619" y="6084200"/>
            <a:ext cx="948055" cy="235585"/>
          </a:xfrm>
          <a:custGeom>
            <a:avLst/>
            <a:gdLst/>
            <a:ahLst/>
            <a:cxnLst/>
            <a:rect l="l" t="t" r="r" b="b"/>
            <a:pathLst>
              <a:path w="948053" h="235585">
                <a:moveTo>
                  <a:pt x="872744" y="0"/>
                </a:moveTo>
                <a:lnTo>
                  <a:pt x="869442" y="9537"/>
                </a:lnTo>
                <a:lnTo>
                  <a:pt x="883042" y="15443"/>
                </a:lnTo>
                <a:lnTo>
                  <a:pt x="894715" y="23617"/>
                </a:lnTo>
                <a:lnTo>
                  <a:pt x="918462" y="61502"/>
                </a:lnTo>
                <a:lnTo>
                  <a:pt x="926338" y="116344"/>
                </a:lnTo>
                <a:lnTo>
                  <a:pt x="925458" y="137071"/>
                </a:lnTo>
                <a:lnTo>
                  <a:pt x="912368" y="187832"/>
                </a:lnTo>
                <a:lnTo>
                  <a:pt x="883203" y="219567"/>
                </a:lnTo>
                <a:lnTo>
                  <a:pt x="869823" y="225501"/>
                </a:lnTo>
                <a:lnTo>
                  <a:pt x="872744" y="235038"/>
                </a:lnTo>
                <a:lnTo>
                  <a:pt x="917678" y="208356"/>
                </a:lnTo>
                <a:lnTo>
                  <a:pt x="942879" y="159100"/>
                </a:lnTo>
                <a:lnTo>
                  <a:pt x="947674" y="117576"/>
                </a:lnTo>
                <a:lnTo>
                  <a:pt x="946461" y="96028"/>
                </a:lnTo>
                <a:lnTo>
                  <a:pt x="936797" y="57838"/>
                </a:lnTo>
                <a:lnTo>
                  <a:pt x="904748" y="15070"/>
                </a:lnTo>
                <a:lnTo>
                  <a:pt x="889793" y="6153"/>
                </a:lnTo>
                <a:lnTo>
                  <a:pt x="872744" y="0"/>
                </a:lnTo>
                <a:close/>
              </a:path>
              <a:path w="948053" h="235585">
                <a:moveTo>
                  <a:pt x="75057" y="0"/>
                </a:moveTo>
                <a:lnTo>
                  <a:pt x="30194" y="26751"/>
                </a:lnTo>
                <a:lnTo>
                  <a:pt x="4857" y="76115"/>
                </a:lnTo>
                <a:lnTo>
                  <a:pt x="0" y="117576"/>
                </a:lnTo>
                <a:lnTo>
                  <a:pt x="1214" y="139172"/>
                </a:lnTo>
                <a:lnTo>
                  <a:pt x="10929" y="177364"/>
                </a:lnTo>
                <a:lnTo>
                  <a:pt x="42957" y="219998"/>
                </a:lnTo>
                <a:lnTo>
                  <a:pt x="75057" y="235038"/>
                </a:lnTo>
                <a:lnTo>
                  <a:pt x="77978" y="225501"/>
                </a:lnTo>
                <a:lnTo>
                  <a:pt x="64597" y="219567"/>
                </a:lnTo>
                <a:lnTo>
                  <a:pt x="53038" y="211310"/>
                </a:lnTo>
                <a:lnTo>
                  <a:pt x="29338" y="172814"/>
                </a:lnTo>
                <a:lnTo>
                  <a:pt x="21462" y="116344"/>
                </a:lnTo>
                <a:lnTo>
                  <a:pt x="22342" y="96287"/>
                </a:lnTo>
                <a:lnTo>
                  <a:pt x="35433" y="46774"/>
                </a:lnTo>
                <a:lnTo>
                  <a:pt x="64811" y="15443"/>
                </a:lnTo>
                <a:lnTo>
                  <a:pt x="78359" y="9537"/>
                </a:lnTo>
                <a:lnTo>
                  <a:pt x="750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20">
            <a:extLst>
              <a:ext uri="{FF2B5EF4-FFF2-40B4-BE49-F238E27FC236}">
                <a16:creationId xmlns:a16="http://schemas.microsoft.com/office/drawing/2014/main" id="{9FC222A9-7344-294C-B923-8192CA5FDF90}"/>
              </a:ext>
            </a:extLst>
          </p:cNvPr>
          <p:cNvSpPr txBox="1"/>
          <p:nvPr/>
        </p:nvSpPr>
        <p:spPr>
          <a:xfrm>
            <a:off x="3639544" y="6007949"/>
            <a:ext cx="1358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000" spc="3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000" spc="-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77" name="object 24">
            <a:extLst>
              <a:ext uri="{FF2B5EF4-FFF2-40B4-BE49-F238E27FC236}">
                <a16:creationId xmlns:a16="http://schemas.microsoft.com/office/drawing/2014/main" id="{D70D2A07-2E6C-0645-8EB2-AA228370BCD1}"/>
              </a:ext>
            </a:extLst>
          </p:cNvPr>
          <p:cNvSpPr txBox="1"/>
          <p:nvPr/>
        </p:nvSpPr>
        <p:spPr>
          <a:xfrm>
            <a:off x="5295003" y="5936117"/>
            <a:ext cx="2463800" cy="40203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二者相乘为总代价</a:t>
            </a:r>
            <a:endParaRPr sz="2400" dirty="0">
              <a:solidFill>
                <a:srgbClr val="FF0000"/>
              </a:solidFill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47083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A3D016C-03D8-6F49-B3E3-B8D985E54DB0}"/>
              </a:ext>
            </a:extLst>
          </p:cNvPr>
          <p:cNvSpPr txBox="1"/>
          <p:nvPr/>
        </p:nvSpPr>
        <p:spPr>
          <a:xfrm>
            <a:off x="780808" y="1073669"/>
            <a:ext cx="27343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输入规模为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06370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06370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00655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06013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10929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21522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672468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205C3A0B-7A02-2B4F-8A35-8E995E6B1A69}"/>
              </a:ext>
            </a:extLst>
          </p:cNvPr>
          <p:cNvSpPr/>
          <p:nvPr/>
        </p:nvSpPr>
        <p:spPr>
          <a:xfrm>
            <a:off x="5807602" y="2629657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3"/>
                </a:lnTo>
                <a:lnTo>
                  <a:pt x="59944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9D4277C2-B781-3F4C-BCD3-EEB4149CEC7F}"/>
              </a:ext>
            </a:extLst>
          </p:cNvPr>
          <p:cNvSpPr txBox="1"/>
          <p:nvPr/>
        </p:nvSpPr>
        <p:spPr>
          <a:xfrm>
            <a:off x="6256927" y="2636260"/>
            <a:ext cx="1898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9" name="object 5">
            <a:extLst>
              <a:ext uri="{FF2B5EF4-FFF2-40B4-BE49-F238E27FC236}">
                <a16:creationId xmlns:a16="http://schemas.microsoft.com/office/drawing/2014/main" id="{67EE8907-B12D-3443-839F-9C710B888936}"/>
              </a:ext>
            </a:extLst>
          </p:cNvPr>
          <p:cNvGrpSpPr/>
          <p:nvPr/>
        </p:nvGrpSpPr>
        <p:grpSpPr>
          <a:xfrm>
            <a:off x="4343800" y="2971922"/>
            <a:ext cx="3484879" cy="1040130"/>
            <a:chOff x="4056126" y="3269869"/>
            <a:chExt cx="3484879" cy="1040130"/>
          </a:xfrm>
        </p:grpSpPr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C0BA5923-A186-6640-A05F-F44817C2F29E}"/>
                </a:ext>
              </a:extLst>
            </p:cNvPr>
            <p:cNvSpPr/>
            <p:nvPr/>
          </p:nvSpPr>
          <p:spPr>
            <a:xfrm>
              <a:off x="4651248" y="32698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7">
              <a:extLst>
                <a:ext uri="{FF2B5EF4-FFF2-40B4-BE49-F238E27FC236}">
                  <a16:creationId xmlns:a16="http://schemas.microsoft.com/office/drawing/2014/main" id="{2C3176FB-45CC-EC41-BF41-7F5D02647EE8}"/>
                </a:ext>
              </a:extLst>
            </p:cNvPr>
            <p:cNvSpPr/>
            <p:nvPr/>
          </p:nvSpPr>
          <p:spPr>
            <a:xfrm>
              <a:off x="4075176" y="39311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4"/>
                  </a:lnTo>
                  <a:lnTo>
                    <a:pt x="59944" y="359664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8">
            <a:extLst>
              <a:ext uri="{FF2B5EF4-FFF2-40B4-BE49-F238E27FC236}">
                <a16:creationId xmlns:a16="http://schemas.microsoft.com/office/drawing/2014/main" id="{6B7DEE69-6C9A-6047-A479-606307E0C6C4}"/>
              </a:ext>
            </a:extLst>
          </p:cNvPr>
          <p:cNvSpPr txBox="1"/>
          <p:nvPr/>
        </p:nvSpPr>
        <p:spPr>
          <a:xfrm>
            <a:off x="4674000" y="3640068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1C6DF9CD-CE1E-E046-80B5-0522F99612BB}"/>
              </a:ext>
            </a:extLst>
          </p:cNvPr>
          <p:cNvSpPr/>
          <p:nvPr/>
        </p:nvSpPr>
        <p:spPr>
          <a:xfrm>
            <a:off x="7252354" y="363321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4"/>
                </a:lnTo>
                <a:lnTo>
                  <a:pt x="59944" y="359664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D523C266-A743-D64E-BBCF-89694E5D6278}"/>
              </a:ext>
            </a:extLst>
          </p:cNvPr>
          <p:cNvSpPr txBox="1"/>
          <p:nvPr/>
        </p:nvSpPr>
        <p:spPr>
          <a:xfrm>
            <a:off x="7564012" y="3640068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07DEA043-66F3-F84F-ABF7-88D43B7B9C5F}"/>
              </a:ext>
            </a:extLst>
          </p:cNvPr>
          <p:cNvSpPr/>
          <p:nvPr/>
        </p:nvSpPr>
        <p:spPr>
          <a:xfrm>
            <a:off x="3123075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2">
            <a:extLst>
              <a:ext uri="{FF2B5EF4-FFF2-40B4-BE49-F238E27FC236}">
                <a16:creationId xmlns:a16="http://schemas.microsoft.com/office/drawing/2014/main" id="{57B1B2DE-9188-9149-A408-DB5786D4C5CE}"/>
              </a:ext>
            </a:extLst>
          </p:cNvPr>
          <p:cNvSpPr txBox="1"/>
          <p:nvPr/>
        </p:nvSpPr>
        <p:spPr>
          <a:xfrm>
            <a:off x="3434225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10847693-AFDA-1747-8477-98652CC0F6C7}"/>
              </a:ext>
            </a:extLst>
          </p:cNvPr>
          <p:cNvSpPr/>
          <p:nvPr/>
        </p:nvSpPr>
        <p:spPr>
          <a:xfrm>
            <a:off x="6702189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4">
            <a:extLst>
              <a:ext uri="{FF2B5EF4-FFF2-40B4-BE49-F238E27FC236}">
                <a16:creationId xmlns:a16="http://schemas.microsoft.com/office/drawing/2014/main" id="{667F3CC9-AC6D-4D48-97E4-CD81936D0B4E}"/>
              </a:ext>
            </a:extLst>
          </p:cNvPr>
          <p:cNvSpPr txBox="1"/>
          <p:nvPr/>
        </p:nvSpPr>
        <p:spPr>
          <a:xfrm>
            <a:off x="7013847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E25CF5A7-B53E-9D45-92F2-CE191D97017B}"/>
              </a:ext>
            </a:extLst>
          </p:cNvPr>
          <p:cNvSpPr/>
          <p:nvPr/>
        </p:nvSpPr>
        <p:spPr>
          <a:xfrm>
            <a:off x="4913014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23E1EA0E-DB7F-5842-94FA-6D6C7F90957C}"/>
              </a:ext>
            </a:extLst>
          </p:cNvPr>
          <p:cNvSpPr txBox="1"/>
          <p:nvPr/>
        </p:nvSpPr>
        <p:spPr>
          <a:xfrm>
            <a:off x="5224164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17">
            <a:extLst>
              <a:ext uri="{FF2B5EF4-FFF2-40B4-BE49-F238E27FC236}">
                <a16:creationId xmlns:a16="http://schemas.microsoft.com/office/drawing/2014/main" id="{0BF6AC9A-E09C-C548-AA66-7FE3AB35C057}"/>
              </a:ext>
            </a:extLst>
          </p:cNvPr>
          <p:cNvSpPr/>
          <p:nvPr/>
        </p:nvSpPr>
        <p:spPr>
          <a:xfrm>
            <a:off x="8492128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8">
            <a:extLst>
              <a:ext uri="{FF2B5EF4-FFF2-40B4-BE49-F238E27FC236}">
                <a16:creationId xmlns:a16="http://schemas.microsoft.com/office/drawing/2014/main" id="{105E3363-BFC4-034B-AD01-1FB1799F2021}"/>
              </a:ext>
            </a:extLst>
          </p:cNvPr>
          <p:cNvSpPr txBox="1"/>
          <p:nvPr/>
        </p:nvSpPr>
        <p:spPr>
          <a:xfrm>
            <a:off x="8803785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3" name="object 19">
            <a:extLst>
              <a:ext uri="{FF2B5EF4-FFF2-40B4-BE49-F238E27FC236}">
                <a16:creationId xmlns:a16="http://schemas.microsoft.com/office/drawing/2014/main" id="{853E6473-079A-5E4B-B25F-3CCC0CDBA355}"/>
              </a:ext>
            </a:extLst>
          </p:cNvPr>
          <p:cNvGrpSpPr/>
          <p:nvPr/>
        </p:nvGrpSpPr>
        <p:grpSpPr>
          <a:xfrm>
            <a:off x="2079135" y="3975983"/>
            <a:ext cx="6988809" cy="2044064"/>
            <a:chOff x="1791461" y="4273930"/>
            <a:chExt cx="6988809" cy="2044064"/>
          </a:xfrm>
        </p:grpSpPr>
        <p:sp>
          <p:nvSpPr>
            <p:cNvPr id="34" name="object 20">
              <a:extLst>
                <a:ext uri="{FF2B5EF4-FFF2-40B4-BE49-F238E27FC236}">
                  <a16:creationId xmlns:a16="http://schemas.microsoft.com/office/drawing/2014/main" id="{CA1B15D4-0160-014D-A1D9-C8D18B7FF444}"/>
                </a:ext>
              </a:extLst>
            </p:cNvPr>
            <p:cNvSpPr/>
            <p:nvPr/>
          </p:nvSpPr>
          <p:spPr>
            <a:xfrm>
              <a:off x="3411474" y="4273930"/>
              <a:ext cx="5368925" cy="661035"/>
            </a:xfrm>
            <a:custGeom>
              <a:avLst/>
              <a:gdLst/>
              <a:ahLst/>
              <a:cxnLst/>
              <a:rect l="l" t="t" r="r" b="b"/>
              <a:pathLst>
                <a:path w="5368925" h="661035">
                  <a:moveTo>
                    <a:pt x="1789938" y="660654"/>
                  </a:moveTo>
                  <a:lnTo>
                    <a:pt x="1775002" y="600710"/>
                  </a:lnTo>
                  <a:lnTo>
                    <a:pt x="1759077" y="536702"/>
                  </a:lnTo>
                  <a:lnTo>
                    <a:pt x="1730133" y="561416"/>
                  </a:lnTo>
                  <a:lnTo>
                    <a:pt x="1254252" y="4572"/>
                  </a:lnTo>
                  <a:lnTo>
                    <a:pt x="1239596" y="17043"/>
                  </a:lnTo>
                  <a:lnTo>
                    <a:pt x="1230757" y="0"/>
                  </a:lnTo>
                  <a:lnTo>
                    <a:pt x="92646" y="591146"/>
                  </a:lnTo>
                  <a:lnTo>
                    <a:pt x="75057" y="557276"/>
                  </a:lnTo>
                  <a:lnTo>
                    <a:pt x="0" y="660654"/>
                  </a:lnTo>
                  <a:lnTo>
                    <a:pt x="127762" y="658749"/>
                  </a:lnTo>
                  <a:lnTo>
                    <a:pt x="114757" y="633730"/>
                  </a:lnTo>
                  <a:lnTo>
                    <a:pt x="110210" y="624967"/>
                  </a:lnTo>
                  <a:lnTo>
                    <a:pt x="1235062" y="40652"/>
                  </a:lnTo>
                  <a:lnTo>
                    <a:pt x="1701165" y="586155"/>
                  </a:lnTo>
                  <a:lnTo>
                    <a:pt x="1672209" y="610870"/>
                  </a:lnTo>
                  <a:lnTo>
                    <a:pt x="1789938" y="660654"/>
                  </a:lnTo>
                  <a:close/>
                </a:path>
                <a:path w="5368925" h="661035">
                  <a:moveTo>
                    <a:pt x="5368798" y="660654"/>
                  </a:moveTo>
                  <a:lnTo>
                    <a:pt x="5349240" y="633730"/>
                  </a:lnTo>
                  <a:lnTo>
                    <a:pt x="5293741" y="557276"/>
                  </a:lnTo>
                  <a:lnTo>
                    <a:pt x="5276139" y="591146"/>
                  </a:lnTo>
                  <a:lnTo>
                    <a:pt x="4138041" y="0"/>
                  </a:lnTo>
                  <a:lnTo>
                    <a:pt x="4129278" y="16891"/>
                  </a:lnTo>
                  <a:lnTo>
                    <a:pt x="4114800" y="4572"/>
                  </a:lnTo>
                  <a:lnTo>
                    <a:pt x="3638905" y="561416"/>
                  </a:lnTo>
                  <a:lnTo>
                    <a:pt x="3609975" y="536702"/>
                  </a:lnTo>
                  <a:lnTo>
                    <a:pt x="3579114" y="660654"/>
                  </a:lnTo>
                  <a:lnTo>
                    <a:pt x="3696843" y="610870"/>
                  </a:lnTo>
                  <a:lnTo>
                    <a:pt x="3684943" y="600710"/>
                  </a:lnTo>
                  <a:lnTo>
                    <a:pt x="3667874" y="586155"/>
                  </a:lnTo>
                  <a:lnTo>
                    <a:pt x="4133900" y="40741"/>
                  </a:lnTo>
                  <a:lnTo>
                    <a:pt x="5258574" y="624967"/>
                  </a:lnTo>
                  <a:lnTo>
                    <a:pt x="5241036" y="658749"/>
                  </a:lnTo>
                  <a:lnTo>
                    <a:pt x="5368798" y="660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1">
              <a:extLst>
                <a:ext uri="{FF2B5EF4-FFF2-40B4-BE49-F238E27FC236}">
                  <a16:creationId xmlns:a16="http://schemas.microsoft.com/office/drawing/2014/main" id="{84DF1E9A-68B3-5148-ADE1-9AF975A908FB}"/>
                </a:ext>
              </a:extLst>
            </p:cNvPr>
            <p:cNvSpPr/>
            <p:nvPr/>
          </p:nvSpPr>
          <p:spPr>
            <a:xfrm>
              <a:off x="1810511" y="593902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4"/>
                  </a:moveTo>
                  <a:lnTo>
                    <a:pt x="4704" y="36609"/>
                  </a:lnTo>
                  <a:lnTo>
                    <a:pt x="17541" y="17556"/>
                  </a:lnTo>
                  <a:lnTo>
                    <a:pt x="36593" y="4710"/>
                  </a:lnTo>
                  <a:lnTo>
                    <a:pt x="59943" y="0"/>
                  </a:lnTo>
                  <a:lnTo>
                    <a:pt x="1092200" y="0"/>
                  </a:lnTo>
                  <a:lnTo>
                    <a:pt x="1115550" y="4710"/>
                  </a:lnTo>
                  <a:lnTo>
                    <a:pt x="1134602" y="17556"/>
                  </a:lnTo>
                  <a:lnTo>
                    <a:pt x="1147439" y="36609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54"/>
                  </a:lnTo>
                  <a:lnTo>
                    <a:pt x="1134602" y="342107"/>
                  </a:lnTo>
                  <a:lnTo>
                    <a:pt x="1115550" y="354953"/>
                  </a:lnTo>
                  <a:lnTo>
                    <a:pt x="1092200" y="359664"/>
                  </a:lnTo>
                  <a:lnTo>
                    <a:pt x="59943" y="359664"/>
                  </a:lnTo>
                  <a:lnTo>
                    <a:pt x="36593" y="354953"/>
                  </a:lnTo>
                  <a:lnTo>
                    <a:pt x="17541" y="342107"/>
                  </a:lnTo>
                  <a:lnTo>
                    <a:pt x="4704" y="323054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22">
            <a:extLst>
              <a:ext uri="{FF2B5EF4-FFF2-40B4-BE49-F238E27FC236}">
                <a16:creationId xmlns:a16="http://schemas.microsoft.com/office/drawing/2014/main" id="{FD0F5A33-C702-DE44-8701-3EF66E112795}"/>
              </a:ext>
            </a:extLst>
          </p:cNvPr>
          <p:cNvSpPr txBox="1"/>
          <p:nvPr/>
        </p:nvSpPr>
        <p:spPr>
          <a:xfrm>
            <a:off x="2554369" y="5647938"/>
            <a:ext cx="177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7" name="object 23">
            <a:extLst>
              <a:ext uri="{FF2B5EF4-FFF2-40B4-BE49-F238E27FC236}">
                <a16:creationId xmlns:a16="http://schemas.microsoft.com/office/drawing/2014/main" id="{9F144761-BB88-8D44-B8C4-351927D98E89}"/>
              </a:ext>
            </a:extLst>
          </p:cNvPr>
          <p:cNvSpPr/>
          <p:nvPr/>
        </p:nvSpPr>
        <p:spPr>
          <a:xfrm>
            <a:off x="9719709" y="564108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609"/>
                </a:lnTo>
                <a:lnTo>
                  <a:pt x="17541" y="17556"/>
                </a:lnTo>
                <a:lnTo>
                  <a:pt x="36593" y="4710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10"/>
                </a:lnTo>
                <a:lnTo>
                  <a:pt x="1134602" y="17556"/>
                </a:lnTo>
                <a:lnTo>
                  <a:pt x="1147439" y="36609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54"/>
                </a:lnTo>
                <a:lnTo>
                  <a:pt x="1134602" y="342107"/>
                </a:lnTo>
                <a:lnTo>
                  <a:pt x="1115550" y="354953"/>
                </a:lnTo>
                <a:lnTo>
                  <a:pt x="1092200" y="359664"/>
                </a:lnTo>
                <a:lnTo>
                  <a:pt x="59944" y="359664"/>
                </a:lnTo>
                <a:lnTo>
                  <a:pt x="36593" y="354953"/>
                </a:lnTo>
                <a:lnTo>
                  <a:pt x="17541" y="342107"/>
                </a:lnTo>
                <a:lnTo>
                  <a:pt x="4704" y="323054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4">
            <a:extLst>
              <a:ext uri="{FF2B5EF4-FFF2-40B4-BE49-F238E27FC236}">
                <a16:creationId xmlns:a16="http://schemas.microsoft.com/office/drawing/2014/main" id="{574E8441-B47A-2B49-BE9B-F3457C08D169}"/>
              </a:ext>
            </a:extLst>
          </p:cNvPr>
          <p:cNvSpPr txBox="1"/>
          <p:nvPr/>
        </p:nvSpPr>
        <p:spPr>
          <a:xfrm>
            <a:off x="10176402" y="5647938"/>
            <a:ext cx="177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CC409953-B79E-C84A-87D3-DC7D469664CB}"/>
              </a:ext>
            </a:extLst>
          </p:cNvPr>
          <p:cNvSpPr/>
          <p:nvPr/>
        </p:nvSpPr>
        <p:spPr>
          <a:xfrm>
            <a:off x="5908947" y="564108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609"/>
                </a:lnTo>
                <a:lnTo>
                  <a:pt x="17541" y="17556"/>
                </a:lnTo>
                <a:lnTo>
                  <a:pt x="36593" y="4710"/>
                </a:lnTo>
                <a:lnTo>
                  <a:pt x="59943" y="0"/>
                </a:lnTo>
                <a:lnTo>
                  <a:pt x="1092200" y="0"/>
                </a:lnTo>
                <a:lnTo>
                  <a:pt x="1115550" y="4710"/>
                </a:lnTo>
                <a:lnTo>
                  <a:pt x="1134602" y="17556"/>
                </a:lnTo>
                <a:lnTo>
                  <a:pt x="1147439" y="36609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54"/>
                </a:lnTo>
                <a:lnTo>
                  <a:pt x="1134602" y="342107"/>
                </a:lnTo>
                <a:lnTo>
                  <a:pt x="1115550" y="354953"/>
                </a:lnTo>
                <a:lnTo>
                  <a:pt x="1092200" y="359664"/>
                </a:lnTo>
                <a:lnTo>
                  <a:pt x="59943" y="359664"/>
                </a:lnTo>
                <a:lnTo>
                  <a:pt x="36593" y="354953"/>
                </a:lnTo>
                <a:lnTo>
                  <a:pt x="17541" y="342107"/>
                </a:lnTo>
                <a:lnTo>
                  <a:pt x="4704" y="323054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6">
            <a:extLst>
              <a:ext uri="{FF2B5EF4-FFF2-40B4-BE49-F238E27FC236}">
                <a16:creationId xmlns:a16="http://schemas.microsoft.com/office/drawing/2014/main" id="{17223B47-1629-AD4A-81A0-362FBAD266F8}"/>
              </a:ext>
            </a:extLst>
          </p:cNvPr>
          <p:cNvSpPr txBox="1"/>
          <p:nvPr/>
        </p:nvSpPr>
        <p:spPr>
          <a:xfrm>
            <a:off x="6346335" y="5647938"/>
            <a:ext cx="216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1" name="object 27">
            <a:extLst>
              <a:ext uri="{FF2B5EF4-FFF2-40B4-BE49-F238E27FC236}">
                <a16:creationId xmlns:a16="http://schemas.microsoft.com/office/drawing/2014/main" id="{762B02BC-9B6D-B442-8848-214AD2D53D97}"/>
              </a:ext>
            </a:extLst>
          </p:cNvPr>
          <p:cNvSpPr/>
          <p:nvPr/>
        </p:nvSpPr>
        <p:spPr>
          <a:xfrm>
            <a:off x="9059309" y="4981062"/>
            <a:ext cx="1236980" cy="661035"/>
          </a:xfrm>
          <a:custGeom>
            <a:avLst/>
            <a:gdLst/>
            <a:ahLst/>
            <a:cxnLst/>
            <a:rect l="l" t="t" r="r" b="b"/>
            <a:pathLst>
              <a:path w="1236979" h="661035">
                <a:moveTo>
                  <a:pt x="1126525" y="624497"/>
                </a:moveTo>
                <a:lnTo>
                  <a:pt x="1108837" y="658228"/>
                </a:lnTo>
                <a:lnTo>
                  <a:pt x="1236599" y="660692"/>
                </a:lnTo>
                <a:lnTo>
                  <a:pt x="1216898" y="633336"/>
                </a:lnTo>
                <a:lnTo>
                  <a:pt x="1143381" y="633336"/>
                </a:lnTo>
                <a:lnTo>
                  <a:pt x="1126525" y="624497"/>
                </a:lnTo>
                <a:close/>
              </a:path>
              <a:path w="1236979" h="661035">
                <a:moveTo>
                  <a:pt x="1144239" y="590718"/>
                </a:moveTo>
                <a:lnTo>
                  <a:pt x="1126525" y="624497"/>
                </a:lnTo>
                <a:lnTo>
                  <a:pt x="1143381" y="633336"/>
                </a:lnTo>
                <a:lnTo>
                  <a:pt x="1161161" y="599592"/>
                </a:lnTo>
                <a:lnTo>
                  <a:pt x="1144239" y="590718"/>
                </a:lnTo>
                <a:close/>
              </a:path>
              <a:path w="1236979" h="661035">
                <a:moveTo>
                  <a:pt x="1161923" y="556996"/>
                </a:moveTo>
                <a:lnTo>
                  <a:pt x="1144239" y="590718"/>
                </a:lnTo>
                <a:lnTo>
                  <a:pt x="1161161" y="599592"/>
                </a:lnTo>
                <a:lnTo>
                  <a:pt x="1143381" y="633336"/>
                </a:lnTo>
                <a:lnTo>
                  <a:pt x="1216898" y="633336"/>
                </a:lnTo>
                <a:lnTo>
                  <a:pt x="1161923" y="556996"/>
                </a:lnTo>
                <a:close/>
              </a:path>
              <a:path w="1236979" h="661035">
                <a:moveTo>
                  <a:pt x="17780" y="0"/>
                </a:moveTo>
                <a:lnTo>
                  <a:pt x="0" y="33781"/>
                </a:lnTo>
                <a:lnTo>
                  <a:pt x="1126525" y="624497"/>
                </a:lnTo>
                <a:lnTo>
                  <a:pt x="1144239" y="590718"/>
                </a:lnTo>
                <a:lnTo>
                  <a:pt x="17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8">
            <a:extLst>
              <a:ext uri="{FF2B5EF4-FFF2-40B4-BE49-F238E27FC236}">
                <a16:creationId xmlns:a16="http://schemas.microsoft.com/office/drawing/2014/main" id="{B126D673-6D5F-3F42-A9B5-F9DA5EA158C5}"/>
              </a:ext>
            </a:extLst>
          </p:cNvPr>
          <p:cNvSpPr txBox="1"/>
          <p:nvPr/>
        </p:nvSpPr>
        <p:spPr>
          <a:xfrm>
            <a:off x="9693802" y="4982967"/>
            <a:ext cx="216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3" name="object 29">
            <a:extLst>
              <a:ext uri="{FF2B5EF4-FFF2-40B4-BE49-F238E27FC236}">
                <a16:creationId xmlns:a16="http://schemas.microsoft.com/office/drawing/2014/main" id="{E36AC9EF-4F93-6043-BB3F-954B9F83C964}"/>
              </a:ext>
            </a:extLst>
          </p:cNvPr>
          <p:cNvSpPr/>
          <p:nvPr/>
        </p:nvSpPr>
        <p:spPr>
          <a:xfrm>
            <a:off x="1592979" y="2786629"/>
            <a:ext cx="217170" cy="3240405"/>
          </a:xfrm>
          <a:custGeom>
            <a:avLst/>
            <a:gdLst/>
            <a:ahLst/>
            <a:cxnLst/>
            <a:rect l="l" t="t" r="r" b="b"/>
            <a:pathLst>
              <a:path w="217169" h="3240404">
                <a:moveTo>
                  <a:pt x="217169" y="0"/>
                </a:moveTo>
                <a:lnTo>
                  <a:pt x="174914" y="1424"/>
                </a:lnTo>
                <a:lnTo>
                  <a:pt x="140398" y="5302"/>
                </a:lnTo>
                <a:lnTo>
                  <a:pt x="117121" y="11037"/>
                </a:lnTo>
                <a:lnTo>
                  <a:pt x="108584" y="18034"/>
                </a:lnTo>
                <a:lnTo>
                  <a:pt x="108584" y="1601978"/>
                </a:lnTo>
                <a:lnTo>
                  <a:pt x="100048" y="1608974"/>
                </a:lnTo>
                <a:lnTo>
                  <a:pt x="76771" y="1614709"/>
                </a:lnTo>
                <a:lnTo>
                  <a:pt x="42255" y="1618587"/>
                </a:lnTo>
                <a:lnTo>
                  <a:pt x="0" y="1620012"/>
                </a:lnTo>
                <a:lnTo>
                  <a:pt x="42255" y="1621436"/>
                </a:lnTo>
                <a:lnTo>
                  <a:pt x="76771" y="1625314"/>
                </a:lnTo>
                <a:lnTo>
                  <a:pt x="100048" y="1631049"/>
                </a:lnTo>
                <a:lnTo>
                  <a:pt x="108584" y="1638046"/>
                </a:lnTo>
                <a:lnTo>
                  <a:pt x="108584" y="3221926"/>
                </a:lnTo>
                <a:lnTo>
                  <a:pt x="117121" y="3228970"/>
                </a:lnTo>
                <a:lnTo>
                  <a:pt x="140398" y="3234723"/>
                </a:lnTo>
                <a:lnTo>
                  <a:pt x="174914" y="3238601"/>
                </a:lnTo>
                <a:lnTo>
                  <a:pt x="217169" y="32400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30">
            <a:extLst>
              <a:ext uri="{FF2B5EF4-FFF2-40B4-BE49-F238E27FC236}">
                <a16:creationId xmlns:a16="http://schemas.microsoft.com/office/drawing/2014/main" id="{DF38910B-DF97-664C-B242-F9DAF267EDC7}"/>
              </a:ext>
            </a:extLst>
          </p:cNvPr>
          <p:cNvGrpSpPr/>
          <p:nvPr/>
        </p:nvGrpSpPr>
        <p:grpSpPr>
          <a:xfrm>
            <a:off x="2745885" y="2767579"/>
            <a:ext cx="8609330" cy="3091180"/>
            <a:chOff x="2458211" y="3065526"/>
            <a:chExt cx="8609330" cy="3091180"/>
          </a:xfrm>
        </p:grpSpPr>
        <p:sp>
          <p:nvSpPr>
            <p:cNvPr id="45" name="object 31">
              <a:extLst>
                <a:ext uri="{FF2B5EF4-FFF2-40B4-BE49-F238E27FC236}">
                  <a16:creationId xmlns:a16="http://schemas.microsoft.com/office/drawing/2014/main" id="{6EE822FA-4876-F241-86C7-911BDC3A24B1}"/>
                </a:ext>
              </a:extLst>
            </p:cNvPr>
            <p:cNvSpPr/>
            <p:nvPr/>
          </p:nvSpPr>
          <p:spPr>
            <a:xfrm>
              <a:off x="6964679" y="3084576"/>
              <a:ext cx="4083685" cy="3053080"/>
            </a:xfrm>
            <a:custGeom>
              <a:avLst/>
              <a:gdLst/>
              <a:ahLst/>
              <a:cxnLst/>
              <a:rect l="l" t="t" r="r" b="b"/>
              <a:pathLst>
                <a:path w="4083684" h="3053079">
                  <a:moveTo>
                    <a:pt x="0" y="0"/>
                  </a:moveTo>
                  <a:lnTo>
                    <a:pt x="4083304" y="5841"/>
                  </a:lnTo>
                </a:path>
                <a:path w="4083684" h="3053079">
                  <a:moveTo>
                    <a:pt x="1239774" y="1040130"/>
                  </a:moveTo>
                  <a:lnTo>
                    <a:pt x="4083558" y="1040130"/>
                  </a:lnTo>
                </a:path>
                <a:path w="4083684" h="3053079">
                  <a:moveTo>
                    <a:pt x="2385060" y="2012442"/>
                  </a:moveTo>
                  <a:lnTo>
                    <a:pt x="4083430" y="2012442"/>
                  </a:lnTo>
                </a:path>
                <a:path w="4083684" h="3053079">
                  <a:moveTo>
                    <a:pt x="3643122" y="3052572"/>
                  </a:moveTo>
                  <a:lnTo>
                    <a:pt x="4083050" y="3052572"/>
                  </a:lnTo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2">
              <a:extLst>
                <a:ext uri="{FF2B5EF4-FFF2-40B4-BE49-F238E27FC236}">
                  <a16:creationId xmlns:a16="http://schemas.microsoft.com/office/drawing/2014/main" id="{CEF11184-6801-6244-A800-73A8244804CB}"/>
                </a:ext>
              </a:extLst>
            </p:cNvPr>
            <p:cNvSpPr/>
            <p:nvPr/>
          </p:nvSpPr>
          <p:spPr>
            <a:xfrm>
              <a:off x="2458211" y="5278247"/>
              <a:ext cx="1035050" cy="660400"/>
            </a:xfrm>
            <a:custGeom>
              <a:avLst/>
              <a:gdLst/>
              <a:ahLst/>
              <a:cxnLst/>
              <a:rect l="l" t="t" r="r" b="b"/>
              <a:pathLst>
                <a:path w="1035050" h="660400">
                  <a:moveTo>
                    <a:pt x="66420" y="550735"/>
                  </a:moveTo>
                  <a:lnTo>
                    <a:pt x="0" y="659930"/>
                  </a:lnTo>
                  <a:lnTo>
                    <a:pt x="127126" y="647509"/>
                  </a:lnTo>
                  <a:lnTo>
                    <a:pt x="113249" y="625386"/>
                  </a:lnTo>
                  <a:lnTo>
                    <a:pt x="90805" y="625386"/>
                  </a:lnTo>
                  <a:lnTo>
                    <a:pt x="70485" y="593128"/>
                  </a:lnTo>
                  <a:lnTo>
                    <a:pt x="86644" y="582974"/>
                  </a:lnTo>
                  <a:lnTo>
                    <a:pt x="66420" y="550735"/>
                  </a:lnTo>
                  <a:close/>
                </a:path>
                <a:path w="1035050" h="660400">
                  <a:moveTo>
                    <a:pt x="86644" y="582974"/>
                  </a:moveTo>
                  <a:lnTo>
                    <a:pt x="70485" y="593128"/>
                  </a:lnTo>
                  <a:lnTo>
                    <a:pt x="90805" y="625386"/>
                  </a:lnTo>
                  <a:lnTo>
                    <a:pt x="106903" y="615270"/>
                  </a:lnTo>
                  <a:lnTo>
                    <a:pt x="86644" y="582974"/>
                  </a:lnTo>
                  <a:close/>
                </a:path>
                <a:path w="1035050" h="660400">
                  <a:moveTo>
                    <a:pt x="106903" y="615270"/>
                  </a:moveTo>
                  <a:lnTo>
                    <a:pt x="90805" y="625386"/>
                  </a:lnTo>
                  <a:lnTo>
                    <a:pt x="113249" y="625386"/>
                  </a:lnTo>
                  <a:lnTo>
                    <a:pt x="106903" y="615270"/>
                  </a:lnTo>
                  <a:close/>
                </a:path>
                <a:path w="1035050" h="660400">
                  <a:moveTo>
                    <a:pt x="1014476" y="0"/>
                  </a:moveTo>
                  <a:lnTo>
                    <a:pt x="86644" y="582974"/>
                  </a:lnTo>
                  <a:lnTo>
                    <a:pt x="106903" y="615270"/>
                  </a:lnTo>
                  <a:lnTo>
                    <a:pt x="1034796" y="32257"/>
                  </a:lnTo>
                  <a:lnTo>
                    <a:pt x="10144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33">
            <a:extLst>
              <a:ext uri="{FF2B5EF4-FFF2-40B4-BE49-F238E27FC236}">
                <a16:creationId xmlns:a16="http://schemas.microsoft.com/office/drawing/2014/main" id="{F2895EF4-F008-944B-BBD2-8054CA0A2B29}"/>
              </a:ext>
            </a:extLst>
          </p:cNvPr>
          <p:cNvSpPr txBox="1"/>
          <p:nvPr/>
        </p:nvSpPr>
        <p:spPr>
          <a:xfrm>
            <a:off x="11488057" y="2588001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8" name="object 34">
            <a:extLst>
              <a:ext uri="{FF2B5EF4-FFF2-40B4-BE49-F238E27FC236}">
                <a16:creationId xmlns:a16="http://schemas.microsoft.com/office/drawing/2014/main" id="{79841621-895A-AC43-A974-202A3814E809}"/>
              </a:ext>
            </a:extLst>
          </p:cNvPr>
          <p:cNvSpPr txBox="1"/>
          <p:nvPr/>
        </p:nvSpPr>
        <p:spPr>
          <a:xfrm>
            <a:off x="11488057" y="3622797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9" name="object 35">
            <a:extLst>
              <a:ext uri="{FF2B5EF4-FFF2-40B4-BE49-F238E27FC236}">
                <a16:creationId xmlns:a16="http://schemas.microsoft.com/office/drawing/2014/main" id="{914CFC61-1D2F-4D4E-B84D-7901A4459AA4}"/>
              </a:ext>
            </a:extLst>
          </p:cNvPr>
          <p:cNvSpPr txBox="1"/>
          <p:nvPr/>
        </p:nvSpPr>
        <p:spPr>
          <a:xfrm>
            <a:off x="11488057" y="4595363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0" name="object 36">
            <a:extLst>
              <a:ext uri="{FF2B5EF4-FFF2-40B4-BE49-F238E27FC236}">
                <a16:creationId xmlns:a16="http://schemas.microsoft.com/office/drawing/2014/main" id="{9C090C9E-E27B-A040-8860-3FCE07DD7DA6}"/>
              </a:ext>
            </a:extLst>
          </p:cNvPr>
          <p:cNvSpPr txBox="1"/>
          <p:nvPr/>
        </p:nvSpPr>
        <p:spPr>
          <a:xfrm>
            <a:off x="11488057" y="5635238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1" name="object 37">
            <a:extLst>
              <a:ext uri="{FF2B5EF4-FFF2-40B4-BE49-F238E27FC236}">
                <a16:creationId xmlns:a16="http://schemas.microsoft.com/office/drawing/2014/main" id="{B72CFF32-72A4-294C-991C-5EF4D44BD94F}"/>
              </a:ext>
            </a:extLst>
          </p:cNvPr>
          <p:cNvSpPr txBox="1"/>
          <p:nvPr/>
        </p:nvSpPr>
        <p:spPr>
          <a:xfrm>
            <a:off x="3014872" y="4948931"/>
            <a:ext cx="216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5DE50D15-0224-7444-B7AB-82D9587A79E5}"/>
              </a:ext>
            </a:extLst>
          </p:cNvPr>
          <p:cNvSpPr txBox="1"/>
          <p:nvPr/>
        </p:nvSpPr>
        <p:spPr>
          <a:xfrm>
            <a:off x="310279" y="3847554"/>
            <a:ext cx="1294130" cy="6718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2000" spc="-2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递归树深</a:t>
            </a:r>
            <a:r>
              <a:rPr sz="2000" spc="-5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度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3335" algn="ctr">
              <a:lnSpc>
                <a:spcPct val="100000"/>
              </a:lnSpc>
              <a:spcBef>
                <a:spcPts val="145"/>
              </a:spcBef>
            </a:pPr>
            <a:r>
              <a:rPr sz="2000" spc="-1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90CCC58-5649-C04D-A5EE-9CD82186BC4F}"/>
              </a:ext>
            </a:extLst>
          </p:cNvPr>
          <p:cNvGrpSpPr/>
          <p:nvPr/>
        </p:nvGrpSpPr>
        <p:grpSpPr>
          <a:xfrm>
            <a:off x="1356613" y="2390979"/>
            <a:ext cx="1948180" cy="391160"/>
            <a:chOff x="1356613" y="2390979"/>
            <a:chExt cx="1948180" cy="391160"/>
          </a:xfrm>
        </p:grpSpPr>
        <p:sp>
          <p:nvSpPr>
            <p:cNvPr id="53" name="object 40">
              <a:extLst>
                <a:ext uri="{FF2B5EF4-FFF2-40B4-BE49-F238E27FC236}">
                  <a16:creationId xmlns:a16="http://schemas.microsoft.com/office/drawing/2014/main" id="{E2CD6358-3E5F-AF40-AA29-9066195813A5}"/>
                </a:ext>
              </a:extLst>
            </p:cNvPr>
            <p:cNvSpPr txBox="1"/>
            <p:nvPr/>
          </p:nvSpPr>
          <p:spPr>
            <a:xfrm>
              <a:off x="1356613" y="2390979"/>
              <a:ext cx="194818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737235" algn="l"/>
                </a:tabLst>
              </a:pPr>
              <a:r>
                <a:rPr sz="2400" dirty="0">
                  <a:solidFill>
                    <a:srgbClr val="FF0000"/>
                  </a:solidFill>
                  <a:latin typeface="Cambria Math"/>
                  <a:cs typeface="Cambria Math"/>
                </a:rPr>
                <a:t>𝑻</a:t>
              </a:r>
              <a:r>
                <a:rPr sz="2400" spc="455" dirty="0">
                  <a:solidFill>
                    <a:srgbClr val="FF0000"/>
                  </a:solidFill>
                  <a:latin typeface="Cambria Math"/>
                  <a:cs typeface="Cambria Math"/>
                </a:rPr>
                <a:t> </a:t>
              </a:r>
              <a:r>
                <a:rPr sz="2400" spc="-50" dirty="0">
                  <a:solidFill>
                    <a:srgbClr val="FF0000"/>
                  </a:solidFill>
                  <a:latin typeface="Cambria Math"/>
                  <a:cs typeface="Cambria Math"/>
                </a:rPr>
                <a:t>𝒏</a:t>
              </a:r>
              <a:r>
                <a:rPr sz="2400" dirty="0">
                  <a:solidFill>
                    <a:srgbClr val="FF0000"/>
                  </a:solidFill>
                  <a:latin typeface="Cambria Math"/>
                  <a:cs typeface="Cambria Math"/>
                </a:rPr>
                <a:t>	=</a:t>
              </a:r>
              <a:r>
                <a:rPr sz="2400" spc="130" dirty="0">
                  <a:solidFill>
                    <a:srgbClr val="FF0000"/>
                  </a:solidFill>
                  <a:latin typeface="Cambria Math"/>
                  <a:cs typeface="Cambria Math"/>
                </a:rPr>
                <a:t> </a:t>
              </a:r>
              <a:r>
                <a:rPr sz="2400" dirty="0">
                  <a:solidFill>
                    <a:srgbClr val="FF0000"/>
                  </a:solidFill>
                  <a:latin typeface="Cambria Math"/>
                  <a:cs typeface="Cambria Math"/>
                </a:rPr>
                <a:t>𝒏𝐥𝐨𝐠</a:t>
              </a:r>
              <a:r>
                <a:rPr sz="2400" spc="-135" dirty="0">
                  <a:solidFill>
                    <a:srgbClr val="FF0000"/>
                  </a:solidFill>
                  <a:latin typeface="Cambria Math"/>
                  <a:cs typeface="Cambria Math"/>
                </a:rPr>
                <a:t> </a:t>
              </a:r>
              <a:r>
                <a:rPr sz="2400" spc="-50" dirty="0">
                  <a:solidFill>
                    <a:srgbClr val="FF0000"/>
                  </a:solidFill>
                  <a:latin typeface="Cambria Math"/>
                  <a:cs typeface="Cambria Math"/>
                </a:rPr>
                <a:t>𝒏</a:t>
              </a:r>
              <a:endParaRPr sz="2400" dirty="0">
                <a:latin typeface="Cambria Math"/>
                <a:cs typeface="Cambria Math"/>
              </a:endParaRPr>
            </a:p>
          </p:txBody>
        </p:sp>
        <p:sp>
          <p:nvSpPr>
            <p:cNvPr id="54" name="object 39">
              <a:extLst>
                <a:ext uri="{FF2B5EF4-FFF2-40B4-BE49-F238E27FC236}">
                  <a16:creationId xmlns:a16="http://schemas.microsoft.com/office/drawing/2014/main" id="{F7911E83-13D3-2F43-89EF-16610CF50466}"/>
                </a:ext>
              </a:extLst>
            </p:cNvPr>
            <p:cNvSpPr/>
            <p:nvPr/>
          </p:nvSpPr>
          <p:spPr>
            <a:xfrm>
              <a:off x="1586483" y="2480260"/>
              <a:ext cx="396875" cy="282575"/>
            </a:xfrm>
            <a:custGeom>
              <a:avLst/>
              <a:gdLst/>
              <a:ahLst/>
              <a:cxnLst/>
              <a:rect l="l" t="t" r="r" b="b"/>
              <a:pathLst>
                <a:path w="396875" h="282575">
                  <a:moveTo>
                    <a:pt x="306704" y="0"/>
                  </a:moveTo>
                  <a:lnTo>
                    <a:pt x="302767" y="11430"/>
                  </a:lnTo>
                  <a:lnTo>
                    <a:pt x="319075" y="18522"/>
                  </a:lnTo>
                  <a:lnTo>
                    <a:pt x="333120" y="28352"/>
                  </a:lnTo>
                  <a:lnTo>
                    <a:pt x="361644" y="73852"/>
                  </a:lnTo>
                  <a:lnTo>
                    <a:pt x="369939" y="115623"/>
                  </a:lnTo>
                  <a:lnTo>
                    <a:pt x="370966" y="139700"/>
                  </a:lnTo>
                  <a:lnTo>
                    <a:pt x="369939" y="164633"/>
                  </a:lnTo>
                  <a:lnTo>
                    <a:pt x="361644" y="207547"/>
                  </a:lnTo>
                  <a:lnTo>
                    <a:pt x="333168" y="253793"/>
                  </a:lnTo>
                  <a:lnTo>
                    <a:pt x="303148" y="270891"/>
                  </a:lnTo>
                  <a:lnTo>
                    <a:pt x="306704" y="282321"/>
                  </a:lnTo>
                  <a:lnTo>
                    <a:pt x="345249" y="264239"/>
                  </a:lnTo>
                  <a:lnTo>
                    <a:pt x="373507" y="232918"/>
                  </a:lnTo>
                  <a:lnTo>
                    <a:pt x="390937" y="191119"/>
                  </a:lnTo>
                  <a:lnTo>
                    <a:pt x="396747" y="141224"/>
                  </a:lnTo>
                  <a:lnTo>
                    <a:pt x="395295" y="115339"/>
                  </a:lnTo>
                  <a:lnTo>
                    <a:pt x="383674" y="69429"/>
                  </a:lnTo>
                  <a:lnTo>
                    <a:pt x="360604" y="32093"/>
                  </a:lnTo>
                  <a:lnTo>
                    <a:pt x="327179" y="7379"/>
                  </a:lnTo>
                  <a:lnTo>
                    <a:pt x="306704" y="0"/>
                  </a:lnTo>
                  <a:close/>
                </a:path>
                <a:path w="396875" h="282575">
                  <a:moveTo>
                    <a:pt x="90042" y="0"/>
                  </a:moveTo>
                  <a:lnTo>
                    <a:pt x="51641" y="18081"/>
                  </a:lnTo>
                  <a:lnTo>
                    <a:pt x="23240" y="49403"/>
                  </a:lnTo>
                  <a:lnTo>
                    <a:pt x="5810" y="91408"/>
                  </a:lnTo>
                  <a:lnTo>
                    <a:pt x="0" y="141224"/>
                  </a:lnTo>
                  <a:lnTo>
                    <a:pt x="1452" y="167177"/>
                  </a:lnTo>
                  <a:lnTo>
                    <a:pt x="13073" y="213036"/>
                  </a:lnTo>
                  <a:lnTo>
                    <a:pt x="36125" y="250227"/>
                  </a:lnTo>
                  <a:lnTo>
                    <a:pt x="69514" y="274941"/>
                  </a:lnTo>
                  <a:lnTo>
                    <a:pt x="90042" y="282321"/>
                  </a:lnTo>
                  <a:lnTo>
                    <a:pt x="93598" y="270891"/>
                  </a:lnTo>
                  <a:lnTo>
                    <a:pt x="77531" y="263717"/>
                  </a:lnTo>
                  <a:lnTo>
                    <a:pt x="63642" y="253793"/>
                  </a:lnTo>
                  <a:lnTo>
                    <a:pt x="35210" y="207547"/>
                  </a:lnTo>
                  <a:lnTo>
                    <a:pt x="26828" y="164633"/>
                  </a:lnTo>
                  <a:lnTo>
                    <a:pt x="25781" y="139700"/>
                  </a:lnTo>
                  <a:lnTo>
                    <a:pt x="26828" y="115623"/>
                  </a:lnTo>
                  <a:lnTo>
                    <a:pt x="35210" y="73852"/>
                  </a:lnTo>
                  <a:lnTo>
                    <a:pt x="63753" y="28352"/>
                  </a:lnTo>
                  <a:lnTo>
                    <a:pt x="94107" y="11430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9272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7838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算法的设计思想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文本框 37891">
            <a:extLst>
              <a:ext uri="{FF2B5EF4-FFF2-40B4-BE49-F238E27FC236}">
                <a16:creationId xmlns:a16="http://schemas.microsoft.com/office/drawing/2014/main" id="{4A945547-A68C-7B4C-9F63-D87D6DF42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40" y="1361716"/>
            <a:ext cx="10370228" cy="435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504"/>
              </a:spcBef>
              <a:buClrTx/>
              <a:buFontTx/>
              <a:buNone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分治法的基本步骤在每一层递归上都有三个步骤：</a:t>
            </a:r>
          </a:p>
          <a:p>
            <a:pPr>
              <a:lnSpc>
                <a:spcPct val="105000"/>
              </a:lnSpc>
              <a:spcBef>
                <a:spcPct val="40000"/>
              </a:spcBef>
              <a:buClrTx/>
              <a:buFontTx/>
              <a:buNone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）分解：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将原问题分解为若干个</a:t>
            </a:r>
            <a:r>
              <a:rPr lang="zh-CN" altLang="en-US" sz="24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规模较小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zh-CN" altLang="en-US" sz="24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相互独立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且与原问题</a:t>
            </a:r>
            <a:r>
              <a:rPr lang="zh-CN" altLang="en-US" sz="24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形式相同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的子问题；</a:t>
            </a:r>
          </a:p>
          <a:p>
            <a:pPr>
              <a:lnSpc>
                <a:spcPct val="105000"/>
              </a:lnSpc>
              <a:spcBef>
                <a:spcPct val="40000"/>
              </a:spcBef>
              <a:buClrTx/>
              <a:buFontTx/>
              <a:buNone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）解决：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若子问题规模较小而容易被解决则直接解，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否则再继续分解为更小的子问题，直到容易解决；</a:t>
            </a:r>
          </a:p>
          <a:p>
            <a:pPr>
              <a:lnSpc>
                <a:spcPct val="105000"/>
              </a:lnSpc>
              <a:spcBef>
                <a:spcPct val="40000"/>
              </a:spcBef>
              <a:buClrTx/>
              <a:buFontTx/>
              <a:buNone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）合并：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将已求解的各个子问题的解，逐步合并为原问题的解。</a:t>
            </a:r>
          </a:p>
        </p:txBody>
      </p:sp>
    </p:spTree>
    <p:extLst>
      <p:ext uri="{BB962C8B-B14F-4D97-AF65-F5344CB8AC3E}">
        <p14:creationId xmlns:p14="http://schemas.microsoft.com/office/powerpoint/2010/main" val="2529492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2421C4E-4B51-8444-ABD2-3931488AD65F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235A3FBF-0E2F-2745-B661-B96E2AE4730C}"/>
              </a:ext>
            </a:extLst>
          </p:cNvPr>
          <p:cNvSpPr txBox="1"/>
          <p:nvPr/>
        </p:nvSpPr>
        <p:spPr>
          <a:xfrm>
            <a:off x="795218" y="2756788"/>
            <a:ext cx="55968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连续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的一段序列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289269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D8BBFDE-82EE-EF4A-9C5D-473070F2BFDC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4">
            <a:extLst>
              <a:ext uri="{FF2B5EF4-FFF2-40B4-BE49-F238E27FC236}">
                <a16:creationId xmlns:a16="http://schemas.microsoft.com/office/drawing/2014/main" id="{730B065B-0968-F149-9318-8ACE43EC2469}"/>
              </a:ext>
            </a:extLst>
          </p:cNvPr>
          <p:cNvSpPr txBox="1"/>
          <p:nvPr/>
        </p:nvSpPr>
        <p:spPr>
          <a:xfrm>
            <a:off x="795217" y="2756788"/>
            <a:ext cx="10581343" cy="1108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[3..7]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𝟐</a:t>
            </a:r>
            <a:r>
              <a:rPr lang="zh-CN" altLang="en-US" sz="2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lang="zh-CN" altLang="en-US" sz="28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2949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30B065B-0968-F149-9318-8ACE43EC2469}"/>
              </a:ext>
            </a:extLst>
          </p:cNvPr>
          <p:cNvSpPr txBox="1"/>
          <p:nvPr/>
        </p:nvSpPr>
        <p:spPr>
          <a:xfrm>
            <a:off x="795217" y="2756788"/>
            <a:ext cx="10581343" cy="226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[3..7]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latin typeface="Cambria Math"/>
                <a:cs typeface="Cambria Math"/>
              </a:rPr>
              <a:t>+ 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𝟐</a:t>
            </a:r>
            <a:r>
              <a:rPr lang="zh-CN" altLang="en-US" sz="2800" spc="85" dirty="0"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latin typeface="Cambria Math"/>
                <a:cs typeface="Cambria Math"/>
              </a:rPr>
              <a:t>= </a:t>
            </a:r>
            <a:r>
              <a:rPr lang="zh-CN" altLang="en-US" sz="2800" spc="-50" dirty="0">
                <a:latin typeface="Cambria Math"/>
                <a:cs typeface="Cambria Math"/>
              </a:rPr>
              <a:t>𝟗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469900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[1..10]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−𝟏 − 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𝟑 + 𝟓 − 𝟒 + 𝟑 + 𝟐 − 𝟐 + 𝟑 + 𝟔</a:t>
            </a:r>
            <a:r>
              <a:rPr lang="zh-CN" altLang="en-US" sz="28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90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𝟏𝟐</a:t>
            </a:r>
            <a:endParaRPr lang="en-US" altLang="zh-CN" sz="2800" dirty="0">
              <a:latin typeface="Cambria Math"/>
              <a:cs typeface="Cambria Math"/>
            </a:endParaRPr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69386A09-9EA5-6A41-99AA-1723465753C2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83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30B065B-0968-F149-9318-8ACE43EC2469}"/>
              </a:ext>
            </a:extLst>
          </p:cNvPr>
          <p:cNvSpPr txBox="1"/>
          <p:nvPr/>
        </p:nvSpPr>
        <p:spPr>
          <a:xfrm>
            <a:off x="795217" y="2756788"/>
            <a:ext cx="10581343" cy="34172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[3..7]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latin typeface="Cambria Math"/>
                <a:cs typeface="Cambria Math"/>
              </a:rPr>
              <a:t>+ 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𝟐</a:t>
            </a:r>
            <a:r>
              <a:rPr lang="zh-CN" altLang="en-US" sz="2800" spc="85" dirty="0"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latin typeface="Cambria Math"/>
                <a:cs typeface="Cambria Math"/>
              </a:rPr>
              <a:t>= </a:t>
            </a:r>
            <a:r>
              <a:rPr lang="zh-CN" altLang="en-US" sz="2800" spc="-50" dirty="0">
                <a:latin typeface="Cambria Math"/>
                <a:cs typeface="Cambria Math"/>
              </a:rPr>
              <a:t>𝟗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469900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[1..10]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latin typeface="Cambria Math"/>
                <a:cs typeface="Cambria Math"/>
              </a:rPr>
              <a:t>−𝟏 − 𝟑 </a:t>
            </a:r>
            <a:r>
              <a:rPr lang="en-US" altLang="zh-CN" sz="2800" dirty="0">
                <a:latin typeface="Cambria Math"/>
                <a:cs typeface="Cambria Math"/>
              </a:rPr>
              <a:t>+ 𝟑 + 𝟓 − 𝟒 + 𝟑 + 𝟐 − 𝟐 + 𝟑 + 𝟔</a:t>
            </a:r>
            <a:r>
              <a:rPr lang="zh-CN" altLang="en-US" sz="2800" spc="90" dirty="0">
                <a:latin typeface="Cambria Math"/>
                <a:cs typeface="Cambria Math"/>
              </a:rPr>
              <a:t> </a:t>
            </a:r>
            <a:r>
              <a:rPr lang="en-US" altLang="zh-CN" sz="2800" spc="90" dirty="0">
                <a:latin typeface="Cambria Math"/>
                <a:cs typeface="Cambria Math"/>
              </a:rPr>
              <a:t>= </a:t>
            </a:r>
            <a:r>
              <a:rPr lang="zh-CN" altLang="en-US" sz="2800" spc="-25" dirty="0">
                <a:latin typeface="Cambria Math"/>
                <a:cs typeface="Cambria Math"/>
              </a:rPr>
              <a:t>𝟏𝟐</a:t>
            </a:r>
            <a:endParaRPr lang="en-US" altLang="zh-CN" sz="2800" dirty="0">
              <a:latin typeface="Cambria Math"/>
              <a:cs typeface="Cambria Math"/>
            </a:endParaRPr>
          </a:p>
          <a:p>
            <a:pPr marL="469900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[3..10]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𝟐 − 𝟐</a:t>
            </a:r>
            <a:r>
              <a:rPr lang="zh-CN" altLang="en-US" sz="2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𝟔</a:t>
            </a:r>
            <a:r>
              <a:rPr lang="zh-CN" altLang="en-US" sz="2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𝟏𝟔</a:t>
            </a:r>
            <a:endParaRPr lang="zh-CN" altLang="en-US" sz="2800" dirty="0">
              <a:latin typeface="Cambria Math"/>
              <a:cs typeface="Cambria Math"/>
            </a:endParaRP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5AB2BADA-4BE5-C345-BA6B-1FD4B1C367E8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10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F232C58-5174-EA44-937E-01307CA24FB3}"/>
              </a:ext>
            </a:extLst>
          </p:cNvPr>
          <p:cNvSpPr/>
          <p:nvPr/>
        </p:nvSpPr>
        <p:spPr>
          <a:xfrm>
            <a:off x="3215513" y="266268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5EB0515-C863-CD4E-AABF-9F210A1F0D58}"/>
              </a:ext>
            </a:extLst>
          </p:cNvPr>
          <p:cNvSpPr/>
          <p:nvPr/>
        </p:nvSpPr>
        <p:spPr>
          <a:xfrm>
            <a:off x="2433828" y="266268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1C53FA7-F2D2-DF4D-8EB3-73D7A7FE52F2}"/>
              </a:ext>
            </a:extLst>
          </p:cNvPr>
          <p:cNvSpPr/>
          <p:nvPr/>
        </p:nvSpPr>
        <p:spPr>
          <a:xfrm>
            <a:off x="3428873" y="361391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C2C0981-EB9F-2D48-85DA-67A7AA459C59}"/>
              </a:ext>
            </a:extLst>
          </p:cNvPr>
          <p:cNvSpPr/>
          <p:nvPr/>
        </p:nvSpPr>
        <p:spPr>
          <a:xfrm>
            <a:off x="2433828" y="361391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77D1457-B09F-D442-9F87-54C955E440C8}"/>
              </a:ext>
            </a:extLst>
          </p:cNvPr>
          <p:cNvSpPr/>
          <p:nvPr/>
        </p:nvSpPr>
        <p:spPr>
          <a:xfrm>
            <a:off x="3428873" y="4565141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70" h="33020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0200"/>
                </a:lnTo>
                <a:lnTo>
                  <a:pt x="77470" y="33020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A581814-E26B-0F4F-8BC8-70AE20E4DF9E}"/>
              </a:ext>
            </a:extLst>
          </p:cNvPr>
          <p:cNvSpPr/>
          <p:nvPr/>
        </p:nvSpPr>
        <p:spPr>
          <a:xfrm>
            <a:off x="2433828" y="4565141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69" h="33020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0200"/>
                </a:lnTo>
                <a:lnTo>
                  <a:pt x="77470" y="33020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692842D6-C2A1-244F-8D46-9F823A823A36}"/>
              </a:ext>
            </a:extLst>
          </p:cNvPr>
          <p:cNvSpPr txBox="1">
            <a:spLocks/>
          </p:cNvSpPr>
          <p:nvPr/>
        </p:nvSpPr>
        <p:spPr>
          <a:xfrm>
            <a:off x="688340" y="2517938"/>
            <a:ext cx="8013700" cy="28917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42900">
              <a:lnSpc>
                <a:spcPct val="100000"/>
              </a:lnSpc>
              <a:spcBef>
                <a:spcPts val="8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>
                <a:latin typeface="PMingLiU"/>
                <a:cs typeface="PMingLiU"/>
              </a:rPr>
              <a:t>子数组</a:t>
            </a:r>
            <a:r>
              <a:rPr lang="zh-CN" altLang="en-US"/>
              <a:t>𝑿</a:t>
            </a:r>
            <a:r>
              <a:rPr lang="zh-CN" altLang="en-US" spc="360"/>
              <a:t> </a:t>
            </a:r>
            <a:r>
              <a:rPr lang="zh-CN" altLang="en-US" spc="-10"/>
              <a:t>𝟑</a:t>
            </a:r>
            <a:r>
              <a:rPr lang="en-US" altLang="zh-CN" spc="-80"/>
              <a:t>. . </a:t>
            </a:r>
            <a:r>
              <a:rPr lang="zh-CN" altLang="en-US" spc="-50"/>
              <a:t>𝟕</a:t>
            </a: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>
                <a:latin typeface="PMingLiU"/>
                <a:cs typeface="PMingLiU"/>
              </a:rPr>
              <a:t>求和为：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𝟓 − 𝟒</a:t>
            </a:r>
            <a:r>
              <a:rPr lang="zh-CN" altLang="en-US" spc="-5">
                <a:latin typeface="Cambria Math"/>
                <a:cs typeface="Cambria Math"/>
              </a:rPr>
              <a:t> </a:t>
            </a:r>
            <a:r>
              <a:rPr lang="en-US" altLang="zh-CN" spc="-5">
                <a:latin typeface="Cambria Math"/>
                <a:cs typeface="Cambria Math"/>
              </a:rPr>
              <a:t>+ 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𝟐</a:t>
            </a:r>
            <a:r>
              <a:rPr lang="zh-CN" altLang="en-US" spc="85">
                <a:latin typeface="Cambria Math"/>
                <a:cs typeface="Cambria Math"/>
              </a:rPr>
              <a:t> </a:t>
            </a:r>
            <a:r>
              <a:rPr lang="en-US" altLang="zh-CN" spc="85">
                <a:latin typeface="Cambria Math"/>
                <a:cs typeface="Cambria Math"/>
              </a:rPr>
              <a:t>= </a:t>
            </a:r>
            <a:r>
              <a:rPr lang="zh-CN" altLang="en-US" spc="-50">
                <a:latin typeface="Cambria Math"/>
                <a:cs typeface="Cambria Math"/>
              </a:rPr>
              <a:t>𝟗</a:t>
            </a:r>
            <a:endParaRPr lang="zh-CN" altLang="en-US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>
                <a:latin typeface="PMingLiU"/>
                <a:cs typeface="PMingLiU"/>
              </a:rPr>
              <a:t>子数组</a:t>
            </a:r>
            <a:r>
              <a:rPr lang="zh-CN" altLang="en-US"/>
              <a:t>𝑿</a:t>
            </a:r>
            <a:r>
              <a:rPr lang="zh-CN" altLang="en-US" spc="355"/>
              <a:t> </a:t>
            </a:r>
            <a:r>
              <a:rPr lang="zh-CN" altLang="en-US" spc="-10"/>
              <a:t>𝟏</a:t>
            </a:r>
            <a:r>
              <a:rPr lang="en-US" altLang="zh-CN" spc="-80"/>
              <a:t>. . </a:t>
            </a:r>
            <a:r>
              <a:rPr lang="zh-CN" altLang="en-US" spc="-25"/>
              <a:t>𝟏𝟎</a:t>
            </a: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>
                <a:latin typeface="PMingLiU"/>
                <a:cs typeface="PMingLiU"/>
              </a:rPr>
              <a:t>求和为：</a:t>
            </a:r>
            <a:r>
              <a:rPr lang="zh-CN" altLang="en-US">
                <a:latin typeface="Cambria Math"/>
                <a:cs typeface="Cambria Math"/>
              </a:rPr>
              <a:t>−𝟏 − 𝟑 </a:t>
            </a:r>
            <a:r>
              <a:rPr lang="en-US" altLang="zh-CN">
                <a:latin typeface="Cambria Math"/>
                <a:cs typeface="Cambria Math"/>
              </a:rPr>
              <a:t>+ 𝟑 + 𝟓 − 𝟒 + 𝟑 + 𝟐 − 𝟐 + 𝟑 + 𝟔</a:t>
            </a:r>
            <a:r>
              <a:rPr lang="zh-CN" altLang="en-US" spc="90">
                <a:latin typeface="Cambria Math"/>
                <a:cs typeface="Cambria Math"/>
              </a:rPr>
              <a:t> </a:t>
            </a:r>
            <a:r>
              <a:rPr lang="en-US" altLang="zh-CN" spc="90">
                <a:latin typeface="Cambria Math"/>
                <a:cs typeface="Cambria Math"/>
              </a:rPr>
              <a:t>= </a:t>
            </a:r>
            <a:r>
              <a:rPr lang="zh-CN" altLang="en-US" spc="-25">
                <a:latin typeface="Cambria Math"/>
                <a:cs typeface="Cambria Math"/>
              </a:rPr>
              <a:t>𝟏𝟐</a:t>
            </a:r>
            <a:endParaRPr lang="zh-CN" altLang="en-US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pc="-10">
                <a:latin typeface="PMingLiU"/>
                <a:cs typeface="PMingLiU"/>
              </a:rPr>
              <a:t>子数组</a:t>
            </a:r>
            <a:r>
              <a:rPr lang="zh-CN" altLang="en-US"/>
              <a:t>𝑿</a:t>
            </a:r>
            <a:r>
              <a:rPr lang="zh-CN" altLang="en-US" spc="360"/>
              <a:t> </a:t>
            </a:r>
            <a:r>
              <a:rPr lang="zh-CN" altLang="en-US" spc="-10"/>
              <a:t>𝟑</a:t>
            </a:r>
            <a:r>
              <a:rPr lang="en-US" altLang="zh-CN" spc="-80"/>
              <a:t>. . </a:t>
            </a:r>
            <a:r>
              <a:rPr lang="zh-CN" altLang="en-US" spc="-25"/>
              <a:t>𝟏𝟎</a:t>
            </a: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>
                <a:latin typeface="PMingLiU"/>
                <a:cs typeface="PMingLiU"/>
              </a:rPr>
              <a:t>求和为：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𝟓 − 𝟒</a:t>
            </a:r>
            <a:r>
              <a:rPr lang="zh-CN" altLang="en-US" spc="-5">
                <a:latin typeface="Cambria Math"/>
                <a:cs typeface="Cambria Math"/>
              </a:rPr>
              <a:t> </a:t>
            </a:r>
            <a:r>
              <a:rPr lang="en-US" altLang="zh-CN" spc="-5">
                <a:latin typeface="Cambria Math"/>
                <a:cs typeface="Cambria Math"/>
              </a:rPr>
              <a:t>+ 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𝟐 − 𝟐</a:t>
            </a:r>
            <a:r>
              <a:rPr lang="zh-CN" altLang="en-US" spc="-5">
                <a:latin typeface="Cambria Math"/>
                <a:cs typeface="Cambria Math"/>
              </a:rPr>
              <a:t> </a:t>
            </a:r>
            <a:r>
              <a:rPr lang="en-US" altLang="zh-CN" spc="-5">
                <a:latin typeface="Cambria Math"/>
                <a:cs typeface="Cambria Math"/>
              </a:rPr>
              <a:t>+ 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𝟔</a:t>
            </a:r>
            <a:r>
              <a:rPr lang="zh-CN" altLang="en-US" spc="85">
                <a:latin typeface="Cambria Math"/>
                <a:cs typeface="Cambria Math"/>
              </a:rPr>
              <a:t> </a:t>
            </a:r>
            <a:r>
              <a:rPr lang="en-US" altLang="zh-CN" spc="85">
                <a:latin typeface="Cambria Math"/>
                <a:cs typeface="Cambria Math"/>
              </a:rPr>
              <a:t>= </a:t>
            </a:r>
            <a:r>
              <a:rPr lang="zh-CN" altLang="en-US" spc="-25">
                <a:latin typeface="Cambria Math"/>
                <a:cs typeface="Cambria Math"/>
              </a:rPr>
              <a:t>𝟏𝟔</a:t>
            </a:r>
            <a:endParaRPr lang="zh-CN" altLang="en-US">
              <a:latin typeface="Cambria Math"/>
              <a:cs typeface="Cambria Math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5E365D2-133A-F44A-B735-C2E133682227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1">
            <a:extLst>
              <a:ext uri="{FF2B5EF4-FFF2-40B4-BE49-F238E27FC236}">
                <a16:creationId xmlns:a16="http://schemas.microsoft.com/office/drawing/2014/main" id="{EB5A372C-D6E7-4247-926C-F5E183C88735}"/>
              </a:ext>
            </a:extLst>
          </p:cNvPr>
          <p:cNvSpPr/>
          <p:nvPr/>
        </p:nvSpPr>
        <p:spPr>
          <a:xfrm>
            <a:off x="5552059" y="611505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75D79D2E-77FE-B243-BCC2-29D6F6D0749D}"/>
              </a:ext>
            </a:extLst>
          </p:cNvPr>
          <p:cNvSpPr/>
          <p:nvPr/>
        </p:nvSpPr>
        <p:spPr>
          <a:xfrm>
            <a:off x="4557776" y="611505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126DFEF3-8798-6A4F-9B60-C6D4A225827F}"/>
              </a:ext>
            </a:extLst>
          </p:cNvPr>
          <p:cNvSpPr txBox="1"/>
          <p:nvPr/>
        </p:nvSpPr>
        <p:spPr>
          <a:xfrm>
            <a:off x="1937766" y="5458967"/>
            <a:ext cx="8316595" cy="1004121"/>
          </a:xfrm>
          <a:prstGeom prst="rect">
            <a:avLst/>
          </a:prstGeom>
          <a:noFill/>
          <a:ln w="38100">
            <a:noFill/>
          </a:ln>
        </p:spPr>
        <p:txBody>
          <a:bodyPr vert="horz" wrap="square" lIns="0" tIns="140970" rIns="0" bIns="0" rtlCol="0">
            <a:spAutoFit/>
          </a:bodyPr>
          <a:lstStyle/>
          <a:p>
            <a:pPr marL="1266825" marR="1245235" indent="-13335">
              <a:lnSpc>
                <a:spcPct val="100000"/>
              </a:lnSpc>
              <a:spcBef>
                <a:spcPts val="1110"/>
              </a:spcBef>
              <a:tabLst>
                <a:tab pos="3830954" algn="l"/>
              </a:tabLst>
            </a:pPr>
            <a:r>
              <a:rPr lang="zh-CN" altLang="en-US" sz="2800" spc="-10" dirty="0">
                <a:solidFill>
                  <a:srgbClr val="FF0000"/>
                </a:solidFill>
                <a:latin typeface="PMingLiU"/>
                <a:cs typeface="PMingLiU"/>
              </a:rPr>
              <a:t>问题：</a:t>
            </a:r>
            <a:r>
              <a:rPr lang="zh-CN" altLang="en-US" sz="2800" spc="-10" dirty="0">
                <a:latin typeface="PMingLiU"/>
                <a:cs typeface="PMingLiU"/>
              </a:rPr>
              <a:t>寻找数组</a:t>
            </a:r>
            <a:r>
              <a:rPr lang="zh-CN" altLang="en-US" sz="2800" spc="-10" dirty="0">
                <a:latin typeface="Cambria Math"/>
                <a:cs typeface="Cambria Math"/>
              </a:rPr>
              <a:t>𝑿</a:t>
            </a:r>
            <a:r>
              <a:rPr lang="zh-CN" altLang="en-US" sz="2800" dirty="0">
                <a:latin typeface="PMingLiU"/>
                <a:cs typeface="PMingLiU"/>
              </a:rPr>
              <a:t>最大的</a:t>
            </a:r>
            <a:r>
              <a:rPr lang="zh-CN" altLang="en-US" sz="2800" spc="-15" dirty="0">
                <a:latin typeface="PMingLiU"/>
                <a:cs typeface="PMingLiU"/>
              </a:rPr>
              <a:t>非</a:t>
            </a:r>
            <a:r>
              <a:rPr lang="zh-CN" altLang="en-US" sz="2800" dirty="0">
                <a:latin typeface="PMingLiU"/>
                <a:cs typeface="PMingLiU"/>
              </a:rPr>
              <a:t>空子</a:t>
            </a:r>
            <a:r>
              <a:rPr lang="zh-CN" altLang="en-US" sz="2800" spc="-15" dirty="0">
                <a:latin typeface="PMingLiU"/>
                <a:cs typeface="PMingLiU"/>
              </a:rPr>
              <a:t>数</a:t>
            </a:r>
            <a:r>
              <a:rPr lang="zh-CN" altLang="en-US" sz="2800" spc="-10" dirty="0">
                <a:latin typeface="PMingLiU"/>
                <a:cs typeface="PMingLiU"/>
              </a:rPr>
              <a:t>组</a:t>
            </a:r>
            <a:r>
              <a:rPr lang="en-US" altLang="zh-CN" sz="2800" spc="555" dirty="0">
                <a:latin typeface="PMingLiU"/>
                <a:cs typeface="PMingLiU"/>
              </a:rPr>
              <a:t>?</a:t>
            </a:r>
            <a:r>
              <a:rPr sz="2800" dirty="0" err="1">
                <a:latin typeface="PMingLiU"/>
                <a:cs typeface="PMingLiU"/>
              </a:rPr>
              <a:t>答案</a:t>
            </a:r>
            <a:r>
              <a:rPr sz="2800" dirty="0">
                <a:latin typeface="PMingLiU"/>
                <a:cs typeface="PMingLiU"/>
              </a:rPr>
              <a:t>：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𝟑.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.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𝟏𝟎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𝟏𝟔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10E3663-CE62-5C40-934C-0CA680CA01D2}"/>
              </a:ext>
            </a:extLst>
          </p:cNvPr>
          <p:cNvSpPr/>
          <p:nvPr/>
        </p:nvSpPr>
        <p:spPr>
          <a:xfrm>
            <a:off x="2683819" y="6053238"/>
            <a:ext cx="3871358" cy="39506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096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问题定义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80CA087-0D00-DC40-A492-136FA7883E0F}"/>
              </a:ext>
            </a:extLst>
          </p:cNvPr>
          <p:cNvSpPr/>
          <p:nvPr/>
        </p:nvSpPr>
        <p:spPr>
          <a:xfrm>
            <a:off x="1847849" y="2442875"/>
            <a:ext cx="8828067" cy="3471040"/>
          </a:xfrm>
          <a:custGeom>
            <a:avLst/>
            <a:gdLst/>
            <a:ahLst/>
            <a:cxnLst/>
            <a:rect l="l" t="t" r="r" b="b"/>
            <a:pathLst>
              <a:path w="8633460" h="3503929">
                <a:moveTo>
                  <a:pt x="0" y="3503676"/>
                </a:moveTo>
                <a:lnTo>
                  <a:pt x="8633460" y="3503676"/>
                </a:lnTo>
                <a:lnTo>
                  <a:pt x="8633460" y="0"/>
                </a:lnTo>
                <a:lnTo>
                  <a:pt x="0" y="0"/>
                </a:lnTo>
                <a:lnTo>
                  <a:pt x="0" y="350367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DA3DBCB-0121-B749-87D6-1599A4190E7A}"/>
              </a:ext>
            </a:extLst>
          </p:cNvPr>
          <p:cNvSpPr txBox="1"/>
          <p:nvPr/>
        </p:nvSpPr>
        <p:spPr>
          <a:xfrm>
            <a:off x="1901189" y="5123336"/>
            <a:ext cx="492712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solidFill>
                  <a:srgbClr val="006FC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输出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23850" indent="-28575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23215" algn="l"/>
                <a:tab pos="323850" algn="l"/>
              </a:tabLst>
            </a:pP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求出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𝑺(𝒍,</a:t>
            </a:r>
            <a:r>
              <a:rPr sz="2200" spc="-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𝒓)</a:t>
            </a: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2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最大值，记为</a:t>
            </a:r>
            <a:r>
              <a:rPr sz="2200" spc="-2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𝑺</a:t>
            </a:r>
            <a:r>
              <a:rPr sz="2400" spc="-30" baseline="-1562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𝒎𝒂𝒙</a:t>
            </a:r>
            <a:endParaRPr sz="2400" baseline="-15625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9C2CF80-374E-1145-91AD-9C943BF3BDF3}"/>
              </a:ext>
            </a:extLst>
          </p:cNvPr>
          <p:cNvSpPr/>
          <p:nvPr/>
        </p:nvSpPr>
        <p:spPr>
          <a:xfrm>
            <a:off x="2100833" y="2011582"/>
            <a:ext cx="2447290" cy="445770"/>
          </a:xfrm>
          <a:custGeom>
            <a:avLst/>
            <a:gdLst/>
            <a:ahLst/>
            <a:cxnLst/>
            <a:rect l="l" t="t" r="r" b="b"/>
            <a:pathLst>
              <a:path w="2447290" h="445769">
                <a:moveTo>
                  <a:pt x="2335276" y="0"/>
                </a:moveTo>
                <a:lnTo>
                  <a:pt x="111506" y="0"/>
                </a:lnTo>
                <a:lnTo>
                  <a:pt x="0" y="445769"/>
                </a:lnTo>
                <a:lnTo>
                  <a:pt x="2446782" y="445769"/>
                </a:lnTo>
                <a:lnTo>
                  <a:pt x="233527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EC1E6C73-90DE-9B46-AB40-766A07BFDEBE}"/>
              </a:ext>
            </a:extLst>
          </p:cNvPr>
          <p:cNvSpPr txBox="1"/>
          <p:nvPr/>
        </p:nvSpPr>
        <p:spPr>
          <a:xfrm>
            <a:off x="724916" y="1263366"/>
            <a:ext cx="5208270" cy="1647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形式化定义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65405" algn="ctr">
              <a:lnSpc>
                <a:spcPct val="100000"/>
              </a:lnSpc>
              <a:spcBef>
                <a:spcPts val="3055"/>
              </a:spcBef>
            </a:pPr>
            <a:r>
              <a:rPr sz="24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最大子数组问题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250315">
              <a:lnSpc>
                <a:spcPct val="100000"/>
              </a:lnSpc>
              <a:spcBef>
                <a:spcPts val="830"/>
              </a:spcBef>
            </a:pPr>
            <a:r>
              <a:rPr sz="2200" b="1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</a:t>
            </a:r>
            <a:r>
              <a:rPr sz="2200" b="1" spc="-50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Continuous</a:t>
            </a:r>
            <a:r>
              <a:rPr sz="2200" b="1" spc="-45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Subarray,</a:t>
            </a:r>
            <a:r>
              <a:rPr sz="2200" b="1" spc="-50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200" b="1" spc="-25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MCS</a:t>
            </a:r>
            <a:endParaRPr sz="2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CB96FF16-22E5-EF43-8AA3-310BED277449}"/>
              </a:ext>
            </a:extLst>
          </p:cNvPr>
          <p:cNvSpPr txBox="1"/>
          <p:nvPr/>
        </p:nvSpPr>
        <p:spPr>
          <a:xfrm>
            <a:off x="1939288" y="3111402"/>
            <a:ext cx="8542021" cy="1043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solidFill>
                  <a:srgbClr val="006FC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输入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42265" marR="5080" indent="-342265">
              <a:lnSpc>
                <a:spcPts val="2600"/>
              </a:lnSpc>
              <a:spcBef>
                <a:spcPts val="165"/>
              </a:spcBef>
              <a:buFont typeface="Arial"/>
              <a:buChar char="•"/>
              <a:tabLst>
                <a:tab pos="342265" algn="l"/>
                <a:tab pos="342900" algn="l"/>
              </a:tabLst>
            </a:pP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给定一个数组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𝑿[𝟏.</a:t>
            </a:r>
            <a:r>
              <a:rPr sz="2200" spc="-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𝒏]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对于任意一对数组下标为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𝒍,𝒓</a:t>
            </a:r>
            <a:r>
              <a:rPr sz="2200" spc="7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(</a:t>
            </a:r>
            <a:r>
              <a:rPr sz="2200" spc="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𝒍</a:t>
            </a:r>
            <a:r>
              <a:rPr sz="2200" spc="4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≤</a:t>
            </a:r>
            <a:r>
              <a:rPr sz="2200" spc="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</a:t>
            </a:r>
            <a:r>
              <a:rPr sz="2200" spc="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)</a:t>
            </a:r>
            <a:r>
              <a:rPr sz="2200" spc="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200" spc="-3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非空</a:t>
            </a:r>
            <a:r>
              <a:rPr sz="22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，其和记为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0C53F6-A747-7049-8192-787F0A2DEDEB}"/>
                  </a:ext>
                </a:extLst>
              </p:cNvPr>
              <p:cNvSpPr txBox="1"/>
              <p:nvPr/>
            </p:nvSpPr>
            <p:spPr>
              <a:xfrm>
                <a:off x="4735579" y="4223510"/>
                <a:ext cx="1896160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0C53F6-A747-7049-8192-787F0A2DE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579" y="4223510"/>
                <a:ext cx="1896160" cy="840295"/>
              </a:xfrm>
              <a:prstGeom prst="rect">
                <a:avLst/>
              </a:prstGeom>
              <a:blipFill>
                <a:blip r:embed="rId3"/>
                <a:stretch>
                  <a:fillRect l="-1987" t="-119403" r="-5960" b="-179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云形 1">
            <a:extLst>
              <a:ext uri="{FF2B5EF4-FFF2-40B4-BE49-F238E27FC236}">
                <a16:creationId xmlns:a16="http://schemas.microsoft.com/office/drawing/2014/main" id="{7AF2CB4C-A9EE-6D4C-B25D-F905ED27EB90}"/>
              </a:ext>
            </a:extLst>
          </p:cNvPr>
          <p:cNvSpPr/>
          <p:nvPr/>
        </p:nvSpPr>
        <p:spPr>
          <a:xfrm>
            <a:off x="7309102" y="585216"/>
            <a:ext cx="2782065" cy="147476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思考：可以采用哪些算法策略？</a:t>
            </a:r>
          </a:p>
        </p:txBody>
      </p:sp>
    </p:spTree>
    <p:extLst>
      <p:ext uri="{BB962C8B-B14F-4D97-AF65-F5344CB8AC3E}">
        <p14:creationId xmlns:p14="http://schemas.microsoft.com/office/powerpoint/2010/main" val="202983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3E31B1A-71A7-6145-B6D8-81CDA703F20D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2">
            <a:extLst>
              <a:ext uri="{FF2B5EF4-FFF2-40B4-BE49-F238E27FC236}">
                <a16:creationId xmlns:a16="http://schemas.microsoft.com/office/drawing/2014/main" id="{D3395FFD-40E1-094E-A5A7-AF96B38ADDA7}"/>
              </a:ext>
            </a:extLst>
          </p:cNvPr>
          <p:cNvSpPr txBox="1"/>
          <p:nvPr/>
        </p:nvSpPr>
        <p:spPr>
          <a:xfrm>
            <a:off x="688340" y="2951480"/>
            <a:ext cx="1037946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𝑿[𝟏</a:t>
            </a:r>
            <a:r>
              <a:rPr sz="2800" spc="-8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..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𝒏]</a:t>
            </a:r>
            <a:r>
              <a:rPr sz="28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其所有的下标</a:t>
            </a:r>
            <a:r>
              <a:rPr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𝒍,𝒓(𝒍</a:t>
            </a:r>
            <a:r>
              <a:rPr sz="2800" spc="1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≤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𝒓)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组合分为以下两种情况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425EFAA-96D5-284A-BA84-DF7E3FB4B1C8}"/>
              </a:ext>
            </a:extLst>
          </p:cNvPr>
          <p:cNvSpPr txBox="1"/>
          <p:nvPr/>
        </p:nvSpPr>
        <p:spPr>
          <a:xfrm>
            <a:off x="3768597" y="3637408"/>
            <a:ext cx="1695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>
                <a:latin typeface="Cambria Math"/>
                <a:cs typeface="Cambria Math"/>
              </a:rPr>
              <a:t>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B3F4E808-1B52-884E-81AE-DCAEE068CB55}"/>
              </a:ext>
            </a:extLst>
          </p:cNvPr>
          <p:cNvSpPr txBox="1"/>
          <p:nvPr/>
        </p:nvSpPr>
        <p:spPr>
          <a:xfrm>
            <a:off x="1007363" y="3492628"/>
            <a:ext cx="4476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 err="1">
                <a:latin typeface="PMingLiU"/>
                <a:cs typeface="PMingLiU"/>
              </a:rPr>
              <a:t>当</a:t>
            </a:r>
            <a:r>
              <a:rPr sz="2400" dirty="0">
                <a:latin typeface="Cambria Math"/>
                <a:cs typeface="Cambria Math"/>
              </a:rPr>
              <a:t>𝒍</a:t>
            </a:r>
            <a:r>
              <a:rPr sz="2400" spc="85" dirty="0">
                <a:latin typeface="Cambria Math"/>
                <a:cs typeface="Cambria Math"/>
              </a:rPr>
              <a:t> = </a:t>
            </a:r>
            <a:r>
              <a:rPr sz="2400" dirty="0">
                <a:latin typeface="Cambria Math"/>
                <a:cs typeface="Cambria Math"/>
              </a:rPr>
              <a:t>𝒓</a:t>
            </a:r>
            <a:r>
              <a:rPr sz="2400" dirty="0" err="1">
                <a:latin typeface="PMingLiU"/>
                <a:cs typeface="PMingLiU"/>
              </a:rPr>
              <a:t>时，一共</a:t>
            </a:r>
            <a:r>
              <a:rPr sz="2400" dirty="0">
                <a:latin typeface="Cambria Math"/>
                <a:cs typeface="Cambria Math"/>
              </a:rPr>
              <a:t>𝑪</a:t>
            </a:r>
            <a:r>
              <a:rPr sz="2625" baseline="28571" dirty="0">
                <a:latin typeface="Cambria Math"/>
                <a:cs typeface="Cambria Math"/>
              </a:rPr>
              <a:t>𝟏</a:t>
            </a:r>
            <a:r>
              <a:rPr sz="2625" spc="690" baseline="28571" dirty="0">
                <a:latin typeface="Cambria Math"/>
                <a:cs typeface="Cambria Math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= </a:t>
            </a:r>
            <a:r>
              <a:rPr sz="2400" dirty="0">
                <a:latin typeface="Cambria Math"/>
                <a:cs typeface="Cambria Math"/>
              </a:rPr>
              <a:t>𝒏</a:t>
            </a:r>
            <a:r>
              <a:rPr sz="2400" spc="-20" dirty="0" err="1">
                <a:latin typeface="PMingLiU"/>
                <a:cs typeface="PMingLiU"/>
              </a:rPr>
              <a:t>种组合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33970642-465C-E945-97F5-3B139A042283}"/>
              </a:ext>
            </a:extLst>
          </p:cNvPr>
          <p:cNvSpPr txBox="1"/>
          <p:nvPr/>
        </p:nvSpPr>
        <p:spPr>
          <a:xfrm>
            <a:off x="3770121" y="4133980"/>
            <a:ext cx="1695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>
                <a:latin typeface="Cambria Math"/>
                <a:cs typeface="Cambria Math"/>
              </a:rPr>
              <a:t>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09EA462C-774B-D142-A2E6-6D344B13B7B2}"/>
              </a:ext>
            </a:extLst>
          </p:cNvPr>
          <p:cNvSpPr txBox="1"/>
          <p:nvPr/>
        </p:nvSpPr>
        <p:spPr>
          <a:xfrm>
            <a:off x="1007363" y="3988692"/>
            <a:ext cx="38842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spc="-10">
                <a:latin typeface="PMingLiU"/>
                <a:cs typeface="PMingLiU"/>
              </a:rPr>
              <a:t>当</a:t>
            </a:r>
            <a:r>
              <a:rPr sz="2400">
                <a:latin typeface="Cambria Math"/>
                <a:cs typeface="Cambria Math"/>
              </a:rPr>
              <a:t>𝒍</a:t>
            </a:r>
            <a:r>
              <a:rPr sz="2400" spc="95">
                <a:latin typeface="Cambria Math"/>
                <a:cs typeface="Cambria Math"/>
              </a:rPr>
              <a:t> &lt; </a:t>
            </a:r>
            <a:r>
              <a:rPr sz="2400">
                <a:latin typeface="Cambria Math"/>
                <a:cs typeface="Cambria Math"/>
              </a:rPr>
              <a:t>𝒓</a:t>
            </a:r>
            <a:r>
              <a:rPr sz="2400" spc="-10">
                <a:latin typeface="PMingLiU"/>
                <a:cs typeface="PMingLiU"/>
              </a:rPr>
              <a:t>时，一共</a:t>
            </a:r>
            <a:r>
              <a:rPr sz="2400" spc="-10">
                <a:latin typeface="Cambria Math"/>
                <a:cs typeface="Cambria Math"/>
              </a:rPr>
              <a:t>𝑪</a:t>
            </a:r>
            <a:r>
              <a:rPr sz="2625" spc="-15" baseline="28571">
                <a:latin typeface="Cambria Math"/>
                <a:cs typeface="Cambria Math"/>
              </a:rPr>
              <a:t>𝟐</a:t>
            </a:r>
            <a:r>
              <a:rPr sz="2625" spc="-292" baseline="28571">
                <a:latin typeface="Cambria Math"/>
                <a:cs typeface="Cambria Math"/>
              </a:rPr>
              <a:t> </a:t>
            </a:r>
            <a:r>
              <a:rPr sz="2400" spc="-25">
                <a:latin typeface="PMingLiU"/>
                <a:cs typeface="PMingLiU"/>
              </a:rPr>
              <a:t>种组合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B5D21D81-770A-BE4D-8222-163E78D129A0}"/>
              </a:ext>
            </a:extLst>
          </p:cNvPr>
          <p:cNvSpPr txBox="1"/>
          <p:nvPr/>
        </p:nvSpPr>
        <p:spPr>
          <a:xfrm>
            <a:off x="2620264" y="4746864"/>
            <a:ext cx="193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56C65FD-7633-484F-A72E-E1143EFB645D}"/>
              </a:ext>
            </a:extLst>
          </p:cNvPr>
          <p:cNvSpPr txBox="1"/>
          <p:nvPr/>
        </p:nvSpPr>
        <p:spPr>
          <a:xfrm>
            <a:off x="662940" y="4578463"/>
            <a:ext cx="798258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PMingLiU"/>
                <a:cs typeface="PMingLiU"/>
              </a:rPr>
              <a:t>枚举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𝒏 + </a:t>
            </a:r>
            <a:r>
              <a:rPr sz="2800" spc="95" dirty="0">
                <a:solidFill>
                  <a:srgbClr val="FF0000"/>
                </a:solidFill>
                <a:latin typeface="Cambria Math"/>
                <a:cs typeface="Cambria Math"/>
              </a:rPr>
              <a:t>𝑪</a:t>
            </a:r>
            <a:r>
              <a:rPr sz="3075" spc="142" baseline="28455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800" dirty="0" err="1">
                <a:latin typeface="PMingLiU"/>
                <a:cs typeface="PMingLiU"/>
              </a:rPr>
              <a:t>种下标</a:t>
            </a:r>
            <a:r>
              <a:rPr sz="2800" dirty="0">
                <a:latin typeface="Cambria Math"/>
                <a:cs typeface="Cambria Math"/>
              </a:rPr>
              <a:t>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</a:t>
            </a:r>
            <a:r>
              <a:rPr sz="2800" spc="-10" dirty="0" err="1">
                <a:latin typeface="PMingLiU"/>
                <a:cs typeface="PMingLiU"/>
              </a:rPr>
              <a:t>组合，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求出最大子数组之和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213556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7703A654-FF5D-FB44-8CF9-D17FC93A1B93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5">
            <a:extLst>
              <a:ext uri="{FF2B5EF4-FFF2-40B4-BE49-F238E27FC236}">
                <a16:creationId xmlns:a16="http://schemas.microsoft.com/office/drawing/2014/main" id="{5803B1E0-0BA1-A642-A374-181C075909DF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C30C035E-B931-8540-AA6E-6BACA2225B58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37E91C06-9619-F740-ABC8-3E758E65A015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77D4766B-D0A3-AF4A-A51C-937980FAEDE9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120703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7A5D0031-E0B3-7B4D-B59F-1B80739C05C1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4">
            <a:extLst>
              <a:ext uri="{FF2B5EF4-FFF2-40B4-BE49-F238E27FC236}">
                <a16:creationId xmlns:a16="http://schemas.microsoft.com/office/drawing/2014/main" id="{894EC396-2B14-8345-B88A-7B69D784FFC8}"/>
              </a:ext>
            </a:extLst>
          </p:cNvPr>
          <p:cNvSpPr/>
          <p:nvPr/>
        </p:nvSpPr>
        <p:spPr>
          <a:xfrm>
            <a:off x="4677917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5946FDAA-6472-BF4A-9FC5-08952301F354}"/>
              </a:ext>
            </a:extLst>
          </p:cNvPr>
          <p:cNvSpPr txBox="1"/>
          <p:nvPr/>
        </p:nvSpPr>
        <p:spPr>
          <a:xfrm>
            <a:off x="3972305" y="4475226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5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FEC5B5D6-91D8-1C41-AEF5-1867A0047FCD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9DE62FE6-814D-8440-BD7E-943E694C365B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152121A1-2EB0-7243-B5A2-387F93ECCA9D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3FF208E3-AD1C-D040-8CFF-D8BA1860339A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730345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507699BC-65AB-9843-B136-4E11D36C6F47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5">
            <a:extLst>
              <a:ext uri="{FF2B5EF4-FFF2-40B4-BE49-F238E27FC236}">
                <a16:creationId xmlns:a16="http://schemas.microsoft.com/office/drawing/2014/main" id="{08C9CE9D-C8CE-3441-9AA4-55D24A6EB550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A238C69-8CC3-D44E-BECE-A5E7EB288D69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77A81DBD-A25B-234E-B292-7323911EC110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03CE375B-3A84-3E40-BF37-AA6B14DE78A5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EB486819-8D2F-F340-A2C4-4B0F21D95970}"/>
              </a:ext>
            </a:extLst>
          </p:cNvPr>
          <p:cNvSpPr/>
          <p:nvPr/>
        </p:nvSpPr>
        <p:spPr>
          <a:xfrm>
            <a:off x="5289041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BFC5ACE0-F9C4-3641-A5EC-903512B5F75A}"/>
              </a:ext>
            </a:extLst>
          </p:cNvPr>
          <p:cNvSpPr/>
          <p:nvPr/>
        </p:nvSpPr>
        <p:spPr>
          <a:xfrm>
            <a:off x="4423283" y="4578096"/>
            <a:ext cx="564515" cy="234950"/>
          </a:xfrm>
          <a:custGeom>
            <a:avLst/>
            <a:gdLst/>
            <a:ahLst/>
            <a:cxnLst/>
            <a:rect l="l" t="t" r="r" b="b"/>
            <a:pathLst>
              <a:path w="564514" h="234950">
                <a:moveTo>
                  <a:pt x="489457" y="0"/>
                </a:moveTo>
                <a:lnTo>
                  <a:pt x="486155" y="9524"/>
                </a:lnTo>
                <a:lnTo>
                  <a:pt x="499703" y="15428"/>
                </a:lnTo>
                <a:lnTo>
                  <a:pt x="511381" y="23606"/>
                </a:lnTo>
                <a:lnTo>
                  <a:pt x="535156" y="61450"/>
                </a:lnTo>
                <a:lnTo>
                  <a:pt x="542925" y="116331"/>
                </a:lnTo>
                <a:lnTo>
                  <a:pt x="542065" y="137023"/>
                </a:lnTo>
                <a:lnTo>
                  <a:pt x="529081" y="187832"/>
                </a:lnTo>
                <a:lnTo>
                  <a:pt x="499899" y="219497"/>
                </a:lnTo>
                <a:lnTo>
                  <a:pt x="486537" y="225424"/>
                </a:lnTo>
                <a:lnTo>
                  <a:pt x="489457" y="234949"/>
                </a:lnTo>
                <a:lnTo>
                  <a:pt x="534374" y="208285"/>
                </a:lnTo>
                <a:lnTo>
                  <a:pt x="559546" y="159035"/>
                </a:lnTo>
                <a:lnTo>
                  <a:pt x="564388" y="117474"/>
                </a:lnTo>
                <a:lnTo>
                  <a:pt x="563173" y="95976"/>
                </a:lnTo>
                <a:lnTo>
                  <a:pt x="553458" y="57788"/>
                </a:lnTo>
                <a:lnTo>
                  <a:pt x="521446" y="15049"/>
                </a:lnTo>
                <a:lnTo>
                  <a:pt x="506505" y="6143"/>
                </a:lnTo>
                <a:lnTo>
                  <a:pt x="489457" y="0"/>
                </a:lnTo>
                <a:close/>
              </a:path>
              <a:path w="564514" h="234950">
                <a:moveTo>
                  <a:pt x="74929" y="0"/>
                </a:moveTo>
                <a:lnTo>
                  <a:pt x="30174" y="26717"/>
                </a:lnTo>
                <a:lnTo>
                  <a:pt x="4857" y="76072"/>
                </a:lnTo>
                <a:lnTo>
                  <a:pt x="0" y="117474"/>
                </a:lnTo>
                <a:lnTo>
                  <a:pt x="1212" y="139100"/>
                </a:lnTo>
                <a:lnTo>
                  <a:pt x="10876" y="177303"/>
                </a:lnTo>
                <a:lnTo>
                  <a:pt x="42925" y="219916"/>
                </a:lnTo>
                <a:lnTo>
                  <a:pt x="74929" y="234949"/>
                </a:lnTo>
                <a:lnTo>
                  <a:pt x="77977" y="225424"/>
                </a:lnTo>
                <a:lnTo>
                  <a:pt x="64597" y="219497"/>
                </a:lnTo>
                <a:lnTo>
                  <a:pt x="53038" y="211248"/>
                </a:lnTo>
                <a:lnTo>
                  <a:pt x="29285" y="172785"/>
                </a:lnTo>
                <a:lnTo>
                  <a:pt x="21462" y="116331"/>
                </a:lnTo>
                <a:lnTo>
                  <a:pt x="22324" y="96260"/>
                </a:lnTo>
                <a:lnTo>
                  <a:pt x="35432" y="46735"/>
                </a:lnTo>
                <a:lnTo>
                  <a:pt x="64811" y="15428"/>
                </a:lnTo>
                <a:lnTo>
                  <a:pt x="78358" y="9524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6C6F726A-A24E-674D-B25D-D73F1F6FADAE}"/>
              </a:ext>
            </a:extLst>
          </p:cNvPr>
          <p:cNvSpPr txBox="1"/>
          <p:nvPr/>
        </p:nvSpPr>
        <p:spPr>
          <a:xfrm>
            <a:off x="4118609" y="4475226"/>
            <a:ext cx="245491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305"/>
              </a:spcBef>
              <a:tabLst>
                <a:tab pos="962660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 𝟓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593122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DDC73869-B59B-4C4C-B05C-A46E371A07FC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5">
            <a:extLst>
              <a:ext uri="{FF2B5EF4-FFF2-40B4-BE49-F238E27FC236}">
                <a16:creationId xmlns:a16="http://schemas.microsoft.com/office/drawing/2014/main" id="{F1B1FE8F-A7FB-554E-BDF1-DE958DB98177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F9024BE8-332D-2E42-A1FA-8A3F3CC9101E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0AFF70BA-B151-AF40-B939-968BA49B5883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28487E73-24E7-4E4F-B6C7-0CD3C168F16C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6D6A1FA9-FDD7-BE46-B4AD-50C1C937F1AB}"/>
              </a:ext>
            </a:extLst>
          </p:cNvPr>
          <p:cNvSpPr/>
          <p:nvPr/>
        </p:nvSpPr>
        <p:spPr>
          <a:xfrm>
            <a:off x="5887973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562E4576-00C6-2148-BD12-9C211CAC2221}"/>
              </a:ext>
            </a:extLst>
          </p:cNvPr>
          <p:cNvSpPr/>
          <p:nvPr/>
        </p:nvSpPr>
        <p:spPr>
          <a:xfrm>
            <a:off x="4811648" y="4578096"/>
            <a:ext cx="564515" cy="234950"/>
          </a:xfrm>
          <a:custGeom>
            <a:avLst/>
            <a:gdLst/>
            <a:ahLst/>
            <a:cxnLst/>
            <a:rect l="l" t="t" r="r" b="b"/>
            <a:pathLst>
              <a:path w="564514" h="234950">
                <a:moveTo>
                  <a:pt x="489458" y="0"/>
                </a:moveTo>
                <a:lnTo>
                  <a:pt x="486155" y="9524"/>
                </a:lnTo>
                <a:lnTo>
                  <a:pt x="499756" y="15428"/>
                </a:lnTo>
                <a:lnTo>
                  <a:pt x="511428" y="23606"/>
                </a:lnTo>
                <a:lnTo>
                  <a:pt x="535176" y="61450"/>
                </a:lnTo>
                <a:lnTo>
                  <a:pt x="543051" y="116331"/>
                </a:lnTo>
                <a:lnTo>
                  <a:pt x="542172" y="137023"/>
                </a:lnTo>
                <a:lnTo>
                  <a:pt x="529081" y="187832"/>
                </a:lnTo>
                <a:lnTo>
                  <a:pt x="499917" y="219497"/>
                </a:lnTo>
                <a:lnTo>
                  <a:pt x="486537" y="225424"/>
                </a:lnTo>
                <a:lnTo>
                  <a:pt x="489458" y="234949"/>
                </a:lnTo>
                <a:lnTo>
                  <a:pt x="534392" y="208285"/>
                </a:lnTo>
                <a:lnTo>
                  <a:pt x="559593" y="159035"/>
                </a:lnTo>
                <a:lnTo>
                  <a:pt x="564388" y="117474"/>
                </a:lnTo>
                <a:lnTo>
                  <a:pt x="563175" y="95976"/>
                </a:lnTo>
                <a:lnTo>
                  <a:pt x="553511" y="57788"/>
                </a:lnTo>
                <a:lnTo>
                  <a:pt x="521462" y="15049"/>
                </a:lnTo>
                <a:lnTo>
                  <a:pt x="506507" y="6143"/>
                </a:lnTo>
                <a:lnTo>
                  <a:pt x="489458" y="0"/>
                </a:lnTo>
                <a:close/>
              </a:path>
              <a:path w="564514" h="234950">
                <a:moveTo>
                  <a:pt x="75056" y="0"/>
                </a:moveTo>
                <a:lnTo>
                  <a:pt x="30194" y="26717"/>
                </a:lnTo>
                <a:lnTo>
                  <a:pt x="4857" y="76072"/>
                </a:lnTo>
                <a:lnTo>
                  <a:pt x="0" y="117474"/>
                </a:lnTo>
                <a:lnTo>
                  <a:pt x="1214" y="139100"/>
                </a:lnTo>
                <a:lnTo>
                  <a:pt x="10929" y="177303"/>
                </a:lnTo>
                <a:lnTo>
                  <a:pt x="42957" y="219916"/>
                </a:lnTo>
                <a:lnTo>
                  <a:pt x="75056" y="234949"/>
                </a:lnTo>
                <a:lnTo>
                  <a:pt x="77977" y="225424"/>
                </a:lnTo>
                <a:lnTo>
                  <a:pt x="64597" y="219497"/>
                </a:lnTo>
                <a:lnTo>
                  <a:pt x="53038" y="211248"/>
                </a:lnTo>
                <a:lnTo>
                  <a:pt x="29338" y="172785"/>
                </a:lnTo>
                <a:lnTo>
                  <a:pt x="21462" y="116331"/>
                </a:lnTo>
                <a:lnTo>
                  <a:pt x="22342" y="96260"/>
                </a:lnTo>
                <a:lnTo>
                  <a:pt x="35433" y="46735"/>
                </a:lnTo>
                <a:lnTo>
                  <a:pt x="64811" y="15428"/>
                </a:lnTo>
                <a:lnTo>
                  <a:pt x="78359" y="9524"/>
                </a:lnTo>
                <a:lnTo>
                  <a:pt x="750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EA86A493-9127-EE4A-A052-8C0500903E76}"/>
              </a:ext>
            </a:extLst>
          </p:cNvPr>
          <p:cNvSpPr txBox="1"/>
          <p:nvPr/>
        </p:nvSpPr>
        <p:spPr>
          <a:xfrm>
            <a:off x="4504182" y="4475226"/>
            <a:ext cx="291592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305"/>
              </a:spcBef>
              <a:tabLst>
                <a:tab pos="965835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𝟓 − 𝟒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561502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3E1F3A9-E953-3B48-B676-0BFAAFEB9BB7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623577A8-A098-704A-AAEF-CFF3596FE678}"/>
              </a:ext>
            </a:extLst>
          </p:cNvPr>
          <p:cNvSpPr/>
          <p:nvPr/>
        </p:nvSpPr>
        <p:spPr>
          <a:xfrm>
            <a:off x="6416802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24C03EEA-789C-1041-93FF-DDA7914B985B}"/>
              </a:ext>
            </a:extLst>
          </p:cNvPr>
          <p:cNvSpPr/>
          <p:nvPr/>
        </p:nvSpPr>
        <p:spPr>
          <a:xfrm>
            <a:off x="5085460" y="4578096"/>
            <a:ext cx="564515" cy="234950"/>
          </a:xfrm>
          <a:custGeom>
            <a:avLst/>
            <a:gdLst/>
            <a:ahLst/>
            <a:cxnLst/>
            <a:rect l="l" t="t" r="r" b="b"/>
            <a:pathLst>
              <a:path w="564514" h="234950">
                <a:moveTo>
                  <a:pt x="489458" y="0"/>
                </a:moveTo>
                <a:lnTo>
                  <a:pt x="486028" y="9524"/>
                </a:lnTo>
                <a:lnTo>
                  <a:pt x="499649" y="15428"/>
                </a:lnTo>
                <a:lnTo>
                  <a:pt x="511365" y="23606"/>
                </a:lnTo>
                <a:lnTo>
                  <a:pt x="535156" y="61450"/>
                </a:lnTo>
                <a:lnTo>
                  <a:pt x="542925" y="116331"/>
                </a:lnTo>
                <a:lnTo>
                  <a:pt x="542063" y="137023"/>
                </a:lnTo>
                <a:lnTo>
                  <a:pt x="528954" y="187832"/>
                </a:lnTo>
                <a:lnTo>
                  <a:pt x="499844" y="219497"/>
                </a:lnTo>
                <a:lnTo>
                  <a:pt x="486410" y="225424"/>
                </a:lnTo>
                <a:lnTo>
                  <a:pt x="489458" y="234949"/>
                </a:lnTo>
                <a:lnTo>
                  <a:pt x="534320" y="208285"/>
                </a:lnTo>
                <a:lnTo>
                  <a:pt x="559546" y="159035"/>
                </a:lnTo>
                <a:lnTo>
                  <a:pt x="564388" y="117474"/>
                </a:lnTo>
                <a:lnTo>
                  <a:pt x="563173" y="95976"/>
                </a:lnTo>
                <a:lnTo>
                  <a:pt x="553458" y="57788"/>
                </a:lnTo>
                <a:lnTo>
                  <a:pt x="521398" y="15049"/>
                </a:lnTo>
                <a:lnTo>
                  <a:pt x="506487" y="6143"/>
                </a:lnTo>
                <a:lnTo>
                  <a:pt x="489458" y="0"/>
                </a:lnTo>
                <a:close/>
              </a:path>
              <a:path w="564514" h="234950">
                <a:moveTo>
                  <a:pt x="74929" y="0"/>
                </a:moveTo>
                <a:lnTo>
                  <a:pt x="30120" y="26717"/>
                </a:lnTo>
                <a:lnTo>
                  <a:pt x="4857" y="76072"/>
                </a:lnTo>
                <a:lnTo>
                  <a:pt x="0" y="117474"/>
                </a:lnTo>
                <a:lnTo>
                  <a:pt x="1212" y="139100"/>
                </a:lnTo>
                <a:lnTo>
                  <a:pt x="10876" y="177303"/>
                </a:lnTo>
                <a:lnTo>
                  <a:pt x="42925" y="219916"/>
                </a:lnTo>
                <a:lnTo>
                  <a:pt x="74929" y="234949"/>
                </a:lnTo>
                <a:lnTo>
                  <a:pt x="77977" y="225424"/>
                </a:lnTo>
                <a:lnTo>
                  <a:pt x="64541" y="219497"/>
                </a:lnTo>
                <a:lnTo>
                  <a:pt x="52974" y="211248"/>
                </a:lnTo>
                <a:lnTo>
                  <a:pt x="29231" y="172785"/>
                </a:lnTo>
                <a:lnTo>
                  <a:pt x="21462" y="116331"/>
                </a:lnTo>
                <a:lnTo>
                  <a:pt x="22322" y="96260"/>
                </a:lnTo>
                <a:lnTo>
                  <a:pt x="35305" y="46735"/>
                </a:lnTo>
                <a:lnTo>
                  <a:pt x="64702" y="15428"/>
                </a:lnTo>
                <a:lnTo>
                  <a:pt x="78231" y="9524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21CBC538-B100-C042-83A5-810D970533D5}"/>
              </a:ext>
            </a:extLst>
          </p:cNvPr>
          <p:cNvSpPr txBox="1"/>
          <p:nvPr/>
        </p:nvSpPr>
        <p:spPr>
          <a:xfrm>
            <a:off x="4776215" y="4475226"/>
            <a:ext cx="337502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305"/>
              </a:spcBef>
              <a:tabLst>
                <a:tab pos="967105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𝟔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1CA4D57-3A90-4C42-A5F1-BB4EE374985F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23766EA-CC56-6448-BF79-89A178C7676E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FA1D079B-37B7-E047-9C31-6EC7D536C83D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688FBD35-42DD-1A48-8518-0CC29A5A2061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300219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E1FDBCA-06B2-4D40-94D7-EF68528E8FE3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4B465658-5A47-9E4E-94A5-BCB83565D8C6}"/>
              </a:ext>
            </a:extLst>
          </p:cNvPr>
          <p:cNvSpPr/>
          <p:nvPr/>
        </p:nvSpPr>
        <p:spPr>
          <a:xfrm>
            <a:off x="7001256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48777DE-385B-1E49-B301-634EEDB6B49F}"/>
              </a:ext>
            </a:extLst>
          </p:cNvPr>
          <p:cNvSpPr/>
          <p:nvPr/>
        </p:nvSpPr>
        <p:spPr>
          <a:xfrm>
            <a:off x="5462523" y="4578096"/>
            <a:ext cx="564515" cy="234950"/>
          </a:xfrm>
          <a:custGeom>
            <a:avLst/>
            <a:gdLst/>
            <a:ahLst/>
            <a:cxnLst/>
            <a:rect l="l" t="t" r="r" b="b"/>
            <a:pathLst>
              <a:path w="564514" h="234950">
                <a:moveTo>
                  <a:pt x="489330" y="0"/>
                </a:moveTo>
                <a:lnTo>
                  <a:pt x="486028" y="9524"/>
                </a:lnTo>
                <a:lnTo>
                  <a:pt x="499649" y="15428"/>
                </a:lnTo>
                <a:lnTo>
                  <a:pt x="511365" y="23606"/>
                </a:lnTo>
                <a:lnTo>
                  <a:pt x="535156" y="61450"/>
                </a:lnTo>
                <a:lnTo>
                  <a:pt x="542925" y="116331"/>
                </a:lnTo>
                <a:lnTo>
                  <a:pt x="542045" y="137023"/>
                </a:lnTo>
                <a:lnTo>
                  <a:pt x="528954" y="187832"/>
                </a:lnTo>
                <a:lnTo>
                  <a:pt x="499790" y="219497"/>
                </a:lnTo>
                <a:lnTo>
                  <a:pt x="486410" y="225424"/>
                </a:lnTo>
                <a:lnTo>
                  <a:pt x="489330" y="234949"/>
                </a:lnTo>
                <a:lnTo>
                  <a:pt x="534318" y="208285"/>
                </a:lnTo>
                <a:lnTo>
                  <a:pt x="559546" y="159035"/>
                </a:lnTo>
                <a:lnTo>
                  <a:pt x="564388" y="117474"/>
                </a:lnTo>
                <a:lnTo>
                  <a:pt x="563173" y="95976"/>
                </a:lnTo>
                <a:lnTo>
                  <a:pt x="553458" y="57788"/>
                </a:lnTo>
                <a:lnTo>
                  <a:pt x="521335" y="15049"/>
                </a:lnTo>
                <a:lnTo>
                  <a:pt x="506380" y="6143"/>
                </a:lnTo>
                <a:lnTo>
                  <a:pt x="489330" y="0"/>
                </a:lnTo>
                <a:close/>
              </a:path>
              <a:path w="564514" h="234950">
                <a:moveTo>
                  <a:pt x="74929" y="0"/>
                </a:moveTo>
                <a:lnTo>
                  <a:pt x="30067" y="26717"/>
                </a:lnTo>
                <a:lnTo>
                  <a:pt x="4841" y="76072"/>
                </a:lnTo>
                <a:lnTo>
                  <a:pt x="0" y="117474"/>
                </a:lnTo>
                <a:lnTo>
                  <a:pt x="1194" y="139100"/>
                </a:lnTo>
                <a:lnTo>
                  <a:pt x="10822" y="177303"/>
                </a:lnTo>
                <a:lnTo>
                  <a:pt x="42830" y="219916"/>
                </a:lnTo>
                <a:lnTo>
                  <a:pt x="74929" y="234949"/>
                </a:lnTo>
                <a:lnTo>
                  <a:pt x="77850" y="225424"/>
                </a:lnTo>
                <a:lnTo>
                  <a:pt x="64470" y="219497"/>
                </a:lnTo>
                <a:lnTo>
                  <a:pt x="52911" y="211248"/>
                </a:lnTo>
                <a:lnTo>
                  <a:pt x="29211" y="172785"/>
                </a:lnTo>
                <a:lnTo>
                  <a:pt x="21336" y="116331"/>
                </a:lnTo>
                <a:lnTo>
                  <a:pt x="22215" y="96260"/>
                </a:lnTo>
                <a:lnTo>
                  <a:pt x="35305" y="46735"/>
                </a:lnTo>
                <a:lnTo>
                  <a:pt x="64684" y="15428"/>
                </a:lnTo>
                <a:lnTo>
                  <a:pt x="78231" y="9524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452FE43-F0A3-DA45-A1B0-C24E1318F4B8}"/>
              </a:ext>
            </a:extLst>
          </p:cNvPr>
          <p:cNvSpPr txBox="1"/>
          <p:nvPr/>
        </p:nvSpPr>
        <p:spPr>
          <a:xfrm>
            <a:off x="5150358" y="4475226"/>
            <a:ext cx="383603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305"/>
              </a:spcBef>
              <a:tabLst>
                <a:tab pos="970280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 𝟐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2F07515-1124-9444-93D4-4B33D93A1026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5A264E17-F238-6241-AA49-6EF60EA7494C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E4DBFD5-9D23-1C47-A2A6-98903BD5C34D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16EB2DC1-4DBE-0644-B25F-7F3C59DD612A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200538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383A4A8-E985-AE40-A447-D65A6D59B021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3C861611-6448-8946-A86A-D9BE39331B0C}"/>
              </a:ext>
            </a:extLst>
          </p:cNvPr>
          <p:cNvSpPr/>
          <p:nvPr/>
        </p:nvSpPr>
        <p:spPr>
          <a:xfrm>
            <a:off x="7587233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2E85F48-3EAA-E04F-A90A-584AF6710A54}"/>
              </a:ext>
            </a:extLst>
          </p:cNvPr>
          <p:cNvSpPr/>
          <p:nvPr/>
        </p:nvSpPr>
        <p:spPr>
          <a:xfrm>
            <a:off x="5807709" y="4578096"/>
            <a:ext cx="564515" cy="234950"/>
          </a:xfrm>
          <a:custGeom>
            <a:avLst/>
            <a:gdLst/>
            <a:ahLst/>
            <a:cxnLst/>
            <a:rect l="l" t="t" r="r" b="b"/>
            <a:pathLst>
              <a:path w="564514" h="234950">
                <a:moveTo>
                  <a:pt x="489457" y="0"/>
                </a:moveTo>
                <a:lnTo>
                  <a:pt x="486028" y="9524"/>
                </a:lnTo>
                <a:lnTo>
                  <a:pt x="499649" y="15428"/>
                </a:lnTo>
                <a:lnTo>
                  <a:pt x="511365" y="23606"/>
                </a:lnTo>
                <a:lnTo>
                  <a:pt x="535156" y="61450"/>
                </a:lnTo>
                <a:lnTo>
                  <a:pt x="542925" y="116331"/>
                </a:lnTo>
                <a:lnTo>
                  <a:pt x="542045" y="137023"/>
                </a:lnTo>
                <a:lnTo>
                  <a:pt x="528954" y="187832"/>
                </a:lnTo>
                <a:lnTo>
                  <a:pt x="499790" y="219497"/>
                </a:lnTo>
                <a:lnTo>
                  <a:pt x="486410" y="225424"/>
                </a:lnTo>
                <a:lnTo>
                  <a:pt x="489457" y="234949"/>
                </a:lnTo>
                <a:lnTo>
                  <a:pt x="534320" y="208285"/>
                </a:lnTo>
                <a:lnTo>
                  <a:pt x="559546" y="159035"/>
                </a:lnTo>
                <a:lnTo>
                  <a:pt x="564388" y="117474"/>
                </a:lnTo>
                <a:lnTo>
                  <a:pt x="563173" y="95976"/>
                </a:lnTo>
                <a:lnTo>
                  <a:pt x="553458" y="57788"/>
                </a:lnTo>
                <a:lnTo>
                  <a:pt x="521350" y="15049"/>
                </a:lnTo>
                <a:lnTo>
                  <a:pt x="506434" y="6143"/>
                </a:lnTo>
                <a:lnTo>
                  <a:pt x="489457" y="0"/>
                </a:lnTo>
                <a:close/>
              </a:path>
              <a:path w="564514" h="234950">
                <a:moveTo>
                  <a:pt x="74929" y="0"/>
                </a:moveTo>
                <a:lnTo>
                  <a:pt x="30067" y="26717"/>
                </a:lnTo>
                <a:lnTo>
                  <a:pt x="4841" y="76072"/>
                </a:lnTo>
                <a:lnTo>
                  <a:pt x="0" y="117474"/>
                </a:lnTo>
                <a:lnTo>
                  <a:pt x="1194" y="139100"/>
                </a:lnTo>
                <a:lnTo>
                  <a:pt x="10822" y="177303"/>
                </a:lnTo>
                <a:lnTo>
                  <a:pt x="42830" y="219916"/>
                </a:lnTo>
                <a:lnTo>
                  <a:pt x="74929" y="234949"/>
                </a:lnTo>
                <a:lnTo>
                  <a:pt x="77850" y="225424"/>
                </a:lnTo>
                <a:lnTo>
                  <a:pt x="64470" y="219497"/>
                </a:lnTo>
                <a:lnTo>
                  <a:pt x="52911" y="211248"/>
                </a:lnTo>
                <a:lnTo>
                  <a:pt x="29211" y="172785"/>
                </a:lnTo>
                <a:lnTo>
                  <a:pt x="21336" y="116331"/>
                </a:lnTo>
                <a:lnTo>
                  <a:pt x="22215" y="96260"/>
                </a:lnTo>
                <a:lnTo>
                  <a:pt x="35305" y="46735"/>
                </a:lnTo>
                <a:lnTo>
                  <a:pt x="64684" y="15428"/>
                </a:lnTo>
                <a:lnTo>
                  <a:pt x="78231" y="9524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5F57C17-7D7E-4444-94EF-0A63CE3325F1}"/>
              </a:ext>
            </a:extLst>
          </p:cNvPr>
          <p:cNvSpPr txBox="1"/>
          <p:nvPr/>
        </p:nvSpPr>
        <p:spPr>
          <a:xfrm>
            <a:off x="5493258" y="4475226"/>
            <a:ext cx="429641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305"/>
              </a:spcBef>
              <a:tabLst>
                <a:tab pos="972819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 𝟐</a:t>
            </a:r>
            <a:r>
              <a:rPr sz="2000" spc="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DB74CE0-0DA1-6241-8015-CE479BA3D890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4625AC19-9654-4E4B-8EE4-BC3041AA8AFB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B5793330-D9FA-C54A-8E06-1EEDEC35F8FE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D24C548-DCCF-E449-A03E-F18F20A7F617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822539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27EFA73-27F4-3247-8F3B-A0C6F6D8BD78}"/>
              </a:ext>
            </a:extLst>
          </p:cNvPr>
          <p:cNvSpPr txBox="1"/>
          <p:nvPr/>
        </p:nvSpPr>
        <p:spPr>
          <a:xfrm>
            <a:off x="747715" y="1256796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𝟗)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8D57FF26-F5BB-644A-BA5B-A4064B864406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5">
            <a:extLst>
              <a:ext uri="{FF2B5EF4-FFF2-40B4-BE49-F238E27FC236}">
                <a16:creationId xmlns:a16="http://schemas.microsoft.com/office/drawing/2014/main" id="{AAB25B8D-F25A-1743-B51A-98CBF53B16EF}"/>
              </a:ext>
            </a:extLst>
          </p:cNvPr>
          <p:cNvSpPr/>
          <p:nvPr/>
        </p:nvSpPr>
        <p:spPr>
          <a:xfrm>
            <a:off x="8161781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CA96CA3F-253D-9946-96B3-B1EA1A12B5EC}"/>
              </a:ext>
            </a:extLst>
          </p:cNvPr>
          <p:cNvSpPr txBox="1"/>
          <p:nvPr/>
        </p:nvSpPr>
        <p:spPr>
          <a:xfrm>
            <a:off x="7751826" y="1969770"/>
            <a:ext cx="93853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4DEE62F5-FE00-D14C-BA7C-346A8F1DBDA2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5A979337-C35D-8848-83B9-6CC1430E084E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21928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27EFA73-27F4-3247-8F3B-A0C6F6D8BD78}"/>
              </a:ext>
            </a:extLst>
          </p:cNvPr>
          <p:cNvSpPr txBox="1"/>
          <p:nvPr/>
        </p:nvSpPr>
        <p:spPr>
          <a:xfrm>
            <a:off x="747715" y="1256796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80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 dirty="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𝟗)</a:t>
            </a:r>
            <a:r>
              <a:rPr sz="2800" spc="-25" dirty="0">
                <a:latin typeface="PMingLiU"/>
                <a:cs typeface="PMingLiU"/>
              </a:rPr>
              <a:t>：</a:t>
            </a:r>
            <a:endParaRPr sz="2800" dirty="0">
              <a:latin typeface="PMingLiU"/>
              <a:cs typeface="PMingLiU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F8018819-89FA-844E-B838-084AEBA94599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5">
            <a:extLst>
              <a:ext uri="{FF2B5EF4-FFF2-40B4-BE49-F238E27FC236}">
                <a16:creationId xmlns:a16="http://schemas.microsoft.com/office/drawing/2014/main" id="{519343D3-ED95-9D4C-9021-D9F8DDE53B2C}"/>
              </a:ext>
            </a:extLst>
          </p:cNvPr>
          <p:cNvSpPr/>
          <p:nvPr/>
        </p:nvSpPr>
        <p:spPr>
          <a:xfrm>
            <a:off x="8177783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C5F74E8C-4D55-924A-AF2F-289A3748103D}"/>
              </a:ext>
            </a:extLst>
          </p:cNvPr>
          <p:cNvSpPr/>
          <p:nvPr/>
        </p:nvSpPr>
        <p:spPr>
          <a:xfrm>
            <a:off x="6168516" y="4578096"/>
            <a:ext cx="565150" cy="234950"/>
          </a:xfrm>
          <a:custGeom>
            <a:avLst/>
            <a:gdLst/>
            <a:ahLst/>
            <a:cxnLst/>
            <a:rect l="l" t="t" r="r" b="b"/>
            <a:pathLst>
              <a:path w="565150" h="234950">
                <a:moveTo>
                  <a:pt x="490219" y="0"/>
                </a:moveTo>
                <a:lnTo>
                  <a:pt x="486917" y="9524"/>
                </a:lnTo>
                <a:lnTo>
                  <a:pt x="500518" y="15428"/>
                </a:lnTo>
                <a:lnTo>
                  <a:pt x="512190" y="23606"/>
                </a:lnTo>
                <a:lnTo>
                  <a:pt x="535918" y="61450"/>
                </a:lnTo>
                <a:lnTo>
                  <a:pt x="543687" y="116331"/>
                </a:lnTo>
                <a:lnTo>
                  <a:pt x="542827" y="137023"/>
                </a:lnTo>
                <a:lnTo>
                  <a:pt x="529843" y="187832"/>
                </a:lnTo>
                <a:lnTo>
                  <a:pt x="500679" y="219497"/>
                </a:lnTo>
                <a:lnTo>
                  <a:pt x="487299" y="225424"/>
                </a:lnTo>
                <a:lnTo>
                  <a:pt x="490219" y="234949"/>
                </a:lnTo>
                <a:lnTo>
                  <a:pt x="535154" y="208285"/>
                </a:lnTo>
                <a:lnTo>
                  <a:pt x="560355" y="159035"/>
                </a:lnTo>
                <a:lnTo>
                  <a:pt x="565150" y="117474"/>
                </a:lnTo>
                <a:lnTo>
                  <a:pt x="563937" y="95976"/>
                </a:lnTo>
                <a:lnTo>
                  <a:pt x="554273" y="57788"/>
                </a:lnTo>
                <a:lnTo>
                  <a:pt x="522224" y="15049"/>
                </a:lnTo>
                <a:lnTo>
                  <a:pt x="507269" y="6143"/>
                </a:lnTo>
                <a:lnTo>
                  <a:pt x="490219" y="0"/>
                </a:lnTo>
                <a:close/>
              </a:path>
              <a:path w="565150" h="234950">
                <a:moveTo>
                  <a:pt x="74930" y="0"/>
                </a:moveTo>
                <a:lnTo>
                  <a:pt x="30192" y="26717"/>
                </a:lnTo>
                <a:lnTo>
                  <a:pt x="4857" y="76072"/>
                </a:lnTo>
                <a:lnTo>
                  <a:pt x="0" y="117474"/>
                </a:lnTo>
                <a:lnTo>
                  <a:pt x="1212" y="139100"/>
                </a:lnTo>
                <a:lnTo>
                  <a:pt x="10876" y="177303"/>
                </a:lnTo>
                <a:lnTo>
                  <a:pt x="42925" y="219916"/>
                </a:lnTo>
                <a:lnTo>
                  <a:pt x="74930" y="234949"/>
                </a:lnTo>
                <a:lnTo>
                  <a:pt x="77978" y="225424"/>
                </a:lnTo>
                <a:lnTo>
                  <a:pt x="64597" y="219497"/>
                </a:lnTo>
                <a:lnTo>
                  <a:pt x="53038" y="211248"/>
                </a:lnTo>
                <a:lnTo>
                  <a:pt x="29338" y="172785"/>
                </a:lnTo>
                <a:lnTo>
                  <a:pt x="21462" y="116331"/>
                </a:lnTo>
                <a:lnTo>
                  <a:pt x="22342" y="96260"/>
                </a:lnTo>
                <a:lnTo>
                  <a:pt x="35433" y="46735"/>
                </a:lnTo>
                <a:lnTo>
                  <a:pt x="64811" y="15428"/>
                </a:lnTo>
                <a:lnTo>
                  <a:pt x="78359" y="9524"/>
                </a:lnTo>
                <a:lnTo>
                  <a:pt x="749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6DF09909-A793-EA4C-85AA-D01F70E7814B}"/>
              </a:ext>
            </a:extLst>
          </p:cNvPr>
          <p:cNvSpPr txBox="1"/>
          <p:nvPr/>
        </p:nvSpPr>
        <p:spPr>
          <a:xfrm>
            <a:off x="5769102" y="4475226"/>
            <a:ext cx="507746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305"/>
              </a:spcBef>
              <a:tabLst>
                <a:tab pos="1058545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 𝟒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 𝟑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 𝟐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𝟏𝟎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259668CF-3407-0C42-A10A-ACB20818712E}"/>
              </a:ext>
            </a:extLst>
          </p:cNvPr>
          <p:cNvSpPr/>
          <p:nvPr/>
        </p:nvSpPr>
        <p:spPr>
          <a:xfrm>
            <a:off x="8161781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081B13B5-DE2A-5B4C-837C-3B92EBE9A6F1}"/>
              </a:ext>
            </a:extLst>
          </p:cNvPr>
          <p:cNvSpPr txBox="1"/>
          <p:nvPr/>
        </p:nvSpPr>
        <p:spPr>
          <a:xfrm>
            <a:off x="7751826" y="1969770"/>
            <a:ext cx="93853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410067EC-12BE-9E43-97E8-43E2AFF41C9B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1B14CC86-9C45-0F47-B459-62A7E8DDCFCF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EAEDEB-CB9D-5E46-92D3-28140DFEB9E5}"/>
              </a:ext>
            </a:extLst>
          </p:cNvPr>
          <p:cNvSpPr txBox="1"/>
          <p:nvPr/>
        </p:nvSpPr>
        <p:spPr>
          <a:xfrm>
            <a:off x="3803047" y="4449414"/>
            <a:ext cx="1633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同理可得：</a:t>
            </a:r>
          </a:p>
        </p:txBody>
      </p:sp>
    </p:spTree>
    <p:extLst>
      <p:ext uri="{BB962C8B-B14F-4D97-AF65-F5344CB8AC3E}">
        <p14:creationId xmlns:p14="http://schemas.microsoft.com/office/powerpoint/2010/main" val="479292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伪代码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62670C5-B067-374A-BE74-B4A2EE58429D}"/>
              </a:ext>
            </a:extLst>
          </p:cNvPr>
          <p:cNvSpPr txBox="1"/>
          <p:nvPr/>
        </p:nvSpPr>
        <p:spPr>
          <a:xfrm>
            <a:off x="662940" y="1353670"/>
            <a:ext cx="9850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枚举</a:t>
            </a:r>
            <a:r>
              <a:rPr sz="2800" dirty="0">
                <a:latin typeface="Cambria Math"/>
                <a:cs typeface="Cambria Math"/>
              </a:rPr>
              <a:t>𝒏 +</a:t>
            </a:r>
            <a:r>
              <a:rPr lang="zh-CN" altLang="en-US" sz="2800" dirty="0">
                <a:latin typeface="Cambria Math"/>
                <a:cs typeface="Cambria Math"/>
              </a:rPr>
              <a:t> </a:t>
            </a:r>
            <a:r>
              <a:rPr lang="zh-CN" altLang="en-US" sz="2800" spc="100" dirty="0">
                <a:latin typeface="Cambria Math"/>
                <a:cs typeface="Cambria Math"/>
              </a:rPr>
              <a:t>𝑪</a:t>
            </a:r>
            <a:r>
              <a:rPr lang="zh-CN" altLang="en-US" sz="3075" spc="150" baseline="28455" dirty="0">
                <a:latin typeface="Cambria Math"/>
                <a:cs typeface="Cambria Math"/>
              </a:rPr>
              <a:t>𝟐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种可能的</a:t>
            </a:r>
            <a:r>
              <a:rPr sz="2800" spc="8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区间</a:t>
            </a:r>
            <a:r>
              <a:rPr sz="2800" spc="85" dirty="0">
                <a:solidFill>
                  <a:srgbClr val="FF0000"/>
                </a:solidFill>
                <a:latin typeface="PMingLiU"/>
                <a:cs typeface="PMingLiU"/>
              </a:rPr>
              <a:t> </a:t>
            </a:r>
            <a:r>
              <a:rPr sz="2800" dirty="0">
                <a:latin typeface="Cambria Math"/>
                <a:cs typeface="Cambria Math"/>
              </a:rPr>
              <a:t>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</a:t>
            </a:r>
            <a:r>
              <a:rPr sz="2800" spc="3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(𝒍</a:t>
            </a:r>
            <a:r>
              <a:rPr sz="2800" spc="100" dirty="0">
                <a:latin typeface="Cambria Math"/>
                <a:cs typeface="Cambria Math"/>
              </a:rPr>
              <a:t> ≤ </a:t>
            </a:r>
            <a:r>
              <a:rPr sz="2800" dirty="0">
                <a:latin typeface="Cambria Math"/>
                <a:cs typeface="Cambria Math"/>
              </a:rPr>
              <a:t>𝐫)</a:t>
            </a:r>
            <a:r>
              <a:rPr sz="2800" spc="-5" dirty="0">
                <a:latin typeface="PMingLiU"/>
                <a:cs typeface="PMingLiU"/>
              </a:rPr>
              <a:t>，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求解最大子数组之和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442512D4-B488-B743-8984-23C37B05CB82}"/>
              </a:ext>
            </a:extLst>
          </p:cNvPr>
          <p:cNvSpPr txBox="1"/>
          <p:nvPr/>
        </p:nvSpPr>
        <p:spPr>
          <a:xfrm>
            <a:off x="10461752" y="1510194"/>
            <a:ext cx="57785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 dirty="0">
                <a:latin typeface="Cambria Math"/>
                <a:cs typeface="Cambria Math"/>
              </a:rPr>
              <a:t>𝒎𝒂𝒙</a:t>
            </a:r>
            <a:endParaRPr sz="2050" dirty="0">
              <a:latin typeface="Cambria Math"/>
              <a:cs typeface="Cambria Math"/>
            </a:endParaRPr>
          </a:p>
        </p:txBody>
      </p:sp>
      <p:pic>
        <p:nvPicPr>
          <p:cNvPr id="16" name="object 3">
            <a:extLst>
              <a:ext uri="{FF2B5EF4-FFF2-40B4-BE49-F238E27FC236}">
                <a16:creationId xmlns:a16="http://schemas.microsoft.com/office/drawing/2014/main" id="{52239C32-75C2-5A46-BF94-9FD9538FC6B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66836" y="2016118"/>
            <a:ext cx="9042328" cy="427596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object 4">
            <a:extLst>
              <a:ext uri="{FF2B5EF4-FFF2-40B4-BE49-F238E27FC236}">
                <a16:creationId xmlns:a16="http://schemas.microsoft.com/office/drawing/2014/main" id="{34E5FFFA-C90A-F64F-83A0-E5AFE4CC7E16}"/>
              </a:ext>
            </a:extLst>
          </p:cNvPr>
          <p:cNvSpPr/>
          <p:nvPr/>
        </p:nvSpPr>
        <p:spPr>
          <a:xfrm>
            <a:off x="1383341" y="3036708"/>
            <a:ext cx="2186489" cy="342900"/>
          </a:xfrm>
          <a:custGeom>
            <a:avLst/>
            <a:gdLst/>
            <a:ahLst/>
            <a:cxnLst/>
            <a:rect l="l" t="t" r="r" b="b"/>
            <a:pathLst>
              <a:path w="2238375" h="342900">
                <a:moveTo>
                  <a:pt x="0" y="57150"/>
                </a:moveTo>
                <a:lnTo>
                  <a:pt x="4491" y="34879"/>
                </a:lnTo>
                <a:lnTo>
                  <a:pt x="16740" y="16716"/>
                </a:lnTo>
                <a:lnTo>
                  <a:pt x="34906" y="4482"/>
                </a:lnTo>
                <a:lnTo>
                  <a:pt x="57150" y="0"/>
                </a:lnTo>
                <a:lnTo>
                  <a:pt x="2180843" y="0"/>
                </a:lnTo>
                <a:lnTo>
                  <a:pt x="2203114" y="4482"/>
                </a:lnTo>
                <a:lnTo>
                  <a:pt x="2221277" y="16716"/>
                </a:lnTo>
                <a:lnTo>
                  <a:pt x="2233511" y="34879"/>
                </a:lnTo>
                <a:lnTo>
                  <a:pt x="2237993" y="57150"/>
                </a:lnTo>
                <a:lnTo>
                  <a:pt x="2237993" y="285750"/>
                </a:lnTo>
                <a:lnTo>
                  <a:pt x="2233511" y="308020"/>
                </a:lnTo>
                <a:lnTo>
                  <a:pt x="2221277" y="326183"/>
                </a:lnTo>
                <a:lnTo>
                  <a:pt x="2203114" y="338417"/>
                </a:lnTo>
                <a:lnTo>
                  <a:pt x="2180843" y="342900"/>
                </a:lnTo>
                <a:lnTo>
                  <a:pt x="57150" y="342900"/>
                </a:lnTo>
                <a:lnTo>
                  <a:pt x="34906" y="338417"/>
                </a:lnTo>
                <a:lnTo>
                  <a:pt x="16740" y="326183"/>
                </a:lnTo>
                <a:lnTo>
                  <a:pt x="4491" y="308020"/>
                </a:lnTo>
                <a:lnTo>
                  <a:pt x="0" y="285750"/>
                </a:lnTo>
                <a:lnTo>
                  <a:pt x="0" y="57150"/>
                </a:lnTo>
                <a:close/>
              </a:path>
            </a:pathLst>
          </a:custGeom>
          <a:noFill/>
          <a:ln w="38100">
            <a:noFill/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E21EBCA4-0E66-2A4F-9901-20E55080DF60}"/>
              </a:ext>
            </a:extLst>
          </p:cNvPr>
          <p:cNvSpPr txBox="1"/>
          <p:nvPr/>
        </p:nvSpPr>
        <p:spPr>
          <a:xfrm>
            <a:off x="4739623" y="2993357"/>
            <a:ext cx="3279140" cy="454612"/>
          </a:xfrm>
          <a:prstGeom prst="rect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4455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665"/>
              </a:spcBef>
            </a:pPr>
            <a:r>
              <a:rPr sz="2400" b="1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枚举所有的起始下标</a:t>
            </a:r>
            <a:r>
              <a:rPr sz="2400" b="1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𝒍</a:t>
            </a:r>
            <a:endParaRPr sz="2400" b="1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8DACC0A5-EDD5-434C-A7F9-90AD8CA2E81D}"/>
              </a:ext>
            </a:extLst>
          </p:cNvPr>
          <p:cNvSpPr/>
          <p:nvPr/>
        </p:nvSpPr>
        <p:spPr>
          <a:xfrm>
            <a:off x="1392414" y="3049213"/>
            <a:ext cx="2238375" cy="342900"/>
          </a:xfrm>
          <a:custGeom>
            <a:avLst/>
            <a:gdLst/>
            <a:ahLst/>
            <a:cxnLst/>
            <a:rect l="l" t="t" r="r" b="b"/>
            <a:pathLst>
              <a:path w="2238375" h="342900">
                <a:moveTo>
                  <a:pt x="0" y="57150"/>
                </a:moveTo>
                <a:lnTo>
                  <a:pt x="4491" y="34879"/>
                </a:lnTo>
                <a:lnTo>
                  <a:pt x="16740" y="16716"/>
                </a:lnTo>
                <a:lnTo>
                  <a:pt x="34906" y="4482"/>
                </a:lnTo>
                <a:lnTo>
                  <a:pt x="57150" y="0"/>
                </a:lnTo>
                <a:lnTo>
                  <a:pt x="2180843" y="0"/>
                </a:lnTo>
                <a:lnTo>
                  <a:pt x="2203114" y="4482"/>
                </a:lnTo>
                <a:lnTo>
                  <a:pt x="2221277" y="16716"/>
                </a:lnTo>
                <a:lnTo>
                  <a:pt x="2233511" y="34879"/>
                </a:lnTo>
                <a:lnTo>
                  <a:pt x="2237993" y="57150"/>
                </a:lnTo>
                <a:lnTo>
                  <a:pt x="2237993" y="285750"/>
                </a:lnTo>
                <a:lnTo>
                  <a:pt x="2233511" y="308020"/>
                </a:lnTo>
                <a:lnTo>
                  <a:pt x="2221277" y="326183"/>
                </a:lnTo>
                <a:lnTo>
                  <a:pt x="2203114" y="338417"/>
                </a:lnTo>
                <a:lnTo>
                  <a:pt x="2180843" y="342900"/>
                </a:lnTo>
                <a:lnTo>
                  <a:pt x="57150" y="342900"/>
                </a:lnTo>
                <a:lnTo>
                  <a:pt x="34906" y="338417"/>
                </a:lnTo>
                <a:lnTo>
                  <a:pt x="16740" y="326183"/>
                </a:lnTo>
                <a:lnTo>
                  <a:pt x="4491" y="308020"/>
                </a:lnTo>
                <a:lnTo>
                  <a:pt x="0" y="285750"/>
                </a:lnTo>
                <a:lnTo>
                  <a:pt x="0" y="5715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ACA1C8F-C3E4-DD42-B1C9-1CE3A36C4ABC}"/>
              </a:ext>
            </a:extLst>
          </p:cNvPr>
          <p:cNvSpPr txBox="1"/>
          <p:nvPr/>
        </p:nvSpPr>
        <p:spPr>
          <a:xfrm>
            <a:off x="2595880" y="1515984"/>
            <a:ext cx="193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>
                <a:latin typeface="Cambria Math"/>
                <a:cs typeface="Cambria Math"/>
              </a:rPr>
              <a:t>𝒏</a:t>
            </a:r>
            <a:endParaRPr sz="205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563640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伪代码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62670C5-B067-374A-BE74-B4A2EE58429D}"/>
              </a:ext>
            </a:extLst>
          </p:cNvPr>
          <p:cNvSpPr txBox="1"/>
          <p:nvPr/>
        </p:nvSpPr>
        <p:spPr>
          <a:xfrm>
            <a:off x="662940" y="1353670"/>
            <a:ext cx="9850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枚举</a:t>
            </a:r>
            <a:r>
              <a:rPr sz="2800" dirty="0">
                <a:latin typeface="Cambria Math"/>
                <a:cs typeface="Cambria Math"/>
              </a:rPr>
              <a:t>𝒏 + </a:t>
            </a:r>
            <a:r>
              <a:rPr sz="2800" spc="100" dirty="0">
                <a:latin typeface="Cambria Math"/>
                <a:cs typeface="Cambria Math"/>
              </a:rPr>
              <a:t>𝑪</a:t>
            </a:r>
            <a:r>
              <a:rPr sz="3075" spc="150" baseline="28455" dirty="0">
                <a:latin typeface="Cambria Math"/>
                <a:cs typeface="Cambria Math"/>
              </a:rPr>
              <a:t>𝟐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种可能的</a:t>
            </a:r>
            <a:r>
              <a:rPr sz="2800" spc="8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区间</a:t>
            </a:r>
            <a:r>
              <a:rPr sz="2800" spc="85" dirty="0">
                <a:solidFill>
                  <a:srgbClr val="FF0000"/>
                </a:solidFill>
                <a:latin typeface="PMingLiU"/>
                <a:cs typeface="PMingLiU"/>
              </a:rPr>
              <a:t> </a:t>
            </a:r>
            <a:r>
              <a:rPr sz="2800" dirty="0">
                <a:latin typeface="Cambria Math"/>
                <a:cs typeface="Cambria Math"/>
              </a:rPr>
              <a:t>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</a:t>
            </a:r>
            <a:r>
              <a:rPr sz="2800" spc="3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(𝒍</a:t>
            </a:r>
            <a:r>
              <a:rPr sz="2800" spc="100" dirty="0">
                <a:latin typeface="Cambria Math"/>
                <a:cs typeface="Cambria Math"/>
              </a:rPr>
              <a:t> ≤ </a:t>
            </a:r>
            <a:r>
              <a:rPr sz="2800" dirty="0">
                <a:latin typeface="Cambria Math"/>
                <a:cs typeface="Cambria Math"/>
              </a:rPr>
              <a:t>𝐫)</a:t>
            </a:r>
            <a:r>
              <a:rPr sz="2800" spc="-5" dirty="0">
                <a:latin typeface="PMingLiU"/>
                <a:cs typeface="PMingLiU"/>
              </a:rPr>
              <a:t>，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求解最大子数组之和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442512D4-B488-B743-8984-23C37B05CB82}"/>
              </a:ext>
            </a:extLst>
          </p:cNvPr>
          <p:cNvSpPr txBox="1"/>
          <p:nvPr/>
        </p:nvSpPr>
        <p:spPr>
          <a:xfrm>
            <a:off x="10461752" y="1510194"/>
            <a:ext cx="57785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 dirty="0">
                <a:latin typeface="Cambria Math"/>
                <a:cs typeface="Cambria Math"/>
              </a:rPr>
              <a:t>𝒎𝒂𝒙</a:t>
            </a:r>
            <a:endParaRPr sz="2050" dirty="0">
              <a:latin typeface="Cambria Math"/>
              <a:cs typeface="Cambria Math"/>
            </a:endParaRPr>
          </a:p>
        </p:txBody>
      </p:sp>
      <p:grpSp>
        <p:nvGrpSpPr>
          <p:cNvPr id="10" name="object 2">
            <a:extLst>
              <a:ext uri="{FF2B5EF4-FFF2-40B4-BE49-F238E27FC236}">
                <a16:creationId xmlns:a16="http://schemas.microsoft.com/office/drawing/2014/main" id="{B725F284-E33E-1047-A51F-42C6DF0B293A}"/>
              </a:ext>
            </a:extLst>
          </p:cNvPr>
          <p:cNvGrpSpPr/>
          <p:nvPr/>
        </p:nvGrpSpPr>
        <p:grpSpPr>
          <a:xfrm>
            <a:off x="1057047" y="1954569"/>
            <a:ext cx="8875905" cy="4275968"/>
            <a:chOff x="327183" y="1836543"/>
            <a:chExt cx="9256905" cy="4275968"/>
          </a:xfrm>
        </p:grpSpPr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00ED183A-C29D-2444-B1DA-9B0DC0C9C75E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27183" y="1836543"/>
              <a:ext cx="9256905" cy="4275968"/>
            </a:xfrm>
            <a:prstGeom prst="rect">
              <a:avLst/>
            </a:prstGeom>
          </p:spPr>
        </p:pic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10B1DED8-1881-8649-99B0-B0C978C1A6B4}"/>
                </a:ext>
              </a:extLst>
            </p:cNvPr>
            <p:cNvSpPr/>
            <p:nvPr/>
          </p:nvSpPr>
          <p:spPr>
            <a:xfrm>
              <a:off x="1076705" y="3163416"/>
              <a:ext cx="2238375" cy="342900"/>
            </a:xfrm>
            <a:custGeom>
              <a:avLst/>
              <a:gdLst/>
              <a:ahLst/>
              <a:cxnLst/>
              <a:rect l="l" t="t" r="r" b="b"/>
              <a:pathLst>
                <a:path w="2238375" h="342900">
                  <a:moveTo>
                    <a:pt x="0" y="57150"/>
                  </a:moveTo>
                  <a:lnTo>
                    <a:pt x="4491" y="34879"/>
                  </a:lnTo>
                  <a:lnTo>
                    <a:pt x="16740" y="16716"/>
                  </a:lnTo>
                  <a:lnTo>
                    <a:pt x="34906" y="4482"/>
                  </a:lnTo>
                  <a:lnTo>
                    <a:pt x="57150" y="0"/>
                  </a:lnTo>
                  <a:lnTo>
                    <a:pt x="2180844" y="0"/>
                  </a:lnTo>
                  <a:lnTo>
                    <a:pt x="2203114" y="4482"/>
                  </a:lnTo>
                  <a:lnTo>
                    <a:pt x="2221277" y="16716"/>
                  </a:lnTo>
                  <a:lnTo>
                    <a:pt x="2233511" y="34879"/>
                  </a:lnTo>
                  <a:lnTo>
                    <a:pt x="2237994" y="57150"/>
                  </a:lnTo>
                  <a:lnTo>
                    <a:pt x="2237994" y="285750"/>
                  </a:lnTo>
                  <a:lnTo>
                    <a:pt x="2233511" y="308020"/>
                  </a:lnTo>
                  <a:lnTo>
                    <a:pt x="2221277" y="326183"/>
                  </a:lnTo>
                  <a:lnTo>
                    <a:pt x="2203114" y="338417"/>
                  </a:lnTo>
                  <a:lnTo>
                    <a:pt x="2180844" y="342900"/>
                  </a:lnTo>
                  <a:lnTo>
                    <a:pt x="57150" y="342900"/>
                  </a:lnTo>
                  <a:lnTo>
                    <a:pt x="34906" y="338417"/>
                  </a:lnTo>
                  <a:lnTo>
                    <a:pt x="16740" y="326183"/>
                  </a:lnTo>
                  <a:lnTo>
                    <a:pt x="4491" y="308020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1">
            <a:extLst>
              <a:ext uri="{FF2B5EF4-FFF2-40B4-BE49-F238E27FC236}">
                <a16:creationId xmlns:a16="http://schemas.microsoft.com/office/drawing/2014/main" id="{3E641683-7D46-EB4D-8B42-C86F4467AFDF}"/>
              </a:ext>
            </a:extLst>
          </p:cNvPr>
          <p:cNvSpPr txBox="1"/>
          <p:nvPr/>
        </p:nvSpPr>
        <p:spPr>
          <a:xfrm>
            <a:off x="5345974" y="3188369"/>
            <a:ext cx="3277870" cy="454612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665"/>
              </a:spcBef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枚举所有的终止下标</a:t>
            </a:r>
            <a:r>
              <a:rPr sz="2400" spc="-50" dirty="0">
                <a:latin typeface="Cambria Math"/>
                <a:cs typeface="Cambria Math"/>
              </a:rPr>
              <a:t>𝒓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1CA8E7E-6B06-3246-8FCA-AED33ABD4CA7}"/>
              </a:ext>
            </a:extLst>
          </p:cNvPr>
          <p:cNvSpPr txBox="1"/>
          <p:nvPr/>
        </p:nvSpPr>
        <p:spPr>
          <a:xfrm>
            <a:off x="2595880" y="1515984"/>
            <a:ext cx="193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>
                <a:latin typeface="Cambria Math"/>
                <a:cs typeface="Cambria Math"/>
              </a:rPr>
              <a:t>𝒏</a:t>
            </a:r>
            <a:endParaRPr sz="205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941274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伪代码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62670C5-B067-374A-BE74-B4A2EE58429D}"/>
              </a:ext>
            </a:extLst>
          </p:cNvPr>
          <p:cNvSpPr txBox="1"/>
          <p:nvPr/>
        </p:nvSpPr>
        <p:spPr>
          <a:xfrm>
            <a:off x="662940" y="1353670"/>
            <a:ext cx="9850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枚举</a:t>
            </a:r>
            <a:r>
              <a:rPr sz="2800" dirty="0">
                <a:latin typeface="Cambria Math"/>
                <a:cs typeface="Cambria Math"/>
              </a:rPr>
              <a:t>𝒏 + </a:t>
            </a:r>
            <a:r>
              <a:rPr sz="2800" spc="100" dirty="0">
                <a:latin typeface="Cambria Math"/>
                <a:cs typeface="Cambria Math"/>
              </a:rPr>
              <a:t>𝑪</a:t>
            </a:r>
            <a:r>
              <a:rPr sz="3075" spc="150" baseline="28455" dirty="0">
                <a:latin typeface="Cambria Math"/>
                <a:cs typeface="Cambria Math"/>
              </a:rPr>
              <a:t>𝟐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种可能的</a:t>
            </a:r>
            <a:r>
              <a:rPr sz="2800" spc="8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区间</a:t>
            </a:r>
            <a:r>
              <a:rPr sz="2800" spc="85" dirty="0">
                <a:solidFill>
                  <a:srgbClr val="FF0000"/>
                </a:solidFill>
                <a:latin typeface="PMingLiU"/>
                <a:cs typeface="PMingLiU"/>
              </a:rPr>
              <a:t> </a:t>
            </a:r>
            <a:r>
              <a:rPr sz="2800" dirty="0">
                <a:latin typeface="Cambria Math"/>
                <a:cs typeface="Cambria Math"/>
              </a:rPr>
              <a:t>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</a:t>
            </a:r>
            <a:r>
              <a:rPr sz="2800" spc="3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(𝒍</a:t>
            </a:r>
            <a:r>
              <a:rPr sz="2800" spc="100" dirty="0">
                <a:latin typeface="Cambria Math"/>
                <a:cs typeface="Cambria Math"/>
              </a:rPr>
              <a:t> ≤ </a:t>
            </a:r>
            <a:r>
              <a:rPr sz="2800" dirty="0">
                <a:latin typeface="Cambria Math"/>
                <a:cs typeface="Cambria Math"/>
              </a:rPr>
              <a:t>𝐫)</a:t>
            </a:r>
            <a:r>
              <a:rPr sz="2800" spc="-5" dirty="0">
                <a:latin typeface="PMingLiU"/>
                <a:cs typeface="PMingLiU"/>
              </a:rPr>
              <a:t>，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求解最大子数组之和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442512D4-B488-B743-8984-23C37B05CB82}"/>
              </a:ext>
            </a:extLst>
          </p:cNvPr>
          <p:cNvSpPr txBox="1"/>
          <p:nvPr/>
        </p:nvSpPr>
        <p:spPr>
          <a:xfrm>
            <a:off x="10461752" y="1510194"/>
            <a:ext cx="57785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 dirty="0">
                <a:latin typeface="Cambria Math"/>
                <a:cs typeface="Cambria Math"/>
              </a:rPr>
              <a:t>𝒎𝒂𝒙</a:t>
            </a:r>
            <a:endParaRPr sz="2050" dirty="0">
              <a:latin typeface="Cambria Math"/>
              <a:cs typeface="Cambria Math"/>
            </a:endParaRPr>
          </a:p>
        </p:txBody>
      </p:sp>
      <p:grpSp>
        <p:nvGrpSpPr>
          <p:cNvPr id="9" name="object 2">
            <a:extLst>
              <a:ext uri="{FF2B5EF4-FFF2-40B4-BE49-F238E27FC236}">
                <a16:creationId xmlns:a16="http://schemas.microsoft.com/office/drawing/2014/main" id="{EA11F78B-310E-6744-B690-5F4B27358C98}"/>
              </a:ext>
            </a:extLst>
          </p:cNvPr>
          <p:cNvGrpSpPr/>
          <p:nvPr/>
        </p:nvGrpSpPr>
        <p:grpSpPr>
          <a:xfrm>
            <a:off x="1049227" y="1936902"/>
            <a:ext cx="9256905" cy="4275968"/>
            <a:chOff x="327183" y="1836543"/>
            <a:chExt cx="9256905" cy="4275968"/>
          </a:xfrm>
        </p:grpSpPr>
        <p:pic>
          <p:nvPicPr>
            <p:cNvPr id="15" name="object 3">
              <a:extLst>
                <a:ext uri="{FF2B5EF4-FFF2-40B4-BE49-F238E27FC236}">
                  <a16:creationId xmlns:a16="http://schemas.microsoft.com/office/drawing/2014/main" id="{433BD101-A1C2-134D-81CE-224477ED7204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27183" y="1836543"/>
              <a:ext cx="9256905" cy="4275968"/>
            </a:xfrm>
            <a:prstGeom prst="rect">
              <a:avLst/>
            </a:prstGeom>
          </p:spPr>
        </p:pic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7F159872-A465-5648-9A62-5157A8CA2994}"/>
                </a:ext>
              </a:extLst>
            </p:cNvPr>
            <p:cNvSpPr/>
            <p:nvPr/>
          </p:nvSpPr>
          <p:spPr>
            <a:xfrm>
              <a:off x="1436928" y="3484701"/>
              <a:ext cx="3510915" cy="1638300"/>
            </a:xfrm>
            <a:custGeom>
              <a:avLst/>
              <a:gdLst/>
              <a:ahLst/>
              <a:cxnLst/>
              <a:rect l="l" t="t" r="r" b="b"/>
              <a:pathLst>
                <a:path w="3510915" h="1638300">
                  <a:moveTo>
                    <a:pt x="0" y="153797"/>
                  </a:moveTo>
                  <a:lnTo>
                    <a:pt x="7838" y="105176"/>
                  </a:lnTo>
                  <a:lnTo>
                    <a:pt x="29667" y="62956"/>
                  </a:lnTo>
                  <a:lnTo>
                    <a:pt x="62956" y="29667"/>
                  </a:lnTo>
                  <a:lnTo>
                    <a:pt x="105176" y="7838"/>
                  </a:lnTo>
                  <a:lnTo>
                    <a:pt x="153797" y="0"/>
                  </a:lnTo>
                  <a:lnTo>
                    <a:pt x="3356736" y="0"/>
                  </a:lnTo>
                  <a:lnTo>
                    <a:pt x="3405357" y="7838"/>
                  </a:lnTo>
                  <a:lnTo>
                    <a:pt x="3447577" y="29667"/>
                  </a:lnTo>
                  <a:lnTo>
                    <a:pt x="3480866" y="62956"/>
                  </a:lnTo>
                  <a:lnTo>
                    <a:pt x="3502695" y="105176"/>
                  </a:lnTo>
                  <a:lnTo>
                    <a:pt x="3510533" y="153797"/>
                  </a:lnTo>
                  <a:lnTo>
                    <a:pt x="3510533" y="1484503"/>
                  </a:lnTo>
                  <a:lnTo>
                    <a:pt x="3502695" y="1533123"/>
                  </a:lnTo>
                  <a:lnTo>
                    <a:pt x="3480866" y="1575343"/>
                  </a:lnTo>
                  <a:lnTo>
                    <a:pt x="3447577" y="1608632"/>
                  </a:lnTo>
                  <a:lnTo>
                    <a:pt x="3405357" y="1630461"/>
                  </a:lnTo>
                  <a:lnTo>
                    <a:pt x="3356736" y="1638300"/>
                  </a:lnTo>
                  <a:lnTo>
                    <a:pt x="153797" y="1638300"/>
                  </a:lnTo>
                  <a:lnTo>
                    <a:pt x="105176" y="1630461"/>
                  </a:lnTo>
                  <a:lnTo>
                    <a:pt x="62956" y="1608632"/>
                  </a:lnTo>
                  <a:lnTo>
                    <a:pt x="29667" y="1575343"/>
                  </a:lnTo>
                  <a:lnTo>
                    <a:pt x="7838" y="1533123"/>
                  </a:lnTo>
                  <a:lnTo>
                    <a:pt x="0" y="1484503"/>
                  </a:lnTo>
                  <a:lnTo>
                    <a:pt x="0" y="15379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1">
            <a:extLst>
              <a:ext uri="{FF2B5EF4-FFF2-40B4-BE49-F238E27FC236}">
                <a16:creationId xmlns:a16="http://schemas.microsoft.com/office/drawing/2014/main" id="{18F0724E-4AF8-D543-AC6D-C2917068560C}"/>
              </a:ext>
            </a:extLst>
          </p:cNvPr>
          <p:cNvSpPr txBox="1"/>
          <p:nvPr/>
        </p:nvSpPr>
        <p:spPr>
          <a:xfrm>
            <a:off x="5939903" y="4184786"/>
            <a:ext cx="4048125" cy="455253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670"/>
              </a:spcBef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迭代计算</a:t>
            </a:r>
            <a:r>
              <a:rPr sz="2400" dirty="0">
                <a:latin typeface="Cambria Math"/>
                <a:cs typeface="Cambria Math"/>
              </a:rPr>
              <a:t>𝑺(𝒍</a:t>
            </a:r>
            <a:r>
              <a:rPr sz="2400" spc="-60" dirty="0">
                <a:latin typeface="Cambria Math"/>
                <a:cs typeface="Cambria Math"/>
              </a:rPr>
              <a:t>, </a:t>
            </a:r>
            <a:r>
              <a:rPr sz="2400" spc="-10" dirty="0">
                <a:latin typeface="Cambria Math"/>
                <a:cs typeface="Cambria Math"/>
              </a:rPr>
              <a:t>𝒓)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并更新</a:t>
            </a:r>
            <a:r>
              <a:rPr sz="2400" spc="-20" dirty="0">
                <a:latin typeface="Cambria Math"/>
                <a:cs typeface="Cambria Math"/>
              </a:rPr>
              <a:t>𝑺</a:t>
            </a:r>
            <a:r>
              <a:rPr sz="2625" spc="-30" baseline="-15873" dirty="0">
                <a:latin typeface="Cambria Math"/>
                <a:cs typeface="Cambria Math"/>
              </a:rPr>
              <a:t>𝒎𝒂𝒙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26607D9C-0C39-2C45-B4EA-250D739E7ECE}"/>
              </a:ext>
            </a:extLst>
          </p:cNvPr>
          <p:cNvSpPr txBox="1"/>
          <p:nvPr/>
        </p:nvSpPr>
        <p:spPr>
          <a:xfrm>
            <a:off x="2595880" y="1515984"/>
            <a:ext cx="193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>
                <a:latin typeface="Cambria Math"/>
                <a:cs typeface="Cambria Math"/>
              </a:rPr>
              <a:t>𝒏</a:t>
            </a:r>
            <a:endParaRPr sz="205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85773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伪代码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62670C5-B067-374A-BE74-B4A2EE58429D}"/>
              </a:ext>
            </a:extLst>
          </p:cNvPr>
          <p:cNvSpPr txBox="1"/>
          <p:nvPr/>
        </p:nvSpPr>
        <p:spPr>
          <a:xfrm>
            <a:off x="662940" y="1253311"/>
            <a:ext cx="9850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PMingLiU"/>
                <a:cs typeface="PMingLiU"/>
              </a:rPr>
              <a:t>枚举</a:t>
            </a:r>
            <a:r>
              <a:rPr sz="2800" dirty="0">
                <a:latin typeface="Cambria Math"/>
                <a:cs typeface="Cambria Math"/>
              </a:rPr>
              <a:t>𝒏 + </a:t>
            </a:r>
            <a:r>
              <a:rPr sz="2800" spc="100" dirty="0">
                <a:latin typeface="Cambria Math"/>
                <a:cs typeface="Cambria Math"/>
              </a:rPr>
              <a:t>𝑪</a:t>
            </a:r>
            <a:r>
              <a:rPr sz="3075" spc="150" baseline="28455" dirty="0">
                <a:latin typeface="Cambria Math"/>
                <a:cs typeface="Cambria Math"/>
              </a:rPr>
              <a:t>𝟐</a:t>
            </a:r>
            <a:r>
              <a:rPr sz="2800" spc="-5" dirty="0" err="1">
                <a:latin typeface="PMingLiU"/>
                <a:cs typeface="PMingLiU"/>
              </a:rPr>
              <a:t>种可能的</a:t>
            </a:r>
            <a:r>
              <a:rPr sz="2800" spc="85" dirty="0" err="1">
                <a:solidFill>
                  <a:srgbClr val="FF0000"/>
                </a:solidFill>
                <a:latin typeface="PMingLiU"/>
                <a:cs typeface="PMingLiU"/>
              </a:rPr>
              <a:t>区间</a:t>
            </a:r>
            <a:r>
              <a:rPr sz="2800" spc="85" dirty="0">
                <a:solidFill>
                  <a:srgbClr val="FF0000"/>
                </a:solidFill>
                <a:latin typeface="PMingLiU"/>
                <a:cs typeface="PMingLiU"/>
              </a:rPr>
              <a:t> </a:t>
            </a:r>
            <a:r>
              <a:rPr sz="2800" dirty="0">
                <a:latin typeface="Cambria Math"/>
                <a:cs typeface="Cambria Math"/>
              </a:rPr>
              <a:t>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</a:t>
            </a:r>
            <a:r>
              <a:rPr sz="2800" spc="3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(𝒍</a:t>
            </a:r>
            <a:r>
              <a:rPr sz="2800" spc="100" dirty="0">
                <a:latin typeface="Cambria Math"/>
                <a:cs typeface="Cambria Math"/>
              </a:rPr>
              <a:t> ≤ </a:t>
            </a:r>
            <a:r>
              <a:rPr sz="2800" dirty="0">
                <a:latin typeface="Cambria Math"/>
                <a:cs typeface="Cambria Math"/>
              </a:rPr>
              <a:t>𝐫)</a:t>
            </a:r>
            <a:r>
              <a:rPr sz="2800" spc="-5" dirty="0">
                <a:latin typeface="PMingLiU"/>
                <a:cs typeface="PMingLiU"/>
              </a:rPr>
              <a:t>，</a:t>
            </a:r>
            <a:r>
              <a:rPr sz="2800" spc="-5" dirty="0" err="1">
                <a:latin typeface="PMingLiU"/>
                <a:cs typeface="PMingLiU"/>
              </a:rPr>
              <a:t>求解最大子数组之和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442512D4-B488-B743-8984-23C37B05CB82}"/>
              </a:ext>
            </a:extLst>
          </p:cNvPr>
          <p:cNvSpPr txBox="1"/>
          <p:nvPr/>
        </p:nvSpPr>
        <p:spPr>
          <a:xfrm>
            <a:off x="10430580" y="1365231"/>
            <a:ext cx="57785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 dirty="0">
                <a:latin typeface="Cambria Math"/>
                <a:cs typeface="Cambria Math"/>
              </a:rPr>
              <a:t>𝒎𝒂𝒙</a:t>
            </a:r>
            <a:endParaRPr sz="2050" dirty="0">
              <a:latin typeface="Cambria Math"/>
              <a:cs typeface="Cambria Math"/>
            </a:endParaRP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FEE0E62F-9FE9-EC45-AAA1-B498AABB033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9230" y="1869996"/>
            <a:ext cx="8779462" cy="4275968"/>
          </a:xfrm>
          <a:prstGeom prst="rect">
            <a:avLst/>
          </a:prstGeom>
        </p:spPr>
      </p:pic>
      <p:sp>
        <p:nvSpPr>
          <p:cNvPr id="11" name="object 9">
            <a:extLst>
              <a:ext uri="{FF2B5EF4-FFF2-40B4-BE49-F238E27FC236}">
                <a16:creationId xmlns:a16="http://schemas.microsoft.com/office/drawing/2014/main" id="{DEA9FC84-C190-FB4A-9819-B204D8249C1B}"/>
              </a:ext>
            </a:extLst>
          </p:cNvPr>
          <p:cNvSpPr txBox="1"/>
          <p:nvPr/>
        </p:nvSpPr>
        <p:spPr>
          <a:xfrm>
            <a:off x="6174996" y="5549570"/>
            <a:ext cx="3642360" cy="6000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58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4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时间复杂度：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𝑶(𝒏</a:t>
            </a:r>
            <a:r>
              <a:rPr sz="3075" spc="-15" baseline="28455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E4B963BC-D2BF-6648-B10C-F43ED51DE9EB}"/>
              </a:ext>
            </a:extLst>
          </p:cNvPr>
          <p:cNvSpPr/>
          <p:nvPr/>
        </p:nvSpPr>
        <p:spPr>
          <a:xfrm>
            <a:off x="7132551" y="3685718"/>
            <a:ext cx="125095" cy="848360"/>
          </a:xfrm>
          <a:custGeom>
            <a:avLst/>
            <a:gdLst/>
            <a:ahLst/>
            <a:cxnLst/>
            <a:rect l="l" t="t" r="r" b="b"/>
            <a:pathLst>
              <a:path w="125095" h="848360">
                <a:moveTo>
                  <a:pt x="0" y="0"/>
                </a:moveTo>
                <a:lnTo>
                  <a:pt x="24336" y="823"/>
                </a:lnTo>
                <a:lnTo>
                  <a:pt x="44196" y="3063"/>
                </a:lnTo>
                <a:lnTo>
                  <a:pt x="57578" y="6375"/>
                </a:lnTo>
                <a:lnTo>
                  <a:pt x="62483" y="10413"/>
                </a:lnTo>
                <a:lnTo>
                  <a:pt x="62483" y="416305"/>
                </a:lnTo>
                <a:lnTo>
                  <a:pt x="67389" y="420344"/>
                </a:lnTo>
                <a:lnTo>
                  <a:pt x="80772" y="423656"/>
                </a:lnTo>
                <a:lnTo>
                  <a:pt x="100631" y="425896"/>
                </a:lnTo>
                <a:lnTo>
                  <a:pt x="124967" y="426719"/>
                </a:lnTo>
                <a:lnTo>
                  <a:pt x="100631" y="427543"/>
                </a:lnTo>
                <a:lnTo>
                  <a:pt x="80771" y="429783"/>
                </a:lnTo>
                <a:lnTo>
                  <a:pt x="67389" y="433095"/>
                </a:lnTo>
                <a:lnTo>
                  <a:pt x="62483" y="437133"/>
                </a:lnTo>
                <a:lnTo>
                  <a:pt x="62483" y="837691"/>
                </a:lnTo>
                <a:lnTo>
                  <a:pt x="57578" y="841730"/>
                </a:lnTo>
                <a:lnTo>
                  <a:pt x="44195" y="845042"/>
                </a:lnTo>
                <a:lnTo>
                  <a:pt x="24336" y="847282"/>
                </a:lnTo>
                <a:lnTo>
                  <a:pt x="0" y="84810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8EF3D3B8-8FA4-2946-A4BE-AB8D42FA74BD}"/>
              </a:ext>
            </a:extLst>
          </p:cNvPr>
          <p:cNvSpPr/>
          <p:nvPr/>
        </p:nvSpPr>
        <p:spPr>
          <a:xfrm>
            <a:off x="7828256" y="3157653"/>
            <a:ext cx="134620" cy="2006600"/>
          </a:xfrm>
          <a:custGeom>
            <a:avLst/>
            <a:gdLst/>
            <a:ahLst/>
            <a:cxnLst/>
            <a:rect l="l" t="t" r="r" b="b"/>
            <a:pathLst>
              <a:path w="134620" h="2006600">
                <a:moveTo>
                  <a:pt x="0" y="0"/>
                </a:moveTo>
                <a:lnTo>
                  <a:pt x="26122" y="871"/>
                </a:lnTo>
                <a:lnTo>
                  <a:pt x="47434" y="3254"/>
                </a:lnTo>
                <a:lnTo>
                  <a:pt x="61793" y="6804"/>
                </a:lnTo>
                <a:lnTo>
                  <a:pt x="67055" y="11175"/>
                </a:lnTo>
                <a:lnTo>
                  <a:pt x="67055" y="998219"/>
                </a:lnTo>
                <a:lnTo>
                  <a:pt x="72318" y="1002591"/>
                </a:lnTo>
                <a:lnTo>
                  <a:pt x="86677" y="1006141"/>
                </a:lnTo>
                <a:lnTo>
                  <a:pt x="107989" y="1008524"/>
                </a:lnTo>
                <a:lnTo>
                  <a:pt x="134111" y="1009395"/>
                </a:lnTo>
                <a:lnTo>
                  <a:pt x="107989" y="1010284"/>
                </a:lnTo>
                <a:lnTo>
                  <a:pt x="86677" y="1012697"/>
                </a:lnTo>
                <a:lnTo>
                  <a:pt x="72318" y="1016253"/>
                </a:lnTo>
                <a:lnTo>
                  <a:pt x="67055" y="1020572"/>
                </a:lnTo>
                <a:lnTo>
                  <a:pt x="67055" y="1995170"/>
                </a:lnTo>
                <a:lnTo>
                  <a:pt x="61793" y="1999541"/>
                </a:lnTo>
                <a:lnTo>
                  <a:pt x="47434" y="2003091"/>
                </a:lnTo>
                <a:lnTo>
                  <a:pt x="26122" y="2005474"/>
                </a:lnTo>
                <a:lnTo>
                  <a:pt x="0" y="200634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FBB9057B-99CA-FC4B-A7EA-15D766167B7E}"/>
              </a:ext>
            </a:extLst>
          </p:cNvPr>
          <p:cNvSpPr/>
          <p:nvPr/>
        </p:nvSpPr>
        <p:spPr>
          <a:xfrm>
            <a:off x="8712939" y="2840660"/>
            <a:ext cx="136525" cy="2618740"/>
          </a:xfrm>
          <a:custGeom>
            <a:avLst/>
            <a:gdLst/>
            <a:ahLst/>
            <a:cxnLst/>
            <a:rect l="l" t="t" r="r" b="b"/>
            <a:pathLst>
              <a:path w="136525" h="2618740">
                <a:moveTo>
                  <a:pt x="0" y="0"/>
                </a:moveTo>
                <a:lnTo>
                  <a:pt x="26568" y="892"/>
                </a:lnTo>
                <a:lnTo>
                  <a:pt x="48244" y="3333"/>
                </a:lnTo>
                <a:lnTo>
                  <a:pt x="62847" y="6965"/>
                </a:lnTo>
                <a:lnTo>
                  <a:pt x="68199" y="11429"/>
                </a:lnTo>
                <a:lnTo>
                  <a:pt x="68199" y="1305940"/>
                </a:lnTo>
                <a:lnTo>
                  <a:pt x="73550" y="1310332"/>
                </a:lnTo>
                <a:lnTo>
                  <a:pt x="88153" y="1313926"/>
                </a:lnTo>
                <a:lnTo>
                  <a:pt x="109829" y="1316353"/>
                </a:lnTo>
                <a:lnTo>
                  <a:pt x="136398" y="1317243"/>
                </a:lnTo>
                <a:lnTo>
                  <a:pt x="109829" y="1318136"/>
                </a:lnTo>
                <a:lnTo>
                  <a:pt x="88153" y="1320577"/>
                </a:lnTo>
                <a:lnTo>
                  <a:pt x="73550" y="1324209"/>
                </a:lnTo>
                <a:lnTo>
                  <a:pt x="68199" y="1328673"/>
                </a:lnTo>
                <a:lnTo>
                  <a:pt x="68199" y="2606802"/>
                </a:lnTo>
                <a:lnTo>
                  <a:pt x="62847" y="2611266"/>
                </a:lnTo>
                <a:lnTo>
                  <a:pt x="48244" y="2614898"/>
                </a:lnTo>
                <a:lnTo>
                  <a:pt x="26568" y="2617339"/>
                </a:lnTo>
                <a:lnTo>
                  <a:pt x="0" y="2618231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624D4E11-B1F0-4C42-8E39-48DDA1AE067A}"/>
              </a:ext>
            </a:extLst>
          </p:cNvPr>
          <p:cNvSpPr txBox="1"/>
          <p:nvPr/>
        </p:nvSpPr>
        <p:spPr>
          <a:xfrm>
            <a:off x="7282918" y="3880536"/>
            <a:ext cx="2483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23060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r>
              <a:rPr sz="2000" spc="3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300" spc="-15" baseline="-6313">
                <a:solidFill>
                  <a:srgbClr val="FF0000"/>
                </a:solidFill>
                <a:latin typeface="Cambria Math"/>
                <a:cs typeface="Cambria Math"/>
              </a:rPr>
              <a:t>𝑶(𝒏</a:t>
            </a:r>
            <a:r>
              <a:rPr sz="2400" spc="-15" baseline="19097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3300" spc="-15" baseline="-6313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sz="3300" baseline="-6313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3600" spc="-30" baseline="-10416">
                <a:solidFill>
                  <a:srgbClr val="FF0000"/>
                </a:solidFill>
                <a:latin typeface="Cambria Math"/>
                <a:cs typeface="Cambria Math"/>
              </a:rPr>
              <a:t>𝑶(𝒏</a:t>
            </a:r>
            <a:r>
              <a:rPr sz="2625" spc="-30" baseline="12698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3600" spc="-30" baseline="-10416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3600" baseline="-10416">
              <a:latin typeface="Cambria Math"/>
              <a:cs typeface="Cambria Math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691F42DE-09FC-9D46-86BF-F233D4012ACB}"/>
              </a:ext>
            </a:extLst>
          </p:cNvPr>
          <p:cNvSpPr txBox="1"/>
          <p:nvPr/>
        </p:nvSpPr>
        <p:spPr>
          <a:xfrm>
            <a:off x="2595880" y="1430640"/>
            <a:ext cx="193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>
                <a:latin typeface="Cambria Math"/>
                <a:cs typeface="Cambria Math"/>
              </a:rPr>
              <a:t>𝒏</a:t>
            </a:r>
            <a:endParaRPr sz="205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2085684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实例分析</a:t>
            </a:r>
          </a:p>
        </p:txBody>
      </p:sp>
      <p:grpSp>
        <p:nvGrpSpPr>
          <p:cNvPr id="15" name="object 2">
            <a:extLst>
              <a:ext uri="{FF2B5EF4-FFF2-40B4-BE49-F238E27FC236}">
                <a16:creationId xmlns:a16="http://schemas.microsoft.com/office/drawing/2014/main" id="{43335C8F-BA99-884A-AC2D-E20AFCAB81DE}"/>
              </a:ext>
            </a:extLst>
          </p:cNvPr>
          <p:cNvGrpSpPr/>
          <p:nvPr/>
        </p:nvGrpSpPr>
        <p:grpSpPr>
          <a:xfrm>
            <a:off x="278473" y="1146957"/>
            <a:ext cx="5454650" cy="4350385"/>
            <a:chOff x="319277" y="756666"/>
            <a:chExt cx="5454650" cy="4350385"/>
          </a:xfrm>
        </p:grpSpPr>
        <p:pic>
          <p:nvPicPr>
            <p:cNvPr id="16" name="object 3">
              <a:extLst>
                <a:ext uri="{FF2B5EF4-FFF2-40B4-BE49-F238E27FC236}">
                  <a16:creationId xmlns:a16="http://schemas.microsoft.com/office/drawing/2014/main" id="{C717ED0B-5C60-F045-8174-9405BEA0815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98262" y="878672"/>
              <a:ext cx="4772933" cy="1531174"/>
            </a:xfrm>
            <a:prstGeom prst="rect">
              <a:avLst/>
            </a:prstGeom>
          </p:spPr>
        </p:pic>
        <p:sp>
          <p:nvSpPr>
            <p:cNvPr id="18" name="object 4">
              <a:extLst>
                <a:ext uri="{FF2B5EF4-FFF2-40B4-BE49-F238E27FC236}">
                  <a16:creationId xmlns:a16="http://schemas.microsoft.com/office/drawing/2014/main" id="{2714B43F-C463-9D46-BACC-50B6DBCFF6A2}"/>
                </a:ext>
              </a:extLst>
            </p:cNvPr>
            <p:cNvSpPr/>
            <p:nvPr/>
          </p:nvSpPr>
          <p:spPr>
            <a:xfrm>
              <a:off x="338327" y="775716"/>
              <a:ext cx="5416550" cy="4312285"/>
            </a:xfrm>
            <a:custGeom>
              <a:avLst/>
              <a:gdLst/>
              <a:ahLst/>
              <a:cxnLst/>
              <a:rect l="l" t="t" r="r" b="b"/>
              <a:pathLst>
                <a:path w="5416550" h="4312285">
                  <a:moveTo>
                    <a:pt x="0" y="233680"/>
                  </a:moveTo>
                  <a:lnTo>
                    <a:pt x="4748" y="186592"/>
                  </a:lnTo>
                  <a:lnTo>
                    <a:pt x="18366" y="142732"/>
                  </a:lnTo>
                  <a:lnTo>
                    <a:pt x="39914" y="103038"/>
                  </a:lnTo>
                  <a:lnTo>
                    <a:pt x="68453" y="68453"/>
                  </a:lnTo>
                  <a:lnTo>
                    <a:pt x="103042" y="39915"/>
                  </a:lnTo>
                  <a:lnTo>
                    <a:pt x="142742" y="18367"/>
                  </a:lnTo>
                  <a:lnTo>
                    <a:pt x="186614" y="4748"/>
                  </a:lnTo>
                  <a:lnTo>
                    <a:pt x="233718" y="0"/>
                  </a:lnTo>
                  <a:lnTo>
                    <a:pt x="5182616" y="0"/>
                  </a:lnTo>
                  <a:lnTo>
                    <a:pt x="5229703" y="4748"/>
                  </a:lnTo>
                  <a:lnTo>
                    <a:pt x="5273563" y="18367"/>
                  </a:lnTo>
                  <a:lnTo>
                    <a:pt x="5313257" y="39915"/>
                  </a:lnTo>
                  <a:lnTo>
                    <a:pt x="5347843" y="68453"/>
                  </a:lnTo>
                  <a:lnTo>
                    <a:pt x="5376380" y="103038"/>
                  </a:lnTo>
                  <a:lnTo>
                    <a:pt x="5397928" y="142732"/>
                  </a:lnTo>
                  <a:lnTo>
                    <a:pt x="5411547" y="186592"/>
                  </a:lnTo>
                  <a:lnTo>
                    <a:pt x="5416296" y="233680"/>
                  </a:lnTo>
                  <a:lnTo>
                    <a:pt x="5416296" y="4078478"/>
                  </a:lnTo>
                  <a:lnTo>
                    <a:pt x="5411547" y="4125565"/>
                  </a:lnTo>
                  <a:lnTo>
                    <a:pt x="5397928" y="4169425"/>
                  </a:lnTo>
                  <a:lnTo>
                    <a:pt x="5376380" y="4209119"/>
                  </a:lnTo>
                  <a:lnTo>
                    <a:pt x="5347843" y="4243705"/>
                  </a:lnTo>
                  <a:lnTo>
                    <a:pt x="5313257" y="4272242"/>
                  </a:lnTo>
                  <a:lnTo>
                    <a:pt x="5273563" y="4293790"/>
                  </a:lnTo>
                  <a:lnTo>
                    <a:pt x="5229703" y="4307409"/>
                  </a:lnTo>
                  <a:lnTo>
                    <a:pt x="5182616" y="4312158"/>
                  </a:lnTo>
                  <a:lnTo>
                    <a:pt x="233718" y="4312158"/>
                  </a:lnTo>
                  <a:lnTo>
                    <a:pt x="186614" y="4307409"/>
                  </a:lnTo>
                  <a:lnTo>
                    <a:pt x="142742" y="4293790"/>
                  </a:lnTo>
                  <a:lnTo>
                    <a:pt x="103042" y="4272242"/>
                  </a:lnTo>
                  <a:lnTo>
                    <a:pt x="68453" y="4243705"/>
                  </a:lnTo>
                  <a:lnTo>
                    <a:pt x="39914" y="4209119"/>
                  </a:lnTo>
                  <a:lnTo>
                    <a:pt x="18366" y="4169425"/>
                  </a:lnTo>
                  <a:lnTo>
                    <a:pt x="4748" y="4125565"/>
                  </a:lnTo>
                  <a:lnTo>
                    <a:pt x="0" y="4078478"/>
                  </a:lnTo>
                  <a:lnTo>
                    <a:pt x="0" y="23368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5">
              <a:extLst>
                <a:ext uri="{FF2B5EF4-FFF2-40B4-BE49-F238E27FC236}">
                  <a16:creationId xmlns:a16="http://schemas.microsoft.com/office/drawing/2014/main" id="{B9BA3F2C-9366-0445-AE0D-113E08326F25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48735" y="2688391"/>
              <a:ext cx="5193874" cy="2230318"/>
            </a:xfrm>
            <a:prstGeom prst="rect">
              <a:avLst/>
            </a:prstGeom>
          </p:spPr>
        </p:pic>
      </p:grpSp>
      <p:sp>
        <p:nvSpPr>
          <p:cNvPr id="22" name="object 7">
            <a:extLst>
              <a:ext uri="{FF2B5EF4-FFF2-40B4-BE49-F238E27FC236}">
                <a16:creationId xmlns:a16="http://schemas.microsoft.com/office/drawing/2014/main" id="{6830A1AE-3D4D-E642-BFAE-046341152111}"/>
              </a:ext>
            </a:extLst>
          </p:cNvPr>
          <p:cNvSpPr txBox="1"/>
          <p:nvPr/>
        </p:nvSpPr>
        <p:spPr>
          <a:xfrm>
            <a:off x="1275170" y="5680856"/>
            <a:ext cx="2937510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𝟖)</a:t>
            </a:r>
            <a:r>
              <a:rPr sz="2400">
                <a:latin typeface="PMingLiU"/>
                <a:cs typeface="PMingLiU"/>
              </a:rPr>
              <a:t>循环</a:t>
            </a:r>
            <a:r>
              <a:rPr sz="2400">
                <a:latin typeface="Cambria Math"/>
                <a:cs typeface="Cambria Math"/>
              </a:rPr>
              <a:t>𝟔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2900088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E45B2A-3970-4749-90FC-1712624EF8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73825" y="3026753"/>
            <a:ext cx="6096566" cy="2278225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9C6A4C70-BFD6-EC41-8B52-C1E40B32FEE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91143" y="1269033"/>
            <a:ext cx="4839462" cy="1552039"/>
          </a:xfrm>
          <a:prstGeom prst="rect">
            <a:avLst/>
          </a:prstGeom>
        </p:spPr>
      </p:pic>
      <p:grpSp>
        <p:nvGrpSpPr>
          <p:cNvPr id="5" name="object 4">
            <a:extLst>
              <a:ext uri="{FF2B5EF4-FFF2-40B4-BE49-F238E27FC236}">
                <a16:creationId xmlns:a16="http://schemas.microsoft.com/office/drawing/2014/main" id="{1D8FC268-897D-4D4C-B4D5-85D69A7B6466}"/>
              </a:ext>
            </a:extLst>
          </p:cNvPr>
          <p:cNvGrpSpPr/>
          <p:nvPr/>
        </p:nvGrpSpPr>
        <p:grpSpPr>
          <a:xfrm>
            <a:off x="265487" y="1168081"/>
            <a:ext cx="5454650" cy="4350385"/>
            <a:chOff x="319277" y="756666"/>
            <a:chExt cx="5454650" cy="435038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559B8F2-39B5-CA43-AEA2-68E36E8CD1AB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98262" y="878672"/>
              <a:ext cx="4772933" cy="1531174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A818E40-F2C6-8342-86E0-C8DA716C2A21}"/>
                </a:ext>
              </a:extLst>
            </p:cNvPr>
            <p:cNvSpPr/>
            <p:nvPr/>
          </p:nvSpPr>
          <p:spPr>
            <a:xfrm>
              <a:off x="338327" y="775716"/>
              <a:ext cx="5416550" cy="4312285"/>
            </a:xfrm>
            <a:custGeom>
              <a:avLst/>
              <a:gdLst/>
              <a:ahLst/>
              <a:cxnLst/>
              <a:rect l="l" t="t" r="r" b="b"/>
              <a:pathLst>
                <a:path w="5416550" h="4312285">
                  <a:moveTo>
                    <a:pt x="0" y="233680"/>
                  </a:moveTo>
                  <a:lnTo>
                    <a:pt x="4748" y="186592"/>
                  </a:lnTo>
                  <a:lnTo>
                    <a:pt x="18366" y="142732"/>
                  </a:lnTo>
                  <a:lnTo>
                    <a:pt x="39914" y="103038"/>
                  </a:lnTo>
                  <a:lnTo>
                    <a:pt x="68453" y="68453"/>
                  </a:lnTo>
                  <a:lnTo>
                    <a:pt x="103042" y="39915"/>
                  </a:lnTo>
                  <a:lnTo>
                    <a:pt x="142742" y="18367"/>
                  </a:lnTo>
                  <a:lnTo>
                    <a:pt x="186614" y="4748"/>
                  </a:lnTo>
                  <a:lnTo>
                    <a:pt x="233718" y="0"/>
                  </a:lnTo>
                  <a:lnTo>
                    <a:pt x="5182616" y="0"/>
                  </a:lnTo>
                  <a:lnTo>
                    <a:pt x="5229703" y="4748"/>
                  </a:lnTo>
                  <a:lnTo>
                    <a:pt x="5273563" y="18367"/>
                  </a:lnTo>
                  <a:lnTo>
                    <a:pt x="5313257" y="39915"/>
                  </a:lnTo>
                  <a:lnTo>
                    <a:pt x="5347843" y="68453"/>
                  </a:lnTo>
                  <a:lnTo>
                    <a:pt x="5376380" y="103038"/>
                  </a:lnTo>
                  <a:lnTo>
                    <a:pt x="5397928" y="142732"/>
                  </a:lnTo>
                  <a:lnTo>
                    <a:pt x="5411547" y="186592"/>
                  </a:lnTo>
                  <a:lnTo>
                    <a:pt x="5416296" y="233680"/>
                  </a:lnTo>
                  <a:lnTo>
                    <a:pt x="5416296" y="4078478"/>
                  </a:lnTo>
                  <a:lnTo>
                    <a:pt x="5411547" y="4125565"/>
                  </a:lnTo>
                  <a:lnTo>
                    <a:pt x="5397928" y="4169425"/>
                  </a:lnTo>
                  <a:lnTo>
                    <a:pt x="5376380" y="4209119"/>
                  </a:lnTo>
                  <a:lnTo>
                    <a:pt x="5347843" y="4243705"/>
                  </a:lnTo>
                  <a:lnTo>
                    <a:pt x="5313257" y="4272242"/>
                  </a:lnTo>
                  <a:lnTo>
                    <a:pt x="5273563" y="4293790"/>
                  </a:lnTo>
                  <a:lnTo>
                    <a:pt x="5229703" y="4307409"/>
                  </a:lnTo>
                  <a:lnTo>
                    <a:pt x="5182616" y="4312158"/>
                  </a:lnTo>
                  <a:lnTo>
                    <a:pt x="233718" y="4312158"/>
                  </a:lnTo>
                  <a:lnTo>
                    <a:pt x="186614" y="4307409"/>
                  </a:lnTo>
                  <a:lnTo>
                    <a:pt x="142742" y="4293790"/>
                  </a:lnTo>
                  <a:lnTo>
                    <a:pt x="103042" y="4272242"/>
                  </a:lnTo>
                  <a:lnTo>
                    <a:pt x="68453" y="4243705"/>
                  </a:lnTo>
                  <a:lnTo>
                    <a:pt x="39914" y="4209119"/>
                  </a:lnTo>
                  <a:lnTo>
                    <a:pt x="18366" y="4169425"/>
                  </a:lnTo>
                  <a:lnTo>
                    <a:pt x="4748" y="4125565"/>
                  </a:lnTo>
                  <a:lnTo>
                    <a:pt x="0" y="4078478"/>
                  </a:lnTo>
                  <a:lnTo>
                    <a:pt x="0" y="23368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FE53976E-568A-184B-96C7-519CCE16FD77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48735" y="2688391"/>
              <a:ext cx="5193874" cy="2230318"/>
            </a:xfrm>
            <a:prstGeom prst="rect">
              <a:avLst/>
            </a:prstGeom>
          </p:spPr>
        </p:pic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2686C160-A90F-5C49-8173-C87D89A2FEE0}"/>
              </a:ext>
            </a:extLst>
          </p:cNvPr>
          <p:cNvSpPr txBox="1"/>
          <p:nvPr/>
        </p:nvSpPr>
        <p:spPr>
          <a:xfrm>
            <a:off x="7426002" y="5701980"/>
            <a:ext cx="2936875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𝟗)</a:t>
            </a:r>
            <a:r>
              <a:rPr sz="2400">
                <a:latin typeface="PMingLiU"/>
                <a:cs typeface="PMingLiU"/>
              </a:rPr>
              <a:t>循环</a:t>
            </a:r>
            <a:r>
              <a:rPr sz="2400">
                <a:latin typeface="Cambria Math"/>
                <a:cs typeface="Cambria Math"/>
              </a:rPr>
              <a:t>𝟕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5FBF0B9-7A10-D44E-8BE2-10AE600C345E}"/>
              </a:ext>
            </a:extLst>
          </p:cNvPr>
          <p:cNvSpPr txBox="1"/>
          <p:nvPr/>
        </p:nvSpPr>
        <p:spPr>
          <a:xfrm>
            <a:off x="1262184" y="5701980"/>
            <a:ext cx="2937510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𝟖)</a:t>
            </a:r>
            <a:r>
              <a:rPr sz="2400">
                <a:latin typeface="PMingLiU"/>
                <a:cs typeface="PMingLiU"/>
              </a:rPr>
              <a:t>循环</a:t>
            </a:r>
            <a:r>
              <a:rPr sz="2400">
                <a:latin typeface="Cambria Math"/>
                <a:cs typeface="Cambria Math"/>
              </a:rPr>
              <a:t>𝟔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1C575C8-EB95-E44D-85B0-22979E7DC7A2}"/>
              </a:ext>
            </a:extLst>
          </p:cNvPr>
          <p:cNvSpPr/>
          <p:nvPr/>
        </p:nvSpPr>
        <p:spPr>
          <a:xfrm>
            <a:off x="5876094" y="1168842"/>
            <a:ext cx="6170930" cy="4311650"/>
          </a:xfrm>
          <a:custGeom>
            <a:avLst/>
            <a:gdLst/>
            <a:ahLst/>
            <a:cxnLst/>
            <a:rect l="l" t="t" r="r" b="b"/>
            <a:pathLst>
              <a:path w="6170930" h="4311650">
                <a:moveTo>
                  <a:pt x="0" y="233680"/>
                </a:moveTo>
                <a:lnTo>
                  <a:pt x="4748" y="186592"/>
                </a:lnTo>
                <a:lnTo>
                  <a:pt x="18367" y="142732"/>
                </a:lnTo>
                <a:lnTo>
                  <a:pt x="39915" y="103038"/>
                </a:lnTo>
                <a:lnTo>
                  <a:pt x="68453" y="68453"/>
                </a:lnTo>
                <a:lnTo>
                  <a:pt x="103038" y="39915"/>
                </a:lnTo>
                <a:lnTo>
                  <a:pt x="142732" y="18367"/>
                </a:lnTo>
                <a:lnTo>
                  <a:pt x="186592" y="4748"/>
                </a:lnTo>
                <a:lnTo>
                  <a:pt x="233679" y="0"/>
                </a:lnTo>
                <a:lnTo>
                  <a:pt x="5936995" y="0"/>
                </a:lnTo>
                <a:lnTo>
                  <a:pt x="5984083" y="4748"/>
                </a:lnTo>
                <a:lnTo>
                  <a:pt x="6027943" y="18367"/>
                </a:lnTo>
                <a:lnTo>
                  <a:pt x="6067637" y="39915"/>
                </a:lnTo>
                <a:lnTo>
                  <a:pt x="6102222" y="68453"/>
                </a:lnTo>
                <a:lnTo>
                  <a:pt x="6130760" y="103038"/>
                </a:lnTo>
                <a:lnTo>
                  <a:pt x="6152308" y="142732"/>
                </a:lnTo>
                <a:lnTo>
                  <a:pt x="6165927" y="186592"/>
                </a:lnTo>
                <a:lnTo>
                  <a:pt x="6170675" y="233680"/>
                </a:lnTo>
                <a:lnTo>
                  <a:pt x="6170675" y="4077716"/>
                </a:lnTo>
                <a:lnTo>
                  <a:pt x="6165927" y="4124803"/>
                </a:lnTo>
                <a:lnTo>
                  <a:pt x="6152308" y="4168663"/>
                </a:lnTo>
                <a:lnTo>
                  <a:pt x="6130760" y="4208357"/>
                </a:lnTo>
                <a:lnTo>
                  <a:pt x="6102223" y="4242943"/>
                </a:lnTo>
                <a:lnTo>
                  <a:pt x="6067637" y="4271480"/>
                </a:lnTo>
                <a:lnTo>
                  <a:pt x="6027943" y="4293028"/>
                </a:lnTo>
                <a:lnTo>
                  <a:pt x="5984083" y="4306647"/>
                </a:lnTo>
                <a:lnTo>
                  <a:pt x="5936995" y="4311396"/>
                </a:lnTo>
                <a:lnTo>
                  <a:pt x="233679" y="4311396"/>
                </a:lnTo>
                <a:lnTo>
                  <a:pt x="186592" y="4306647"/>
                </a:lnTo>
                <a:lnTo>
                  <a:pt x="142732" y="4293028"/>
                </a:lnTo>
                <a:lnTo>
                  <a:pt x="103038" y="4271480"/>
                </a:lnTo>
                <a:lnTo>
                  <a:pt x="68452" y="4242943"/>
                </a:lnTo>
                <a:lnTo>
                  <a:pt x="39915" y="4208357"/>
                </a:lnTo>
                <a:lnTo>
                  <a:pt x="18367" y="4168663"/>
                </a:lnTo>
                <a:lnTo>
                  <a:pt x="4748" y="4124803"/>
                </a:lnTo>
                <a:lnTo>
                  <a:pt x="0" y="4077716"/>
                </a:lnTo>
                <a:lnTo>
                  <a:pt x="0" y="233680"/>
                </a:lnTo>
                <a:close/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E80399-BD95-7441-A72A-883D5D4CE361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solidFill>
                  <a:schemeClr val="accent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F60D59-E0E2-4044-AAF2-BCA8DD701812}"/>
              </a:ext>
            </a:extLst>
          </p:cNvPr>
          <p:cNvSpPr txBox="1"/>
          <p:nvPr/>
        </p:nvSpPr>
        <p:spPr>
          <a:xfrm>
            <a:off x="4691454" y="5777961"/>
            <a:ext cx="2369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如何优化提升？？</a:t>
            </a:r>
          </a:p>
        </p:txBody>
      </p:sp>
    </p:spTree>
    <p:extLst>
      <p:ext uri="{BB962C8B-B14F-4D97-AF65-F5344CB8AC3E}">
        <p14:creationId xmlns:p14="http://schemas.microsoft.com/office/powerpoint/2010/main" val="27260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700901ED-D040-C749-BE90-D9DE047114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41430" y="2927319"/>
            <a:ext cx="6089067" cy="2278225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AF8608E1-C6BA-F048-98DC-6B7BA05DF50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58869" y="1169599"/>
            <a:ext cx="4839462" cy="1552039"/>
          </a:xfrm>
          <a:prstGeom prst="rect">
            <a:avLst/>
          </a:prstGeom>
        </p:spPr>
      </p:pic>
      <p:grpSp>
        <p:nvGrpSpPr>
          <p:cNvPr id="5" name="object 4">
            <a:extLst>
              <a:ext uri="{FF2B5EF4-FFF2-40B4-BE49-F238E27FC236}">
                <a16:creationId xmlns:a16="http://schemas.microsoft.com/office/drawing/2014/main" id="{0BAE904E-4A16-744E-8F07-DD0431256696}"/>
              </a:ext>
            </a:extLst>
          </p:cNvPr>
          <p:cNvGrpSpPr/>
          <p:nvPr/>
        </p:nvGrpSpPr>
        <p:grpSpPr>
          <a:xfrm>
            <a:off x="233213" y="1068647"/>
            <a:ext cx="5454650" cy="4350385"/>
            <a:chOff x="319277" y="756666"/>
            <a:chExt cx="5454650" cy="435038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DDCEE5B-B4E3-E041-A9A0-BB8016276AE7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8262" y="878672"/>
              <a:ext cx="4772933" cy="1531174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59B591F5-5557-8B4C-A034-661405FB9E25}"/>
                </a:ext>
              </a:extLst>
            </p:cNvPr>
            <p:cNvSpPr/>
            <p:nvPr/>
          </p:nvSpPr>
          <p:spPr>
            <a:xfrm>
              <a:off x="338327" y="775716"/>
              <a:ext cx="5416550" cy="4312285"/>
            </a:xfrm>
            <a:custGeom>
              <a:avLst/>
              <a:gdLst/>
              <a:ahLst/>
              <a:cxnLst/>
              <a:rect l="l" t="t" r="r" b="b"/>
              <a:pathLst>
                <a:path w="5416550" h="4312285">
                  <a:moveTo>
                    <a:pt x="0" y="233680"/>
                  </a:moveTo>
                  <a:lnTo>
                    <a:pt x="4748" y="186592"/>
                  </a:lnTo>
                  <a:lnTo>
                    <a:pt x="18366" y="142732"/>
                  </a:lnTo>
                  <a:lnTo>
                    <a:pt x="39914" y="103038"/>
                  </a:lnTo>
                  <a:lnTo>
                    <a:pt x="68453" y="68453"/>
                  </a:lnTo>
                  <a:lnTo>
                    <a:pt x="103042" y="39915"/>
                  </a:lnTo>
                  <a:lnTo>
                    <a:pt x="142742" y="18367"/>
                  </a:lnTo>
                  <a:lnTo>
                    <a:pt x="186614" y="4748"/>
                  </a:lnTo>
                  <a:lnTo>
                    <a:pt x="233718" y="0"/>
                  </a:lnTo>
                  <a:lnTo>
                    <a:pt x="5182616" y="0"/>
                  </a:lnTo>
                  <a:lnTo>
                    <a:pt x="5229703" y="4748"/>
                  </a:lnTo>
                  <a:lnTo>
                    <a:pt x="5273563" y="18367"/>
                  </a:lnTo>
                  <a:lnTo>
                    <a:pt x="5313257" y="39915"/>
                  </a:lnTo>
                  <a:lnTo>
                    <a:pt x="5347843" y="68453"/>
                  </a:lnTo>
                  <a:lnTo>
                    <a:pt x="5376380" y="103038"/>
                  </a:lnTo>
                  <a:lnTo>
                    <a:pt x="5397928" y="142732"/>
                  </a:lnTo>
                  <a:lnTo>
                    <a:pt x="5411547" y="186592"/>
                  </a:lnTo>
                  <a:lnTo>
                    <a:pt x="5416296" y="233680"/>
                  </a:lnTo>
                  <a:lnTo>
                    <a:pt x="5416296" y="4078478"/>
                  </a:lnTo>
                  <a:lnTo>
                    <a:pt x="5411547" y="4125565"/>
                  </a:lnTo>
                  <a:lnTo>
                    <a:pt x="5397928" y="4169425"/>
                  </a:lnTo>
                  <a:lnTo>
                    <a:pt x="5376380" y="4209119"/>
                  </a:lnTo>
                  <a:lnTo>
                    <a:pt x="5347843" y="4243705"/>
                  </a:lnTo>
                  <a:lnTo>
                    <a:pt x="5313257" y="4272242"/>
                  </a:lnTo>
                  <a:lnTo>
                    <a:pt x="5273563" y="4293790"/>
                  </a:lnTo>
                  <a:lnTo>
                    <a:pt x="5229703" y="4307409"/>
                  </a:lnTo>
                  <a:lnTo>
                    <a:pt x="5182616" y="4312158"/>
                  </a:lnTo>
                  <a:lnTo>
                    <a:pt x="233718" y="4312158"/>
                  </a:lnTo>
                  <a:lnTo>
                    <a:pt x="186614" y="4307409"/>
                  </a:lnTo>
                  <a:lnTo>
                    <a:pt x="142742" y="4293790"/>
                  </a:lnTo>
                  <a:lnTo>
                    <a:pt x="103042" y="4272242"/>
                  </a:lnTo>
                  <a:lnTo>
                    <a:pt x="68453" y="4243705"/>
                  </a:lnTo>
                  <a:lnTo>
                    <a:pt x="39914" y="4209119"/>
                  </a:lnTo>
                  <a:lnTo>
                    <a:pt x="18366" y="4169425"/>
                  </a:lnTo>
                  <a:lnTo>
                    <a:pt x="4748" y="4125565"/>
                  </a:lnTo>
                  <a:lnTo>
                    <a:pt x="0" y="4078478"/>
                  </a:lnTo>
                  <a:lnTo>
                    <a:pt x="0" y="23368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B5F8D04D-E9D2-744D-8635-B7B83CBC8591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44994" y="2688391"/>
              <a:ext cx="5197615" cy="2230318"/>
            </a:xfrm>
            <a:prstGeom prst="rect">
              <a:avLst/>
            </a:prstGeom>
          </p:spPr>
        </p:pic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95CA9A0C-FF55-1E40-9F9D-9B8A868215A3}"/>
              </a:ext>
            </a:extLst>
          </p:cNvPr>
          <p:cNvSpPr txBox="1"/>
          <p:nvPr/>
        </p:nvSpPr>
        <p:spPr>
          <a:xfrm>
            <a:off x="1229910" y="5602546"/>
            <a:ext cx="2937510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𝟖)</a:t>
            </a:r>
            <a:r>
              <a:rPr sz="2400">
                <a:latin typeface="PMingLiU"/>
                <a:cs typeface="PMingLiU"/>
              </a:rPr>
              <a:t>循环</a:t>
            </a:r>
            <a:r>
              <a:rPr sz="2400">
                <a:latin typeface="Cambria Math"/>
                <a:cs typeface="Cambria Math"/>
              </a:rPr>
              <a:t>𝟔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B5E1262-3D8B-F743-85DC-938E309FD4DF}"/>
              </a:ext>
            </a:extLst>
          </p:cNvPr>
          <p:cNvSpPr txBox="1"/>
          <p:nvPr/>
        </p:nvSpPr>
        <p:spPr>
          <a:xfrm>
            <a:off x="7393728" y="5602546"/>
            <a:ext cx="2936875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𝟗)</a:t>
            </a:r>
            <a:r>
              <a:rPr sz="2400">
                <a:latin typeface="PMingLiU"/>
                <a:cs typeface="PMingLiU"/>
              </a:rPr>
              <a:t>循环</a:t>
            </a:r>
            <a:r>
              <a:rPr sz="2400">
                <a:latin typeface="Cambria Math"/>
                <a:cs typeface="Cambria Math"/>
              </a:rPr>
              <a:t>𝟕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CDE86E81-3F05-F44D-B20A-28E304586335}"/>
              </a:ext>
            </a:extLst>
          </p:cNvPr>
          <p:cNvSpPr txBox="1"/>
          <p:nvPr/>
        </p:nvSpPr>
        <p:spPr>
          <a:xfrm>
            <a:off x="4684056" y="5990579"/>
            <a:ext cx="2139950" cy="59944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20"/>
              </a:spcBef>
            </a:pPr>
            <a:r>
              <a:rPr sz="2400" spc="-10">
                <a:solidFill>
                  <a:srgbClr val="FF0000"/>
                </a:solidFill>
                <a:latin typeface="PMingLiU"/>
                <a:cs typeface="PMingLiU"/>
              </a:rPr>
              <a:t>存在重复计算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CFFBEDAE-17DA-694E-BDAE-B319BE09F4B2}"/>
              </a:ext>
            </a:extLst>
          </p:cNvPr>
          <p:cNvSpPr/>
          <p:nvPr/>
        </p:nvSpPr>
        <p:spPr>
          <a:xfrm rot="21275480">
            <a:off x="2694219" y="6108316"/>
            <a:ext cx="1990089" cy="482600"/>
          </a:xfrm>
          <a:custGeom>
            <a:avLst/>
            <a:gdLst/>
            <a:ahLst/>
            <a:cxnLst/>
            <a:rect l="l" t="t" r="r" b="b"/>
            <a:pathLst>
              <a:path w="1990089" h="482600">
                <a:moveTo>
                  <a:pt x="1874014" y="445324"/>
                </a:moveTo>
                <a:lnTo>
                  <a:pt x="1865883" y="482561"/>
                </a:lnTo>
                <a:lnTo>
                  <a:pt x="1989836" y="451040"/>
                </a:lnTo>
                <a:lnTo>
                  <a:pt x="1987785" y="449389"/>
                </a:lnTo>
                <a:lnTo>
                  <a:pt x="1892681" y="449389"/>
                </a:lnTo>
                <a:lnTo>
                  <a:pt x="1874014" y="445324"/>
                </a:lnTo>
                <a:close/>
              </a:path>
              <a:path w="1990089" h="482600">
                <a:moveTo>
                  <a:pt x="1882141" y="408100"/>
                </a:moveTo>
                <a:lnTo>
                  <a:pt x="1874014" y="445324"/>
                </a:lnTo>
                <a:lnTo>
                  <a:pt x="1892681" y="449389"/>
                </a:lnTo>
                <a:lnTo>
                  <a:pt x="1900808" y="412165"/>
                </a:lnTo>
                <a:lnTo>
                  <a:pt x="1882141" y="408100"/>
                </a:lnTo>
                <a:close/>
              </a:path>
              <a:path w="1990089" h="482600">
                <a:moveTo>
                  <a:pt x="1890268" y="370878"/>
                </a:moveTo>
                <a:lnTo>
                  <a:pt x="1882141" y="408100"/>
                </a:lnTo>
                <a:lnTo>
                  <a:pt x="1900808" y="412165"/>
                </a:lnTo>
                <a:lnTo>
                  <a:pt x="1892681" y="449389"/>
                </a:lnTo>
                <a:lnTo>
                  <a:pt x="1987785" y="449389"/>
                </a:lnTo>
                <a:lnTo>
                  <a:pt x="1890268" y="370878"/>
                </a:lnTo>
                <a:close/>
              </a:path>
              <a:path w="1990089" h="482600">
                <a:moveTo>
                  <a:pt x="8128" y="0"/>
                </a:moveTo>
                <a:lnTo>
                  <a:pt x="0" y="37236"/>
                </a:lnTo>
                <a:lnTo>
                  <a:pt x="1874014" y="445324"/>
                </a:lnTo>
                <a:lnTo>
                  <a:pt x="1882141" y="408100"/>
                </a:lnTo>
                <a:lnTo>
                  <a:pt x="8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B45E7B5-50FE-9545-8B19-35778BFA58AD}"/>
              </a:ext>
            </a:extLst>
          </p:cNvPr>
          <p:cNvSpPr/>
          <p:nvPr/>
        </p:nvSpPr>
        <p:spPr>
          <a:xfrm rot="335422">
            <a:off x="6823752" y="6119125"/>
            <a:ext cx="1875155" cy="481330"/>
          </a:xfrm>
          <a:custGeom>
            <a:avLst/>
            <a:gdLst/>
            <a:ahLst/>
            <a:cxnLst/>
            <a:rect l="l" t="t" r="r" b="b"/>
            <a:pathLst>
              <a:path w="1875154" h="481329">
                <a:moveTo>
                  <a:pt x="98551" y="369570"/>
                </a:moveTo>
                <a:lnTo>
                  <a:pt x="0" y="450989"/>
                </a:lnTo>
                <a:lnTo>
                  <a:pt x="124205" y="480923"/>
                </a:lnTo>
                <a:lnTo>
                  <a:pt x="116642" y="448094"/>
                </a:lnTo>
                <a:lnTo>
                  <a:pt x="97027" y="448094"/>
                </a:lnTo>
                <a:lnTo>
                  <a:pt x="88518" y="410972"/>
                </a:lnTo>
                <a:lnTo>
                  <a:pt x="107100" y="406676"/>
                </a:lnTo>
                <a:lnTo>
                  <a:pt x="98551" y="369570"/>
                </a:lnTo>
                <a:close/>
              </a:path>
              <a:path w="1875154" h="481329">
                <a:moveTo>
                  <a:pt x="107100" y="406676"/>
                </a:moveTo>
                <a:lnTo>
                  <a:pt x="88518" y="410972"/>
                </a:lnTo>
                <a:lnTo>
                  <a:pt x="97027" y="448094"/>
                </a:lnTo>
                <a:lnTo>
                  <a:pt x="115650" y="443789"/>
                </a:lnTo>
                <a:lnTo>
                  <a:pt x="107100" y="406676"/>
                </a:lnTo>
                <a:close/>
              </a:path>
              <a:path w="1875154" h="481329">
                <a:moveTo>
                  <a:pt x="115650" y="443789"/>
                </a:moveTo>
                <a:lnTo>
                  <a:pt x="97027" y="448094"/>
                </a:lnTo>
                <a:lnTo>
                  <a:pt x="116642" y="448094"/>
                </a:lnTo>
                <a:lnTo>
                  <a:pt x="115650" y="443789"/>
                </a:lnTo>
                <a:close/>
              </a:path>
              <a:path w="1875154" h="481329">
                <a:moveTo>
                  <a:pt x="1866264" y="0"/>
                </a:moveTo>
                <a:lnTo>
                  <a:pt x="107100" y="406676"/>
                </a:lnTo>
                <a:lnTo>
                  <a:pt x="115650" y="443789"/>
                </a:lnTo>
                <a:lnTo>
                  <a:pt x="1874901" y="37122"/>
                </a:lnTo>
                <a:lnTo>
                  <a:pt x="18662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1EC82A1-42BC-9646-A905-0E4E1D687A92}"/>
              </a:ext>
            </a:extLst>
          </p:cNvPr>
          <p:cNvSpPr/>
          <p:nvPr/>
        </p:nvSpPr>
        <p:spPr>
          <a:xfrm>
            <a:off x="5843820" y="1069408"/>
            <a:ext cx="6170930" cy="4311650"/>
          </a:xfrm>
          <a:custGeom>
            <a:avLst/>
            <a:gdLst/>
            <a:ahLst/>
            <a:cxnLst/>
            <a:rect l="l" t="t" r="r" b="b"/>
            <a:pathLst>
              <a:path w="6170930" h="4311650">
                <a:moveTo>
                  <a:pt x="0" y="233680"/>
                </a:moveTo>
                <a:lnTo>
                  <a:pt x="4748" y="186592"/>
                </a:lnTo>
                <a:lnTo>
                  <a:pt x="18367" y="142732"/>
                </a:lnTo>
                <a:lnTo>
                  <a:pt x="39915" y="103038"/>
                </a:lnTo>
                <a:lnTo>
                  <a:pt x="68453" y="68453"/>
                </a:lnTo>
                <a:lnTo>
                  <a:pt x="103038" y="39915"/>
                </a:lnTo>
                <a:lnTo>
                  <a:pt x="142732" y="18367"/>
                </a:lnTo>
                <a:lnTo>
                  <a:pt x="186592" y="4748"/>
                </a:lnTo>
                <a:lnTo>
                  <a:pt x="233679" y="0"/>
                </a:lnTo>
                <a:lnTo>
                  <a:pt x="5936995" y="0"/>
                </a:lnTo>
                <a:lnTo>
                  <a:pt x="5984083" y="4748"/>
                </a:lnTo>
                <a:lnTo>
                  <a:pt x="6027943" y="18367"/>
                </a:lnTo>
                <a:lnTo>
                  <a:pt x="6067637" y="39915"/>
                </a:lnTo>
                <a:lnTo>
                  <a:pt x="6102222" y="68453"/>
                </a:lnTo>
                <a:lnTo>
                  <a:pt x="6130760" y="103038"/>
                </a:lnTo>
                <a:lnTo>
                  <a:pt x="6152308" y="142732"/>
                </a:lnTo>
                <a:lnTo>
                  <a:pt x="6165927" y="186592"/>
                </a:lnTo>
                <a:lnTo>
                  <a:pt x="6170675" y="233680"/>
                </a:lnTo>
                <a:lnTo>
                  <a:pt x="6170675" y="4077716"/>
                </a:lnTo>
                <a:lnTo>
                  <a:pt x="6165927" y="4124803"/>
                </a:lnTo>
                <a:lnTo>
                  <a:pt x="6152308" y="4168663"/>
                </a:lnTo>
                <a:lnTo>
                  <a:pt x="6130760" y="4208357"/>
                </a:lnTo>
                <a:lnTo>
                  <a:pt x="6102223" y="4242943"/>
                </a:lnTo>
                <a:lnTo>
                  <a:pt x="6067637" y="4271480"/>
                </a:lnTo>
                <a:lnTo>
                  <a:pt x="6027943" y="4293028"/>
                </a:lnTo>
                <a:lnTo>
                  <a:pt x="5984083" y="4306647"/>
                </a:lnTo>
                <a:lnTo>
                  <a:pt x="5936995" y="4311396"/>
                </a:lnTo>
                <a:lnTo>
                  <a:pt x="233679" y="4311396"/>
                </a:lnTo>
                <a:lnTo>
                  <a:pt x="186592" y="4306647"/>
                </a:lnTo>
                <a:lnTo>
                  <a:pt x="142732" y="4293028"/>
                </a:lnTo>
                <a:lnTo>
                  <a:pt x="103038" y="4271480"/>
                </a:lnTo>
                <a:lnTo>
                  <a:pt x="68452" y="4242943"/>
                </a:lnTo>
                <a:lnTo>
                  <a:pt x="39915" y="4208357"/>
                </a:lnTo>
                <a:lnTo>
                  <a:pt x="18367" y="4168663"/>
                </a:lnTo>
                <a:lnTo>
                  <a:pt x="4748" y="4124803"/>
                </a:lnTo>
                <a:lnTo>
                  <a:pt x="0" y="4077716"/>
                </a:lnTo>
                <a:lnTo>
                  <a:pt x="0" y="233680"/>
                </a:lnTo>
                <a:close/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395171-0032-AC42-9C98-F2C97941E610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实例分析</a:t>
            </a: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B4500B95-EB4A-824B-97D8-964DB9EC8266}"/>
              </a:ext>
            </a:extLst>
          </p:cNvPr>
          <p:cNvSpPr txBox="1"/>
          <p:nvPr/>
        </p:nvSpPr>
        <p:spPr>
          <a:xfrm>
            <a:off x="3946366" y="6007063"/>
            <a:ext cx="3825005" cy="51039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2400" spc="-5">
                <a:latin typeface="PMingLiU"/>
                <a:cs typeface="PMingLiU"/>
              </a:rPr>
              <a:t>问题：如何减少重复计算？</a:t>
            </a:r>
            <a:endParaRPr sz="24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94612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AE0DEB-B80A-614C-A31D-B65BB6ED7B00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0F0F60-1766-FB43-94EF-0AA77322B25C}"/>
              </a:ext>
            </a:extLst>
          </p:cNvPr>
          <p:cNvSpPr/>
          <p:nvPr/>
        </p:nvSpPr>
        <p:spPr>
          <a:xfrm>
            <a:off x="3494891" y="1442954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67B7E61-C843-5E43-97AB-3268AE124242}"/>
              </a:ext>
            </a:extLst>
          </p:cNvPr>
          <p:cNvSpPr txBox="1"/>
          <p:nvPr/>
        </p:nvSpPr>
        <p:spPr>
          <a:xfrm>
            <a:off x="731372" y="1339702"/>
            <a:ext cx="42735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𝟕,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8685E3CF-A29E-FF46-9BFC-AE4312774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126089"/>
              </p:ext>
            </p:extLst>
          </p:nvPr>
        </p:nvGraphicFramePr>
        <p:xfrm>
          <a:off x="2869036" y="3291805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6">
            <a:extLst>
              <a:ext uri="{FF2B5EF4-FFF2-40B4-BE49-F238E27FC236}">
                <a16:creationId xmlns:a16="http://schemas.microsoft.com/office/drawing/2014/main" id="{5D0D9F83-6FAE-AE4F-9D4E-FDDABF413302}"/>
              </a:ext>
            </a:extLst>
          </p:cNvPr>
          <p:cNvSpPr/>
          <p:nvPr/>
        </p:nvSpPr>
        <p:spPr>
          <a:xfrm>
            <a:off x="4736190" y="278394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DEB20D6-B2F7-8D48-818D-A268BE7DD4BD}"/>
              </a:ext>
            </a:extLst>
          </p:cNvPr>
          <p:cNvSpPr txBox="1"/>
          <p:nvPr/>
        </p:nvSpPr>
        <p:spPr>
          <a:xfrm>
            <a:off x="4354428" y="2383897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5213DA9-C0DB-C341-85E3-C0B9B5C8819F}"/>
              </a:ext>
            </a:extLst>
          </p:cNvPr>
          <p:cNvSpPr/>
          <p:nvPr/>
        </p:nvSpPr>
        <p:spPr>
          <a:xfrm>
            <a:off x="7060289" y="277861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A32F1D4-E283-674E-853B-3DF42AF6ABBF}"/>
              </a:ext>
            </a:extLst>
          </p:cNvPr>
          <p:cNvSpPr txBox="1"/>
          <p:nvPr/>
        </p:nvSpPr>
        <p:spPr>
          <a:xfrm>
            <a:off x="6678527" y="2378563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97E7D460-4BFE-2A45-BC0D-4FFE108B8EB6}"/>
              </a:ext>
            </a:extLst>
          </p:cNvPr>
          <p:cNvSpPr txBox="1"/>
          <p:nvPr/>
        </p:nvSpPr>
        <p:spPr>
          <a:xfrm>
            <a:off x="6376776" y="4896972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𝟕)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CD68DC2C-8659-8147-84D4-13955B5FC10F}"/>
              </a:ext>
            </a:extLst>
          </p:cNvPr>
          <p:cNvSpPr/>
          <p:nvPr/>
        </p:nvSpPr>
        <p:spPr>
          <a:xfrm>
            <a:off x="7065624" y="434833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47000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AE0DEB-B80A-614C-A31D-B65BB6ED7B00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8991D219-58B6-3641-9CBC-A74A805A3C50}"/>
              </a:ext>
            </a:extLst>
          </p:cNvPr>
          <p:cNvSpPr/>
          <p:nvPr/>
        </p:nvSpPr>
        <p:spPr>
          <a:xfrm>
            <a:off x="3505649" y="1399924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B4262A8B-52C4-DF41-97BD-A9A77DCF2C92}"/>
              </a:ext>
            </a:extLst>
          </p:cNvPr>
          <p:cNvSpPr txBox="1"/>
          <p:nvPr/>
        </p:nvSpPr>
        <p:spPr>
          <a:xfrm>
            <a:off x="742130" y="1296672"/>
            <a:ext cx="41916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15A11C5F-4E12-9240-A5FF-893698E59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715344"/>
              </p:ext>
            </p:extLst>
          </p:nvPr>
        </p:nvGraphicFramePr>
        <p:xfrm>
          <a:off x="2879794" y="3248775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6">
            <a:extLst>
              <a:ext uri="{FF2B5EF4-FFF2-40B4-BE49-F238E27FC236}">
                <a16:creationId xmlns:a16="http://schemas.microsoft.com/office/drawing/2014/main" id="{B4862D1E-2926-7645-B1A6-66F8F9787EE2}"/>
              </a:ext>
            </a:extLst>
          </p:cNvPr>
          <p:cNvSpPr/>
          <p:nvPr/>
        </p:nvSpPr>
        <p:spPr>
          <a:xfrm>
            <a:off x="4746948" y="274091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B11C9CC4-C28F-B74A-B778-3E571CA710A4}"/>
              </a:ext>
            </a:extLst>
          </p:cNvPr>
          <p:cNvSpPr txBox="1"/>
          <p:nvPr/>
        </p:nvSpPr>
        <p:spPr>
          <a:xfrm>
            <a:off x="4365186" y="2340867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C8487066-ADA2-1147-8896-DCC7C31594E2}"/>
              </a:ext>
            </a:extLst>
          </p:cNvPr>
          <p:cNvSpPr/>
          <p:nvPr/>
        </p:nvSpPr>
        <p:spPr>
          <a:xfrm>
            <a:off x="7628070" y="273558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7A146FB9-9686-6F45-A517-83402C4975CA}"/>
              </a:ext>
            </a:extLst>
          </p:cNvPr>
          <p:cNvSpPr txBox="1"/>
          <p:nvPr/>
        </p:nvSpPr>
        <p:spPr>
          <a:xfrm>
            <a:off x="7246308" y="2335533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33676805-0AA4-604D-8FDF-2A97415DA316}"/>
              </a:ext>
            </a:extLst>
          </p:cNvPr>
          <p:cNvSpPr txBox="1"/>
          <p:nvPr/>
        </p:nvSpPr>
        <p:spPr>
          <a:xfrm>
            <a:off x="6387534" y="4853942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𝟕)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5D063487-687A-C34A-8848-F760B2E8F8FA}"/>
              </a:ext>
            </a:extLst>
          </p:cNvPr>
          <p:cNvSpPr/>
          <p:nvPr/>
        </p:nvSpPr>
        <p:spPr>
          <a:xfrm>
            <a:off x="7076382" y="430530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05689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5B47308-664D-DB47-8266-6D968D40346C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93ACF99-9DF4-644F-A826-3A005EBB3B25}"/>
              </a:ext>
            </a:extLst>
          </p:cNvPr>
          <p:cNvSpPr/>
          <p:nvPr/>
        </p:nvSpPr>
        <p:spPr>
          <a:xfrm>
            <a:off x="3559436" y="1399924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23A138A-F7B9-C240-850D-5F22BE64D798}"/>
              </a:ext>
            </a:extLst>
          </p:cNvPr>
          <p:cNvSpPr txBox="1"/>
          <p:nvPr/>
        </p:nvSpPr>
        <p:spPr>
          <a:xfrm>
            <a:off x="795917" y="1296672"/>
            <a:ext cx="42735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0E482FB-EF50-8347-A014-589A1D8BA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998685"/>
              </p:ext>
            </p:extLst>
          </p:nvPr>
        </p:nvGraphicFramePr>
        <p:xfrm>
          <a:off x="2933581" y="3248775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6">
            <a:extLst>
              <a:ext uri="{FF2B5EF4-FFF2-40B4-BE49-F238E27FC236}">
                <a16:creationId xmlns:a16="http://schemas.microsoft.com/office/drawing/2014/main" id="{B8DA5483-36AD-B344-A71D-5ED2E8F0A030}"/>
              </a:ext>
            </a:extLst>
          </p:cNvPr>
          <p:cNvSpPr txBox="1"/>
          <p:nvPr/>
        </p:nvSpPr>
        <p:spPr>
          <a:xfrm>
            <a:off x="6255392" y="4853942"/>
            <a:ext cx="306133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000" spc="9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𝟕)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EBF694EE-EFAD-414B-8E3D-0DE913A67DA2}"/>
              </a:ext>
            </a:extLst>
          </p:cNvPr>
          <p:cNvSpPr/>
          <p:nvPr/>
        </p:nvSpPr>
        <p:spPr>
          <a:xfrm>
            <a:off x="7687191" y="430530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EDBD83F9-8CDF-F945-A5C8-9BFFBE05B9A0}"/>
              </a:ext>
            </a:extLst>
          </p:cNvPr>
          <p:cNvSpPr/>
          <p:nvPr/>
        </p:nvSpPr>
        <p:spPr>
          <a:xfrm>
            <a:off x="4800735" y="274091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2C0D65A-FFA3-A14C-A296-D7C414587AF7}"/>
              </a:ext>
            </a:extLst>
          </p:cNvPr>
          <p:cNvSpPr txBox="1"/>
          <p:nvPr/>
        </p:nvSpPr>
        <p:spPr>
          <a:xfrm>
            <a:off x="4418973" y="2340867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F86C3221-8BB9-7547-88E5-B2B5AC07BA51}"/>
              </a:ext>
            </a:extLst>
          </p:cNvPr>
          <p:cNvSpPr/>
          <p:nvPr/>
        </p:nvSpPr>
        <p:spPr>
          <a:xfrm>
            <a:off x="7681857" y="273558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40E711F0-B4BE-374F-8CEE-6AB165CE15EB}"/>
              </a:ext>
            </a:extLst>
          </p:cNvPr>
          <p:cNvSpPr txBox="1"/>
          <p:nvPr/>
        </p:nvSpPr>
        <p:spPr>
          <a:xfrm>
            <a:off x="7300095" y="2335533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9755383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9A9D7AB-9996-F94E-943E-1401ADDB824A}"/>
              </a:ext>
            </a:extLst>
          </p:cNvPr>
          <p:cNvSpPr/>
          <p:nvPr/>
        </p:nvSpPr>
        <p:spPr>
          <a:xfrm>
            <a:off x="3537922" y="1399925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9DBB83C-892A-6A4E-A445-80FC356AF57C}"/>
              </a:ext>
            </a:extLst>
          </p:cNvPr>
          <p:cNvSpPr txBox="1"/>
          <p:nvPr/>
        </p:nvSpPr>
        <p:spPr>
          <a:xfrm>
            <a:off x="774403" y="1296673"/>
            <a:ext cx="42735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B609B5B-8A2F-1348-84C2-093374E98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79655"/>
              </p:ext>
            </p:extLst>
          </p:nvPr>
        </p:nvGraphicFramePr>
        <p:xfrm>
          <a:off x="2912067" y="3248776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12894FF1-7850-7E49-9806-ECEAB36D9203}"/>
              </a:ext>
            </a:extLst>
          </p:cNvPr>
          <p:cNvSpPr txBox="1"/>
          <p:nvPr/>
        </p:nvSpPr>
        <p:spPr>
          <a:xfrm>
            <a:off x="6991306" y="4853943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29B1CF6-75AC-B942-8C01-27EB8E76972D}"/>
              </a:ext>
            </a:extLst>
          </p:cNvPr>
          <p:cNvSpPr/>
          <p:nvPr/>
        </p:nvSpPr>
        <p:spPr>
          <a:xfrm>
            <a:off x="7665677" y="430530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F43B801-5DFC-7741-B1C7-670F34299205}"/>
              </a:ext>
            </a:extLst>
          </p:cNvPr>
          <p:cNvSpPr/>
          <p:nvPr/>
        </p:nvSpPr>
        <p:spPr>
          <a:xfrm>
            <a:off x="4779221" y="2740918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8D179C5-A97E-034F-90B9-10E74712EA65}"/>
              </a:ext>
            </a:extLst>
          </p:cNvPr>
          <p:cNvSpPr txBox="1"/>
          <p:nvPr/>
        </p:nvSpPr>
        <p:spPr>
          <a:xfrm>
            <a:off x="4397459" y="2340868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7A37CB6-781A-9941-985F-7ADEE11C6D45}"/>
              </a:ext>
            </a:extLst>
          </p:cNvPr>
          <p:cNvSpPr/>
          <p:nvPr/>
        </p:nvSpPr>
        <p:spPr>
          <a:xfrm>
            <a:off x="7660343" y="273558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35AF001-C441-564B-8251-2C9E5063B573}"/>
              </a:ext>
            </a:extLst>
          </p:cNvPr>
          <p:cNvSpPr txBox="1"/>
          <p:nvPr/>
        </p:nvSpPr>
        <p:spPr>
          <a:xfrm>
            <a:off x="7278581" y="2335534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ADC04E-3D89-8E4E-9475-9771CADBD5BC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</p:spTree>
    <p:extLst>
      <p:ext uri="{BB962C8B-B14F-4D97-AF65-F5344CB8AC3E}">
        <p14:creationId xmlns:p14="http://schemas.microsoft.com/office/powerpoint/2010/main" val="4249605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9C23A1A-0A4E-2045-A0CC-8710CEECC98C}"/>
              </a:ext>
            </a:extLst>
          </p:cNvPr>
          <p:cNvSpPr/>
          <p:nvPr/>
        </p:nvSpPr>
        <p:spPr>
          <a:xfrm>
            <a:off x="3548678" y="1335378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780029-07AD-4245-8877-7F8460B17472}"/>
              </a:ext>
            </a:extLst>
          </p:cNvPr>
          <p:cNvSpPr txBox="1"/>
          <p:nvPr/>
        </p:nvSpPr>
        <p:spPr>
          <a:xfrm>
            <a:off x="785159" y="1232126"/>
            <a:ext cx="41916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𝟗,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D849AF2-D13A-5643-9A07-1F39C8E76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73269"/>
              </p:ext>
            </p:extLst>
          </p:nvPr>
        </p:nvGraphicFramePr>
        <p:xfrm>
          <a:off x="2922823" y="3184229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A4325BA2-2C2D-D742-885E-3F503578B2F4}"/>
              </a:ext>
            </a:extLst>
          </p:cNvPr>
          <p:cNvSpPr/>
          <p:nvPr/>
        </p:nvSpPr>
        <p:spPr>
          <a:xfrm>
            <a:off x="4789977" y="2676371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743F7B1-2CBF-FA4D-B3FE-84F0F49DDE04}"/>
              </a:ext>
            </a:extLst>
          </p:cNvPr>
          <p:cNvSpPr txBox="1"/>
          <p:nvPr/>
        </p:nvSpPr>
        <p:spPr>
          <a:xfrm>
            <a:off x="4408215" y="2276321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33E8A63-1ADD-5C43-83D3-00B26D5C45E0}"/>
              </a:ext>
            </a:extLst>
          </p:cNvPr>
          <p:cNvSpPr/>
          <p:nvPr/>
        </p:nvSpPr>
        <p:spPr>
          <a:xfrm>
            <a:off x="8242599" y="267103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3CDFCCE-0117-5247-BBBF-90D6C438C7D7}"/>
              </a:ext>
            </a:extLst>
          </p:cNvPr>
          <p:cNvSpPr txBox="1"/>
          <p:nvPr/>
        </p:nvSpPr>
        <p:spPr>
          <a:xfrm>
            <a:off x="7860837" y="2270987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B0F1D2F-6E26-8040-94FF-89FAD822E607}"/>
              </a:ext>
            </a:extLst>
          </p:cNvPr>
          <p:cNvSpPr txBox="1"/>
          <p:nvPr/>
        </p:nvSpPr>
        <p:spPr>
          <a:xfrm>
            <a:off x="7002062" y="4789396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63FE087-E635-7741-B8D5-F4210468B827}"/>
              </a:ext>
            </a:extLst>
          </p:cNvPr>
          <p:cNvSpPr/>
          <p:nvPr/>
        </p:nvSpPr>
        <p:spPr>
          <a:xfrm>
            <a:off x="7676433" y="424075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6BFD33-745A-4E48-AC3D-ED10D1A60F7F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</p:spTree>
    <p:extLst>
      <p:ext uri="{BB962C8B-B14F-4D97-AF65-F5344CB8AC3E}">
        <p14:creationId xmlns:p14="http://schemas.microsoft.com/office/powerpoint/2010/main" val="22722396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461DF6E-8DD3-5244-962E-20E5304FA3CE}"/>
              </a:ext>
            </a:extLst>
          </p:cNvPr>
          <p:cNvSpPr/>
          <p:nvPr/>
        </p:nvSpPr>
        <p:spPr>
          <a:xfrm>
            <a:off x="3570197" y="1324616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725BC6E-2116-9C46-8694-AF42AF642251}"/>
              </a:ext>
            </a:extLst>
          </p:cNvPr>
          <p:cNvSpPr txBox="1"/>
          <p:nvPr/>
        </p:nvSpPr>
        <p:spPr>
          <a:xfrm>
            <a:off x="806678" y="1221364"/>
            <a:ext cx="41916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𝟗,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FBA08FF-0E4D-454C-8654-7E78DE972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057239"/>
              </p:ext>
            </p:extLst>
          </p:nvPr>
        </p:nvGraphicFramePr>
        <p:xfrm>
          <a:off x="2944342" y="3173467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FB180BC7-E971-D641-A1FB-1755583EFC46}"/>
              </a:ext>
            </a:extLst>
          </p:cNvPr>
          <p:cNvSpPr/>
          <p:nvPr/>
        </p:nvSpPr>
        <p:spPr>
          <a:xfrm>
            <a:off x="4811496" y="2665609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8655D29-6873-4F44-9D1F-5A5A086BA521}"/>
              </a:ext>
            </a:extLst>
          </p:cNvPr>
          <p:cNvSpPr txBox="1"/>
          <p:nvPr/>
        </p:nvSpPr>
        <p:spPr>
          <a:xfrm>
            <a:off x="4429734" y="2265559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F1760DF-4B90-094E-955D-D99D6781CAE2}"/>
              </a:ext>
            </a:extLst>
          </p:cNvPr>
          <p:cNvSpPr/>
          <p:nvPr/>
        </p:nvSpPr>
        <p:spPr>
          <a:xfrm>
            <a:off x="8264118" y="2660275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87B8D3B-5A5D-F14C-BDC3-4B87E50A2D5D}"/>
              </a:ext>
            </a:extLst>
          </p:cNvPr>
          <p:cNvSpPr txBox="1"/>
          <p:nvPr/>
        </p:nvSpPr>
        <p:spPr>
          <a:xfrm>
            <a:off x="7882356" y="2260225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0F0D90F-619C-4446-B0B5-243BD921B43A}"/>
              </a:ext>
            </a:extLst>
          </p:cNvPr>
          <p:cNvSpPr/>
          <p:nvPr/>
        </p:nvSpPr>
        <p:spPr>
          <a:xfrm>
            <a:off x="7045806" y="4881758"/>
            <a:ext cx="565150" cy="235585"/>
          </a:xfrm>
          <a:custGeom>
            <a:avLst/>
            <a:gdLst/>
            <a:ahLst/>
            <a:cxnLst/>
            <a:rect l="l" t="t" r="r" b="b"/>
            <a:pathLst>
              <a:path w="565150" h="235585">
                <a:moveTo>
                  <a:pt x="490092" y="0"/>
                </a:moveTo>
                <a:lnTo>
                  <a:pt x="486790" y="9525"/>
                </a:lnTo>
                <a:lnTo>
                  <a:pt x="500411" y="15484"/>
                </a:lnTo>
                <a:lnTo>
                  <a:pt x="512127" y="23669"/>
                </a:lnTo>
                <a:lnTo>
                  <a:pt x="535864" y="61575"/>
                </a:lnTo>
                <a:lnTo>
                  <a:pt x="543686" y="116332"/>
                </a:lnTo>
                <a:lnTo>
                  <a:pt x="542807" y="137094"/>
                </a:lnTo>
                <a:lnTo>
                  <a:pt x="529716" y="187833"/>
                </a:lnTo>
                <a:lnTo>
                  <a:pt x="500552" y="219622"/>
                </a:lnTo>
                <a:lnTo>
                  <a:pt x="487172" y="225552"/>
                </a:lnTo>
                <a:lnTo>
                  <a:pt x="490092" y="235077"/>
                </a:lnTo>
                <a:lnTo>
                  <a:pt x="535027" y="208412"/>
                </a:lnTo>
                <a:lnTo>
                  <a:pt x="560292" y="159162"/>
                </a:lnTo>
                <a:lnTo>
                  <a:pt x="565150" y="117602"/>
                </a:lnTo>
                <a:lnTo>
                  <a:pt x="563935" y="96049"/>
                </a:lnTo>
                <a:lnTo>
                  <a:pt x="554220" y="57898"/>
                </a:lnTo>
                <a:lnTo>
                  <a:pt x="522097" y="15113"/>
                </a:lnTo>
                <a:lnTo>
                  <a:pt x="507142" y="6163"/>
                </a:lnTo>
                <a:lnTo>
                  <a:pt x="490092" y="0"/>
                </a:lnTo>
                <a:close/>
              </a:path>
              <a:path w="565150" h="235585">
                <a:moveTo>
                  <a:pt x="74929" y="0"/>
                </a:moveTo>
                <a:lnTo>
                  <a:pt x="30067" y="26824"/>
                </a:lnTo>
                <a:lnTo>
                  <a:pt x="4841" y="76152"/>
                </a:lnTo>
                <a:lnTo>
                  <a:pt x="0" y="117602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29" y="235077"/>
                </a:lnTo>
                <a:lnTo>
                  <a:pt x="77850" y="225552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5" y="116332"/>
                </a:lnTo>
                <a:lnTo>
                  <a:pt x="22215" y="96333"/>
                </a:lnTo>
                <a:lnTo>
                  <a:pt x="35305" y="46863"/>
                </a:lnTo>
                <a:lnTo>
                  <a:pt x="64684" y="15484"/>
                </a:lnTo>
                <a:lnTo>
                  <a:pt x="78231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0871C81-5422-354A-95C5-9D6381EEE110}"/>
              </a:ext>
            </a:extLst>
          </p:cNvPr>
          <p:cNvSpPr/>
          <p:nvPr/>
        </p:nvSpPr>
        <p:spPr>
          <a:xfrm>
            <a:off x="8132419" y="4881758"/>
            <a:ext cx="565150" cy="235585"/>
          </a:xfrm>
          <a:custGeom>
            <a:avLst/>
            <a:gdLst/>
            <a:ahLst/>
            <a:cxnLst/>
            <a:rect l="l" t="t" r="r" b="b"/>
            <a:pathLst>
              <a:path w="565150" h="235585">
                <a:moveTo>
                  <a:pt x="490093" y="0"/>
                </a:moveTo>
                <a:lnTo>
                  <a:pt x="486791" y="9525"/>
                </a:lnTo>
                <a:lnTo>
                  <a:pt x="500411" y="15484"/>
                </a:lnTo>
                <a:lnTo>
                  <a:pt x="512127" y="23669"/>
                </a:lnTo>
                <a:lnTo>
                  <a:pt x="535864" y="61575"/>
                </a:lnTo>
                <a:lnTo>
                  <a:pt x="543687" y="116332"/>
                </a:lnTo>
                <a:lnTo>
                  <a:pt x="542807" y="137094"/>
                </a:lnTo>
                <a:lnTo>
                  <a:pt x="529717" y="187833"/>
                </a:lnTo>
                <a:lnTo>
                  <a:pt x="500552" y="219622"/>
                </a:lnTo>
                <a:lnTo>
                  <a:pt x="487172" y="225552"/>
                </a:lnTo>
                <a:lnTo>
                  <a:pt x="490093" y="235077"/>
                </a:lnTo>
                <a:lnTo>
                  <a:pt x="535027" y="208412"/>
                </a:lnTo>
                <a:lnTo>
                  <a:pt x="560292" y="159162"/>
                </a:lnTo>
                <a:lnTo>
                  <a:pt x="565150" y="117602"/>
                </a:lnTo>
                <a:lnTo>
                  <a:pt x="563935" y="96049"/>
                </a:lnTo>
                <a:lnTo>
                  <a:pt x="554220" y="57898"/>
                </a:lnTo>
                <a:lnTo>
                  <a:pt x="522097" y="15113"/>
                </a:lnTo>
                <a:lnTo>
                  <a:pt x="507142" y="6163"/>
                </a:lnTo>
                <a:lnTo>
                  <a:pt x="490093" y="0"/>
                </a:lnTo>
                <a:close/>
              </a:path>
              <a:path w="565150" h="235585">
                <a:moveTo>
                  <a:pt x="74929" y="0"/>
                </a:moveTo>
                <a:lnTo>
                  <a:pt x="30067" y="26824"/>
                </a:lnTo>
                <a:lnTo>
                  <a:pt x="4841" y="76152"/>
                </a:lnTo>
                <a:lnTo>
                  <a:pt x="0" y="117602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29" y="235077"/>
                </a:lnTo>
                <a:lnTo>
                  <a:pt x="77850" y="225552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6" y="116332"/>
                </a:lnTo>
                <a:lnTo>
                  <a:pt x="22215" y="96333"/>
                </a:lnTo>
                <a:lnTo>
                  <a:pt x="35305" y="46863"/>
                </a:lnTo>
                <a:lnTo>
                  <a:pt x="64684" y="15484"/>
                </a:lnTo>
                <a:lnTo>
                  <a:pt x="78232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19997C2-80A3-474C-A8F4-74B863596287}"/>
              </a:ext>
            </a:extLst>
          </p:cNvPr>
          <p:cNvSpPr txBox="1"/>
          <p:nvPr/>
        </p:nvSpPr>
        <p:spPr>
          <a:xfrm>
            <a:off x="6737831" y="4778634"/>
            <a:ext cx="321754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309"/>
              </a:spcBef>
              <a:tabLst>
                <a:tab pos="967105" algn="l"/>
                <a:tab pos="2038985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𝟏𝟎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EA590D0-7E0B-3F4F-AA49-96F0C42EFD4E}"/>
              </a:ext>
            </a:extLst>
          </p:cNvPr>
          <p:cNvSpPr/>
          <p:nvPr/>
        </p:nvSpPr>
        <p:spPr>
          <a:xfrm>
            <a:off x="8254973" y="4229995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F3E044-5946-8944-9807-5BBA0C720BE0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</p:spTree>
    <p:extLst>
      <p:ext uri="{BB962C8B-B14F-4D97-AF65-F5344CB8AC3E}">
        <p14:creationId xmlns:p14="http://schemas.microsoft.com/office/powerpoint/2010/main" val="38520388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B7B412BE-B585-CF49-BF19-15531C2655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5659" y="3581067"/>
            <a:ext cx="4623907" cy="2143564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24CB7AFF-3D6D-2B40-AB5B-5EC636787347}"/>
              </a:ext>
            </a:extLst>
          </p:cNvPr>
          <p:cNvGrpSpPr/>
          <p:nvPr/>
        </p:nvGrpSpPr>
        <p:grpSpPr>
          <a:xfrm>
            <a:off x="319277" y="1047124"/>
            <a:ext cx="5454650" cy="4758690"/>
            <a:chOff x="319277" y="756666"/>
            <a:chExt cx="5454650" cy="475869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29F55CD4-DB62-4341-8E33-86166686A808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42279" y="916586"/>
              <a:ext cx="4633930" cy="2190432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A5832F9-0995-7B49-A68F-61C9E5B9F8E5}"/>
                </a:ext>
              </a:extLst>
            </p:cNvPr>
            <p:cNvSpPr/>
            <p:nvPr/>
          </p:nvSpPr>
          <p:spPr>
            <a:xfrm>
              <a:off x="338327" y="775716"/>
              <a:ext cx="5416550" cy="4720590"/>
            </a:xfrm>
            <a:custGeom>
              <a:avLst/>
              <a:gdLst/>
              <a:ahLst/>
              <a:cxnLst/>
              <a:rect l="l" t="t" r="r" b="b"/>
              <a:pathLst>
                <a:path w="5416550" h="4720590">
                  <a:moveTo>
                    <a:pt x="0" y="255905"/>
                  </a:moveTo>
                  <a:lnTo>
                    <a:pt x="4122" y="209900"/>
                  </a:lnTo>
                  <a:lnTo>
                    <a:pt x="16007" y="166603"/>
                  </a:lnTo>
                  <a:lnTo>
                    <a:pt x="34932" y="126736"/>
                  </a:lnTo>
                  <a:lnTo>
                    <a:pt x="60175" y="91021"/>
                  </a:lnTo>
                  <a:lnTo>
                    <a:pt x="91012" y="60179"/>
                  </a:lnTo>
                  <a:lnTo>
                    <a:pt x="126721" y="34934"/>
                  </a:lnTo>
                  <a:lnTo>
                    <a:pt x="166580" y="16007"/>
                  </a:lnTo>
                  <a:lnTo>
                    <a:pt x="209865" y="4122"/>
                  </a:lnTo>
                  <a:lnTo>
                    <a:pt x="255854" y="0"/>
                  </a:lnTo>
                  <a:lnTo>
                    <a:pt x="5160391" y="0"/>
                  </a:lnTo>
                  <a:lnTo>
                    <a:pt x="5206395" y="4122"/>
                  </a:lnTo>
                  <a:lnTo>
                    <a:pt x="5249692" y="16007"/>
                  </a:lnTo>
                  <a:lnTo>
                    <a:pt x="5289559" y="34934"/>
                  </a:lnTo>
                  <a:lnTo>
                    <a:pt x="5325274" y="60179"/>
                  </a:lnTo>
                  <a:lnTo>
                    <a:pt x="5356116" y="91021"/>
                  </a:lnTo>
                  <a:lnTo>
                    <a:pt x="5381361" y="126736"/>
                  </a:lnTo>
                  <a:lnTo>
                    <a:pt x="5400288" y="166603"/>
                  </a:lnTo>
                  <a:lnTo>
                    <a:pt x="5412173" y="209900"/>
                  </a:lnTo>
                  <a:lnTo>
                    <a:pt x="5416296" y="255905"/>
                  </a:lnTo>
                  <a:lnTo>
                    <a:pt x="5416296" y="4464685"/>
                  </a:lnTo>
                  <a:lnTo>
                    <a:pt x="5412173" y="4510689"/>
                  </a:lnTo>
                  <a:lnTo>
                    <a:pt x="5400288" y="4553986"/>
                  </a:lnTo>
                  <a:lnTo>
                    <a:pt x="5381361" y="4593853"/>
                  </a:lnTo>
                  <a:lnTo>
                    <a:pt x="5356116" y="4629568"/>
                  </a:lnTo>
                  <a:lnTo>
                    <a:pt x="5325274" y="4660410"/>
                  </a:lnTo>
                  <a:lnTo>
                    <a:pt x="5289559" y="4685655"/>
                  </a:lnTo>
                  <a:lnTo>
                    <a:pt x="5249692" y="4704582"/>
                  </a:lnTo>
                  <a:lnTo>
                    <a:pt x="5206395" y="4716467"/>
                  </a:lnTo>
                  <a:lnTo>
                    <a:pt x="5160391" y="4720590"/>
                  </a:lnTo>
                  <a:lnTo>
                    <a:pt x="255854" y="4720590"/>
                  </a:lnTo>
                  <a:lnTo>
                    <a:pt x="209865" y="4716467"/>
                  </a:lnTo>
                  <a:lnTo>
                    <a:pt x="166580" y="4704582"/>
                  </a:lnTo>
                  <a:lnTo>
                    <a:pt x="126721" y="4685655"/>
                  </a:lnTo>
                  <a:lnTo>
                    <a:pt x="91012" y="4660410"/>
                  </a:lnTo>
                  <a:lnTo>
                    <a:pt x="60175" y="4629568"/>
                  </a:lnTo>
                  <a:lnTo>
                    <a:pt x="34932" y="4593853"/>
                  </a:lnTo>
                  <a:lnTo>
                    <a:pt x="16007" y="4553986"/>
                  </a:lnTo>
                  <a:lnTo>
                    <a:pt x="4122" y="4510689"/>
                  </a:lnTo>
                  <a:lnTo>
                    <a:pt x="0" y="4464685"/>
                  </a:lnTo>
                  <a:lnTo>
                    <a:pt x="0" y="25590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F185D9E5-C55D-8C4C-8611-705A8E5D9A2B}"/>
              </a:ext>
            </a:extLst>
          </p:cNvPr>
          <p:cNvSpPr txBox="1"/>
          <p:nvPr/>
        </p:nvSpPr>
        <p:spPr>
          <a:xfrm>
            <a:off x="1472183" y="5979549"/>
            <a:ext cx="2936875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5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𝟖)</a:t>
            </a:r>
            <a:r>
              <a:rPr sz="2400">
                <a:latin typeface="PMingLiU"/>
                <a:cs typeface="PMingLiU"/>
              </a:rPr>
              <a:t>操作</a:t>
            </a:r>
            <a:r>
              <a:rPr sz="2400">
                <a:latin typeface="Cambria Math"/>
                <a:cs typeface="Cambria Math"/>
              </a:rPr>
              <a:t>𝟏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502326-6E56-A741-8A0A-37793E2FA8AD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优化枚举：实例分析</a:t>
            </a:r>
          </a:p>
        </p:txBody>
      </p:sp>
    </p:spTree>
    <p:extLst>
      <p:ext uri="{BB962C8B-B14F-4D97-AF65-F5344CB8AC3E}">
        <p14:creationId xmlns:p14="http://schemas.microsoft.com/office/powerpoint/2010/main" val="9278406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0502326-6E56-A741-8A0A-37793E2FA8AD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优化枚举：实例分析</a:t>
            </a: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16BC1684-A7AA-AF43-9587-72686EE4B6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2627" y="3613342"/>
            <a:ext cx="4623907" cy="2143564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C1E9C64E-09E1-9448-BFD5-540005B818A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9247" y="1239319"/>
            <a:ext cx="4633930" cy="2190432"/>
          </a:xfrm>
          <a:prstGeom prst="rect">
            <a:avLst/>
          </a:prstGeom>
        </p:spPr>
      </p:pic>
      <p:grpSp>
        <p:nvGrpSpPr>
          <p:cNvPr id="11" name="object 4">
            <a:extLst>
              <a:ext uri="{FF2B5EF4-FFF2-40B4-BE49-F238E27FC236}">
                <a16:creationId xmlns:a16="http://schemas.microsoft.com/office/drawing/2014/main" id="{88178AC7-DDED-B547-BBB3-F63F2CF29799}"/>
              </a:ext>
            </a:extLst>
          </p:cNvPr>
          <p:cNvGrpSpPr/>
          <p:nvPr/>
        </p:nvGrpSpPr>
        <p:grpSpPr>
          <a:xfrm>
            <a:off x="6108594" y="1079399"/>
            <a:ext cx="5454650" cy="4758690"/>
            <a:chOff x="6151626" y="756666"/>
            <a:chExt cx="5454650" cy="4758690"/>
          </a:xfrm>
        </p:grpSpPr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A77ED9A5-2711-064F-ABC3-4DB53ACBE1B9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399128" y="3172820"/>
              <a:ext cx="4999389" cy="2113777"/>
            </a:xfrm>
            <a:prstGeom prst="rect">
              <a:avLst/>
            </a:prstGeom>
          </p:spPr>
        </p:pic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EB1B5B5F-387D-6346-9BF7-EBEE331CE46A}"/>
                </a:ext>
              </a:extLst>
            </p:cNvPr>
            <p:cNvSpPr/>
            <p:nvPr/>
          </p:nvSpPr>
          <p:spPr>
            <a:xfrm>
              <a:off x="6170676" y="775716"/>
              <a:ext cx="5416550" cy="4720590"/>
            </a:xfrm>
            <a:custGeom>
              <a:avLst/>
              <a:gdLst/>
              <a:ahLst/>
              <a:cxnLst/>
              <a:rect l="l" t="t" r="r" b="b"/>
              <a:pathLst>
                <a:path w="5416550" h="4720590">
                  <a:moveTo>
                    <a:pt x="0" y="255905"/>
                  </a:moveTo>
                  <a:lnTo>
                    <a:pt x="4122" y="209900"/>
                  </a:lnTo>
                  <a:lnTo>
                    <a:pt x="16007" y="166603"/>
                  </a:lnTo>
                  <a:lnTo>
                    <a:pt x="34934" y="126736"/>
                  </a:lnTo>
                  <a:lnTo>
                    <a:pt x="60179" y="91021"/>
                  </a:lnTo>
                  <a:lnTo>
                    <a:pt x="91021" y="60179"/>
                  </a:lnTo>
                  <a:lnTo>
                    <a:pt x="126736" y="34934"/>
                  </a:lnTo>
                  <a:lnTo>
                    <a:pt x="166603" y="16007"/>
                  </a:lnTo>
                  <a:lnTo>
                    <a:pt x="209900" y="4122"/>
                  </a:lnTo>
                  <a:lnTo>
                    <a:pt x="255904" y="0"/>
                  </a:lnTo>
                  <a:lnTo>
                    <a:pt x="5160391" y="0"/>
                  </a:lnTo>
                  <a:lnTo>
                    <a:pt x="5206395" y="4122"/>
                  </a:lnTo>
                  <a:lnTo>
                    <a:pt x="5249692" y="16007"/>
                  </a:lnTo>
                  <a:lnTo>
                    <a:pt x="5289559" y="34934"/>
                  </a:lnTo>
                  <a:lnTo>
                    <a:pt x="5325274" y="60179"/>
                  </a:lnTo>
                  <a:lnTo>
                    <a:pt x="5356116" y="91021"/>
                  </a:lnTo>
                  <a:lnTo>
                    <a:pt x="5381361" y="126736"/>
                  </a:lnTo>
                  <a:lnTo>
                    <a:pt x="5400288" y="166603"/>
                  </a:lnTo>
                  <a:lnTo>
                    <a:pt x="5412173" y="209900"/>
                  </a:lnTo>
                  <a:lnTo>
                    <a:pt x="5416296" y="255905"/>
                  </a:lnTo>
                  <a:lnTo>
                    <a:pt x="5416296" y="4464685"/>
                  </a:lnTo>
                  <a:lnTo>
                    <a:pt x="5412173" y="4510689"/>
                  </a:lnTo>
                  <a:lnTo>
                    <a:pt x="5400288" y="4553986"/>
                  </a:lnTo>
                  <a:lnTo>
                    <a:pt x="5381361" y="4593853"/>
                  </a:lnTo>
                  <a:lnTo>
                    <a:pt x="5356116" y="4629568"/>
                  </a:lnTo>
                  <a:lnTo>
                    <a:pt x="5325274" y="4660410"/>
                  </a:lnTo>
                  <a:lnTo>
                    <a:pt x="5289559" y="4685655"/>
                  </a:lnTo>
                  <a:lnTo>
                    <a:pt x="5249692" y="4704582"/>
                  </a:lnTo>
                  <a:lnTo>
                    <a:pt x="5206395" y="4716467"/>
                  </a:lnTo>
                  <a:lnTo>
                    <a:pt x="5160391" y="4720590"/>
                  </a:lnTo>
                  <a:lnTo>
                    <a:pt x="255904" y="4720590"/>
                  </a:lnTo>
                  <a:lnTo>
                    <a:pt x="209900" y="4716467"/>
                  </a:lnTo>
                  <a:lnTo>
                    <a:pt x="166603" y="4704582"/>
                  </a:lnTo>
                  <a:lnTo>
                    <a:pt x="126736" y="4685655"/>
                  </a:lnTo>
                  <a:lnTo>
                    <a:pt x="91021" y="4660410"/>
                  </a:lnTo>
                  <a:lnTo>
                    <a:pt x="60179" y="4629568"/>
                  </a:lnTo>
                  <a:lnTo>
                    <a:pt x="34934" y="4593853"/>
                  </a:lnTo>
                  <a:lnTo>
                    <a:pt x="16007" y="4553986"/>
                  </a:lnTo>
                  <a:lnTo>
                    <a:pt x="4122" y="4510689"/>
                  </a:lnTo>
                  <a:lnTo>
                    <a:pt x="0" y="4464685"/>
                  </a:lnTo>
                  <a:lnTo>
                    <a:pt x="0" y="25590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7">
              <a:extLst>
                <a:ext uri="{FF2B5EF4-FFF2-40B4-BE49-F238E27FC236}">
                  <a16:creationId xmlns:a16="http://schemas.microsoft.com/office/drawing/2014/main" id="{185DB3D2-4B17-4144-A9C5-E02FC5C7FCE3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349959" y="931164"/>
              <a:ext cx="4585135" cy="2169443"/>
            </a:xfrm>
            <a:prstGeom prst="rect">
              <a:avLst/>
            </a:prstGeom>
          </p:spPr>
        </p:pic>
      </p:grpSp>
      <p:sp>
        <p:nvSpPr>
          <p:cNvPr id="15" name="object 9">
            <a:extLst>
              <a:ext uri="{FF2B5EF4-FFF2-40B4-BE49-F238E27FC236}">
                <a16:creationId xmlns:a16="http://schemas.microsoft.com/office/drawing/2014/main" id="{33AA6816-8063-1E42-836D-6D901AE70638}"/>
              </a:ext>
            </a:extLst>
          </p:cNvPr>
          <p:cNvSpPr/>
          <p:nvPr/>
        </p:nvSpPr>
        <p:spPr>
          <a:xfrm>
            <a:off x="295295" y="1098449"/>
            <a:ext cx="5416550" cy="4720590"/>
          </a:xfrm>
          <a:custGeom>
            <a:avLst/>
            <a:gdLst/>
            <a:ahLst/>
            <a:cxnLst/>
            <a:rect l="l" t="t" r="r" b="b"/>
            <a:pathLst>
              <a:path w="5416550" h="4720590">
                <a:moveTo>
                  <a:pt x="0" y="255905"/>
                </a:moveTo>
                <a:lnTo>
                  <a:pt x="4122" y="209900"/>
                </a:lnTo>
                <a:lnTo>
                  <a:pt x="16007" y="166603"/>
                </a:lnTo>
                <a:lnTo>
                  <a:pt x="34932" y="126736"/>
                </a:lnTo>
                <a:lnTo>
                  <a:pt x="60175" y="91021"/>
                </a:lnTo>
                <a:lnTo>
                  <a:pt x="91012" y="60179"/>
                </a:lnTo>
                <a:lnTo>
                  <a:pt x="126721" y="34934"/>
                </a:lnTo>
                <a:lnTo>
                  <a:pt x="166580" y="16007"/>
                </a:lnTo>
                <a:lnTo>
                  <a:pt x="209865" y="4122"/>
                </a:lnTo>
                <a:lnTo>
                  <a:pt x="255854" y="0"/>
                </a:lnTo>
                <a:lnTo>
                  <a:pt x="5160391" y="0"/>
                </a:lnTo>
                <a:lnTo>
                  <a:pt x="5206395" y="4122"/>
                </a:lnTo>
                <a:lnTo>
                  <a:pt x="5249692" y="16007"/>
                </a:lnTo>
                <a:lnTo>
                  <a:pt x="5289559" y="34934"/>
                </a:lnTo>
                <a:lnTo>
                  <a:pt x="5325274" y="60179"/>
                </a:lnTo>
                <a:lnTo>
                  <a:pt x="5356116" y="91021"/>
                </a:lnTo>
                <a:lnTo>
                  <a:pt x="5381361" y="126736"/>
                </a:lnTo>
                <a:lnTo>
                  <a:pt x="5400288" y="166603"/>
                </a:lnTo>
                <a:lnTo>
                  <a:pt x="5412173" y="209900"/>
                </a:lnTo>
                <a:lnTo>
                  <a:pt x="5416296" y="255905"/>
                </a:lnTo>
                <a:lnTo>
                  <a:pt x="5416296" y="4464685"/>
                </a:lnTo>
                <a:lnTo>
                  <a:pt x="5412173" y="4510689"/>
                </a:lnTo>
                <a:lnTo>
                  <a:pt x="5400288" y="4553986"/>
                </a:lnTo>
                <a:lnTo>
                  <a:pt x="5381361" y="4593853"/>
                </a:lnTo>
                <a:lnTo>
                  <a:pt x="5356116" y="4629568"/>
                </a:lnTo>
                <a:lnTo>
                  <a:pt x="5325274" y="4660410"/>
                </a:lnTo>
                <a:lnTo>
                  <a:pt x="5289559" y="4685655"/>
                </a:lnTo>
                <a:lnTo>
                  <a:pt x="5249692" y="4704582"/>
                </a:lnTo>
                <a:lnTo>
                  <a:pt x="5206395" y="4716467"/>
                </a:lnTo>
                <a:lnTo>
                  <a:pt x="5160391" y="4720590"/>
                </a:lnTo>
                <a:lnTo>
                  <a:pt x="255854" y="4720590"/>
                </a:lnTo>
                <a:lnTo>
                  <a:pt x="209865" y="4716467"/>
                </a:lnTo>
                <a:lnTo>
                  <a:pt x="166580" y="4704582"/>
                </a:lnTo>
                <a:lnTo>
                  <a:pt x="126721" y="4685655"/>
                </a:lnTo>
                <a:lnTo>
                  <a:pt x="91012" y="4660410"/>
                </a:lnTo>
                <a:lnTo>
                  <a:pt x="60175" y="4629568"/>
                </a:lnTo>
                <a:lnTo>
                  <a:pt x="34932" y="4593853"/>
                </a:lnTo>
                <a:lnTo>
                  <a:pt x="16007" y="4553986"/>
                </a:lnTo>
                <a:lnTo>
                  <a:pt x="4122" y="4510689"/>
                </a:lnTo>
                <a:lnTo>
                  <a:pt x="0" y="4464685"/>
                </a:lnTo>
                <a:lnTo>
                  <a:pt x="0" y="255905"/>
                </a:lnTo>
                <a:close/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27E719F3-E7C9-7A4D-A166-2B59AFAC7901}"/>
              </a:ext>
            </a:extLst>
          </p:cNvPr>
          <p:cNvSpPr txBox="1"/>
          <p:nvPr/>
        </p:nvSpPr>
        <p:spPr>
          <a:xfrm>
            <a:off x="7400184" y="6011824"/>
            <a:ext cx="2936875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5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𝟗)</a:t>
            </a:r>
            <a:r>
              <a:rPr sz="2400">
                <a:latin typeface="PMingLiU"/>
                <a:cs typeface="PMingLiU"/>
              </a:rPr>
              <a:t>操作</a:t>
            </a:r>
            <a:r>
              <a:rPr sz="2400">
                <a:latin typeface="Cambria Math"/>
                <a:cs typeface="Cambria Math"/>
              </a:rPr>
              <a:t>𝟏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B5F9E7B-F7B9-354E-B578-40BA09D297D8}"/>
              </a:ext>
            </a:extLst>
          </p:cNvPr>
          <p:cNvSpPr txBox="1"/>
          <p:nvPr/>
        </p:nvSpPr>
        <p:spPr>
          <a:xfrm>
            <a:off x="1429151" y="6011824"/>
            <a:ext cx="2936875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5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𝟖)</a:t>
            </a:r>
            <a:r>
              <a:rPr sz="2400">
                <a:latin typeface="PMingLiU"/>
                <a:cs typeface="PMingLiU"/>
              </a:rPr>
              <a:t>操作</a:t>
            </a:r>
            <a:r>
              <a:rPr sz="2400">
                <a:latin typeface="Cambria Math"/>
                <a:cs typeface="Cambria Math"/>
              </a:rPr>
              <a:t>𝟏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406E1B54-4234-6640-8246-BEDC3E86AB4D}"/>
              </a:ext>
            </a:extLst>
          </p:cNvPr>
          <p:cNvSpPr txBox="1"/>
          <p:nvPr/>
        </p:nvSpPr>
        <p:spPr>
          <a:xfrm>
            <a:off x="3889205" y="5839325"/>
            <a:ext cx="3987800" cy="39116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重复利用之前已经计算的数据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63984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3B41B40-8ED8-A649-BA0C-BA364B5F8B16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优化枚举：实例分析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783E3D20-38C1-9447-9D1B-431146DA50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49959" y="1092533"/>
            <a:ext cx="4585135" cy="2169443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D427AF9F-FDFD-BF48-8CBB-FE7A56157D1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15659" y="3451979"/>
            <a:ext cx="4623907" cy="2143564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AB988088-B096-6745-98AE-136097DD6AF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42279" y="1077956"/>
            <a:ext cx="4633930" cy="2190432"/>
          </a:xfrm>
          <a:prstGeom prst="rect">
            <a:avLst/>
          </a:prstGeom>
        </p:spPr>
      </p:pic>
      <p:grpSp>
        <p:nvGrpSpPr>
          <p:cNvPr id="7" name="object 5">
            <a:extLst>
              <a:ext uri="{FF2B5EF4-FFF2-40B4-BE49-F238E27FC236}">
                <a16:creationId xmlns:a16="http://schemas.microsoft.com/office/drawing/2014/main" id="{82FB73B5-A147-C94F-9A54-EDC7525958B9}"/>
              </a:ext>
            </a:extLst>
          </p:cNvPr>
          <p:cNvGrpSpPr/>
          <p:nvPr/>
        </p:nvGrpSpPr>
        <p:grpSpPr>
          <a:xfrm>
            <a:off x="3409315" y="3334190"/>
            <a:ext cx="7989202" cy="2925425"/>
            <a:chOff x="3409315" y="3172820"/>
            <a:chExt cx="7989202" cy="2925425"/>
          </a:xfrm>
        </p:grpSpPr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B455B3B3-5E89-C54E-ACD7-091190EB9536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399128" y="3172820"/>
              <a:ext cx="4999389" cy="2113777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C0C99EF-899B-BD45-BDBA-A796920F8973}"/>
                </a:ext>
              </a:extLst>
            </p:cNvPr>
            <p:cNvSpPr/>
            <p:nvPr/>
          </p:nvSpPr>
          <p:spPr>
            <a:xfrm>
              <a:off x="3409315" y="5604097"/>
              <a:ext cx="5387340" cy="494148"/>
            </a:xfrm>
            <a:custGeom>
              <a:avLst/>
              <a:gdLst/>
              <a:ahLst/>
              <a:cxnLst/>
              <a:rect l="l" t="t" r="r" b="b"/>
              <a:pathLst>
                <a:path w="5387340" h="599440">
                  <a:moveTo>
                    <a:pt x="0" y="598932"/>
                  </a:moveTo>
                  <a:lnTo>
                    <a:pt x="5387339" y="598932"/>
                  </a:lnTo>
                  <a:lnTo>
                    <a:pt x="5387339" y="0"/>
                  </a:lnTo>
                  <a:lnTo>
                    <a:pt x="0" y="0"/>
                  </a:lnTo>
                  <a:lnTo>
                    <a:pt x="0" y="59893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B45B1880-E1CD-5049-B833-AD53B6D0C9DD}"/>
                </a:ext>
              </a:extLst>
            </p:cNvPr>
            <p:cNvSpPr/>
            <p:nvPr/>
          </p:nvSpPr>
          <p:spPr>
            <a:xfrm>
              <a:off x="3794288" y="5703617"/>
              <a:ext cx="588645" cy="282575"/>
            </a:xfrm>
            <a:custGeom>
              <a:avLst/>
              <a:gdLst/>
              <a:ahLst/>
              <a:cxnLst/>
              <a:rect l="l" t="t" r="r" b="b"/>
              <a:pathLst>
                <a:path w="588645" h="282575">
                  <a:moveTo>
                    <a:pt x="498093" y="0"/>
                  </a:moveTo>
                  <a:lnTo>
                    <a:pt x="494029" y="11455"/>
                  </a:lnTo>
                  <a:lnTo>
                    <a:pt x="510393" y="18551"/>
                  </a:lnTo>
                  <a:lnTo>
                    <a:pt x="524446" y="28371"/>
                  </a:lnTo>
                  <a:lnTo>
                    <a:pt x="552979" y="73880"/>
                  </a:lnTo>
                  <a:lnTo>
                    <a:pt x="561310" y="115661"/>
                  </a:lnTo>
                  <a:lnTo>
                    <a:pt x="562355" y="139750"/>
                  </a:lnTo>
                  <a:lnTo>
                    <a:pt x="561308" y="164649"/>
                  </a:lnTo>
                  <a:lnTo>
                    <a:pt x="552926" y="207587"/>
                  </a:lnTo>
                  <a:lnTo>
                    <a:pt x="524446" y="253828"/>
                  </a:lnTo>
                  <a:lnTo>
                    <a:pt x="494538" y="270865"/>
                  </a:lnTo>
                  <a:lnTo>
                    <a:pt x="498093" y="282321"/>
                  </a:lnTo>
                  <a:lnTo>
                    <a:pt x="536590" y="264263"/>
                  </a:lnTo>
                  <a:lnTo>
                    <a:pt x="564895" y="232994"/>
                  </a:lnTo>
                  <a:lnTo>
                    <a:pt x="582326" y="191111"/>
                  </a:lnTo>
                  <a:lnTo>
                    <a:pt x="588137" y="141236"/>
                  </a:lnTo>
                  <a:lnTo>
                    <a:pt x="586682" y="115357"/>
                  </a:lnTo>
                  <a:lnTo>
                    <a:pt x="575010" y="69484"/>
                  </a:lnTo>
                  <a:lnTo>
                    <a:pt x="551886" y="32134"/>
                  </a:lnTo>
                  <a:lnTo>
                    <a:pt x="518548" y="7391"/>
                  </a:lnTo>
                  <a:lnTo>
                    <a:pt x="498093" y="0"/>
                  </a:lnTo>
                  <a:close/>
                </a:path>
                <a:path w="588645" h="282575">
                  <a:moveTo>
                    <a:pt x="90042" y="0"/>
                  </a:moveTo>
                  <a:lnTo>
                    <a:pt x="51657" y="18102"/>
                  </a:lnTo>
                  <a:lnTo>
                    <a:pt x="23367" y="49491"/>
                  </a:lnTo>
                  <a:lnTo>
                    <a:pt x="5873" y="91440"/>
                  </a:lnTo>
                  <a:lnTo>
                    <a:pt x="0" y="141236"/>
                  </a:lnTo>
                  <a:lnTo>
                    <a:pt x="1452" y="167173"/>
                  </a:lnTo>
                  <a:lnTo>
                    <a:pt x="13073" y="213051"/>
                  </a:lnTo>
                  <a:lnTo>
                    <a:pt x="36143" y="250279"/>
                  </a:lnTo>
                  <a:lnTo>
                    <a:pt x="69568" y="274944"/>
                  </a:lnTo>
                  <a:lnTo>
                    <a:pt x="90042" y="282321"/>
                  </a:lnTo>
                  <a:lnTo>
                    <a:pt x="93725" y="270865"/>
                  </a:lnTo>
                  <a:lnTo>
                    <a:pt x="77602" y="263743"/>
                  </a:lnTo>
                  <a:lnTo>
                    <a:pt x="63706" y="253828"/>
                  </a:lnTo>
                  <a:lnTo>
                    <a:pt x="35210" y="207587"/>
                  </a:lnTo>
                  <a:lnTo>
                    <a:pt x="26828" y="164649"/>
                  </a:lnTo>
                  <a:lnTo>
                    <a:pt x="25780" y="139750"/>
                  </a:lnTo>
                  <a:lnTo>
                    <a:pt x="26828" y="115661"/>
                  </a:lnTo>
                  <a:lnTo>
                    <a:pt x="35210" y="73880"/>
                  </a:lnTo>
                  <a:lnTo>
                    <a:pt x="63801" y="28371"/>
                  </a:lnTo>
                  <a:lnTo>
                    <a:pt x="94106" y="11455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E267597F-1384-A84F-AB6C-32C291575A4B}"/>
              </a:ext>
            </a:extLst>
          </p:cNvPr>
          <p:cNvSpPr txBox="1"/>
          <p:nvPr/>
        </p:nvSpPr>
        <p:spPr>
          <a:xfrm>
            <a:off x="5032247" y="5966880"/>
            <a:ext cx="33972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spc="-25">
                <a:latin typeface="Cambria Math"/>
                <a:cs typeface="Cambria Math"/>
              </a:rPr>
              <a:t>𝒊=𝒍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7E3B239E-D582-A842-9E33-82D4B2DD52AB}"/>
              </a:ext>
            </a:extLst>
          </p:cNvPr>
          <p:cNvSpPr txBox="1"/>
          <p:nvPr/>
        </p:nvSpPr>
        <p:spPr>
          <a:xfrm>
            <a:off x="3580129" y="5808384"/>
            <a:ext cx="1609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923925" algn="l"/>
              </a:tabLst>
            </a:pP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47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𝒍,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lang="el-GR" sz="3600" spc="195" baseline="2314" dirty="0">
                <a:latin typeface="Cambria Math"/>
                <a:cs typeface="Cambria Math"/>
              </a:rPr>
              <a:t>σ</a:t>
            </a:r>
            <a:r>
              <a:rPr sz="2625" spc="195" baseline="31746" dirty="0">
                <a:latin typeface="Cambria Math"/>
                <a:cs typeface="Cambria Math"/>
              </a:rPr>
              <a:t>𝒓</a:t>
            </a:r>
            <a:endParaRPr sz="2625" baseline="31746" dirty="0">
              <a:latin typeface="Cambria Math"/>
              <a:cs typeface="Cambria Math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E688E59C-6829-B949-8E02-9E9465755D90}"/>
              </a:ext>
            </a:extLst>
          </p:cNvPr>
          <p:cNvSpPr/>
          <p:nvPr/>
        </p:nvSpPr>
        <p:spPr>
          <a:xfrm>
            <a:off x="6542151" y="5897258"/>
            <a:ext cx="2077720" cy="283845"/>
          </a:xfrm>
          <a:custGeom>
            <a:avLst/>
            <a:gdLst/>
            <a:ahLst/>
            <a:cxnLst/>
            <a:rect l="l" t="t" r="r" b="b"/>
            <a:pathLst>
              <a:path w="2077720" h="283845">
                <a:moveTo>
                  <a:pt x="94094" y="11455"/>
                </a:moveTo>
                <a:lnTo>
                  <a:pt x="90043" y="0"/>
                </a:lnTo>
                <a:lnTo>
                  <a:pt x="69583" y="7404"/>
                </a:lnTo>
                <a:lnTo>
                  <a:pt x="51650" y="18110"/>
                </a:lnTo>
                <a:lnTo>
                  <a:pt x="23368" y="49491"/>
                </a:lnTo>
                <a:lnTo>
                  <a:pt x="5867" y="91440"/>
                </a:lnTo>
                <a:lnTo>
                  <a:pt x="0" y="141236"/>
                </a:lnTo>
                <a:lnTo>
                  <a:pt x="1447" y="167182"/>
                </a:lnTo>
                <a:lnTo>
                  <a:pt x="13068" y="213055"/>
                </a:lnTo>
                <a:lnTo>
                  <a:pt x="36131" y="250291"/>
                </a:lnTo>
                <a:lnTo>
                  <a:pt x="69557" y="274955"/>
                </a:lnTo>
                <a:lnTo>
                  <a:pt x="90043" y="282321"/>
                </a:lnTo>
                <a:lnTo>
                  <a:pt x="93726" y="270865"/>
                </a:lnTo>
                <a:lnTo>
                  <a:pt x="77597" y="263753"/>
                </a:lnTo>
                <a:lnTo>
                  <a:pt x="63703" y="253834"/>
                </a:lnTo>
                <a:lnTo>
                  <a:pt x="35204" y="207594"/>
                </a:lnTo>
                <a:lnTo>
                  <a:pt x="26822" y="164655"/>
                </a:lnTo>
                <a:lnTo>
                  <a:pt x="25768" y="139750"/>
                </a:lnTo>
                <a:lnTo>
                  <a:pt x="26822" y="115671"/>
                </a:lnTo>
                <a:lnTo>
                  <a:pt x="35204" y="73888"/>
                </a:lnTo>
                <a:lnTo>
                  <a:pt x="63792" y="28371"/>
                </a:lnTo>
                <a:lnTo>
                  <a:pt x="77812" y="18554"/>
                </a:lnTo>
                <a:lnTo>
                  <a:pt x="94094" y="11455"/>
                </a:lnTo>
                <a:close/>
              </a:path>
              <a:path w="2077720" h="283845">
                <a:moveTo>
                  <a:pt x="1132967" y="141236"/>
                </a:moveTo>
                <a:lnTo>
                  <a:pt x="1127137" y="91440"/>
                </a:lnTo>
                <a:lnTo>
                  <a:pt x="1109599" y="49491"/>
                </a:lnTo>
                <a:lnTo>
                  <a:pt x="1081303" y="18110"/>
                </a:lnTo>
                <a:lnTo>
                  <a:pt x="1042924" y="0"/>
                </a:lnTo>
                <a:lnTo>
                  <a:pt x="1038860" y="11455"/>
                </a:lnTo>
                <a:lnTo>
                  <a:pt x="1055217" y="18554"/>
                </a:lnTo>
                <a:lnTo>
                  <a:pt x="1069263" y="28371"/>
                </a:lnTo>
                <a:lnTo>
                  <a:pt x="1097800" y="73888"/>
                </a:lnTo>
                <a:lnTo>
                  <a:pt x="1106131" y="115671"/>
                </a:lnTo>
                <a:lnTo>
                  <a:pt x="1107186" y="139750"/>
                </a:lnTo>
                <a:lnTo>
                  <a:pt x="1106131" y="164655"/>
                </a:lnTo>
                <a:lnTo>
                  <a:pt x="1097749" y="207594"/>
                </a:lnTo>
                <a:lnTo>
                  <a:pt x="1069263" y="253834"/>
                </a:lnTo>
                <a:lnTo>
                  <a:pt x="1039368" y="270865"/>
                </a:lnTo>
                <a:lnTo>
                  <a:pt x="1042924" y="282321"/>
                </a:lnTo>
                <a:lnTo>
                  <a:pt x="1081417" y="264274"/>
                </a:lnTo>
                <a:lnTo>
                  <a:pt x="1109726" y="232994"/>
                </a:lnTo>
                <a:lnTo>
                  <a:pt x="1127150" y="191122"/>
                </a:lnTo>
                <a:lnTo>
                  <a:pt x="1131506" y="167182"/>
                </a:lnTo>
                <a:lnTo>
                  <a:pt x="1132967" y="141236"/>
                </a:lnTo>
                <a:close/>
              </a:path>
              <a:path w="2077720" h="283845">
                <a:moveTo>
                  <a:pt x="1834515" y="25"/>
                </a:moveTo>
                <a:lnTo>
                  <a:pt x="1768221" y="25"/>
                </a:lnTo>
                <a:lnTo>
                  <a:pt x="1768221" y="11455"/>
                </a:lnTo>
                <a:lnTo>
                  <a:pt x="1768221" y="271805"/>
                </a:lnTo>
                <a:lnTo>
                  <a:pt x="1768221" y="283235"/>
                </a:lnTo>
                <a:lnTo>
                  <a:pt x="1834515" y="283235"/>
                </a:lnTo>
                <a:lnTo>
                  <a:pt x="1834515" y="271805"/>
                </a:lnTo>
                <a:lnTo>
                  <a:pt x="1792859" y="271805"/>
                </a:lnTo>
                <a:lnTo>
                  <a:pt x="1792859" y="11455"/>
                </a:lnTo>
                <a:lnTo>
                  <a:pt x="1834515" y="11455"/>
                </a:lnTo>
                <a:lnTo>
                  <a:pt x="1834515" y="25"/>
                </a:lnTo>
                <a:close/>
              </a:path>
              <a:path w="2077720" h="283845">
                <a:moveTo>
                  <a:pt x="2077593" y="25"/>
                </a:moveTo>
                <a:lnTo>
                  <a:pt x="2011172" y="25"/>
                </a:lnTo>
                <a:lnTo>
                  <a:pt x="2011172" y="11455"/>
                </a:lnTo>
                <a:lnTo>
                  <a:pt x="2052828" y="11455"/>
                </a:lnTo>
                <a:lnTo>
                  <a:pt x="2052828" y="271805"/>
                </a:lnTo>
                <a:lnTo>
                  <a:pt x="2011172" y="271805"/>
                </a:lnTo>
                <a:lnTo>
                  <a:pt x="2011172" y="283235"/>
                </a:lnTo>
                <a:lnTo>
                  <a:pt x="2077593" y="283235"/>
                </a:lnTo>
                <a:lnTo>
                  <a:pt x="2077593" y="271805"/>
                </a:lnTo>
                <a:lnTo>
                  <a:pt x="2077593" y="11455"/>
                </a:lnTo>
                <a:lnTo>
                  <a:pt x="2077593" y="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91659E02-8878-584E-89A4-94CC1D31F432}"/>
              </a:ext>
            </a:extLst>
          </p:cNvPr>
          <p:cNvSpPr txBox="1"/>
          <p:nvPr/>
        </p:nvSpPr>
        <p:spPr>
          <a:xfrm>
            <a:off x="5410200" y="5808384"/>
            <a:ext cx="314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360295" algn="l"/>
              </a:tabLst>
            </a:pPr>
            <a:r>
              <a:rPr sz="2400" dirty="0">
                <a:latin typeface="Cambria Math"/>
                <a:cs typeface="Cambria Math"/>
              </a:rPr>
              <a:t>𝑿[𝒊]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𝑺</a:t>
            </a:r>
            <a:r>
              <a:rPr sz="2400" spc="459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𝒍,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𝒓 −</a:t>
            </a:r>
            <a:r>
              <a:rPr sz="2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+ 𝑿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5C8B4F15-84D6-8E40-ABC7-B2F18C609217}"/>
              </a:ext>
            </a:extLst>
          </p:cNvPr>
          <p:cNvSpPr/>
          <p:nvPr/>
        </p:nvSpPr>
        <p:spPr>
          <a:xfrm>
            <a:off x="338327" y="937086"/>
            <a:ext cx="11249025" cy="4720590"/>
          </a:xfrm>
          <a:custGeom>
            <a:avLst/>
            <a:gdLst/>
            <a:ahLst/>
            <a:cxnLst/>
            <a:rect l="l" t="t" r="r" b="b"/>
            <a:pathLst>
              <a:path w="11249025" h="4720590">
                <a:moveTo>
                  <a:pt x="0" y="255905"/>
                </a:moveTo>
                <a:lnTo>
                  <a:pt x="4122" y="209900"/>
                </a:lnTo>
                <a:lnTo>
                  <a:pt x="16007" y="166603"/>
                </a:lnTo>
                <a:lnTo>
                  <a:pt x="34932" y="126736"/>
                </a:lnTo>
                <a:lnTo>
                  <a:pt x="60175" y="91021"/>
                </a:lnTo>
                <a:lnTo>
                  <a:pt x="91012" y="60179"/>
                </a:lnTo>
                <a:lnTo>
                  <a:pt x="126721" y="34934"/>
                </a:lnTo>
                <a:lnTo>
                  <a:pt x="166580" y="16007"/>
                </a:lnTo>
                <a:lnTo>
                  <a:pt x="209865" y="4122"/>
                </a:lnTo>
                <a:lnTo>
                  <a:pt x="255854" y="0"/>
                </a:lnTo>
                <a:lnTo>
                  <a:pt x="5160391" y="0"/>
                </a:lnTo>
                <a:lnTo>
                  <a:pt x="5206395" y="4122"/>
                </a:lnTo>
                <a:lnTo>
                  <a:pt x="5249692" y="16007"/>
                </a:lnTo>
                <a:lnTo>
                  <a:pt x="5289559" y="34934"/>
                </a:lnTo>
                <a:lnTo>
                  <a:pt x="5325274" y="60179"/>
                </a:lnTo>
                <a:lnTo>
                  <a:pt x="5356116" y="91021"/>
                </a:lnTo>
                <a:lnTo>
                  <a:pt x="5381361" y="126736"/>
                </a:lnTo>
                <a:lnTo>
                  <a:pt x="5400288" y="166603"/>
                </a:lnTo>
                <a:lnTo>
                  <a:pt x="5412173" y="209900"/>
                </a:lnTo>
                <a:lnTo>
                  <a:pt x="5416296" y="255905"/>
                </a:lnTo>
                <a:lnTo>
                  <a:pt x="5416296" y="4464685"/>
                </a:lnTo>
                <a:lnTo>
                  <a:pt x="5412173" y="4510689"/>
                </a:lnTo>
                <a:lnTo>
                  <a:pt x="5400288" y="4553986"/>
                </a:lnTo>
                <a:lnTo>
                  <a:pt x="5381361" y="4593853"/>
                </a:lnTo>
                <a:lnTo>
                  <a:pt x="5356116" y="4629568"/>
                </a:lnTo>
                <a:lnTo>
                  <a:pt x="5325274" y="4660410"/>
                </a:lnTo>
                <a:lnTo>
                  <a:pt x="5289559" y="4685655"/>
                </a:lnTo>
                <a:lnTo>
                  <a:pt x="5249692" y="4704582"/>
                </a:lnTo>
                <a:lnTo>
                  <a:pt x="5206395" y="4716467"/>
                </a:lnTo>
                <a:lnTo>
                  <a:pt x="5160391" y="4720590"/>
                </a:lnTo>
                <a:lnTo>
                  <a:pt x="255854" y="4720590"/>
                </a:lnTo>
                <a:lnTo>
                  <a:pt x="209865" y="4716467"/>
                </a:lnTo>
                <a:lnTo>
                  <a:pt x="166580" y="4704582"/>
                </a:lnTo>
                <a:lnTo>
                  <a:pt x="126721" y="4685655"/>
                </a:lnTo>
                <a:lnTo>
                  <a:pt x="91012" y="4660410"/>
                </a:lnTo>
                <a:lnTo>
                  <a:pt x="60175" y="4629568"/>
                </a:lnTo>
                <a:lnTo>
                  <a:pt x="34932" y="4593853"/>
                </a:lnTo>
                <a:lnTo>
                  <a:pt x="16007" y="4553986"/>
                </a:lnTo>
                <a:lnTo>
                  <a:pt x="4122" y="4510689"/>
                </a:lnTo>
                <a:lnTo>
                  <a:pt x="0" y="4464685"/>
                </a:lnTo>
                <a:lnTo>
                  <a:pt x="0" y="255905"/>
                </a:lnTo>
                <a:close/>
              </a:path>
              <a:path w="11249025" h="4720590">
                <a:moveTo>
                  <a:pt x="5832348" y="255905"/>
                </a:moveTo>
                <a:lnTo>
                  <a:pt x="5836470" y="209900"/>
                </a:lnTo>
                <a:lnTo>
                  <a:pt x="5848355" y="166603"/>
                </a:lnTo>
                <a:lnTo>
                  <a:pt x="5867282" y="126736"/>
                </a:lnTo>
                <a:lnTo>
                  <a:pt x="5892527" y="91021"/>
                </a:lnTo>
                <a:lnTo>
                  <a:pt x="5923369" y="60179"/>
                </a:lnTo>
                <a:lnTo>
                  <a:pt x="5959084" y="34934"/>
                </a:lnTo>
                <a:lnTo>
                  <a:pt x="5998951" y="16007"/>
                </a:lnTo>
                <a:lnTo>
                  <a:pt x="6042248" y="4122"/>
                </a:lnTo>
                <a:lnTo>
                  <a:pt x="6088253" y="0"/>
                </a:lnTo>
                <a:lnTo>
                  <a:pt x="10992739" y="0"/>
                </a:lnTo>
                <a:lnTo>
                  <a:pt x="11038743" y="4122"/>
                </a:lnTo>
                <a:lnTo>
                  <a:pt x="11082040" y="16007"/>
                </a:lnTo>
                <a:lnTo>
                  <a:pt x="11121907" y="34934"/>
                </a:lnTo>
                <a:lnTo>
                  <a:pt x="11157622" y="60179"/>
                </a:lnTo>
                <a:lnTo>
                  <a:pt x="11188464" y="91021"/>
                </a:lnTo>
                <a:lnTo>
                  <a:pt x="11213709" y="126736"/>
                </a:lnTo>
                <a:lnTo>
                  <a:pt x="11232636" y="166603"/>
                </a:lnTo>
                <a:lnTo>
                  <a:pt x="11244521" y="209900"/>
                </a:lnTo>
                <a:lnTo>
                  <a:pt x="11248644" y="255905"/>
                </a:lnTo>
                <a:lnTo>
                  <a:pt x="11248644" y="4464685"/>
                </a:lnTo>
                <a:lnTo>
                  <a:pt x="11244521" y="4510689"/>
                </a:lnTo>
                <a:lnTo>
                  <a:pt x="11232636" y="4553986"/>
                </a:lnTo>
                <a:lnTo>
                  <a:pt x="11213709" y="4593853"/>
                </a:lnTo>
                <a:lnTo>
                  <a:pt x="11188464" y="4629568"/>
                </a:lnTo>
                <a:lnTo>
                  <a:pt x="11157622" y="4660410"/>
                </a:lnTo>
                <a:lnTo>
                  <a:pt x="11121907" y="4685655"/>
                </a:lnTo>
                <a:lnTo>
                  <a:pt x="11082040" y="4704582"/>
                </a:lnTo>
                <a:lnTo>
                  <a:pt x="11038743" y="4716467"/>
                </a:lnTo>
                <a:lnTo>
                  <a:pt x="10992739" y="4720590"/>
                </a:lnTo>
                <a:lnTo>
                  <a:pt x="6088253" y="4720590"/>
                </a:lnTo>
                <a:lnTo>
                  <a:pt x="6042248" y="4716467"/>
                </a:lnTo>
                <a:lnTo>
                  <a:pt x="5998951" y="4704582"/>
                </a:lnTo>
                <a:lnTo>
                  <a:pt x="5959084" y="4685655"/>
                </a:lnTo>
                <a:lnTo>
                  <a:pt x="5923369" y="4660410"/>
                </a:lnTo>
                <a:lnTo>
                  <a:pt x="5892527" y="4629568"/>
                </a:lnTo>
                <a:lnTo>
                  <a:pt x="5867282" y="4593853"/>
                </a:lnTo>
                <a:lnTo>
                  <a:pt x="5848355" y="4553986"/>
                </a:lnTo>
                <a:lnTo>
                  <a:pt x="5836470" y="4510689"/>
                </a:lnTo>
                <a:lnTo>
                  <a:pt x="5832348" y="4464685"/>
                </a:lnTo>
                <a:lnTo>
                  <a:pt x="5832348" y="255905"/>
                </a:lnTo>
                <a:close/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0535461-9DA1-C44B-94EC-495C0340B8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794" y="5786117"/>
            <a:ext cx="329344" cy="45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927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52DE0A2-BF30-A549-8B34-A97716A83C5C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优化枚举：伪代码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5E7D8F8-5966-9347-B4AE-75A0AB19F050}"/>
              </a:ext>
            </a:extLst>
          </p:cNvPr>
          <p:cNvSpPr/>
          <p:nvPr/>
        </p:nvSpPr>
        <p:spPr>
          <a:xfrm>
            <a:off x="2960057" y="1372491"/>
            <a:ext cx="687705" cy="329565"/>
          </a:xfrm>
          <a:custGeom>
            <a:avLst/>
            <a:gdLst/>
            <a:ahLst/>
            <a:cxnLst/>
            <a:rect l="l" t="t" r="r" b="b"/>
            <a:pathLst>
              <a:path w="687704" h="329565">
                <a:moveTo>
                  <a:pt x="582041" y="0"/>
                </a:moveTo>
                <a:lnTo>
                  <a:pt x="577342" y="13335"/>
                </a:lnTo>
                <a:lnTo>
                  <a:pt x="596411" y="21669"/>
                </a:lnTo>
                <a:lnTo>
                  <a:pt x="612838" y="33147"/>
                </a:lnTo>
                <a:lnTo>
                  <a:pt x="637667" y="65532"/>
                </a:lnTo>
                <a:lnTo>
                  <a:pt x="652240" y="109362"/>
                </a:lnTo>
                <a:lnTo>
                  <a:pt x="657097" y="163195"/>
                </a:lnTo>
                <a:lnTo>
                  <a:pt x="655881" y="192246"/>
                </a:lnTo>
                <a:lnTo>
                  <a:pt x="646114" y="242347"/>
                </a:lnTo>
                <a:lnTo>
                  <a:pt x="626463" y="281493"/>
                </a:lnTo>
                <a:lnTo>
                  <a:pt x="596642" y="307921"/>
                </a:lnTo>
                <a:lnTo>
                  <a:pt x="577849" y="316230"/>
                </a:lnTo>
                <a:lnTo>
                  <a:pt x="582041" y="329565"/>
                </a:lnTo>
                <a:lnTo>
                  <a:pt x="626983" y="308514"/>
                </a:lnTo>
                <a:lnTo>
                  <a:pt x="660019" y="272034"/>
                </a:lnTo>
                <a:lnTo>
                  <a:pt x="680418" y="223154"/>
                </a:lnTo>
                <a:lnTo>
                  <a:pt x="687196" y="164846"/>
                </a:lnTo>
                <a:lnTo>
                  <a:pt x="685486" y="134651"/>
                </a:lnTo>
                <a:lnTo>
                  <a:pt x="671873" y="81121"/>
                </a:lnTo>
                <a:lnTo>
                  <a:pt x="644923" y="37522"/>
                </a:lnTo>
                <a:lnTo>
                  <a:pt x="605922" y="8618"/>
                </a:lnTo>
                <a:lnTo>
                  <a:pt x="582041" y="0"/>
                </a:lnTo>
                <a:close/>
              </a:path>
              <a:path w="687704" h="329565">
                <a:moveTo>
                  <a:pt x="105156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5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230E347-85EC-E04C-BF83-0E4AC3DF9689}"/>
              </a:ext>
            </a:extLst>
          </p:cNvPr>
          <p:cNvSpPr txBox="1"/>
          <p:nvPr/>
        </p:nvSpPr>
        <p:spPr>
          <a:xfrm>
            <a:off x="742130" y="1269240"/>
            <a:ext cx="280162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2334260" algn="l"/>
              </a:tabLst>
            </a:pPr>
            <a:r>
              <a:rPr sz="2800" spc="-10" dirty="0" err="1">
                <a:latin typeface="PMingLiU"/>
                <a:cs typeface="PMingLiU"/>
              </a:rPr>
              <a:t>核心思</a:t>
            </a:r>
            <a:r>
              <a:rPr sz="2800" dirty="0" err="1">
                <a:latin typeface="PMingLiU"/>
                <a:cs typeface="PMingLiU"/>
              </a:rPr>
              <a:t>想</a:t>
            </a:r>
            <a:r>
              <a:rPr sz="2800" dirty="0">
                <a:latin typeface="PMingLiU"/>
                <a:cs typeface="PMingLiU"/>
              </a:rPr>
              <a:t>:</a:t>
            </a:r>
            <a:r>
              <a:rPr sz="2800" spc="17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r>
              <a:rPr sz="2800" dirty="0">
                <a:latin typeface="Cambria Math"/>
                <a:cs typeface="Cambria Math"/>
              </a:rPr>
              <a:t>	𝒍,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7BDEE0E-3CDA-6C4B-BD51-7F48F64C0315}"/>
              </a:ext>
            </a:extLst>
          </p:cNvPr>
          <p:cNvSpPr txBox="1"/>
          <p:nvPr/>
        </p:nvSpPr>
        <p:spPr>
          <a:xfrm>
            <a:off x="4380172" y="1453391"/>
            <a:ext cx="40767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 dirty="0">
                <a:latin typeface="Cambria Math"/>
                <a:cs typeface="Cambria Math"/>
              </a:rPr>
              <a:t>𝒊=𝒍</a:t>
            </a:r>
            <a:endParaRPr sz="2050" dirty="0">
              <a:latin typeface="Cambria Math"/>
              <a:cs typeface="Cambria Math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F4846F6-A319-CF40-9467-D159BCB251A3}"/>
              </a:ext>
            </a:extLst>
          </p:cNvPr>
          <p:cNvSpPr txBox="1"/>
          <p:nvPr/>
        </p:nvSpPr>
        <p:spPr>
          <a:xfrm>
            <a:off x="3739075" y="1123699"/>
            <a:ext cx="8318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baseline="-22817">
                <a:latin typeface="Cambria Math"/>
                <a:cs typeface="Cambria Math"/>
              </a:rPr>
              <a:t>=</a:t>
            </a:r>
            <a:r>
              <a:rPr sz="4200" spc="209" baseline="-22817">
                <a:latin typeface="Cambria Math"/>
                <a:cs typeface="Cambria Math"/>
              </a:rPr>
              <a:t> </a:t>
            </a:r>
            <a:r>
              <a:rPr sz="4200" spc="232" baseline="-20833">
                <a:latin typeface="Cambria Math"/>
                <a:cs typeface="Cambria Math"/>
              </a:rPr>
              <a:t>σ</a:t>
            </a:r>
            <a:r>
              <a:rPr sz="2050" spc="155">
                <a:latin typeface="Cambria Math"/>
                <a:cs typeface="Cambria Math"/>
              </a:rPr>
              <a:t>𝒓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B07A1678-4594-B946-92F6-6A773E931F41}"/>
              </a:ext>
            </a:extLst>
          </p:cNvPr>
          <p:cNvSpPr txBox="1"/>
          <p:nvPr/>
        </p:nvSpPr>
        <p:spPr>
          <a:xfrm>
            <a:off x="4822131" y="1269240"/>
            <a:ext cx="10153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𝑿[𝒊]</a:t>
            </a:r>
            <a:r>
              <a:rPr sz="2800" spc="13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62EC092-B378-C840-A903-198E53E43F33}"/>
              </a:ext>
            </a:extLst>
          </p:cNvPr>
          <p:cNvSpPr/>
          <p:nvPr/>
        </p:nvSpPr>
        <p:spPr>
          <a:xfrm>
            <a:off x="6273234" y="1372491"/>
            <a:ext cx="1322705" cy="329565"/>
          </a:xfrm>
          <a:custGeom>
            <a:avLst/>
            <a:gdLst/>
            <a:ahLst/>
            <a:cxnLst/>
            <a:rect l="l" t="t" r="r" b="b"/>
            <a:pathLst>
              <a:path w="1322704" h="329565">
                <a:moveTo>
                  <a:pt x="1217549" y="0"/>
                </a:moveTo>
                <a:lnTo>
                  <a:pt x="1212850" y="13335"/>
                </a:lnTo>
                <a:lnTo>
                  <a:pt x="1231919" y="21669"/>
                </a:lnTo>
                <a:lnTo>
                  <a:pt x="1248346" y="33147"/>
                </a:lnTo>
                <a:lnTo>
                  <a:pt x="1273175" y="65532"/>
                </a:lnTo>
                <a:lnTo>
                  <a:pt x="1287748" y="109362"/>
                </a:lnTo>
                <a:lnTo>
                  <a:pt x="1292605" y="163195"/>
                </a:lnTo>
                <a:lnTo>
                  <a:pt x="1291389" y="192246"/>
                </a:lnTo>
                <a:lnTo>
                  <a:pt x="1281622" y="242347"/>
                </a:lnTo>
                <a:lnTo>
                  <a:pt x="1261971" y="281493"/>
                </a:lnTo>
                <a:lnTo>
                  <a:pt x="1232150" y="307921"/>
                </a:lnTo>
                <a:lnTo>
                  <a:pt x="1213357" y="316230"/>
                </a:lnTo>
                <a:lnTo>
                  <a:pt x="1217549" y="329565"/>
                </a:lnTo>
                <a:lnTo>
                  <a:pt x="1262491" y="308514"/>
                </a:lnTo>
                <a:lnTo>
                  <a:pt x="1295527" y="272034"/>
                </a:lnTo>
                <a:lnTo>
                  <a:pt x="1315926" y="223154"/>
                </a:lnTo>
                <a:lnTo>
                  <a:pt x="1322704" y="164846"/>
                </a:lnTo>
                <a:lnTo>
                  <a:pt x="1320994" y="134651"/>
                </a:lnTo>
                <a:lnTo>
                  <a:pt x="1307381" y="81121"/>
                </a:lnTo>
                <a:lnTo>
                  <a:pt x="1280431" y="37522"/>
                </a:lnTo>
                <a:lnTo>
                  <a:pt x="1241430" y="8618"/>
                </a:lnTo>
                <a:lnTo>
                  <a:pt x="1217549" y="0"/>
                </a:lnTo>
                <a:close/>
              </a:path>
              <a:path w="1322704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8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64BCC1C7-A9B7-6049-A736-D9CFA76D8B12}"/>
              </a:ext>
            </a:extLst>
          </p:cNvPr>
          <p:cNvSpPr txBox="1"/>
          <p:nvPr/>
        </p:nvSpPr>
        <p:spPr>
          <a:xfrm>
            <a:off x="6027869" y="1269240"/>
            <a:ext cx="14655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1950" algn="l"/>
              </a:tabLst>
            </a:pPr>
            <a:r>
              <a:rPr sz="2800" spc="-50" dirty="0">
                <a:latin typeface="Cambria Math"/>
                <a:cs typeface="Cambria Math"/>
              </a:rPr>
              <a:t>𝑺</a:t>
            </a:r>
            <a:r>
              <a:rPr sz="2800" dirty="0">
                <a:latin typeface="Cambria Math"/>
                <a:cs typeface="Cambria Math"/>
              </a:rPr>
              <a:t>	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− </a:t>
            </a:r>
            <a:r>
              <a:rPr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FA3DF6D-A0B7-1B4F-BF5B-777A1E2BE4E3}"/>
              </a:ext>
            </a:extLst>
          </p:cNvPr>
          <p:cNvSpPr/>
          <p:nvPr/>
        </p:nvSpPr>
        <p:spPr>
          <a:xfrm>
            <a:off x="8619305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FE9F4639-1CF5-6F47-B1E5-00AC046C730C}"/>
              </a:ext>
            </a:extLst>
          </p:cNvPr>
          <p:cNvSpPr/>
          <p:nvPr/>
        </p:nvSpPr>
        <p:spPr>
          <a:xfrm>
            <a:off x="8335968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F7356955-2122-9043-83A7-B678FF4AE5A2}"/>
              </a:ext>
            </a:extLst>
          </p:cNvPr>
          <p:cNvSpPr txBox="1"/>
          <p:nvPr/>
        </p:nvSpPr>
        <p:spPr>
          <a:xfrm>
            <a:off x="7693601" y="1269240"/>
            <a:ext cx="9321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+ 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6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4" name="object 2">
            <a:extLst>
              <a:ext uri="{FF2B5EF4-FFF2-40B4-BE49-F238E27FC236}">
                <a16:creationId xmlns:a16="http://schemas.microsoft.com/office/drawing/2014/main" id="{40ADE8AC-E993-2747-87A6-7C1B21C68761}"/>
              </a:ext>
            </a:extLst>
          </p:cNvPr>
          <p:cNvGrpSpPr/>
          <p:nvPr/>
        </p:nvGrpSpPr>
        <p:grpSpPr>
          <a:xfrm>
            <a:off x="818329" y="1906146"/>
            <a:ext cx="9799285" cy="4072118"/>
            <a:chOff x="59498" y="2108324"/>
            <a:chExt cx="10418884" cy="4072118"/>
          </a:xfrm>
        </p:grpSpPr>
        <p:pic>
          <p:nvPicPr>
            <p:cNvPr id="15" name="object 3">
              <a:extLst>
                <a:ext uri="{FF2B5EF4-FFF2-40B4-BE49-F238E27FC236}">
                  <a16:creationId xmlns:a16="http://schemas.microsoft.com/office/drawing/2014/main" id="{40609591-869B-6A43-99FB-9EF93E4818FC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9498" y="2108324"/>
              <a:ext cx="10418884" cy="4072118"/>
            </a:xfrm>
            <a:prstGeom prst="rect">
              <a:avLst/>
            </a:prstGeom>
          </p:spPr>
        </p:pic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2D123E73-5BCC-134D-8E7D-0DCFBFEF5E40}"/>
                </a:ext>
              </a:extLst>
            </p:cNvPr>
            <p:cNvSpPr/>
            <p:nvPr/>
          </p:nvSpPr>
          <p:spPr>
            <a:xfrm>
              <a:off x="1379958" y="4270518"/>
              <a:ext cx="1972843" cy="406842"/>
            </a:xfrm>
            <a:custGeom>
              <a:avLst/>
              <a:gdLst/>
              <a:ahLst/>
              <a:cxnLst/>
              <a:rect l="l" t="t" r="r" b="b"/>
              <a:pathLst>
                <a:path w="2330450" h="470534">
                  <a:moveTo>
                    <a:pt x="0" y="78358"/>
                  </a:moveTo>
                  <a:lnTo>
                    <a:pt x="6153" y="47845"/>
                  </a:lnTo>
                  <a:lnTo>
                    <a:pt x="22939" y="22939"/>
                  </a:lnTo>
                  <a:lnTo>
                    <a:pt x="47845" y="6153"/>
                  </a:lnTo>
                  <a:lnTo>
                    <a:pt x="78359" y="0"/>
                  </a:lnTo>
                  <a:lnTo>
                    <a:pt x="2251837" y="0"/>
                  </a:lnTo>
                  <a:lnTo>
                    <a:pt x="2282350" y="6153"/>
                  </a:lnTo>
                  <a:lnTo>
                    <a:pt x="2307256" y="22939"/>
                  </a:lnTo>
                  <a:lnTo>
                    <a:pt x="2324042" y="47845"/>
                  </a:lnTo>
                  <a:lnTo>
                    <a:pt x="2330195" y="78358"/>
                  </a:lnTo>
                  <a:lnTo>
                    <a:pt x="2330195" y="391794"/>
                  </a:lnTo>
                  <a:lnTo>
                    <a:pt x="2324042" y="422308"/>
                  </a:lnTo>
                  <a:lnTo>
                    <a:pt x="2307256" y="447214"/>
                  </a:lnTo>
                  <a:lnTo>
                    <a:pt x="2282350" y="464000"/>
                  </a:lnTo>
                  <a:lnTo>
                    <a:pt x="2251837" y="470153"/>
                  </a:lnTo>
                  <a:lnTo>
                    <a:pt x="78359" y="470153"/>
                  </a:lnTo>
                  <a:lnTo>
                    <a:pt x="47845" y="464000"/>
                  </a:lnTo>
                  <a:lnTo>
                    <a:pt x="22939" y="447214"/>
                  </a:lnTo>
                  <a:lnTo>
                    <a:pt x="6153" y="422308"/>
                  </a:lnTo>
                  <a:lnTo>
                    <a:pt x="0" y="391794"/>
                  </a:lnTo>
                  <a:lnTo>
                    <a:pt x="0" y="7835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369AB773-E753-D846-A69B-D3BAED636112}"/>
              </a:ext>
            </a:extLst>
          </p:cNvPr>
          <p:cNvSpPr txBox="1"/>
          <p:nvPr/>
        </p:nvSpPr>
        <p:spPr>
          <a:xfrm>
            <a:off x="5455653" y="4013517"/>
            <a:ext cx="1635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迭代求解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endParaRPr kumimoji="1"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05A1DB6-7E9A-B045-BDA2-FAF0C22C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588" y="1271213"/>
            <a:ext cx="335756" cy="461665"/>
          </a:xfrm>
          <a:prstGeom prst="rect">
            <a:avLst/>
          </a:prstGeom>
        </p:spPr>
      </p:pic>
      <p:sp>
        <p:nvSpPr>
          <p:cNvPr id="18" name="右箭头 17">
            <a:extLst>
              <a:ext uri="{FF2B5EF4-FFF2-40B4-BE49-F238E27FC236}">
                <a16:creationId xmlns:a16="http://schemas.microsoft.com/office/drawing/2014/main" id="{26DCD9CC-F094-CF4A-A6D7-E801C5908957}"/>
              </a:ext>
            </a:extLst>
          </p:cNvPr>
          <p:cNvSpPr/>
          <p:nvPr/>
        </p:nvSpPr>
        <p:spPr>
          <a:xfrm rot="10800000">
            <a:off x="4993316" y="4114351"/>
            <a:ext cx="462337" cy="3148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31817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52DE0A2-BF30-A549-8B34-A97716A83C5C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优化枚举：伪代码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5E7D8F8-5966-9347-B4AE-75A0AB19F050}"/>
              </a:ext>
            </a:extLst>
          </p:cNvPr>
          <p:cNvSpPr/>
          <p:nvPr/>
        </p:nvSpPr>
        <p:spPr>
          <a:xfrm>
            <a:off x="2960057" y="1372491"/>
            <a:ext cx="687705" cy="329565"/>
          </a:xfrm>
          <a:custGeom>
            <a:avLst/>
            <a:gdLst/>
            <a:ahLst/>
            <a:cxnLst/>
            <a:rect l="l" t="t" r="r" b="b"/>
            <a:pathLst>
              <a:path w="687704" h="329565">
                <a:moveTo>
                  <a:pt x="582041" y="0"/>
                </a:moveTo>
                <a:lnTo>
                  <a:pt x="577342" y="13335"/>
                </a:lnTo>
                <a:lnTo>
                  <a:pt x="596411" y="21669"/>
                </a:lnTo>
                <a:lnTo>
                  <a:pt x="612838" y="33147"/>
                </a:lnTo>
                <a:lnTo>
                  <a:pt x="637667" y="65532"/>
                </a:lnTo>
                <a:lnTo>
                  <a:pt x="652240" y="109362"/>
                </a:lnTo>
                <a:lnTo>
                  <a:pt x="657097" y="163195"/>
                </a:lnTo>
                <a:lnTo>
                  <a:pt x="655881" y="192246"/>
                </a:lnTo>
                <a:lnTo>
                  <a:pt x="646114" y="242347"/>
                </a:lnTo>
                <a:lnTo>
                  <a:pt x="626463" y="281493"/>
                </a:lnTo>
                <a:lnTo>
                  <a:pt x="596642" y="307921"/>
                </a:lnTo>
                <a:lnTo>
                  <a:pt x="577849" y="316230"/>
                </a:lnTo>
                <a:lnTo>
                  <a:pt x="582041" y="329565"/>
                </a:lnTo>
                <a:lnTo>
                  <a:pt x="626983" y="308514"/>
                </a:lnTo>
                <a:lnTo>
                  <a:pt x="660019" y="272034"/>
                </a:lnTo>
                <a:lnTo>
                  <a:pt x="680418" y="223154"/>
                </a:lnTo>
                <a:lnTo>
                  <a:pt x="687196" y="164846"/>
                </a:lnTo>
                <a:lnTo>
                  <a:pt x="685486" y="134651"/>
                </a:lnTo>
                <a:lnTo>
                  <a:pt x="671873" y="81121"/>
                </a:lnTo>
                <a:lnTo>
                  <a:pt x="644923" y="37522"/>
                </a:lnTo>
                <a:lnTo>
                  <a:pt x="605922" y="8618"/>
                </a:lnTo>
                <a:lnTo>
                  <a:pt x="582041" y="0"/>
                </a:lnTo>
                <a:close/>
              </a:path>
              <a:path w="687704" h="329565">
                <a:moveTo>
                  <a:pt x="105156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5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230E347-85EC-E04C-BF83-0E4AC3DF9689}"/>
              </a:ext>
            </a:extLst>
          </p:cNvPr>
          <p:cNvSpPr txBox="1"/>
          <p:nvPr/>
        </p:nvSpPr>
        <p:spPr>
          <a:xfrm>
            <a:off x="742130" y="1269240"/>
            <a:ext cx="280162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2334260" algn="l"/>
              </a:tabLst>
            </a:pPr>
            <a:r>
              <a:rPr sz="2800" spc="-10" dirty="0" err="1">
                <a:latin typeface="PMingLiU"/>
                <a:cs typeface="PMingLiU"/>
              </a:rPr>
              <a:t>核心思</a:t>
            </a:r>
            <a:r>
              <a:rPr sz="2800" dirty="0" err="1">
                <a:latin typeface="PMingLiU"/>
                <a:cs typeface="PMingLiU"/>
              </a:rPr>
              <a:t>想</a:t>
            </a:r>
            <a:r>
              <a:rPr sz="2800" dirty="0">
                <a:latin typeface="PMingLiU"/>
                <a:cs typeface="PMingLiU"/>
              </a:rPr>
              <a:t>:</a:t>
            </a:r>
            <a:r>
              <a:rPr sz="2800" spc="17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r>
              <a:rPr sz="2800" dirty="0">
                <a:latin typeface="Cambria Math"/>
                <a:cs typeface="Cambria Math"/>
              </a:rPr>
              <a:t>	𝒍,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7BDEE0E-3CDA-6C4B-BD51-7F48F64C0315}"/>
              </a:ext>
            </a:extLst>
          </p:cNvPr>
          <p:cNvSpPr txBox="1"/>
          <p:nvPr/>
        </p:nvSpPr>
        <p:spPr>
          <a:xfrm>
            <a:off x="4380172" y="1453391"/>
            <a:ext cx="40767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𝒊=𝒍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F4846F6-A319-CF40-9467-D159BCB251A3}"/>
              </a:ext>
            </a:extLst>
          </p:cNvPr>
          <p:cNvSpPr txBox="1"/>
          <p:nvPr/>
        </p:nvSpPr>
        <p:spPr>
          <a:xfrm>
            <a:off x="3739075" y="1123699"/>
            <a:ext cx="8318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baseline="-22817">
                <a:latin typeface="Cambria Math"/>
                <a:cs typeface="Cambria Math"/>
              </a:rPr>
              <a:t>=</a:t>
            </a:r>
            <a:r>
              <a:rPr sz="4200" spc="209" baseline="-22817">
                <a:latin typeface="Cambria Math"/>
                <a:cs typeface="Cambria Math"/>
              </a:rPr>
              <a:t> </a:t>
            </a:r>
            <a:r>
              <a:rPr sz="4200" spc="232" baseline="-20833">
                <a:latin typeface="Cambria Math"/>
                <a:cs typeface="Cambria Math"/>
              </a:rPr>
              <a:t>σ</a:t>
            </a:r>
            <a:r>
              <a:rPr sz="2050" spc="155">
                <a:latin typeface="Cambria Math"/>
                <a:cs typeface="Cambria Math"/>
              </a:rPr>
              <a:t>𝒓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B07A1678-4594-B946-92F6-6A773E931F41}"/>
              </a:ext>
            </a:extLst>
          </p:cNvPr>
          <p:cNvSpPr txBox="1"/>
          <p:nvPr/>
        </p:nvSpPr>
        <p:spPr>
          <a:xfrm>
            <a:off x="4822131" y="1269240"/>
            <a:ext cx="10153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𝑿[𝒊]</a:t>
            </a:r>
            <a:r>
              <a:rPr sz="2800" spc="13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62EC092-B378-C840-A903-198E53E43F33}"/>
              </a:ext>
            </a:extLst>
          </p:cNvPr>
          <p:cNvSpPr/>
          <p:nvPr/>
        </p:nvSpPr>
        <p:spPr>
          <a:xfrm>
            <a:off x="6273234" y="1372491"/>
            <a:ext cx="1322705" cy="329565"/>
          </a:xfrm>
          <a:custGeom>
            <a:avLst/>
            <a:gdLst/>
            <a:ahLst/>
            <a:cxnLst/>
            <a:rect l="l" t="t" r="r" b="b"/>
            <a:pathLst>
              <a:path w="1322704" h="329565">
                <a:moveTo>
                  <a:pt x="1217549" y="0"/>
                </a:moveTo>
                <a:lnTo>
                  <a:pt x="1212850" y="13335"/>
                </a:lnTo>
                <a:lnTo>
                  <a:pt x="1231919" y="21669"/>
                </a:lnTo>
                <a:lnTo>
                  <a:pt x="1248346" y="33147"/>
                </a:lnTo>
                <a:lnTo>
                  <a:pt x="1273175" y="65532"/>
                </a:lnTo>
                <a:lnTo>
                  <a:pt x="1287748" y="109362"/>
                </a:lnTo>
                <a:lnTo>
                  <a:pt x="1292605" y="163195"/>
                </a:lnTo>
                <a:lnTo>
                  <a:pt x="1291389" y="192246"/>
                </a:lnTo>
                <a:lnTo>
                  <a:pt x="1281622" y="242347"/>
                </a:lnTo>
                <a:lnTo>
                  <a:pt x="1261971" y="281493"/>
                </a:lnTo>
                <a:lnTo>
                  <a:pt x="1232150" y="307921"/>
                </a:lnTo>
                <a:lnTo>
                  <a:pt x="1213357" y="316230"/>
                </a:lnTo>
                <a:lnTo>
                  <a:pt x="1217549" y="329565"/>
                </a:lnTo>
                <a:lnTo>
                  <a:pt x="1262491" y="308514"/>
                </a:lnTo>
                <a:lnTo>
                  <a:pt x="1295527" y="272034"/>
                </a:lnTo>
                <a:lnTo>
                  <a:pt x="1315926" y="223154"/>
                </a:lnTo>
                <a:lnTo>
                  <a:pt x="1322704" y="164846"/>
                </a:lnTo>
                <a:lnTo>
                  <a:pt x="1320994" y="134651"/>
                </a:lnTo>
                <a:lnTo>
                  <a:pt x="1307381" y="81121"/>
                </a:lnTo>
                <a:lnTo>
                  <a:pt x="1280431" y="37522"/>
                </a:lnTo>
                <a:lnTo>
                  <a:pt x="1241430" y="8618"/>
                </a:lnTo>
                <a:lnTo>
                  <a:pt x="1217549" y="0"/>
                </a:lnTo>
                <a:close/>
              </a:path>
              <a:path w="1322704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8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64BCC1C7-A9B7-6049-A736-D9CFA76D8B12}"/>
              </a:ext>
            </a:extLst>
          </p:cNvPr>
          <p:cNvSpPr txBox="1"/>
          <p:nvPr/>
        </p:nvSpPr>
        <p:spPr>
          <a:xfrm>
            <a:off x="6027869" y="1269240"/>
            <a:ext cx="14655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1950" algn="l"/>
              </a:tabLst>
            </a:pPr>
            <a:r>
              <a:rPr sz="2800" spc="-50">
                <a:latin typeface="Cambria Math"/>
                <a:cs typeface="Cambria Math"/>
              </a:rPr>
              <a:t>𝑺</a:t>
            </a:r>
            <a:r>
              <a:rPr sz="2800">
                <a:latin typeface="Cambria Math"/>
                <a:cs typeface="Cambria Math"/>
              </a:rPr>
              <a:t>	𝒍,</a:t>
            </a:r>
            <a:r>
              <a:rPr sz="2800" spc="-155"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8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−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FA3DF6D-A0B7-1B4F-BF5B-777A1E2BE4E3}"/>
              </a:ext>
            </a:extLst>
          </p:cNvPr>
          <p:cNvSpPr/>
          <p:nvPr/>
        </p:nvSpPr>
        <p:spPr>
          <a:xfrm>
            <a:off x="8619305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FE9F4639-1CF5-6F47-B1E5-00AC046C730C}"/>
              </a:ext>
            </a:extLst>
          </p:cNvPr>
          <p:cNvSpPr/>
          <p:nvPr/>
        </p:nvSpPr>
        <p:spPr>
          <a:xfrm>
            <a:off x="8335968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F7356955-2122-9043-83A7-B678FF4AE5A2}"/>
              </a:ext>
            </a:extLst>
          </p:cNvPr>
          <p:cNvSpPr txBox="1"/>
          <p:nvPr/>
        </p:nvSpPr>
        <p:spPr>
          <a:xfrm>
            <a:off x="7693601" y="1269240"/>
            <a:ext cx="9321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+ 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6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18" name="object 2">
            <a:extLst>
              <a:ext uri="{FF2B5EF4-FFF2-40B4-BE49-F238E27FC236}">
                <a16:creationId xmlns:a16="http://schemas.microsoft.com/office/drawing/2014/main" id="{7ACC0BD6-242A-A54A-9283-08F7B4879D19}"/>
              </a:ext>
            </a:extLst>
          </p:cNvPr>
          <p:cNvGrpSpPr/>
          <p:nvPr/>
        </p:nvGrpSpPr>
        <p:grpSpPr>
          <a:xfrm>
            <a:off x="747989" y="1925440"/>
            <a:ext cx="9643717" cy="4072118"/>
            <a:chOff x="59498" y="2108324"/>
            <a:chExt cx="10418884" cy="4072118"/>
          </a:xfrm>
        </p:grpSpPr>
        <p:pic>
          <p:nvPicPr>
            <p:cNvPr id="19" name="object 3">
              <a:extLst>
                <a:ext uri="{FF2B5EF4-FFF2-40B4-BE49-F238E27FC236}">
                  <a16:creationId xmlns:a16="http://schemas.microsoft.com/office/drawing/2014/main" id="{1DAF210C-A71A-9042-8C22-50553FA272F4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9498" y="2108324"/>
              <a:ext cx="10418884" cy="4072118"/>
            </a:xfrm>
            <a:prstGeom prst="rect">
              <a:avLst/>
            </a:prstGeom>
          </p:spPr>
        </p:pic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9575BC13-F4F2-0643-8FA9-805722D8A9CD}"/>
                </a:ext>
              </a:extLst>
            </p:cNvPr>
            <p:cNvSpPr/>
            <p:nvPr/>
          </p:nvSpPr>
          <p:spPr>
            <a:xfrm>
              <a:off x="1372159" y="4619333"/>
              <a:ext cx="3144151" cy="413384"/>
            </a:xfrm>
            <a:custGeom>
              <a:avLst/>
              <a:gdLst/>
              <a:ahLst/>
              <a:cxnLst/>
              <a:rect l="l" t="t" r="r" b="b"/>
              <a:pathLst>
                <a:path w="3679825" h="413384">
                  <a:moveTo>
                    <a:pt x="0" y="68834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3610864" y="0"/>
                  </a:lnTo>
                  <a:lnTo>
                    <a:pt x="3637639" y="5415"/>
                  </a:lnTo>
                  <a:lnTo>
                    <a:pt x="3659520" y="20177"/>
                  </a:lnTo>
                  <a:lnTo>
                    <a:pt x="3674282" y="42058"/>
                  </a:lnTo>
                  <a:lnTo>
                    <a:pt x="3679698" y="68834"/>
                  </a:lnTo>
                  <a:lnTo>
                    <a:pt x="3679698" y="344169"/>
                  </a:lnTo>
                  <a:lnTo>
                    <a:pt x="3674282" y="370945"/>
                  </a:lnTo>
                  <a:lnTo>
                    <a:pt x="3659520" y="392826"/>
                  </a:lnTo>
                  <a:lnTo>
                    <a:pt x="3637639" y="407588"/>
                  </a:lnTo>
                  <a:lnTo>
                    <a:pt x="3610864" y="413004"/>
                  </a:lnTo>
                  <a:lnTo>
                    <a:pt x="68834" y="413004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4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770F11A-12D0-014F-9F7B-15FFA0C307A8}"/>
                  </a:ext>
                </a:extLst>
              </p:cNvPr>
              <p:cNvSpPr txBox="1"/>
              <p:nvPr/>
            </p:nvSpPr>
            <p:spPr>
              <a:xfrm>
                <a:off x="5577317" y="4461405"/>
                <a:ext cx="23666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/>
                  <a:t>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770F11A-12D0-014F-9F7B-15FFA0C30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317" y="4461405"/>
                <a:ext cx="2366683" cy="369332"/>
              </a:xfrm>
              <a:prstGeom prst="rect">
                <a:avLst/>
              </a:prstGeom>
              <a:blipFill>
                <a:blip r:embed="rId3"/>
                <a:stretch>
                  <a:fillRect l="-2674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>
            <a:extLst>
              <a:ext uri="{FF2B5EF4-FFF2-40B4-BE49-F238E27FC236}">
                <a16:creationId xmlns:a16="http://schemas.microsoft.com/office/drawing/2014/main" id="{D7468B66-C013-7F4F-8757-A7C13E86A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88" y="1271213"/>
            <a:ext cx="335756" cy="461665"/>
          </a:xfrm>
          <a:prstGeom prst="rect">
            <a:avLst/>
          </a:prstGeom>
        </p:spPr>
      </p:pic>
      <p:sp>
        <p:nvSpPr>
          <p:cNvPr id="22" name="右箭头 21">
            <a:extLst>
              <a:ext uri="{FF2B5EF4-FFF2-40B4-BE49-F238E27FC236}">
                <a16:creationId xmlns:a16="http://schemas.microsoft.com/office/drawing/2014/main" id="{270C842D-217E-D743-A4AB-6AAB5CDB113E}"/>
              </a:ext>
            </a:extLst>
          </p:cNvPr>
          <p:cNvSpPr/>
          <p:nvPr/>
        </p:nvSpPr>
        <p:spPr>
          <a:xfrm rot="10800000">
            <a:off x="5076289" y="4485731"/>
            <a:ext cx="462337" cy="3148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7504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52DE0A2-BF30-A549-8B34-A97716A83C5C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优化枚举：伪代码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5E7D8F8-5966-9347-B4AE-75A0AB19F050}"/>
              </a:ext>
            </a:extLst>
          </p:cNvPr>
          <p:cNvSpPr/>
          <p:nvPr/>
        </p:nvSpPr>
        <p:spPr>
          <a:xfrm>
            <a:off x="2960057" y="1372491"/>
            <a:ext cx="687705" cy="329565"/>
          </a:xfrm>
          <a:custGeom>
            <a:avLst/>
            <a:gdLst/>
            <a:ahLst/>
            <a:cxnLst/>
            <a:rect l="l" t="t" r="r" b="b"/>
            <a:pathLst>
              <a:path w="687704" h="329565">
                <a:moveTo>
                  <a:pt x="582041" y="0"/>
                </a:moveTo>
                <a:lnTo>
                  <a:pt x="577342" y="13335"/>
                </a:lnTo>
                <a:lnTo>
                  <a:pt x="596411" y="21669"/>
                </a:lnTo>
                <a:lnTo>
                  <a:pt x="612838" y="33147"/>
                </a:lnTo>
                <a:lnTo>
                  <a:pt x="637667" y="65532"/>
                </a:lnTo>
                <a:lnTo>
                  <a:pt x="652240" y="109362"/>
                </a:lnTo>
                <a:lnTo>
                  <a:pt x="657097" y="163195"/>
                </a:lnTo>
                <a:lnTo>
                  <a:pt x="655881" y="192246"/>
                </a:lnTo>
                <a:lnTo>
                  <a:pt x="646114" y="242347"/>
                </a:lnTo>
                <a:lnTo>
                  <a:pt x="626463" y="281493"/>
                </a:lnTo>
                <a:lnTo>
                  <a:pt x="596642" y="307921"/>
                </a:lnTo>
                <a:lnTo>
                  <a:pt x="577849" y="316230"/>
                </a:lnTo>
                <a:lnTo>
                  <a:pt x="582041" y="329565"/>
                </a:lnTo>
                <a:lnTo>
                  <a:pt x="626983" y="308514"/>
                </a:lnTo>
                <a:lnTo>
                  <a:pt x="660019" y="272034"/>
                </a:lnTo>
                <a:lnTo>
                  <a:pt x="680418" y="223154"/>
                </a:lnTo>
                <a:lnTo>
                  <a:pt x="687196" y="164846"/>
                </a:lnTo>
                <a:lnTo>
                  <a:pt x="685486" y="134651"/>
                </a:lnTo>
                <a:lnTo>
                  <a:pt x="671873" y="81121"/>
                </a:lnTo>
                <a:lnTo>
                  <a:pt x="644923" y="37522"/>
                </a:lnTo>
                <a:lnTo>
                  <a:pt x="605922" y="8618"/>
                </a:lnTo>
                <a:lnTo>
                  <a:pt x="582041" y="0"/>
                </a:lnTo>
                <a:close/>
              </a:path>
              <a:path w="687704" h="329565">
                <a:moveTo>
                  <a:pt x="105156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5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230E347-85EC-E04C-BF83-0E4AC3DF9689}"/>
              </a:ext>
            </a:extLst>
          </p:cNvPr>
          <p:cNvSpPr txBox="1"/>
          <p:nvPr/>
        </p:nvSpPr>
        <p:spPr>
          <a:xfrm>
            <a:off x="742130" y="1269240"/>
            <a:ext cx="280162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2334260" algn="l"/>
              </a:tabLst>
            </a:pPr>
            <a:r>
              <a:rPr sz="2800" spc="-10" dirty="0" err="1">
                <a:latin typeface="PMingLiU"/>
                <a:cs typeface="PMingLiU"/>
              </a:rPr>
              <a:t>核心思</a:t>
            </a:r>
            <a:r>
              <a:rPr sz="2800" dirty="0" err="1">
                <a:latin typeface="PMingLiU"/>
                <a:cs typeface="PMingLiU"/>
              </a:rPr>
              <a:t>想</a:t>
            </a:r>
            <a:r>
              <a:rPr sz="2800" dirty="0">
                <a:latin typeface="PMingLiU"/>
                <a:cs typeface="PMingLiU"/>
              </a:rPr>
              <a:t>:</a:t>
            </a:r>
            <a:r>
              <a:rPr sz="2800" spc="17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r>
              <a:rPr sz="2800" dirty="0">
                <a:latin typeface="Cambria Math"/>
                <a:cs typeface="Cambria Math"/>
              </a:rPr>
              <a:t>	𝒍,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7BDEE0E-3CDA-6C4B-BD51-7F48F64C0315}"/>
              </a:ext>
            </a:extLst>
          </p:cNvPr>
          <p:cNvSpPr txBox="1"/>
          <p:nvPr/>
        </p:nvSpPr>
        <p:spPr>
          <a:xfrm>
            <a:off x="4380172" y="1453391"/>
            <a:ext cx="40767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𝒊=𝒍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F4846F6-A319-CF40-9467-D159BCB251A3}"/>
              </a:ext>
            </a:extLst>
          </p:cNvPr>
          <p:cNvSpPr txBox="1"/>
          <p:nvPr/>
        </p:nvSpPr>
        <p:spPr>
          <a:xfrm>
            <a:off x="3739075" y="1123699"/>
            <a:ext cx="8318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baseline="-22817">
                <a:latin typeface="Cambria Math"/>
                <a:cs typeface="Cambria Math"/>
              </a:rPr>
              <a:t>=</a:t>
            </a:r>
            <a:r>
              <a:rPr sz="4200" spc="209" baseline="-22817">
                <a:latin typeface="Cambria Math"/>
                <a:cs typeface="Cambria Math"/>
              </a:rPr>
              <a:t> </a:t>
            </a:r>
            <a:r>
              <a:rPr sz="4200" spc="232" baseline="-20833">
                <a:latin typeface="Cambria Math"/>
                <a:cs typeface="Cambria Math"/>
              </a:rPr>
              <a:t>σ</a:t>
            </a:r>
            <a:r>
              <a:rPr sz="2050" spc="155">
                <a:latin typeface="Cambria Math"/>
                <a:cs typeface="Cambria Math"/>
              </a:rPr>
              <a:t>𝒓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B07A1678-4594-B946-92F6-6A773E931F41}"/>
              </a:ext>
            </a:extLst>
          </p:cNvPr>
          <p:cNvSpPr txBox="1"/>
          <p:nvPr/>
        </p:nvSpPr>
        <p:spPr>
          <a:xfrm>
            <a:off x="4822131" y="1269240"/>
            <a:ext cx="10153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𝑿[𝒊]</a:t>
            </a:r>
            <a:r>
              <a:rPr sz="2800" spc="13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62EC092-B378-C840-A903-198E53E43F33}"/>
              </a:ext>
            </a:extLst>
          </p:cNvPr>
          <p:cNvSpPr/>
          <p:nvPr/>
        </p:nvSpPr>
        <p:spPr>
          <a:xfrm>
            <a:off x="6273234" y="1372491"/>
            <a:ext cx="1322705" cy="329565"/>
          </a:xfrm>
          <a:custGeom>
            <a:avLst/>
            <a:gdLst/>
            <a:ahLst/>
            <a:cxnLst/>
            <a:rect l="l" t="t" r="r" b="b"/>
            <a:pathLst>
              <a:path w="1322704" h="329565">
                <a:moveTo>
                  <a:pt x="1217549" y="0"/>
                </a:moveTo>
                <a:lnTo>
                  <a:pt x="1212850" y="13335"/>
                </a:lnTo>
                <a:lnTo>
                  <a:pt x="1231919" y="21669"/>
                </a:lnTo>
                <a:lnTo>
                  <a:pt x="1248346" y="33147"/>
                </a:lnTo>
                <a:lnTo>
                  <a:pt x="1273175" y="65532"/>
                </a:lnTo>
                <a:lnTo>
                  <a:pt x="1287748" y="109362"/>
                </a:lnTo>
                <a:lnTo>
                  <a:pt x="1292605" y="163195"/>
                </a:lnTo>
                <a:lnTo>
                  <a:pt x="1291389" y="192246"/>
                </a:lnTo>
                <a:lnTo>
                  <a:pt x="1281622" y="242347"/>
                </a:lnTo>
                <a:lnTo>
                  <a:pt x="1261971" y="281493"/>
                </a:lnTo>
                <a:lnTo>
                  <a:pt x="1232150" y="307921"/>
                </a:lnTo>
                <a:lnTo>
                  <a:pt x="1213357" y="316230"/>
                </a:lnTo>
                <a:lnTo>
                  <a:pt x="1217549" y="329565"/>
                </a:lnTo>
                <a:lnTo>
                  <a:pt x="1262491" y="308514"/>
                </a:lnTo>
                <a:lnTo>
                  <a:pt x="1295527" y="272034"/>
                </a:lnTo>
                <a:lnTo>
                  <a:pt x="1315926" y="223154"/>
                </a:lnTo>
                <a:lnTo>
                  <a:pt x="1322704" y="164846"/>
                </a:lnTo>
                <a:lnTo>
                  <a:pt x="1320994" y="134651"/>
                </a:lnTo>
                <a:lnTo>
                  <a:pt x="1307381" y="81121"/>
                </a:lnTo>
                <a:lnTo>
                  <a:pt x="1280431" y="37522"/>
                </a:lnTo>
                <a:lnTo>
                  <a:pt x="1241430" y="8618"/>
                </a:lnTo>
                <a:lnTo>
                  <a:pt x="1217549" y="0"/>
                </a:lnTo>
                <a:close/>
              </a:path>
              <a:path w="1322704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8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64BCC1C7-A9B7-6049-A736-D9CFA76D8B12}"/>
              </a:ext>
            </a:extLst>
          </p:cNvPr>
          <p:cNvSpPr txBox="1"/>
          <p:nvPr/>
        </p:nvSpPr>
        <p:spPr>
          <a:xfrm>
            <a:off x="6027869" y="1269240"/>
            <a:ext cx="14655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1950" algn="l"/>
              </a:tabLst>
            </a:pPr>
            <a:r>
              <a:rPr sz="2800" spc="-50">
                <a:latin typeface="Cambria Math"/>
                <a:cs typeface="Cambria Math"/>
              </a:rPr>
              <a:t>𝑺</a:t>
            </a:r>
            <a:r>
              <a:rPr sz="2800">
                <a:latin typeface="Cambria Math"/>
                <a:cs typeface="Cambria Math"/>
              </a:rPr>
              <a:t>	𝒍,</a:t>
            </a:r>
            <a:r>
              <a:rPr sz="2800" spc="-155"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8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−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FA3DF6D-A0B7-1B4F-BF5B-777A1E2BE4E3}"/>
              </a:ext>
            </a:extLst>
          </p:cNvPr>
          <p:cNvSpPr/>
          <p:nvPr/>
        </p:nvSpPr>
        <p:spPr>
          <a:xfrm>
            <a:off x="8619305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FE9F4639-1CF5-6F47-B1E5-00AC046C730C}"/>
              </a:ext>
            </a:extLst>
          </p:cNvPr>
          <p:cNvSpPr/>
          <p:nvPr/>
        </p:nvSpPr>
        <p:spPr>
          <a:xfrm>
            <a:off x="8335968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F7356955-2122-9043-83A7-B678FF4AE5A2}"/>
              </a:ext>
            </a:extLst>
          </p:cNvPr>
          <p:cNvSpPr txBox="1"/>
          <p:nvPr/>
        </p:nvSpPr>
        <p:spPr>
          <a:xfrm>
            <a:off x="7693601" y="1269240"/>
            <a:ext cx="9321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+ 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6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17" name="object 2">
            <a:extLst>
              <a:ext uri="{FF2B5EF4-FFF2-40B4-BE49-F238E27FC236}">
                <a16:creationId xmlns:a16="http://schemas.microsoft.com/office/drawing/2014/main" id="{6B0D910A-7F36-0045-BBA5-4E0A97B2E7B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3624" y="1936196"/>
            <a:ext cx="9684758" cy="4072118"/>
          </a:xfrm>
          <a:prstGeom prst="rect">
            <a:avLst/>
          </a:prstGeom>
        </p:spPr>
      </p:pic>
      <p:sp>
        <p:nvSpPr>
          <p:cNvPr id="21" name="object 14">
            <a:extLst>
              <a:ext uri="{FF2B5EF4-FFF2-40B4-BE49-F238E27FC236}">
                <a16:creationId xmlns:a16="http://schemas.microsoft.com/office/drawing/2014/main" id="{C92B183B-2D10-4B46-A308-B1C6E42BE745}"/>
              </a:ext>
            </a:extLst>
          </p:cNvPr>
          <p:cNvSpPr txBox="1"/>
          <p:nvPr/>
        </p:nvSpPr>
        <p:spPr>
          <a:xfrm>
            <a:off x="6815910" y="5381826"/>
            <a:ext cx="3642360" cy="5994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58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40"/>
              </a:spcBef>
            </a:pPr>
            <a:r>
              <a:rPr sz="2800" spc="-5" dirty="0" err="1">
                <a:solidFill>
                  <a:srgbClr val="FFFFFF"/>
                </a:solidFill>
                <a:latin typeface="PMingLiU"/>
                <a:cs typeface="PMingLiU"/>
              </a:rPr>
              <a:t>时间复杂度</a:t>
            </a:r>
            <a:r>
              <a:rPr sz="2800" spc="-5" dirty="0">
                <a:solidFill>
                  <a:srgbClr val="FFFFFF"/>
                </a:solidFill>
                <a:latin typeface="PMingLiU"/>
                <a:cs typeface="PMingLiU"/>
              </a:rPr>
              <a:t>：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𝑶(𝒏</a:t>
            </a:r>
            <a:r>
              <a:rPr sz="3075" spc="-15" baseline="28455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DBC42436-B7D1-EA47-A6BB-E627D1E41076}"/>
              </a:ext>
            </a:extLst>
          </p:cNvPr>
          <p:cNvSpPr/>
          <p:nvPr/>
        </p:nvSpPr>
        <p:spPr>
          <a:xfrm>
            <a:off x="6353427" y="3799882"/>
            <a:ext cx="203835" cy="1207770"/>
          </a:xfrm>
          <a:custGeom>
            <a:avLst/>
            <a:gdLst/>
            <a:ahLst/>
            <a:cxnLst/>
            <a:rect l="l" t="t" r="r" b="b"/>
            <a:pathLst>
              <a:path w="203834" h="1207770">
                <a:moveTo>
                  <a:pt x="0" y="0"/>
                </a:moveTo>
                <a:lnTo>
                  <a:pt x="39576" y="1335"/>
                </a:lnTo>
                <a:lnTo>
                  <a:pt x="71913" y="4968"/>
                </a:lnTo>
                <a:lnTo>
                  <a:pt x="93725" y="10340"/>
                </a:lnTo>
                <a:lnTo>
                  <a:pt x="101726" y="16890"/>
                </a:lnTo>
                <a:lnTo>
                  <a:pt x="101726" y="590676"/>
                </a:lnTo>
                <a:lnTo>
                  <a:pt x="109727" y="597300"/>
                </a:lnTo>
                <a:lnTo>
                  <a:pt x="131540" y="602710"/>
                </a:lnTo>
                <a:lnTo>
                  <a:pt x="163877" y="606357"/>
                </a:lnTo>
                <a:lnTo>
                  <a:pt x="203453" y="607694"/>
                </a:lnTo>
                <a:lnTo>
                  <a:pt x="163877" y="609012"/>
                </a:lnTo>
                <a:lnTo>
                  <a:pt x="131540" y="612616"/>
                </a:lnTo>
                <a:lnTo>
                  <a:pt x="109727" y="617981"/>
                </a:lnTo>
                <a:lnTo>
                  <a:pt x="101726" y="624585"/>
                </a:lnTo>
                <a:lnTo>
                  <a:pt x="101726" y="1190751"/>
                </a:lnTo>
                <a:lnTo>
                  <a:pt x="93725" y="1197375"/>
                </a:lnTo>
                <a:lnTo>
                  <a:pt x="71913" y="1202785"/>
                </a:lnTo>
                <a:lnTo>
                  <a:pt x="39576" y="1206432"/>
                </a:lnTo>
                <a:lnTo>
                  <a:pt x="0" y="120776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9607BC3D-1BD7-F94F-9E58-570044CB07E4}"/>
              </a:ext>
            </a:extLst>
          </p:cNvPr>
          <p:cNvSpPr/>
          <p:nvPr/>
        </p:nvSpPr>
        <p:spPr>
          <a:xfrm>
            <a:off x="7091805" y="3078267"/>
            <a:ext cx="135255" cy="2239010"/>
          </a:xfrm>
          <a:custGeom>
            <a:avLst/>
            <a:gdLst/>
            <a:ahLst/>
            <a:cxnLst/>
            <a:rect l="l" t="t" r="r" b="b"/>
            <a:pathLst>
              <a:path w="135254" h="2239010">
                <a:moveTo>
                  <a:pt x="0" y="0"/>
                </a:moveTo>
                <a:lnTo>
                  <a:pt x="26235" y="888"/>
                </a:lnTo>
                <a:lnTo>
                  <a:pt x="47672" y="3301"/>
                </a:lnTo>
                <a:lnTo>
                  <a:pt x="62132" y="6857"/>
                </a:lnTo>
                <a:lnTo>
                  <a:pt x="67436" y="11175"/>
                </a:lnTo>
                <a:lnTo>
                  <a:pt x="67436" y="1115060"/>
                </a:lnTo>
                <a:lnTo>
                  <a:pt x="72741" y="1119451"/>
                </a:lnTo>
                <a:lnTo>
                  <a:pt x="87201" y="1123045"/>
                </a:lnTo>
                <a:lnTo>
                  <a:pt x="108638" y="1125472"/>
                </a:lnTo>
                <a:lnTo>
                  <a:pt x="134874" y="1126363"/>
                </a:lnTo>
                <a:lnTo>
                  <a:pt x="108638" y="1127252"/>
                </a:lnTo>
                <a:lnTo>
                  <a:pt x="87201" y="1129665"/>
                </a:lnTo>
                <a:lnTo>
                  <a:pt x="72741" y="1133221"/>
                </a:lnTo>
                <a:lnTo>
                  <a:pt x="67436" y="1137539"/>
                </a:lnTo>
                <a:lnTo>
                  <a:pt x="67436" y="2227580"/>
                </a:lnTo>
                <a:lnTo>
                  <a:pt x="62132" y="2231898"/>
                </a:lnTo>
                <a:lnTo>
                  <a:pt x="47672" y="2235454"/>
                </a:lnTo>
                <a:lnTo>
                  <a:pt x="26235" y="2237867"/>
                </a:lnTo>
                <a:lnTo>
                  <a:pt x="0" y="223875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CB56908E-FCFA-DF4E-A0C5-B7A32EBC5E33}"/>
              </a:ext>
            </a:extLst>
          </p:cNvPr>
          <p:cNvSpPr txBox="1"/>
          <p:nvPr/>
        </p:nvSpPr>
        <p:spPr>
          <a:xfrm>
            <a:off x="6559676" y="4155990"/>
            <a:ext cx="15119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r>
              <a:rPr sz="2000" spc="4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300" spc="-30" baseline="-6313">
                <a:solidFill>
                  <a:srgbClr val="FF0000"/>
                </a:solidFill>
                <a:latin typeface="Cambria Math"/>
                <a:cs typeface="Cambria Math"/>
              </a:rPr>
              <a:t>𝑶(𝒏</a:t>
            </a:r>
            <a:r>
              <a:rPr sz="2400" spc="-30" baseline="19097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3300" spc="-30" baseline="-6313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3300" baseline="-6313">
              <a:latin typeface="Cambria Math"/>
              <a:cs typeface="Cambria Math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90DE97F-F6D2-2246-80ED-09868C391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88" y="1271213"/>
            <a:ext cx="335756" cy="461665"/>
          </a:xfrm>
          <a:prstGeom prst="rect">
            <a:avLst/>
          </a:prstGeom>
        </p:spPr>
      </p:pic>
      <p:sp>
        <p:nvSpPr>
          <p:cNvPr id="2" name="云形 1">
            <a:extLst>
              <a:ext uri="{FF2B5EF4-FFF2-40B4-BE49-F238E27FC236}">
                <a16:creationId xmlns:a16="http://schemas.microsoft.com/office/drawing/2014/main" id="{8FDD1C4E-8B3E-F44E-BE78-72F2F56AC00B}"/>
              </a:ext>
            </a:extLst>
          </p:cNvPr>
          <p:cNvSpPr/>
          <p:nvPr/>
        </p:nvSpPr>
        <p:spPr>
          <a:xfrm>
            <a:off x="8618277" y="1576454"/>
            <a:ext cx="2392234" cy="150181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能否继续优化？</a:t>
            </a:r>
          </a:p>
        </p:txBody>
      </p:sp>
    </p:spTree>
    <p:extLst>
      <p:ext uri="{BB962C8B-B14F-4D97-AF65-F5344CB8AC3E}">
        <p14:creationId xmlns:p14="http://schemas.microsoft.com/office/powerpoint/2010/main" val="18792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2632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D7C5E2-0DA2-8443-95D0-1E78FDB6A34E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6D81934-A6DC-9941-969F-22F1C94DC0D3}"/>
              </a:ext>
            </a:extLst>
          </p:cNvPr>
          <p:cNvSpPr/>
          <p:nvPr/>
        </p:nvSpPr>
        <p:spPr>
          <a:xfrm>
            <a:off x="1874139" y="1259966"/>
            <a:ext cx="2117725" cy="975360"/>
          </a:xfrm>
          <a:custGeom>
            <a:avLst/>
            <a:gdLst/>
            <a:ahLst/>
            <a:cxnLst/>
            <a:rect l="l" t="t" r="r" b="b"/>
            <a:pathLst>
              <a:path w="2117725" h="975360">
                <a:moveTo>
                  <a:pt x="2020062" y="0"/>
                </a:moveTo>
                <a:lnTo>
                  <a:pt x="97536" y="0"/>
                </a:lnTo>
                <a:lnTo>
                  <a:pt x="59578" y="7667"/>
                </a:lnTo>
                <a:lnTo>
                  <a:pt x="28575" y="28575"/>
                </a:lnTo>
                <a:lnTo>
                  <a:pt x="7667" y="59578"/>
                </a:lnTo>
                <a:lnTo>
                  <a:pt x="0" y="97536"/>
                </a:lnTo>
                <a:lnTo>
                  <a:pt x="0" y="877824"/>
                </a:lnTo>
                <a:lnTo>
                  <a:pt x="7667" y="915781"/>
                </a:lnTo>
                <a:lnTo>
                  <a:pt x="28575" y="946785"/>
                </a:lnTo>
                <a:lnTo>
                  <a:pt x="59578" y="967692"/>
                </a:lnTo>
                <a:lnTo>
                  <a:pt x="97536" y="975360"/>
                </a:lnTo>
                <a:lnTo>
                  <a:pt x="2020062" y="975360"/>
                </a:lnTo>
                <a:lnTo>
                  <a:pt x="2058019" y="967692"/>
                </a:lnTo>
                <a:lnTo>
                  <a:pt x="2089023" y="946785"/>
                </a:lnTo>
                <a:lnTo>
                  <a:pt x="2109930" y="915781"/>
                </a:lnTo>
                <a:lnTo>
                  <a:pt x="2117598" y="877824"/>
                </a:lnTo>
                <a:lnTo>
                  <a:pt x="2117598" y="97536"/>
                </a:lnTo>
                <a:lnTo>
                  <a:pt x="2109930" y="59578"/>
                </a:lnTo>
                <a:lnTo>
                  <a:pt x="2089023" y="28575"/>
                </a:lnTo>
                <a:lnTo>
                  <a:pt x="2058019" y="7667"/>
                </a:lnTo>
                <a:lnTo>
                  <a:pt x="2020062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026581DB-8D8D-8C42-9400-79456B613EF9}"/>
              </a:ext>
            </a:extLst>
          </p:cNvPr>
          <p:cNvSpPr txBox="1"/>
          <p:nvPr/>
        </p:nvSpPr>
        <p:spPr>
          <a:xfrm>
            <a:off x="2094738" y="1478280"/>
            <a:ext cx="167576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分解</a:t>
            </a:r>
            <a:r>
              <a:rPr sz="2600" spc="-35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原问</a:t>
            </a:r>
            <a:r>
              <a:rPr sz="2600" spc="-5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题</a:t>
            </a:r>
            <a:endParaRPr sz="260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FB21BC8-A631-7645-B5B8-EDA7EF1EDBCB}"/>
              </a:ext>
            </a:extLst>
          </p:cNvPr>
          <p:cNvSpPr/>
          <p:nvPr/>
        </p:nvSpPr>
        <p:spPr>
          <a:xfrm>
            <a:off x="2597657" y="2370582"/>
            <a:ext cx="670560" cy="810895"/>
          </a:xfrm>
          <a:custGeom>
            <a:avLst/>
            <a:gdLst/>
            <a:ahLst/>
            <a:cxnLst/>
            <a:rect l="l" t="t" r="r" b="b"/>
            <a:pathLst>
              <a:path w="670560" h="810894">
                <a:moveTo>
                  <a:pt x="536448" y="0"/>
                </a:moveTo>
                <a:lnTo>
                  <a:pt x="134112" y="0"/>
                </a:lnTo>
                <a:lnTo>
                  <a:pt x="134112" y="475488"/>
                </a:lnTo>
                <a:lnTo>
                  <a:pt x="0" y="475488"/>
                </a:lnTo>
                <a:lnTo>
                  <a:pt x="335280" y="810767"/>
                </a:lnTo>
                <a:lnTo>
                  <a:pt x="670559" y="475488"/>
                </a:lnTo>
                <a:lnTo>
                  <a:pt x="536448" y="475488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E1D0B9C8-44ED-F744-BD3B-9ABB434D6A50}"/>
              </a:ext>
            </a:extLst>
          </p:cNvPr>
          <p:cNvSpPr/>
          <p:nvPr/>
        </p:nvSpPr>
        <p:spPr>
          <a:xfrm>
            <a:off x="1874139" y="3317366"/>
            <a:ext cx="2117725" cy="975360"/>
          </a:xfrm>
          <a:custGeom>
            <a:avLst/>
            <a:gdLst/>
            <a:ahLst/>
            <a:cxnLst/>
            <a:rect l="l" t="t" r="r" b="b"/>
            <a:pathLst>
              <a:path w="2117725" h="975360">
                <a:moveTo>
                  <a:pt x="2020062" y="0"/>
                </a:moveTo>
                <a:lnTo>
                  <a:pt x="97536" y="0"/>
                </a:lnTo>
                <a:lnTo>
                  <a:pt x="59578" y="7667"/>
                </a:lnTo>
                <a:lnTo>
                  <a:pt x="28575" y="28575"/>
                </a:lnTo>
                <a:lnTo>
                  <a:pt x="7667" y="59578"/>
                </a:lnTo>
                <a:lnTo>
                  <a:pt x="0" y="97536"/>
                </a:lnTo>
                <a:lnTo>
                  <a:pt x="0" y="877824"/>
                </a:lnTo>
                <a:lnTo>
                  <a:pt x="7667" y="915781"/>
                </a:lnTo>
                <a:lnTo>
                  <a:pt x="28575" y="946785"/>
                </a:lnTo>
                <a:lnTo>
                  <a:pt x="59578" y="967692"/>
                </a:lnTo>
                <a:lnTo>
                  <a:pt x="97536" y="975360"/>
                </a:lnTo>
                <a:lnTo>
                  <a:pt x="2020062" y="975360"/>
                </a:lnTo>
                <a:lnTo>
                  <a:pt x="2058019" y="967692"/>
                </a:lnTo>
                <a:lnTo>
                  <a:pt x="2089023" y="946785"/>
                </a:lnTo>
                <a:lnTo>
                  <a:pt x="2109930" y="915781"/>
                </a:lnTo>
                <a:lnTo>
                  <a:pt x="2117598" y="877824"/>
                </a:lnTo>
                <a:lnTo>
                  <a:pt x="2117598" y="97536"/>
                </a:lnTo>
                <a:lnTo>
                  <a:pt x="2109930" y="59578"/>
                </a:lnTo>
                <a:lnTo>
                  <a:pt x="2089023" y="28575"/>
                </a:lnTo>
                <a:lnTo>
                  <a:pt x="2058019" y="7667"/>
                </a:lnTo>
                <a:lnTo>
                  <a:pt x="2020062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CA92179E-3CDE-9348-BC2E-C685D873ABDF}"/>
              </a:ext>
            </a:extLst>
          </p:cNvPr>
          <p:cNvSpPr txBox="1"/>
          <p:nvPr/>
        </p:nvSpPr>
        <p:spPr>
          <a:xfrm>
            <a:off x="2094738" y="3535679"/>
            <a:ext cx="167576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解决</a:t>
            </a:r>
            <a:r>
              <a:rPr sz="2600" spc="-35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子问</a:t>
            </a:r>
            <a:r>
              <a:rPr sz="2600" spc="-5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题</a:t>
            </a:r>
            <a:endParaRPr sz="260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943452F9-7371-1C48-8AF7-608B88ED3A94}"/>
              </a:ext>
            </a:extLst>
          </p:cNvPr>
          <p:cNvSpPr/>
          <p:nvPr/>
        </p:nvSpPr>
        <p:spPr>
          <a:xfrm>
            <a:off x="2597657" y="4427220"/>
            <a:ext cx="670560" cy="810895"/>
          </a:xfrm>
          <a:custGeom>
            <a:avLst/>
            <a:gdLst/>
            <a:ahLst/>
            <a:cxnLst/>
            <a:rect l="l" t="t" r="r" b="b"/>
            <a:pathLst>
              <a:path w="670560" h="810895">
                <a:moveTo>
                  <a:pt x="536448" y="0"/>
                </a:moveTo>
                <a:lnTo>
                  <a:pt x="134112" y="0"/>
                </a:lnTo>
                <a:lnTo>
                  <a:pt x="134112" y="475487"/>
                </a:lnTo>
                <a:lnTo>
                  <a:pt x="0" y="475487"/>
                </a:lnTo>
                <a:lnTo>
                  <a:pt x="335280" y="810767"/>
                </a:lnTo>
                <a:lnTo>
                  <a:pt x="670559" y="475487"/>
                </a:lnTo>
                <a:lnTo>
                  <a:pt x="536448" y="475487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E97FEAA6-1586-A84B-BCB2-9CD75ED11BD4}"/>
              </a:ext>
            </a:extLst>
          </p:cNvPr>
          <p:cNvSpPr/>
          <p:nvPr/>
        </p:nvSpPr>
        <p:spPr>
          <a:xfrm>
            <a:off x="1874139" y="5374004"/>
            <a:ext cx="2117725" cy="975360"/>
          </a:xfrm>
          <a:custGeom>
            <a:avLst/>
            <a:gdLst/>
            <a:ahLst/>
            <a:cxnLst/>
            <a:rect l="l" t="t" r="r" b="b"/>
            <a:pathLst>
              <a:path w="2117725" h="975360">
                <a:moveTo>
                  <a:pt x="2020062" y="0"/>
                </a:moveTo>
                <a:lnTo>
                  <a:pt x="97536" y="0"/>
                </a:lnTo>
                <a:lnTo>
                  <a:pt x="59578" y="7667"/>
                </a:lnTo>
                <a:lnTo>
                  <a:pt x="28575" y="28575"/>
                </a:lnTo>
                <a:lnTo>
                  <a:pt x="7667" y="59578"/>
                </a:lnTo>
                <a:lnTo>
                  <a:pt x="0" y="97536"/>
                </a:lnTo>
                <a:lnTo>
                  <a:pt x="0" y="877824"/>
                </a:lnTo>
                <a:lnTo>
                  <a:pt x="7667" y="915791"/>
                </a:lnTo>
                <a:lnTo>
                  <a:pt x="28575" y="946794"/>
                </a:lnTo>
                <a:lnTo>
                  <a:pt x="59578" y="967695"/>
                </a:lnTo>
                <a:lnTo>
                  <a:pt x="97536" y="975360"/>
                </a:lnTo>
                <a:lnTo>
                  <a:pt x="2020062" y="975360"/>
                </a:lnTo>
                <a:lnTo>
                  <a:pt x="2058019" y="967695"/>
                </a:lnTo>
                <a:lnTo>
                  <a:pt x="2089023" y="946794"/>
                </a:lnTo>
                <a:lnTo>
                  <a:pt x="2109930" y="915791"/>
                </a:lnTo>
                <a:lnTo>
                  <a:pt x="2117598" y="877824"/>
                </a:lnTo>
                <a:lnTo>
                  <a:pt x="2117598" y="97536"/>
                </a:lnTo>
                <a:lnTo>
                  <a:pt x="2109930" y="59578"/>
                </a:lnTo>
                <a:lnTo>
                  <a:pt x="2089023" y="28575"/>
                </a:lnTo>
                <a:lnTo>
                  <a:pt x="2058019" y="7667"/>
                </a:lnTo>
                <a:lnTo>
                  <a:pt x="2020062" y="0"/>
                </a:lnTo>
                <a:close/>
              </a:path>
            </a:pathLst>
          </a:custGeom>
          <a:solidFill>
            <a:srgbClr val="18AEEF"/>
          </a:solidFill>
        </p:spPr>
        <p:txBody>
          <a:bodyPr wrap="square" lIns="0" tIns="0" rIns="0" bIns="0" rtlCol="0"/>
          <a:lstStyle/>
          <a:p>
            <a:endParaRPr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E2A05876-883F-494A-A6FF-066D25631471}"/>
              </a:ext>
            </a:extLst>
          </p:cNvPr>
          <p:cNvSpPr txBox="1"/>
          <p:nvPr/>
        </p:nvSpPr>
        <p:spPr>
          <a:xfrm>
            <a:off x="2094738" y="5592571"/>
            <a:ext cx="167576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合并</a:t>
            </a:r>
            <a:r>
              <a:rPr sz="2600" spc="-35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</a:t>
            </a:r>
            <a:r>
              <a:rPr sz="2600" spc="-5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解</a:t>
            </a:r>
            <a:endParaRPr sz="260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218DDCF-EB51-4B46-8625-19EC00B6601A}"/>
              </a:ext>
            </a:extLst>
          </p:cNvPr>
          <p:cNvSpPr txBox="1"/>
          <p:nvPr/>
        </p:nvSpPr>
        <p:spPr>
          <a:xfrm>
            <a:off x="5564632" y="1434419"/>
            <a:ext cx="4532630" cy="62645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285115" rIns="0" bIns="0" rtlCol="0">
            <a:spAutoFit/>
          </a:bodyPr>
          <a:lstStyle/>
          <a:p>
            <a:pPr marL="635" algn="ctr"/>
            <a:r>
              <a:rPr sz="22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原问题分解成多个子问题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8B2006B5-BE17-784D-8535-BC5EDB672624}"/>
              </a:ext>
            </a:extLst>
          </p:cNvPr>
          <p:cNvSpPr txBox="1"/>
          <p:nvPr/>
        </p:nvSpPr>
        <p:spPr>
          <a:xfrm>
            <a:off x="5564632" y="3491819"/>
            <a:ext cx="4532630" cy="62645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285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45"/>
              </a:spcBef>
            </a:pP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递归地求解各个子问题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8AB54C65-171B-9D4E-AE2C-42F2513389E9}"/>
              </a:ext>
            </a:extLst>
          </p:cNvPr>
          <p:cNvSpPr txBox="1"/>
          <p:nvPr/>
        </p:nvSpPr>
        <p:spPr>
          <a:xfrm>
            <a:off x="5564632" y="5369184"/>
            <a:ext cx="4532630" cy="62645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285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45"/>
              </a:spcBef>
            </a:pP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将结果合并为原问题解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8671179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4D97A49-82F7-354C-9C34-B1D61E47C47F}"/>
              </a:ext>
            </a:extLst>
          </p:cNvPr>
          <p:cNvSpPr/>
          <p:nvPr/>
        </p:nvSpPr>
        <p:spPr>
          <a:xfrm>
            <a:off x="9963531" y="5203356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42"/>
                </a:lnTo>
                <a:lnTo>
                  <a:pt x="31829" y="31838"/>
                </a:lnTo>
                <a:lnTo>
                  <a:pt x="8538" y="66394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72"/>
                </a:lnTo>
                <a:lnTo>
                  <a:pt x="31829" y="620428"/>
                </a:lnTo>
                <a:lnTo>
                  <a:pt x="66383" y="643727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27"/>
                </a:lnTo>
                <a:lnTo>
                  <a:pt x="1864026" y="620428"/>
                </a:lnTo>
                <a:lnTo>
                  <a:pt x="1887317" y="585872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94"/>
                </a:lnTo>
                <a:lnTo>
                  <a:pt x="1864026" y="31838"/>
                </a:lnTo>
                <a:lnTo>
                  <a:pt x="1829472" y="8542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23ACC78-E823-EF46-B10D-10D6F8521133}"/>
              </a:ext>
            </a:extLst>
          </p:cNvPr>
          <p:cNvSpPr/>
          <p:nvPr/>
        </p:nvSpPr>
        <p:spPr>
          <a:xfrm>
            <a:off x="9963531" y="4117094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7A33469-EBF4-724C-ADA4-324BFB6A52E1}"/>
              </a:ext>
            </a:extLst>
          </p:cNvPr>
          <p:cNvSpPr/>
          <p:nvPr/>
        </p:nvSpPr>
        <p:spPr>
          <a:xfrm>
            <a:off x="9963531" y="3213729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60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2"/>
                </a:lnTo>
                <a:lnTo>
                  <a:pt x="1787144" y="652272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60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5046BD9-D00E-784F-8CE7-27A3DAC07CD8}"/>
              </a:ext>
            </a:extLst>
          </p:cNvPr>
          <p:cNvSpPr txBox="1"/>
          <p:nvPr/>
        </p:nvSpPr>
        <p:spPr>
          <a:xfrm>
            <a:off x="10136631" y="3281841"/>
            <a:ext cx="1549400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原问题</a:t>
            </a:r>
            <a:endParaRPr sz="2400" dirty="0">
              <a:latin typeface="PMingLiU"/>
              <a:cs typeface="PMingLiU"/>
            </a:endParaRPr>
          </a:p>
          <a:p>
            <a:pPr marL="12700" marR="5080">
              <a:lnSpc>
                <a:spcPct val="308700"/>
              </a:lnSpc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lang="zh-CN" altLang="en-US" sz="2400" spc="-20" dirty="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合并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问题解</a:t>
            </a:r>
            <a:endParaRPr sz="2400" dirty="0">
              <a:latin typeface="PMingLiU"/>
              <a:cs typeface="PMingLiU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33EAC64D-2161-E040-8A1F-04907D832EEB}"/>
              </a:ext>
            </a:extLst>
          </p:cNvPr>
          <p:cNvGraphicFramePr>
            <a:graphicFrameLocks noGrp="1"/>
          </p:cNvGraphicFramePr>
          <p:nvPr/>
        </p:nvGraphicFramePr>
        <p:xfrm>
          <a:off x="2737866" y="1212722"/>
          <a:ext cx="5759448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7">
            <a:extLst>
              <a:ext uri="{FF2B5EF4-FFF2-40B4-BE49-F238E27FC236}">
                <a16:creationId xmlns:a16="http://schemas.microsoft.com/office/drawing/2014/main" id="{83BFA32C-96DA-5145-AC77-893FC0C59340}"/>
              </a:ext>
            </a:extLst>
          </p:cNvPr>
          <p:cNvSpPr txBox="1"/>
          <p:nvPr/>
        </p:nvSpPr>
        <p:spPr>
          <a:xfrm>
            <a:off x="1569719" y="1289050"/>
            <a:ext cx="1055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7948929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4D97A49-82F7-354C-9C34-B1D61E47C47F}"/>
              </a:ext>
            </a:extLst>
          </p:cNvPr>
          <p:cNvSpPr/>
          <p:nvPr/>
        </p:nvSpPr>
        <p:spPr>
          <a:xfrm>
            <a:off x="9963531" y="5203356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42"/>
                </a:lnTo>
                <a:lnTo>
                  <a:pt x="31829" y="31838"/>
                </a:lnTo>
                <a:lnTo>
                  <a:pt x="8538" y="66394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72"/>
                </a:lnTo>
                <a:lnTo>
                  <a:pt x="31829" y="620428"/>
                </a:lnTo>
                <a:lnTo>
                  <a:pt x="66383" y="643727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27"/>
                </a:lnTo>
                <a:lnTo>
                  <a:pt x="1864026" y="620428"/>
                </a:lnTo>
                <a:lnTo>
                  <a:pt x="1887317" y="585872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94"/>
                </a:lnTo>
                <a:lnTo>
                  <a:pt x="1864026" y="31838"/>
                </a:lnTo>
                <a:lnTo>
                  <a:pt x="1829472" y="8542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23ACC78-E823-EF46-B10D-10D6F8521133}"/>
              </a:ext>
            </a:extLst>
          </p:cNvPr>
          <p:cNvSpPr/>
          <p:nvPr/>
        </p:nvSpPr>
        <p:spPr>
          <a:xfrm>
            <a:off x="9963531" y="4117094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7A33469-EBF4-724C-ADA4-324BFB6A52E1}"/>
              </a:ext>
            </a:extLst>
          </p:cNvPr>
          <p:cNvSpPr/>
          <p:nvPr/>
        </p:nvSpPr>
        <p:spPr>
          <a:xfrm>
            <a:off x="9963531" y="3213729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60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2"/>
                </a:lnTo>
                <a:lnTo>
                  <a:pt x="1787144" y="652272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60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5046BD9-D00E-784F-8CE7-27A3DAC07CD8}"/>
              </a:ext>
            </a:extLst>
          </p:cNvPr>
          <p:cNvSpPr txBox="1"/>
          <p:nvPr/>
        </p:nvSpPr>
        <p:spPr>
          <a:xfrm>
            <a:off x="10136631" y="3281841"/>
            <a:ext cx="1549400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原问题</a:t>
            </a:r>
            <a:endParaRPr sz="2400" dirty="0">
              <a:latin typeface="PMingLiU"/>
              <a:cs typeface="PMingLiU"/>
            </a:endParaRPr>
          </a:p>
          <a:p>
            <a:pPr marL="12700" marR="5080">
              <a:lnSpc>
                <a:spcPct val="308700"/>
              </a:lnSpc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lang="zh-CN" altLang="en-US" sz="2400" spc="-20" dirty="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合并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问题解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F602EC2-D87D-2045-8F2D-6703B8C135DC}"/>
              </a:ext>
            </a:extLst>
          </p:cNvPr>
          <p:cNvSpPr/>
          <p:nvPr/>
        </p:nvSpPr>
        <p:spPr>
          <a:xfrm>
            <a:off x="8094599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ED683A6-AD48-B649-8552-F94354639E56}"/>
              </a:ext>
            </a:extLst>
          </p:cNvPr>
          <p:cNvSpPr/>
          <p:nvPr/>
        </p:nvSpPr>
        <p:spPr>
          <a:xfrm>
            <a:off x="6254496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766561E2-9191-D444-8C03-99464134F437}"/>
              </a:ext>
            </a:extLst>
          </p:cNvPr>
          <p:cNvSpPr txBox="1"/>
          <p:nvPr/>
        </p:nvSpPr>
        <p:spPr>
          <a:xfrm>
            <a:off x="688340" y="3382772"/>
            <a:ext cx="74123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将数组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分为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𝒏/𝟐]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𝒏/𝟐</a:t>
            </a:r>
            <a:r>
              <a:rPr sz="2800" spc="5" dirty="0">
                <a:latin typeface="Cambria Math"/>
                <a:cs typeface="Cambria Math"/>
              </a:rPr>
              <a:t> +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75" dirty="0">
                <a:latin typeface="Cambria Math"/>
                <a:cs typeface="Cambria Math"/>
              </a:rPr>
              <a:t>. . </a:t>
            </a:r>
            <a:r>
              <a:rPr sz="2800" spc="-50" dirty="0">
                <a:latin typeface="Cambria Math"/>
                <a:cs typeface="Cambria Math"/>
              </a:rPr>
              <a:t>𝒏</a:t>
            </a:r>
            <a:endParaRPr sz="2800" dirty="0">
              <a:latin typeface="Cambria Math"/>
              <a:cs typeface="Cambria Math"/>
            </a:endParaRP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230D9BE6-5A06-8F49-9668-80FF6AA1654F}"/>
              </a:ext>
            </a:extLst>
          </p:cNvPr>
          <p:cNvGraphicFramePr>
            <a:graphicFrameLocks noGrp="1"/>
          </p:cNvGraphicFramePr>
          <p:nvPr/>
        </p:nvGraphicFramePr>
        <p:xfrm>
          <a:off x="2737866" y="1092708"/>
          <a:ext cx="5756273" cy="69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938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6">
            <a:extLst>
              <a:ext uri="{FF2B5EF4-FFF2-40B4-BE49-F238E27FC236}">
                <a16:creationId xmlns:a16="http://schemas.microsoft.com/office/drawing/2014/main" id="{F5D330AD-89C9-2648-9A9D-09FD194E490C}"/>
              </a:ext>
            </a:extLst>
          </p:cNvPr>
          <p:cNvSpPr txBox="1"/>
          <p:nvPr/>
        </p:nvSpPr>
        <p:spPr>
          <a:xfrm>
            <a:off x="1569719" y="1289050"/>
            <a:ext cx="1055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87F4C99B-1195-554D-A104-137CB40CECD8}"/>
              </a:ext>
            </a:extLst>
          </p:cNvPr>
          <p:cNvSpPr/>
          <p:nvPr/>
        </p:nvSpPr>
        <p:spPr>
          <a:xfrm flipH="1">
            <a:off x="5637276" y="1111758"/>
            <a:ext cx="0" cy="770890"/>
          </a:xfrm>
          <a:custGeom>
            <a:avLst/>
            <a:gdLst/>
            <a:ahLst/>
            <a:cxnLst/>
            <a:rect l="l" t="t" r="r" b="b"/>
            <a:pathLst>
              <a:path h="770889">
                <a:moveTo>
                  <a:pt x="0" y="0"/>
                </a:moveTo>
                <a:lnTo>
                  <a:pt x="0" y="770381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1D678252-2FE3-3F45-AC16-B2B19F3CC71A}"/>
              </a:ext>
            </a:extLst>
          </p:cNvPr>
          <p:cNvGraphicFramePr>
            <a:graphicFrameLocks noGrp="1"/>
          </p:cNvGraphicFramePr>
          <p:nvPr/>
        </p:nvGraphicFramePr>
        <p:xfrm>
          <a:off x="1654175" y="2197735"/>
          <a:ext cx="2743198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35751126-391C-9F4A-B918-79CB163AE4EE}"/>
              </a:ext>
            </a:extLst>
          </p:cNvPr>
          <p:cNvGraphicFramePr>
            <a:graphicFrameLocks noGrp="1"/>
          </p:cNvGraphicFramePr>
          <p:nvPr/>
        </p:nvGraphicFramePr>
        <p:xfrm>
          <a:off x="6874891" y="2197735"/>
          <a:ext cx="3079750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0">
            <a:extLst>
              <a:ext uri="{FF2B5EF4-FFF2-40B4-BE49-F238E27FC236}">
                <a16:creationId xmlns:a16="http://schemas.microsoft.com/office/drawing/2014/main" id="{C7E8C422-1D17-BA49-B9F6-0B5227133824}"/>
              </a:ext>
            </a:extLst>
          </p:cNvPr>
          <p:cNvSpPr/>
          <p:nvPr/>
        </p:nvSpPr>
        <p:spPr>
          <a:xfrm>
            <a:off x="3044951" y="1790445"/>
            <a:ext cx="821055" cy="426084"/>
          </a:xfrm>
          <a:custGeom>
            <a:avLst/>
            <a:gdLst/>
            <a:ahLst/>
            <a:cxnLst/>
            <a:rect l="l" t="t" r="r" b="b"/>
            <a:pathLst>
              <a:path w="821053" h="426084">
                <a:moveTo>
                  <a:pt x="76327" y="323723"/>
                </a:moveTo>
                <a:lnTo>
                  <a:pt x="0" y="426084"/>
                </a:lnTo>
                <a:lnTo>
                  <a:pt x="127762" y="425703"/>
                </a:lnTo>
                <a:lnTo>
                  <a:pt x="114951" y="400303"/>
                </a:lnTo>
                <a:lnTo>
                  <a:pt x="93599" y="400303"/>
                </a:lnTo>
                <a:lnTo>
                  <a:pt x="76454" y="366267"/>
                </a:lnTo>
                <a:lnTo>
                  <a:pt x="93462" y="357698"/>
                </a:lnTo>
                <a:lnTo>
                  <a:pt x="76327" y="323723"/>
                </a:lnTo>
                <a:close/>
              </a:path>
              <a:path w="821053" h="426084">
                <a:moveTo>
                  <a:pt x="93462" y="357698"/>
                </a:moveTo>
                <a:lnTo>
                  <a:pt x="76454" y="366267"/>
                </a:lnTo>
                <a:lnTo>
                  <a:pt x="93599" y="400303"/>
                </a:lnTo>
                <a:lnTo>
                  <a:pt x="110624" y="391725"/>
                </a:lnTo>
                <a:lnTo>
                  <a:pt x="93462" y="357698"/>
                </a:lnTo>
                <a:close/>
              </a:path>
              <a:path w="821053" h="426084">
                <a:moveTo>
                  <a:pt x="110624" y="391725"/>
                </a:moveTo>
                <a:lnTo>
                  <a:pt x="93599" y="400303"/>
                </a:lnTo>
                <a:lnTo>
                  <a:pt x="114951" y="400303"/>
                </a:lnTo>
                <a:lnTo>
                  <a:pt x="110624" y="391725"/>
                </a:lnTo>
                <a:close/>
              </a:path>
              <a:path w="821053" h="426084">
                <a:moveTo>
                  <a:pt x="803401" y="0"/>
                </a:moveTo>
                <a:lnTo>
                  <a:pt x="93462" y="357698"/>
                </a:lnTo>
                <a:lnTo>
                  <a:pt x="110624" y="391725"/>
                </a:lnTo>
                <a:lnTo>
                  <a:pt x="820547" y="34036"/>
                </a:lnTo>
                <a:lnTo>
                  <a:pt x="803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1">
            <a:extLst>
              <a:ext uri="{FF2B5EF4-FFF2-40B4-BE49-F238E27FC236}">
                <a16:creationId xmlns:a16="http://schemas.microsoft.com/office/drawing/2014/main" id="{12E99654-2312-C847-A33C-10DF72A0B545}"/>
              </a:ext>
            </a:extLst>
          </p:cNvPr>
          <p:cNvSpPr/>
          <p:nvPr/>
        </p:nvSpPr>
        <p:spPr>
          <a:xfrm>
            <a:off x="7338948" y="1789683"/>
            <a:ext cx="1094740" cy="440690"/>
          </a:xfrm>
          <a:custGeom>
            <a:avLst/>
            <a:gdLst/>
            <a:ahLst/>
            <a:cxnLst/>
            <a:rect l="l" t="t" r="r" b="b"/>
            <a:pathLst>
              <a:path w="1094740" h="440689">
                <a:moveTo>
                  <a:pt x="980896" y="404518"/>
                </a:moveTo>
                <a:lnTo>
                  <a:pt x="967485" y="440181"/>
                </a:lnTo>
                <a:lnTo>
                  <a:pt x="1094485" y="426846"/>
                </a:lnTo>
                <a:lnTo>
                  <a:pt x="1080029" y="411225"/>
                </a:lnTo>
                <a:lnTo>
                  <a:pt x="998727" y="411225"/>
                </a:lnTo>
                <a:lnTo>
                  <a:pt x="980896" y="404518"/>
                </a:lnTo>
                <a:close/>
              </a:path>
              <a:path w="1094740" h="440689">
                <a:moveTo>
                  <a:pt x="994305" y="368860"/>
                </a:moveTo>
                <a:lnTo>
                  <a:pt x="980896" y="404518"/>
                </a:lnTo>
                <a:lnTo>
                  <a:pt x="998727" y="411225"/>
                </a:lnTo>
                <a:lnTo>
                  <a:pt x="1012062" y="375538"/>
                </a:lnTo>
                <a:lnTo>
                  <a:pt x="994305" y="368860"/>
                </a:lnTo>
                <a:close/>
              </a:path>
              <a:path w="1094740" h="440689">
                <a:moveTo>
                  <a:pt x="1007745" y="333120"/>
                </a:moveTo>
                <a:lnTo>
                  <a:pt x="994305" y="368860"/>
                </a:lnTo>
                <a:lnTo>
                  <a:pt x="1012062" y="375538"/>
                </a:lnTo>
                <a:lnTo>
                  <a:pt x="998727" y="411225"/>
                </a:lnTo>
                <a:lnTo>
                  <a:pt x="1080029" y="411225"/>
                </a:lnTo>
                <a:lnTo>
                  <a:pt x="1007745" y="333120"/>
                </a:lnTo>
                <a:close/>
              </a:path>
              <a:path w="1094740" h="440689">
                <a:moveTo>
                  <a:pt x="13461" y="0"/>
                </a:moveTo>
                <a:lnTo>
                  <a:pt x="0" y="35560"/>
                </a:lnTo>
                <a:lnTo>
                  <a:pt x="980896" y="404518"/>
                </a:lnTo>
                <a:lnTo>
                  <a:pt x="994305" y="368860"/>
                </a:lnTo>
                <a:lnTo>
                  <a:pt x="13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9DC5E22F-2068-C647-9FE9-5EABE5192722}"/>
              </a:ext>
            </a:extLst>
          </p:cNvPr>
          <p:cNvSpPr txBox="1"/>
          <p:nvPr/>
        </p:nvSpPr>
        <p:spPr>
          <a:xfrm>
            <a:off x="10041128" y="2286000"/>
            <a:ext cx="194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𝑿[𝒏/𝟐</a:t>
            </a:r>
            <a:r>
              <a:rPr sz="2400" spc="-1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𝟏.</a:t>
            </a:r>
            <a:r>
              <a:rPr sz="2400" spc="-14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FE652247-B1FC-1E40-A79E-990DBF775823}"/>
              </a:ext>
            </a:extLst>
          </p:cNvPr>
          <p:cNvSpPr txBox="1"/>
          <p:nvPr/>
        </p:nvSpPr>
        <p:spPr>
          <a:xfrm>
            <a:off x="169926" y="2298953"/>
            <a:ext cx="1387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𝒏/𝟐]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F06F8A1B-F56C-7B4C-AB86-4F61D5E23D6E}"/>
              </a:ext>
            </a:extLst>
          </p:cNvPr>
          <p:cNvSpPr txBox="1"/>
          <p:nvPr/>
        </p:nvSpPr>
        <p:spPr>
          <a:xfrm>
            <a:off x="5072634" y="187680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5E72CAE0-C7EE-BE4B-B7F5-DB8FE006C4A5}"/>
              </a:ext>
            </a:extLst>
          </p:cNvPr>
          <p:cNvSpPr txBox="1"/>
          <p:nvPr/>
        </p:nvSpPr>
        <p:spPr>
          <a:xfrm>
            <a:off x="5684011" y="1876806"/>
            <a:ext cx="92201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𝒏/𝟐</a:t>
            </a:r>
            <a:r>
              <a:rPr sz="2000" spc="-2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916804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4D97A49-82F7-354C-9C34-B1D61E47C47F}"/>
              </a:ext>
            </a:extLst>
          </p:cNvPr>
          <p:cNvSpPr/>
          <p:nvPr/>
        </p:nvSpPr>
        <p:spPr>
          <a:xfrm>
            <a:off x="9963531" y="5203356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42"/>
                </a:lnTo>
                <a:lnTo>
                  <a:pt x="31829" y="31838"/>
                </a:lnTo>
                <a:lnTo>
                  <a:pt x="8538" y="66394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72"/>
                </a:lnTo>
                <a:lnTo>
                  <a:pt x="31829" y="620428"/>
                </a:lnTo>
                <a:lnTo>
                  <a:pt x="66383" y="643727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27"/>
                </a:lnTo>
                <a:lnTo>
                  <a:pt x="1864026" y="620428"/>
                </a:lnTo>
                <a:lnTo>
                  <a:pt x="1887317" y="585872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94"/>
                </a:lnTo>
                <a:lnTo>
                  <a:pt x="1864026" y="31838"/>
                </a:lnTo>
                <a:lnTo>
                  <a:pt x="1829472" y="8542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23ACC78-E823-EF46-B10D-10D6F8521133}"/>
              </a:ext>
            </a:extLst>
          </p:cNvPr>
          <p:cNvSpPr/>
          <p:nvPr/>
        </p:nvSpPr>
        <p:spPr>
          <a:xfrm>
            <a:off x="9963531" y="4117094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7A33469-EBF4-724C-ADA4-324BFB6A52E1}"/>
              </a:ext>
            </a:extLst>
          </p:cNvPr>
          <p:cNvSpPr/>
          <p:nvPr/>
        </p:nvSpPr>
        <p:spPr>
          <a:xfrm>
            <a:off x="9963531" y="3213729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60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2"/>
                </a:lnTo>
                <a:lnTo>
                  <a:pt x="1787144" y="652272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60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5046BD9-D00E-784F-8CE7-27A3DAC07CD8}"/>
              </a:ext>
            </a:extLst>
          </p:cNvPr>
          <p:cNvSpPr txBox="1"/>
          <p:nvPr/>
        </p:nvSpPr>
        <p:spPr>
          <a:xfrm>
            <a:off x="10104357" y="3281841"/>
            <a:ext cx="1549400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原问题</a:t>
            </a:r>
            <a:endParaRPr sz="2400" dirty="0">
              <a:latin typeface="PMingLiU"/>
              <a:cs typeface="PMingLiU"/>
            </a:endParaRPr>
          </a:p>
          <a:p>
            <a:pPr marL="12700" marR="5080">
              <a:lnSpc>
                <a:spcPct val="308700"/>
              </a:lnSpc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lang="zh-CN" altLang="en-US" sz="2400" spc="-20" dirty="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合并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问题解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82B384B-1BF7-6D42-9512-97D598FED4C5}"/>
              </a:ext>
            </a:extLst>
          </p:cNvPr>
          <p:cNvSpPr/>
          <p:nvPr/>
        </p:nvSpPr>
        <p:spPr>
          <a:xfrm>
            <a:off x="8094599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0739C2C-34BE-A342-AE76-1E28A73EFAAA}"/>
              </a:ext>
            </a:extLst>
          </p:cNvPr>
          <p:cNvSpPr/>
          <p:nvPr/>
        </p:nvSpPr>
        <p:spPr>
          <a:xfrm>
            <a:off x="6254496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1DE5E099-943C-2E41-9563-B3F7791C475D}"/>
              </a:ext>
            </a:extLst>
          </p:cNvPr>
          <p:cNvSpPr txBox="1"/>
          <p:nvPr/>
        </p:nvSpPr>
        <p:spPr>
          <a:xfrm>
            <a:off x="662940" y="3306876"/>
            <a:ext cx="7463155" cy="14846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将数组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分为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𝒏/𝟐]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𝒏/𝟐</a:t>
            </a:r>
            <a:r>
              <a:rPr sz="2800" spc="5" dirty="0">
                <a:latin typeface="Cambria Math"/>
                <a:cs typeface="Cambria Math"/>
              </a:rPr>
              <a:t> +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75" dirty="0">
                <a:latin typeface="Cambria Math"/>
                <a:cs typeface="Cambria Math"/>
              </a:rPr>
              <a:t>. . </a:t>
            </a:r>
            <a:r>
              <a:rPr sz="2800" spc="-50" dirty="0">
                <a:latin typeface="Cambria Math"/>
                <a:cs typeface="Cambria Math"/>
              </a:rPr>
              <a:t>𝒏</a:t>
            </a:r>
            <a:endParaRPr sz="2800" dirty="0">
              <a:latin typeface="Cambria Math"/>
              <a:cs typeface="Cambria Math"/>
            </a:endParaRPr>
          </a:p>
          <a:p>
            <a:pPr marL="381000" indent="-342900">
              <a:lnSpc>
                <a:spcPct val="100000"/>
              </a:lnSpc>
              <a:spcBef>
                <a:spcPts val="6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递归求解子问题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solidFill>
                  <a:srgbClr val="1CB45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1CB450"/>
                </a:solidFill>
                <a:latin typeface="Cambria Math"/>
                <a:cs typeface="Cambria Math"/>
              </a:rPr>
              <a:t>𝟏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spc="-10" dirty="0">
                <a:latin typeface="Cambria Math"/>
                <a:cs typeface="Cambria Math"/>
              </a:rPr>
              <a:t>𝑿[𝟏</a:t>
            </a:r>
            <a:r>
              <a:rPr sz="2400" spc="-55" dirty="0">
                <a:latin typeface="Cambria Math"/>
                <a:cs typeface="Cambria Math"/>
              </a:rPr>
              <a:t>. . </a:t>
            </a:r>
            <a:r>
              <a:rPr sz="2400" dirty="0">
                <a:latin typeface="Cambria Math"/>
                <a:cs typeface="Cambria Math"/>
              </a:rPr>
              <a:t>𝒏/𝟐</a:t>
            </a:r>
            <a:r>
              <a:rPr sz="2400" spc="20" dirty="0">
                <a:latin typeface="Cambria Math"/>
                <a:cs typeface="Cambria Math"/>
              </a:rPr>
              <a:t>] 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85F54EE-4FB8-9F42-8173-B71BDCC489D9}"/>
              </a:ext>
            </a:extLst>
          </p:cNvPr>
          <p:cNvSpPr txBox="1"/>
          <p:nvPr/>
        </p:nvSpPr>
        <p:spPr>
          <a:xfrm>
            <a:off x="1007363" y="4838954"/>
            <a:ext cx="5473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0000FF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0000FF"/>
                </a:solidFill>
                <a:latin typeface="Cambria Math"/>
                <a:cs typeface="Cambria Math"/>
              </a:rPr>
              <a:t>𝟐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dirty="0">
                <a:latin typeface="Cambria Math"/>
                <a:cs typeface="Cambria Math"/>
              </a:rPr>
              <a:t>𝑿[𝒏/𝟐</a:t>
            </a:r>
            <a:r>
              <a:rPr sz="2400" spc="10" dirty="0">
                <a:latin typeface="Cambria Math"/>
                <a:cs typeface="Cambria Math"/>
              </a:rPr>
              <a:t> + </a:t>
            </a:r>
            <a:r>
              <a:rPr sz="2400" dirty="0">
                <a:latin typeface="Cambria Math"/>
                <a:cs typeface="Cambria Math"/>
              </a:rPr>
              <a:t>𝟏.</a:t>
            </a:r>
            <a:r>
              <a:rPr sz="2400" spc="-80" dirty="0">
                <a:latin typeface="Cambria Math"/>
                <a:cs typeface="Cambria Math"/>
              </a:rPr>
              <a:t> . </a:t>
            </a:r>
            <a:r>
              <a:rPr sz="2400" dirty="0">
                <a:latin typeface="Cambria Math"/>
                <a:cs typeface="Cambria Math"/>
              </a:rPr>
              <a:t>𝒏]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144A5E06-9BE9-A844-BC25-89F8A7EF8633}"/>
              </a:ext>
            </a:extLst>
          </p:cNvPr>
          <p:cNvGraphicFramePr>
            <a:graphicFrameLocks noGrp="1"/>
          </p:cNvGraphicFramePr>
          <p:nvPr/>
        </p:nvGraphicFramePr>
        <p:xfrm>
          <a:off x="2737866" y="1092708"/>
          <a:ext cx="5756273" cy="69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938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7">
            <a:extLst>
              <a:ext uri="{FF2B5EF4-FFF2-40B4-BE49-F238E27FC236}">
                <a16:creationId xmlns:a16="http://schemas.microsoft.com/office/drawing/2014/main" id="{99E9BD68-76EE-A24A-8C7A-D7536BE3705C}"/>
              </a:ext>
            </a:extLst>
          </p:cNvPr>
          <p:cNvSpPr txBox="1"/>
          <p:nvPr/>
        </p:nvSpPr>
        <p:spPr>
          <a:xfrm>
            <a:off x="1569719" y="1289050"/>
            <a:ext cx="1055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28805E16-AD1E-2643-870A-2653766CD031}"/>
              </a:ext>
            </a:extLst>
          </p:cNvPr>
          <p:cNvSpPr/>
          <p:nvPr/>
        </p:nvSpPr>
        <p:spPr>
          <a:xfrm flipH="1">
            <a:off x="5637276" y="1111758"/>
            <a:ext cx="0" cy="770890"/>
          </a:xfrm>
          <a:custGeom>
            <a:avLst/>
            <a:gdLst/>
            <a:ahLst/>
            <a:cxnLst/>
            <a:rect l="l" t="t" r="r" b="b"/>
            <a:pathLst>
              <a:path h="770889">
                <a:moveTo>
                  <a:pt x="0" y="0"/>
                </a:moveTo>
                <a:lnTo>
                  <a:pt x="0" y="770381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0E9755EC-AFEE-4244-BD23-113029483A8B}"/>
              </a:ext>
            </a:extLst>
          </p:cNvPr>
          <p:cNvGraphicFramePr>
            <a:graphicFrameLocks noGrp="1"/>
          </p:cNvGraphicFramePr>
          <p:nvPr/>
        </p:nvGraphicFramePr>
        <p:xfrm>
          <a:off x="1654175" y="2197735"/>
          <a:ext cx="2743198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6256A264-745E-754D-AEA4-020BD9695BDA}"/>
              </a:ext>
            </a:extLst>
          </p:cNvPr>
          <p:cNvGraphicFramePr>
            <a:graphicFrameLocks noGrp="1"/>
          </p:cNvGraphicFramePr>
          <p:nvPr/>
        </p:nvGraphicFramePr>
        <p:xfrm>
          <a:off x="6872216" y="2197735"/>
          <a:ext cx="3079750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57150">
                      <a:solidFill>
                        <a:srgbClr val="0000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1">
            <a:extLst>
              <a:ext uri="{FF2B5EF4-FFF2-40B4-BE49-F238E27FC236}">
                <a16:creationId xmlns:a16="http://schemas.microsoft.com/office/drawing/2014/main" id="{0FB3F2FD-2941-D044-A925-9CF61375A875}"/>
              </a:ext>
            </a:extLst>
          </p:cNvPr>
          <p:cNvSpPr txBox="1"/>
          <p:nvPr/>
        </p:nvSpPr>
        <p:spPr>
          <a:xfrm>
            <a:off x="7885176" y="2959608"/>
            <a:ext cx="1156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0000FF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0000FF"/>
                </a:solidFill>
                <a:latin typeface="Cambria Math"/>
                <a:cs typeface="Cambria Math"/>
              </a:rPr>
              <a:t>𝟐</a:t>
            </a:r>
            <a:r>
              <a:rPr sz="2625" spc="569" baseline="-15873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0000FF"/>
                </a:solidFill>
                <a:latin typeface="Cambria Math"/>
                <a:cs typeface="Cambria Math"/>
              </a:rPr>
              <a:t>𝟏𝟐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E135BF9A-D9E3-B04B-859E-12C460B1282E}"/>
              </a:ext>
            </a:extLst>
          </p:cNvPr>
          <p:cNvSpPr/>
          <p:nvPr/>
        </p:nvSpPr>
        <p:spPr>
          <a:xfrm>
            <a:off x="6893814" y="2756916"/>
            <a:ext cx="3079750" cy="252729"/>
          </a:xfrm>
          <a:custGeom>
            <a:avLst/>
            <a:gdLst/>
            <a:ahLst/>
            <a:cxnLst/>
            <a:rect l="l" t="t" r="r" b="b"/>
            <a:pathLst>
              <a:path w="3079750" h="252729">
                <a:moveTo>
                  <a:pt x="3079241" y="0"/>
                </a:moveTo>
                <a:lnTo>
                  <a:pt x="3073892" y="49065"/>
                </a:lnTo>
                <a:lnTo>
                  <a:pt x="3059303" y="89154"/>
                </a:lnTo>
                <a:lnTo>
                  <a:pt x="3037665" y="116193"/>
                </a:lnTo>
                <a:lnTo>
                  <a:pt x="3011169" y="126111"/>
                </a:lnTo>
                <a:lnTo>
                  <a:pt x="1607692" y="126111"/>
                </a:lnTo>
                <a:lnTo>
                  <a:pt x="1581197" y="136028"/>
                </a:lnTo>
                <a:lnTo>
                  <a:pt x="1559559" y="163067"/>
                </a:lnTo>
                <a:lnTo>
                  <a:pt x="1544970" y="203156"/>
                </a:lnTo>
                <a:lnTo>
                  <a:pt x="1539620" y="252222"/>
                </a:lnTo>
                <a:lnTo>
                  <a:pt x="1534271" y="203156"/>
                </a:lnTo>
                <a:lnTo>
                  <a:pt x="1519681" y="163067"/>
                </a:lnTo>
                <a:lnTo>
                  <a:pt x="1498044" y="136028"/>
                </a:lnTo>
                <a:lnTo>
                  <a:pt x="1471549" y="126111"/>
                </a:lnTo>
                <a:lnTo>
                  <a:pt x="68071" y="126111"/>
                </a:lnTo>
                <a:lnTo>
                  <a:pt x="41576" y="116193"/>
                </a:lnTo>
                <a:lnTo>
                  <a:pt x="19938" y="89154"/>
                </a:lnTo>
                <a:lnTo>
                  <a:pt x="5349" y="49065"/>
                </a:lnTo>
                <a:lnTo>
                  <a:pt x="0" y="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3618157A-DE49-1E4F-966D-2A128F5D5C00}"/>
              </a:ext>
            </a:extLst>
          </p:cNvPr>
          <p:cNvSpPr txBox="1"/>
          <p:nvPr/>
        </p:nvSpPr>
        <p:spPr>
          <a:xfrm>
            <a:off x="10041128" y="2286000"/>
            <a:ext cx="194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𝑿[𝒏/𝟐</a:t>
            </a:r>
            <a:r>
              <a:rPr sz="2400" spc="-1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𝟏.</a:t>
            </a:r>
            <a:r>
              <a:rPr sz="2400" spc="-14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414CC7E2-9691-194F-A299-906ABAD00DB1}"/>
              </a:ext>
            </a:extLst>
          </p:cNvPr>
          <p:cNvSpPr txBox="1"/>
          <p:nvPr/>
        </p:nvSpPr>
        <p:spPr>
          <a:xfrm>
            <a:off x="169926" y="2298953"/>
            <a:ext cx="1387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𝒏/𝟐]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15">
            <a:extLst>
              <a:ext uri="{FF2B5EF4-FFF2-40B4-BE49-F238E27FC236}">
                <a16:creationId xmlns:a16="http://schemas.microsoft.com/office/drawing/2014/main" id="{8C04536D-8777-F746-B1C5-F76809C47791}"/>
              </a:ext>
            </a:extLst>
          </p:cNvPr>
          <p:cNvSpPr txBox="1"/>
          <p:nvPr/>
        </p:nvSpPr>
        <p:spPr>
          <a:xfrm>
            <a:off x="2781807" y="2917697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00AF5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00AF50"/>
                </a:solidFill>
                <a:latin typeface="Cambria Math"/>
                <a:cs typeface="Cambria Math"/>
              </a:rPr>
              <a:t>𝟏</a:t>
            </a:r>
            <a:r>
              <a:rPr sz="2625" spc="569" baseline="-15873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00AF50"/>
                </a:solidFill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16">
            <a:extLst>
              <a:ext uri="{FF2B5EF4-FFF2-40B4-BE49-F238E27FC236}">
                <a16:creationId xmlns:a16="http://schemas.microsoft.com/office/drawing/2014/main" id="{BA72CB47-A512-4B45-932E-ABB1008F1FCC}"/>
              </a:ext>
            </a:extLst>
          </p:cNvPr>
          <p:cNvSpPr/>
          <p:nvPr/>
        </p:nvSpPr>
        <p:spPr>
          <a:xfrm>
            <a:off x="2756916" y="2803398"/>
            <a:ext cx="1100455" cy="186690"/>
          </a:xfrm>
          <a:custGeom>
            <a:avLst/>
            <a:gdLst/>
            <a:ahLst/>
            <a:cxnLst/>
            <a:rect l="l" t="t" r="r" b="b"/>
            <a:pathLst>
              <a:path w="1100454" h="186689">
                <a:moveTo>
                  <a:pt x="1100328" y="0"/>
                </a:moveTo>
                <a:lnTo>
                  <a:pt x="1096361" y="36337"/>
                </a:lnTo>
                <a:lnTo>
                  <a:pt x="1085548" y="66008"/>
                </a:lnTo>
                <a:lnTo>
                  <a:pt x="1069520" y="86010"/>
                </a:lnTo>
                <a:lnTo>
                  <a:pt x="1049908" y="93344"/>
                </a:lnTo>
                <a:lnTo>
                  <a:pt x="600582" y="93344"/>
                </a:lnTo>
                <a:lnTo>
                  <a:pt x="580971" y="100679"/>
                </a:lnTo>
                <a:lnTo>
                  <a:pt x="564943" y="120681"/>
                </a:lnTo>
                <a:lnTo>
                  <a:pt x="554130" y="150352"/>
                </a:lnTo>
                <a:lnTo>
                  <a:pt x="550163" y="186689"/>
                </a:lnTo>
                <a:lnTo>
                  <a:pt x="546197" y="150352"/>
                </a:lnTo>
                <a:lnTo>
                  <a:pt x="535384" y="120681"/>
                </a:lnTo>
                <a:lnTo>
                  <a:pt x="519356" y="100679"/>
                </a:lnTo>
                <a:lnTo>
                  <a:pt x="499744" y="93344"/>
                </a:lnTo>
                <a:lnTo>
                  <a:pt x="50418" y="93344"/>
                </a:lnTo>
                <a:lnTo>
                  <a:pt x="30807" y="86010"/>
                </a:lnTo>
                <a:lnTo>
                  <a:pt x="14779" y="66008"/>
                </a:lnTo>
                <a:lnTo>
                  <a:pt x="3966" y="36337"/>
                </a:lnTo>
                <a:lnTo>
                  <a:pt x="0" y="0"/>
                </a:lnTo>
              </a:path>
            </a:pathLst>
          </a:custGeom>
          <a:ln w="38100">
            <a:solidFill>
              <a:srgbClr val="1CB4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C89D07B8-B35A-504D-B6E4-95764488D656}"/>
              </a:ext>
            </a:extLst>
          </p:cNvPr>
          <p:cNvSpPr/>
          <p:nvPr/>
        </p:nvSpPr>
        <p:spPr>
          <a:xfrm>
            <a:off x="3044951" y="1790445"/>
            <a:ext cx="821055" cy="426084"/>
          </a:xfrm>
          <a:custGeom>
            <a:avLst/>
            <a:gdLst/>
            <a:ahLst/>
            <a:cxnLst/>
            <a:rect l="l" t="t" r="r" b="b"/>
            <a:pathLst>
              <a:path w="821053" h="426084">
                <a:moveTo>
                  <a:pt x="76327" y="323723"/>
                </a:moveTo>
                <a:lnTo>
                  <a:pt x="0" y="426084"/>
                </a:lnTo>
                <a:lnTo>
                  <a:pt x="127762" y="425703"/>
                </a:lnTo>
                <a:lnTo>
                  <a:pt x="114951" y="400303"/>
                </a:lnTo>
                <a:lnTo>
                  <a:pt x="93599" y="400303"/>
                </a:lnTo>
                <a:lnTo>
                  <a:pt x="76454" y="366267"/>
                </a:lnTo>
                <a:lnTo>
                  <a:pt x="93462" y="357698"/>
                </a:lnTo>
                <a:lnTo>
                  <a:pt x="76327" y="323723"/>
                </a:lnTo>
                <a:close/>
              </a:path>
              <a:path w="821053" h="426084">
                <a:moveTo>
                  <a:pt x="93462" y="357698"/>
                </a:moveTo>
                <a:lnTo>
                  <a:pt x="76454" y="366267"/>
                </a:lnTo>
                <a:lnTo>
                  <a:pt x="93599" y="400303"/>
                </a:lnTo>
                <a:lnTo>
                  <a:pt x="110624" y="391725"/>
                </a:lnTo>
                <a:lnTo>
                  <a:pt x="93462" y="357698"/>
                </a:lnTo>
                <a:close/>
              </a:path>
              <a:path w="821053" h="426084">
                <a:moveTo>
                  <a:pt x="110624" y="391725"/>
                </a:moveTo>
                <a:lnTo>
                  <a:pt x="93599" y="400303"/>
                </a:lnTo>
                <a:lnTo>
                  <a:pt x="114951" y="400303"/>
                </a:lnTo>
                <a:lnTo>
                  <a:pt x="110624" y="391725"/>
                </a:lnTo>
                <a:close/>
              </a:path>
              <a:path w="821053" h="426084">
                <a:moveTo>
                  <a:pt x="803401" y="0"/>
                </a:moveTo>
                <a:lnTo>
                  <a:pt x="93462" y="357698"/>
                </a:lnTo>
                <a:lnTo>
                  <a:pt x="110624" y="391725"/>
                </a:lnTo>
                <a:lnTo>
                  <a:pt x="820547" y="34036"/>
                </a:lnTo>
                <a:lnTo>
                  <a:pt x="803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8">
            <a:extLst>
              <a:ext uri="{FF2B5EF4-FFF2-40B4-BE49-F238E27FC236}">
                <a16:creationId xmlns:a16="http://schemas.microsoft.com/office/drawing/2014/main" id="{8E7B3868-99AC-3643-87A7-387C07321AF6}"/>
              </a:ext>
            </a:extLst>
          </p:cNvPr>
          <p:cNvSpPr/>
          <p:nvPr/>
        </p:nvSpPr>
        <p:spPr>
          <a:xfrm>
            <a:off x="7338948" y="1789683"/>
            <a:ext cx="1094740" cy="440690"/>
          </a:xfrm>
          <a:custGeom>
            <a:avLst/>
            <a:gdLst/>
            <a:ahLst/>
            <a:cxnLst/>
            <a:rect l="l" t="t" r="r" b="b"/>
            <a:pathLst>
              <a:path w="1094740" h="440689">
                <a:moveTo>
                  <a:pt x="980896" y="404518"/>
                </a:moveTo>
                <a:lnTo>
                  <a:pt x="967485" y="440181"/>
                </a:lnTo>
                <a:lnTo>
                  <a:pt x="1094485" y="426846"/>
                </a:lnTo>
                <a:lnTo>
                  <a:pt x="1080029" y="411225"/>
                </a:lnTo>
                <a:lnTo>
                  <a:pt x="998727" y="411225"/>
                </a:lnTo>
                <a:lnTo>
                  <a:pt x="980896" y="404518"/>
                </a:lnTo>
                <a:close/>
              </a:path>
              <a:path w="1094740" h="440689">
                <a:moveTo>
                  <a:pt x="994305" y="368860"/>
                </a:moveTo>
                <a:lnTo>
                  <a:pt x="980896" y="404518"/>
                </a:lnTo>
                <a:lnTo>
                  <a:pt x="998727" y="411225"/>
                </a:lnTo>
                <a:lnTo>
                  <a:pt x="1012062" y="375538"/>
                </a:lnTo>
                <a:lnTo>
                  <a:pt x="994305" y="368860"/>
                </a:lnTo>
                <a:close/>
              </a:path>
              <a:path w="1094740" h="440689">
                <a:moveTo>
                  <a:pt x="1007745" y="333120"/>
                </a:moveTo>
                <a:lnTo>
                  <a:pt x="994305" y="368860"/>
                </a:lnTo>
                <a:lnTo>
                  <a:pt x="1012062" y="375538"/>
                </a:lnTo>
                <a:lnTo>
                  <a:pt x="998727" y="411225"/>
                </a:lnTo>
                <a:lnTo>
                  <a:pt x="1080029" y="411225"/>
                </a:lnTo>
                <a:lnTo>
                  <a:pt x="1007745" y="333120"/>
                </a:lnTo>
                <a:close/>
              </a:path>
              <a:path w="1094740" h="440689">
                <a:moveTo>
                  <a:pt x="13461" y="0"/>
                </a:moveTo>
                <a:lnTo>
                  <a:pt x="0" y="35560"/>
                </a:lnTo>
                <a:lnTo>
                  <a:pt x="980896" y="404518"/>
                </a:lnTo>
                <a:lnTo>
                  <a:pt x="994305" y="368860"/>
                </a:lnTo>
                <a:lnTo>
                  <a:pt x="13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>
            <a:extLst>
              <a:ext uri="{FF2B5EF4-FFF2-40B4-BE49-F238E27FC236}">
                <a16:creationId xmlns:a16="http://schemas.microsoft.com/office/drawing/2014/main" id="{2CEE8E28-06C3-FC4D-9DDA-C0E4C2D54925}"/>
              </a:ext>
            </a:extLst>
          </p:cNvPr>
          <p:cNvSpPr txBox="1"/>
          <p:nvPr/>
        </p:nvSpPr>
        <p:spPr>
          <a:xfrm>
            <a:off x="5072634" y="187680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0">
            <a:extLst>
              <a:ext uri="{FF2B5EF4-FFF2-40B4-BE49-F238E27FC236}">
                <a16:creationId xmlns:a16="http://schemas.microsoft.com/office/drawing/2014/main" id="{975B6196-DACE-5349-A2EE-C4DE533EE7F4}"/>
              </a:ext>
            </a:extLst>
          </p:cNvPr>
          <p:cNvSpPr txBox="1"/>
          <p:nvPr/>
        </p:nvSpPr>
        <p:spPr>
          <a:xfrm>
            <a:off x="5684011" y="1876806"/>
            <a:ext cx="92201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𝒏/𝟐</a:t>
            </a:r>
            <a:r>
              <a:rPr sz="2000" spc="-2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2884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4D97A49-82F7-354C-9C34-B1D61E47C47F}"/>
              </a:ext>
            </a:extLst>
          </p:cNvPr>
          <p:cNvSpPr/>
          <p:nvPr/>
        </p:nvSpPr>
        <p:spPr>
          <a:xfrm>
            <a:off x="9963531" y="5203356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42"/>
                </a:lnTo>
                <a:lnTo>
                  <a:pt x="31829" y="31838"/>
                </a:lnTo>
                <a:lnTo>
                  <a:pt x="8538" y="66394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72"/>
                </a:lnTo>
                <a:lnTo>
                  <a:pt x="31829" y="620428"/>
                </a:lnTo>
                <a:lnTo>
                  <a:pt x="66383" y="643727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27"/>
                </a:lnTo>
                <a:lnTo>
                  <a:pt x="1864026" y="620428"/>
                </a:lnTo>
                <a:lnTo>
                  <a:pt x="1887317" y="585872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94"/>
                </a:lnTo>
                <a:lnTo>
                  <a:pt x="1864026" y="31838"/>
                </a:lnTo>
                <a:lnTo>
                  <a:pt x="1829472" y="8542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23ACC78-E823-EF46-B10D-10D6F8521133}"/>
              </a:ext>
            </a:extLst>
          </p:cNvPr>
          <p:cNvSpPr/>
          <p:nvPr/>
        </p:nvSpPr>
        <p:spPr>
          <a:xfrm>
            <a:off x="9963531" y="4117094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7A33469-EBF4-724C-ADA4-324BFB6A52E1}"/>
              </a:ext>
            </a:extLst>
          </p:cNvPr>
          <p:cNvSpPr/>
          <p:nvPr/>
        </p:nvSpPr>
        <p:spPr>
          <a:xfrm>
            <a:off x="9963531" y="3213729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60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2"/>
                </a:lnTo>
                <a:lnTo>
                  <a:pt x="1787144" y="652272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60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5046BD9-D00E-784F-8CE7-27A3DAC07CD8}"/>
              </a:ext>
            </a:extLst>
          </p:cNvPr>
          <p:cNvSpPr txBox="1"/>
          <p:nvPr/>
        </p:nvSpPr>
        <p:spPr>
          <a:xfrm>
            <a:off x="10136631" y="3281841"/>
            <a:ext cx="1549400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原问题</a:t>
            </a:r>
            <a:endParaRPr sz="2400" dirty="0">
              <a:latin typeface="PMingLiU"/>
              <a:cs typeface="PMingLiU"/>
            </a:endParaRPr>
          </a:p>
          <a:p>
            <a:pPr marL="12700" marR="5080">
              <a:lnSpc>
                <a:spcPct val="308700"/>
              </a:lnSpc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lang="zh-CN" altLang="en-US" sz="2400" spc="-20" dirty="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合并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问题解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078CA9F-F3D8-E346-AD09-FE4EEBC0C032}"/>
              </a:ext>
            </a:extLst>
          </p:cNvPr>
          <p:cNvSpPr/>
          <p:nvPr/>
        </p:nvSpPr>
        <p:spPr>
          <a:xfrm>
            <a:off x="8094599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4F8F641-BD01-7F45-99CF-A2AAF9FE2CEB}"/>
              </a:ext>
            </a:extLst>
          </p:cNvPr>
          <p:cNvSpPr/>
          <p:nvPr/>
        </p:nvSpPr>
        <p:spPr>
          <a:xfrm>
            <a:off x="6254496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FCE76C59-D82D-F04A-B98D-71D45660C606}"/>
              </a:ext>
            </a:extLst>
          </p:cNvPr>
          <p:cNvSpPr txBox="1"/>
          <p:nvPr/>
        </p:nvSpPr>
        <p:spPr>
          <a:xfrm>
            <a:off x="662940" y="3306876"/>
            <a:ext cx="7463155" cy="14846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将数组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分为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𝒏/𝟐]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𝒏/𝟐</a:t>
            </a:r>
            <a:r>
              <a:rPr sz="2800" spc="5" dirty="0">
                <a:latin typeface="Cambria Math"/>
                <a:cs typeface="Cambria Math"/>
              </a:rPr>
              <a:t> +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75" dirty="0">
                <a:latin typeface="Cambria Math"/>
                <a:cs typeface="Cambria Math"/>
              </a:rPr>
              <a:t>. . </a:t>
            </a:r>
            <a:r>
              <a:rPr sz="2800" spc="-50" dirty="0">
                <a:latin typeface="Cambria Math"/>
                <a:cs typeface="Cambria Math"/>
              </a:rPr>
              <a:t>𝒏</a:t>
            </a:r>
            <a:endParaRPr sz="2800" dirty="0">
              <a:latin typeface="Cambria Math"/>
              <a:cs typeface="Cambria Math"/>
            </a:endParaRPr>
          </a:p>
          <a:p>
            <a:pPr marL="381000" indent="-342900">
              <a:lnSpc>
                <a:spcPct val="100000"/>
              </a:lnSpc>
              <a:spcBef>
                <a:spcPts val="6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递归求解子问题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solidFill>
                  <a:srgbClr val="1CB45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1CB450"/>
                </a:solidFill>
                <a:latin typeface="Cambria Math"/>
                <a:cs typeface="Cambria Math"/>
              </a:rPr>
              <a:t>𝟏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spc="-10" dirty="0">
                <a:latin typeface="Cambria Math"/>
                <a:cs typeface="Cambria Math"/>
              </a:rPr>
              <a:t>𝑿[𝟏</a:t>
            </a:r>
            <a:r>
              <a:rPr sz="2400" spc="-55" dirty="0">
                <a:latin typeface="Cambria Math"/>
                <a:cs typeface="Cambria Math"/>
              </a:rPr>
              <a:t>. . </a:t>
            </a:r>
            <a:r>
              <a:rPr sz="2400" dirty="0">
                <a:latin typeface="Cambria Math"/>
                <a:cs typeface="Cambria Math"/>
              </a:rPr>
              <a:t>𝒏/𝟐</a:t>
            </a:r>
            <a:r>
              <a:rPr sz="2400" spc="20" dirty="0">
                <a:latin typeface="Cambria Math"/>
                <a:cs typeface="Cambria Math"/>
              </a:rPr>
              <a:t>] 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92E377DF-8486-774A-A9FE-4ECD1BC524C6}"/>
              </a:ext>
            </a:extLst>
          </p:cNvPr>
          <p:cNvSpPr/>
          <p:nvPr/>
        </p:nvSpPr>
        <p:spPr>
          <a:xfrm>
            <a:off x="6369177" y="6315824"/>
            <a:ext cx="1390650" cy="283845"/>
          </a:xfrm>
          <a:custGeom>
            <a:avLst/>
            <a:gdLst/>
            <a:ahLst/>
            <a:cxnLst/>
            <a:rect l="l" t="t" r="r" b="b"/>
            <a:pathLst>
              <a:path w="1390650" h="283845">
                <a:moveTo>
                  <a:pt x="1299464" y="0"/>
                </a:moveTo>
                <a:lnTo>
                  <a:pt x="1295527" y="0"/>
                </a:lnTo>
                <a:lnTo>
                  <a:pt x="1295527" y="11303"/>
                </a:lnTo>
                <a:lnTo>
                  <a:pt x="1297813" y="11303"/>
                </a:lnTo>
                <a:lnTo>
                  <a:pt x="1308002" y="12005"/>
                </a:lnTo>
                <a:lnTo>
                  <a:pt x="1340738" y="37447"/>
                </a:lnTo>
                <a:lnTo>
                  <a:pt x="1343787" y="59677"/>
                </a:lnTo>
                <a:lnTo>
                  <a:pt x="1343598" y="65194"/>
                </a:lnTo>
                <a:lnTo>
                  <a:pt x="1343040" y="71324"/>
                </a:lnTo>
                <a:lnTo>
                  <a:pt x="1342126" y="78067"/>
                </a:lnTo>
                <a:lnTo>
                  <a:pt x="1340866" y="85420"/>
                </a:lnTo>
                <a:lnTo>
                  <a:pt x="1338833" y="95643"/>
                </a:lnTo>
                <a:lnTo>
                  <a:pt x="1337818" y="102933"/>
                </a:lnTo>
                <a:lnTo>
                  <a:pt x="1337818" y="115735"/>
                </a:lnTo>
                <a:lnTo>
                  <a:pt x="1340357" y="122656"/>
                </a:lnTo>
                <a:lnTo>
                  <a:pt x="1350264" y="133477"/>
                </a:lnTo>
                <a:lnTo>
                  <a:pt x="1356105" y="137464"/>
                </a:lnTo>
                <a:lnTo>
                  <a:pt x="1362964" y="140042"/>
                </a:lnTo>
                <a:lnTo>
                  <a:pt x="1362964" y="142722"/>
                </a:lnTo>
                <a:lnTo>
                  <a:pt x="1356105" y="145300"/>
                </a:lnTo>
                <a:lnTo>
                  <a:pt x="1350264" y="149301"/>
                </a:lnTo>
                <a:lnTo>
                  <a:pt x="1340357" y="160108"/>
                </a:lnTo>
                <a:lnTo>
                  <a:pt x="1337818" y="167030"/>
                </a:lnTo>
                <a:lnTo>
                  <a:pt x="1337818" y="179832"/>
                </a:lnTo>
                <a:lnTo>
                  <a:pt x="1338833" y="187121"/>
                </a:lnTo>
                <a:lnTo>
                  <a:pt x="1340866" y="197345"/>
                </a:lnTo>
                <a:lnTo>
                  <a:pt x="1342126" y="204703"/>
                </a:lnTo>
                <a:lnTo>
                  <a:pt x="1343040" y="211445"/>
                </a:lnTo>
                <a:lnTo>
                  <a:pt x="1343598" y="217572"/>
                </a:lnTo>
                <a:lnTo>
                  <a:pt x="1343787" y="223088"/>
                </a:lnTo>
                <a:lnTo>
                  <a:pt x="1343025" y="235575"/>
                </a:lnTo>
                <a:lnTo>
                  <a:pt x="1317037" y="269694"/>
                </a:lnTo>
                <a:lnTo>
                  <a:pt x="1297813" y="272503"/>
                </a:lnTo>
                <a:lnTo>
                  <a:pt x="1295527" y="272503"/>
                </a:lnTo>
                <a:lnTo>
                  <a:pt x="1295527" y="283806"/>
                </a:lnTo>
                <a:lnTo>
                  <a:pt x="1299464" y="283806"/>
                </a:lnTo>
                <a:lnTo>
                  <a:pt x="1315819" y="282585"/>
                </a:lnTo>
                <a:lnTo>
                  <a:pt x="1351788" y="267817"/>
                </a:lnTo>
                <a:lnTo>
                  <a:pt x="1369059" y="220408"/>
                </a:lnTo>
                <a:lnTo>
                  <a:pt x="1368845" y="214021"/>
                </a:lnTo>
                <a:lnTo>
                  <a:pt x="1368202" y="207205"/>
                </a:lnTo>
                <a:lnTo>
                  <a:pt x="1367131" y="199957"/>
                </a:lnTo>
                <a:lnTo>
                  <a:pt x="1365630" y="192278"/>
                </a:lnTo>
                <a:lnTo>
                  <a:pt x="1363218" y="181762"/>
                </a:lnTo>
                <a:lnTo>
                  <a:pt x="1362075" y="174726"/>
                </a:lnTo>
                <a:lnTo>
                  <a:pt x="1362075" y="164299"/>
                </a:lnTo>
                <a:lnTo>
                  <a:pt x="1364488" y="158724"/>
                </a:lnTo>
                <a:lnTo>
                  <a:pt x="1373886" y="150088"/>
                </a:lnTo>
                <a:lnTo>
                  <a:pt x="1380998" y="147789"/>
                </a:lnTo>
                <a:lnTo>
                  <a:pt x="1390523" y="147485"/>
                </a:lnTo>
                <a:lnTo>
                  <a:pt x="1390523" y="135280"/>
                </a:lnTo>
                <a:lnTo>
                  <a:pt x="1380998" y="134988"/>
                </a:lnTo>
                <a:lnTo>
                  <a:pt x="1373886" y="132676"/>
                </a:lnTo>
                <a:lnTo>
                  <a:pt x="1364488" y="124040"/>
                </a:lnTo>
                <a:lnTo>
                  <a:pt x="1362075" y="118465"/>
                </a:lnTo>
                <a:lnTo>
                  <a:pt x="1362075" y="108051"/>
                </a:lnTo>
                <a:lnTo>
                  <a:pt x="1363218" y="101003"/>
                </a:lnTo>
                <a:lnTo>
                  <a:pt x="1365630" y="90487"/>
                </a:lnTo>
                <a:lnTo>
                  <a:pt x="1367131" y="82813"/>
                </a:lnTo>
                <a:lnTo>
                  <a:pt x="1368202" y="75565"/>
                </a:lnTo>
                <a:lnTo>
                  <a:pt x="1368845" y="68745"/>
                </a:lnTo>
                <a:lnTo>
                  <a:pt x="1369059" y="62357"/>
                </a:lnTo>
                <a:lnTo>
                  <a:pt x="1367986" y="47850"/>
                </a:lnTo>
                <a:lnTo>
                  <a:pt x="1342005" y="9222"/>
                </a:lnTo>
                <a:lnTo>
                  <a:pt x="1315819" y="1221"/>
                </a:lnTo>
                <a:lnTo>
                  <a:pt x="1299464" y="0"/>
                </a:lnTo>
                <a:close/>
              </a:path>
              <a:path w="1390650" h="283845">
                <a:moveTo>
                  <a:pt x="94996" y="0"/>
                </a:moveTo>
                <a:lnTo>
                  <a:pt x="91186" y="0"/>
                </a:lnTo>
                <a:lnTo>
                  <a:pt x="74777" y="1221"/>
                </a:lnTo>
                <a:lnTo>
                  <a:pt x="38862" y="16002"/>
                </a:lnTo>
                <a:lnTo>
                  <a:pt x="21665" y="59524"/>
                </a:lnTo>
                <a:lnTo>
                  <a:pt x="21558" y="65042"/>
                </a:lnTo>
                <a:lnTo>
                  <a:pt x="21679" y="68598"/>
                </a:lnTo>
                <a:lnTo>
                  <a:pt x="22336" y="75417"/>
                </a:lnTo>
                <a:lnTo>
                  <a:pt x="23445" y="82662"/>
                </a:lnTo>
                <a:lnTo>
                  <a:pt x="25019" y="90335"/>
                </a:lnTo>
                <a:lnTo>
                  <a:pt x="27305" y="100850"/>
                </a:lnTo>
                <a:lnTo>
                  <a:pt x="28448" y="107899"/>
                </a:lnTo>
                <a:lnTo>
                  <a:pt x="28448" y="118313"/>
                </a:lnTo>
                <a:lnTo>
                  <a:pt x="26162" y="123901"/>
                </a:lnTo>
                <a:lnTo>
                  <a:pt x="21336" y="128219"/>
                </a:lnTo>
                <a:lnTo>
                  <a:pt x="16637" y="132524"/>
                </a:lnTo>
                <a:lnTo>
                  <a:pt x="9525" y="134835"/>
                </a:lnTo>
                <a:lnTo>
                  <a:pt x="0" y="135128"/>
                </a:lnTo>
                <a:lnTo>
                  <a:pt x="0" y="147332"/>
                </a:lnTo>
                <a:lnTo>
                  <a:pt x="9525" y="147637"/>
                </a:lnTo>
                <a:lnTo>
                  <a:pt x="16637" y="149948"/>
                </a:lnTo>
                <a:lnTo>
                  <a:pt x="21336" y="154254"/>
                </a:lnTo>
                <a:lnTo>
                  <a:pt x="26162" y="158572"/>
                </a:lnTo>
                <a:lnTo>
                  <a:pt x="28448" y="164160"/>
                </a:lnTo>
                <a:lnTo>
                  <a:pt x="28448" y="174574"/>
                </a:lnTo>
                <a:lnTo>
                  <a:pt x="27305" y="181622"/>
                </a:lnTo>
                <a:lnTo>
                  <a:pt x="25019" y="192138"/>
                </a:lnTo>
                <a:lnTo>
                  <a:pt x="23445" y="199810"/>
                </a:lnTo>
                <a:lnTo>
                  <a:pt x="22336" y="207056"/>
                </a:lnTo>
                <a:lnTo>
                  <a:pt x="21679" y="213874"/>
                </a:lnTo>
                <a:lnTo>
                  <a:pt x="21462" y="220268"/>
                </a:lnTo>
                <a:lnTo>
                  <a:pt x="22556" y="235292"/>
                </a:lnTo>
                <a:lnTo>
                  <a:pt x="48627" y="274589"/>
                </a:lnTo>
                <a:lnTo>
                  <a:pt x="91186" y="283806"/>
                </a:lnTo>
                <a:lnTo>
                  <a:pt x="94996" y="283806"/>
                </a:lnTo>
                <a:lnTo>
                  <a:pt x="94996" y="272503"/>
                </a:lnTo>
                <a:lnTo>
                  <a:pt x="92710" y="272503"/>
                </a:lnTo>
                <a:lnTo>
                  <a:pt x="82520" y="271801"/>
                </a:lnTo>
                <a:lnTo>
                  <a:pt x="49784" y="246064"/>
                </a:lnTo>
                <a:lnTo>
                  <a:pt x="46736" y="222948"/>
                </a:lnTo>
                <a:lnTo>
                  <a:pt x="46926" y="217431"/>
                </a:lnTo>
                <a:lnTo>
                  <a:pt x="47498" y="211299"/>
                </a:lnTo>
                <a:lnTo>
                  <a:pt x="48450" y="204553"/>
                </a:lnTo>
                <a:lnTo>
                  <a:pt x="49784" y="197192"/>
                </a:lnTo>
                <a:lnTo>
                  <a:pt x="51688" y="186969"/>
                </a:lnTo>
                <a:lnTo>
                  <a:pt x="52705" y="179679"/>
                </a:lnTo>
                <a:lnTo>
                  <a:pt x="52705" y="166878"/>
                </a:lnTo>
                <a:lnTo>
                  <a:pt x="50292" y="159969"/>
                </a:lnTo>
                <a:lnTo>
                  <a:pt x="40386" y="149148"/>
                </a:lnTo>
                <a:lnTo>
                  <a:pt x="34417" y="145161"/>
                </a:lnTo>
                <a:lnTo>
                  <a:pt x="27559" y="142570"/>
                </a:lnTo>
                <a:lnTo>
                  <a:pt x="27559" y="139890"/>
                </a:lnTo>
                <a:lnTo>
                  <a:pt x="34417" y="137312"/>
                </a:lnTo>
                <a:lnTo>
                  <a:pt x="40386" y="133324"/>
                </a:lnTo>
                <a:lnTo>
                  <a:pt x="50292" y="122504"/>
                </a:lnTo>
                <a:lnTo>
                  <a:pt x="52705" y="115582"/>
                </a:lnTo>
                <a:lnTo>
                  <a:pt x="52705" y="102793"/>
                </a:lnTo>
                <a:lnTo>
                  <a:pt x="51688" y="95491"/>
                </a:lnTo>
                <a:lnTo>
                  <a:pt x="49784" y="85280"/>
                </a:lnTo>
                <a:lnTo>
                  <a:pt x="48450" y="77920"/>
                </a:lnTo>
                <a:lnTo>
                  <a:pt x="47498" y="71173"/>
                </a:lnTo>
                <a:lnTo>
                  <a:pt x="46926" y="65042"/>
                </a:lnTo>
                <a:lnTo>
                  <a:pt x="46736" y="59524"/>
                </a:lnTo>
                <a:lnTo>
                  <a:pt x="47497" y="47561"/>
                </a:lnTo>
                <a:lnTo>
                  <a:pt x="73485" y="14112"/>
                </a:lnTo>
                <a:lnTo>
                  <a:pt x="92710" y="11303"/>
                </a:lnTo>
                <a:lnTo>
                  <a:pt x="94996" y="11303"/>
                </a:lnTo>
                <a:lnTo>
                  <a:pt x="949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A6F907DB-E6A3-5844-98F2-B9259CFC5405}"/>
              </a:ext>
            </a:extLst>
          </p:cNvPr>
          <p:cNvSpPr txBox="1"/>
          <p:nvPr/>
        </p:nvSpPr>
        <p:spPr>
          <a:xfrm>
            <a:off x="662940" y="4770689"/>
            <a:ext cx="7018655" cy="184848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729615" indent="-347980">
              <a:lnSpc>
                <a:spcPct val="100000"/>
              </a:lnSpc>
              <a:spcBef>
                <a:spcPts val="63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solidFill>
                  <a:srgbClr val="0000FF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0000FF"/>
                </a:solidFill>
                <a:latin typeface="Cambria Math"/>
                <a:cs typeface="Cambria Math"/>
              </a:rPr>
              <a:t>𝟐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dirty="0">
                <a:latin typeface="Cambria Math"/>
                <a:cs typeface="Cambria Math"/>
              </a:rPr>
              <a:t>𝑿[𝒏/𝟐</a:t>
            </a:r>
            <a:r>
              <a:rPr sz="2400" spc="10" dirty="0">
                <a:latin typeface="Cambria Math"/>
                <a:cs typeface="Cambria Math"/>
              </a:rPr>
              <a:t> + </a:t>
            </a:r>
            <a:r>
              <a:rPr sz="2400" dirty="0">
                <a:latin typeface="Cambria Math"/>
                <a:cs typeface="Cambria Math"/>
              </a:rPr>
              <a:t>𝟏.</a:t>
            </a:r>
            <a:r>
              <a:rPr sz="2400" spc="-80" dirty="0">
                <a:latin typeface="Cambria Math"/>
                <a:cs typeface="Cambria Math"/>
              </a:rPr>
              <a:t> . </a:t>
            </a:r>
            <a:r>
              <a:rPr sz="2400" dirty="0">
                <a:latin typeface="Cambria Math"/>
                <a:cs typeface="Cambria Math"/>
              </a:rPr>
              <a:t>𝒏]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81000" indent="-342900">
              <a:lnSpc>
                <a:spcPct val="100000"/>
              </a:lnSpc>
              <a:spcBef>
                <a:spcPts val="6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合并子问题</a:t>
            </a:r>
            <a:r>
              <a:rPr sz="2800" spc="-10" dirty="0" err="1">
                <a:latin typeface="PMingLiU"/>
                <a:cs typeface="PMingLiU"/>
              </a:rPr>
              <a:t>，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得到</a:t>
            </a:r>
            <a:r>
              <a:rPr sz="2800" spc="-20" dirty="0">
                <a:latin typeface="Cambria Math"/>
                <a:cs typeface="Cambria Math"/>
              </a:rPr>
              <a:t>𝑺</a:t>
            </a:r>
            <a:r>
              <a:rPr sz="3075" spc="-30" baseline="-14905" dirty="0">
                <a:latin typeface="Cambria Math"/>
                <a:cs typeface="Cambria Math"/>
              </a:rPr>
              <a:t>𝒎𝒂𝒙</a:t>
            </a:r>
            <a:endParaRPr sz="3075" baseline="-14905" dirty="0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跨中点的最大子数组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的最大子数组之和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𝒎𝒂𝒙</a:t>
            </a:r>
            <a:r>
              <a:rPr sz="2625" spc="637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𝒎𝒂𝒙</a:t>
            </a:r>
            <a:r>
              <a:rPr sz="2400" spc="4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400" spc="-60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400" spc="-60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spc="-37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625" baseline="-15873" dirty="0">
              <a:latin typeface="Cambria Math"/>
              <a:cs typeface="Cambria Math"/>
            </a:endParaRP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BDFCE2EF-40C9-1548-8910-FA5B92C5281D}"/>
              </a:ext>
            </a:extLst>
          </p:cNvPr>
          <p:cNvGraphicFramePr>
            <a:graphicFrameLocks noGrp="1"/>
          </p:cNvGraphicFramePr>
          <p:nvPr/>
        </p:nvGraphicFramePr>
        <p:xfrm>
          <a:off x="2737866" y="1092708"/>
          <a:ext cx="5756273" cy="69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938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8">
            <a:extLst>
              <a:ext uri="{FF2B5EF4-FFF2-40B4-BE49-F238E27FC236}">
                <a16:creationId xmlns:a16="http://schemas.microsoft.com/office/drawing/2014/main" id="{52DA9211-6B36-114D-8FB3-D80F81C96293}"/>
              </a:ext>
            </a:extLst>
          </p:cNvPr>
          <p:cNvSpPr txBox="1"/>
          <p:nvPr/>
        </p:nvSpPr>
        <p:spPr>
          <a:xfrm>
            <a:off x="1569719" y="1289050"/>
            <a:ext cx="1055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ED8FC41-750E-9C40-90E6-D3422400FB1E}"/>
              </a:ext>
            </a:extLst>
          </p:cNvPr>
          <p:cNvSpPr/>
          <p:nvPr/>
        </p:nvSpPr>
        <p:spPr>
          <a:xfrm flipH="1">
            <a:off x="5637276" y="1111758"/>
            <a:ext cx="0" cy="770890"/>
          </a:xfrm>
          <a:custGeom>
            <a:avLst/>
            <a:gdLst/>
            <a:ahLst/>
            <a:cxnLst/>
            <a:rect l="l" t="t" r="r" b="b"/>
            <a:pathLst>
              <a:path h="770889">
                <a:moveTo>
                  <a:pt x="0" y="0"/>
                </a:moveTo>
                <a:lnTo>
                  <a:pt x="0" y="770381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1EB3F7BC-6CB4-B64C-8CF8-B6E5ACE5F4FC}"/>
              </a:ext>
            </a:extLst>
          </p:cNvPr>
          <p:cNvGraphicFramePr>
            <a:graphicFrameLocks noGrp="1"/>
          </p:cNvGraphicFramePr>
          <p:nvPr/>
        </p:nvGraphicFramePr>
        <p:xfrm>
          <a:off x="1654175" y="2197735"/>
          <a:ext cx="2743198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3E237F1C-466F-FA41-B903-7823AC6B544C}"/>
              </a:ext>
            </a:extLst>
          </p:cNvPr>
          <p:cNvGraphicFramePr>
            <a:graphicFrameLocks noGrp="1"/>
          </p:cNvGraphicFramePr>
          <p:nvPr/>
        </p:nvGraphicFramePr>
        <p:xfrm>
          <a:off x="6872216" y="2197735"/>
          <a:ext cx="3079750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57150">
                      <a:solidFill>
                        <a:srgbClr val="0000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476F569A-6C5D-2C44-8034-936F00588A92}"/>
              </a:ext>
            </a:extLst>
          </p:cNvPr>
          <p:cNvSpPr/>
          <p:nvPr/>
        </p:nvSpPr>
        <p:spPr>
          <a:xfrm>
            <a:off x="6893814" y="2756916"/>
            <a:ext cx="3079750" cy="252729"/>
          </a:xfrm>
          <a:custGeom>
            <a:avLst/>
            <a:gdLst/>
            <a:ahLst/>
            <a:cxnLst/>
            <a:rect l="l" t="t" r="r" b="b"/>
            <a:pathLst>
              <a:path w="3079750" h="252729">
                <a:moveTo>
                  <a:pt x="3079241" y="0"/>
                </a:moveTo>
                <a:lnTo>
                  <a:pt x="3073892" y="49065"/>
                </a:lnTo>
                <a:lnTo>
                  <a:pt x="3059303" y="89154"/>
                </a:lnTo>
                <a:lnTo>
                  <a:pt x="3037665" y="116193"/>
                </a:lnTo>
                <a:lnTo>
                  <a:pt x="3011169" y="126111"/>
                </a:lnTo>
                <a:lnTo>
                  <a:pt x="1607692" y="126111"/>
                </a:lnTo>
                <a:lnTo>
                  <a:pt x="1581197" y="136028"/>
                </a:lnTo>
                <a:lnTo>
                  <a:pt x="1559559" y="163067"/>
                </a:lnTo>
                <a:lnTo>
                  <a:pt x="1544970" y="203156"/>
                </a:lnTo>
                <a:lnTo>
                  <a:pt x="1539620" y="252222"/>
                </a:lnTo>
                <a:lnTo>
                  <a:pt x="1534271" y="203156"/>
                </a:lnTo>
                <a:lnTo>
                  <a:pt x="1519681" y="163067"/>
                </a:lnTo>
                <a:lnTo>
                  <a:pt x="1498044" y="136028"/>
                </a:lnTo>
                <a:lnTo>
                  <a:pt x="1471549" y="126111"/>
                </a:lnTo>
                <a:lnTo>
                  <a:pt x="68071" y="126111"/>
                </a:lnTo>
                <a:lnTo>
                  <a:pt x="41576" y="116193"/>
                </a:lnTo>
                <a:lnTo>
                  <a:pt x="19938" y="89154"/>
                </a:lnTo>
                <a:lnTo>
                  <a:pt x="5349" y="49065"/>
                </a:lnTo>
                <a:lnTo>
                  <a:pt x="0" y="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820972E8-5739-C74F-90B4-1DEE0779602F}"/>
              </a:ext>
            </a:extLst>
          </p:cNvPr>
          <p:cNvSpPr/>
          <p:nvPr/>
        </p:nvSpPr>
        <p:spPr>
          <a:xfrm>
            <a:off x="2756916" y="2803398"/>
            <a:ext cx="1100455" cy="186690"/>
          </a:xfrm>
          <a:custGeom>
            <a:avLst/>
            <a:gdLst/>
            <a:ahLst/>
            <a:cxnLst/>
            <a:rect l="l" t="t" r="r" b="b"/>
            <a:pathLst>
              <a:path w="1100454" h="186689">
                <a:moveTo>
                  <a:pt x="1100328" y="0"/>
                </a:moveTo>
                <a:lnTo>
                  <a:pt x="1096361" y="36337"/>
                </a:lnTo>
                <a:lnTo>
                  <a:pt x="1085548" y="66008"/>
                </a:lnTo>
                <a:lnTo>
                  <a:pt x="1069520" y="86010"/>
                </a:lnTo>
                <a:lnTo>
                  <a:pt x="1049908" y="93344"/>
                </a:lnTo>
                <a:lnTo>
                  <a:pt x="600582" y="93344"/>
                </a:lnTo>
                <a:lnTo>
                  <a:pt x="580971" y="100679"/>
                </a:lnTo>
                <a:lnTo>
                  <a:pt x="564943" y="120681"/>
                </a:lnTo>
                <a:lnTo>
                  <a:pt x="554130" y="150352"/>
                </a:lnTo>
                <a:lnTo>
                  <a:pt x="550163" y="186689"/>
                </a:lnTo>
                <a:lnTo>
                  <a:pt x="546197" y="150352"/>
                </a:lnTo>
                <a:lnTo>
                  <a:pt x="535384" y="120681"/>
                </a:lnTo>
                <a:lnTo>
                  <a:pt x="519356" y="100679"/>
                </a:lnTo>
                <a:lnTo>
                  <a:pt x="499744" y="93344"/>
                </a:lnTo>
                <a:lnTo>
                  <a:pt x="50418" y="93344"/>
                </a:lnTo>
                <a:lnTo>
                  <a:pt x="30807" y="86010"/>
                </a:lnTo>
                <a:lnTo>
                  <a:pt x="14779" y="66008"/>
                </a:lnTo>
                <a:lnTo>
                  <a:pt x="3966" y="36337"/>
                </a:lnTo>
                <a:lnTo>
                  <a:pt x="0" y="0"/>
                </a:lnTo>
              </a:path>
            </a:pathLst>
          </a:custGeom>
          <a:ln w="38100">
            <a:solidFill>
              <a:srgbClr val="1CB4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D79598D5-549E-B24F-BD09-1AB731A158DF}"/>
              </a:ext>
            </a:extLst>
          </p:cNvPr>
          <p:cNvSpPr/>
          <p:nvPr/>
        </p:nvSpPr>
        <p:spPr>
          <a:xfrm>
            <a:off x="3044951" y="1790445"/>
            <a:ext cx="821055" cy="426084"/>
          </a:xfrm>
          <a:custGeom>
            <a:avLst/>
            <a:gdLst/>
            <a:ahLst/>
            <a:cxnLst/>
            <a:rect l="l" t="t" r="r" b="b"/>
            <a:pathLst>
              <a:path w="821053" h="426084">
                <a:moveTo>
                  <a:pt x="76327" y="323723"/>
                </a:moveTo>
                <a:lnTo>
                  <a:pt x="0" y="426084"/>
                </a:lnTo>
                <a:lnTo>
                  <a:pt x="127762" y="425703"/>
                </a:lnTo>
                <a:lnTo>
                  <a:pt x="114951" y="400303"/>
                </a:lnTo>
                <a:lnTo>
                  <a:pt x="93599" y="400303"/>
                </a:lnTo>
                <a:lnTo>
                  <a:pt x="76454" y="366267"/>
                </a:lnTo>
                <a:lnTo>
                  <a:pt x="93462" y="357698"/>
                </a:lnTo>
                <a:lnTo>
                  <a:pt x="76327" y="323723"/>
                </a:lnTo>
                <a:close/>
              </a:path>
              <a:path w="821053" h="426084">
                <a:moveTo>
                  <a:pt x="93462" y="357698"/>
                </a:moveTo>
                <a:lnTo>
                  <a:pt x="76454" y="366267"/>
                </a:lnTo>
                <a:lnTo>
                  <a:pt x="93599" y="400303"/>
                </a:lnTo>
                <a:lnTo>
                  <a:pt x="110624" y="391725"/>
                </a:lnTo>
                <a:lnTo>
                  <a:pt x="93462" y="357698"/>
                </a:lnTo>
                <a:close/>
              </a:path>
              <a:path w="821053" h="426084">
                <a:moveTo>
                  <a:pt x="110624" y="391725"/>
                </a:moveTo>
                <a:lnTo>
                  <a:pt x="93599" y="400303"/>
                </a:lnTo>
                <a:lnTo>
                  <a:pt x="114951" y="400303"/>
                </a:lnTo>
                <a:lnTo>
                  <a:pt x="110624" y="391725"/>
                </a:lnTo>
                <a:close/>
              </a:path>
              <a:path w="821053" h="426084">
                <a:moveTo>
                  <a:pt x="803401" y="0"/>
                </a:moveTo>
                <a:lnTo>
                  <a:pt x="93462" y="357698"/>
                </a:lnTo>
                <a:lnTo>
                  <a:pt x="110624" y="391725"/>
                </a:lnTo>
                <a:lnTo>
                  <a:pt x="820547" y="34036"/>
                </a:lnTo>
                <a:lnTo>
                  <a:pt x="803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>
            <a:extLst>
              <a:ext uri="{FF2B5EF4-FFF2-40B4-BE49-F238E27FC236}">
                <a16:creationId xmlns:a16="http://schemas.microsoft.com/office/drawing/2014/main" id="{8DE6CE0C-16C1-AB4D-A5B0-D11120579E26}"/>
              </a:ext>
            </a:extLst>
          </p:cNvPr>
          <p:cNvSpPr/>
          <p:nvPr/>
        </p:nvSpPr>
        <p:spPr>
          <a:xfrm>
            <a:off x="7338948" y="1789683"/>
            <a:ext cx="1094740" cy="440690"/>
          </a:xfrm>
          <a:custGeom>
            <a:avLst/>
            <a:gdLst/>
            <a:ahLst/>
            <a:cxnLst/>
            <a:rect l="l" t="t" r="r" b="b"/>
            <a:pathLst>
              <a:path w="1094740" h="440689">
                <a:moveTo>
                  <a:pt x="980896" y="404518"/>
                </a:moveTo>
                <a:lnTo>
                  <a:pt x="967485" y="440181"/>
                </a:lnTo>
                <a:lnTo>
                  <a:pt x="1094485" y="426846"/>
                </a:lnTo>
                <a:lnTo>
                  <a:pt x="1080029" y="411225"/>
                </a:lnTo>
                <a:lnTo>
                  <a:pt x="998727" y="411225"/>
                </a:lnTo>
                <a:lnTo>
                  <a:pt x="980896" y="404518"/>
                </a:lnTo>
                <a:close/>
              </a:path>
              <a:path w="1094740" h="440689">
                <a:moveTo>
                  <a:pt x="994305" y="368860"/>
                </a:moveTo>
                <a:lnTo>
                  <a:pt x="980896" y="404518"/>
                </a:lnTo>
                <a:lnTo>
                  <a:pt x="998727" y="411225"/>
                </a:lnTo>
                <a:lnTo>
                  <a:pt x="1012062" y="375538"/>
                </a:lnTo>
                <a:lnTo>
                  <a:pt x="994305" y="368860"/>
                </a:lnTo>
                <a:close/>
              </a:path>
              <a:path w="1094740" h="440689">
                <a:moveTo>
                  <a:pt x="1007745" y="333120"/>
                </a:moveTo>
                <a:lnTo>
                  <a:pt x="994305" y="368860"/>
                </a:lnTo>
                <a:lnTo>
                  <a:pt x="1012062" y="375538"/>
                </a:lnTo>
                <a:lnTo>
                  <a:pt x="998727" y="411225"/>
                </a:lnTo>
                <a:lnTo>
                  <a:pt x="1080029" y="411225"/>
                </a:lnTo>
                <a:lnTo>
                  <a:pt x="1007745" y="333120"/>
                </a:lnTo>
                <a:close/>
              </a:path>
              <a:path w="1094740" h="440689">
                <a:moveTo>
                  <a:pt x="13461" y="0"/>
                </a:moveTo>
                <a:lnTo>
                  <a:pt x="0" y="35560"/>
                </a:lnTo>
                <a:lnTo>
                  <a:pt x="980896" y="404518"/>
                </a:lnTo>
                <a:lnTo>
                  <a:pt x="994305" y="368860"/>
                </a:lnTo>
                <a:lnTo>
                  <a:pt x="13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6">
            <a:extLst>
              <a:ext uri="{FF2B5EF4-FFF2-40B4-BE49-F238E27FC236}">
                <a16:creationId xmlns:a16="http://schemas.microsoft.com/office/drawing/2014/main" id="{781D4359-7F52-A14E-A0DD-4BAC3B20A568}"/>
              </a:ext>
            </a:extLst>
          </p:cNvPr>
          <p:cNvSpPr/>
          <p:nvPr/>
        </p:nvSpPr>
        <p:spPr>
          <a:xfrm>
            <a:off x="3909059" y="939546"/>
            <a:ext cx="4600575" cy="237490"/>
          </a:xfrm>
          <a:custGeom>
            <a:avLst/>
            <a:gdLst/>
            <a:ahLst/>
            <a:cxnLst/>
            <a:rect l="l" t="t" r="r" b="b"/>
            <a:pathLst>
              <a:path w="4600575" h="237490">
                <a:moveTo>
                  <a:pt x="4600194" y="236981"/>
                </a:moveTo>
                <a:lnTo>
                  <a:pt x="4595157" y="190875"/>
                </a:lnTo>
                <a:lnTo>
                  <a:pt x="4581429" y="153209"/>
                </a:lnTo>
                <a:lnTo>
                  <a:pt x="4561081" y="127807"/>
                </a:lnTo>
                <a:lnTo>
                  <a:pt x="4536186" y="118490"/>
                </a:lnTo>
                <a:lnTo>
                  <a:pt x="2364104" y="118490"/>
                </a:lnTo>
                <a:lnTo>
                  <a:pt x="2339209" y="109174"/>
                </a:lnTo>
                <a:lnTo>
                  <a:pt x="2318861" y="83772"/>
                </a:lnTo>
                <a:lnTo>
                  <a:pt x="2305133" y="46106"/>
                </a:lnTo>
                <a:lnTo>
                  <a:pt x="2300097" y="0"/>
                </a:lnTo>
                <a:lnTo>
                  <a:pt x="2295060" y="46106"/>
                </a:lnTo>
                <a:lnTo>
                  <a:pt x="2281332" y="83772"/>
                </a:lnTo>
                <a:lnTo>
                  <a:pt x="2260984" y="109174"/>
                </a:lnTo>
                <a:lnTo>
                  <a:pt x="2236089" y="118490"/>
                </a:lnTo>
                <a:lnTo>
                  <a:pt x="64007" y="118490"/>
                </a:lnTo>
                <a:lnTo>
                  <a:pt x="39112" y="127807"/>
                </a:lnTo>
                <a:lnTo>
                  <a:pt x="18764" y="153209"/>
                </a:lnTo>
                <a:lnTo>
                  <a:pt x="5036" y="190875"/>
                </a:lnTo>
                <a:lnTo>
                  <a:pt x="0" y="236981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86F46553-014A-DA40-AF22-C09582D80921}"/>
              </a:ext>
            </a:extLst>
          </p:cNvPr>
          <p:cNvSpPr txBox="1"/>
          <p:nvPr/>
        </p:nvSpPr>
        <p:spPr>
          <a:xfrm>
            <a:off x="10041128" y="2286000"/>
            <a:ext cx="194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𝑿[𝒏/𝟐</a:t>
            </a:r>
            <a:r>
              <a:rPr sz="2400" spc="-1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𝟏.</a:t>
            </a:r>
            <a:r>
              <a:rPr sz="2400" spc="-14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0F1C2113-3C8A-C042-B770-BA76C3DFBD3B}"/>
              </a:ext>
            </a:extLst>
          </p:cNvPr>
          <p:cNvSpPr txBox="1"/>
          <p:nvPr/>
        </p:nvSpPr>
        <p:spPr>
          <a:xfrm>
            <a:off x="169926" y="2298953"/>
            <a:ext cx="1387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𝒏/𝟐]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F6F8809F-0461-1143-B561-0E355CCC589E}"/>
              </a:ext>
            </a:extLst>
          </p:cNvPr>
          <p:cNvSpPr txBox="1"/>
          <p:nvPr/>
        </p:nvSpPr>
        <p:spPr>
          <a:xfrm>
            <a:off x="5072634" y="187680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E50D774C-3F18-1944-8A75-09B70DDB515B}"/>
              </a:ext>
            </a:extLst>
          </p:cNvPr>
          <p:cNvSpPr txBox="1"/>
          <p:nvPr/>
        </p:nvSpPr>
        <p:spPr>
          <a:xfrm>
            <a:off x="5684011" y="1876806"/>
            <a:ext cx="92201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𝒏/𝟐</a:t>
            </a:r>
            <a:r>
              <a:rPr sz="2000" spc="-2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B8EE1206-C450-6443-A182-B2BD733CB0AB}"/>
              </a:ext>
            </a:extLst>
          </p:cNvPr>
          <p:cNvSpPr txBox="1"/>
          <p:nvPr/>
        </p:nvSpPr>
        <p:spPr>
          <a:xfrm>
            <a:off x="7885176" y="2959608"/>
            <a:ext cx="1156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0000FF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0000FF"/>
                </a:solidFill>
                <a:latin typeface="Cambria Math"/>
                <a:cs typeface="Cambria Math"/>
              </a:rPr>
              <a:t>𝟐</a:t>
            </a:r>
            <a:r>
              <a:rPr sz="2625" spc="569" baseline="-15873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0000FF"/>
                </a:solidFill>
                <a:latin typeface="Cambria Math"/>
                <a:cs typeface="Cambria Math"/>
              </a:rPr>
              <a:t>𝟏𝟐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B53CFAA2-00E4-D541-B824-89DC76988975}"/>
              </a:ext>
            </a:extLst>
          </p:cNvPr>
          <p:cNvSpPr txBox="1"/>
          <p:nvPr/>
        </p:nvSpPr>
        <p:spPr>
          <a:xfrm>
            <a:off x="2781807" y="2917697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00AF5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00AF50"/>
                </a:solidFill>
                <a:latin typeface="Cambria Math"/>
                <a:cs typeface="Cambria Math"/>
              </a:rPr>
              <a:t>𝟏</a:t>
            </a:r>
            <a:r>
              <a:rPr sz="2625" spc="569" baseline="-15873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00AF50"/>
                </a:solidFill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28">
            <a:extLst>
              <a:ext uri="{FF2B5EF4-FFF2-40B4-BE49-F238E27FC236}">
                <a16:creationId xmlns:a16="http://schemas.microsoft.com/office/drawing/2014/main" id="{29A7DF10-47A2-884D-9E74-5735456CFE27}"/>
              </a:ext>
            </a:extLst>
          </p:cNvPr>
          <p:cNvSpPr txBox="1"/>
          <p:nvPr/>
        </p:nvSpPr>
        <p:spPr>
          <a:xfrm>
            <a:off x="6179820" y="611378"/>
            <a:ext cx="1156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625" spc="569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𝟏𝟔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36" name="object 2">
            <a:extLst>
              <a:ext uri="{FF2B5EF4-FFF2-40B4-BE49-F238E27FC236}">
                <a16:creationId xmlns:a16="http://schemas.microsoft.com/office/drawing/2014/main" id="{52585A0C-5F2C-F144-B715-D30835D82F76}"/>
              </a:ext>
            </a:extLst>
          </p:cNvPr>
          <p:cNvSpPr/>
          <p:nvPr/>
        </p:nvSpPr>
        <p:spPr>
          <a:xfrm>
            <a:off x="6894194" y="4463415"/>
            <a:ext cx="1896110" cy="651510"/>
          </a:xfrm>
          <a:custGeom>
            <a:avLst/>
            <a:gdLst/>
            <a:ahLst/>
            <a:cxnLst/>
            <a:rect l="l" t="t" r="r" b="b"/>
            <a:pathLst>
              <a:path w="1896108" h="651510">
                <a:moveTo>
                  <a:pt x="1787271" y="0"/>
                </a:moveTo>
                <a:lnTo>
                  <a:pt x="108584" y="0"/>
                </a:lnTo>
                <a:lnTo>
                  <a:pt x="66329" y="8536"/>
                </a:lnTo>
                <a:lnTo>
                  <a:pt x="31813" y="31813"/>
                </a:lnTo>
                <a:lnTo>
                  <a:pt x="8536" y="66329"/>
                </a:lnTo>
                <a:lnTo>
                  <a:pt x="0" y="108585"/>
                </a:lnTo>
                <a:lnTo>
                  <a:pt x="0" y="542925"/>
                </a:lnTo>
                <a:lnTo>
                  <a:pt x="8536" y="585180"/>
                </a:lnTo>
                <a:lnTo>
                  <a:pt x="31813" y="619696"/>
                </a:lnTo>
                <a:lnTo>
                  <a:pt x="66329" y="642973"/>
                </a:lnTo>
                <a:lnTo>
                  <a:pt x="108584" y="651510"/>
                </a:lnTo>
                <a:lnTo>
                  <a:pt x="1787271" y="651510"/>
                </a:lnTo>
                <a:lnTo>
                  <a:pt x="1829526" y="642973"/>
                </a:lnTo>
                <a:lnTo>
                  <a:pt x="1864042" y="619696"/>
                </a:lnTo>
                <a:lnTo>
                  <a:pt x="1887319" y="585180"/>
                </a:lnTo>
                <a:lnTo>
                  <a:pt x="1895855" y="542925"/>
                </a:lnTo>
                <a:lnTo>
                  <a:pt x="1895855" y="108585"/>
                </a:lnTo>
                <a:lnTo>
                  <a:pt x="1887319" y="66329"/>
                </a:lnTo>
                <a:lnTo>
                  <a:pt x="1864042" y="31813"/>
                </a:lnTo>
                <a:lnTo>
                  <a:pt x="1829526" y="8536"/>
                </a:lnTo>
                <a:lnTo>
                  <a:pt x="17872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DD84D1AD-9BA0-154F-8999-05CEDD1FB6B3}"/>
              </a:ext>
            </a:extLst>
          </p:cNvPr>
          <p:cNvSpPr txBox="1"/>
          <p:nvPr/>
        </p:nvSpPr>
        <p:spPr>
          <a:xfrm>
            <a:off x="7067295" y="4541773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 err="1">
                <a:solidFill>
                  <a:srgbClr val="FFFFFF"/>
                </a:solidFill>
                <a:latin typeface="PMingLiU"/>
                <a:cs typeface="PMingLiU"/>
              </a:rPr>
              <a:t>可递归求解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4C7C3F8C-5747-2241-B53F-A25A72329D0A}"/>
              </a:ext>
            </a:extLst>
          </p:cNvPr>
          <p:cNvSpPr/>
          <p:nvPr/>
        </p:nvSpPr>
        <p:spPr>
          <a:xfrm>
            <a:off x="6579107" y="4424171"/>
            <a:ext cx="258445" cy="810895"/>
          </a:xfrm>
          <a:custGeom>
            <a:avLst/>
            <a:gdLst/>
            <a:ahLst/>
            <a:cxnLst/>
            <a:rect l="l" t="t" r="r" b="b"/>
            <a:pathLst>
              <a:path w="258445" h="810895">
                <a:moveTo>
                  <a:pt x="0" y="0"/>
                </a:moveTo>
                <a:lnTo>
                  <a:pt x="50292" y="1692"/>
                </a:lnTo>
                <a:lnTo>
                  <a:pt x="91344" y="6302"/>
                </a:lnTo>
                <a:lnTo>
                  <a:pt x="119014" y="13126"/>
                </a:lnTo>
                <a:lnTo>
                  <a:pt x="129159" y="21462"/>
                </a:lnTo>
                <a:lnTo>
                  <a:pt x="129159" y="383920"/>
                </a:lnTo>
                <a:lnTo>
                  <a:pt x="139303" y="392257"/>
                </a:lnTo>
                <a:lnTo>
                  <a:pt x="166973" y="399081"/>
                </a:lnTo>
                <a:lnTo>
                  <a:pt x="208026" y="403691"/>
                </a:lnTo>
                <a:lnTo>
                  <a:pt x="258318" y="405383"/>
                </a:lnTo>
                <a:lnTo>
                  <a:pt x="208025" y="407076"/>
                </a:lnTo>
                <a:lnTo>
                  <a:pt x="166973" y="411686"/>
                </a:lnTo>
                <a:lnTo>
                  <a:pt x="139303" y="418510"/>
                </a:lnTo>
                <a:lnTo>
                  <a:pt x="129159" y="426846"/>
                </a:lnTo>
                <a:lnTo>
                  <a:pt x="129159" y="789304"/>
                </a:lnTo>
                <a:lnTo>
                  <a:pt x="119014" y="797641"/>
                </a:lnTo>
                <a:lnTo>
                  <a:pt x="91344" y="804465"/>
                </a:lnTo>
                <a:lnTo>
                  <a:pt x="50291" y="809075"/>
                </a:lnTo>
                <a:lnTo>
                  <a:pt x="0" y="810767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13EAC4B0-6F9B-A643-AA2C-79AA64C2193C}"/>
              </a:ext>
            </a:extLst>
          </p:cNvPr>
          <p:cNvSpPr txBox="1"/>
          <p:nvPr/>
        </p:nvSpPr>
        <p:spPr>
          <a:xfrm>
            <a:off x="6505193" y="5520690"/>
            <a:ext cx="2981960" cy="66103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910"/>
              </a:spcBef>
            </a:pPr>
            <a:r>
              <a:rPr sz="2400">
                <a:latin typeface="PMingLiU"/>
                <a:cs typeface="PMingLiU"/>
              </a:rPr>
              <a:t>问题：如何求解</a:t>
            </a:r>
            <a:r>
              <a:rPr sz="2400" spc="-25">
                <a:latin typeface="Cambria Math"/>
                <a:cs typeface="Cambria Math"/>
              </a:rPr>
              <a:t>𝑺</a:t>
            </a:r>
            <a:r>
              <a:rPr sz="2625" spc="-37" baseline="-15873">
                <a:latin typeface="Cambria Math"/>
                <a:cs typeface="Cambria Math"/>
              </a:rPr>
              <a:t>𝟑</a:t>
            </a:r>
            <a:r>
              <a:rPr sz="2400" spc="-25">
                <a:latin typeface="PMingLiU"/>
                <a:cs typeface="PMingLiU"/>
              </a:rPr>
              <a:t>？</a:t>
            </a:r>
            <a:endParaRPr sz="24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9591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6" grpId="0" animBg="1"/>
      <p:bldP spid="37" grpId="0"/>
      <p:bldP spid="38" grpId="0" animBg="1"/>
      <p:bldP spid="3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D6B979B-BAD8-C640-A271-BA0721723FD2}"/>
              </a:ext>
            </a:extLst>
          </p:cNvPr>
          <p:cNvSpPr txBox="1"/>
          <p:nvPr/>
        </p:nvSpPr>
        <p:spPr>
          <a:xfrm>
            <a:off x="688340" y="3463544"/>
            <a:ext cx="7315349" cy="1854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记</a:t>
            </a:r>
            <a:r>
              <a:rPr sz="2800" dirty="0">
                <a:latin typeface="Cambria Math"/>
                <a:cs typeface="Cambria Math"/>
              </a:rPr>
              <a:t>𝒎𝒊𝒅</a:t>
            </a:r>
            <a:r>
              <a:rPr sz="2800" spc="95" dirty="0">
                <a:latin typeface="Cambria Math"/>
                <a:cs typeface="Cambria Math"/>
              </a:rPr>
              <a:t> = </a:t>
            </a:r>
            <a:r>
              <a:rPr sz="2800" spc="-25" dirty="0">
                <a:latin typeface="Cambria Math"/>
                <a:cs typeface="Cambria Math"/>
              </a:rPr>
              <a:t>𝒏/𝟐</a:t>
            </a:r>
            <a:endParaRPr lang="en-US" sz="2800" spc="-25" dirty="0">
              <a:latin typeface="Cambria Math"/>
              <a:cs typeface="Cambria Math"/>
            </a:endParaRPr>
          </a:p>
          <a:p>
            <a:pPr marL="3937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lang="zh-CN" altLang="en-US" sz="2800" dirty="0">
                <a:latin typeface="Cambria Math"/>
                <a:cs typeface="Cambria Math"/>
              </a:rPr>
              <a:t>𝑺</a:t>
            </a:r>
            <a:r>
              <a:rPr lang="zh-CN" altLang="en-US" sz="3075" baseline="-14905" dirty="0">
                <a:latin typeface="Cambria Math"/>
                <a:cs typeface="Cambria Math"/>
              </a:rPr>
              <a:t>𝟑</a:t>
            </a:r>
            <a:r>
              <a:rPr lang="zh-CN" altLang="en-US" sz="2800" spc="-10" dirty="0">
                <a:latin typeface="PMingLiU"/>
                <a:cs typeface="PMingLiU"/>
              </a:rPr>
              <a:t>可分为左右两部分</a:t>
            </a:r>
            <a:endParaRPr lang="zh-CN" altLang="en-US" sz="2800" dirty="0">
              <a:latin typeface="PMingLiU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endParaRPr lang="zh-CN" altLang="en-US" sz="24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Cambria Math"/>
              <a:cs typeface="Cambria Math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A5EFE945-C886-E74A-82C8-FB042E084D92}"/>
              </a:ext>
            </a:extLst>
          </p:cNvPr>
          <p:cNvGraphicFramePr>
            <a:graphicFrameLocks noGrp="1"/>
          </p:cNvGraphicFramePr>
          <p:nvPr/>
        </p:nvGraphicFramePr>
        <p:xfrm>
          <a:off x="3157347" y="1415796"/>
          <a:ext cx="5759448" cy="895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891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3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5">
            <a:extLst>
              <a:ext uri="{FF2B5EF4-FFF2-40B4-BE49-F238E27FC236}">
                <a16:creationId xmlns:a16="http://schemas.microsoft.com/office/drawing/2014/main" id="{AC994AB6-C018-AA4E-974A-DC4C3DB2EBA3}"/>
              </a:ext>
            </a:extLst>
          </p:cNvPr>
          <p:cNvSpPr txBox="1"/>
          <p:nvPr/>
        </p:nvSpPr>
        <p:spPr>
          <a:xfrm>
            <a:off x="1940305" y="1641601"/>
            <a:ext cx="11436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0" dirty="0">
                <a:latin typeface="Cambria Math"/>
                <a:cs typeface="Cambria Math"/>
              </a:rPr>
              <a:t>𝑿[𝟏.</a:t>
            </a:r>
            <a:r>
              <a:rPr sz="2600" spc="-13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.</a:t>
            </a:r>
            <a:r>
              <a:rPr sz="2600" spc="-120" dirty="0">
                <a:latin typeface="Cambria Math"/>
                <a:cs typeface="Cambria Math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𝒏]</a:t>
            </a:r>
            <a:endParaRPr sz="2600" dirty="0">
              <a:latin typeface="Cambria Math"/>
              <a:cs typeface="Cambria Math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4241EFAA-583F-DB46-8624-4CF160F98BE5}"/>
              </a:ext>
            </a:extLst>
          </p:cNvPr>
          <p:cNvSpPr txBox="1"/>
          <p:nvPr/>
        </p:nvSpPr>
        <p:spPr>
          <a:xfrm>
            <a:off x="5052567" y="1170686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CA714676-D6DD-3545-B3CF-9A27956A0143}"/>
              </a:ext>
            </a:extLst>
          </p:cNvPr>
          <p:cNvSpPr txBox="1"/>
          <p:nvPr/>
        </p:nvSpPr>
        <p:spPr>
          <a:xfrm>
            <a:off x="6142228" y="1169162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37372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D6B979B-BAD8-C640-A271-BA0721723FD2}"/>
              </a:ext>
            </a:extLst>
          </p:cNvPr>
          <p:cNvSpPr txBox="1"/>
          <p:nvPr/>
        </p:nvSpPr>
        <p:spPr>
          <a:xfrm>
            <a:off x="688340" y="3463544"/>
            <a:ext cx="7315349" cy="2300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记</a:t>
            </a:r>
            <a:r>
              <a:rPr sz="2800" dirty="0">
                <a:latin typeface="Cambria Math"/>
                <a:cs typeface="Cambria Math"/>
              </a:rPr>
              <a:t>𝒎𝒊𝒅</a:t>
            </a:r>
            <a:r>
              <a:rPr sz="2800" spc="95" dirty="0">
                <a:latin typeface="Cambria Math"/>
                <a:cs typeface="Cambria Math"/>
              </a:rPr>
              <a:t> = </a:t>
            </a:r>
            <a:r>
              <a:rPr sz="2800" spc="-25" dirty="0">
                <a:latin typeface="Cambria Math"/>
                <a:cs typeface="Cambria Math"/>
              </a:rPr>
              <a:t>𝒏/𝟐</a:t>
            </a:r>
            <a:endParaRPr lang="en-US" sz="2800" spc="-25" dirty="0">
              <a:latin typeface="Cambria Math"/>
              <a:cs typeface="Cambria Math"/>
            </a:endParaRPr>
          </a:p>
          <a:p>
            <a:pPr marL="3937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lang="zh-CN" altLang="en-US" sz="2800" dirty="0">
                <a:latin typeface="Cambria Math"/>
                <a:cs typeface="Cambria Math"/>
              </a:rPr>
              <a:t>𝑺</a:t>
            </a:r>
            <a:r>
              <a:rPr lang="zh-CN" altLang="en-US" sz="3075" baseline="-14905" dirty="0">
                <a:latin typeface="Cambria Math"/>
                <a:cs typeface="Cambria Math"/>
              </a:rPr>
              <a:t>𝟑</a:t>
            </a:r>
            <a:r>
              <a:rPr lang="zh-CN" altLang="en-US" sz="2800" spc="-10" dirty="0">
                <a:latin typeface="PMingLiU"/>
                <a:cs typeface="PMingLiU"/>
              </a:rPr>
              <a:t>可分为左右两部分</a:t>
            </a:r>
            <a:endParaRPr lang="zh-CN" altLang="en-US" sz="2800" dirty="0">
              <a:latin typeface="PMingLiU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lang="zh-CN" altLang="en-US" sz="2400" dirty="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r>
              <a:rPr lang="zh-CN" altLang="en-US" sz="2400" dirty="0">
                <a:latin typeface="PMingLiU"/>
                <a:cs typeface="PMingLiU"/>
              </a:rPr>
              <a:t>：以</a:t>
            </a:r>
            <a:r>
              <a:rPr lang="zh-CN" altLang="en-US" sz="2400" spc="-10" dirty="0">
                <a:latin typeface="Cambria Math"/>
                <a:cs typeface="Cambria Math"/>
              </a:rPr>
              <a:t>𝑿</a:t>
            </a:r>
            <a:r>
              <a:rPr lang="en-US" altLang="zh-CN" sz="2400" spc="-10" dirty="0">
                <a:latin typeface="Cambria Math"/>
                <a:cs typeface="Cambria Math"/>
              </a:rPr>
              <a:t>[𝒎𝒊𝒅]</a:t>
            </a:r>
            <a:r>
              <a:rPr lang="zh-CN" altLang="en-US" sz="2400" spc="-5" dirty="0">
                <a:latin typeface="PMingLiU"/>
                <a:cs typeface="PMingLiU"/>
              </a:rPr>
              <a:t>为结尾的最大子数组之和</a:t>
            </a:r>
            <a:endParaRPr lang="en-US" altLang="zh-CN" sz="2400" spc="-5" dirty="0">
              <a:latin typeface="PMingLiU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endParaRPr lang="zh-CN" altLang="en-US" sz="24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Cambria Math"/>
              <a:cs typeface="Cambria Math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45E2C37D-69AF-C94E-B48A-FE01C6F67FD3}"/>
              </a:ext>
            </a:extLst>
          </p:cNvPr>
          <p:cNvGraphicFramePr>
            <a:graphicFrameLocks noGrp="1"/>
          </p:cNvGraphicFramePr>
          <p:nvPr/>
        </p:nvGraphicFramePr>
        <p:xfrm>
          <a:off x="3157347" y="1415796"/>
          <a:ext cx="5759448" cy="895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891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3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4">
            <a:extLst>
              <a:ext uri="{FF2B5EF4-FFF2-40B4-BE49-F238E27FC236}">
                <a16:creationId xmlns:a16="http://schemas.microsoft.com/office/drawing/2014/main" id="{D6E27DA2-3C1B-4B4C-BC10-6722257F6104}"/>
              </a:ext>
            </a:extLst>
          </p:cNvPr>
          <p:cNvSpPr txBox="1"/>
          <p:nvPr/>
        </p:nvSpPr>
        <p:spPr>
          <a:xfrm>
            <a:off x="5052567" y="1170686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09E932D0-6F73-1B4E-AF96-AD5C87381791}"/>
              </a:ext>
            </a:extLst>
          </p:cNvPr>
          <p:cNvSpPr txBox="1"/>
          <p:nvPr/>
        </p:nvSpPr>
        <p:spPr>
          <a:xfrm>
            <a:off x="6142228" y="1169162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87132EF7-FB55-EE4E-BE1C-7BD7BF2B7CB6}"/>
              </a:ext>
            </a:extLst>
          </p:cNvPr>
          <p:cNvSpPr txBox="1"/>
          <p:nvPr/>
        </p:nvSpPr>
        <p:spPr>
          <a:xfrm>
            <a:off x="1940305" y="1641601"/>
            <a:ext cx="11436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0" dirty="0">
                <a:latin typeface="Cambria Math"/>
                <a:cs typeface="Cambria Math"/>
              </a:rPr>
              <a:t>𝑿[𝟏.</a:t>
            </a:r>
            <a:r>
              <a:rPr sz="2600" spc="-13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.</a:t>
            </a:r>
            <a:r>
              <a:rPr sz="2600" spc="-120" dirty="0">
                <a:latin typeface="Cambria Math"/>
                <a:cs typeface="Cambria Math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𝒏]</a:t>
            </a:r>
            <a:endParaRPr sz="2600" dirty="0">
              <a:latin typeface="Cambria Math"/>
              <a:cs typeface="Cambria Math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050F2E-FA4F-BE43-9328-1C5619E91A71}"/>
              </a:ext>
            </a:extLst>
          </p:cNvPr>
          <p:cNvSpPr txBox="1"/>
          <p:nvPr/>
        </p:nvSpPr>
        <p:spPr>
          <a:xfrm>
            <a:off x="1177066" y="2258380"/>
            <a:ext cx="9945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26510">
              <a:lnSpc>
                <a:spcPct val="100000"/>
              </a:lnSpc>
              <a:spcBef>
                <a:spcPts val="950"/>
              </a:spcBef>
            </a:pPr>
            <a:r>
              <a:rPr lang="zh-CN" altLang="en-US" sz="1800" spc="-20" dirty="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endParaRPr lang="zh-CN" altLang="en-US" sz="18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32074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D6B979B-BAD8-C640-A271-BA0721723FD2}"/>
              </a:ext>
            </a:extLst>
          </p:cNvPr>
          <p:cNvSpPr txBox="1"/>
          <p:nvPr/>
        </p:nvSpPr>
        <p:spPr>
          <a:xfrm>
            <a:off x="688340" y="3463544"/>
            <a:ext cx="7315349" cy="27469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记</a:t>
            </a:r>
            <a:r>
              <a:rPr sz="2800" dirty="0">
                <a:latin typeface="Cambria Math"/>
                <a:cs typeface="Cambria Math"/>
              </a:rPr>
              <a:t>𝒎𝒊𝒅</a:t>
            </a:r>
            <a:r>
              <a:rPr sz="2800" spc="95" dirty="0">
                <a:latin typeface="Cambria Math"/>
                <a:cs typeface="Cambria Math"/>
              </a:rPr>
              <a:t> = </a:t>
            </a:r>
            <a:r>
              <a:rPr sz="2800" spc="-25" dirty="0">
                <a:latin typeface="Cambria Math"/>
                <a:cs typeface="Cambria Math"/>
              </a:rPr>
              <a:t>𝒏/𝟐</a:t>
            </a:r>
            <a:endParaRPr lang="en-US" sz="2800" spc="-25" dirty="0">
              <a:latin typeface="Cambria Math"/>
              <a:cs typeface="Cambria Math"/>
            </a:endParaRPr>
          </a:p>
          <a:p>
            <a:pPr marL="3937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lang="zh-CN" altLang="en-US" sz="2800" dirty="0">
                <a:latin typeface="Cambria Math"/>
                <a:cs typeface="Cambria Math"/>
              </a:rPr>
              <a:t>𝑺</a:t>
            </a:r>
            <a:r>
              <a:rPr lang="zh-CN" altLang="en-US" sz="3075" baseline="-14905" dirty="0">
                <a:latin typeface="Cambria Math"/>
                <a:cs typeface="Cambria Math"/>
              </a:rPr>
              <a:t>𝟑</a:t>
            </a:r>
            <a:r>
              <a:rPr lang="zh-CN" altLang="en-US" sz="2800" spc="-10" dirty="0">
                <a:latin typeface="PMingLiU"/>
                <a:cs typeface="PMingLiU"/>
              </a:rPr>
              <a:t>可分为左右两部分</a:t>
            </a:r>
            <a:endParaRPr lang="zh-CN" altLang="en-US" sz="2800" dirty="0">
              <a:latin typeface="PMingLiU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lang="zh-CN" altLang="en-US" sz="2400" dirty="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r>
              <a:rPr lang="zh-CN" altLang="en-US" sz="2400" dirty="0">
                <a:latin typeface="PMingLiU"/>
                <a:cs typeface="PMingLiU"/>
              </a:rPr>
              <a:t>：以</a:t>
            </a:r>
            <a:r>
              <a:rPr lang="zh-CN" altLang="en-US" sz="2400" spc="-10" dirty="0">
                <a:latin typeface="Cambria Math"/>
                <a:cs typeface="Cambria Math"/>
              </a:rPr>
              <a:t>𝑿</a:t>
            </a:r>
            <a:r>
              <a:rPr lang="en-US" altLang="zh-CN" sz="2400" spc="-10" dirty="0">
                <a:latin typeface="Cambria Math"/>
                <a:cs typeface="Cambria Math"/>
              </a:rPr>
              <a:t>[𝒎𝒊𝒅]</a:t>
            </a:r>
            <a:r>
              <a:rPr lang="zh-CN" altLang="en-US" sz="2400" spc="-5" dirty="0">
                <a:latin typeface="PMingLiU"/>
                <a:cs typeface="PMingLiU"/>
              </a:rPr>
              <a:t>为结尾的最大子数组之和</a:t>
            </a:r>
            <a:endParaRPr lang="en-US" altLang="zh-CN" sz="2400" spc="-5" dirty="0">
              <a:latin typeface="PMingLiU"/>
              <a:cs typeface="PMingLiU"/>
            </a:endParaRPr>
          </a:p>
          <a:p>
            <a:pPr marL="742315" lvl="1" indent="-347980"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lang="zh-CN" altLang="en-US" sz="2400" dirty="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r>
              <a:rPr lang="zh-CN" altLang="en-US" sz="2400" dirty="0">
                <a:latin typeface="PMingLiU"/>
                <a:cs typeface="PMingLiU"/>
              </a:rPr>
              <a:t>：以</a:t>
            </a:r>
            <a:r>
              <a:rPr lang="zh-CN" altLang="en-US" sz="2400" dirty="0">
                <a:latin typeface="Cambria Math"/>
                <a:cs typeface="Cambria Math"/>
              </a:rPr>
              <a:t>𝑿</a:t>
            </a:r>
            <a:r>
              <a:rPr lang="en-US" altLang="zh-CN" sz="2400" dirty="0">
                <a:latin typeface="Cambria Math"/>
                <a:cs typeface="Cambria Math"/>
              </a:rPr>
              <a:t>[𝒎𝒊𝒅</a:t>
            </a:r>
            <a:r>
              <a:rPr lang="zh-CN" altLang="en-US" sz="2400" spc="-5" dirty="0">
                <a:latin typeface="Cambria Math"/>
                <a:cs typeface="Cambria Math"/>
              </a:rPr>
              <a:t> </a:t>
            </a:r>
            <a:r>
              <a:rPr lang="en-US" altLang="zh-CN" sz="2400" spc="-5" dirty="0">
                <a:latin typeface="Cambria Math"/>
                <a:cs typeface="Cambria Math"/>
              </a:rPr>
              <a:t>+ </a:t>
            </a:r>
            <a:r>
              <a:rPr lang="zh-CN" altLang="en-US" sz="2400" spc="-10" dirty="0">
                <a:latin typeface="Cambria Math"/>
                <a:cs typeface="Cambria Math"/>
              </a:rPr>
              <a:t>𝟏</a:t>
            </a:r>
            <a:r>
              <a:rPr lang="en-US" altLang="zh-CN" sz="2400" spc="-10" dirty="0">
                <a:latin typeface="Cambria Math"/>
                <a:cs typeface="Cambria Math"/>
              </a:rPr>
              <a:t>]</a:t>
            </a:r>
            <a:r>
              <a:rPr lang="zh-CN" altLang="en-US" sz="2400" spc="-5" dirty="0">
                <a:latin typeface="PMingLiU"/>
                <a:cs typeface="PMingLiU"/>
              </a:rPr>
              <a:t>为开头的最大子数组之和</a:t>
            </a:r>
            <a:endParaRPr lang="zh-CN" altLang="en-US" sz="2400" dirty="0">
              <a:latin typeface="PMingLiU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endParaRPr lang="zh-CN" altLang="en-US" sz="24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Cambria Math"/>
              <a:cs typeface="Cambria Math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13FD85A5-2703-AF45-A280-58DE903F3FA3}"/>
              </a:ext>
            </a:extLst>
          </p:cNvPr>
          <p:cNvGraphicFramePr>
            <a:graphicFrameLocks noGrp="1"/>
          </p:cNvGraphicFramePr>
          <p:nvPr/>
        </p:nvGraphicFramePr>
        <p:xfrm>
          <a:off x="3157347" y="1415796"/>
          <a:ext cx="5759448" cy="895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891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3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5">
            <a:extLst>
              <a:ext uri="{FF2B5EF4-FFF2-40B4-BE49-F238E27FC236}">
                <a16:creationId xmlns:a16="http://schemas.microsoft.com/office/drawing/2014/main" id="{10AA91C9-32FA-864B-84D2-7799150D289A}"/>
              </a:ext>
            </a:extLst>
          </p:cNvPr>
          <p:cNvSpPr txBox="1"/>
          <p:nvPr/>
        </p:nvSpPr>
        <p:spPr>
          <a:xfrm>
            <a:off x="1940305" y="1641601"/>
            <a:ext cx="11436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1772F564-135D-744C-84A0-78E6DF6FBD88}"/>
              </a:ext>
            </a:extLst>
          </p:cNvPr>
          <p:cNvSpPr txBox="1"/>
          <p:nvPr/>
        </p:nvSpPr>
        <p:spPr>
          <a:xfrm>
            <a:off x="5052567" y="1170686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1F036954-D5C5-4249-8775-33DE0EE57C52}"/>
              </a:ext>
            </a:extLst>
          </p:cNvPr>
          <p:cNvSpPr txBox="1"/>
          <p:nvPr/>
        </p:nvSpPr>
        <p:spPr>
          <a:xfrm>
            <a:off x="6142228" y="1169162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836E0B53-9561-BE4E-B3B7-7742BC20A95C}"/>
              </a:ext>
            </a:extLst>
          </p:cNvPr>
          <p:cNvSpPr txBox="1"/>
          <p:nvPr/>
        </p:nvSpPr>
        <p:spPr>
          <a:xfrm>
            <a:off x="4464558" y="2158492"/>
            <a:ext cx="63754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2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AF6AD9A6-5757-834A-8702-8EB3B3532CDA}"/>
              </a:ext>
            </a:extLst>
          </p:cNvPr>
          <p:cNvSpPr txBox="1"/>
          <p:nvPr/>
        </p:nvSpPr>
        <p:spPr>
          <a:xfrm>
            <a:off x="6951218" y="2158492"/>
            <a:ext cx="84201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1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3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29964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82B70247-ACF0-354E-A6A8-6C7D05B663C7}"/>
              </a:ext>
            </a:extLst>
          </p:cNvPr>
          <p:cNvGraphicFramePr>
            <a:graphicFrameLocks noGrp="1"/>
          </p:cNvGraphicFramePr>
          <p:nvPr/>
        </p:nvGraphicFramePr>
        <p:xfrm>
          <a:off x="3157347" y="1415796"/>
          <a:ext cx="5759448" cy="895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891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3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4">
            <a:extLst>
              <a:ext uri="{FF2B5EF4-FFF2-40B4-BE49-F238E27FC236}">
                <a16:creationId xmlns:a16="http://schemas.microsoft.com/office/drawing/2014/main" id="{B2C31834-C9A8-A245-99B8-0113934078E5}"/>
              </a:ext>
            </a:extLst>
          </p:cNvPr>
          <p:cNvSpPr txBox="1"/>
          <p:nvPr/>
        </p:nvSpPr>
        <p:spPr>
          <a:xfrm>
            <a:off x="1940305" y="1641601"/>
            <a:ext cx="11436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FF8206D0-50B6-724B-8670-4D1343E337EA}"/>
              </a:ext>
            </a:extLst>
          </p:cNvPr>
          <p:cNvSpPr txBox="1"/>
          <p:nvPr/>
        </p:nvSpPr>
        <p:spPr>
          <a:xfrm>
            <a:off x="5052567" y="1170686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1EEB3BC7-DB8C-F84F-8547-4A918BB9DC5E}"/>
              </a:ext>
            </a:extLst>
          </p:cNvPr>
          <p:cNvSpPr txBox="1"/>
          <p:nvPr/>
        </p:nvSpPr>
        <p:spPr>
          <a:xfrm>
            <a:off x="6142228" y="1169162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11439C7B-E913-6A4F-80A3-1C1206C7B32A}"/>
              </a:ext>
            </a:extLst>
          </p:cNvPr>
          <p:cNvSpPr txBox="1"/>
          <p:nvPr/>
        </p:nvSpPr>
        <p:spPr>
          <a:xfrm>
            <a:off x="4464558" y="2158492"/>
            <a:ext cx="63754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2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81A7ED52-069F-C141-BB48-24DCFFB3C05A}"/>
              </a:ext>
            </a:extLst>
          </p:cNvPr>
          <p:cNvSpPr txBox="1"/>
          <p:nvPr/>
        </p:nvSpPr>
        <p:spPr>
          <a:xfrm>
            <a:off x="6951218" y="2158492"/>
            <a:ext cx="84201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1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D66369A3-28DB-284B-9585-70F12AD0CB67}"/>
              </a:ext>
            </a:extLst>
          </p:cNvPr>
          <p:cNvSpPr/>
          <p:nvPr/>
        </p:nvSpPr>
        <p:spPr>
          <a:xfrm>
            <a:off x="4517135" y="2593848"/>
            <a:ext cx="3078480" cy="251460"/>
          </a:xfrm>
          <a:custGeom>
            <a:avLst/>
            <a:gdLst/>
            <a:ahLst/>
            <a:cxnLst/>
            <a:rect l="l" t="t" r="r" b="b"/>
            <a:pathLst>
              <a:path w="3078479" h="251460">
                <a:moveTo>
                  <a:pt x="3078480" y="0"/>
                </a:moveTo>
                <a:lnTo>
                  <a:pt x="3073149" y="48952"/>
                </a:lnTo>
                <a:lnTo>
                  <a:pt x="3058604" y="88915"/>
                </a:lnTo>
                <a:lnTo>
                  <a:pt x="3037010" y="115853"/>
                </a:lnTo>
                <a:lnTo>
                  <a:pt x="3010535" y="125729"/>
                </a:lnTo>
                <a:lnTo>
                  <a:pt x="1607185" y="125729"/>
                </a:lnTo>
                <a:lnTo>
                  <a:pt x="1580709" y="135606"/>
                </a:lnTo>
                <a:lnTo>
                  <a:pt x="1559115" y="162544"/>
                </a:lnTo>
                <a:lnTo>
                  <a:pt x="1544570" y="202507"/>
                </a:lnTo>
                <a:lnTo>
                  <a:pt x="1539239" y="251460"/>
                </a:lnTo>
                <a:lnTo>
                  <a:pt x="1533909" y="202507"/>
                </a:lnTo>
                <a:lnTo>
                  <a:pt x="1519364" y="162544"/>
                </a:lnTo>
                <a:lnTo>
                  <a:pt x="1497770" y="135606"/>
                </a:lnTo>
                <a:lnTo>
                  <a:pt x="1471294" y="125729"/>
                </a:lnTo>
                <a:lnTo>
                  <a:pt x="67944" y="125729"/>
                </a:lnTo>
                <a:lnTo>
                  <a:pt x="41469" y="115853"/>
                </a:lnTo>
                <a:lnTo>
                  <a:pt x="19875" y="88915"/>
                </a:lnTo>
                <a:lnTo>
                  <a:pt x="5330" y="48952"/>
                </a:lnTo>
                <a:lnTo>
                  <a:pt x="0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0">
            <a:extLst>
              <a:ext uri="{FF2B5EF4-FFF2-40B4-BE49-F238E27FC236}">
                <a16:creationId xmlns:a16="http://schemas.microsoft.com/office/drawing/2014/main" id="{3BC6B6E4-2800-8A4A-99A2-DEFEAA7D1AE2}"/>
              </a:ext>
            </a:extLst>
          </p:cNvPr>
          <p:cNvSpPr txBox="1"/>
          <p:nvPr/>
        </p:nvSpPr>
        <p:spPr>
          <a:xfrm>
            <a:off x="650240" y="2643201"/>
            <a:ext cx="7170420" cy="3574055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R="1609090" algn="r">
              <a:lnSpc>
                <a:spcPct val="100000"/>
              </a:lnSpc>
              <a:spcBef>
                <a:spcPts val="175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spc="-37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625" baseline="-15873" dirty="0">
              <a:latin typeface="Cambria Math"/>
              <a:cs typeface="Cambria Math"/>
            </a:endParaRPr>
          </a:p>
          <a:p>
            <a:pPr marL="393700" indent="-342900">
              <a:lnSpc>
                <a:spcPct val="100000"/>
              </a:lnSpc>
              <a:spcBef>
                <a:spcPts val="19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 err="1">
                <a:latin typeface="PMingLiU"/>
                <a:cs typeface="PMingLiU"/>
              </a:rPr>
              <a:t>记</a:t>
            </a:r>
            <a:r>
              <a:rPr sz="2800" dirty="0">
                <a:latin typeface="Cambria Math"/>
                <a:cs typeface="Cambria Math"/>
              </a:rPr>
              <a:t>𝒎𝒊𝒅</a:t>
            </a:r>
            <a:r>
              <a:rPr sz="2800" spc="95" dirty="0">
                <a:latin typeface="Cambria Math"/>
                <a:cs typeface="Cambria Math"/>
              </a:rPr>
              <a:t> = </a:t>
            </a:r>
            <a:r>
              <a:rPr sz="2800" spc="-25" dirty="0">
                <a:latin typeface="Cambria Math"/>
                <a:cs typeface="Cambria Math"/>
              </a:rPr>
              <a:t>𝒏/𝟐</a:t>
            </a:r>
            <a:endParaRPr sz="2800" dirty="0">
              <a:latin typeface="Cambria Math"/>
              <a:cs typeface="Cambria Math"/>
            </a:endParaRPr>
          </a:p>
          <a:p>
            <a:pPr marL="3937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dirty="0">
                <a:latin typeface="Cambria Math"/>
                <a:cs typeface="Cambria Math"/>
              </a:rPr>
              <a:t>𝑺</a:t>
            </a:r>
            <a:r>
              <a:rPr sz="3075" baseline="-14905" dirty="0">
                <a:latin typeface="Cambria Math"/>
                <a:cs typeface="Cambria Math"/>
              </a:rPr>
              <a:t>𝟑</a:t>
            </a:r>
            <a:r>
              <a:rPr sz="2800" dirty="0" err="1">
                <a:latin typeface="PMingLiU"/>
                <a:cs typeface="PMingLiU"/>
              </a:rPr>
              <a:t>可分为左右两部分</a:t>
            </a:r>
            <a:r>
              <a:rPr sz="2800" dirty="0">
                <a:latin typeface="PMingLiU"/>
                <a:cs typeface="PMingLiU"/>
              </a:rPr>
              <a:t>，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3075" baseline="-14905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3075" spc="697" baseline="-149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85" dirty="0">
                <a:latin typeface="Cambria Math"/>
                <a:cs typeface="Cambria Math"/>
              </a:rPr>
              <a:t>= </a:t>
            </a:r>
            <a:r>
              <a:rPr sz="2800" dirty="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r>
              <a:rPr sz="2800" spc="20" dirty="0">
                <a:solidFill>
                  <a:srgbClr val="1CB450"/>
                </a:solidFill>
                <a:latin typeface="Cambria Math"/>
                <a:cs typeface="Cambria Math"/>
              </a:rPr>
              <a:t> </a:t>
            </a:r>
            <a:r>
              <a:rPr sz="2800" spc="10" dirty="0">
                <a:latin typeface="Cambria Math"/>
                <a:cs typeface="Cambria Math"/>
              </a:rPr>
              <a:t>+ </a:t>
            </a:r>
            <a:r>
              <a:rPr sz="2800" spc="-10" dirty="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 dirty="0">
              <a:latin typeface="Cambria Math"/>
              <a:cs typeface="Cambria Math"/>
            </a:endParaRPr>
          </a:p>
          <a:p>
            <a:pPr marL="7423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 err="1">
                <a:latin typeface="PMingLiU"/>
                <a:cs typeface="PMingLiU"/>
              </a:rPr>
              <a:t>以</a:t>
            </a:r>
            <a:r>
              <a:rPr sz="2400" spc="-10" dirty="0">
                <a:latin typeface="Cambria Math"/>
                <a:cs typeface="Cambria Math"/>
              </a:rPr>
              <a:t>𝑿[𝒎𝒊𝒅]</a:t>
            </a:r>
            <a:r>
              <a:rPr sz="2400" spc="-5" dirty="0" err="1">
                <a:latin typeface="PMingLiU"/>
                <a:cs typeface="PMingLiU"/>
              </a:rPr>
              <a:t>为结尾的最大子数组之和</a:t>
            </a:r>
            <a:endParaRPr sz="2400" dirty="0">
              <a:latin typeface="PMingLiU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sz="2400" dirty="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 err="1">
                <a:latin typeface="PMingLiU"/>
                <a:cs typeface="PMingLiU"/>
              </a:rPr>
              <a:t>以</a:t>
            </a:r>
            <a:r>
              <a:rPr sz="2400" dirty="0">
                <a:latin typeface="Cambria Math"/>
                <a:cs typeface="Cambria Math"/>
              </a:rPr>
              <a:t>𝑿[𝒎𝒊𝒅</a:t>
            </a:r>
            <a:r>
              <a:rPr sz="2400" spc="-5" dirty="0">
                <a:latin typeface="Cambria Math"/>
                <a:cs typeface="Cambria Math"/>
              </a:rPr>
              <a:t> + </a:t>
            </a:r>
            <a:r>
              <a:rPr sz="2400" spc="-10" dirty="0">
                <a:latin typeface="Cambria Math"/>
                <a:cs typeface="Cambria Math"/>
              </a:rPr>
              <a:t>𝟏]</a:t>
            </a:r>
            <a:r>
              <a:rPr sz="2400" spc="-5" dirty="0" err="1">
                <a:latin typeface="PMingLiU"/>
                <a:cs typeface="PMingLiU"/>
              </a:rPr>
              <a:t>为开头的最大子数组之和</a:t>
            </a:r>
            <a:endParaRPr lang="en-US" sz="2400" spc="-5" dirty="0">
              <a:latin typeface="PMingLiU"/>
              <a:cs typeface="PMingLiU"/>
            </a:endParaRPr>
          </a:p>
          <a:p>
            <a:pPr marL="742315" lvl="1" indent="-347980"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分别求出</a:t>
            </a:r>
            <a:r>
              <a:rPr lang="zh-CN" altLang="en-US" sz="2400" dirty="0">
                <a:solidFill>
                  <a:srgbClr val="1CB450"/>
                </a:solidFill>
                <a:latin typeface="Cambria Math"/>
                <a:cs typeface="Cambria Math"/>
              </a:rPr>
              <a:t>𝑳𝒆𝒇𝒕</a:t>
            </a:r>
            <a:r>
              <a:rPr lang="zh-CN" altLang="en-US" sz="2400" dirty="0">
                <a:latin typeface="PMingLiU"/>
                <a:cs typeface="PMingLiU"/>
              </a:rPr>
              <a:t>和</a:t>
            </a:r>
            <a:r>
              <a:rPr lang="zh-CN" altLang="en-US" sz="2400" dirty="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r>
              <a:rPr lang="zh-CN" altLang="en-US" sz="2400" dirty="0">
                <a:latin typeface="PMingLiU"/>
                <a:cs typeface="PMingLiU"/>
              </a:rPr>
              <a:t>，便可求出</a:t>
            </a:r>
            <a:r>
              <a:rPr lang="zh-CN" altLang="en-US" sz="2400" spc="-25" dirty="0">
                <a:latin typeface="Cambria Math"/>
                <a:cs typeface="Cambria Math"/>
              </a:rPr>
              <a:t>𝑺</a:t>
            </a:r>
            <a:r>
              <a:rPr lang="zh-CN" altLang="en-US" sz="2625" spc="-37" baseline="-15873" dirty="0">
                <a:latin typeface="Cambria Math"/>
                <a:cs typeface="Cambria Math"/>
              </a:rPr>
              <a:t>𝟑</a:t>
            </a:r>
            <a:endParaRPr lang="zh-CN" altLang="en-US" sz="2625" baseline="-15873" dirty="0">
              <a:latin typeface="Cambria Math"/>
              <a:cs typeface="Cambria Math"/>
            </a:endParaRPr>
          </a:p>
          <a:p>
            <a:pPr marL="7423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</a:tabLst>
            </a:pPr>
            <a:endParaRPr sz="2400" dirty="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44873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ED2B40-6C2B-8244-8993-683503007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599295"/>
              </p:ext>
            </p:extLst>
          </p:nvPr>
        </p:nvGraphicFramePr>
        <p:xfrm>
          <a:off x="3297197" y="1856494"/>
          <a:ext cx="2879723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5166CF0F-F058-D243-A7F0-B692111B35C7}"/>
              </a:ext>
            </a:extLst>
          </p:cNvPr>
          <p:cNvSpPr txBox="1"/>
          <p:nvPr/>
        </p:nvSpPr>
        <p:spPr>
          <a:xfrm>
            <a:off x="828190" y="1193173"/>
            <a:ext cx="2395220" cy="1160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00AF50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00AF50"/>
                </a:solidFill>
                <a:latin typeface="Cambria Math"/>
                <a:cs typeface="Cambria Math"/>
              </a:rPr>
              <a:t>𝑳𝒆𝒇𝒕</a:t>
            </a:r>
            <a:endParaRPr sz="2800">
              <a:latin typeface="Cambria Math"/>
              <a:cs typeface="Cambria Math"/>
            </a:endParaRPr>
          </a:p>
          <a:p>
            <a:pPr marL="1264285">
              <a:lnSpc>
                <a:spcPct val="100000"/>
              </a:lnSpc>
              <a:spcBef>
                <a:spcPts val="2450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F8A1D77-4B06-4F43-A2C4-517E9A01C96F}"/>
              </a:ext>
            </a:extLst>
          </p:cNvPr>
          <p:cNvSpPr/>
          <p:nvPr/>
        </p:nvSpPr>
        <p:spPr>
          <a:xfrm>
            <a:off x="6122311" y="2429391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2"/>
                </a:lnTo>
                <a:lnTo>
                  <a:pt x="76200" y="506602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EF5C50D-F414-104C-90CC-04007245379D}"/>
              </a:ext>
            </a:extLst>
          </p:cNvPr>
          <p:cNvSpPr txBox="1"/>
          <p:nvPr/>
        </p:nvSpPr>
        <p:spPr>
          <a:xfrm>
            <a:off x="5445655" y="2918596"/>
            <a:ext cx="151384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42570">
              <a:lnSpc>
                <a:spcPts val="2385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2000">
              <a:latin typeface="Cambria Math"/>
              <a:cs typeface="Cambria Math"/>
            </a:endParaRPr>
          </a:p>
          <a:p>
            <a:pPr marL="133350">
              <a:lnSpc>
                <a:spcPts val="2385"/>
              </a:lnSpc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175" baseline="-15325">
                <a:solidFill>
                  <a:srgbClr val="FF0000"/>
                </a:solidFill>
                <a:latin typeface="Cambria Math"/>
                <a:cs typeface="Cambria Math"/>
              </a:rPr>
              <a:t>𝒍𝒆𝒇𝒕</a:t>
            </a:r>
            <a:r>
              <a:rPr sz="2175" spc="450" baseline="-153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−∞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DBD90A5-BA24-4C4A-BE71-EAFE822C0F62}"/>
              </a:ext>
            </a:extLst>
          </p:cNvPr>
          <p:cNvSpPr txBox="1"/>
          <p:nvPr/>
        </p:nvSpPr>
        <p:spPr>
          <a:xfrm>
            <a:off x="5192417" y="1461144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7244DB5-2A62-7A4B-8A21-95BE6D435C11}"/>
              </a:ext>
            </a:extLst>
          </p:cNvPr>
          <p:cNvSpPr txBox="1"/>
          <p:nvPr/>
        </p:nvSpPr>
        <p:spPr>
          <a:xfrm>
            <a:off x="828190" y="3668708"/>
            <a:ext cx="6534784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 spc="-10">
                <a:latin typeface="Cambria Math"/>
                <a:cs typeface="Cambria Math"/>
              </a:rPr>
              <a:t>𝑿[𝒎𝒊𝒅]</a:t>
            </a:r>
            <a:r>
              <a:rPr sz="2800" spc="-5">
                <a:latin typeface="PMingLiU"/>
                <a:cs typeface="PMingLiU"/>
              </a:rPr>
              <a:t>向前遍历求和，并记录最大值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1743617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ED2B40-6C2B-8244-8993-68350300710D}"/>
              </a:ext>
            </a:extLst>
          </p:cNvPr>
          <p:cNvGraphicFramePr>
            <a:graphicFrameLocks noGrp="1"/>
          </p:cNvGraphicFramePr>
          <p:nvPr/>
        </p:nvGraphicFramePr>
        <p:xfrm>
          <a:off x="3297197" y="1856494"/>
          <a:ext cx="2879723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5166CF0F-F058-D243-A7F0-B692111B35C7}"/>
              </a:ext>
            </a:extLst>
          </p:cNvPr>
          <p:cNvSpPr txBox="1"/>
          <p:nvPr/>
        </p:nvSpPr>
        <p:spPr>
          <a:xfrm>
            <a:off x="828190" y="1193173"/>
            <a:ext cx="2395220" cy="1160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00AF50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00AF50"/>
                </a:solidFill>
                <a:latin typeface="Cambria Math"/>
                <a:cs typeface="Cambria Math"/>
              </a:rPr>
              <a:t>𝑳𝒆𝒇𝒕</a:t>
            </a:r>
            <a:endParaRPr sz="2800">
              <a:latin typeface="Cambria Math"/>
              <a:cs typeface="Cambria Math"/>
            </a:endParaRPr>
          </a:p>
          <a:p>
            <a:pPr marL="1264285">
              <a:lnSpc>
                <a:spcPct val="100000"/>
              </a:lnSpc>
              <a:spcBef>
                <a:spcPts val="2450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DBD90A5-BA24-4C4A-BE71-EAFE822C0F62}"/>
              </a:ext>
            </a:extLst>
          </p:cNvPr>
          <p:cNvSpPr txBox="1"/>
          <p:nvPr/>
        </p:nvSpPr>
        <p:spPr>
          <a:xfrm>
            <a:off x="5192417" y="1461144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7244DB5-2A62-7A4B-8A21-95BE6D435C11}"/>
              </a:ext>
            </a:extLst>
          </p:cNvPr>
          <p:cNvSpPr txBox="1"/>
          <p:nvPr/>
        </p:nvSpPr>
        <p:spPr>
          <a:xfrm>
            <a:off x="828190" y="3668708"/>
            <a:ext cx="6534784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 spc="-10">
                <a:latin typeface="Cambria Math"/>
                <a:cs typeface="Cambria Math"/>
              </a:rPr>
              <a:t>𝑿[𝒎𝒊𝒅]</a:t>
            </a:r>
            <a:r>
              <a:rPr sz="2800" spc="-5">
                <a:latin typeface="PMingLiU"/>
                <a:cs typeface="PMingLiU"/>
              </a:rPr>
              <a:t>向前遍历求和，并记录最大值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BC45D401-A52E-B647-9F39-CF46C33172DC}"/>
              </a:ext>
            </a:extLst>
          </p:cNvPr>
          <p:cNvSpPr/>
          <p:nvPr/>
        </p:nvSpPr>
        <p:spPr>
          <a:xfrm>
            <a:off x="5750052" y="2461666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2"/>
                </a:lnTo>
                <a:lnTo>
                  <a:pt x="76200" y="506602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F89A508-6537-6D4F-842D-C6032E2FF3E1}"/>
              </a:ext>
            </a:extLst>
          </p:cNvPr>
          <p:cNvSpPr txBox="1"/>
          <p:nvPr/>
        </p:nvSpPr>
        <p:spPr>
          <a:xfrm>
            <a:off x="4609338" y="2950871"/>
            <a:ext cx="2433955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ts val="2385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9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2000" spc="-1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−𝟒</a:t>
            </a:r>
            <a:endParaRPr sz="2000">
              <a:latin typeface="Cambria Math"/>
              <a:cs typeface="Cambria Math"/>
            </a:endParaRPr>
          </a:p>
          <a:p>
            <a:pPr algn="ctr">
              <a:lnSpc>
                <a:spcPts val="2385"/>
              </a:lnSpc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175" baseline="-15325">
                <a:solidFill>
                  <a:srgbClr val="FF0000"/>
                </a:solidFill>
                <a:latin typeface="Cambria Math"/>
                <a:cs typeface="Cambria Math"/>
              </a:rPr>
              <a:t>𝒍𝒆𝒇𝒕</a:t>
            </a:r>
            <a:r>
              <a:rPr sz="2175" spc="427" baseline="-153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−∞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44C6F85C-8F2B-E848-973F-445FFD4A7E92}"/>
              </a:ext>
            </a:extLst>
          </p:cNvPr>
          <p:cNvSpPr txBox="1"/>
          <p:nvPr/>
        </p:nvSpPr>
        <p:spPr>
          <a:xfrm>
            <a:off x="7485633" y="2809162"/>
            <a:ext cx="1477010" cy="94170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5"/>
              </a:spcBef>
            </a:pPr>
            <a:r>
              <a:rPr sz="2600">
                <a:latin typeface="Cambria Math"/>
                <a:cs typeface="Cambria Math"/>
              </a:rPr>
              <a:t>−𝟒</a:t>
            </a:r>
            <a:r>
              <a:rPr sz="2600" spc="114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&gt;</a:t>
            </a:r>
            <a:r>
              <a:rPr sz="2600" spc="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−∞</a:t>
            </a:r>
            <a:endParaRPr sz="2600">
              <a:latin typeface="Cambria Math"/>
              <a:cs typeface="Cambria Math"/>
            </a:endParaRPr>
          </a:p>
          <a:p>
            <a:pPr marL="78105">
              <a:lnSpc>
                <a:spcPct val="100000"/>
              </a:lnSpc>
              <a:spcBef>
                <a:spcPts val="484"/>
              </a:spcBef>
            </a:pPr>
            <a:r>
              <a:rPr sz="3900" spc="-52" baseline="11752">
                <a:latin typeface="PMingLiU"/>
                <a:cs typeface="PMingLiU"/>
              </a:rPr>
              <a:t>更新</a:t>
            </a:r>
            <a:r>
              <a:rPr sz="3900" spc="-15" baseline="11752">
                <a:latin typeface="Cambria Math"/>
                <a:cs typeface="Cambria Math"/>
              </a:rPr>
              <a:t>𝑺</a:t>
            </a:r>
            <a:r>
              <a:rPr sz="1900" spc="-10">
                <a:latin typeface="Cambria Math"/>
                <a:cs typeface="Cambria Math"/>
              </a:rPr>
              <a:t>𝒍𝒆𝒇𝒕</a:t>
            </a:r>
            <a:endParaRPr sz="19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05146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ED2B40-6C2B-8244-8993-68350300710D}"/>
              </a:ext>
            </a:extLst>
          </p:cNvPr>
          <p:cNvGraphicFramePr>
            <a:graphicFrameLocks noGrp="1"/>
          </p:cNvGraphicFramePr>
          <p:nvPr/>
        </p:nvGraphicFramePr>
        <p:xfrm>
          <a:off x="3297197" y="1856494"/>
          <a:ext cx="2879723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5166CF0F-F058-D243-A7F0-B692111B35C7}"/>
              </a:ext>
            </a:extLst>
          </p:cNvPr>
          <p:cNvSpPr txBox="1"/>
          <p:nvPr/>
        </p:nvSpPr>
        <p:spPr>
          <a:xfrm>
            <a:off x="828190" y="1193173"/>
            <a:ext cx="2395220" cy="1160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00AF50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00AF50"/>
                </a:solidFill>
                <a:latin typeface="Cambria Math"/>
                <a:cs typeface="Cambria Math"/>
              </a:rPr>
              <a:t>𝑳𝒆𝒇𝒕</a:t>
            </a:r>
            <a:endParaRPr sz="2800">
              <a:latin typeface="Cambria Math"/>
              <a:cs typeface="Cambria Math"/>
            </a:endParaRPr>
          </a:p>
          <a:p>
            <a:pPr marL="1264285">
              <a:lnSpc>
                <a:spcPct val="100000"/>
              </a:lnSpc>
              <a:spcBef>
                <a:spcPts val="2450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DBD90A5-BA24-4C4A-BE71-EAFE822C0F62}"/>
              </a:ext>
            </a:extLst>
          </p:cNvPr>
          <p:cNvSpPr txBox="1"/>
          <p:nvPr/>
        </p:nvSpPr>
        <p:spPr>
          <a:xfrm>
            <a:off x="5192417" y="1461144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7244DB5-2A62-7A4B-8A21-95BE6D435C11}"/>
              </a:ext>
            </a:extLst>
          </p:cNvPr>
          <p:cNvSpPr txBox="1"/>
          <p:nvPr/>
        </p:nvSpPr>
        <p:spPr>
          <a:xfrm>
            <a:off x="828190" y="3668708"/>
            <a:ext cx="6534784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 spc="-10">
                <a:latin typeface="Cambria Math"/>
                <a:cs typeface="Cambria Math"/>
              </a:rPr>
              <a:t>𝑿[𝒎𝒊𝒅]</a:t>
            </a:r>
            <a:r>
              <a:rPr sz="2800" spc="-5">
                <a:latin typeface="PMingLiU"/>
                <a:cs typeface="PMingLiU"/>
              </a:rPr>
              <a:t>向前遍历求和，并记录最大值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F1CAADC9-EAB1-F542-BACA-2E9EF4DC2914}"/>
              </a:ext>
            </a:extLst>
          </p:cNvPr>
          <p:cNvSpPr/>
          <p:nvPr/>
        </p:nvSpPr>
        <p:spPr>
          <a:xfrm>
            <a:off x="5750052" y="2450907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2"/>
                </a:lnTo>
                <a:lnTo>
                  <a:pt x="76200" y="506602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24B08C6D-D548-3B45-A7E9-84D70F13CEB1}"/>
              </a:ext>
            </a:extLst>
          </p:cNvPr>
          <p:cNvSpPr txBox="1"/>
          <p:nvPr/>
        </p:nvSpPr>
        <p:spPr>
          <a:xfrm>
            <a:off x="5074158" y="2940112"/>
            <a:ext cx="151257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6685">
              <a:lnSpc>
                <a:spcPts val="2385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−𝟒</a:t>
            </a:r>
            <a:endParaRPr sz="2000">
              <a:latin typeface="Cambria Math"/>
              <a:cs typeface="Cambria Math"/>
            </a:endParaRPr>
          </a:p>
          <a:p>
            <a:pPr marL="164465">
              <a:lnSpc>
                <a:spcPts val="2385"/>
              </a:lnSpc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175" baseline="-15325">
                <a:solidFill>
                  <a:srgbClr val="FF0000"/>
                </a:solidFill>
                <a:latin typeface="Cambria Math"/>
                <a:cs typeface="Cambria Math"/>
              </a:rPr>
              <a:t>𝒍𝒆𝒇𝒕</a:t>
            </a:r>
            <a:r>
              <a:rPr sz="2175" spc="457" baseline="-153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−𝟒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0568543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166CF0F-F058-D243-A7F0-B692111B35C7}"/>
              </a:ext>
            </a:extLst>
          </p:cNvPr>
          <p:cNvSpPr txBox="1"/>
          <p:nvPr/>
        </p:nvSpPr>
        <p:spPr>
          <a:xfrm>
            <a:off x="828190" y="1193173"/>
            <a:ext cx="2395220" cy="1160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00AF50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00AF50"/>
                </a:solidFill>
                <a:latin typeface="Cambria Math"/>
                <a:cs typeface="Cambria Math"/>
              </a:rPr>
              <a:t>𝑳𝒆𝒇𝒕</a:t>
            </a:r>
            <a:endParaRPr sz="2800">
              <a:latin typeface="Cambria Math"/>
              <a:cs typeface="Cambria Math"/>
            </a:endParaRPr>
          </a:p>
          <a:p>
            <a:pPr marL="1264285">
              <a:lnSpc>
                <a:spcPct val="100000"/>
              </a:lnSpc>
              <a:spcBef>
                <a:spcPts val="2450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7244DB5-2A62-7A4B-8A21-95BE6D435C11}"/>
              </a:ext>
            </a:extLst>
          </p:cNvPr>
          <p:cNvSpPr txBox="1"/>
          <p:nvPr/>
        </p:nvSpPr>
        <p:spPr>
          <a:xfrm>
            <a:off x="828190" y="3668708"/>
            <a:ext cx="6534784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 spc="-10">
                <a:latin typeface="Cambria Math"/>
                <a:cs typeface="Cambria Math"/>
              </a:rPr>
              <a:t>𝑿[𝒎𝒊𝒅]</a:t>
            </a:r>
            <a:r>
              <a:rPr sz="2800" spc="-5">
                <a:latin typeface="PMingLiU"/>
                <a:cs typeface="PMingLiU"/>
              </a:rPr>
              <a:t>向前遍历求和，并记录最大值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047ED577-0047-C844-8F48-565664880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129689"/>
              </p:ext>
            </p:extLst>
          </p:nvPr>
        </p:nvGraphicFramePr>
        <p:xfrm>
          <a:off x="3264924" y="1867251"/>
          <a:ext cx="2879723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5">
            <a:extLst>
              <a:ext uri="{FF2B5EF4-FFF2-40B4-BE49-F238E27FC236}">
                <a16:creationId xmlns:a16="http://schemas.microsoft.com/office/drawing/2014/main" id="{3F1CD1DC-C904-CE4B-90EA-8194BA321961}"/>
              </a:ext>
            </a:extLst>
          </p:cNvPr>
          <p:cNvSpPr/>
          <p:nvPr/>
        </p:nvSpPr>
        <p:spPr>
          <a:xfrm>
            <a:off x="4652906" y="2440148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2"/>
                </a:lnTo>
                <a:lnTo>
                  <a:pt x="76200" y="506602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AB15E29D-1AB6-854F-A3C7-41F11509C430}"/>
              </a:ext>
            </a:extLst>
          </p:cNvPr>
          <p:cNvSpPr txBox="1"/>
          <p:nvPr/>
        </p:nvSpPr>
        <p:spPr>
          <a:xfrm>
            <a:off x="4049403" y="2929353"/>
            <a:ext cx="129286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000">
              <a:latin typeface="Cambria Math"/>
              <a:cs typeface="Cambria Math"/>
            </a:endParaRPr>
          </a:p>
          <a:p>
            <a:pPr marL="149860">
              <a:lnSpc>
                <a:spcPct val="100000"/>
              </a:lnSpc>
              <a:spcBef>
                <a:spcPts val="375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𝒍𝒆𝒇𝒕</a:t>
            </a:r>
            <a:r>
              <a:rPr sz="1450" spc="2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72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5" baseline="11111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3000" baseline="11111">
              <a:latin typeface="Cambria Math"/>
              <a:cs typeface="Cambria Math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6994FECF-39C4-5242-B042-8ACCFFF21369}"/>
              </a:ext>
            </a:extLst>
          </p:cNvPr>
          <p:cNvSpPr txBox="1"/>
          <p:nvPr/>
        </p:nvSpPr>
        <p:spPr>
          <a:xfrm>
            <a:off x="5160144" y="1471901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684509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166CF0F-F058-D243-A7F0-B692111B35C7}"/>
              </a:ext>
            </a:extLst>
          </p:cNvPr>
          <p:cNvSpPr txBox="1"/>
          <p:nvPr/>
        </p:nvSpPr>
        <p:spPr>
          <a:xfrm>
            <a:off x="828190" y="1193173"/>
            <a:ext cx="2395220" cy="1160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00AF50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00AF50"/>
                </a:solidFill>
                <a:latin typeface="Cambria Math"/>
                <a:cs typeface="Cambria Math"/>
              </a:rPr>
              <a:t>𝑳𝒆𝒇𝒕</a:t>
            </a:r>
            <a:endParaRPr sz="2800">
              <a:latin typeface="Cambria Math"/>
              <a:cs typeface="Cambria Math"/>
            </a:endParaRPr>
          </a:p>
          <a:p>
            <a:pPr marL="1264285">
              <a:lnSpc>
                <a:spcPct val="100000"/>
              </a:lnSpc>
              <a:spcBef>
                <a:spcPts val="2450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7244DB5-2A62-7A4B-8A21-95BE6D435C11}"/>
              </a:ext>
            </a:extLst>
          </p:cNvPr>
          <p:cNvSpPr txBox="1"/>
          <p:nvPr/>
        </p:nvSpPr>
        <p:spPr>
          <a:xfrm>
            <a:off x="828190" y="3668708"/>
            <a:ext cx="6534784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 spc="-10">
                <a:latin typeface="Cambria Math"/>
                <a:cs typeface="Cambria Math"/>
              </a:rPr>
              <a:t>𝑿[𝒎𝒊𝒅]</a:t>
            </a:r>
            <a:r>
              <a:rPr sz="2800" spc="-5">
                <a:latin typeface="PMingLiU"/>
                <a:cs typeface="PMingLiU"/>
              </a:rPr>
              <a:t>向前遍历求和，并记录最大值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22D4BF11-1341-6C47-B107-1A77EE8BF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61328"/>
              </p:ext>
            </p:extLst>
          </p:nvPr>
        </p:nvGraphicFramePr>
        <p:xfrm>
          <a:off x="3232653" y="1878010"/>
          <a:ext cx="2879723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5">
            <a:extLst>
              <a:ext uri="{FF2B5EF4-FFF2-40B4-BE49-F238E27FC236}">
                <a16:creationId xmlns:a16="http://schemas.microsoft.com/office/drawing/2014/main" id="{FE883971-3AAE-2642-821D-07A449FDE936}"/>
              </a:ext>
            </a:extLst>
          </p:cNvPr>
          <p:cNvSpPr/>
          <p:nvPr/>
        </p:nvSpPr>
        <p:spPr>
          <a:xfrm>
            <a:off x="4083426" y="2450907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2"/>
                </a:lnTo>
                <a:lnTo>
                  <a:pt x="76200" y="506602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8C223E0-2A3F-9A46-83A1-4A00A5B7881A}"/>
              </a:ext>
            </a:extLst>
          </p:cNvPr>
          <p:cNvSpPr txBox="1"/>
          <p:nvPr/>
        </p:nvSpPr>
        <p:spPr>
          <a:xfrm>
            <a:off x="3479921" y="2940112"/>
            <a:ext cx="129286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9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  <a:p>
            <a:pPr marL="149860">
              <a:lnSpc>
                <a:spcPct val="100000"/>
              </a:lnSpc>
              <a:spcBef>
                <a:spcPts val="375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𝒍𝒆𝒇𝒕</a:t>
            </a:r>
            <a:r>
              <a:rPr sz="1450" spc="2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79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5" baseline="11111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3000" baseline="11111">
              <a:latin typeface="Cambria Math"/>
              <a:cs typeface="Cambria Math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B7805C14-6125-A946-85C7-33469D198C5B}"/>
              </a:ext>
            </a:extLst>
          </p:cNvPr>
          <p:cNvSpPr txBox="1"/>
          <p:nvPr/>
        </p:nvSpPr>
        <p:spPr>
          <a:xfrm>
            <a:off x="5127873" y="1482660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0797859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166CF0F-F058-D243-A7F0-B692111B35C7}"/>
              </a:ext>
            </a:extLst>
          </p:cNvPr>
          <p:cNvSpPr txBox="1"/>
          <p:nvPr/>
        </p:nvSpPr>
        <p:spPr>
          <a:xfrm>
            <a:off x="828190" y="1193173"/>
            <a:ext cx="2395220" cy="1160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00AF50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00AF50"/>
                </a:solidFill>
                <a:latin typeface="Cambria Math"/>
                <a:cs typeface="Cambria Math"/>
              </a:rPr>
              <a:t>𝑳𝒆𝒇𝒕</a:t>
            </a:r>
            <a:endParaRPr sz="2800">
              <a:latin typeface="Cambria Math"/>
              <a:cs typeface="Cambria Math"/>
            </a:endParaRPr>
          </a:p>
          <a:p>
            <a:pPr marL="1264285">
              <a:lnSpc>
                <a:spcPct val="100000"/>
              </a:lnSpc>
              <a:spcBef>
                <a:spcPts val="2450"/>
              </a:spcBef>
            </a:pPr>
            <a:r>
              <a:rPr sz="2600" spc="-20">
                <a:latin typeface="Cambria Math"/>
                <a:cs typeface="Cambria Math"/>
              </a:rPr>
              <a:t>𝑿[𝟏.</a:t>
            </a:r>
            <a:r>
              <a:rPr sz="2600" spc="-130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.</a:t>
            </a:r>
            <a:r>
              <a:rPr sz="2600" spc="-120">
                <a:latin typeface="Cambria Math"/>
                <a:cs typeface="Cambria Math"/>
              </a:rPr>
              <a:t> </a:t>
            </a:r>
            <a:r>
              <a:rPr sz="2600" spc="-25">
                <a:latin typeface="Cambria Math"/>
                <a:cs typeface="Cambria Math"/>
              </a:rPr>
              <a:t>𝒏]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7244DB5-2A62-7A4B-8A21-95BE6D435C11}"/>
              </a:ext>
            </a:extLst>
          </p:cNvPr>
          <p:cNvSpPr txBox="1"/>
          <p:nvPr/>
        </p:nvSpPr>
        <p:spPr>
          <a:xfrm>
            <a:off x="828190" y="3668708"/>
            <a:ext cx="7455198" cy="209159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记</a:t>
            </a:r>
            <a:r>
              <a:rPr sz="2800" dirty="0">
                <a:latin typeface="Cambria Math"/>
                <a:cs typeface="Cambria Math"/>
              </a:rPr>
              <a:t>𝒎𝒊𝒅</a:t>
            </a:r>
            <a:r>
              <a:rPr sz="2800" spc="95" dirty="0">
                <a:latin typeface="Cambria Math"/>
                <a:cs typeface="Cambria Math"/>
              </a:rPr>
              <a:t> = </a:t>
            </a:r>
            <a:r>
              <a:rPr sz="2800" spc="-25" dirty="0">
                <a:latin typeface="Cambria Math"/>
                <a:cs typeface="Cambria Math"/>
              </a:rPr>
              <a:t>𝒏/𝟐</a:t>
            </a:r>
            <a:endParaRPr sz="280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从</a:t>
            </a:r>
            <a:r>
              <a:rPr sz="2800" spc="-10" dirty="0">
                <a:latin typeface="Cambria Math"/>
                <a:cs typeface="Cambria Math"/>
              </a:rPr>
              <a:t>𝑿[𝒎𝒊𝒅]</a:t>
            </a:r>
            <a:r>
              <a:rPr sz="2800" spc="-5" dirty="0" err="1">
                <a:latin typeface="PMingLiU"/>
                <a:cs typeface="PMingLiU"/>
              </a:rPr>
              <a:t>向前遍历求和，并记录最大值</a:t>
            </a:r>
            <a:endParaRPr lang="en-US" sz="2800" spc="-5" dirty="0">
              <a:latin typeface="PMingLiU"/>
              <a:cs typeface="PMingLiU"/>
            </a:endParaRPr>
          </a:p>
          <a:p>
            <a:pPr marL="355600" indent="-342900"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以</a:t>
            </a:r>
            <a:r>
              <a:rPr lang="zh-CN" altLang="en-US" sz="2800" spc="-10" dirty="0">
                <a:latin typeface="Cambria Math"/>
                <a:cs typeface="Cambria Math"/>
              </a:rPr>
              <a:t>𝑿</a:t>
            </a:r>
            <a:r>
              <a:rPr lang="en-US" altLang="zh-CN" sz="2800" spc="-10" dirty="0">
                <a:latin typeface="Cambria Math"/>
                <a:cs typeface="Cambria Math"/>
              </a:rPr>
              <a:t>[𝒎𝒊𝒅]</a:t>
            </a:r>
            <a:r>
              <a:rPr lang="zh-CN" altLang="en-US" sz="2800" spc="-5" dirty="0">
                <a:latin typeface="PMingLiU"/>
                <a:cs typeface="PMingLiU"/>
              </a:rPr>
              <a:t>为结尾的最大子数组之和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lang="zh-CN" altLang="en-US" sz="3075" baseline="-14905" dirty="0">
                <a:solidFill>
                  <a:srgbClr val="FF0000"/>
                </a:solidFill>
                <a:latin typeface="Cambria Math"/>
                <a:cs typeface="Cambria Math"/>
              </a:rPr>
              <a:t>𝒍𝒆𝒇𝒕</a:t>
            </a:r>
            <a:r>
              <a:rPr lang="zh-CN" altLang="en-US" sz="3075" spc="644" baseline="-149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70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PMingLiU"/>
              <a:cs typeface="PMingLiU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3D5A662C-59B5-2441-81FF-2CCCC1DE0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701825"/>
              </p:ext>
            </p:extLst>
          </p:nvPr>
        </p:nvGraphicFramePr>
        <p:xfrm>
          <a:off x="3221894" y="1878011"/>
          <a:ext cx="2879723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5">
            <a:extLst>
              <a:ext uri="{FF2B5EF4-FFF2-40B4-BE49-F238E27FC236}">
                <a16:creationId xmlns:a16="http://schemas.microsoft.com/office/drawing/2014/main" id="{41CC1976-7995-2349-ADE1-2B307060BF66}"/>
              </a:ext>
            </a:extLst>
          </p:cNvPr>
          <p:cNvSpPr/>
          <p:nvPr/>
        </p:nvSpPr>
        <p:spPr>
          <a:xfrm>
            <a:off x="3492023" y="2450908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2"/>
                </a:lnTo>
                <a:lnTo>
                  <a:pt x="76200" y="506602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AE5DA474-9EF9-4041-95D6-6B37AB7422B8}"/>
              </a:ext>
            </a:extLst>
          </p:cNvPr>
          <p:cNvSpPr txBox="1"/>
          <p:nvPr/>
        </p:nvSpPr>
        <p:spPr>
          <a:xfrm>
            <a:off x="2888519" y="2940113"/>
            <a:ext cx="129286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2000">
              <a:latin typeface="Cambria Math"/>
              <a:cs typeface="Cambria Math"/>
            </a:endParaRPr>
          </a:p>
          <a:p>
            <a:pPr marL="149860">
              <a:lnSpc>
                <a:spcPct val="100000"/>
              </a:lnSpc>
              <a:spcBef>
                <a:spcPts val="375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𝒍𝒆𝒇𝒕</a:t>
            </a:r>
            <a:r>
              <a:rPr sz="145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65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5" baseline="11111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3000" baseline="11111">
              <a:latin typeface="Cambria Math"/>
              <a:cs typeface="Cambria Math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55DD4320-EE74-B74D-A737-9DA86925D262}"/>
              </a:ext>
            </a:extLst>
          </p:cNvPr>
          <p:cNvSpPr txBox="1"/>
          <p:nvPr/>
        </p:nvSpPr>
        <p:spPr>
          <a:xfrm>
            <a:off x="5117114" y="1482661"/>
            <a:ext cx="871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𝑿[𝒎𝒊𝒅]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21355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501D885F-5D3E-2744-9089-29940030CBEF}"/>
              </a:ext>
            </a:extLst>
          </p:cNvPr>
          <p:cNvSpPr txBox="1"/>
          <p:nvPr/>
        </p:nvSpPr>
        <p:spPr>
          <a:xfrm>
            <a:off x="6249804" y="1516441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7BF50BD7-D8B9-7E49-BD47-F81B068B9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018133"/>
              </p:ext>
            </p:extLst>
          </p:nvPr>
        </p:nvGraphicFramePr>
        <p:xfrm>
          <a:off x="6147696" y="1914713"/>
          <a:ext cx="2879723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5">
            <a:extLst>
              <a:ext uri="{FF2B5EF4-FFF2-40B4-BE49-F238E27FC236}">
                <a16:creationId xmlns:a16="http://schemas.microsoft.com/office/drawing/2014/main" id="{99BFE2BA-552A-6B4A-AEFC-9FC0395D9197}"/>
              </a:ext>
            </a:extLst>
          </p:cNvPr>
          <p:cNvSpPr/>
          <p:nvPr/>
        </p:nvSpPr>
        <p:spPr>
          <a:xfrm>
            <a:off x="6090037" y="2486720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3"/>
                </a:lnTo>
                <a:lnTo>
                  <a:pt x="76200" y="506603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0AF67003-9978-1644-9FAB-D5D936F3A181}"/>
              </a:ext>
            </a:extLst>
          </p:cNvPr>
          <p:cNvSpPr txBox="1"/>
          <p:nvPr/>
        </p:nvSpPr>
        <p:spPr>
          <a:xfrm>
            <a:off x="5360041" y="2975925"/>
            <a:ext cx="165100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2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sz="145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57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37" baseline="11111">
                <a:solidFill>
                  <a:srgbClr val="FF0000"/>
                </a:solidFill>
                <a:latin typeface="Cambria Math"/>
                <a:cs typeface="Cambria Math"/>
              </a:rPr>
              <a:t>−∞</a:t>
            </a:r>
            <a:endParaRPr sz="3000" baseline="11111">
              <a:latin typeface="Cambria Math"/>
              <a:cs typeface="Cambria Math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1067A85-6AA6-8346-A047-AA57D83AA17D}"/>
              </a:ext>
            </a:extLst>
          </p:cNvPr>
          <p:cNvSpPr txBox="1"/>
          <p:nvPr/>
        </p:nvSpPr>
        <p:spPr>
          <a:xfrm>
            <a:off x="795916" y="1397568"/>
            <a:ext cx="20764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25ADEF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12BC872-0B42-B042-B56D-4AD8C39CE684}"/>
              </a:ext>
            </a:extLst>
          </p:cNvPr>
          <p:cNvSpPr txBox="1"/>
          <p:nvPr/>
        </p:nvSpPr>
        <p:spPr>
          <a:xfrm>
            <a:off x="795916" y="3873103"/>
            <a:ext cx="7171055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>
                <a:latin typeface="Cambria Math"/>
                <a:cs typeface="Cambria Math"/>
              </a:rPr>
              <a:t>𝑿[𝒎𝒊𝒅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-5">
                <a:latin typeface="PMingLiU"/>
                <a:cs typeface="PMingLiU"/>
              </a:rPr>
              <a:t>向后遍历求和，并记录最大值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6403042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501D885F-5D3E-2744-9089-29940030CBEF}"/>
              </a:ext>
            </a:extLst>
          </p:cNvPr>
          <p:cNvSpPr txBox="1"/>
          <p:nvPr/>
        </p:nvSpPr>
        <p:spPr>
          <a:xfrm>
            <a:off x="6249804" y="1516441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7BF50BD7-D8B9-7E49-BD47-F81B068B92E9}"/>
              </a:ext>
            </a:extLst>
          </p:cNvPr>
          <p:cNvGraphicFramePr>
            <a:graphicFrameLocks noGrp="1"/>
          </p:cNvGraphicFramePr>
          <p:nvPr/>
        </p:nvGraphicFramePr>
        <p:xfrm>
          <a:off x="6147696" y="1914713"/>
          <a:ext cx="2879723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7">
            <a:extLst>
              <a:ext uri="{FF2B5EF4-FFF2-40B4-BE49-F238E27FC236}">
                <a16:creationId xmlns:a16="http://schemas.microsoft.com/office/drawing/2014/main" id="{41067A85-6AA6-8346-A047-AA57D83AA17D}"/>
              </a:ext>
            </a:extLst>
          </p:cNvPr>
          <p:cNvSpPr txBox="1"/>
          <p:nvPr/>
        </p:nvSpPr>
        <p:spPr>
          <a:xfrm>
            <a:off x="795916" y="1397568"/>
            <a:ext cx="20764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25ADEF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12BC872-0B42-B042-B56D-4AD8C39CE684}"/>
              </a:ext>
            </a:extLst>
          </p:cNvPr>
          <p:cNvSpPr txBox="1"/>
          <p:nvPr/>
        </p:nvSpPr>
        <p:spPr>
          <a:xfrm>
            <a:off x="795916" y="3873103"/>
            <a:ext cx="7171055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>
                <a:latin typeface="Cambria Math"/>
                <a:cs typeface="Cambria Math"/>
              </a:rPr>
              <a:t>𝑿[𝒎𝒊𝒅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-5">
                <a:latin typeface="PMingLiU"/>
                <a:cs typeface="PMingLiU"/>
              </a:rPr>
              <a:t>向后遍历求和，并记录最大值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B86CDED-DC2D-4B4B-983E-119CC48CB87B}"/>
              </a:ext>
            </a:extLst>
          </p:cNvPr>
          <p:cNvSpPr/>
          <p:nvPr/>
        </p:nvSpPr>
        <p:spPr>
          <a:xfrm>
            <a:off x="6362567" y="2540511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3"/>
                </a:lnTo>
                <a:lnTo>
                  <a:pt x="76200" y="506603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01C0E8FE-A667-3147-B088-9E147599EF09}"/>
              </a:ext>
            </a:extLst>
          </p:cNvPr>
          <p:cNvSpPr txBox="1"/>
          <p:nvPr/>
        </p:nvSpPr>
        <p:spPr>
          <a:xfrm>
            <a:off x="5314056" y="3029716"/>
            <a:ext cx="224155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9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2000" spc="-1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sz="1450" spc="3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50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37" baseline="11111">
                <a:solidFill>
                  <a:srgbClr val="FF0000"/>
                </a:solidFill>
                <a:latin typeface="Cambria Math"/>
                <a:cs typeface="Cambria Math"/>
              </a:rPr>
              <a:t>−∞</a:t>
            </a:r>
            <a:endParaRPr sz="3000" baseline="11111">
              <a:latin typeface="Cambria Math"/>
              <a:cs typeface="Cambria Math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8A9306DD-FCCE-7E40-A864-3AB8BF0C9417}"/>
              </a:ext>
            </a:extLst>
          </p:cNvPr>
          <p:cNvSpPr txBox="1"/>
          <p:nvPr/>
        </p:nvSpPr>
        <p:spPr>
          <a:xfrm>
            <a:off x="7649464" y="2916816"/>
            <a:ext cx="1558925" cy="93916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75"/>
              </a:spcBef>
            </a:pPr>
            <a:r>
              <a:rPr sz="2600" dirty="0">
                <a:latin typeface="Cambria Math"/>
                <a:cs typeface="Cambria Math"/>
              </a:rPr>
              <a:t>𝟑</a:t>
            </a:r>
            <a:r>
              <a:rPr sz="2600" spc="14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&gt;</a:t>
            </a:r>
            <a:r>
              <a:rPr sz="2600" spc="155" dirty="0">
                <a:latin typeface="Cambria Math"/>
                <a:cs typeface="Cambria Math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−∞</a:t>
            </a:r>
            <a:endParaRPr sz="2600" dirty="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3900" spc="-52" baseline="11752" dirty="0" err="1">
                <a:latin typeface="PMingLiU"/>
                <a:cs typeface="PMingLiU"/>
              </a:rPr>
              <a:t>更新</a:t>
            </a:r>
            <a:r>
              <a:rPr sz="3900" spc="-15" baseline="11752" dirty="0">
                <a:latin typeface="Cambria Math"/>
                <a:cs typeface="Cambria Math"/>
              </a:rPr>
              <a:t>𝑺</a:t>
            </a:r>
            <a:r>
              <a:rPr sz="1900" spc="-10" dirty="0">
                <a:latin typeface="Cambria Math"/>
                <a:cs typeface="Cambria Math"/>
              </a:rPr>
              <a:t>𝒓𝒊𝒈𝒉𝒕</a:t>
            </a:r>
            <a:endParaRPr sz="19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0528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501D885F-5D3E-2744-9089-29940030CBEF}"/>
              </a:ext>
            </a:extLst>
          </p:cNvPr>
          <p:cNvSpPr txBox="1"/>
          <p:nvPr/>
        </p:nvSpPr>
        <p:spPr>
          <a:xfrm>
            <a:off x="6249804" y="1516441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7BF50BD7-D8B9-7E49-BD47-F81B068B92E9}"/>
              </a:ext>
            </a:extLst>
          </p:cNvPr>
          <p:cNvGraphicFramePr>
            <a:graphicFrameLocks noGrp="1"/>
          </p:cNvGraphicFramePr>
          <p:nvPr/>
        </p:nvGraphicFramePr>
        <p:xfrm>
          <a:off x="6147696" y="1914713"/>
          <a:ext cx="2879723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7">
            <a:extLst>
              <a:ext uri="{FF2B5EF4-FFF2-40B4-BE49-F238E27FC236}">
                <a16:creationId xmlns:a16="http://schemas.microsoft.com/office/drawing/2014/main" id="{41067A85-6AA6-8346-A047-AA57D83AA17D}"/>
              </a:ext>
            </a:extLst>
          </p:cNvPr>
          <p:cNvSpPr txBox="1"/>
          <p:nvPr/>
        </p:nvSpPr>
        <p:spPr>
          <a:xfrm>
            <a:off x="795916" y="1397568"/>
            <a:ext cx="20764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25ADEF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12BC872-0B42-B042-B56D-4AD8C39CE684}"/>
              </a:ext>
            </a:extLst>
          </p:cNvPr>
          <p:cNvSpPr txBox="1"/>
          <p:nvPr/>
        </p:nvSpPr>
        <p:spPr>
          <a:xfrm>
            <a:off x="795916" y="3873103"/>
            <a:ext cx="7171055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>
                <a:latin typeface="Cambria Math"/>
                <a:cs typeface="Cambria Math"/>
              </a:rPr>
              <a:t>𝑿[𝒎𝒊𝒅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-5">
                <a:latin typeface="PMingLiU"/>
                <a:cs typeface="PMingLiU"/>
              </a:rPr>
              <a:t>向后遍历求和，并记录最大值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16E5820F-6718-D34C-82F0-7770EB4323B0}"/>
              </a:ext>
            </a:extLst>
          </p:cNvPr>
          <p:cNvSpPr/>
          <p:nvPr/>
        </p:nvSpPr>
        <p:spPr>
          <a:xfrm>
            <a:off x="6373324" y="2540510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3"/>
                </a:lnTo>
                <a:lnTo>
                  <a:pt x="76200" y="506603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502C5E24-16C7-F54C-B1AD-4FCAB9FEAB97}"/>
              </a:ext>
            </a:extLst>
          </p:cNvPr>
          <p:cNvSpPr txBox="1"/>
          <p:nvPr/>
        </p:nvSpPr>
        <p:spPr>
          <a:xfrm>
            <a:off x="5726386" y="3029715"/>
            <a:ext cx="1393825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3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L="133350">
              <a:lnSpc>
                <a:spcPct val="100000"/>
              </a:lnSpc>
              <a:spcBef>
                <a:spcPts val="380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sz="145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57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5" baseline="11111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3000" baseline="11111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1367315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1067A85-6AA6-8346-A047-AA57D83AA17D}"/>
              </a:ext>
            </a:extLst>
          </p:cNvPr>
          <p:cNvSpPr txBox="1"/>
          <p:nvPr/>
        </p:nvSpPr>
        <p:spPr>
          <a:xfrm>
            <a:off x="795916" y="1397568"/>
            <a:ext cx="20764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25ADEF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12BC872-0B42-B042-B56D-4AD8C39CE684}"/>
              </a:ext>
            </a:extLst>
          </p:cNvPr>
          <p:cNvSpPr txBox="1"/>
          <p:nvPr/>
        </p:nvSpPr>
        <p:spPr>
          <a:xfrm>
            <a:off x="795916" y="3873103"/>
            <a:ext cx="7171055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>
                <a:latin typeface="Cambria Math"/>
                <a:cs typeface="Cambria Math"/>
              </a:rPr>
              <a:t>𝑿[𝒎𝒊𝒅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-5">
                <a:latin typeface="PMingLiU"/>
                <a:cs typeface="PMingLiU"/>
              </a:rPr>
              <a:t>向后遍历求和，并记录最大值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D92686D-EC43-8B4C-A53F-AED08C59ABCF}"/>
              </a:ext>
            </a:extLst>
          </p:cNvPr>
          <p:cNvSpPr txBox="1"/>
          <p:nvPr/>
        </p:nvSpPr>
        <p:spPr>
          <a:xfrm>
            <a:off x="6142228" y="1580987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B05DE65E-1A9F-5E4A-8059-2AF604033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267146"/>
              </p:ext>
            </p:extLst>
          </p:nvPr>
        </p:nvGraphicFramePr>
        <p:xfrm>
          <a:off x="6040120" y="1979259"/>
          <a:ext cx="2879723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5">
            <a:extLst>
              <a:ext uri="{FF2B5EF4-FFF2-40B4-BE49-F238E27FC236}">
                <a16:creationId xmlns:a16="http://schemas.microsoft.com/office/drawing/2014/main" id="{52635A5C-E7A1-734B-B721-BD4A295FA9B2}"/>
              </a:ext>
            </a:extLst>
          </p:cNvPr>
          <p:cNvSpPr/>
          <p:nvPr/>
        </p:nvSpPr>
        <p:spPr>
          <a:xfrm>
            <a:off x="6868668" y="2551266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3"/>
                </a:lnTo>
                <a:lnTo>
                  <a:pt x="76200" y="506603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FEC6FBAE-33FC-EC46-82C0-309DB9E2073D}"/>
              </a:ext>
            </a:extLst>
          </p:cNvPr>
          <p:cNvSpPr txBox="1"/>
          <p:nvPr/>
        </p:nvSpPr>
        <p:spPr>
          <a:xfrm>
            <a:off x="6236208" y="3040471"/>
            <a:ext cx="1393825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3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2000">
              <a:latin typeface="Cambria Math"/>
              <a:cs typeface="Cambria Math"/>
            </a:endParaRPr>
          </a:p>
          <a:p>
            <a:pPr marL="133350">
              <a:lnSpc>
                <a:spcPct val="100000"/>
              </a:lnSpc>
              <a:spcBef>
                <a:spcPts val="380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sz="145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57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5" baseline="11111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3000" baseline="11111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758810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1067A85-6AA6-8346-A047-AA57D83AA17D}"/>
              </a:ext>
            </a:extLst>
          </p:cNvPr>
          <p:cNvSpPr txBox="1"/>
          <p:nvPr/>
        </p:nvSpPr>
        <p:spPr>
          <a:xfrm>
            <a:off x="795916" y="1397568"/>
            <a:ext cx="20764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25ADEF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12BC872-0B42-B042-B56D-4AD8C39CE684}"/>
              </a:ext>
            </a:extLst>
          </p:cNvPr>
          <p:cNvSpPr txBox="1"/>
          <p:nvPr/>
        </p:nvSpPr>
        <p:spPr>
          <a:xfrm>
            <a:off x="795916" y="3873103"/>
            <a:ext cx="7171055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>
                <a:latin typeface="Cambria Math"/>
                <a:cs typeface="Cambria Math"/>
              </a:rPr>
              <a:t>𝑿[𝒎𝒊𝒅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-5">
                <a:latin typeface="PMingLiU"/>
                <a:cs typeface="PMingLiU"/>
              </a:rPr>
              <a:t>向后遍历求和，并记录最大值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E8A9C853-7445-7E4C-B3F5-56EC379CFE3C}"/>
              </a:ext>
            </a:extLst>
          </p:cNvPr>
          <p:cNvSpPr txBox="1"/>
          <p:nvPr/>
        </p:nvSpPr>
        <p:spPr>
          <a:xfrm>
            <a:off x="6142228" y="1699322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D1872ACD-E123-394F-97CB-D61DB442F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25728"/>
              </p:ext>
            </p:extLst>
          </p:nvPr>
        </p:nvGraphicFramePr>
        <p:xfrm>
          <a:off x="6040120" y="2097594"/>
          <a:ext cx="2879723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5">
            <a:extLst>
              <a:ext uri="{FF2B5EF4-FFF2-40B4-BE49-F238E27FC236}">
                <a16:creationId xmlns:a16="http://schemas.microsoft.com/office/drawing/2014/main" id="{53EAF1A1-1F26-F444-82E3-A7825B3D8FF6}"/>
              </a:ext>
            </a:extLst>
          </p:cNvPr>
          <p:cNvSpPr/>
          <p:nvPr/>
        </p:nvSpPr>
        <p:spPr>
          <a:xfrm>
            <a:off x="7440168" y="2669601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3"/>
                </a:lnTo>
                <a:lnTo>
                  <a:pt x="76200" y="506603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AB2FF672-9451-2349-BBD6-1F4ECBACCC86}"/>
              </a:ext>
            </a:extLst>
          </p:cNvPr>
          <p:cNvSpPr txBox="1"/>
          <p:nvPr/>
        </p:nvSpPr>
        <p:spPr>
          <a:xfrm>
            <a:off x="6807707" y="3158806"/>
            <a:ext cx="1393825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3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  <a:p>
            <a:pPr marL="133350">
              <a:lnSpc>
                <a:spcPct val="100000"/>
              </a:lnSpc>
              <a:spcBef>
                <a:spcPts val="380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sz="145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57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5" baseline="11111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3000" baseline="11111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3546387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1067A85-6AA6-8346-A047-AA57D83AA17D}"/>
              </a:ext>
            </a:extLst>
          </p:cNvPr>
          <p:cNvSpPr txBox="1"/>
          <p:nvPr/>
        </p:nvSpPr>
        <p:spPr>
          <a:xfrm>
            <a:off x="795916" y="1397568"/>
            <a:ext cx="20764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25ADEF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12BC872-0B42-B042-B56D-4AD8C39CE684}"/>
              </a:ext>
            </a:extLst>
          </p:cNvPr>
          <p:cNvSpPr txBox="1"/>
          <p:nvPr/>
        </p:nvSpPr>
        <p:spPr>
          <a:xfrm>
            <a:off x="795916" y="3873103"/>
            <a:ext cx="7171055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记</a:t>
            </a:r>
            <a:r>
              <a:rPr sz="2800">
                <a:latin typeface="Cambria Math"/>
                <a:cs typeface="Cambria Math"/>
              </a:rPr>
              <a:t>𝒎𝒊𝒅</a:t>
            </a:r>
            <a:r>
              <a:rPr sz="2800" spc="95">
                <a:latin typeface="Cambria Math"/>
                <a:cs typeface="Cambria Math"/>
              </a:rPr>
              <a:t> = </a:t>
            </a:r>
            <a:r>
              <a:rPr sz="2800" spc="-25">
                <a:latin typeface="Cambria Math"/>
                <a:cs typeface="Cambria Math"/>
              </a:rPr>
              <a:t>𝒏/𝟐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从</a:t>
            </a:r>
            <a:r>
              <a:rPr sz="2800">
                <a:latin typeface="Cambria Math"/>
                <a:cs typeface="Cambria Math"/>
              </a:rPr>
              <a:t>𝑿[𝒎𝒊𝒅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-5">
                <a:latin typeface="PMingLiU"/>
                <a:cs typeface="PMingLiU"/>
              </a:rPr>
              <a:t>向后遍历求和，并记录最大值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6BDB1ED-C88F-2A45-B39A-C3C1693564F3}"/>
              </a:ext>
            </a:extLst>
          </p:cNvPr>
          <p:cNvSpPr txBox="1"/>
          <p:nvPr/>
        </p:nvSpPr>
        <p:spPr>
          <a:xfrm>
            <a:off x="6142228" y="1871446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338F15B4-0110-D34F-9E74-5207981F7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944134"/>
              </p:ext>
            </p:extLst>
          </p:nvPr>
        </p:nvGraphicFramePr>
        <p:xfrm>
          <a:off x="6040120" y="2269718"/>
          <a:ext cx="2879723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5">
            <a:extLst>
              <a:ext uri="{FF2B5EF4-FFF2-40B4-BE49-F238E27FC236}">
                <a16:creationId xmlns:a16="http://schemas.microsoft.com/office/drawing/2014/main" id="{512582CD-A9A0-BE41-BDBC-C950DA45A0DA}"/>
              </a:ext>
            </a:extLst>
          </p:cNvPr>
          <p:cNvSpPr/>
          <p:nvPr/>
        </p:nvSpPr>
        <p:spPr>
          <a:xfrm>
            <a:off x="8004809" y="2841725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3"/>
                </a:lnTo>
                <a:lnTo>
                  <a:pt x="76200" y="506603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9D9B9C81-A358-074E-BAC2-DD811121C0FE}"/>
              </a:ext>
            </a:extLst>
          </p:cNvPr>
          <p:cNvSpPr txBox="1"/>
          <p:nvPr/>
        </p:nvSpPr>
        <p:spPr>
          <a:xfrm>
            <a:off x="7372350" y="3330930"/>
            <a:ext cx="1393825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3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𝟔</a:t>
            </a:r>
            <a:endParaRPr sz="2000">
              <a:latin typeface="Cambria Math"/>
              <a:cs typeface="Cambria Math"/>
            </a:endParaRPr>
          </a:p>
          <a:p>
            <a:pPr marL="133350">
              <a:lnSpc>
                <a:spcPct val="100000"/>
              </a:lnSpc>
              <a:spcBef>
                <a:spcPts val="380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sz="145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57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75" baseline="11111">
                <a:solidFill>
                  <a:srgbClr val="FF0000"/>
                </a:solidFill>
                <a:latin typeface="Cambria Math"/>
                <a:cs typeface="Cambria Math"/>
              </a:rPr>
              <a:t>𝟔</a:t>
            </a:r>
            <a:endParaRPr sz="3000" baseline="11111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0855235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A79AB5-09B8-4E44-96B2-92A780F6E47A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合并问题解：求解𝑺𝟑</a:t>
            </a: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1067A85-6AA6-8346-A047-AA57D83AA17D}"/>
              </a:ext>
            </a:extLst>
          </p:cNvPr>
          <p:cNvSpPr txBox="1"/>
          <p:nvPr/>
        </p:nvSpPr>
        <p:spPr>
          <a:xfrm>
            <a:off x="795916" y="1397568"/>
            <a:ext cx="20764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solidFill>
                  <a:srgbClr val="25ADEF"/>
                </a:solidFill>
                <a:latin typeface="PMingLiU"/>
                <a:cs typeface="PMingLiU"/>
              </a:rPr>
              <a:t>求解</a:t>
            </a:r>
            <a:r>
              <a:rPr sz="2800" spc="-20">
                <a:solidFill>
                  <a:srgbClr val="25ADEF"/>
                </a:solidFill>
                <a:latin typeface="Cambria Math"/>
                <a:cs typeface="Cambria Math"/>
              </a:rPr>
              <a:t>𝑹𝒊𝒈𝒉𝒕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812BC872-0B42-B042-B56D-4AD8C39CE684}"/>
              </a:ext>
            </a:extLst>
          </p:cNvPr>
          <p:cNvSpPr txBox="1"/>
          <p:nvPr/>
        </p:nvSpPr>
        <p:spPr>
          <a:xfrm>
            <a:off x="795916" y="3873103"/>
            <a:ext cx="8651106" cy="209159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记</a:t>
            </a:r>
            <a:r>
              <a:rPr sz="2800" dirty="0">
                <a:latin typeface="Cambria Math"/>
                <a:cs typeface="Cambria Math"/>
              </a:rPr>
              <a:t>𝒎𝒊𝒅</a:t>
            </a:r>
            <a:r>
              <a:rPr sz="2800" spc="95" dirty="0">
                <a:latin typeface="Cambria Math"/>
                <a:cs typeface="Cambria Math"/>
              </a:rPr>
              <a:t> = </a:t>
            </a:r>
            <a:r>
              <a:rPr sz="2800" spc="-25" dirty="0">
                <a:latin typeface="Cambria Math"/>
                <a:cs typeface="Cambria Math"/>
              </a:rPr>
              <a:t>𝒏/𝟐</a:t>
            </a:r>
            <a:endParaRPr sz="280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PMingLiU"/>
                <a:cs typeface="PMingLiU"/>
              </a:rPr>
              <a:t>从</a:t>
            </a:r>
            <a:r>
              <a:rPr sz="2800" dirty="0">
                <a:latin typeface="Cambria Math"/>
                <a:cs typeface="Cambria Math"/>
              </a:rPr>
              <a:t>𝑿[𝒎𝒊𝒅</a:t>
            </a:r>
            <a:r>
              <a:rPr sz="2800" spc="-5" dirty="0">
                <a:latin typeface="Cambria Math"/>
                <a:cs typeface="Cambria Math"/>
              </a:rPr>
              <a:t> + </a:t>
            </a:r>
            <a:r>
              <a:rPr sz="2800" spc="-10" dirty="0">
                <a:latin typeface="Cambria Math"/>
                <a:cs typeface="Cambria Math"/>
              </a:rPr>
              <a:t>𝟏]</a:t>
            </a:r>
            <a:r>
              <a:rPr sz="2800" spc="-5" dirty="0" err="1">
                <a:latin typeface="PMingLiU"/>
                <a:cs typeface="PMingLiU"/>
              </a:rPr>
              <a:t>向后遍历求和，并记录最大值</a:t>
            </a:r>
            <a:endParaRPr lang="en-US" sz="2800" spc="-5" dirty="0">
              <a:latin typeface="PMingLiU"/>
              <a:cs typeface="PMingLiU"/>
            </a:endParaRPr>
          </a:p>
          <a:p>
            <a:pPr marL="355600" indent="-342900"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以</a:t>
            </a:r>
            <a:r>
              <a:rPr lang="zh-CN" altLang="en-US" sz="2800" dirty="0">
                <a:latin typeface="Cambria Math"/>
                <a:cs typeface="Cambria Math"/>
              </a:rPr>
              <a:t>𝑿</a:t>
            </a:r>
            <a:r>
              <a:rPr lang="en-US" altLang="zh-CN" sz="2800" dirty="0">
                <a:latin typeface="Cambria Math"/>
                <a:cs typeface="Cambria Math"/>
              </a:rPr>
              <a:t>[𝒎𝒊𝒅</a:t>
            </a:r>
            <a:r>
              <a:rPr lang="zh-CN" altLang="en-US" sz="2800" spc="-15" dirty="0">
                <a:latin typeface="Cambria Math"/>
                <a:cs typeface="Cambria Math"/>
              </a:rPr>
              <a:t> </a:t>
            </a:r>
            <a:r>
              <a:rPr lang="en-US" altLang="zh-CN" sz="2800" spc="-15" dirty="0">
                <a:latin typeface="Cambria Math"/>
                <a:cs typeface="Cambria Math"/>
              </a:rPr>
              <a:t>+ </a:t>
            </a:r>
            <a:r>
              <a:rPr lang="zh-CN" altLang="en-US" sz="2800" spc="-10" dirty="0">
                <a:latin typeface="Cambria Math"/>
                <a:cs typeface="Cambria Math"/>
              </a:rPr>
              <a:t>𝟏</a:t>
            </a:r>
            <a:r>
              <a:rPr lang="en-US" altLang="zh-CN" sz="2800" spc="-10" dirty="0">
                <a:latin typeface="Cambria Math"/>
                <a:cs typeface="Cambria Math"/>
              </a:rPr>
              <a:t>]</a:t>
            </a:r>
            <a:r>
              <a:rPr lang="zh-CN" altLang="en-US" sz="2800" spc="-5" dirty="0">
                <a:latin typeface="PMingLiU"/>
                <a:cs typeface="PMingLiU"/>
              </a:rPr>
              <a:t>为开头的最大子数组之和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lang="zh-CN" altLang="en-US" sz="3075" baseline="-14905" dirty="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lang="zh-CN" altLang="en-US" sz="3075" spc="630" baseline="-149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70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𝟏𝟐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PMingLiU"/>
              <a:cs typeface="PMingLiU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D0202AA2-E324-FB40-87A5-063EE98776C5}"/>
              </a:ext>
            </a:extLst>
          </p:cNvPr>
          <p:cNvSpPr txBox="1"/>
          <p:nvPr/>
        </p:nvSpPr>
        <p:spPr>
          <a:xfrm>
            <a:off x="6142228" y="1796139"/>
            <a:ext cx="132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𝑿[𝒎𝒊𝒅</a:t>
            </a:r>
            <a:r>
              <a:rPr sz="2000" spc="-5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3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𝟏]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B6C3E6D0-2549-394B-983F-6E3946E31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414734"/>
              </p:ext>
            </p:extLst>
          </p:nvPr>
        </p:nvGraphicFramePr>
        <p:xfrm>
          <a:off x="6040120" y="2194411"/>
          <a:ext cx="2879723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25A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5">
            <a:extLst>
              <a:ext uri="{FF2B5EF4-FFF2-40B4-BE49-F238E27FC236}">
                <a16:creationId xmlns:a16="http://schemas.microsoft.com/office/drawing/2014/main" id="{D33D21F2-45AD-A243-A3F2-89C0F51146DB}"/>
              </a:ext>
            </a:extLst>
          </p:cNvPr>
          <p:cNvSpPr/>
          <p:nvPr/>
        </p:nvSpPr>
        <p:spPr>
          <a:xfrm>
            <a:off x="8586978" y="2766418"/>
            <a:ext cx="114300" cy="506730"/>
          </a:xfrm>
          <a:custGeom>
            <a:avLst/>
            <a:gdLst/>
            <a:ahLst/>
            <a:cxnLst/>
            <a:rect l="l" t="t" r="r" b="b"/>
            <a:pathLst>
              <a:path w="114300" h="506730">
                <a:moveTo>
                  <a:pt x="76200" y="95250"/>
                </a:moveTo>
                <a:lnTo>
                  <a:pt x="38100" y="95250"/>
                </a:lnTo>
                <a:lnTo>
                  <a:pt x="38100" y="506603"/>
                </a:lnTo>
                <a:lnTo>
                  <a:pt x="76200" y="506603"/>
                </a:lnTo>
                <a:lnTo>
                  <a:pt x="76200" y="95250"/>
                </a:lnTo>
                <a:close/>
              </a:path>
              <a:path w="114300" h="50673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0673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8FB21012-6884-294B-AA1B-3C7747F10C82}"/>
              </a:ext>
            </a:extLst>
          </p:cNvPr>
          <p:cNvSpPr txBox="1"/>
          <p:nvPr/>
        </p:nvSpPr>
        <p:spPr>
          <a:xfrm>
            <a:off x="7898892" y="3255623"/>
            <a:ext cx="1548130" cy="7372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3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𝑺𝒖𝒎</a:t>
            </a:r>
            <a:r>
              <a:rPr sz="2000" spc="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𝟏𝟐</a:t>
            </a:r>
            <a:endParaRPr sz="2000">
              <a:latin typeface="Cambria Math"/>
              <a:cs typeface="Cambria Math"/>
            </a:endParaRPr>
          </a:p>
          <a:p>
            <a:pPr marL="133350">
              <a:lnSpc>
                <a:spcPct val="100000"/>
              </a:lnSpc>
              <a:spcBef>
                <a:spcPts val="380"/>
              </a:spcBef>
            </a:pP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50">
                <a:solidFill>
                  <a:srgbClr val="FF0000"/>
                </a:solidFill>
                <a:latin typeface="Cambria Math"/>
                <a:cs typeface="Cambria Math"/>
              </a:rPr>
              <a:t>𝒓𝒊𝒈𝒉𝒕</a:t>
            </a:r>
            <a:r>
              <a:rPr sz="145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baseline="11111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000" spc="157" baseline="11111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000" spc="-37" baseline="11111">
                <a:solidFill>
                  <a:srgbClr val="FF0000"/>
                </a:solidFill>
                <a:latin typeface="Cambria Math"/>
                <a:cs typeface="Cambria Math"/>
              </a:rPr>
              <a:t>𝟏𝟐</a:t>
            </a:r>
            <a:endParaRPr sz="3000" baseline="11111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28587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58F9241-AAAD-784D-8371-18C45BC0D7C9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求解𝑺𝟑：时间复杂度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A3BE31C5-2AE2-D14A-896E-DF17B7B5BA52}"/>
              </a:ext>
            </a:extLst>
          </p:cNvPr>
          <p:cNvGrpSpPr/>
          <p:nvPr/>
        </p:nvGrpSpPr>
        <p:grpSpPr>
          <a:xfrm>
            <a:off x="319277" y="1111669"/>
            <a:ext cx="5454650" cy="4572000"/>
            <a:chOff x="319277" y="756666"/>
            <a:chExt cx="5454650" cy="457200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06EBB246-0F16-614F-AF53-572DC903E27C}"/>
                </a:ext>
              </a:extLst>
            </p:cNvPr>
            <p:cNvSpPr/>
            <p:nvPr/>
          </p:nvSpPr>
          <p:spPr>
            <a:xfrm>
              <a:off x="338327" y="775716"/>
              <a:ext cx="5416550" cy="4533900"/>
            </a:xfrm>
            <a:custGeom>
              <a:avLst/>
              <a:gdLst/>
              <a:ahLst/>
              <a:cxnLst/>
              <a:rect l="l" t="t" r="r" b="b"/>
              <a:pathLst>
                <a:path w="5416550" h="4533900">
                  <a:moveTo>
                    <a:pt x="0" y="245745"/>
                  </a:moveTo>
                  <a:lnTo>
                    <a:pt x="4992" y="196206"/>
                  </a:lnTo>
                  <a:lnTo>
                    <a:pt x="19311" y="150072"/>
                  </a:lnTo>
                  <a:lnTo>
                    <a:pt x="41967" y="108328"/>
                  </a:lnTo>
                  <a:lnTo>
                    <a:pt x="71974" y="71961"/>
                  </a:lnTo>
                  <a:lnTo>
                    <a:pt x="108341" y="41958"/>
                  </a:lnTo>
                  <a:lnTo>
                    <a:pt x="150083" y="19305"/>
                  </a:lnTo>
                  <a:lnTo>
                    <a:pt x="196209" y="4990"/>
                  </a:lnTo>
                  <a:lnTo>
                    <a:pt x="245732" y="0"/>
                  </a:lnTo>
                  <a:lnTo>
                    <a:pt x="5170551" y="0"/>
                  </a:lnTo>
                  <a:lnTo>
                    <a:pt x="5220089" y="4990"/>
                  </a:lnTo>
                  <a:lnTo>
                    <a:pt x="5266223" y="19305"/>
                  </a:lnTo>
                  <a:lnTo>
                    <a:pt x="5307967" y="41958"/>
                  </a:lnTo>
                  <a:lnTo>
                    <a:pt x="5344334" y="71961"/>
                  </a:lnTo>
                  <a:lnTo>
                    <a:pt x="5374337" y="108328"/>
                  </a:lnTo>
                  <a:lnTo>
                    <a:pt x="5396990" y="150072"/>
                  </a:lnTo>
                  <a:lnTo>
                    <a:pt x="5411305" y="196206"/>
                  </a:lnTo>
                  <a:lnTo>
                    <a:pt x="5416296" y="245745"/>
                  </a:lnTo>
                  <a:lnTo>
                    <a:pt x="5416296" y="4288155"/>
                  </a:lnTo>
                  <a:lnTo>
                    <a:pt x="5411305" y="4337693"/>
                  </a:lnTo>
                  <a:lnTo>
                    <a:pt x="5396990" y="4383827"/>
                  </a:lnTo>
                  <a:lnTo>
                    <a:pt x="5374337" y="4425571"/>
                  </a:lnTo>
                  <a:lnTo>
                    <a:pt x="5344334" y="4461938"/>
                  </a:lnTo>
                  <a:lnTo>
                    <a:pt x="5307967" y="4491941"/>
                  </a:lnTo>
                  <a:lnTo>
                    <a:pt x="5266223" y="4514594"/>
                  </a:lnTo>
                  <a:lnTo>
                    <a:pt x="5220089" y="4528909"/>
                  </a:lnTo>
                  <a:lnTo>
                    <a:pt x="5170551" y="4533900"/>
                  </a:lnTo>
                  <a:lnTo>
                    <a:pt x="245732" y="4533900"/>
                  </a:lnTo>
                  <a:lnTo>
                    <a:pt x="196209" y="4528909"/>
                  </a:lnTo>
                  <a:lnTo>
                    <a:pt x="150083" y="4514594"/>
                  </a:lnTo>
                  <a:lnTo>
                    <a:pt x="108341" y="4491941"/>
                  </a:lnTo>
                  <a:lnTo>
                    <a:pt x="71974" y="4461938"/>
                  </a:lnTo>
                  <a:lnTo>
                    <a:pt x="41967" y="4425571"/>
                  </a:lnTo>
                  <a:lnTo>
                    <a:pt x="19311" y="4383827"/>
                  </a:lnTo>
                  <a:lnTo>
                    <a:pt x="4992" y="4337693"/>
                  </a:lnTo>
                  <a:lnTo>
                    <a:pt x="0" y="4288155"/>
                  </a:lnTo>
                  <a:lnTo>
                    <a:pt x="0" y="24574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8FEF8B6-B2CC-7841-AFC1-E9E109A3B21B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60655" y="910178"/>
              <a:ext cx="4875452" cy="2120316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1CE68F5-3333-BC43-AAD9-D87DFE4E0A6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45007" y="2980944"/>
              <a:ext cx="4267200" cy="2247899"/>
            </a:xfrm>
            <a:prstGeom prst="rect">
              <a:avLst/>
            </a:prstGeom>
          </p:spPr>
        </p:pic>
      </p:grpSp>
      <p:grpSp>
        <p:nvGrpSpPr>
          <p:cNvPr id="8" name="object 7">
            <a:extLst>
              <a:ext uri="{FF2B5EF4-FFF2-40B4-BE49-F238E27FC236}">
                <a16:creationId xmlns:a16="http://schemas.microsoft.com/office/drawing/2014/main" id="{3852AC45-2472-3449-8A41-58772FEAC49B}"/>
              </a:ext>
            </a:extLst>
          </p:cNvPr>
          <p:cNvGrpSpPr/>
          <p:nvPr/>
        </p:nvGrpSpPr>
        <p:grpSpPr>
          <a:xfrm>
            <a:off x="6151626" y="1105572"/>
            <a:ext cx="5454650" cy="4589780"/>
            <a:chOff x="6151626" y="750569"/>
            <a:chExt cx="5454650" cy="4589780"/>
          </a:xfrm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7C15FB89-C0BB-9244-B2DB-8E1E67EC0D6C}"/>
                </a:ext>
              </a:extLst>
            </p:cNvPr>
            <p:cNvSpPr/>
            <p:nvPr/>
          </p:nvSpPr>
          <p:spPr>
            <a:xfrm>
              <a:off x="6170676" y="775715"/>
              <a:ext cx="5416550" cy="4545330"/>
            </a:xfrm>
            <a:custGeom>
              <a:avLst/>
              <a:gdLst/>
              <a:ahLst/>
              <a:cxnLst/>
              <a:rect l="l" t="t" r="r" b="b"/>
              <a:pathLst>
                <a:path w="5416550" h="4545330">
                  <a:moveTo>
                    <a:pt x="0" y="246380"/>
                  </a:moveTo>
                  <a:lnTo>
                    <a:pt x="5002" y="196705"/>
                  </a:lnTo>
                  <a:lnTo>
                    <a:pt x="19351" y="150447"/>
                  </a:lnTo>
                  <a:lnTo>
                    <a:pt x="42058" y="108594"/>
                  </a:lnTo>
                  <a:lnTo>
                    <a:pt x="72136" y="72136"/>
                  </a:lnTo>
                  <a:lnTo>
                    <a:pt x="108594" y="42058"/>
                  </a:lnTo>
                  <a:lnTo>
                    <a:pt x="150447" y="19351"/>
                  </a:lnTo>
                  <a:lnTo>
                    <a:pt x="196705" y="5002"/>
                  </a:lnTo>
                  <a:lnTo>
                    <a:pt x="246379" y="0"/>
                  </a:lnTo>
                  <a:lnTo>
                    <a:pt x="5169916" y="0"/>
                  </a:lnTo>
                  <a:lnTo>
                    <a:pt x="5219590" y="5002"/>
                  </a:lnTo>
                  <a:lnTo>
                    <a:pt x="5265848" y="19351"/>
                  </a:lnTo>
                  <a:lnTo>
                    <a:pt x="5307701" y="42058"/>
                  </a:lnTo>
                  <a:lnTo>
                    <a:pt x="5344160" y="72136"/>
                  </a:lnTo>
                  <a:lnTo>
                    <a:pt x="5374237" y="108594"/>
                  </a:lnTo>
                  <a:lnTo>
                    <a:pt x="5396944" y="150447"/>
                  </a:lnTo>
                  <a:lnTo>
                    <a:pt x="5411293" y="196705"/>
                  </a:lnTo>
                  <a:lnTo>
                    <a:pt x="5416296" y="246380"/>
                  </a:lnTo>
                  <a:lnTo>
                    <a:pt x="5416296" y="4298950"/>
                  </a:lnTo>
                  <a:lnTo>
                    <a:pt x="5411293" y="4348624"/>
                  </a:lnTo>
                  <a:lnTo>
                    <a:pt x="5396944" y="4394882"/>
                  </a:lnTo>
                  <a:lnTo>
                    <a:pt x="5374237" y="4436735"/>
                  </a:lnTo>
                  <a:lnTo>
                    <a:pt x="5344160" y="4473194"/>
                  </a:lnTo>
                  <a:lnTo>
                    <a:pt x="5307701" y="4503271"/>
                  </a:lnTo>
                  <a:lnTo>
                    <a:pt x="5265848" y="4525978"/>
                  </a:lnTo>
                  <a:lnTo>
                    <a:pt x="5219590" y="4540327"/>
                  </a:lnTo>
                  <a:lnTo>
                    <a:pt x="5169916" y="4545330"/>
                  </a:lnTo>
                  <a:lnTo>
                    <a:pt x="246379" y="4545330"/>
                  </a:lnTo>
                  <a:lnTo>
                    <a:pt x="196705" y="4540327"/>
                  </a:lnTo>
                  <a:lnTo>
                    <a:pt x="150447" y="4525978"/>
                  </a:lnTo>
                  <a:lnTo>
                    <a:pt x="108594" y="4503271"/>
                  </a:lnTo>
                  <a:lnTo>
                    <a:pt x="72136" y="4473194"/>
                  </a:lnTo>
                  <a:lnTo>
                    <a:pt x="42058" y="4436735"/>
                  </a:lnTo>
                  <a:lnTo>
                    <a:pt x="19351" y="4394882"/>
                  </a:lnTo>
                  <a:lnTo>
                    <a:pt x="5002" y="4348624"/>
                  </a:lnTo>
                  <a:lnTo>
                    <a:pt x="0" y="4298950"/>
                  </a:lnTo>
                  <a:lnTo>
                    <a:pt x="0" y="24638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B62B0704-778E-B14D-9CA5-C3AE6920A16D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707886" y="750569"/>
              <a:ext cx="3733800" cy="2247900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94DCB651-0143-0442-AA90-6937E026EB10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248906" y="2955036"/>
              <a:ext cx="3695700" cy="2247900"/>
            </a:xfrm>
            <a:prstGeom prst="rect">
              <a:avLst/>
            </a:prstGeom>
          </p:spPr>
        </p:pic>
      </p:grpSp>
      <p:sp>
        <p:nvSpPr>
          <p:cNvPr id="12" name="object 11">
            <a:extLst>
              <a:ext uri="{FF2B5EF4-FFF2-40B4-BE49-F238E27FC236}">
                <a16:creationId xmlns:a16="http://schemas.microsoft.com/office/drawing/2014/main" id="{9928D717-3BA6-7049-9FF9-17EAEB0F9844}"/>
              </a:ext>
            </a:extLst>
          </p:cNvPr>
          <p:cNvSpPr txBox="1"/>
          <p:nvPr/>
        </p:nvSpPr>
        <p:spPr>
          <a:xfrm>
            <a:off x="787145" y="5783491"/>
            <a:ext cx="4518025" cy="576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590"/>
              </a:spcBef>
            </a:pPr>
            <a:r>
              <a:rPr sz="2400">
                <a:latin typeface="PMingLiU"/>
                <a:cs typeface="PMingLiU"/>
              </a:rPr>
              <a:t>求解</a:t>
            </a:r>
            <a:r>
              <a:rPr sz="2400">
                <a:latin typeface="Cambria Math"/>
                <a:cs typeface="Cambria Math"/>
              </a:rPr>
              <a:t>𝑳𝒆𝒇𝒕</a:t>
            </a:r>
            <a:r>
              <a:rPr sz="2400">
                <a:latin typeface="PMingLiU"/>
                <a:cs typeface="PMingLiU"/>
              </a:rPr>
              <a:t>时间复杂度： </a:t>
            </a:r>
            <a:r>
              <a:rPr sz="2400" spc="-10">
                <a:solidFill>
                  <a:srgbClr val="FF0000"/>
                </a:solidFill>
                <a:latin typeface="Cambria Math"/>
                <a:cs typeface="Cambria Math"/>
              </a:rPr>
              <a:t>𝑶(𝒎𝒊𝒅)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51E23B1F-6BDF-D540-96E9-3E6A2C3D1BA9}"/>
              </a:ext>
            </a:extLst>
          </p:cNvPr>
          <p:cNvSpPr txBox="1"/>
          <p:nvPr/>
        </p:nvSpPr>
        <p:spPr>
          <a:xfrm>
            <a:off x="6468617" y="5783491"/>
            <a:ext cx="5256530" cy="576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590"/>
              </a:spcBef>
            </a:pPr>
            <a:r>
              <a:rPr sz="2400">
                <a:latin typeface="PMingLiU"/>
                <a:cs typeface="PMingLiU"/>
              </a:rPr>
              <a:t>求解</a:t>
            </a:r>
            <a:r>
              <a:rPr sz="2400">
                <a:latin typeface="Cambria Math"/>
                <a:cs typeface="Cambria Math"/>
              </a:rPr>
              <a:t>𝑹𝒊𝒈𝒉𝒕</a:t>
            </a:r>
            <a:r>
              <a:rPr sz="2400">
                <a:latin typeface="PMingLiU"/>
                <a:cs typeface="PMingLiU"/>
              </a:rPr>
              <a:t>时间复杂度：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𝑶(𝒏 − </a:t>
            </a:r>
            <a:r>
              <a:rPr sz="2400" spc="-20">
                <a:solidFill>
                  <a:srgbClr val="FF0000"/>
                </a:solidFill>
                <a:latin typeface="Cambria Math"/>
                <a:cs typeface="Cambria Math"/>
              </a:rPr>
              <a:t>𝒎𝒊𝒅)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3AADC77E-EC16-B74E-9DC9-FCBF7C540E52}"/>
              </a:ext>
            </a:extLst>
          </p:cNvPr>
          <p:cNvSpPr txBox="1"/>
          <p:nvPr/>
        </p:nvSpPr>
        <p:spPr>
          <a:xfrm>
            <a:off x="3186683" y="6244590"/>
            <a:ext cx="5388610" cy="576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80"/>
              </a:spcBef>
            </a:pPr>
            <a:r>
              <a:rPr sz="2400">
                <a:latin typeface="PMingLiU"/>
                <a:cs typeface="PMingLiU"/>
              </a:rPr>
              <a:t>求解</a:t>
            </a:r>
            <a:r>
              <a:rPr sz="2400" spc="50">
                <a:latin typeface="Cambria Math"/>
                <a:cs typeface="Cambria Math"/>
              </a:rPr>
              <a:t>𝑺</a:t>
            </a:r>
            <a:r>
              <a:rPr sz="2625" spc="75" baseline="-15873">
                <a:latin typeface="Cambria Math"/>
                <a:cs typeface="Cambria Math"/>
              </a:rPr>
              <a:t>𝟑</a:t>
            </a:r>
            <a:r>
              <a:rPr sz="2400">
                <a:latin typeface="PMingLiU"/>
                <a:cs typeface="PMingLiU"/>
              </a:rPr>
              <a:t>时间复杂度</a:t>
            </a:r>
            <a:r>
              <a:rPr sz="2400" b="1" spc="-10">
                <a:latin typeface="Microsoft JhengHei"/>
                <a:cs typeface="Microsoft JhengHei"/>
              </a:rPr>
              <a:t>：</a:t>
            </a:r>
            <a:r>
              <a:rPr sz="2400" spc="-1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96257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527AA0-8225-5E4D-B280-84894F09F1DE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求解𝑺𝟑：伪代码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742BBDA-8E6C-224C-A807-640415427496}"/>
              </a:ext>
            </a:extLst>
          </p:cNvPr>
          <p:cNvSpPr txBox="1"/>
          <p:nvPr/>
        </p:nvSpPr>
        <p:spPr>
          <a:xfrm>
            <a:off x="688340" y="1010294"/>
            <a:ext cx="630491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>
                <a:solidFill>
                  <a:srgbClr val="FF0000"/>
                </a:solidFill>
                <a:latin typeface="Times New Roman"/>
                <a:cs typeface="Times New Roman"/>
              </a:rPr>
              <a:t>CrossingSubArray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(𝑿,</a:t>
            </a:r>
            <a:r>
              <a:rPr sz="28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𝒍𝒐𝒘,</a:t>
            </a:r>
            <a:r>
              <a:rPr sz="2800" spc="-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𝒎𝒊𝒅,</a:t>
            </a:r>
            <a:r>
              <a:rPr sz="28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𝒉𝒊𝒈𝒉)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A059AA83-ABB6-6347-BF62-13A4BA9AB021}"/>
              </a:ext>
            </a:extLst>
          </p:cNvPr>
          <p:cNvGrpSpPr/>
          <p:nvPr/>
        </p:nvGrpSpPr>
        <p:grpSpPr>
          <a:xfrm>
            <a:off x="856984" y="1558954"/>
            <a:ext cx="9027156" cy="5103950"/>
            <a:chOff x="856984" y="1451375"/>
            <a:chExt cx="9027156" cy="5103950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8066D07F-C852-5942-8BD9-EC83BDB9134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56984" y="1451375"/>
              <a:ext cx="9027156" cy="5103950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7EDFEDD-5EB4-1F42-B729-591E4E05FC34}"/>
                </a:ext>
              </a:extLst>
            </p:cNvPr>
            <p:cNvSpPr/>
            <p:nvPr/>
          </p:nvSpPr>
          <p:spPr>
            <a:xfrm>
              <a:off x="1104899" y="2147367"/>
              <a:ext cx="3510915" cy="1850389"/>
            </a:xfrm>
            <a:custGeom>
              <a:avLst/>
              <a:gdLst/>
              <a:ahLst/>
              <a:cxnLst/>
              <a:rect l="l" t="t" r="r" b="b"/>
              <a:pathLst>
                <a:path w="3510915" h="1850389">
                  <a:moveTo>
                    <a:pt x="0" y="173609"/>
                  </a:moveTo>
                  <a:lnTo>
                    <a:pt x="6200" y="127455"/>
                  </a:lnTo>
                  <a:lnTo>
                    <a:pt x="23699" y="85983"/>
                  </a:lnTo>
                  <a:lnTo>
                    <a:pt x="50842" y="50847"/>
                  </a:lnTo>
                  <a:lnTo>
                    <a:pt x="85978" y="23701"/>
                  </a:lnTo>
                  <a:lnTo>
                    <a:pt x="127451" y="6201"/>
                  </a:lnTo>
                  <a:lnTo>
                    <a:pt x="173609" y="0"/>
                  </a:lnTo>
                  <a:lnTo>
                    <a:pt x="3336925" y="0"/>
                  </a:lnTo>
                  <a:lnTo>
                    <a:pt x="3383078" y="6201"/>
                  </a:lnTo>
                  <a:lnTo>
                    <a:pt x="3424550" y="23701"/>
                  </a:lnTo>
                  <a:lnTo>
                    <a:pt x="3459686" y="50847"/>
                  </a:lnTo>
                  <a:lnTo>
                    <a:pt x="3486832" y="85983"/>
                  </a:lnTo>
                  <a:lnTo>
                    <a:pt x="3504332" y="127455"/>
                  </a:lnTo>
                  <a:lnTo>
                    <a:pt x="3510534" y="173609"/>
                  </a:lnTo>
                  <a:lnTo>
                    <a:pt x="3510534" y="1676527"/>
                  </a:lnTo>
                  <a:lnTo>
                    <a:pt x="3504332" y="1722680"/>
                  </a:lnTo>
                  <a:lnTo>
                    <a:pt x="3486832" y="1764152"/>
                  </a:lnTo>
                  <a:lnTo>
                    <a:pt x="3459686" y="1799288"/>
                  </a:lnTo>
                  <a:lnTo>
                    <a:pt x="3424550" y="1826434"/>
                  </a:lnTo>
                  <a:lnTo>
                    <a:pt x="3383078" y="1843934"/>
                  </a:lnTo>
                  <a:lnTo>
                    <a:pt x="3336925" y="1850136"/>
                  </a:lnTo>
                  <a:lnTo>
                    <a:pt x="173609" y="1850136"/>
                  </a:lnTo>
                  <a:lnTo>
                    <a:pt x="127451" y="1843934"/>
                  </a:lnTo>
                  <a:lnTo>
                    <a:pt x="85978" y="1826434"/>
                  </a:lnTo>
                  <a:lnTo>
                    <a:pt x="50842" y="1799288"/>
                  </a:lnTo>
                  <a:lnTo>
                    <a:pt x="23699" y="1764152"/>
                  </a:lnTo>
                  <a:lnTo>
                    <a:pt x="6200" y="1722680"/>
                  </a:lnTo>
                  <a:lnTo>
                    <a:pt x="0" y="1676527"/>
                  </a:lnTo>
                  <a:lnTo>
                    <a:pt x="0" y="17360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3316DD78-8E9D-294D-BA0F-33A97A510AA8}"/>
              </a:ext>
            </a:extLst>
          </p:cNvPr>
          <p:cNvSpPr txBox="1"/>
          <p:nvPr/>
        </p:nvSpPr>
        <p:spPr>
          <a:xfrm>
            <a:off x="5281040" y="2941076"/>
            <a:ext cx="1826260" cy="401392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250"/>
              </a:spcBef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求解</a:t>
            </a:r>
            <a:r>
              <a:rPr sz="2400" spc="-20" dirty="0">
                <a:latin typeface="Cambria Math"/>
                <a:cs typeface="Cambria Math"/>
              </a:rPr>
              <a:t>𝑳𝒆𝒇𝒕</a:t>
            </a:r>
            <a:endParaRPr sz="24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5095367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527AA0-8225-5E4D-B280-84894F09F1DE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求解𝑺𝟑：伪代码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742BBDA-8E6C-224C-A807-640415427496}"/>
              </a:ext>
            </a:extLst>
          </p:cNvPr>
          <p:cNvSpPr txBox="1"/>
          <p:nvPr/>
        </p:nvSpPr>
        <p:spPr>
          <a:xfrm>
            <a:off x="688340" y="1010294"/>
            <a:ext cx="630491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>
                <a:solidFill>
                  <a:srgbClr val="FF0000"/>
                </a:solidFill>
                <a:latin typeface="Times New Roman"/>
                <a:cs typeface="Times New Roman"/>
              </a:rPr>
              <a:t>CrossingSubArray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(𝑿,</a:t>
            </a:r>
            <a:r>
              <a:rPr sz="28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𝒍𝒐𝒘,</a:t>
            </a:r>
            <a:r>
              <a:rPr sz="2800" spc="-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𝒎𝒊𝒅,</a:t>
            </a:r>
            <a:r>
              <a:rPr sz="28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𝒉𝒊𝒈𝒉)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9" name="object 2">
            <a:extLst>
              <a:ext uri="{FF2B5EF4-FFF2-40B4-BE49-F238E27FC236}">
                <a16:creationId xmlns:a16="http://schemas.microsoft.com/office/drawing/2014/main" id="{32A8BFCB-7831-F141-92DF-424773D4D4D8}"/>
              </a:ext>
            </a:extLst>
          </p:cNvPr>
          <p:cNvGrpSpPr/>
          <p:nvPr/>
        </p:nvGrpSpPr>
        <p:grpSpPr>
          <a:xfrm>
            <a:off x="856984" y="1483649"/>
            <a:ext cx="9027156" cy="5103950"/>
            <a:chOff x="856984" y="1451375"/>
            <a:chExt cx="9027156" cy="510395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6787C732-CB6F-E044-90CB-8E498726463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56984" y="1451375"/>
              <a:ext cx="9027156" cy="5103950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B608D602-F24A-504F-A2A7-488C269B5524}"/>
                </a:ext>
              </a:extLst>
            </p:cNvPr>
            <p:cNvSpPr/>
            <p:nvPr/>
          </p:nvSpPr>
          <p:spPr>
            <a:xfrm>
              <a:off x="1128127" y="3957880"/>
              <a:ext cx="3707129" cy="1917700"/>
            </a:xfrm>
            <a:custGeom>
              <a:avLst/>
              <a:gdLst/>
              <a:ahLst/>
              <a:cxnLst/>
              <a:rect l="l" t="t" r="r" b="b"/>
              <a:pathLst>
                <a:path w="3707129" h="1917700">
                  <a:moveTo>
                    <a:pt x="0" y="179831"/>
                  </a:moveTo>
                  <a:lnTo>
                    <a:pt x="6424" y="132027"/>
                  </a:lnTo>
                  <a:lnTo>
                    <a:pt x="24556" y="89069"/>
                  </a:lnTo>
                  <a:lnTo>
                    <a:pt x="52678" y="52673"/>
                  </a:lnTo>
                  <a:lnTo>
                    <a:pt x="89074" y="24553"/>
                  </a:lnTo>
                  <a:lnTo>
                    <a:pt x="132031" y="6424"/>
                  </a:lnTo>
                  <a:lnTo>
                    <a:pt x="179832" y="0"/>
                  </a:lnTo>
                  <a:lnTo>
                    <a:pt x="3527298" y="0"/>
                  </a:lnTo>
                  <a:lnTo>
                    <a:pt x="3575102" y="6424"/>
                  </a:lnTo>
                  <a:lnTo>
                    <a:pt x="3618060" y="24553"/>
                  </a:lnTo>
                  <a:lnTo>
                    <a:pt x="3654456" y="52673"/>
                  </a:lnTo>
                  <a:lnTo>
                    <a:pt x="3682576" y="89069"/>
                  </a:lnTo>
                  <a:lnTo>
                    <a:pt x="3700705" y="132027"/>
                  </a:lnTo>
                  <a:lnTo>
                    <a:pt x="3707130" y="179831"/>
                  </a:lnTo>
                  <a:lnTo>
                    <a:pt x="3707130" y="1737321"/>
                  </a:lnTo>
                  <a:lnTo>
                    <a:pt x="3700705" y="1785138"/>
                  </a:lnTo>
                  <a:lnTo>
                    <a:pt x="3682576" y="1828105"/>
                  </a:lnTo>
                  <a:lnTo>
                    <a:pt x="3654456" y="1864509"/>
                  </a:lnTo>
                  <a:lnTo>
                    <a:pt x="3618060" y="1892634"/>
                  </a:lnTo>
                  <a:lnTo>
                    <a:pt x="3575102" y="1910766"/>
                  </a:lnTo>
                  <a:lnTo>
                    <a:pt x="3527298" y="1917192"/>
                  </a:lnTo>
                  <a:lnTo>
                    <a:pt x="179832" y="1917192"/>
                  </a:lnTo>
                  <a:lnTo>
                    <a:pt x="132031" y="1910766"/>
                  </a:lnTo>
                  <a:lnTo>
                    <a:pt x="89074" y="1892634"/>
                  </a:lnTo>
                  <a:lnTo>
                    <a:pt x="52678" y="1864509"/>
                  </a:lnTo>
                  <a:lnTo>
                    <a:pt x="24556" y="1828105"/>
                  </a:lnTo>
                  <a:lnTo>
                    <a:pt x="6424" y="1785138"/>
                  </a:lnTo>
                  <a:lnTo>
                    <a:pt x="0" y="1737321"/>
                  </a:lnTo>
                  <a:lnTo>
                    <a:pt x="0" y="17983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7">
            <a:extLst>
              <a:ext uri="{FF2B5EF4-FFF2-40B4-BE49-F238E27FC236}">
                <a16:creationId xmlns:a16="http://schemas.microsoft.com/office/drawing/2014/main" id="{89C4894A-9AED-5143-9AA7-1A89CDD6AFF9}"/>
              </a:ext>
            </a:extLst>
          </p:cNvPr>
          <p:cNvSpPr txBox="1"/>
          <p:nvPr/>
        </p:nvSpPr>
        <p:spPr>
          <a:xfrm>
            <a:off x="5281040" y="4751451"/>
            <a:ext cx="1826260" cy="400751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45"/>
              </a:spcBef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求解</a:t>
            </a:r>
            <a:r>
              <a:rPr sz="2400" spc="-10" dirty="0">
                <a:latin typeface="Cambria Math"/>
                <a:cs typeface="Cambria Math"/>
              </a:rPr>
              <a:t>𝑹𝒊𝒈𝒉𝒕</a:t>
            </a:r>
            <a:endParaRPr sz="24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1859266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527AA0-8225-5E4D-B280-84894F09F1DE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求解𝑺𝟑：伪代码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742BBDA-8E6C-224C-A807-640415427496}"/>
              </a:ext>
            </a:extLst>
          </p:cNvPr>
          <p:cNvSpPr txBox="1"/>
          <p:nvPr/>
        </p:nvSpPr>
        <p:spPr>
          <a:xfrm>
            <a:off x="688340" y="1010294"/>
            <a:ext cx="630491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spc="-10">
                <a:solidFill>
                  <a:srgbClr val="FF0000"/>
                </a:solidFill>
                <a:latin typeface="Times New Roman"/>
                <a:cs typeface="Times New Roman"/>
              </a:rPr>
              <a:t>CrossingSubArray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(𝑿,</a:t>
            </a:r>
            <a:r>
              <a:rPr sz="28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𝒍𝒐𝒘,</a:t>
            </a:r>
            <a:r>
              <a:rPr sz="2800" spc="-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𝒎𝒊𝒅,</a:t>
            </a:r>
            <a:r>
              <a:rPr sz="28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𝒉𝒊𝒈𝒉)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ACC6F97D-03F3-3A40-B5F9-AA5CB2C88C1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56984" y="1505165"/>
            <a:ext cx="9027156" cy="5103950"/>
          </a:xfrm>
          <a:prstGeom prst="rect">
            <a:avLst/>
          </a:prstGeom>
        </p:spPr>
      </p:pic>
      <p:sp>
        <p:nvSpPr>
          <p:cNvPr id="13" name="object 5">
            <a:extLst>
              <a:ext uri="{FF2B5EF4-FFF2-40B4-BE49-F238E27FC236}">
                <a16:creationId xmlns:a16="http://schemas.microsoft.com/office/drawing/2014/main" id="{92B7B775-CAEC-034D-936A-959160FCEE9C}"/>
              </a:ext>
            </a:extLst>
          </p:cNvPr>
          <p:cNvSpPr txBox="1"/>
          <p:nvPr/>
        </p:nvSpPr>
        <p:spPr>
          <a:xfrm>
            <a:off x="6381750" y="6033966"/>
            <a:ext cx="3505200" cy="5994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8895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385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时间复杂度：</a:t>
            </a:r>
            <a:r>
              <a:rPr sz="2800" spc="-20">
                <a:solidFill>
                  <a:srgbClr val="FFFFFF"/>
                </a:solidFill>
                <a:latin typeface="Cambria Math"/>
                <a:cs typeface="Cambria Math"/>
              </a:rPr>
              <a:t>𝑶(𝒏)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76A21FA0-0517-DD4F-AFE7-F2BA296844E2}"/>
              </a:ext>
            </a:extLst>
          </p:cNvPr>
          <p:cNvSpPr/>
          <p:nvPr/>
        </p:nvSpPr>
        <p:spPr>
          <a:xfrm>
            <a:off x="9959340" y="2954723"/>
            <a:ext cx="205104" cy="1071880"/>
          </a:xfrm>
          <a:custGeom>
            <a:avLst/>
            <a:gdLst/>
            <a:ahLst/>
            <a:cxnLst/>
            <a:rect l="l" t="t" r="r" b="b"/>
            <a:pathLst>
              <a:path w="205103" h="1071879">
                <a:moveTo>
                  <a:pt x="0" y="0"/>
                </a:moveTo>
                <a:lnTo>
                  <a:pt x="39909" y="1337"/>
                </a:lnTo>
                <a:lnTo>
                  <a:pt x="72485" y="4984"/>
                </a:lnTo>
                <a:lnTo>
                  <a:pt x="94440" y="10394"/>
                </a:lnTo>
                <a:lnTo>
                  <a:pt x="102488" y="17017"/>
                </a:lnTo>
                <a:lnTo>
                  <a:pt x="102488" y="521969"/>
                </a:lnTo>
                <a:lnTo>
                  <a:pt x="110537" y="528593"/>
                </a:lnTo>
                <a:lnTo>
                  <a:pt x="132492" y="534003"/>
                </a:lnTo>
                <a:lnTo>
                  <a:pt x="165068" y="537650"/>
                </a:lnTo>
                <a:lnTo>
                  <a:pt x="204977" y="538988"/>
                </a:lnTo>
                <a:lnTo>
                  <a:pt x="165068" y="540345"/>
                </a:lnTo>
                <a:lnTo>
                  <a:pt x="132492" y="544036"/>
                </a:lnTo>
                <a:lnTo>
                  <a:pt x="110537" y="549489"/>
                </a:lnTo>
                <a:lnTo>
                  <a:pt x="102488" y="556132"/>
                </a:lnTo>
                <a:lnTo>
                  <a:pt x="102488" y="1054353"/>
                </a:lnTo>
                <a:lnTo>
                  <a:pt x="94440" y="1060977"/>
                </a:lnTo>
                <a:lnTo>
                  <a:pt x="72485" y="1066387"/>
                </a:lnTo>
                <a:lnTo>
                  <a:pt x="39909" y="1070034"/>
                </a:lnTo>
                <a:lnTo>
                  <a:pt x="0" y="1071371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B3F70A84-5759-5D4A-8648-0D5A34DAAFA4}"/>
              </a:ext>
            </a:extLst>
          </p:cNvPr>
          <p:cNvSpPr txBox="1"/>
          <p:nvPr/>
        </p:nvSpPr>
        <p:spPr>
          <a:xfrm>
            <a:off x="10300969" y="3315149"/>
            <a:ext cx="913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𝑶(𝒎𝒊𝒅)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C13877D4-2A64-CB46-B747-1F3D7E907A3A}"/>
              </a:ext>
            </a:extLst>
          </p:cNvPr>
          <p:cNvSpPr/>
          <p:nvPr/>
        </p:nvSpPr>
        <p:spPr>
          <a:xfrm>
            <a:off x="9950957" y="4822386"/>
            <a:ext cx="205104" cy="1070610"/>
          </a:xfrm>
          <a:custGeom>
            <a:avLst/>
            <a:gdLst/>
            <a:ahLst/>
            <a:cxnLst/>
            <a:rect l="l" t="t" r="r" b="b"/>
            <a:pathLst>
              <a:path w="205103" h="1070610">
                <a:moveTo>
                  <a:pt x="0" y="0"/>
                </a:moveTo>
                <a:lnTo>
                  <a:pt x="39909" y="1337"/>
                </a:lnTo>
                <a:lnTo>
                  <a:pt x="72485" y="4984"/>
                </a:lnTo>
                <a:lnTo>
                  <a:pt x="94440" y="10394"/>
                </a:lnTo>
                <a:lnTo>
                  <a:pt x="102489" y="17017"/>
                </a:lnTo>
                <a:lnTo>
                  <a:pt x="102489" y="521588"/>
                </a:lnTo>
                <a:lnTo>
                  <a:pt x="110537" y="528212"/>
                </a:lnTo>
                <a:lnTo>
                  <a:pt x="132492" y="533622"/>
                </a:lnTo>
                <a:lnTo>
                  <a:pt x="165068" y="537269"/>
                </a:lnTo>
                <a:lnTo>
                  <a:pt x="204977" y="538606"/>
                </a:lnTo>
                <a:lnTo>
                  <a:pt x="165068" y="539964"/>
                </a:lnTo>
                <a:lnTo>
                  <a:pt x="132492" y="543655"/>
                </a:lnTo>
                <a:lnTo>
                  <a:pt x="110537" y="549108"/>
                </a:lnTo>
                <a:lnTo>
                  <a:pt x="102489" y="555751"/>
                </a:lnTo>
                <a:lnTo>
                  <a:pt x="102489" y="1053528"/>
                </a:lnTo>
                <a:lnTo>
                  <a:pt x="94440" y="1060178"/>
                </a:lnTo>
                <a:lnTo>
                  <a:pt x="72485" y="1065607"/>
                </a:lnTo>
                <a:lnTo>
                  <a:pt x="39909" y="1069267"/>
                </a:lnTo>
                <a:lnTo>
                  <a:pt x="0" y="107060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7D1FFA08-510D-F248-A0CD-EADD9A57B509}"/>
              </a:ext>
            </a:extLst>
          </p:cNvPr>
          <p:cNvSpPr txBox="1"/>
          <p:nvPr/>
        </p:nvSpPr>
        <p:spPr>
          <a:xfrm>
            <a:off x="10277602" y="5182811"/>
            <a:ext cx="13830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𝑶(𝒏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 𝒎𝒊𝒅)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3088929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DAC424-5591-A940-8DF0-A5DCD751E3F6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9B103BA6-FF45-E341-92E2-6D312CF5FFD3}"/>
              </a:ext>
            </a:extLst>
          </p:cNvPr>
          <p:cNvGraphicFramePr>
            <a:graphicFrameLocks noGrp="1"/>
          </p:cNvGraphicFramePr>
          <p:nvPr/>
        </p:nvGraphicFramePr>
        <p:xfrm>
          <a:off x="2633472" y="1050036"/>
          <a:ext cx="7216138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2804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DAC424-5591-A940-8DF0-A5DCD751E3F6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2FE9E78-45D6-494C-B6BF-EAE14A344FD3}"/>
              </a:ext>
            </a:extLst>
          </p:cNvPr>
          <p:cNvGraphicFramePr>
            <a:graphicFrameLocks noGrp="1"/>
          </p:cNvGraphicFramePr>
          <p:nvPr/>
        </p:nvGraphicFramePr>
        <p:xfrm>
          <a:off x="2633472" y="840486"/>
          <a:ext cx="7216138" cy="103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796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18AEE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18AEE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D9F60D1F-A5B8-DC48-BB2B-5ACD0C87FFF0}"/>
              </a:ext>
            </a:extLst>
          </p:cNvPr>
          <p:cNvSpPr/>
          <p:nvPr/>
        </p:nvSpPr>
        <p:spPr>
          <a:xfrm>
            <a:off x="3253740" y="1651507"/>
            <a:ext cx="6012180" cy="536575"/>
          </a:xfrm>
          <a:custGeom>
            <a:avLst/>
            <a:gdLst/>
            <a:ahLst/>
            <a:cxnLst/>
            <a:rect l="l" t="t" r="r" b="b"/>
            <a:pathLst>
              <a:path w="6012180" h="536575">
                <a:moveTo>
                  <a:pt x="6012053" y="497967"/>
                </a:moveTo>
                <a:lnTo>
                  <a:pt x="5908167" y="423545"/>
                </a:lnTo>
                <a:lnTo>
                  <a:pt x="5902185" y="461200"/>
                </a:lnTo>
                <a:lnTo>
                  <a:pt x="3009138" y="0"/>
                </a:lnTo>
                <a:lnTo>
                  <a:pt x="3006013" y="19202"/>
                </a:lnTo>
                <a:lnTo>
                  <a:pt x="3003042" y="0"/>
                </a:lnTo>
                <a:lnTo>
                  <a:pt x="110058" y="448056"/>
                </a:lnTo>
                <a:lnTo>
                  <a:pt x="104267" y="410464"/>
                </a:lnTo>
                <a:lnTo>
                  <a:pt x="0" y="484378"/>
                </a:lnTo>
                <a:lnTo>
                  <a:pt x="121666" y="523367"/>
                </a:lnTo>
                <a:lnTo>
                  <a:pt x="116319" y="488696"/>
                </a:lnTo>
                <a:lnTo>
                  <a:pt x="115862" y="485787"/>
                </a:lnTo>
                <a:lnTo>
                  <a:pt x="3005912" y="38061"/>
                </a:lnTo>
                <a:lnTo>
                  <a:pt x="5896203" y="498906"/>
                </a:lnTo>
                <a:lnTo>
                  <a:pt x="5890260" y="536448"/>
                </a:lnTo>
                <a:lnTo>
                  <a:pt x="5999581" y="501904"/>
                </a:lnTo>
                <a:lnTo>
                  <a:pt x="6012053" y="4979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66937E22-8AEF-234F-A380-161C19999345}"/>
              </a:ext>
            </a:extLst>
          </p:cNvPr>
          <p:cNvGraphicFramePr>
            <a:graphicFrameLocks noGrp="1"/>
          </p:cNvGraphicFramePr>
          <p:nvPr/>
        </p:nvGraphicFramePr>
        <p:xfrm>
          <a:off x="1431036" y="2130551"/>
          <a:ext cx="3608068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F1AE5186-14CC-DA44-96E0-CE5FC7AF8FC0}"/>
              </a:ext>
            </a:extLst>
          </p:cNvPr>
          <p:cNvGraphicFramePr>
            <a:graphicFrameLocks noGrp="1"/>
          </p:cNvGraphicFramePr>
          <p:nvPr/>
        </p:nvGraphicFramePr>
        <p:xfrm>
          <a:off x="7443216" y="2130551"/>
          <a:ext cx="3608068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A26A0D46-E11D-FC47-B9DF-D824A6DFA932}"/>
              </a:ext>
            </a:extLst>
          </p:cNvPr>
          <p:cNvCxnSpPr/>
          <p:nvPr/>
        </p:nvCxnSpPr>
        <p:spPr>
          <a:xfrm>
            <a:off x="3274288" y="2126752"/>
            <a:ext cx="17853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A53020C-06F7-2345-82E5-F81D9F10FCEC}"/>
              </a:ext>
            </a:extLst>
          </p:cNvPr>
          <p:cNvCxnSpPr/>
          <p:nvPr/>
        </p:nvCxnSpPr>
        <p:spPr>
          <a:xfrm>
            <a:off x="7422668" y="2125041"/>
            <a:ext cx="17853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59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DAC424-5591-A940-8DF0-A5DCD751E3F6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2FE9E78-45D6-494C-B6BF-EAE14A344FD3}"/>
              </a:ext>
            </a:extLst>
          </p:cNvPr>
          <p:cNvGraphicFramePr>
            <a:graphicFrameLocks noGrp="1"/>
          </p:cNvGraphicFramePr>
          <p:nvPr/>
        </p:nvGraphicFramePr>
        <p:xfrm>
          <a:off x="2633472" y="840486"/>
          <a:ext cx="7216138" cy="103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796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18AEE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18AEE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D9F60D1F-A5B8-DC48-BB2B-5ACD0C87FFF0}"/>
              </a:ext>
            </a:extLst>
          </p:cNvPr>
          <p:cNvSpPr/>
          <p:nvPr/>
        </p:nvSpPr>
        <p:spPr>
          <a:xfrm>
            <a:off x="3253740" y="1651507"/>
            <a:ext cx="6012180" cy="536575"/>
          </a:xfrm>
          <a:custGeom>
            <a:avLst/>
            <a:gdLst/>
            <a:ahLst/>
            <a:cxnLst/>
            <a:rect l="l" t="t" r="r" b="b"/>
            <a:pathLst>
              <a:path w="6012180" h="536575">
                <a:moveTo>
                  <a:pt x="6012053" y="497967"/>
                </a:moveTo>
                <a:lnTo>
                  <a:pt x="5908167" y="423545"/>
                </a:lnTo>
                <a:lnTo>
                  <a:pt x="5902185" y="461200"/>
                </a:lnTo>
                <a:lnTo>
                  <a:pt x="3009138" y="0"/>
                </a:lnTo>
                <a:lnTo>
                  <a:pt x="3006013" y="19202"/>
                </a:lnTo>
                <a:lnTo>
                  <a:pt x="3003042" y="0"/>
                </a:lnTo>
                <a:lnTo>
                  <a:pt x="110058" y="448056"/>
                </a:lnTo>
                <a:lnTo>
                  <a:pt x="104267" y="410464"/>
                </a:lnTo>
                <a:lnTo>
                  <a:pt x="0" y="484378"/>
                </a:lnTo>
                <a:lnTo>
                  <a:pt x="121666" y="523367"/>
                </a:lnTo>
                <a:lnTo>
                  <a:pt x="116319" y="488696"/>
                </a:lnTo>
                <a:lnTo>
                  <a:pt x="115862" y="485787"/>
                </a:lnTo>
                <a:lnTo>
                  <a:pt x="3005912" y="38061"/>
                </a:lnTo>
                <a:lnTo>
                  <a:pt x="5896203" y="498906"/>
                </a:lnTo>
                <a:lnTo>
                  <a:pt x="5890260" y="536448"/>
                </a:lnTo>
                <a:lnTo>
                  <a:pt x="5999581" y="501904"/>
                </a:lnTo>
                <a:lnTo>
                  <a:pt x="6012053" y="4979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66937E22-8AEF-234F-A380-161C19999345}"/>
              </a:ext>
            </a:extLst>
          </p:cNvPr>
          <p:cNvGraphicFramePr>
            <a:graphicFrameLocks noGrp="1"/>
          </p:cNvGraphicFramePr>
          <p:nvPr/>
        </p:nvGraphicFramePr>
        <p:xfrm>
          <a:off x="1431036" y="2130551"/>
          <a:ext cx="3608068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F1AE5186-14CC-DA44-96E0-CE5FC7AF8FC0}"/>
              </a:ext>
            </a:extLst>
          </p:cNvPr>
          <p:cNvGraphicFramePr>
            <a:graphicFrameLocks noGrp="1"/>
          </p:cNvGraphicFramePr>
          <p:nvPr/>
        </p:nvGraphicFramePr>
        <p:xfrm>
          <a:off x="7443216" y="2130551"/>
          <a:ext cx="3608068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3">
            <a:extLst>
              <a:ext uri="{FF2B5EF4-FFF2-40B4-BE49-F238E27FC236}">
                <a16:creationId xmlns:a16="http://schemas.microsoft.com/office/drawing/2014/main" id="{C2B76D50-7A1B-3B42-8532-D8B791E4A0DB}"/>
              </a:ext>
            </a:extLst>
          </p:cNvPr>
          <p:cNvSpPr/>
          <p:nvPr/>
        </p:nvSpPr>
        <p:spPr>
          <a:xfrm>
            <a:off x="3253740" y="1651507"/>
            <a:ext cx="6012180" cy="536575"/>
          </a:xfrm>
          <a:custGeom>
            <a:avLst/>
            <a:gdLst/>
            <a:ahLst/>
            <a:cxnLst/>
            <a:rect l="l" t="t" r="r" b="b"/>
            <a:pathLst>
              <a:path w="6012180" h="536575">
                <a:moveTo>
                  <a:pt x="6012053" y="497967"/>
                </a:moveTo>
                <a:lnTo>
                  <a:pt x="5908167" y="423545"/>
                </a:lnTo>
                <a:lnTo>
                  <a:pt x="5902185" y="461200"/>
                </a:lnTo>
                <a:lnTo>
                  <a:pt x="3009138" y="0"/>
                </a:lnTo>
                <a:lnTo>
                  <a:pt x="3006013" y="19202"/>
                </a:lnTo>
                <a:lnTo>
                  <a:pt x="3003042" y="0"/>
                </a:lnTo>
                <a:lnTo>
                  <a:pt x="110058" y="448056"/>
                </a:lnTo>
                <a:lnTo>
                  <a:pt x="104267" y="410464"/>
                </a:lnTo>
                <a:lnTo>
                  <a:pt x="0" y="484378"/>
                </a:lnTo>
                <a:lnTo>
                  <a:pt x="121666" y="523367"/>
                </a:lnTo>
                <a:lnTo>
                  <a:pt x="116319" y="488696"/>
                </a:lnTo>
                <a:lnTo>
                  <a:pt x="115862" y="485787"/>
                </a:lnTo>
                <a:lnTo>
                  <a:pt x="3005912" y="38061"/>
                </a:lnTo>
                <a:lnTo>
                  <a:pt x="5896203" y="498906"/>
                </a:lnTo>
                <a:lnTo>
                  <a:pt x="5890260" y="536448"/>
                </a:lnTo>
                <a:lnTo>
                  <a:pt x="5999581" y="501904"/>
                </a:lnTo>
                <a:lnTo>
                  <a:pt x="6012053" y="4979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AB7CFC9-1DD0-EE43-99EC-8D726FD0F934}"/>
              </a:ext>
            </a:extLst>
          </p:cNvPr>
          <p:cNvCxnSpPr/>
          <p:nvPr/>
        </p:nvCxnSpPr>
        <p:spPr>
          <a:xfrm>
            <a:off x="3274288" y="2126752"/>
            <a:ext cx="17853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5722650-2EBE-1145-899A-1334FDC1CC4D}"/>
              </a:ext>
            </a:extLst>
          </p:cNvPr>
          <p:cNvCxnSpPr/>
          <p:nvPr/>
        </p:nvCxnSpPr>
        <p:spPr>
          <a:xfrm>
            <a:off x="7422668" y="2125041"/>
            <a:ext cx="17853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AC1F2641-CEE5-614B-88F1-B1026CFE2FC5}"/>
              </a:ext>
            </a:extLst>
          </p:cNvPr>
          <p:cNvCxnSpPr>
            <a:cxnSpLocks/>
          </p:cNvCxnSpPr>
          <p:nvPr/>
        </p:nvCxnSpPr>
        <p:spPr>
          <a:xfrm>
            <a:off x="3233192" y="1970612"/>
            <a:ext cx="0" cy="957523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79A4CD6B-9D73-324A-9D36-BB6F5EAE8218}"/>
              </a:ext>
            </a:extLst>
          </p:cNvPr>
          <p:cNvCxnSpPr>
            <a:cxnSpLocks/>
          </p:cNvCxnSpPr>
          <p:nvPr/>
        </p:nvCxnSpPr>
        <p:spPr>
          <a:xfrm>
            <a:off x="9243660" y="1970612"/>
            <a:ext cx="1712" cy="957523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6731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DAC424-5591-A940-8DF0-A5DCD751E3F6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2FE9E78-45D6-494C-B6BF-EAE14A344FD3}"/>
              </a:ext>
            </a:extLst>
          </p:cNvPr>
          <p:cNvGraphicFramePr>
            <a:graphicFrameLocks noGrp="1"/>
          </p:cNvGraphicFramePr>
          <p:nvPr/>
        </p:nvGraphicFramePr>
        <p:xfrm>
          <a:off x="2633472" y="840486"/>
          <a:ext cx="7216138" cy="103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796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18AEE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18AEE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D9F60D1F-A5B8-DC48-BB2B-5ACD0C87FFF0}"/>
              </a:ext>
            </a:extLst>
          </p:cNvPr>
          <p:cNvSpPr/>
          <p:nvPr/>
        </p:nvSpPr>
        <p:spPr>
          <a:xfrm>
            <a:off x="3253740" y="1651507"/>
            <a:ext cx="6012180" cy="536575"/>
          </a:xfrm>
          <a:custGeom>
            <a:avLst/>
            <a:gdLst/>
            <a:ahLst/>
            <a:cxnLst/>
            <a:rect l="l" t="t" r="r" b="b"/>
            <a:pathLst>
              <a:path w="6012180" h="536575">
                <a:moveTo>
                  <a:pt x="6012053" y="497967"/>
                </a:moveTo>
                <a:lnTo>
                  <a:pt x="5908167" y="423545"/>
                </a:lnTo>
                <a:lnTo>
                  <a:pt x="5902185" y="461200"/>
                </a:lnTo>
                <a:lnTo>
                  <a:pt x="3009138" y="0"/>
                </a:lnTo>
                <a:lnTo>
                  <a:pt x="3006013" y="19202"/>
                </a:lnTo>
                <a:lnTo>
                  <a:pt x="3003042" y="0"/>
                </a:lnTo>
                <a:lnTo>
                  <a:pt x="110058" y="448056"/>
                </a:lnTo>
                <a:lnTo>
                  <a:pt x="104267" y="410464"/>
                </a:lnTo>
                <a:lnTo>
                  <a:pt x="0" y="484378"/>
                </a:lnTo>
                <a:lnTo>
                  <a:pt x="121666" y="523367"/>
                </a:lnTo>
                <a:lnTo>
                  <a:pt x="116319" y="488696"/>
                </a:lnTo>
                <a:lnTo>
                  <a:pt x="115862" y="485787"/>
                </a:lnTo>
                <a:lnTo>
                  <a:pt x="3005912" y="38061"/>
                </a:lnTo>
                <a:lnTo>
                  <a:pt x="5896203" y="498906"/>
                </a:lnTo>
                <a:lnTo>
                  <a:pt x="5890260" y="536448"/>
                </a:lnTo>
                <a:lnTo>
                  <a:pt x="5999581" y="501904"/>
                </a:lnTo>
                <a:lnTo>
                  <a:pt x="6012053" y="4979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C2B76D50-7A1B-3B42-8532-D8B791E4A0DB}"/>
              </a:ext>
            </a:extLst>
          </p:cNvPr>
          <p:cNvSpPr/>
          <p:nvPr/>
        </p:nvSpPr>
        <p:spPr>
          <a:xfrm>
            <a:off x="3253740" y="1651507"/>
            <a:ext cx="6012180" cy="536575"/>
          </a:xfrm>
          <a:custGeom>
            <a:avLst/>
            <a:gdLst/>
            <a:ahLst/>
            <a:cxnLst/>
            <a:rect l="l" t="t" r="r" b="b"/>
            <a:pathLst>
              <a:path w="6012180" h="536575">
                <a:moveTo>
                  <a:pt x="6012053" y="497967"/>
                </a:moveTo>
                <a:lnTo>
                  <a:pt x="5908167" y="423545"/>
                </a:lnTo>
                <a:lnTo>
                  <a:pt x="5902185" y="461200"/>
                </a:lnTo>
                <a:lnTo>
                  <a:pt x="3009138" y="0"/>
                </a:lnTo>
                <a:lnTo>
                  <a:pt x="3006013" y="19202"/>
                </a:lnTo>
                <a:lnTo>
                  <a:pt x="3003042" y="0"/>
                </a:lnTo>
                <a:lnTo>
                  <a:pt x="110058" y="448056"/>
                </a:lnTo>
                <a:lnTo>
                  <a:pt x="104267" y="410464"/>
                </a:lnTo>
                <a:lnTo>
                  <a:pt x="0" y="484378"/>
                </a:lnTo>
                <a:lnTo>
                  <a:pt x="121666" y="523367"/>
                </a:lnTo>
                <a:lnTo>
                  <a:pt x="116319" y="488696"/>
                </a:lnTo>
                <a:lnTo>
                  <a:pt x="115862" y="485787"/>
                </a:lnTo>
                <a:lnTo>
                  <a:pt x="3005912" y="38061"/>
                </a:lnTo>
                <a:lnTo>
                  <a:pt x="5896203" y="498906"/>
                </a:lnTo>
                <a:lnTo>
                  <a:pt x="5890260" y="536448"/>
                </a:lnTo>
                <a:lnTo>
                  <a:pt x="5999581" y="501904"/>
                </a:lnTo>
                <a:lnTo>
                  <a:pt x="6012053" y="4979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79B1D622-4E9A-3340-B11C-CFE1A33047B8}"/>
              </a:ext>
            </a:extLst>
          </p:cNvPr>
          <p:cNvGrpSpPr/>
          <p:nvPr/>
        </p:nvGrpSpPr>
        <p:grpSpPr>
          <a:xfrm>
            <a:off x="2061210" y="1651507"/>
            <a:ext cx="7223759" cy="1693545"/>
            <a:chOff x="2061210" y="1651507"/>
            <a:chExt cx="7223759" cy="169354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A9985B16-6CDC-A343-A04D-4732720D6AFB}"/>
                </a:ext>
              </a:extLst>
            </p:cNvPr>
            <p:cNvSpPr/>
            <p:nvPr/>
          </p:nvSpPr>
          <p:spPr>
            <a:xfrm>
              <a:off x="2061210" y="1651507"/>
              <a:ext cx="7204709" cy="1693545"/>
            </a:xfrm>
            <a:custGeom>
              <a:avLst/>
              <a:gdLst/>
              <a:ahLst/>
              <a:cxnLst/>
              <a:rect l="l" t="t" r="r" b="b"/>
              <a:pathLst>
                <a:path w="7204709" h="1693545">
                  <a:moveTo>
                    <a:pt x="588518" y="1138809"/>
                  </a:moveTo>
                  <a:lnTo>
                    <a:pt x="561848" y="1111631"/>
                  </a:lnTo>
                  <a:lnTo>
                    <a:pt x="68072" y="1597380"/>
                  </a:lnTo>
                  <a:lnTo>
                    <a:pt x="41402" y="1570228"/>
                  </a:lnTo>
                  <a:lnTo>
                    <a:pt x="0" y="1691132"/>
                  </a:lnTo>
                  <a:lnTo>
                    <a:pt x="121539" y="1651762"/>
                  </a:lnTo>
                  <a:lnTo>
                    <a:pt x="107924" y="1637919"/>
                  </a:lnTo>
                  <a:lnTo>
                    <a:pt x="94818" y="1624596"/>
                  </a:lnTo>
                  <a:lnTo>
                    <a:pt x="588518" y="1138809"/>
                  </a:lnTo>
                  <a:close/>
                </a:path>
                <a:path w="7204709" h="1693545">
                  <a:moveTo>
                    <a:pt x="2992374" y="1691005"/>
                  </a:moveTo>
                  <a:lnTo>
                    <a:pt x="2974632" y="1636649"/>
                  </a:lnTo>
                  <a:lnTo>
                    <a:pt x="2952750" y="1569593"/>
                  </a:lnTo>
                  <a:lnTo>
                    <a:pt x="2925673" y="1596339"/>
                  </a:lnTo>
                  <a:lnTo>
                    <a:pt x="2428367" y="1092835"/>
                  </a:lnTo>
                  <a:lnTo>
                    <a:pt x="2401189" y="1119505"/>
                  </a:lnTo>
                  <a:lnTo>
                    <a:pt x="2898508" y="1623148"/>
                  </a:lnTo>
                  <a:lnTo>
                    <a:pt x="2871470" y="1649857"/>
                  </a:lnTo>
                  <a:lnTo>
                    <a:pt x="2992374" y="1691005"/>
                  </a:lnTo>
                  <a:close/>
                </a:path>
                <a:path w="7204709" h="1693545">
                  <a:moveTo>
                    <a:pt x="6604508" y="1141095"/>
                  </a:moveTo>
                  <a:lnTo>
                    <a:pt x="6577838" y="1113917"/>
                  </a:lnTo>
                  <a:lnTo>
                    <a:pt x="6084062" y="1599666"/>
                  </a:lnTo>
                  <a:lnTo>
                    <a:pt x="6057392" y="1572514"/>
                  </a:lnTo>
                  <a:lnTo>
                    <a:pt x="6015990" y="1693418"/>
                  </a:lnTo>
                  <a:lnTo>
                    <a:pt x="6137529" y="1654048"/>
                  </a:lnTo>
                  <a:lnTo>
                    <a:pt x="6123914" y="1640205"/>
                  </a:lnTo>
                  <a:lnTo>
                    <a:pt x="6110808" y="1626882"/>
                  </a:lnTo>
                  <a:lnTo>
                    <a:pt x="6604508" y="1141095"/>
                  </a:lnTo>
                  <a:close/>
                </a:path>
                <a:path w="7204709" h="1693545">
                  <a:moveTo>
                    <a:pt x="7204583" y="497967"/>
                  </a:moveTo>
                  <a:lnTo>
                    <a:pt x="7100697" y="423545"/>
                  </a:lnTo>
                  <a:lnTo>
                    <a:pt x="7094715" y="461200"/>
                  </a:lnTo>
                  <a:lnTo>
                    <a:pt x="4201668" y="0"/>
                  </a:lnTo>
                  <a:lnTo>
                    <a:pt x="4198543" y="19202"/>
                  </a:lnTo>
                  <a:lnTo>
                    <a:pt x="4195572" y="0"/>
                  </a:lnTo>
                  <a:lnTo>
                    <a:pt x="1302588" y="448056"/>
                  </a:lnTo>
                  <a:lnTo>
                    <a:pt x="1296797" y="410464"/>
                  </a:lnTo>
                  <a:lnTo>
                    <a:pt x="1192530" y="484378"/>
                  </a:lnTo>
                  <a:lnTo>
                    <a:pt x="1314196" y="523367"/>
                  </a:lnTo>
                  <a:lnTo>
                    <a:pt x="1308849" y="488696"/>
                  </a:lnTo>
                  <a:lnTo>
                    <a:pt x="1308392" y="485787"/>
                  </a:lnTo>
                  <a:lnTo>
                    <a:pt x="4198442" y="38061"/>
                  </a:lnTo>
                  <a:lnTo>
                    <a:pt x="7088733" y="498906"/>
                  </a:lnTo>
                  <a:lnTo>
                    <a:pt x="7082790" y="536448"/>
                  </a:lnTo>
                  <a:lnTo>
                    <a:pt x="7192111" y="501904"/>
                  </a:lnTo>
                  <a:lnTo>
                    <a:pt x="7204583" y="4979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70091243-270C-844C-AE14-12D7A178AF56}"/>
                </a:ext>
              </a:extLst>
            </p:cNvPr>
            <p:cNvSpPr/>
            <p:nvPr/>
          </p:nvSpPr>
          <p:spPr>
            <a:xfrm>
              <a:off x="3253740" y="1890521"/>
              <a:ext cx="6012180" cy="1036955"/>
            </a:xfrm>
            <a:custGeom>
              <a:avLst/>
              <a:gdLst/>
              <a:ahLst/>
              <a:cxnLst/>
              <a:rect l="l" t="t" r="r" b="b"/>
              <a:pathLst>
                <a:path w="6012180" h="1036955">
                  <a:moveTo>
                    <a:pt x="0" y="0"/>
                  </a:moveTo>
                  <a:lnTo>
                    <a:pt x="0" y="1036574"/>
                  </a:lnTo>
                </a:path>
                <a:path w="6012180" h="1036955">
                  <a:moveTo>
                    <a:pt x="6012180" y="0"/>
                  </a:moveTo>
                  <a:lnTo>
                    <a:pt x="6012180" y="1036574"/>
                  </a:lnTo>
                </a:path>
              </a:pathLst>
            </a:custGeom>
            <a:ln w="38100">
              <a:solidFill>
                <a:srgbClr val="18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F2D290CC-7BC3-4C4D-8CA5-36342CD6EBCD}"/>
              </a:ext>
            </a:extLst>
          </p:cNvPr>
          <p:cNvGraphicFramePr>
            <a:graphicFrameLocks noGrp="1"/>
          </p:cNvGraphicFramePr>
          <p:nvPr/>
        </p:nvGraphicFramePr>
        <p:xfrm>
          <a:off x="2633472" y="840486"/>
          <a:ext cx="7216138" cy="103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2796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18AEE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18AEE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8AEEF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8AEE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7">
            <a:extLst>
              <a:ext uri="{FF2B5EF4-FFF2-40B4-BE49-F238E27FC236}">
                <a16:creationId xmlns:a16="http://schemas.microsoft.com/office/drawing/2014/main" id="{831FD181-B82F-6844-BA9A-4E4F0CEA275C}"/>
              </a:ext>
            </a:extLst>
          </p:cNvPr>
          <p:cNvSpPr txBox="1"/>
          <p:nvPr/>
        </p:nvSpPr>
        <p:spPr>
          <a:xfrm>
            <a:off x="1450086" y="2149601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6036DE52-6811-ED49-90A6-8D1BB5A8BF74}"/>
              </a:ext>
            </a:extLst>
          </p:cNvPr>
          <p:cNvSpPr txBox="1"/>
          <p:nvPr/>
        </p:nvSpPr>
        <p:spPr>
          <a:xfrm>
            <a:off x="2051304" y="2149601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1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371EBD41-724C-9945-9698-4C5375855A0F}"/>
              </a:ext>
            </a:extLst>
          </p:cNvPr>
          <p:cNvSpPr/>
          <p:nvPr/>
        </p:nvSpPr>
        <p:spPr>
          <a:xfrm>
            <a:off x="2652522" y="2149601"/>
            <a:ext cx="2405380" cy="601345"/>
          </a:xfrm>
          <a:custGeom>
            <a:avLst/>
            <a:gdLst/>
            <a:ahLst/>
            <a:cxnLst/>
            <a:rect l="l" t="t" r="r" b="b"/>
            <a:pathLst>
              <a:path w="2405379" h="601344">
                <a:moveTo>
                  <a:pt x="0" y="601218"/>
                </a:moveTo>
                <a:lnTo>
                  <a:pt x="601218" y="601218"/>
                </a:lnTo>
                <a:lnTo>
                  <a:pt x="601218" y="0"/>
                </a:lnTo>
                <a:lnTo>
                  <a:pt x="0" y="0"/>
                </a:lnTo>
                <a:lnTo>
                  <a:pt x="0" y="601218"/>
                </a:lnTo>
                <a:close/>
              </a:path>
              <a:path w="2405379" h="601344">
                <a:moveTo>
                  <a:pt x="601217" y="601218"/>
                </a:moveTo>
                <a:lnTo>
                  <a:pt x="1202435" y="601218"/>
                </a:lnTo>
                <a:lnTo>
                  <a:pt x="1202435" y="0"/>
                </a:lnTo>
                <a:lnTo>
                  <a:pt x="601217" y="0"/>
                </a:lnTo>
                <a:lnTo>
                  <a:pt x="601217" y="601218"/>
                </a:lnTo>
                <a:close/>
              </a:path>
              <a:path w="2405379" h="601344">
                <a:moveTo>
                  <a:pt x="1202436" y="601218"/>
                </a:moveTo>
                <a:lnTo>
                  <a:pt x="1803653" y="601218"/>
                </a:lnTo>
                <a:lnTo>
                  <a:pt x="1803653" y="0"/>
                </a:lnTo>
                <a:lnTo>
                  <a:pt x="1202436" y="0"/>
                </a:lnTo>
                <a:lnTo>
                  <a:pt x="1202436" y="601218"/>
                </a:lnTo>
                <a:close/>
              </a:path>
              <a:path w="2405379" h="601344">
                <a:moveTo>
                  <a:pt x="1803653" y="601218"/>
                </a:moveTo>
                <a:lnTo>
                  <a:pt x="2404872" y="601218"/>
                </a:lnTo>
                <a:lnTo>
                  <a:pt x="2404872" y="0"/>
                </a:lnTo>
                <a:lnTo>
                  <a:pt x="1803653" y="0"/>
                </a:lnTo>
                <a:lnTo>
                  <a:pt x="1803653" y="60121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09E383E3-3940-E24D-AFB3-157A72D6861E}"/>
              </a:ext>
            </a:extLst>
          </p:cNvPr>
          <p:cNvSpPr txBox="1"/>
          <p:nvPr/>
        </p:nvSpPr>
        <p:spPr>
          <a:xfrm>
            <a:off x="2671572" y="2228088"/>
            <a:ext cx="21805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00"/>
              </a:spcBef>
              <a:tabLst>
                <a:tab pos="799465" algn="l"/>
                <a:tab pos="1346200" algn="l"/>
                <a:tab pos="2002155" algn="l"/>
              </a:tabLst>
            </a:pPr>
            <a:r>
              <a:rPr sz="2600" b="1" spc="-50">
                <a:latin typeface="Times New Roman"/>
                <a:cs typeface="Times New Roman"/>
              </a:rPr>
              <a:t>4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5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1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AF08DDAA-4FA6-4041-936B-1F6EF2A48941}"/>
              </a:ext>
            </a:extLst>
          </p:cNvPr>
          <p:cNvSpPr/>
          <p:nvPr/>
        </p:nvSpPr>
        <p:spPr>
          <a:xfrm>
            <a:off x="7462266" y="2149601"/>
            <a:ext cx="2405380" cy="601345"/>
          </a:xfrm>
          <a:custGeom>
            <a:avLst/>
            <a:gdLst/>
            <a:ahLst/>
            <a:cxnLst/>
            <a:rect l="l" t="t" r="r" b="b"/>
            <a:pathLst>
              <a:path w="2405379" h="601344">
                <a:moveTo>
                  <a:pt x="0" y="601218"/>
                </a:moveTo>
                <a:lnTo>
                  <a:pt x="601218" y="601218"/>
                </a:lnTo>
                <a:lnTo>
                  <a:pt x="601218" y="0"/>
                </a:lnTo>
                <a:lnTo>
                  <a:pt x="0" y="0"/>
                </a:lnTo>
                <a:lnTo>
                  <a:pt x="0" y="601218"/>
                </a:lnTo>
                <a:close/>
              </a:path>
              <a:path w="2405379" h="601344">
                <a:moveTo>
                  <a:pt x="601217" y="601218"/>
                </a:moveTo>
                <a:lnTo>
                  <a:pt x="1202435" y="601218"/>
                </a:lnTo>
                <a:lnTo>
                  <a:pt x="1202435" y="0"/>
                </a:lnTo>
                <a:lnTo>
                  <a:pt x="601217" y="0"/>
                </a:lnTo>
                <a:lnTo>
                  <a:pt x="601217" y="601218"/>
                </a:lnTo>
                <a:close/>
              </a:path>
              <a:path w="2405379" h="601344">
                <a:moveTo>
                  <a:pt x="1202435" y="601218"/>
                </a:moveTo>
                <a:lnTo>
                  <a:pt x="1803653" y="601218"/>
                </a:lnTo>
                <a:lnTo>
                  <a:pt x="1803653" y="0"/>
                </a:lnTo>
                <a:lnTo>
                  <a:pt x="1202435" y="0"/>
                </a:lnTo>
                <a:lnTo>
                  <a:pt x="1202435" y="601218"/>
                </a:lnTo>
                <a:close/>
              </a:path>
              <a:path w="2405379" h="601344">
                <a:moveTo>
                  <a:pt x="1803653" y="601218"/>
                </a:moveTo>
                <a:lnTo>
                  <a:pt x="2404872" y="601218"/>
                </a:lnTo>
                <a:lnTo>
                  <a:pt x="2404872" y="0"/>
                </a:lnTo>
                <a:lnTo>
                  <a:pt x="1803653" y="0"/>
                </a:lnTo>
                <a:lnTo>
                  <a:pt x="1803653" y="60121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2">
            <a:extLst>
              <a:ext uri="{FF2B5EF4-FFF2-40B4-BE49-F238E27FC236}">
                <a16:creationId xmlns:a16="http://schemas.microsoft.com/office/drawing/2014/main" id="{6A9A06E8-990A-3540-8487-61BCEDF8F639}"/>
              </a:ext>
            </a:extLst>
          </p:cNvPr>
          <p:cNvSpPr txBox="1"/>
          <p:nvPr/>
        </p:nvSpPr>
        <p:spPr>
          <a:xfrm>
            <a:off x="7667497" y="2228088"/>
            <a:ext cx="21805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8800" algn="l"/>
                <a:tab pos="1214755" algn="l"/>
                <a:tab pos="1816100" algn="l"/>
              </a:tabLst>
            </a:pPr>
            <a:r>
              <a:rPr sz="2600" b="1" spc="-50">
                <a:latin typeface="Times New Roman"/>
                <a:cs typeface="Times New Roman"/>
              </a:rPr>
              <a:t>3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10">
                <a:latin typeface="Times New Roman"/>
                <a:cs typeface="Times New Roman"/>
              </a:rPr>
              <a:t>-</a:t>
            </a:r>
            <a:r>
              <a:rPr sz="2600" b="1" spc="-60">
                <a:latin typeface="Times New Roman"/>
                <a:cs typeface="Times New Roman"/>
              </a:rPr>
              <a:t>2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6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3" name="object 13">
            <a:extLst>
              <a:ext uri="{FF2B5EF4-FFF2-40B4-BE49-F238E27FC236}">
                <a16:creationId xmlns:a16="http://schemas.microsoft.com/office/drawing/2014/main" id="{C50E3FD3-5752-4B43-B996-39332DEF2B58}"/>
              </a:ext>
            </a:extLst>
          </p:cNvPr>
          <p:cNvSpPr txBox="1"/>
          <p:nvPr/>
        </p:nvSpPr>
        <p:spPr>
          <a:xfrm>
            <a:off x="9867138" y="2149601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774BC790-B8B7-FF4F-AFE0-B2E49CD83DF6}"/>
              </a:ext>
            </a:extLst>
          </p:cNvPr>
          <p:cNvSpPr txBox="1"/>
          <p:nvPr/>
        </p:nvSpPr>
        <p:spPr>
          <a:xfrm>
            <a:off x="10468356" y="2149601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25" name="object 15">
            <a:extLst>
              <a:ext uri="{FF2B5EF4-FFF2-40B4-BE49-F238E27FC236}">
                <a16:creationId xmlns:a16="http://schemas.microsoft.com/office/drawing/2014/main" id="{B4AAA0CD-4B57-314D-B907-24279BED5539}"/>
              </a:ext>
            </a:extLst>
          </p:cNvPr>
          <p:cNvGraphicFramePr>
            <a:graphicFrameLocks noGrp="1"/>
          </p:cNvGraphicFramePr>
          <p:nvPr/>
        </p:nvGraphicFramePr>
        <p:xfrm>
          <a:off x="829817" y="3323844"/>
          <a:ext cx="1804035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16">
            <a:extLst>
              <a:ext uri="{FF2B5EF4-FFF2-40B4-BE49-F238E27FC236}">
                <a16:creationId xmlns:a16="http://schemas.microsoft.com/office/drawing/2014/main" id="{D783E41E-A7DC-8C45-A218-FF7187F6C922}"/>
              </a:ext>
            </a:extLst>
          </p:cNvPr>
          <p:cNvGraphicFramePr>
            <a:graphicFrameLocks noGrp="1"/>
          </p:cNvGraphicFramePr>
          <p:nvPr/>
        </p:nvGraphicFramePr>
        <p:xfrm>
          <a:off x="3838194" y="3323844"/>
          <a:ext cx="1804035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object 17">
            <a:extLst>
              <a:ext uri="{FF2B5EF4-FFF2-40B4-BE49-F238E27FC236}">
                <a16:creationId xmlns:a16="http://schemas.microsoft.com/office/drawing/2014/main" id="{BF284809-0EA3-AC48-823E-659E71CCAED3}"/>
              </a:ext>
            </a:extLst>
          </p:cNvPr>
          <p:cNvGraphicFramePr>
            <a:graphicFrameLocks noGrp="1"/>
          </p:cNvGraphicFramePr>
          <p:nvPr/>
        </p:nvGraphicFramePr>
        <p:xfrm>
          <a:off x="6823709" y="3323844"/>
          <a:ext cx="1803400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object 18">
            <a:extLst>
              <a:ext uri="{FF2B5EF4-FFF2-40B4-BE49-F238E27FC236}">
                <a16:creationId xmlns:a16="http://schemas.microsoft.com/office/drawing/2014/main" id="{C707CF36-7E9B-BE42-81D2-751A86EC82D1}"/>
              </a:ext>
            </a:extLst>
          </p:cNvPr>
          <p:cNvGraphicFramePr>
            <a:graphicFrameLocks noGrp="1"/>
          </p:cNvGraphicFramePr>
          <p:nvPr/>
        </p:nvGraphicFramePr>
        <p:xfrm>
          <a:off x="9829038" y="3323844"/>
          <a:ext cx="1804035" cy="60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bject 19">
            <a:extLst>
              <a:ext uri="{FF2B5EF4-FFF2-40B4-BE49-F238E27FC236}">
                <a16:creationId xmlns:a16="http://schemas.microsoft.com/office/drawing/2014/main" id="{880AEFE8-8FB3-4243-BEB9-5E5657D19066}"/>
              </a:ext>
            </a:extLst>
          </p:cNvPr>
          <p:cNvSpPr/>
          <p:nvPr/>
        </p:nvSpPr>
        <p:spPr>
          <a:xfrm>
            <a:off x="10478389" y="2747391"/>
            <a:ext cx="591185" cy="598170"/>
          </a:xfrm>
          <a:custGeom>
            <a:avLst/>
            <a:gdLst/>
            <a:ahLst/>
            <a:cxnLst/>
            <a:rect l="l" t="t" r="r" b="b"/>
            <a:pathLst>
              <a:path w="591184" h="598170">
                <a:moveTo>
                  <a:pt x="497331" y="530309"/>
                </a:moveTo>
                <a:lnTo>
                  <a:pt x="470280" y="557022"/>
                </a:lnTo>
                <a:lnTo>
                  <a:pt x="591184" y="598170"/>
                </a:lnTo>
                <a:lnTo>
                  <a:pt x="573445" y="543813"/>
                </a:lnTo>
                <a:lnTo>
                  <a:pt x="510666" y="543813"/>
                </a:lnTo>
                <a:lnTo>
                  <a:pt x="497331" y="530309"/>
                </a:lnTo>
                <a:close/>
              </a:path>
              <a:path w="591184" h="598170">
                <a:moveTo>
                  <a:pt x="524487" y="503493"/>
                </a:moveTo>
                <a:lnTo>
                  <a:pt x="497331" y="530309"/>
                </a:lnTo>
                <a:lnTo>
                  <a:pt x="510666" y="543813"/>
                </a:lnTo>
                <a:lnTo>
                  <a:pt x="537844" y="517017"/>
                </a:lnTo>
                <a:lnTo>
                  <a:pt x="524487" y="503493"/>
                </a:lnTo>
                <a:close/>
              </a:path>
              <a:path w="591184" h="598170">
                <a:moveTo>
                  <a:pt x="551560" y="476758"/>
                </a:moveTo>
                <a:lnTo>
                  <a:pt x="524487" y="503493"/>
                </a:lnTo>
                <a:lnTo>
                  <a:pt x="537844" y="517017"/>
                </a:lnTo>
                <a:lnTo>
                  <a:pt x="510666" y="543813"/>
                </a:lnTo>
                <a:lnTo>
                  <a:pt x="573445" y="543813"/>
                </a:lnTo>
                <a:lnTo>
                  <a:pt x="551560" y="476758"/>
                </a:lnTo>
                <a:close/>
              </a:path>
              <a:path w="591184" h="598170">
                <a:moveTo>
                  <a:pt x="27177" y="0"/>
                </a:moveTo>
                <a:lnTo>
                  <a:pt x="0" y="26670"/>
                </a:lnTo>
                <a:lnTo>
                  <a:pt x="497331" y="530309"/>
                </a:lnTo>
                <a:lnTo>
                  <a:pt x="524487" y="503493"/>
                </a:lnTo>
                <a:lnTo>
                  <a:pt x="27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72F7D78E-3B5A-0744-9A40-674F5C5BD5CB}"/>
              </a:ext>
            </a:extLst>
          </p:cNvPr>
          <p:cNvCxnSpPr>
            <a:cxnSpLocks/>
          </p:cNvCxnSpPr>
          <p:nvPr/>
        </p:nvCxnSpPr>
        <p:spPr>
          <a:xfrm>
            <a:off x="2030756" y="3156734"/>
            <a:ext cx="0" cy="911832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D8D91118-63A6-4B4C-AE71-E6D328E9BB5E}"/>
              </a:ext>
            </a:extLst>
          </p:cNvPr>
          <p:cNvCxnSpPr>
            <a:cxnSpLocks/>
          </p:cNvCxnSpPr>
          <p:nvPr/>
        </p:nvCxnSpPr>
        <p:spPr>
          <a:xfrm>
            <a:off x="5037354" y="3156734"/>
            <a:ext cx="0" cy="911832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43B9812-A81D-2F45-8334-197F690C10D0}"/>
              </a:ext>
            </a:extLst>
          </p:cNvPr>
          <p:cNvCxnSpPr>
            <a:cxnSpLocks/>
          </p:cNvCxnSpPr>
          <p:nvPr/>
        </p:nvCxnSpPr>
        <p:spPr>
          <a:xfrm>
            <a:off x="8027439" y="3156734"/>
            <a:ext cx="0" cy="911832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77042FE0-82E9-6144-85D3-3E560776892D}"/>
              </a:ext>
            </a:extLst>
          </p:cNvPr>
          <p:cNvCxnSpPr>
            <a:cxnSpLocks/>
          </p:cNvCxnSpPr>
          <p:nvPr/>
        </p:nvCxnSpPr>
        <p:spPr>
          <a:xfrm>
            <a:off x="11027626" y="3156734"/>
            <a:ext cx="0" cy="911832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A1A9A8CF-F147-6143-92DB-AE35D45EEA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97"/>
          <a:stretch/>
        </p:blipFill>
        <p:spPr>
          <a:xfrm>
            <a:off x="278618" y="3942842"/>
            <a:ext cx="11264900" cy="233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0DAA790-AEDA-8948-BD0D-02DFB467CD5E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D35C7FF-B0DC-0741-B432-94466AD78EEA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E323948-57E8-E143-995A-5F6630E2520F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24086A6F-2E8F-6549-8825-0E0C2637F75E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A9163874-3C7A-A040-B55C-5B773F49DEA1}"/>
              </a:ext>
            </a:extLst>
          </p:cNvPr>
          <p:cNvSpPr txBox="1"/>
          <p:nvPr/>
        </p:nvSpPr>
        <p:spPr>
          <a:xfrm>
            <a:off x="-40894" y="1677923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A89F4415-0822-5D4F-8184-D991A031015F}"/>
              </a:ext>
            </a:extLst>
          </p:cNvPr>
          <p:cNvSpPr txBox="1"/>
          <p:nvPr/>
        </p:nvSpPr>
        <p:spPr>
          <a:xfrm>
            <a:off x="1146047" y="1677923"/>
            <a:ext cx="1201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9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EC0E3C0C-EE38-5D44-AE31-B3D6D71342E9}"/>
              </a:ext>
            </a:extLst>
          </p:cNvPr>
          <p:cNvSpPr txBox="1"/>
          <p:nvPr/>
        </p:nvSpPr>
        <p:spPr>
          <a:xfrm>
            <a:off x="256031" y="2256282"/>
            <a:ext cx="1390015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{𝟏,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−𝟐}</a:t>
            </a:r>
            <a:endParaRPr sz="2400">
              <a:latin typeface="Cambria Math"/>
              <a:cs typeface="Cambria Math"/>
            </a:endParaRPr>
          </a:p>
          <a:p>
            <a:pPr marL="9906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−𝟏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14581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0DAA790-AEDA-8948-BD0D-02DFB467CD5E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2646C772-8851-5344-B13F-CDC82EC8FBF3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E9FEB941-E51D-154A-8C3B-5B743E51DF6C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5412AF4A-28AE-E744-9DA2-A81F26EADA16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91F5CD87-85D0-304C-A9CE-55FD52251CC5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8044B87E-2040-714A-A715-7184AB50ED5D}"/>
              </a:ext>
            </a:extLst>
          </p:cNvPr>
          <p:cNvSpPr txBox="1"/>
          <p:nvPr/>
        </p:nvSpPr>
        <p:spPr>
          <a:xfrm>
            <a:off x="256031" y="2256282"/>
            <a:ext cx="1390015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{𝟏,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−𝟐}</a:t>
            </a:r>
            <a:endParaRPr sz="2400">
              <a:latin typeface="Cambria Math"/>
              <a:cs typeface="Cambria Math"/>
            </a:endParaRPr>
          </a:p>
          <a:p>
            <a:pPr marL="9906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−𝟏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8901726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0DAA790-AEDA-8948-BD0D-02DFB467CD5E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74BB6D2B-1427-AD4C-A3DD-5C72F523F61E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800A1295-4EF8-4B48-A726-2BB591B4F4D4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8" name="object 15">
            <a:extLst>
              <a:ext uri="{FF2B5EF4-FFF2-40B4-BE49-F238E27FC236}">
                <a16:creationId xmlns:a16="http://schemas.microsoft.com/office/drawing/2014/main" id="{4E0F6ECE-BD2E-AC43-A195-E39DDC6BE831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2357B545-6A47-A946-9245-8D6B34EDF5A7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0CB26BCB-D291-2B4A-AF19-6C7788390091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6160109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0A758064-B2A0-1A46-A92B-7E7D151AB365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4A485587-4930-C549-B68F-0DE39CF51102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7A44ABF1-4730-574E-8E06-15C91CB0B016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0CC21D8E-8D1E-CE4B-9340-110F42BEAB5F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232460D-0B88-BC4E-9E87-05229017A394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0">
            <a:extLst>
              <a:ext uri="{FF2B5EF4-FFF2-40B4-BE49-F238E27FC236}">
                <a16:creationId xmlns:a16="http://schemas.microsoft.com/office/drawing/2014/main" id="{4ACA019B-B17F-9F42-A1F5-179907CB5176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9DD0B877-F104-5440-8C90-8B3676DB6E61}"/>
              </a:ext>
            </a:extLst>
          </p:cNvPr>
          <p:cNvSpPr txBox="1"/>
          <p:nvPr/>
        </p:nvSpPr>
        <p:spPr>
          <a:xfrm>
            <a:off x="1816861" y="3164078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5448FA54-DFB0-8740-BE5E-F7FD935EBF5A}"/>
              </a:ext>
            </a:extLst>
          </p:cNvPr>
          <p:cNvSpPr txBox="1"/>
          <p:nvPr/>
        </p:nvSpPr>
        <p:spPr>
          <a:xfrm>
            <a:off x="529081" y="3164078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AB60237F-2050-144C-A0FC-58A6A92F0F32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1810385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0A758064-B2A0-1A46-A92B-7E7D151AB365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4A485587-4930-C549-B68F-0DE39CF51102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7A44ABF1-4730-574E-8E06-15C91CB0B016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0CC21D8E-8D1E-CE4B-9340-110F42BEAB5F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232460D-0B88-BC4E-9E87-05229017A394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0">
            <a:extLst>
              <a:ext uri="{FF2B5EF4-FFF2-40B4-BE49-F238E27FC236}">
                <a16:creationId xmlns:a16="http://schemas.microsoft.com/office/drawing/2014/main" id="{4ACA019B-B17F-9F42-A1F5-179907CB5176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AB60237F-2050-144C-A0FC-58A6A92F0F32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7F199BFB-A5FF-E147-A2EC-9DA6EF8656AA}"/>
              </a:ext>
            </a:extLst>
          </p:cNvPr>
          <p:cNvSpPr txBox="1"/>
          <p:nvPr/>
        </p:nvSpPr>
        <p:spPr>
          <a:xfrm>
            <a:off x="959358" y="3622547"/>
            <a:ext cx="150114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{𝟏,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1AA87D81-2B63-4042-A080-9572A55BDBF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5285562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BF9B13D3-49AA-8E49-AD9C-0CC0DBC1EF4D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AA4EB839-EB49-3347-B6A3-0EFEE0CD71D5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7945C24B-C7AE-2D4B-AD30-010B20A61227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909D1845-BF0B-AA40-AD9B-ED02CC34F00E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F9318E87-E2B6-FD40-8A77-ACCA5572AE58}"/>
              </a:ext>
            </a:extLst>
          </p:cNvPr>
          <p:cNvSpPr txBox="1"/>
          <p:nvPr/>
        </p:nvSpPr>
        <p:spPr>
          <a:xfrm>
            <a:off x="959358" y="3622547"/>
            <a:ext cx="150114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{𝟏,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20">
            <a:extLst>
              <a:ext uri="{FF2B5EF4-FFF2-40B4-BE49-F238E27FC236}">
                <a16:creationId xmlns:a16="http://schemas.microsoft.com/office/drawing/2014/main" id="{70F17C93-5111-9648-9100-03EDA4CBF7E3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1">
            <a:extLst>
              <a:ext uri="{FF2B5EF4-FFF2-40B4-BE49-F238E27FC236}">
                <a16:creationId xmlns:a16="http://schemas.microsoft.com/office/drawing/2014/main" id="{6B391636-8D79-0A4E-AD9C-A654A044340C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2">
            <a:extLst>
              <a:ext uri="{FF2B5EF4-FFF2-40B4-BE49-F238E27FC236}">
                <a16:creationId xmlns:a16="http://schemas.microsoft.com/office/drawing/2014/main" id="{6089EB53-345A-0040-8C61-1CB5536EC1AE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23">
            <a:extLst>
              <a:ext uri="{FF2B5EF4-FFF2-40B4-BE49-F238E27FC236}">
                <a16:creationId xmlns:a16="http://schemas.microsoft.com/office/drawing/2014/main" id="{7281F2C9-20C3-2240-8B8A-E927B6BC073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1667885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83726801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CD87CC91-0877-7E42-AD81-CD1634CE292E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3">
            <a:extLst>
              <a:ext uri="{FF2B5EF4-FFF2-40B4-BE49-F238E27FC236}">
                <a16:creationId xmlns:a16="http://schemas.microsoft.com/office/drawing/2014/main" id="{1F3E6EB0-CA17-A941-9471-8FA460A77547}"/>
              </a:ext>
            </a:extLst>
          </p:cNvPr>
          <p:cNvSpPr txBox="1"/>
          <p:nvPr/>
        </p:nvSpPr>
        <p:spPr>
          <a:xfrm>
            <a:off x="2705354" y="1812036"/>
            <a:ext cx="9734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55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24">
            <a:extLst>
              <a:ext uri="{FF2B5EF4-FFF2-40B4-BE49-F238E27FC236}">
                <a16:creationId xmlns:a16="http://schemas.microsoft.com/office/drawing/2014/main" id="{44C88317-6747-684A-A865-32C85E96CE16}"/>
              </a:ext>
            </a:extLst>
          </p:cNvPr>
          <p:cNvSpPr txBox="1"/>
          <p:nvPr/>
        </p:nvSpPr>
        <p:spPr>
          <a:xfrm>
            <a:off x="4105909" y="1811782"/>
            <a:ext cx="1201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9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9055488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7A5ED47-90C2-ED46-858B-091880392680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2A37A24-27BB-3B4B-8621-742ECBA66F74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CF2C2F0-B314-254C-A0EA-9DE1A5A47B9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BA81A68C-1BDC-BD48-AD01-5C8D030EF907}"/>
              </a:ext>
            </a:extLst>
          </p:cNvPr>
          <p:cNvSpPr txBox="1"/>
          <p:nvPr/>
        </p:nvSpPr>
        <p:spPr>
          <a:xfrm>
            <a:off x="3321558" y="2277617"/>
            <a:ext cx="1203325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−𝟐}</a:t>
            </a:r>
            <a:endParaRPr sz="24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23">
            <a:extLst>
              <a:ext uri="{FF2B5EF4-FFF2-40B4-BE49-F238E27FC236}">
                <a16:creationId xmlns:a16="http://schemas.microsoft.com/office/drawing/2014/main" id="{77259D4B-6B4A-2A4E-B71F-7082C747F55E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0FCAAAA2-1DCF-9345-8744-082491EA2819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318200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EBEF9CD1-2053-E241-8BB7-BFF247DDDA0D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2" name="object 10">
            <a:extLst>
              <a:ext uri="{FF2B5EF4-FFF2-40B4-BE49-F238E27FC236}">
                <a16:creationId xmlns:a16="http://schemas.microsoft.com/office/drawing/2014/main" id="{9DD05954-63BB-0D47-BBBD-6D4CBE304DA6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52D76581-562E-544C-A4E7-CC5C1F68727C}"/>
              </a:ext>
            </a:extLst>
          </p:cNvPr>
          <p:cNvSpPr txBox="1"/>
          <p:nvPr/>
        </p:nvSpPr>
        <p:spPr>
          <a:xfrm>
            <a:off x="3321558" y="2277617"/>
            <a:ext cx="1203325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−𝟐}</a:t>
            </a:r>
            <a:endParaRPr sz="2400">
              <a:latin typeface="Cambria Math"/>
              <a:cs typeface="Cambria Math"/>
            </a:endParaRPr>
          </a:p>
          <a:p>
            <a:pPr marL="118745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39FE076-FE87-2C45-A32A-96CCD7EFC538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548DFB38-62A2-074E-862D-5C4A5F7CA032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44EBEAB2-1B85-0747-9E60-D2CF3B23CEF1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55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17067785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FCA10D-070C-1045-9331-519A4A183E89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8DED20C-698B-7E43-BE6E-274D980EC3E4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EBEF9CD1-2053-E241-8BB7-BFF247DDDA0D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2" name="object 10">
            <a:extLst>
              <a:ext uri="{FF2B5EF4-FFF2-40B4-BE49-F238E27FC236}">
                <a16:creationId xmlns:a16="http://schemas.microsoft.com/office/drawing/2014/main" id="{9DD05954-63BB-0D47-BBBD-6D4CBE304DA6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39FE076-FE87-2C45-A32A-96CCD7EFC538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548DFB38-62A2-074E-862D-5C4A5F7CA032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44EBEAB2-1B85-0747-9E60-D2CF3B23CEF1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55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FC870824-7B43-9748-BDFC-EFC3FE2B53BA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1490622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26">
            <a:extLst>
              <a:ext uri="{FF2B5EF4-FFF2-40B4-BE49-F238E27FC236}">
                <a16:creationId xmlns:a16="http://schemas.microsoft.com/office/drawing/2014/main" id="{25D60B8D-23D5-7340-931D-9F33350C72D1}"/>
              </a:ext>
            </a:extLst>
          </p:cNvPr>
          <p:cNvSpPr txBox="1"/>
          <p:nvPr/>
        </p:nvSpPr>
        <p:spPr>
          <a:xfrm>
            <a:off x="4816347" y="3185921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2255AE6E-82FD-C544-BF68-125EAC7790D2}"/>
              </a:ext>
            </a:extLst>
          </p:cNvPr>
          <p:cNvSpPr txBox="1"/>
          <p:nvPr/>
        </p:nvSpPr>
        <p:spPr>
          <a:xfrm>
            <a:off x="3556000" y="3185921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3497970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8">
            <a:extLst>
              <a:ext uri="{FF2B5EF4-FFF2-40B4-BE49-F238E27FC236}">
                <a16:creationId xmlns:a16="http://schemas.microsoft.com/office/drawing/2014/main" id="{17C7657C-9C1C-4546-9C32-ED150653EA1C}"/>
              </a:ext>
            </a:extLst>
          </p:cNvPr>
          <p:cNvSpPr txBox="1"/>
          <p:nvPr/>
        </p:nvSpPr>
        <p:spPr>
          <a:xfrm>
            <a:off x="3951732" y="3622547"/>
            <a:ext cx="1500505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75895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08747041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C448C804-85BC-DD44-9FBB-94700B0B4C64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18">
            <a:extLst>
              <a:ext uri="{FF2B5EF4-FFF2-40B4-BE49-F238E27FC236}">
                <a16:creationId xmlns:a16="http://schemas.microsoft.com/office/drawing/2014/main" id="{C4D7FF32-5B69-5B4A-BCE8-0C06A9D42F86}"/>
              </a:ext>
            </a:extLst>
          </p:cNvPr>
          <p:cNvSpPr txBox="1"/>
          <p:nvPr/>
        </p:nvSpPr>
        <p:spPr>
          <a:xfrm>
            <a:off x="3951732" y="3622547"/>
            <a:ext cx="1500505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solidFill>
                  <a:srgbClr val="FF0000"/>
                </a:solidFill>
                <a:latin typeface="Cambria Math"/>
                <a:cs typeface="Cambria Math"/>
              </a:rPr>
              <a:t>{𝟓,</a:t>
            </a:r>
            <a:r>
              <a:rPr sz="24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0000"/>
                </a:solidFill>
                <a:latin typeface="Cambria Math"/>
                <a:cs typeface="Cambria Math"/>
              </a:rPr>
              <a:t>−𝟐,</a:t>
            </a:r>
            <a:r>
              <a:rPr sz="2400" spc="-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75895">
              <a:lnSpc>
                <a:spcPct val="100000"/>
              </a:lnSpc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35">
                <a:solidFill>
                  <a:srgbClr val="FF0000"/>
                </a:solidFill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9280330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26">
            <a:extLst>
              <a:ext uri="{FF2B5EF4-FFF2-40B4-BE49-F238E27FC236}">
                <a16:creationId xmlns:a16="http://schemas.microsoft.com/office/drawing/2014/main" id="{AE752E4E-77C1-CD49-A3E9-434D72810389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9">
            <a:extLst>
              <a:ext uri="{FF2B5EF4-FFF2-40B4-BE49-F238E27FC236}">
                <a16:creationId xmlns:a16="http://schemas.microsoft.com/office/drawing/2014/main" id="{57088D1D-8016-F34D-A0FF-396AFF2790F3}"/>
              </a:ext>
            </a:extLst>
          </p:cNvPr>
          <p:cNvSpPr txBox="1"/>
          <p:nvPr/>
        </p:nvSpPr>
        <p:spPr>
          <a:xfrm>
            <a:off x="3865117" y="4531867"/>
            <a:ext cx="1155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35">
                <a:solidFill>
                  <a:srgbClr val="FF0000"/>
                </a:solidFill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30">
            <a:extLst>
              <a:ext uri="{FF2B5EF4-FFF2-40B4-BE49-F238E27FC236}">
                <a16:creationId xmlns:a16="http://schemas.microsoft.com/office/drawing/2014/main" id="{4D4802A4-3287-1C46-B412-D47DFE21717F}"/>
              </a:ext>
            </a:extLst>
          </p:cNvPr>
          <p:cNvSpPr txBox="1"/>
          <p:nvPr/>
        </p:nvSpPr>
        <p:spPr>
          <a:xfrm>
            <a:off x="1730501" y="4531867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02046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8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6BC1D526-6195-9649-860A-9FCBFDA3F7DD}"/>
              </a:ext>
            </a:extLst>
          </p:cNvPr>
          <p:cNvSpPr txBox="1"/>
          <p:nvPr/>
        </p:nvSpPr>
        <p:spPr>
          <a:xfrm>
            <a:off x="2389632" y="4970526"/>
            <a:ext cx="182245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𝟓,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3CFD95AC-0C34-FB49-B0D3-247C91C6FD3C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>
            <a:extLst>
              <a:ext uri="{FF2B5EF4-FFF2-40B4-BE49-F238E27FC236}">
                <a16:creationId xmlns:a16="http://schemas.microsoft.com/office/drawing/2014/main" id="{BDC5A8CD-C6D3-BE40-84F2-D2E941ED5666}"/>
              </a:ext>
            </a:extLst>
          </p:cNvPr>
          <p:cNvSpPr txBox="1"/>
          <p:nvPr/>
        </p:nvSpPr>
        <p:spPr>
          <a:xfrm>
            <a:off x="1717801" y="4531867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8503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𝟒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9742392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3CFD95AC-0C34-FB49-B0D3-247C91C6FD3C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>
            <a:extLst>
              <a:ext uri="{FF2B5EF4-FFF2-40B4-BE49-F238E27FC236}">
                <a16:creationId xmlns:a16="http://schemas.microsoft.com/office/drawing/2014/main" id="{BDC5A8CD-C6D3-BE40-84F2-D2E941ED5666}"/>
              </a:ext>
            </a:extLst>
          </p:cNvPr>
          <p:cNvSpPr txBox="1"/>
          <p:nvPr/>
        </p:nvSpPr>
        <p:spPr>
          <a:xfrm>
            <a:off x="1717801" y="4531867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8503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𝟒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E89F8F3F-16C5-5C44-AA25-26D3118D35A7}"/>
              </a:ext>
            </a:extLst>
          </p:cNvPr>
          <p:cNvSpPr txBox="1"/>
          <p:nvPr/>
        </p:nvSpPr>
        <p:spPr>
          <a:xfrm>
            <a:off x="2389632" y="4970526"/>
            <a:ext cx="182245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solidFill>
                  <a:srgbClr val="FF0000"/>
                </a:solidFill>
                <a:latin typeface="Cambria Math"/>
                <a:cs typeface="Cambria Math"/>
              </a:rPr>
              <a:t>{𝟒,</a:t>
            </a:r>
            <a:r>
              <a:rPr sz="2400" spc="-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0000"/>
                </a:solidFill>
                <a:latin typeface="Cambria Math"/>
                <a:cs typeface="Cambria Math"/>
              </a:rPr>
              <a:t>𝟓,</a:t>
            </a:r>
            <a:r>
              <a:rPr sz="2400" spc="-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10">
                <a:solidFill>
                  <a:srgbClr val="FF0000"/>
                </a:solidFill>
                <a:latin typeface="Cambria Math"/>
                <a:cs typeface="Cambria Math"/>
              </a:rPr>
              <a:t>−𝟐,</a:t>
            </a:r>
            <a:r>
              <a:rPr sz="2400" spc="-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625" spc="569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716899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3CFD95AC-0C34-FB49-B0D3-247C91C6FD3C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>
            <a:extLst>
              <a:ext uri="{FF2B5EF4-FFF2-40B4-BE49-F238E27FC236}">
                <a16:creationId xmlns:a16="http://schemas.microsoft.com/office/drawing/2014/main" id="{BDC5A8CD-C6D3-BE40-84F2-D2E941ED5666}"/>
              </a:ext>
            </a:extLst>
          </p:cNvPr>
          <p:cNvSpPr txBox="1"/>
          <p:nvPr/>
        </p:nvSpPr>
        <p:spPr>
          <a:xfrm>
            <a:off x="1717801" y="4531867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8503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𝟒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5405D8A2-4B11-CF40-9149-04154FD1967E}"/>
              </a:ext>
            </a:extLst>
          </p:cNvPr>
          <p:cNvSpPr txBox="1"/>
          <p:nvPr/>
        </p:nvSpPr>
        <p:spPr>
          <a:xfrm>
            <a:off x="2401061" y="4970526"/>
            <a:ext cx="1799589" cy="831850"/>
          </a:xfrm>
          <a:prstGeom prst="rect">
            <a:avLst/>
          </a:prstGeom>
          <a:ln w="38100">
            <a:solidFill>
              <a:srgbClr val="FF25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𝟓,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5621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4091965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3CFD95AC-0C34-FB49-B0D3-247C91C6FD3C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>
            <a:extLst>
              <a:ext uri="{FF2B5EF4-FFF2-40B4-BE49-F238E27FC236}">
                <a16:creationId xmlns:a16="http://schemas.microsoft.com/office/drawing/2014/main" id="{BDC5A8CD-C6D3-BE40-84F2-D2E941ED5666}"/>
              </a:ext>
            </a:extLst>
          </p:cNvPr>
          <p:cNvSpPr txBox="1"/>
          <p:nvPr/>
        </p:nvSpPr>
        <p:spPr>
          <a:xfrm>
            <a:off x="1717801" y="4531867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8503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𝟒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B12F0AD7-3AE3-FB4A-ACC3-B8C756011760}"/>
              </a:ext>
            </a:extLst>
          </p:cNvPr>
          <p:cNvSpPr txBox="1"/>
          <p:nvPr/>
        </p:nvSpPr>
        <p:spPr>
          <a:xfrm>
            <a:off x="2401061" y="4970526"/>
            <a:ext cx="1799589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𝟓,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5621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28">
            <a:extLst>
              <a:ext uri="{FF2B5EF4-FFF2-40B4-BE49-F238E27FC236}">
                <a16:creationId xmlns:a16="http://schemas.microsoft.com/office/drawing/2014/main" id="{23628772-3FD4-9240-A75D-F5FE6663BA9E}"/>
              </a:ext>
            </a:extLst>
          </p:cNvPr>
          <p:cNvSpPr/>
          <p:nvPr/>
        </p:nvSpPr>
        <p:spPr>
          <a:xfrm>
            <a:off x="6516243" y="1648078"/>
            <a:ext cx="770890" cy="616585"/>
          </a:xfrm>
          <a:custGeom>
            <a:avLst/>
            <a:gdLst/>
            <a:ahLst/>
            <a:cxnLst/>
            <a:rect l="l" t="t" r="r" b="b"/>
            <a:pathLst>
              <a:path w="770890" h="616585">
                <a:moveTo>
                  <a:pt x="433197" y="616077"/>
                </a:moveTo>
                <a:lnTo>
                  <a:pt x="423697" y="548513"/>
                </a:lnTo>
                <a:lnTo>
                  <a:pt x="415417" y="489585"/>
                </a:lnTo>
                <a:lnTo>
                  <a:pt x="384073" y="511200"/>
                </a:lnTo>
                <a:lnTo>
                  <a:pt x="31229" y="0"/>
                </a:lnTo>
                <a:lnTo>
                  <a:pt x="0" y="21590"/>
                </a:lnTo>
                <a:lnTo>
                  <a:pt x="352666" y="532866"/>
                </a:lnTo>
                <a:lnTo>
                  <a:pt x="321310" y="554482"/>
                </a:lnTo>
                <a:lnTo>
                  <a:pt x="433197" y="616077"/>
                </a:lnTo>
                <a:close/>
              </a:path>
              <a:path w="770890" h="616585">
                <a:moveTo>
                  <a:pt x="770763" y="26670"/>
                </a:moveTo>
                <a:lnTo>
                  <a:pt x="737235" y="8636"/>
                </a:lnTo>
                <a:lnTo>
                  <a:pt x="470395" y="506196"/>
                </a:lnTo>
                <a:lnTo>
                  <a:pt x="436880" y="488188"/>
                </a:lnTo>
                <a:lnTo>
                  <a:pt x="433197" y="615950"/>
                </a:lnTo>
                <a:lnTo>
                  <a:pt x="537591" y="542290"/>
                </a:lnTo>
                <a:lnTo>
                  <a:pt x="535216" y="541020"/>
                </a:lnTo>
                <a:lnTo>
                  <a:pt x="504024" y="524268"/>
                </a:lnTo>
                <a:lnTo>
                  <a:pt x="770763" y="26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2">
            <a:extLst>
              <a:ext uri="{FF2B5EF4-FFF2-40B4-BE49-F238E27FC236}">
                <a16:creationId xmlns:a16="http://schemas.microsoft.com/office/drawing/2014/main" id="{727F92B1-B76E-CD43-99FA-E3BC4F1544AF}"/>
              </a:ext>
            </a:extLst>
          </p:cNvPr>
          <p:cNvSpPr txBox="1"/>
          <p:nvPr/>
        </p:nvSpPr>
        <p:spPr>
          <a:xfrm>
            <a:off x="5752846" y="1800097"/>
            <a:ext cx="97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6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1" name="object 33">
            <a:extLst>
              <a:ext uri="{FF2B5EF4-FFF2-40B4-BE49-F238E27FC236}">
                <a16:creationId xmlns:a16="http://schemas.microsoft.com/office/drawing/2014/main" id="{949A5255-F6C4-9544-BCBE-2C77FD8A18F3}"/>
              </a:ext>
            </a:extLst>
          </p:cNvPr>
          <p:cNvSpPr txBox="1"/>
          <p:nvPr/>
        </p:nvSpPr>
        <p:spPr>
          <a:xfrm>
            <a:off x="7116318" y="1799590"/>
            <a:ext cx="1201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9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92967804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3CFD95AC-0C34-FB49-B0D3-247C91C6FD3C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>
            <a:extLst>
              <a:ext uri="{FF2B5EF4-FFF2-40B4-BE49-F238E27FC236}">
                <a16:creationId xmlns:a16="http://schemas.microsoft.com/office/drawing/2014/main" id="{BDC5A8CD-C6D3-BE40-84F2-D2E941ED5666}"/>
              </a:ext>
            </a:extLst>
          </p:cNvPr>
          <p:cNvSpPr txBox="1"/>
          <p:nvPr/>
        </p:nvSpPr>
        <p:spPr>
          <a:xfrm>
            <a:off x="1717801" y="4531867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8503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𝟒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B12F0AD7-3AE3-FB4A-ACC3-B8C756011760}"/>
              </a:ext>
            </a:extLst>
          </p:cNvPr>
          <p:cNvSpPr txBox="1"/>
          <p:nvPr/>
        </p:nvSpPr>
        <p:spPr>
          <a:xfrm>
            <a:off x="2401061" y="4970526"/>
            <a:ext cx="1799589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𝟓,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5621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2" name="object 20">
            <a:extLst>
              <a:ext uri="{FF2B5EF4-FFF2-40B4-BE49-F238E27FC236}">
                <a16:creationId xmlns:a16="http://schemas.microsoft.com/office/drawing/2014/main" id="{FB6E202E-F88F-3345-B5DC-E62C179DE0E8}"/>
              </a:ext>
            </a:extLst>
          </p:cNvPr>
          <p:cNvSpPr txBox="1"/>
          <p:nvPr/>
        </p:nvSpPr>
        <p:spPr>
          <a:xfrm>
            <a:off x="6198108" y="2264664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{𝟑}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527DCC71-BF3A-2148-86CC-B4E584DC395E}"/>
              </a:ext>
            </a:extLst>
          </p:cNvPr>
          <p:cNvSpPr txBox="1"/>
          <p:nvPr/>
        </p:nvSpPr>
        <p:spPr>
          <a:xfrm>
            <a:off x="6976871" y="363321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𝟔}</a:t>
            </a:r>
            <a:endParaRPr sz="2400">
              <a:latin typeface="Cambria Math"/>
              <a:cs typeface="Cambria Math"/>
            </a:endParaRPr>
          </a:p>
          <a:p>
            <a:pPr marL="9906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4" name="object 22">
            <a:extLst>
              <a:ext uri="{FF2B5EF4-FFF2-40B4-BE49-F238E27FC236}">
                <a16:creationId xmlns:a16="http://schemas.microsoft.com/office/drawing/2014/main" id="{41E5E2E9-3B2D-5F4F-B7A4-EE24D62B8926}"/>
              </a:ext>
            </a:extLst>
          </p:cNvPr>
          <p:cNvSpPr/>
          <p:nvPr/>
        </p:nvSpPr>
        <p:spPr>
          <a:xfrm>
            <a:off x="9097518" y="2288285"/>
            <a:ext cx="1687830" cy="831850"/>
          </a:xfrm>
          <a:custGeom>
            <a:avLst/>
            <a:gdLst/>
            <a:ahLst/>
            <a:cxnLst/>
            <a:rect l="l" t="t" r="r" b="b"/>
            <a:pathLst>
              <a:path w="1687829" h="831850">
                <a:moveTo>
                  <a:pt x="0" y="831341"/>
                </a:moveTo>
                <a:lnTo>
                  <a:pt x="1687829" y="831341"/>
                </a:lnTo>
                <a:lnTo>
                  <a:pt x="1687829" y="0"/>
                </a:lnTo>
                <a:lnTo>
                  <a:pt x="0" y="0"/>
                </a:lnTo>
                <a:lnTo>
                  <a:pt x="0" y="83134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3">
            <a:extLst>
              <a:ext uri="{FF2B5EF4-FFF2-40B4-BE49-F238E27FC236}">
                <a16:creationId xmlns:a16="http://schemas.microsoft.com/office/drawing/2014/main" id="{8DE79FAA-AD87-6348-9D26-05DF741C5919}"/>
              </a:ext>
            </a:extLst>
          </p:cNvPr>
          <p:cNvSpPr txBox="1"/>
          <p:nvPr/>
        </p:nvSpPr>
        <p:spPr>
          <a:xfrm>
            <a:off x="9876281" y="3633215"/>
            <a:ext cx="168783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6" name="object 24">
            <a:extLst>
              <a:ext uri="{FF2B5EF4-FFF2-40B4-BE49-F238E27FC236}">
                <a16:creationId xmlns:a16="http://schemas.microsoft.com/office/drawing/2014/main" id="{0DB18EC2-602A-1945-A672-B181A39E25D5}"/>
              </a:ext>
            </a:extLst>
          </p:cNvPr>
          <p:cNvSpPr txBox="1"/>
          <p:nvPr/>
        </p:nvSpPr>
        <p:spPr>
          <a:xfrm>
            <a:off x="8253983" y="4970526"/>
            <a:ext cx="2097405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7785" algn="ctr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𝟔,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𝟑,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7" name="object 33">
            <a:extLst>
              <a:ext uri="{FF2B5EF4-FFF2-40B4-BE49-F238E27FC236}">
                <a16:creationId xmlns:a16="http://schemas.microsoft.com/office/drawing/2014/main" id="{815234B4-93FE-9642-9D14-EDC4F7808F54}"/>
              </a:ext>
            </a:extLst>
          </p:cNvPr>
          <p:cNvSpPr/>
          <p:nvPr/>
        </p:nvSpPr>
        <p:spPr>
          <a:xfrm>
            <a:off x="6516243" y="1648078"/>
            <a:ext cx="770890" cy="616585"/>
          </a:xfrm>
          <a:custGeom>
            <a:avLst/>
            <a:gdLst/>
            <a:ahLst/>
            <a:cxnLst/>
            <a:rect l="l" t="t" r="r" b="b"/>
            <a:pathLst>
              <a:path w="770890" h="616585">
                <a:moveTo>
                  <a:pt x="433197" y="616077"/>
                </a:moveTo>
                <a:lnTo>
                  <a:pt x="423697" y="548513"/>
                </a:lnTo>
                <a:lnTo>
                  <a:pt x="415417" y="489585"/>
                </a:lnTo>
                <a:lnTo>
                  <a:pt x="384073" y="511200"/>
                </a:lnTo>
                <a:lnTo>
                  <a:pt x="31229" y="0"/>
                </a:lnTo>
                <a:lnTo>
                  <a:pt x="0" y="21590"/>
                </a:lnTo>
                <a:lnTo>
                  <a:pt x="352666" y="532866"/>
                </a:lnTo>
                <a:lnTo>
                  <a:pt x="321310" y="554482"/>
                </a:lnTo>
                <a:lnTo>
                  <a:pt x="433197" y="616077"/>
                </a:lnTo>
                <a:close/>
              </a:path>
              <a:path w="770890" h="616585">
                <a:moveTo>
                  <a:pt x="770763" y="26670"/>
                </a:moveTo>
                <a:lnTo>
                  <a:pt x="737235" y="8636"/>
                </a:lnTo>
                <a:lnTo>
                  <a:pt x="470395" y="506196"/>
                </a:lnTo>
                <a:lnTo>
                  <a:pt x="436880" y="488188"/>
                </a:lnTo>
                <a:lnTo>
                  <a:pt x="433197" y="615950"/>
                </a:lnTo>
                <a:lnTo>
                  <a:pt x="537591" y="542290"/>
                </a:lnTo>
                <a:lnTo>
                  <a:pt x="535216" y="541020"/>
                </a:lnTo>
                <a:lnTo>
                  <a:pt x="504024" y="524268"/>
                </a:lnTo>
                <a:lnTo>
                  <a:pt x="770763" y="26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4">
            <a:extLst>
              <a:ext uri="{FF2B5EF4-FFF2-40B4-BE49-F238E27FC236}">
                <a16:creationId xmlns:a16="http://schemas.microsoft.com/office/drawing/2014/main" id="{072CE156-2311-144C-873B-DF92D41C8FC5}"/>
              </a:ext>
            </a:extLst>
          </p:cNvPr>
          <p:cNvSpPr/>
          <p:nvPr/>
        </p:nvSpPr>
        <p:spPr>
          <a:xfrm>
            <a:off x="7393432" y="1662556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5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095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5">
            <a:extLst>
              <a:ext uri="{FF2B5EF4-FFF2-40B4-BE49-F238E27FC236}">
                <a16:creationId xmlns:a16="http://schemas.microsoft.com/office/drawing/2014/main" id="{26B6AD70-846D-D841-B9D6-7B4FB9D24A5A}"/>
              </a:ext>
            </a:extLst>
          </p:cNvPr>
          <p:cNvSpPr/>
          <p:nvPr/>
        </p:nvSpPr>
        <p:spPr>
          <a:xfrm>
            <a:off x="8313801" y="4446904"/>
            <a:ext cx="1933575" cy="523875"/>
          </a:xfrm>
          <a:custGeom>
            <a:avLst/>
            <a:gdLst/>
            <a:ahLst/>
            <a:cxnLst/>
            <a:rect l="l" t="t" r="r" b="b"/>
            <a:pathLst>
              <a:path w="1933575" h="523875">
                <a:moveTo>
                  <a:pt x="1933321" y="33655"/>
                </a:moveTo>
                <a:lnTo>
                  <a:pt x="1915287" y="127"/>
                </a:lnTo>
                <a:lnTo>
                  <a:pt x="1080109" y="452335"/>
                </a:lnTo>
                <a:lnTo>
                  <a:pt x="1061974" y="418846"/>
                </a:lnTo>
                <a:lnTo>
                  <a:pt x="988745" y="523417"/>
                </a:lnTo>
                <a:lnTo>
                  <a:pt x="969264" y="496697"/>
                </a:lnTo>
                <a:lnTo>
                  <a:pt x="913511" y="420243"/>
                </a:lnTo>
                <a:lnTo>
                  <a:pt x="895985" y="454190"/>
                </a:lnTo>
                <a:lnTo>
                  <a:pt x="17526" y="0"/>
                </a:lnTo>
                <a:lnTo>
                  <a:pt x="0" y="33782"/>
                </a:lnTo>
                <a:lnTo>
                  <a:pt x="878547" y="487959"/>
                </a:lnTo>
                <a:lnTo>
                  <a:pt x="861060" y="521843"/>
                </a:lnTo>
                <a:lnTo>
                  <a:pt x="988695" y="523494"/>
                </a:lnTo>
                <a:lnTo>
                  <a:pt x="988822" y="523494"/>
                </a:lnTo>
                <a:lnTo>
                  <a:pt x="1116457" y="519430"/>
                </a:lnTo>
                <a:lnTo>
                  <a:pt x="1103172" y="494919"/>
                </a:lnTo>
                <a:lnTo>
                  <a:pt x="1098257" y="485863"/>
                </a:lnTo>
                <a:lnTo>
                  <a:pt x="1933321" y="33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36">
            <a:extLst>
              <a:ext uri="{FF2B5EF4-FFF2-40B4-BE49-F238E27FC236}">
                <a16:creationId xmlns:a16="http://schemas.microsoft.com/office/drawing/2014/main" id="{B88A8F2B-CF1B-B246-AEBE-7F6134EA5D7F}"/>
              </a:ext>
            </a:extLst>
          </p:cNvPr>
          <p:cNvSpPr/>
          <p:nvPr/>
        </p:nvSpPr>
        <p:spPr>
          <a:xfrm>
            <a:off x="9503029" y="1648205"/>
            <a:ext cx="2005330" cy="1995805"/>
          </a:xfrm>
          <a:custGeom>
            <a:avLst/>
            <a:gdLst/>
            <a:ahLst/>
            <a:cxnLst/>
            <a:rect l="l" t="t" r="r" b="b"/>
            <a:pathLst>
              <a:path w="2005329" h="1995804">
                <a:moveTo>
                  <a:pt x="768477" y="19177"/>
                </a:moveTo>
                <a:lnTo>
                  <a:pt x="734314" y="2159"/>
                </a:lnTo>
                <a:lnTo>
                  <a:pt x="471906" y="529183"/>
                </a:lnTo>
                <a:lnTo>
                  <a:pt x="437769" y="512191"/>
                </a:lnTo>
                <a:lnTo>
                  <a:pt x="438010" y="634936"/>
                </a:lnTo>
                <a:lnTo>
                  <a:pt x="429869" y="571500"/>
                </a:lnTo>
                <a:lnTo>
                  <a:pt x="422402" y="513207"/>
                </a:lnTo>
                <a:lnTo>
                  <a:pt x="390702" y="534504"/>
                </a:lnTo>
                <a:lnTo>
                  <a:pt x="31623" y="0"/>
                </a:lnTo>
                <a:lnTo>
                  <a:pt x="0" y="21336"/>
                </a:lnTo>
                <a:lnTo>
                  <a:pt x="359105" y="555752"/>
                </a:lnTo>
                <a:lnTo>
                  <a:pt x="327533" y="576961"/>
                </a:lnTo>
                <a:lnTo>
                  <a:pt x="438010" y="639597"/>
                </a:lnTo>
                <a:lnTo>
                  <a:pt x="438023" y="639953"/>
                </a:lnTo>
                <a:lnTo>
                  <a:pt x="438289" y="639749"/>
                </a:lnTo>
                <a:lnTo>
                  <a:pt x="438658" y="639953"/>
                </a:lnTo>
                <a:lnTo>
                  <a:pt x="438594" y="639521"/>
                </a:lnTo>
                <a:lnTo>
                  <a:pt x="539953" y="563245"/>
                </a:lnTo>
                <a:lnTo>
                  <a:pt x="540131" y="563118"/>
                </a:lnTo>
                <a:lnTo>
                  <a:pt x="506082" y="546188"/>
                </a:lnTo>
                <a:lnTo>
                  <a:pt x="768477" y="19177"/>
                </a:lnTo>
                <a:close/>
              </a:path>
              <a:path w="2005329" h="1995804">
                <a:moveTo>
                  <a:pt x="1215644" y="1995551"/>
                </a:moveTo>
                <a:lnTo>
                  <a:pt x="1209395" y="1924431"/>
                </a:lnTo>
                <a:lnTo>
                  <a:pt x="1204468" y="1868297"/>
                </a:lnTo>
                <a:lnTo>
                  <a:pt x="1172057" y="1888223"/>
                </a:lnTo>
                <a:lnTo>
                  <a:pt x="913003" y="1466723"/>
                </a:lnTo>
                <a:lnTo>
                  <a:pt x="880491" y="1486789"/>
                </a:lnTo>
                <a:lnTo>
                  <a:pt x="1139609" y="1908187"/>
                </a:lnTo>
                <a:lnTo>
                  <a:pt x="1107186" y="1928126"/>
                </a:lnTo>
                <a:lnTo>
                  <a:pt x="1215644" y="1995551"/>
                </a:lnTo>
                <a:close/>
              </a:path>
              <a:path w="2005329" h="1995804">
                <a:moveTo>
                  <a:pt x="2005330" y="17653"/>
                </a:moveTo>
                <a:lnTo>
                  <a:pt x="1969897" y="3683"/>
                </a:lnTo>
                <a:lnTo>
                  <a:pt x="1240612" y="1871345"/>
                </a:lnTo>
                <a:lnTo>
                  <a:pt x="1205103" y="1857502"/>
                </a:lnTo>
                <a:lnTo>
                  <a:pt x="1216787" y="1984756"/>
                </a:lnTo>
                <a:lnTo>
                  <a:pt x="1307287" y="1902968"/>
                </a:lnTo>
                <a:lnTo>
                  <a:pt x="1311656" y="1899031"/>
                </a:lnTo>
                <a:lnTo>
                  <a:pt x="1276172" y="1885213"/>
                </a:lnTo>
                <a:lnTo>
                  <a:pt x="2005330" y="17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0">
            <a:extLst>
              <a:ext uri="{FF2B5EF4-FFF2-40B4-BE49-F238E27FC236}">
                <a16:creationId xmlns:a16="http://schemas.microsoft.com/office/drawing/2014/main" id="{AD360491-0A16-4B4E-B24F-7F5423886B91}"/>
              </a:ext>
            </a:extLst>
          </p:cNvPr>
          <p:cNvSpPr txBox="1"/>
          <p:nvPr/>
        </p:nvSpPr>
        <p:spPr>
          <a:xfrm>
            <a:off x="5740146" y="1800097"/>
            <a:ext cx="259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141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2" name="object 41">
            <a:extLst>
              <a:ext uri="{FF2B5EF4-FFF2-40B4-BE49-F238E27FC236}">
                <a16:creationId xmlns:a16="http://schemas.microsoft.com/office/drawing/2014/main" id="{CB84DB8F-9334-DA4E-A843-0946DB732BCE}"/>
              </a:ext>
            </a:extLst>
          </p:cNvPr>
          <p:cNvSpPr txBox="1"/>
          <p:nvPr/>
        </p:nvSpPr>
        <p:spPr>
          <a:xfrm>
            <a:off x="6513068" y="3175000"/>
            <a:ext cx="2321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7287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3" name="object 42">
            <a:extLst>
              <a:ext uri="{FF2B5EF4-FFF2-40B4-BE49-F238E27FC236}">
                <a16:creationId xmlns:a16="http://schemas.microsoft.com/office/drawing/2014/main" id="{16BF95E7-1457-D643-9532-27E942352693}"/>
              </a:ext>
            </a:extLst>
          </p:cNvPr>
          <p:cNvSpPr txBox="1"/>
          <p:nvPr/>
        </p:nvSpPr>
        <p:spPr>
          <a:xfrm>
            <a:off x="8740393" y="1708912"/>
            <a:ext cx="3362325" cy="18802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R="966469" algn="ctr">
              <a:lnSpc>
                <a:spcPct val="100000"/>
              </a:lnSpc>
              <a:spcBef>
                <a:spcPts val="1000"/>
              </a:spcBef>
              <a:tabLst>
                <a:tab pos="133731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  <a:p>
            <a:pPr marR="1018540" algn="ctr">
              <a:lnSpc>
                <a:spcPct val="100000"/>
              </a:lnSpc>
              <a:spcBef>
                <a:spcPts val="900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101981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  <a:p>
            <a:pPr marL="645795" algn="ctr">
              <a:lnSpc>
                <a:spcPct val="100000"/>
              </a:lnSpc>
              <a:spcBef>
                <a:spcPts val="1280"/>
              </a:spcBef>
              <a:tabLst>
                <a:tab pos="210947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𝟏𝟎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4" name="object 43">
            <a:extLst>
              <a:ext uri="{FF2B5EF4-FFF2-40B4-BE49-F238E27FC236}">
                <a16:creationId xmlns:a16="http://schemas.microsoft.com/office/drawing/2014/main" id="{0377DE85-FA89-5F41-8081-07DD5D370261}"/>
              </a:ext>
            </a:extLst>
          </p:cNvPr>
          <p:cNvSpPr txBox="1"/>
          <p:nvPr/>
        </p:nvSpPr>
        <p:spPr>
          <a:xfrm>
            <a:off x="7666481" y="4542535"/>
            <a:ext cx="3439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30822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𝟕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47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23663046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3CFD95AC-0C34-FB49-B0D3-247C91C6FD3C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>
            <a:extLst>
              <a:ext uri="{FF2B5EF4-FFF2-40B4-BE49-F238E27FC236}">
                <a16:creationId xmlns:a16="http://schemas.microsoft.com/office/drawing/2014/main" id="{BDC5A8CD-C6D3-BE40-84F2-D2E941ED5666}"/>
              </a:ext>
            </a:extLst>
          </p:cNvPr>
          <p:cNvSpPr txBox="1"/>
          <p:nvPr/>
        </p:nvSpPr>
        <p:spPr>
          <a:xfrm>
            <a:off x="1717801" y="4531867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8503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𝟒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2" name="object 20">
            <a:extLst>
              <a:ext uri="{FF2B5EF4-FFF2-40B4-BE49-F238E27FC236}">
                <a16:creationId xmlns:a16="http://schemas.microsoft.com/office/drawing/2014/main" id="{FB6E202E-F88F-3345-B5DC-E62C179DE0E8}"/>
              </a:ext>
            </a:extLst>
          </p:cNvPr>
          <p:cNvSpPr txBox="1"/>
          <p:nvPr/>
        </p:nvSpPr>
        <p:spPr>
          <a:xfrm>
            <a:off x="6198108" y="2264664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{𝟑}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527DCC71-BF3A-2148-86CC-B4E584DC395E}"/>
              </a:ext>
            </a:extLst>
          </p:cNvPr>
          <p:cNvSpPr txBox="1"/>
          <p:nvPr/>
        </p:nvSpPr>
        <p:spPr>
          <a:xfrm>
            <a:off x="6976871" y="363321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𝟔}</a:t>
            </a:r>
            <a:endParaRPr sz="2400">
              <a:latin typeface="Cambria Math"/>
              <a:cs typeface="Cambria Math"/>
            </a:endParaRPr>
          </a:p>
          <a:p>
            <a:pPr marL="9906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4" name="object 22">
            <a:extLst>
              <a:ext uri="{FF2B5EF4-FFF2-40B4-BE49-F238E27FC236}">
                <a16:creationId xmlns:a16="http://schemas.microsoft.com/office/drawing/2014/main" id="{41E5E2E9-3B2D-5F4F-B7A4-EE24D62B8926}"/>
              </a:ext>
            </a:extLst>
          </p:cNvPr>
          <p:cNvSpPr/>
          <p:nvPr/>
        </p:nvSpPr>
        <p:spPr>
          <a:xfrm>
            <a:off x="9097518" y="2288285"/>
            <a:ext cx="1687830" cy="831850"/>
          </a:xfrm>
          <a:custGeom>
            <a:avLst/>
            <a:gdLst/>
            <a:ahLst/>
            <a:cxnLst/>
            <a:rect l="l" t="t" r="r" b="b"/>
            <a:pathLst>
              <a:path w="1687829" h="831850">
                <a:moveTo>
                  <a:pt x="0" y="831341"/>
                </a:moveTo>
                <a:lnTo>
                  <a:pt x="1687829" y="831341"/>
                </a:lnTo>
                <a:lnTo>
                  <a:pt x="1687829" y="0"/>
                </a:lnTo>
                <a:lnTo>
                  <a:pt x="0" y="0"/>
                </a:lnTo>
                <a:lnTo>
                  <a:pt x="0" y="83134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3">
            <a:extLst>
              <a:ext uri="{FF2B5EF4-FFF2-40B4-BE49-F238E27FC236}">
                <a16:creationId xmlns:a16="http://schemas.microsoft.com/office/drawing/2014/main" id="{8DE79FAA-AD87-6348-9D26-05DF741C5919}"/>
              </a:ext>
            </a:extLst>
          </p:cNvPr>
          <p:cNvSpPr txBox="1"/>
          <p:nvPr/>
        </p:nvSpPr>
        <p:spPr>
          <a:xfrm>
            <a:off x="9876281" y="3633215"/>
            <a:ext cx="168783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7" name="object 33">
            <a:extLst>
              <a:ext uri="{FF2B5EF4-FFF2-40B4-BE49-F238E27FC236}">
                <a16:creationId xmlns:a16="http://schemas.microsoft.com/office/drawing/2014/main" id="{815234B4-93FE-9642-9D14-EDC4F7808F54}"/>
              </a:ext>
            </a:extLst>
          </p:cNvPr>
          <p:cNvSpPr/>
          <p:nvPr/>
        </p:nvSpPr>
        <p:spPr>
          <a:xfrm>
            <a:off x="6516243" y="1648078"/>
            <a:ext cx="770890" cy="616585"/>
          </a:xfrm>
          <a:custGeom>
            <a:avLst/>
            <a:gdLst/>
            <a:ahLst/>
            <a:cxnLst/>
            <a:rect l="l" t="t" r="r" b="b"/>
            <a:pathLst>
              <a:path w="770890" h="616585">
                <a:moveTo>
                  <a:pt x="433197" y="616077"/>
                </a:moveTo>
                <a:lnTo>
                  <a:pt x="423697" y="548513"/>
                </a:lnTo>
                <a:lnTo>
                  <a:pt x="415417" y="489585"/>
                </a:lnTo>
                <a:lnTo>
                  <a:pt x="384073" y="511200"/>
                </a:lnTo>
                <a:lnTo>
                  <a:pt x="31229" y="0"/>
                </a:lnTo>
                <a:lnTo>
                  <a:pt x="0" y="21590"/>
                </a:lnTo>
                <a:lnTo>
                  <a:pt x="352666" y="532866"/>
                </a:lnTo>
                <a:lnTo>
                  <a:pt x="321310" y="554482"/>
                </a:lnTo>
                <a:lnTo>
                  <a:pt x="433197" y="616077"/>
                </a:lnTo>
                <a:close/>
              </a:path>
              <a:path w="770890" h="616585">
                <a:moveTo>
                  <a:pt x="770763" y="26670"/>
                </a:moveTo>
                <a:lnTo>
                  <a:pt x="737235" y="8636"/>
                </a:lnTo>
                <a:lnTo>
                  <a:pt x="470395" y="506196"/>
                </a:lnTo>
                <a:lnTo>
                  <a:pt x="436880" y="488188"/>
                </a:lnTo>
                <a:lnTo>
                  <a:pt x="433197" y="615950"/>
                </a:lnTo>
                <a:lnTo>
                  <a:pt x="537591" y="542290"/>
                </a:lnTo>
                <a:lnTo>
                  <a:pt x="535216" y="541020"/>
                </a:lnTo>
                <a:lnTo>
                  <a:pt x="504024" y="524268"/>
                </a:lnTo>
                <a:lnTo>
                  <a:pt x="770763" y="26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4">
            <a:extLst>
              <a:ext uri="{FF2B5EF4-FFF2-40B4-BE49-F238E27FC236}">
                <a16:creationId xmlns:a16="http://schemas.microsoft.com/office/drawing/2014/main" id="{072CE156-2311-144C-873B-DF92D41C8FC5}"/>
              </a:ext>
            </a:extLst>
          </p:cNvPr>
          <p:cNvSpPr/>
          <p:nvPr/>
        </p:nvSpPr>
        <p:spPr>
          <a:xfrm>
            <a:off x="7393432" y="1662556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5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095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5">
            <a:extLst>
              <a:ext uri="{FF2B5EF4-FFF2-40B4-BE49-F238E27FC236}">
                <a16:creationId xmlns:a16="http://schemas.microsoft.com/office/drawing/2014/main" id="{26B6AD70-846D-D841-B9D6-7B4FB9D24A5A}"/>
              </a:ext>
            </a:extLst>
          </p:cNvPr>
          <p:cNvSpPr/>
          <p:nvPr/>
        </p:nvSpPr>
        <p:spPr>
          <a:xfrm>
            <a:off x="8313801" y="4446904"/>
            <a:ext cx="1933575" cy="523875"/>
          </a:xfrm>
          <a:custGeom>
            <a:avLst/>
            <a:gdLst/>
            <a:ahLst/>
            <a:cxnLst/>
            <a:rect l="l" t="t" r="r" b="b"/>
            <a:pathLst>
              <a:path w="1933575" h="523875">
                <a:moveTo>
                  <a:pt x="1933321" y="33655"/>
                </a:moveTo>
                <a:lnTo>
                  <a:pt x="1915287" y="127"/>
                </a:lnTo>
                <a:lnTo>
                  <a:pt x="1080109" y="452335"/>
                </a:lnTo>
                <a:lnTo>
                  <a:pt x="1061974" y="418846"/>
                </a:lnTo>
                <a:lnTo>
                  <a:pt x="988745" y="523417"/>
                </a:lnTo>
                <a:lnTo>
                  <a:pt x="969264" y="496697"/>
                </a:lnTo>
                <a:lnTo>
                  <a:pt x="913511" y="420243"/>
                </a:lnTo>
                <a:lnTo>
                  <a:pt x="895985" y="454190"/>
                </a:lnTo>
                <a:lnTo>
                  <a:pt x="17526" y="0"/>
                </a:lnTo>
                <a:lnTo>
                  <a:pt x="0" y="33782"/>
                </a:lnTo>
                <a:lnTo>
                  <a:pt x="878547" y="487959"/>
                </a:lnTo>
                <a:lnTo>
                  <a:pt x="861060" y="521843"/>
                </a:lnTo>
                <a:lnTo>
                  <a:pt x="988695" y="523494"/>
                </a:lnTo>
                <a:lnTo>
                  <a:pt x="988822" y="523494"/>
                </a:lnTo>
                <a:lnTo>
                  <a:pt x="1116457" y="519430"/>
                </a:lnTo>
                <a:lnTo>
                  <a:pt x="1103172" y="494919"/>
                </a:lnTo>
                <a:lnTo>
                  <a:pt x="1098257" y="485863"/>
                </a:lnTo>
                <a:lnTo>
                  <a:pt x="1933321" y="33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36">
            <a:extLst>
              <a:ext uri="{FF2B5EF4-FFF2-40B4-BE49-F238E27FC236}">
                <a16:creationId xmlns:a16="http://schemas.microsoft.com/office/drawing/2014/main" id="{B88A8F2B-CF1B-B246-AEBE-7F6134EA5D7F}"/>
              </a:ext>
            </a:extLst>
          </p:cNvPr>
          <p:cNvSpPr/>
          <p:nvPr/>
        </p:nvSpPr>
        <p:spPr>
          <a:xfrm>
            <a:off x="9503029" y="1648205"/>
            <a:ext cx="2005330" cy="1995805"/>
          </a:xfrm>
          <a:custGeom>
            <a:avLst/>
            <a:gdLst/>
            <a:ahLst/>
            <a:cxnLst/>
            <a:rect l="l" t="t" r="r" b="b"/>
            <a:pathLst>
              <a:path w="2005329" h="1995804">
                <a:moveTo>
                  <a:pt x="768477" y="19177"/>
                </a:moveTo>
                <a:lnTo>
                  <a:pt x="734314" y="2159"/>
                </a:lnTo>
                <a:lnTo>
                  <a:pt x="471906" y="529183"/>
                </a:lnTo>
                <a:lnTo>
                  <a:pt x="437769" y="512191"/>
                </a:lnTo>
                <a:lnTo>
                  <a:pt x="438010" y="634936"/>
                </a:lnTo>
                <a:lnTo>
                  <a:pt x="429869" y="571500"/>
                </a:lnTo>
                <a:lnTo>
                  <a:pt x="422402" y="513207"/>
                </a:lnTo>
                <a:lnTo>
                  <a:pt x="390702" y="534504"/>
                </a:lnTo>
                <a:lnTo>
                  <a:pt x="31623" y="0"/>
                </a:lnTo>
                <a:lnTo>
                  <a:pt x="0" y="21336"/>
                </a:lnTo>
                <a:lnTo>
                  <a:pt x="359105" y="555752"/>
                </a:lnTo>
                <a:lnTo>
                  <a:pt x="327533" y="576961"/>
                </a:lnTo>
                <a:lnTo>
                  <a:pt x="438010" y="639597"/>
                </a:lnTo>
                <a:lnTo>
                  <a:pt x="438023" y="639953"/>
                </a:lnTo>
                <a:lnTo>
                  <a:pt x="438289" y="639749"/>
                </a:lnTo>
                <a:lnTo>
                  <a:pt x="438658" y="639953"/>
                </a:lnTo>
                <a:lnTo>
                  <a:pt x="438594" y="639521"/>
                </a:lnTo>
                <a:lnTo>
                  <a:pt x="539953" y="563245"/>
                </a:lnTo>
                <a:lnTo>
                  <a:pt x="540131" y="563118"/>
                </a:lnTo>
                <a:lnTo>
                  <a:pt x="506082" y="546188"/>
                </a:lnTo>
                <a:lnTo>
                  <a:pt x="768477" y="19177"/>
                </a:lnTo>
                <a:close/>
              </a:path>
              <a:path w="2005329" h="1995804">
                <a:moveTo>
                  <a:pt x="1215644" y="1995551"/>
                </a:moveTo>
                <a:lnTo>
                  <a:pt x="1209395" y="1924431"/>
                </a:lnTo>
                <a:lnTo>
                  <a:pt x="1204468" y="1868297"/>
                </a:lnTo>
                <a:lnTo>
                  <a:pt x="1172057" y="1888223"/>
                </a:lnTo>
                <a:lnTo>
                  <a:pt x="913003" y="1466723"/>
                </a:lnTo>
                <a:lnTo>
                  <a:pt x="880491" y="1486789"/>
                </a:lnTo>
                <a:lnTo>
                  <a:pt x="1139609" y="1908187"/>
                </a:lnTo>
                <a:lnTo>
                  <a:pt x="1107186" y="1928126"/>
                </a:lnTo>
                <a:lnTo>
                  <a:pt x="1215644" y="1995551"/>
                </a:lnTo>
                <a:close/>
              </a:path>
              <a:path w="2005329" h="1995804">
                <a:moveTo>
                  <a:pt x="2005330" y="17653"/>
                </a:moveTo>
                <a:lnTo>
                  <a:pt x="1969897" y="3683"/>
                </a:lnTo>
                <a:lnTo>
                  <a:pt x="1240612" y="1871345"/>
                </a:lnTo>
                <a:lnTo>
                  <a:pt x="1205103" y="1857502"/>
                </a:lnTo>
                <a:lnTo>
                  <a:pt x="1216787" y="1984756"/>
                </a:lnTo>
                <a:lnTo>
                  <a:pt x="1307287" y="1902968"/>
                </a:lnTo>
                <a:lnTo>
                  <a:pt x="1311656" y="1899031"/>
                </a:lnTo>
                <a:lnTo>
                  <a:pt x="1276172" y="1885213"/>
                </a:lnTo>
                <a:lnTo>
                  <a:pt x="2005330" y="17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0">
            <a:extLst>
              <a:ext uri="{FF2B5EF4-FFF2-40B4-BE49-F238E27FC236}">
                <a16:creationId xmlns:a16="http://schemas.microsoft.com/office/drawing/2014/main" id="{AD360491-0A16-4B4E-B24F-7F5423886B91}"/>
              </a:ext>
            </a:extLst>
          </p:cNvPr>
          <p:cNvSpPr txBox="1"/>
          <p:nvPr/>
        </p:nvSpPr>
        <p:spPr>
          <a:xfrm>
            <a:off x="5740146" y="1800097"/>
            <a:ext cx="259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141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2" name="object 41">
            <a:extLst>
              <a:ext uri="{FF2B5EF4-FFF2-40B4-BE49-F238E27FC236}">
                <a16:creationId xmlns:a16="http://schemas.microsoft.com/office/drawing/2014/main" id="{CB84DB8F-9334-DA4E-A843-0946DB732BCE}"/>
              </a:ext>
            </a:extLst>
          </p:cNvPr>
          <p:cNvSpPr txBox="1"/>
          <p:nvPr/>
        </p:nvSpPr>
        <p:spPr>
          <a:xfrm>
            <a:off x="6513068" y="3175000"/>
            <a:ext cx="2321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7287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3" name="object 42">
            <a:extLst>
              <a:ext uri="{FF2B5EF4-FFF2-40B4-BE49-F238E27FC236}">
                <a16:creationId xmlns:a16="http://schemas.microsoft.com/office/drawing/2014/main" id="{16BF95E7-1457-D643-9532-27E942352693}"/>
              </a:ext>
            </a:extLst>
          </p:cNvPr>
          <p:cNvSpPr txBox="1"/>
          <p:nvPr/>
        </p:nvSpPr>
        <p:spPr>
          <a:xfrm>
            <a:off x="8740393" y="1708912"/>
            <a:ext cx="3362325" cy="18802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R="966469" algn="ctr">
              <a:lnSpc>
                <a:spcPct val="100000"/>
              </a:lnSpc>
              <a:spcBef>
                <a:spcPts val="1000"/>
              </a:spcBef>
              <a:tabLst>
                <a:tab pos="133731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  <a:p>
            <a:pPr marR="1018540" algn="ctr">
              <a:lnSpc>
                <a:spcPct val="100000"/>
              </a:lnSpc>
              <a:spcBef>
                <a:spcPts val="900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101981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  <a:p>
            <a:pPr marL="645795" algn="ctr">
              <a:lnSpc>
                <a:spcPct val="100000"/>
              </a:lnSpc>
              <a:spcBef>
                <a:spcPts val="1280"/>
              </a:spcBef>
              <a:tabLst>
                <a:tab pos="210947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𝟏𝟎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4" name="object 43">
            <a:extLst>
              <a:ext uri="{FF2B5EF4-FFF2-40B4-BE49-F238E27FC236}">
                <a16:creationId xmlns:a16="http://schemas.microsoft.com/office/drawing/2014/main" id="{0377DE85-FA89-5F41-8081-07DD5D370261}"/>
              </a:ext>
            </a:extLst>
          </p:cNvPr>
          <p:cNvSpPr txBox="1"/>
          <p:nvPr/>
        </p:nvSpPr>
        <p:spPr>
          <a:xfrm>
            <a:off x="7666481" y="4542535"/>
            <a:ext cx="3439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30822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𝟕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47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90D3444B-A216-5E48-A92F-914BB0927796}"/>
              </a:ext>
            </a:extLst>
          </p:cNvPr>
          <p:cNvSpPr txBox="1"/>
          <p:nvPr/>
        </p:nvSpPr>
        <p:spPr>
          <a:xfrm>
            <a:off x="2401061" y="4970526"/>
            <a:ext cx="1799589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𝟓,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5621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1" name="object 24">
            <a:extLst>
              <a:ext uri="{FF2B5EF4-FFF2-40B4-BE49-F238E27FC236}">
                <a16:creationId xmlns:a16="http://schemas.microsoft.com/office/drawing/2014/main" id="{9EF430C3-165D-1C4C-A877-DB1B67BB200B}"/>
              </a:ext>
            </a:extLst>
          </p:cNvPr>
          <p:cNvSpPr txBox="1"/>
          <p:nvPr/>
        </p:nvSpPr>
        <p:spPr>
          <a:xfrm>
            <a:off x="8253983" y="4970526"/>
            <a:ext cx="2097405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7785" algn="ctr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𝟔,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𝟑,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5" name="object 46">
            <a:extLst>
              <a:ext uri="{FF2B5EF4-FFF2-40B4-BE49-F238E27FC236}">
                <a16:creationId xmlns:a16="http://schemas.microsoft.com/office/drawing/2014/main" id="{82680959-8AAD-3043-8ABD-FE57BFB267A6}"/>
              </a:ext>
            </a:extLst>
          </p:cNvPr>
          <p:cNvSpPr txBox="1"/>
          <p:nvPr/>
        </p:nvSpPr>
        <p:spPr>
          <a:xfrm>
            <a:off x="6506971" y="5163058"/>
            <a:ext cx="1155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35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47">
            <a:extLst>
              <a:ext uri="{FF2B5EF4-FFF2-40B4-BE49-F238E27FC236}">
                <a16:creationId xmlns:a16="http://schemas.microsoft.com/office/drawing/2014/main" id="{58F9441D-43F7-F94B-BE8F-1B0D3333916E}"/>
              </a:ext>
            </a:extLst>
          </p:cNvPr>
          <p:cNvSpPr txBox="1"/>
          <p:nvPr/>
        </p:nvSpPr>
        <p:spPr>
          <a:xfrm>
            <a:off x="5025390" y="5320791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7" name="object 48">
            <a:extLst>
              <a:ext uri="{FF2B5EF4-FFF2-40B4-BE49-F238E27FC236}">
                <a16:creationId xmlns:a16="http://schemas.microsoft.com/office/drawing/2014/main" id="{88781BDB-85D5-0E4A-9346-3F7A6B933BB1}"/>
              </a:ext>
            </a:extLst>
          </p:cNvPr>
          <p:cNvSpPr txBox="1"/>
          <p:nvPr/>
        </p:nvSpPr>
        <p:spPr>
          <a:xfrm>
            <a:off x="4852415" y="5176011"/>
            <a:ext cx="1104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5290" algn="l"/>
              </a:tabLst>
            </a:pP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49">
            <a:extLst>
              <a:ext uri="{FF2B5EF4-FFF2-40B4-BE49-F238E27FC236}">
                <a16:creationId xmlns:a16="http://schemas.microsoft.com/office/drawing/2014/main" id="{D84184DC-BD31-9F42-A84E-0AC2B4ED74E6}"/>
              </a:ext>
            </a:extLst>
          </p:cNvPr>
          <p:cNvSpPr/>
          <p:nvPr/>
        </p:nvSpPr>
        <p:spPr>
          <a:xfrm>
            <a:off x="4194683" y="5368289"/>
            <a:ext cx="4065904" cy="647700"/>
          </a:xfrm>
          <a:custGeom>
            <a:avLst/>
            <a:gdLst/>
            <a:ahLst/>
            <a:cxnLst/>
            <a:rect l="l" t="t" r="r" b="b"/>
            <a:pathLst>
              <a:path w="4065904" h="647700">
                <a:moveTo>
                  <a:pt x="4065397" y="36576"/>
                </a:moveTo>
                <a:lnTo>
                  <a:pt x="4054475" y="0"/>
                </a:lnTo>
                <a:lnTo>
                  <a:pt x="2140953" y="574052"/>
                </a:lnTo>
                <a:lnTo>
                  <a:pt x="2130044" y="537552"/>
                </a:lnTo>
                <a:lnTo>
                  <a:pt x="2044280" y="618236"/>
                </a:lnTo>
                <a:lnTo>
                  <a:pt x="2042248" y="616318"/>
                </a:lnTo>
                <a:lnTo>
                  <a:pt x="1958340" y="537845"/>
                </a:lnTo>
                <a:lnTo>
                  <a:pt x="1947494" y="574395"/>
                </a:lnTo>
                <a:lnTo>
                  <a:pt x="10922" y="0"/>
                </a:lnTo>
                <a:lnTo>
                  <a:pt x="0" y="36576"/>
                </a:lnTo>
                <a:lnTo>
                  <a:pt x="1936661" y="610908"/>
                </a:lnTo>
                <a:lnTo>
                  <a:pt x="1925828" y="647420"/>
                </a:lnTo>
                <a:lnTo>
                  <a:pt x="2044382" y="626427"/>
                </a:lnTo>
                <a:lnTo>
                  <a:pt x="2162810" y="647026"/>
                </a:lnTo>
                <a:lnTo>
                  <a:pt x="2153526" y="616013"/>
                </a:lnTo>
                <a:lnTo>
                  <a:pt x="2151875" y="610539"/>
                </a:lnTo>
                <a:lnTo>
                  <a:pt x="4065397" y="365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25">
            <a:extLst>
              <a:ext uri="{FF2B5EF4-FFF2-40B4-BE49-F238E27FC236}">
                <a16:creationId xmlns:a16="http://schemas.microsoft.com/office/drawing/2014/main" id="{C150EB3D-3F70-994B-911E-C51C4CB152CB}"/>
              </a:ext>
            </a:extLst>
          </p:cNvPr>
          <p:cNvSpPr txBox="1"/>
          <p:nvPr/>
        </p:nvSpPr>
        <p:spPr>
          <a:xfrm>
            <a:off x="4486655" y="5993129"/>
            <a:ext cx="351917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9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4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𝟓,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𝟖,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𝟑,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𝟔,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𝟑,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𝟑𝟐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05381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E6921F-9277-8944-957B-98159FD58471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D352979-7648-BF4B-91DE-C06A8107EA3E}"/>
              </a:ext>
            </a:extLst>
          </p:cNvPr>
          <p:cNvSpPr txBox="1"/>
          <p:nvPr/>
        </p:nvSpPr>
        <p:spPr>
          <a:xfrm>
            <a:off x="8181593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67F3B01-77C6-F046-B8E3-392072DB9059}"/>
              </a:ext>
            </a:extLst>
          </p:cNvPr>
          <p:cNvSpPr txBox="1"/>
          <p:nvPr/>
        </p:nvSpPr>
        <p:spPr>
          <a:xfrm>
            <a:off x="11190731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1C472C-56C7-E94C-B481-6B4DADC4453D}"/>
              </a:ext>
            </a:extLst>
          </p:cNvPr>
          <p:cNvSpPr txBox="1"/>
          <p:nvPr/>
        </p:nvSpPr>
        <p:spPr>
          <a:xfrm>
            <a:off x="623163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B0C3A30-DDF9-3E4C-A511-096CD5D88F75}"/>
              </a:ext>
            </a:extLst>
          </p:cNvPr>
          <p:cNvSpPr txBox="1"/>
          <p:nvPr/>
        </p:nvSpPr>
        <p:spPr>
          <a:xfrm>
            <a:off x="6970014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BC8C07A-9204-1E41-B7F2-072A29016F49}"/>
              </a:ext>
            </a:extLst>
          </p:cNvPr>
          <p:cNvSpPr txBox="1"/>
          <p:nvPr/>
        </p:nvSpPr>
        <p:spPr>
          <a:xfrm>
            <a:off x="9217914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56A51CE-636B-6B4C-A4B9-81168CDE1601}"/>
              </a:ext>
            </a:extLst>
          </p:cNvPr>
          <p:cNvSpPr txBox="1"/>
          <p:nvPr/>
        </p:nvSpPr>
        <p:spPr>
          <a:xfrm>
            <a:off x="9954006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7A9156C-9EC4-B546-97C2-01D1D50DD0E3}"/>
              </a:ext>
            </a:extLst>
          </p:cNvPr>
          <p:cNvSpPr/>
          <p:nvPr/>
        </p:nvSpPr>
        <p:spPr>
          <a:xfrm flipH="1">
            <a:off x="9003030" y="835152"/>
            <a:ext cx="0" cy="1042669"/>
          </a:xfrm>
          <a:custGeom>
            <a:avLst/>
            <a:gdLst/>
            <a:ahLst/>
            <a:cxnLst/>
            <a:rect l="l" t="t" r="r" b="b"/>
            <a:pathLst>
              <a:path h="1042669">
                <a:moveTo>
                  <a:pt x="0" y="0"/>
                </a:moveTo>
                <a:lnTo>
                  <a:pt x="0" y="104228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1F7A98E8-6BA3-304D-A5A3-CA312A586F76}"/>
              </a:ext>
            </a:extLst>
          </p:cNvPr>
          <p:cNvSpPr txBox="1"/>
          <p:nvPr/>
        </p:nvSpPr>
        <p:spPr>
          <a:xfrm>
            <a:off x="217932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6CA8D25-064B-FB43-8AD1-3C182EB03A24}"/>
              </a:ext>
            </a:extLst>
          </p:cNvPr>
          <p:cNvSpPr txBox="1"/>
          <p:nvPr/>
        </p:nvSpPr>
        <p:spPr>
          <a:xfrm>
            <a:off x="223265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8970CB8E-D233-474E-9D5D-7FFAA7EB7E10}"/>
              </a:ext>
            </a:extLst>
          </p:cNvPr>
          <p:cNvSpPr txBox="1"/>
          <p:nvPr/>
        </p:nvSpPr>
        <p:spPr>
          <a:xfrm>
            <a:off x="963930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F6E43948-8D7E-184F-942E-879BC68369FA}"/>
              </a:ext>
            </a:extLst>
          </p:cNvPr>
          <p:cNvSpPr txBox="1"/>
          <p:nvPr/>
        </p:nvSpPr>
        <p:spPr>
          <a:xfrm>
            <a:off x="179831" y="225399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{𝟏}</a:t>
            </a:r>
            <a:endParaRPr sz="2400">
              <a:latin typeface="Cambria Math"/>
              <a:cs typeface="Cambria Math"/>
            </a:endParaRPr>
          </a:p>
          <a:p>
            <a:pPr marR="6096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7F3A9FA2-23C7-704A-813F-5DA4A0480875}"/>
              </a:ext>
            </a:extLst>
          </p:cNvPr>
          <p:cNvSpPr/>
          <p:nvPr/>
        </p:nvSpPr>
        <p:spPr>
          <a:xfrm>
            <a:off x="508533" y="1648078"/>
            <a:ext cx="772795" cy="605790"/>
          </a:xfrm>
          <a:custGeom>
            <a:avLst/>
            <a:gdLst/>
            <a:ahLst/>
            <a:cxnLst/>
            <a:rect l="l" t="t" r="r" b="b"/>
            <a:pathLst>
              <a:path w="772794" h="605789">
                <a:moveTo>
                  <a:pt x="772388" y="20066"/>
                </a:moveTo>
                <a:lnTo>
                  <a:pt x="739178" y="1524"/>
                </a:lnTo>
                <a:lnTo>
                  <a:pt x="461886" y="496557"/>
                </a:lnTo>
                <a:lnTo>
                  <a:pt x="428625" y="477901"/>
                </a:lnTo>
                <a:lnTo>
                  <a:pt x="422744" y="603072"/>
                </a:lnTo>
                <a:lnTo>
                  <a:pt x="413740" y="537718"/>
                </a:lnTo>
                <a:lnTo>
                  <a:pt x="405650" y="478917"/>
                </a:lnTo>
                <a:lnTo>
                  <a:pt x="374180" y="500494"/>
                </a:lnTo>
                <a:lnTo>
                  <a:pt x="31445" y="0"/>
                </a:lnTo>
                <a:lnTo>
                  <a:pt x="0" y="21590"/>
                </a:lnTo>
                <a:lnTo>
                  <a:pt x="342785" y="522008"/>
                </a:lnTo>
                <a:lnTo>
                  <a:pt x="311353" y="543560"/>
                </a:lnTo>
                <a:lnTo>
                  <a:pt x="422630" y="605294"/>
                </a:lnTo>
                <a:lnTo>
                  <a:pt x="422630" y="605536"/>
                </a:lnTo>
                <a:lnTo>
                  <a:pt x="422833" y="605409"/>
                </a:lnTo>
                <a:lnTo>
                  <a:pt x="423087" y="605536"/>
                </a:lnTo>
                <a:lnTo>
                  <a:pt x="423037" y="605256"/>
                </a:lnTo>
                <a:lnTo>
                  <a:pt x="528345" y="533781"/>
                </a:lnTo>
                <a:lnTo>
                  <a:pt x="524713" y="531749"/>
                </a:lnTo>
                <a:lnTo>
                  <a:pt x="495096" y="515150"/>
                </a:lnTo>
                <a:lnTo>
                  <a:pt x="772388" y="20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11DD4C0-190A-9042-A170-C432DFBEC531}"/>
              </a:ext>
            </a:extLst>
          </p:cNvPr>
          <p:cNvSpPr/>
          <p:nvPr/>
        </p:nvSpPr>
        <p:spPr>
          <a:xfrm>
            <a:off x="1375156" y="1651888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4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107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86CEF6A2-5C25-014B-BC45-9395166FBBD9}"/>
              </a:ext>
            </a:extLst>
          </p:cNvPr>
          <p:cNvSpPr txBox="1"/>
          <p:nvPr/>
        </p:nvSpPr>
        <p:spPr>
          <a:xfrm>
            <a:off x="516381" y="3164078"/>
            <a:ext cx="2286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18AC6496-3E68-8A41-80BA-3016F462274F}"/>
              </a:ext>
            </a:extLst>
          </p:cNvPr>
          <p:cNvSpPr txBox="1"/>
          <p:nvPr/>
        </p:nvSpPr>
        <p:spPr>
          <a:xfrm>
            <a:off x="-53593" y="1677923"/>
            <a:ext cx="241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𝟏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953359C2-B37D-7A4F-B385-70EFDC8740A3}"/>
              </a:ext>
            </a:extLst>
          </p:cNvPr>
          <p:cNvSpPr txBox="1"/>
          <p:nvPr/>
        </p:nvSpPr>
        <p:spPr>
          <a:xfrm>
            <a:off x="5189982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27060590-8109-1948-9E39-A70E36668373}"/>
              </a:ext>
            </a:extLst>
          </p:cNvPr>
          <p:cNvSpPr txBox="1"/>
          <p:nvPr/>
        </p:nvSpPr>
        <p:spPr>
          <a:xfrm>
            <a:off x="3211067" y="1057655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7" name="object 10">
            <a:extLst>
              <a:ext uri="{FF2B5EF4-FFF2-40B4-BE49-F238E27FC236}">
                <a16:creationId xmlns:a16="http://schemas.microsoft.com/office/drawing/2014/main" id="{84B4A9A4-5CC9-564C-844B-B1DBCCAFAA62}"/>
              </a:ext>
            </a:extLst>
          </p:cNvPr>
          <p:cNvSpPr txBox="1"/>
          <p:nvPr/>
        </p:nvSpPr>
        <p:spPr>
          <a:xfrm>
            <a:off x="3951732" y="1064513"/>
            <a:ext cx="601345" cy="60134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71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5460D930-A044-9946-B728-063695F06EB8}"/>
              </a:ext>
            </a:extLst>
          </p:cNvPr>
          <p:cNvSpPr txBox="1"/>
          <p:nvPr/>
        </p:nvSpPr>
        <p:spPr>
          <a:xfrm>
            <a:off x="3171444" y="227761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{𝟓}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C191D4AD-9EC1-274C-B8D3-9BFFAA06847E}"/>
              </a:ext>
            </a:extLst>
          </p:cNvPr>
          <p:cNvSpPr/>
          <p:nvPr/>
        </p:nvSpPr>
        <p:spPr>
          <a:xfrm flipH="1">
            <a:off x="3029711" y="835152"/>
            <a:ext cx="0" cy="1012825"/>
          </a:xfrm>
          <a:custGeom>
            <a:avLst/>
            <a:gdLst/>
            <a:ahLst/>
            <a:cxnLst/>
            <a:rect l="l" t="t" r="r" b="b"/>
            <a:pathLst>
              <a:path h="1012825">
                <a:moveTo>
                  <a:pt x="0" y="0"/>
                </a:moveTo>
                <a:lnTo>
                  <a:pt x="0" y="1012698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C2D5BE7A-5957-1E4A-B651-4B05E4FA4250}"/>
              </a:ext>
            </a:extLst>
          </p:cNvPr>
          <p:cNvSpPr/>
          <p:nvPr/>
        </p:nvSpPr>
        <p:spPr>
          <a:xfrm flipH="1">
            <a:off x="6014465" y="835152"/>
            <a:ext cx="0" cy="976630"/>
          </a:xfrm>
          <a:custGeom>
            <a:avLst/>
            <a:gdLst/>
            <a:ahLst/>
            <a:cxnLst/>
            <a:rect l="l" t="t" r="r" b="b"/>
            <a:pathLst>
              <a:path h="976630">
                <a:moveTo>
                  <a:pt x="0" y="0"/>
                </a:moveTo>
                <a:lnTo>
                  <a:pt x="0" y="976376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BD91EE5D-46DE-D74F-BD41-1659FABEBE9B}"/>
              </a:ext>
            </a:extLst>
          </p:cNvPr>
          <p:cNvSpPr/>
          <p:nvPr/>
        </p:nvSpPr>
        <p:spPr>
          <a:xfrm>
            <a:off x="3495421" y="1648332"/>
            <a:ext cx="773430" cy="629920"/>
          </a:xfrm>
          <a:custGeom>
            <a:avLst/>
            <a:gdLst/>
            <a:ahLst/>
            <a:cxnLst/>
            <a:rect l="l" t="t" r="r" b="b"/>
            <a:pathLst>
              <a:path w="773429" h="629919">
                <a:moveTo>
                  <a:pt x="427355" y="629412"/>
                </a:moveTo>
                <a:lnTo>
                  <a:pt x="418807" y="560578"/>
                </a:lnTo>
                <a:lnTo>
                  <a:pt x="411607" y="502539"/>
                </a:lnTo>
                <a:lnTo>
                  <a:pt x="379945" y="523595"/>
                </a:lnTo>
                <a:lnTo>
                  <a:pt x="31750" y="0"/>
                </a:lnTo>
                <a:lnTo>
                  <a:pt x="0" y="21082"/>
                </a:lnTo>
                <a:lnTo>
                  <a:pt x="348208" y="544703"/>
                </a:lnTo>
                <a:lnTo>
                  <a:pt x="316484" y="565785"/>
                </a:lnTo>
                <a:lnTo>
                  <a:pt x="427355" y="629412"/>
                </a:lnTo>
                <a:close/>
              </a:path>
              <a:path w="773429" h="629919">
                <a:moveTo>
                  <a:pt x="773176" y="26416"/>
                </a:moveTo>
                <a:lnTo>
                  <a:pt x="739648" y="8382"/>
                </a:lnTo>
                <a:lnTo>
                  <a:pt x="464693" y="519544"/>
                </a:lnTo>
                <a:lnTo>
                  <a:pt x="431165" y="501523"/>
                </a:lnTo>
                <a:lnTo>
                  <a:pt x="427355" y="629285"/>
                </a:lnTo>
                <a:lnTo>
                  <a:pt x="531876" y="555625"/>
                </a:lnTo>
                <a:lnTo>
                  <a:pt x="529501" y="554355"/>
                </a:lnTo>
                <a:lnTo>
                  <a:pt x="498233" y="537565"/>
                </a:lnTo>
                <a:lnTo>
                  <a:pt x="773176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>
            <a:extLst>
              <a:ext uri="{FF2B5EF4-FFF2-40B4-BE49-F238E27FC236}">
                <a16:creationId xmlns:a16="http://schemas.microsoft.com/office/drawing/2014/main" id="{D09D78E1-59E0-824E-9499-ACA2BC803624}"/>
              </a:ext>
            </a:extLst>
          </p:cNvPr>
          <p:cNvSpPr/>
          <p:nvPr/>
        </p:nvSpPr>
        <p:spPr>
          <a:xfrm>
            <a:off x="4365244" y="1651761"/>
            <a:ext cx="1143000" cy="1981835"/>
          </a:xfrm>
          <a:custGeom>
            <a:avLst/>
            <a:gdLst/>
            <a:ahLst/>
            <a:cxnLst/>
            <a:rect l="l" t="t" r="r" b="b"/>
            <a:pathLst>
              <a:path w="1143000" h="1981835">
                <a:moveTo>
                  <a:pt x="335153" y="1981327"/>
                </a:moveTo>
                <a:lnTo>
                  <a:pt x="328904" y="1910219"/>
                </a:lnTo>
                <a:lnTo>
                  <a:pt x="323977" y="1854073"/>
                </a:lnTo>
                <a:lnTo>
                  <a:pt x="291566" y="1873999"/>
                </a:lnTo>
                <a:lnTo>
                  <a:pt x="32512" y="1452499"/>
                </a:lnTo>
                <a:lnTo>
                  <a:pt x="0" y="1472565"/>
                </a:lnTo>
                <a:lnTo>
                  <a:pt x="259118" y="1893963"/>
                </a:lnTo>
                <a:lnTo>
                  <a:pt x="226695" y="1913890"/>
                </a:lnTo>
                <a:lnTo>
                  <a:pt x="335153" y="1981327"/>
                </a:lnTo>
                <a:close/>
              </a:path>
              <a:path w="1143000" h="1981835">
                <a:moveTo>
                  <a:pt x="1142873" y="14224"/>
                </a:moveTo>
                <a:lnTo>
                  <a:pt x="1107567" y="0"/>
                </a:lnTo>
                <a:lnTo>
                  <a:pt x="361213" y="1857502"/>
                </a:lnTo>
                <a:lnTo>
                  <a:pt x="325882" y="1843278"/>
                </a:lnTo>
                <a:lnTo>
                  <a:pt x="336296" y="1970659"/>
                </a:lnTo>
                <a:lnTo>
                  <a:pt x="428053" y="1889379"/>
                </a:lnTo>
                <a:lnTo>
                  <a:pt x="431927" y="1885950"/>
                </a:lnTo>
                <a:lnTo>
                  <a:pt x="396595" y="1871738"/>
                </a:lnTo>
                <a:lnTo>
                  <a:pt x="11428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>
            <a:extLst>
              <a:ext uri="{FF2B5EF4-FFF2-40B4-BE49-F238E27FC236}">
                <a16:creationId xmlns:a16="http://schemas.microsoft.com/office/drawing/2014/main" id="{FBE2FB2A-4C57-EB4B-8AA5-589B511EB565}"/>
              </a:ext>
            </a:extLst>
          </p:cNvPr>
          <p:cNvSpPr txBox="1"/>
          <p:nvPr/>
        </p:nvSpPr>
        <p:spPr>
          <a:xfrm>
            <a:off x="2692654" y="1812036"/>
            <a:ext cx="26276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5097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55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ABAF3F9D-D95F-2E4E-84EE-67BE46615FE1}"/>
              </a:ext>
            </a:extLst>
          </p:cNvPr>
          <p:cNvSpPr txBox="1"/>
          <p:nvPr/>
        </p:nvSpPr>
        <p:spPr>
          <a:xfrm>
            <a:off x="3543300" y="3185921"/>
            <a:ext cx="2259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𝟓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3329F27D-22F2-2443-82AE-573B667EF578}"/>
              </a:ext>
            </a:extLst>
          </p:cNvPr>
          <p:cNvSpPr txBox="1"/>
          <p:nvPr/>
        </p:nvSpPr>
        <p:spPr>
          <a:xfrm>
            <a:off x="958596" y="3622547"/>
            <a:ext cx="15036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20"/>
              </a:spcBef>
            </a:pPr>
            <a:r>
              <a:rPr sz="2400" spc="-25">
                <a:latin typeface="Cambria Math"/>
                <a:cs typeface="Cambria Math"/>
              </a:rPr>
              <a:t>{𝟒}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C794E4-D22F-8449-A8E9-1B909D565D2E}"/>
              </a:ext>
            </a:extLst>
          </p:cNvPr>
          <p:cNvSpPr txBox="1"/>
          <p:nvPr/>
        </p:nvSpPr>
        <p:spPr>
          <a:xfrm>
            <a:off x="3835908" y="3622547"/>
            <a:ext cx="1732280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{𝟓,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2192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3CFD95AC-0C34-FB49-B0D3-247C91C6FD3C}"/>
              </a:ext>
            </a:extLst>
          </p:cNvPr>
          <p:cNvSpPr/>
          <p:nvPr/>
        </p:nvSpPr>
        <p:spPr>
          <a:xfrm>
            <a:off x="2312162" y="4435601"/>
            <a:ext cx="1952625" cy="535940"/>
          </a:xfrm>
          <a:custGeom>
            <a:avLst/>
            <a:gdLst/>
            <a:ahLst/>
            <a:cxnLst/>
            <a:rect l="l" t="t" r="r" b="b"/>
            <a:pathLst>
              <a:path w="1952625" h="535939">
                <a:moveTo>
                  <a:pt x="1952244" y="33528"/>
                </a:moveTo>
                <a:lnTo>
                  <a:pt x="1934083" y="0"/>
                </a:lnTo>
                <a:lnTo>
                  <a:pt x="1080160" y="464210"/>
                </a:lnTo>
                <a:lnTo>
                  <a:pt x="1061974" y="430784"/>
                </a:lnTo>
                <a:lnTo>
                  <a:pt x="988923" y="535406"/>
                </a:lnTo>
                <a:lnTo>
                  <a:pt x="969200" y="507873"/>
                </a:lnTo>
                <a:lnTo>
                  <a:pt x="914527" y="431546"/>
                </a:lnTo>
                <a:lnTo>
                  <a:pt x="896721" y="465302"/>
                </a:lnTo>
                <a:lnTo>
                  <a:pt x="17780" y="1397"/>
                </a:lnTo>
                <a:lnTo>
                  <a:pt x="0" y="35179"/>
                </a:lnTo>
                <a:lnTo>
                  <a:pt x="878954" y="498957"/>
                </a:lnTo>
                <a:lnTo>
                  <a:pt x="861187" y="532638"/>
                </a:lnTo>
                <a:lnTo>
                  <a:pt x="988910" y="535432"/>
                </a:lnTo>
                <a:lnTo>
                  <a:pt x="988822" y="535559"/>
                </a:lnTo>
                <a:lnTo>
                  <a:pt x="1116584" y="531114"/>
                </a:lnTo>
                <a:lnTo>
                  <a:pt x="1103376" y="506857"/>
                </a:lnTo>
                <a:lnTo>
                  <a:pt x="1098410" y="497751"/>
                </a:lnTo>
                <a:lnTo>
                  <a:pt x="195224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>
            <a:extLst>
              <a:ext uri="{FF2B5EF4-FFF2-40B4-BE49-F238E27FC236}">
                <a16:creationId xmlns:a16="http://schemas.microsoft.com/office/drawing/2014/main" id="{BDC5A8CD-C6D3-BE40-84F2-D2E941ED5666}"/>
              </a:ext>
            </a:extLst>
          </p:cNvPr>
          <p:cNvSpPr txBox="1"/>
          <p:nvPr/>
        </p:nvSpPr>
        <p:spPr>
          <a:xfrm>
            <a:off x="1717801" y="4531867"/>
            <a:ext cx="331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8503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𝟒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2" name="object 20">
            <a:extLst>
              <a:ext uri="{FF2B5EF4-FFF2-40B4-BE49-F238E27FC236}">
                <a16:creationId xmlns:a16="http://schemas.microsoft.com/office/drawing/2014/main" id="{FB6E202E-F88F-3345-B5DC-E62C179DE0E8}"/>
              </a:ext>
            </a:extLst>
          </p:cNvPr>
          <p:cNvSpPr txBox="1"/>
          <p:nvPr/>
        </p:nvSpPr>
        <p:spPr>
          <a:xfrm>
            <a:off x="6198108" y="2264664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5"/>
              </a:spcBef>
            </a:pPr>
            <a:r>
              <a:rPr sz="2400" spc="-25">
                <a:latin typeface="Cambria Math"/>
                <a:cs typeface="Cambria Math"/>
              </a:rPr>
              <a:t>{𝟑}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527DCC71-BF3A-2148-86CC-B4E584DC395E}"/>
              </a:ext>
            </a:extLst>
          </p:cNvPr>
          <p:cNvSpPr txBox="1"/>
          <p:nvPr/>
        </p:nvSpPr>
        <p:spPr>
          <a:xfrm>
            <a:off x="6976871" y="3633215"/>
            <a:ext cx="150368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𝟔}</a:t>
            </a:r>
            <a:endParaRPr sz="2400">
              <a:latin typeface="Cambria Math"/>
              <a:cs typeface="Cambria Math"/>
            </a:endParaRPr>
          </a:p>
          <a:p>
            <a:pPr marL="9906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4" name="object 22">
            <a:extLst>
              <a:ext uri="{FF2B5EF4-FFF2-40B4-BE49-F238E27FC236}">
                <a16:creationId xmlns:a16="http://schemas.microsoft.com/office/drawing/2014/main" id="{41E5E2E9-3B2D-5F4F-B7A4-EE24D62B8926}"/>
              </a:ext>
            </a:extLst>
          </p:cNvPr>
          <p:cNvSpPr/>
          <p:nvPr/>
        </p:nvSpPr>
        <p:spPr>
          <a:xfrm>
            <a:off x="9097518" y="2288285"/>
            <a:ext cx="1687830" cy="831850"/>
          </a:xfrm>
          <a:custGeom>
            <a:avLst/>
            <a:gdLst/>
            <a:ahLst/>
            <a:cxnLst/>
            <a:rect l="l" t="t" r="r" b="b"/>
            <a:pathLst>
              <a:path w="1687829" h="831850">
                <a:moveTo>
                  <a:pt x="0" y="831341"/>
                </a:moveTo>
                <a:lnTo>
                  <a:pt x="1687829" y="831341"/>
                </a:lnTo>
                <a:lnTo>
                  <a:pt x="1687829" y="0"/>
                </a:lnTo>
                <a:lnTo>
                  <a:pt x="0" y="0"/>
                </a:lnTo>
                <a:lnTo>
                  <a:pt x="0" y="83134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3">
            <a:extLst>
              <a:ext uri="{FF2B5EF4-FFF2-40B4-BE49-F238E27FC236}">
                <a16:creationId xmlns:a16="http://schemas.microsoft.com/office/drawing/2014/main" id="{8DE79FAA-AD87-6348-9D26-05DF741C5919}"/>
              </a:ext>
            </a:extLst>
          </p:cNvPr>
          <p:cNvSpPr txBox="1"/>
          <p:nvPr/>
        </p:nvSpPr>
        <p:spPr>
          <a:xfrm>
            <a:off x="9876281" y="3633215"/>
            <a:ext cx="1687830" cy="83058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5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7" name="object 33">
            <a:extLst>
              <a:ext uri="{FF2B5EF4-FFF2-40B4-BE49-F238E27FC236}">
                <a16:creationId xmlns:a16="http://schemas.microsoft.com/office/drawing/2014/main" id="{815234B4-93FE-9642-9D14-EDC4F7808F54}"/>
              </a:ext>
            </a:extLst>
          </p:cNvPr>
          <p:cNvSpPr/>
          <p:nvPr/>
        </p:nvSpPr>
        <p:spPr>
          <a:xfrm>
            <a:off x="6516243" y="1648078"/>
            <a:ext cx="770890" cy="616585"/>
          </a:xfrm>
          <a:custGeom>
            <a:avLst/>
            <a:gdLst/>
            <a:ahLst/>
            <a:cxnLst/>
            <a:rect l="l" t="t" r="r" b="b"/>
            <a:pathLst>
              <a:path w="770890" h="616585">
                <a:moveTo>
                  <a:pt x="433197" y="616077"/>
                </a:moveTo>
                <a:lnTo>
                  <a:pt x="423697" y="548513"/>
                </a:lnTo>
                <a:lnTo>
                  <a:pt x="415417" y="489585"/>
                </a:lnTo>
                <a:lnTo>
                  <a:pt x="384073" y="511200"/>
                </a:lnTo>
                <a:lnTo>
                  <a:pt x="31229" y="0"/>
                </a:lnTo>
                <a:lnTo>
                  <a:pt x="0" y="21590"/>
                </a:lnTo>
                <a:lnTo>
                  <a:pt x="352666" y="532866"/>
                </a:lnTo>
                <a:lnTo>
                  <a:pt x="321310" y="554482"/>
                </a:lnTo>
                <a:lnTo>
                  <a:pt x="433197" y="616077"/>
                </a:lnTo>
                <a:close/>
              </a:path>
              <a:path w="770890" h="616585">
                <a:moveTo>
                  <a:pt x="770763" y="26670"/>
                </a:moveTo>
                <a:lnTo>
                  <a:pt x="737235" y="8636"/>
                </a:lnTo>
                <a:lnTo>
                  <a:pt x="470395" y="506196"/>
                </a:lnTo>
                <a:lnTo>
                  <a:pt x="436880" y="488188"/>
                </a:lnTo>
                <a:lnTo>
                  <a:pt x="433197" y="615950"/>
                </a:lnTo>
                <a:lnTo>
                  <a:pt x="537591" y="542290"/>
                </a:lnTo>
                <a:lnTo>
                  <a:pt x="535216" y="541020"/>
                </a:lnTo>
                <a:lnTo>
                  <a:pt x="504024" y="524268"/>
                </a:lnTo>
                <a:lnTo>
                  <a:pt x="770763" y="26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4">
            <a:extLst>
              <a:ext uri="{FF2B5EF4-FFF2-40B4-BE49-F238E27FC236}">
                <a16:creationId xmlns:a16="http://schemas.microsoft.com/office/drawing/2014/main" id="{072CE156-2311-144C-873B-DF92D41C8FC5}"/>
              </a:ext>
            </a:extLst>
          </p:cNvPr>
          <p:cNvSpPr/>
          <p:nvPr/>
        </p:nvSpPr>
        <p:spPr>
          <a:xfrm>
            <a:off x="7393432" y="1662556"/>
            <a:ext cx="1123315" cy="1971039"/>
          </a:xfrm>
          <a:custGeom>
            <a:avLst/>
            <a:gdLst/>
            <a:ahLst/>
            <a:cxnLst/>
            <a:rect l="l" t="t" r="r" b="b"/>
            <a:pathLst>
              <a:path w="1123315" h="1971039">
                <a:moveTo>
                  <a:pt x="1122807" y="13970"/>
                </a:moveTo>
                <a:lnTo>
                  <a:pt x="1087247" y="0"/>
                </a:lnTo>
                <a:lnTo>
                  <a:pt x="358736" y="1857184"/>
                </a:lnTo>
                <a:lnTo>
                  <a:pt x="323989" y="1843544"/>
                </a:lnTo>
                <a:lnTo>
                  <a:pt x="323977" y="1843278"/>
                </a:lnTo>
                <a:lnTo>
                  <a:pt x="323723" y="1843430"/>
                </a:lnTo>
                <a:lnTo>
                  <a:pt x="323342" y="1843278"/>
                </a:lnTo>
                <a:lnTo>
                  <a:pt x="323367" y="1843659"/>
                </a:lnTo>
                <a:lnTo>
                  <a:pt x="291566" y="1863204"/>
                </a:lnTo>
                <a:lnTo>
                  <a:pt x="32512" y="1441704"/>
                </a:lnTo>
                <a:lnTo>
                  <a:pt x="0" y="1461770"/>
                </a:lnTo>
                <a:lnTo>
                  <a:pt x="259118" y="1883168"/>
                </a:lnTo>
                <a:lnTo>
                  <a:pt x="226695" y="1903095"/>
                </a:lnTo>
                <a:lnTo>
                  <a:pt x="334746" y="1970290"/>
                </a:lnTo>
                <a:lnTo>
                  <a:pt x="334772" y="1970532"/>
                </a:lnTo>
                <a:lnTo>
                  <a:pt x="334924" y="1970392"/>
                </a:lnTo>
                <a:lnTo>
                  <a:pt x="335153" y="1970532"/>
                </a:lnTo>
                <a:lnTo>
                  <a:pt x="335114" y="1970214"/>
                </a:lnTo>
                <a:lnTo>
                  <a:pt x="425526" y="1888871"/>
                </a:lnTo>
                <a:lnTo>
                  <a:pt x="429768" y="1885061"/>
                </a:lnTo>
                <a:lnTo>
                  <a:pt x="394296" y="1871141"/>
                </a:lnTo>
                <a:lnTo>
                  <a:pt x="1122807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5">
            <a:extLst>
              <a:ext uri="{FF2B5EF4-FFF2-40B4-BE49-F238E27FC236}">
                <a16:creationId xmlns:a16="http://schemas.microsoft.com/office/drawing/2014/main" id="{26B6AD70-846D-D841-B9D6-7B4FB9D24A5A}"/>
              </a:ext>
            </a:extLst>
          </p:cNvPr>
          <p:cNvSpPr/>
          <p:nvPr/>
        </p:nvSpPr>
        <p:spPr>
          <a:xfrm>
            <a:off x="8313801" y="4446904"/>
            <a:ext cx="1933575" cy="523875"/>
          </a:xfrm>
          <a:custGeom>
            <a:avLst/>
            <a:gdLst/>
            <a:ahLst/>
            <a:cxnLst/>
            <a:rect l="l" t="t" r="r" b="b"/>
            <a:pathLst>
              <a:path w="1933575" h="523875">
                <a:moveTo>
                  <a:pt x="1933321" y="33655"/>
                </a:moveTo>
                <a:lnTo>
                  <a:pt x="1915287" y="127"/>
                </a:lnTo>
                <a:lnTo>
                  <a:pt x="1080109" y="452335"/>
                </a:lnTo>
                <a:lnTo>
                  <a:pt x="1061974" y="418846"/>
                </a:lnTo>
                <a:lnTo>
                  <a:pt x="988745" y="523417"/>
                </a:lnTo>
                <a:lnTo>
                  <a:pt x="969264" y="496697"/>
                </a:lnTo>
                <a:lnTo>
                  <a:pt x="913511" y="420243"/>
                </a:lnTo>
                <a:lnTo>
                  <a:pt x="895985" y="454190"/>
                </a:lnTo>
                <a:lnTo>
                  <a:pt x="17526" y="0"/>
                </a:lnTo>
                <a:lnTo>
                  <a:pt x="0" y="33782"/>
                </a:lnTo>
                <a:lnTo>
                  <a:pt x="878547" y="487959"/>
                </a:lnTo>
                <a:lnTo>
                  <a:pt x="861060" y="521843"/>
                </a:lnTo>
                <a:lnTo>
                  <a:pt x="988695" y="523494"/>
                </a:lnTo>
                <a:lnTo>
                  <a:pt x="988822" y="523494"/>
                </a:lnTo>
                <a:lnTo>
                  <a:pt x="1116457" y="519430"/>
                </a:lnTo>
                <a:lnTo>
                  <a:pt x="1103172" y="494919"/>
                </a:lnTo>
                <a:lnTo>
                  <a:pt x="1098257" y="485863"/>
                </a:lnTo>
                <a:lnTo>
                  <a:pt x="1933321" y="33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36">
            <a:extLst>
              <a:ext uri="{FF2B5EF4-FFF2-40B4-BE49-F238E27FC236}">
                <a16:creationId xmlns:a16="http://schemas.microsoft.com/office/drawing/2014/main" id="{B88A8F2B-CF1B-B246-AEBE-7F6134EA5D7F}"/>
              </a:ext>
            </a:extLst>
          </p:cNvPr>
          <p:cNvSpPr/>
          <p:nvPr/>
        </p:nvSpPr>
        <p:spPr>
          <a:xfrm>
            <a:off x="9503029" y="1648205"/>
            <a:ext cx="2005330" cy="1995805"/>
          </a:xfrm>
          <a:custGeom>
            <a:avLst/>
            <a:gdLst/>
            <a:ahLst/>
            <a:cxnLst/>
            <a:rect l="l" t="t" r="r" b="b"/>
            <a:pathLst>
              <a:path w="2005329" h="1995804">
                <a:moveTo>
                  <a:pt x="768477" y="19177"/>
                </a:moveTo>
                <a:lnTo>
                  <a:pt x="734314" y="2159"/>
                </a:lnTo>
                <a:lnTo>
                  <a:pt x="471906" y="529183"/>
                </a:lnTo>
                <a:lnTo>
                  <a:pt x="437769" y="512191"/>
                </a:lnTo>
                <a:lnTo>
                  <a:pt x="438010" y="634936"/>
                </a:lnTo>
                <a:lnTo>
                  <a:pt x="429869" y="571500"/>
                </a:lnTo>
                <a:lnTo>
                  <a:pt x="422402" y="513207"/>
                </a:lnTo>
                <a:lnTo>
                  <a:pt x="390702" y="534504"/>
                </a:lnTo>
                <a:lnTo>
                  <a:pt x="31623" y="0"/>
                </a:lnTo>
                <a:lnTo>
                  <a:pt x="0" y="21336"/>
                </a:lnTo>
                <a:lnTo>
                  <a:pt x="359105" y="555752"/>
                </a:lnTo>
                <a:lnTo>
                  <a:pt x="327533" y="576961"/>
                </a:lnTo>
                <a:lnTo>
                  <a:pt x="438010" y="639597"/>
                </a:lnTo>
                <a:lnTo>
                  <a:pt x="438023" y="639953"/>
                </a:lnTo>
                <a:lnTo>
                  <a:pt x="438289" y="639749"/>
                </a:lnTo>
                <a:lnTo>
                  <a:pt x="438658" y="639953"/>
                </a:lnTo>
                <a:lnTo>
                  <a:pt x="438594" y="639521"/>
                </a:lnTo>
                <a:lnTo>
                  <a:pt x="539953" y="563245"/>
                </a:lnTo>
                <a:lnTo>
                  <a:pt x="540131" y="563118"/>
                </a:lnTo>
                <a:lnTo>
                  <a:pt x="506082" y="546188"/>
                </a:lnTo>
                <a:lnTo>
                  <a:pt x="768477" y="19177"/>
                </a:lnTo>
                <a:close/>
              </a:path>
              <a:path w="2005329" h="1995804">
                <a:moveTo>
                  <a:pt x="1215644" y="1995551"/>
                </a:moveTo>
                <a:lnTo>
                  <a:pt x="1209395" y="1924431"/>
                </a:lnTo>
                <a:lnTo>
                  <a:pt x="1204468" y="1868297"/>
                </a:lnTo>
                <a:lnTo>
                  <a:pt x="1172057" y="1888223"/>
                </a:lnTo>
                <a:lnTo>
                  <a:pt x="913003" y="1466723"/>
                </a:lnTo>
                <a:lnTo>
                  <a:pt x="880491" y="1486789"/>
                </a:lnTo>
                <a:lnTo>
                  <a:pt x="1139609" y="1908187"/>
                </a:lnTo>
                <a:lnTo>
                  <a:pt x="1107186" y="1928126"/>
                </a:lnTo>
                <a:lnTo>
                  <a:pt x="1215644" y="1995551"/>
                </a:lnTo>
                <a:close/>
              </a:path>
              <a:path w="2005329" h="1995804">
                <a:moveTo>
                  <a:pt x="2005330" y="17653"/>
                </a:moveTo>
                <a:lnTo>
                  <a:pt x="1969897" y="3683"/>
                </a:lnTo>
                <a:lnTo>
                  <a:pt x="1240612" y="1871345"/>
                </a:lnTo>
                <a:lnTo>
                  <a:pt x="1205103" y="1857502"/>
                </a:lnTo>
                <a:lnTo>
                  <a:pt x="1216787" y="1984756"/>
                </a:lnTo>
                <a:lnTo>
                  <a:pt x="1307287" y="1902968"/>
                </a:lnTo>
                <a:lnTo>
                  <a:pt x="1311656" y="1899031"/>
                </a:lnTo>
                <a:lnTo>
                  <a:pt x="1276172" y="1885213"/>
                </a:lnTo>
                <a:lnTo>
                  <a:pt x="2005330" y="17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0">
            <a:extLst>
              <a:ext uri="{FF2B5EF4-FFF2-40B4-BE49-F238E27FC236}">
                <a16:creationId xmlns:a16="http://schemas.microsoft.com/office/drawing/2014/main" id="{AD360491-0A16-4B4E-B24F-7F5423886B91}"/>
              </a:ext>
            </a:extLst>
          </p:cNvPr>
          <p:cNvSpPr txBox="1"/>
          <p:nvPr/>
        </p:nvSpPr>
        <p:spPr>
          <a:xfrm>
            <a:off x="5740146" y="1800097"/>
            <a:ext cx="259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1414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2" name="object 41">
            <a:extLst>
              <a:ext uri="{FF2B5EF4-FFF2-40B4-BE49-F238E27FC236}">
                <a16:creationId xmlns:a16="http://schemas.microsoft.com/office/drawing/2014/main" id="{CB84DB8F-9334-DA4E-A843-0946DB732BCE}"/>
              </a:ext>
            </a:extLst>
          </p:cNvPr>
          <p:cNvSpPr txBox="1"/>
          <p:nvPr/>
        </p:nvSpPr>
        <p:spPr>
          <a:xfrm>
            <a:off x="6513068" y="3175000"/>
            <a:ext cx="2321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7287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3" name="object 42">
            <a:extLst>
              <a:ext uri="{FF2B5EF4-FFF2-40B4-BE49-F238E27FC236}">
                <a16:creationId xmlns:a16="http://schemas.microsoft.com/office/drawing/2014/main" id="{16BF95E7-1457-D643-9532-27E942352693}"/>
              </a:ext>
            </a:extLst>
          </p:cNvPr>
          <p:cNvSpPr txBox="1"/>
          <p:nvPr/>
        </p:nvSpPr>
        <p:spPr>
          <a:xfrm>
            <a:off x="8740393" y="1708912"/>
            <a:ext cx="3362325" cy="18802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R="966469" algn="ctr">
              <a:lnSpc>
                <a:spcPct val="100000"/>
              </a:lnSpc>
              <a:spcBef>
                <a:spcPts val="1000"/>
              </a:spcBef>
              <a:tabLst>
                <a:tab pos="133731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𝟕</a:t>
            </a:r>
            <a:endParaRPr sz="2400">
              <a:latin typeface="Cambria Math"/>
              <a:cs typeface="Cambria Math"/>
            </a:endParaRPr>
          </a:p>
          <a:p>
            <a:pPr marR="1018540" algn="ctr">
              <a:lnSpc>
                <a:spcPct val="100000"/>
              </a:lnSpc>
              <a:spcBef>
                <a:spcPts val="900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101981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  <a:p>
            <a:pPr marL="645795" algn="ctr">
              <a:lnSpc>
                <a:spcPct val="100000"/>
              </a:lnSpc>
              <a:spcBef>
                <a:spcPts val="1280"/>
              </a:spcBef>
              <a:tabLst>
                <a:tab pos="2109470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𝟏𝟎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−𝟏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4" name="object 43">
            <a:extLst>
              <a:ext uri="{FF2B5EF4-FFF2-40B4-BE49-F238E27FC236}">
                <a16:creationId xmlns:a16="http://schemas.microsoft.com/office/drawing/2014/main" id="{0377DE85-FA89-5F41-8081-07DD5D370261}"/>
              </a:ext>
            </a:extLst>
          </p:cNvPr>
          <p:cNvSpPr txBox="1"/>
          <p:nvPr/>
        </p:nvSpPr>
        <p:spPr>
          <a:xfrm>
            <a:off x="7666481" y="4542535"/>
            <a:ext cx="3439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30822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𝟏</a:t>
            </a:r>
            <a:r>
              <a:rPr sz="2625" spc="562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𝟕</a:t>
            </a:r>
            <a:r>
              <a:rPr sz="2400">
                <a:latin typeface="Cambria Math"/>
                <a:cs typeface="Cambria Math"/>
              </a:rPr>
              <a:t>	𝑺</a:t>
            </a:r>
            <a:r>
              <a:rPr sz="2625" baseline="-15873">
                <a:latin typeface="Cambria Math"/>
                <a:cs typeface="Cambria Math"/>
              </a:rPr>
              <a:t>𝟐</a:t>
            </a:r>
            <a:r>
              <a:rPr sz="2625" spc="547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19">
            <a:extLst>
              <a:ext uri="{FF2B5EF4-FFF2-40B4-BE49-F238E27FC236}">
                <a16:creationId xmlns:a16="http://schemas.microsoft.com/office/drawing/2014/main" id="{90D3444B-A216-5E48-A92F-914BB0927796}"/>
              </a:ext>
            </a:extLst>
          </p:cNvPr>
          <p:cNvSpPr txBox="1"/>
          <p:nvPr/>
        </p:nvSpPr>
        <p:spPr>
          <a:xfrm>
            <a:off x="2401061" y="4970526"/>
            <a:ext cx="1799589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𝟓,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1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𝟖}</a:t>
            </a:r>
            <a:endParaRPr sz="2400">
              <a:latin typeface="Cambria Math"/>
              <a:cs typeface="Cambria Math"/>
            </a:endParaRPr>
          </a:p>
          <a:p>
            <a:pPr marL="156210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1" name="object 24">
            <a:extLst>
              <a:ext uri="{FF2B5EF4-FFF2-40B4-BE49-F238E27FC236}">
                <a16:creationId xmlns:a16="http://schemas.microsoft.com/office/drawing/2014/main" id="{9EF430C3-165D-1C4C-A877-DB1B67BB200B}"/>
              </a:ext>
            </a:extLst>
          </p:cNvPr>
          <p:cNvSpPr txBox="1"/>
          <p:nvPr/>
        </p:nvSpPr>
        <p:spPr>
          <a:xfrm>
            <a:off x="8253983" y="4970526"/>
            <a:ext cx="2097405" cy="8318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R="57785" algn="ctr">
              <a:lnSpc>
                <a:spcPct val="100000"/>
              </a:lnSpc>
              <a:spcBef>
                <a:spcPts val="220"/>
              </a:spcBef>
            </a:pPr>
            <a:r>
              <a:rPr sz="2400" spc="-10">
                <a:latin typeface="Cambria Math"/>
                <a:cs typeface="Cambria Math"/>
              </a:rPr>
              <a:t>{𝟑,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𝟔,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𝟑,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60325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𝟏𝟕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5" name="object 46">
            <a:extLst>
              <a:ext uri="{FF2B5EF4-FFF2-40B4-BE49-F238E27FC236}">
                <a16:creationId xmlns:a16="http://schemas.microsoft.com/office/drawing/2014/main" id="{82680959-8AAD-3043-8ABD-FE57BFB267A6}"/>
              </a:ext>
            </a:extLst>
          </p:cNvPr>
          <p:cNvSpPr txBox="1"/>
          <p:nvPr/>
        </p:nvSpPr>
        <p:spPr>
          <a:xfrm>
            <a:off x="6506971" y="5163058"/>
            <a:ext cx="1155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625" spc="562" baseline="-15873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35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47">
            <a:extLst>
              <a:ext uri="{FF2B5EF4-FFF2-40B4-BE49-F238E27FC236}">
                <a16:creationId xmlns:a16="http://schemas.microsoft.com/office/drawing/2014/main" id="{58F9441D-43F7-F94B-BE8F-1B0D3333916E}"/>
              </a:ext>
            </a:extLst>
          </p:cNvPr>
          <p:cNvSpPr txBox="1"/>
          <p:nvPr/>
        </p:nvSpPr>
        <p:spPr>
          <a:xfrm>
            <a:off x="5025390" y="5320791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7" name="object 48">
            <a:extLst>
              <a:ext uri="{FF2B5EF4-FFF2-40B4-BE49-F238E27FC236}">
                <a16:creationId xmlns:a16="http://schemas.microsoft.com/office/drawing/2014/main" id="{88781BDB-85D5-0E4A-9346-3F7A6B933BB1}"/>
              </a:ext>
            </a:extLst>
          </p:cNvPr>
          <p:cNvSpPr txBox="1"/>
          <p:nvPr/>
        </p:nvSpPr>
        <p:spPr>
          <a:xfrm>
            <a:off x="4852415" y="5176011"/>
            <a:ext cx="1104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5290" algn="l"/>
              </a:tabLst>
            </a:pP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0000"/>
                </a:solidFill>
                <a:latin typeface="Cambria Math"/>
                <a:cs typeface="Cambria Math"/>
              </a:rPr>
              <a:t>𝟏𝟓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49">
            <a:extLst>
              <a:ext uri="{FF2B5EF4-FFF2-40B4-BE49-F238E27FC236}">
                <a16:creationId xmlns:a16="http://schemas.microsoft.com/office/drawing/2014/main" id="{D84184DC-BD31-9F42-A84E-0AC2B4ED74E6}"/>
              </a:ext>
            </a:extLst>
          </p:cNvPr>
          <p:cNvSpPr/>
          <p:nvPr/>
        </p:nvSpPr>
        <p:spPr>
          <a:xfrm>
            <a:off x="4194683" y="5368289"/>
            <a:ext cx="4065904" cy="647700"/>
          </a:xfrm>
          <a:custGeom>
            <a:avLst/>
            <a:gdLst/>
            <a:ahLst/>
            <a:cxnLst/>
            <a:rect l="l" t="t" r="r" b="b"/>
            <a:pathLst>
              <a:path w="4065904" h="647700">
                <a:moveTo>
                  <a:pt x="4065397" y="36576"/>
                </a:moveTo>
                <a:lnTo>
                  <a:pt x="4054475" y="0"/>
                </a:lnTo>
                <a:lnTo>
                  <a:pt x="2140953" y="574052"/>
                </a:lnTo>
                <a:lnTo>
                  <a:pt x="2130044" y="537552"/>
                </a:lnTo>
                <a:lnTo>
                  <a:pt x="2044280" y="618236"/>
                </a:lnTo>
                <a:lnTo>
                  <a:pt x="2042248" y="616318"/>
                </a:lnTo>
                <a:lnTo>
                  <a:pt x="1958340" y="537845"/>
                </a:lnTo>
                <a:lnTo>
                  <a:pt x="1947494" y="574395"/>
                </a:lnTo>
                <a:lnTo>
                  <a:pt x="10922" y="0"/>
                </a:lnTo>
                <a:lnTo>
                  <a:pt x="0" y="36576"/>
                </a:lnTo>
                <a:lnTo>
                  <a:pt x="1936661" y="610908"/>
                </a:lnTo>
                <a:lnTo>
                  <a:pt x="1925828" y="647420"/>
                </a:lnTo>
                <a:lnTo>
                  <a:pt x="2044382" y="626427"/>
                </a:lnTo>
                <a:lnTo>
                  <a:pt x="2162810" y="647026"/>
                </a:lnTo>
                <a:lnTo>
                  <a:pt x="2153526" y="616013"/>
                </a:lnTo>
                <a:lnTo>
                  <a:pt x="2151875" y="610539"/>
                </a:lnTo>
                <a:lnTo>
                  <a:pt x="4065397" y="365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5">
            <a:extLst>
              <a:ext uri="{FF2B5EF4-FFF2-40B4-BE49-F238E27FC236}">
                <a16:creationId xmlns:a16="http://schemas.microsoft.com/office/drawing/2014/main" id="{0D73DB4D-6ED2-6A41-B2C7-33D9B75B41A0}"/>
              </a:ext>
            </a:extLst>
          </p:cNvPr>
          <p:cNvSpPr txBox="1"/>
          <p:nvPr/>
        </p:nvSpPr>
        <p:spPr>
          <a:xfrm>
            <a:off x="4486655" y="5993129"/>
            <a:ext cx="3519170" cy="8318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219"/>
              </a:spcBef>
            </a:pPr>
            <a:r>
              <a:rPr sz="2400" spc="-10">
                <a:latin typeface="Cambria Math"/>
                <a:cs typeface="Cambria Math"/>
              </a:rPr>
              <a:t>{𝟒,</a:t>
            </a:r>
            <a:r>
              <a:rPr sz="2400" spc="-14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𝟓,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3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𝟖,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𝟑,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−𝟐,</a:t>
            </a:r>
            <a:r>
              <a:rPr sz="2400" spc="-125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𝟔,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𝟑,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𝟕}</a:t>
            </a:r>
            <a:endParaRPr sz="2400">
              <a:latin typeface="Cambria Math"/>
              <a:cs typeface="Cambria Math"/>
            </a:endParaRPr>
          </a:p>
          <a:p>
            <a:pPr marR="59690" algn="ctr">
              <a:lnSpc>
                <a:spcPct val="100000"/>
              </a:lnSpc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40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𝟑𝟐</a:t>
            </a:r>
            <a:endParaRPr sz="24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88845695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9E1FC8B-1454-554B-9456-E9CE42DF16E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伪代码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2E1ADAA-3FD3-524C-92B8-81BD73273C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0816" y="1621442"/>
            <a:ext cx="10007600" cy="467995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34474536-E9B6-D64D-807A-B97BDD7125D7}"/>
              </a:ext>
            </a:extLst>
          </p:cNvPr>
          <p:cNvSpPr txBox="1"/>
          <p:nvPr/>
        </p:nvSpPr>
        <p:spPr>
          <a:xfrm>
            <a:off x="6043421" y="1083241"/>
            <a:ext cx="4909185" cy="5270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889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385"/>
              </a:spcBef>
            </a:pPr>
            <a:r>
              <a:rPr sz="2400" spc="-5">
                <a:solidFill>
                  <a:srgbClr val="FFFFFF"/>
                </a:solidFill>
                <a:latin typeface="PMingLiU"/>
                <a:cs typeface="PMingLiU"/>
              </a:rPr>
              <a:t>初始调用：</a:t>
            </a:r>
            <a:r>
              <a:rPr sz="2400" b="1" spc="-10">
                <a:solidFill>
                  <a:srgbClr val="FFFFFF"/>
                </a:solidFill>
                <a:latin typeface="Times New Roman"/>
                <a:cs typeface="Times New Roman"/>
              </a:rPr>
              <a:t>MaxSubArray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(𝑿,</a:t>
            </a:r>
            <a:r>
              <a:rPr sz="2400" spc="-7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𝟏,</a:t>
            </a:r>
            <a:r>
              <a:rPr sz="2400" spc="-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𝒏)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6DEEB57-8025-EA40-B851-883D19374A99}"/>
              </a:ext>
            </a:extLst>
          </p:cNvPr>
          <p:cNvSpPr txBox="1"/>
          <p:nvPr/>
        </p:nvSpPr>
        <p:spPr>
          <a:xfrm>
            <a:off x="751615" y="90545"/>
            <a:ext cx="4830445" cy="1452245"/>
          </a:xfrm>
          <a:prstGeom prst="rect">
            <a:avLst/>
          </a:prstGeom>
        </p:spPr>
        <p:txBody>
          <a:bodyPr vert="horz" wrap="square" lIns="0" tIns="285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45"/>
              </a:spcBef>
            </a:pPr>
            <a:endParaRPr sz="3200" dirty="0">
              <a:latin typeface="PMingLiU"/>
              <a:cs typeface="PMingLiU"/>
            </a:endParaRPr>
          </a:p>
          <a:p>
            <a:pPr marL="356870" indent="-342900">
              <a:lnSpc>
                <a:spcPct val="100000"/>
              </a:lnSpc>
              <a:spcBef>
                <a:spcPts val="188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6235" algn="l"/>
                <a:tab pos="356870" algn="l"/>
              </a:tabLst>
            </a:pPr>
            <a:r>
              <a:rPr sz="2800" b="1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MaxSubArray</a:t>
            </a:r>
            <a:r>
              <a:rPr sz="2800" spc="-10" dirty="0">
                <a:solidFill>
                  <a:srgbClr val="FF0000"/>
                </a:solidFill>
                <a:latin typeface="Cambria Math"/>
                <a:cs typeface="Cambria Math"/>
              </a:rPr>
              <a:t>(𝑿,</a:t>
            </a:r>
            <a:r>
              <a:rPr sz="2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mbria Math"/>
                <a:cs typeface="Cambria Math"/>
              </a:rPr>
              <a:t>𝒍𝒐𝒘,</a:t>
            </a:r>
            <a:r>
              <a:rPr sz="2800" spc="-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mbria Math"/>
                <a:cs typeface="Cambria Math"/>
              </a:rPr>
              <a:t>𝒉𝒊𝒈𝒉)</a:t>
            </a:r>
            <a:endParaRPr sz="28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98789130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8EEEA207-F0A2-5241-9DCD-A050A340AFD9}"/>
              </a:ext>
            </a:extLst>
          </p:cNvPr>
          <p:cNvGrpSpPr/>
          <p:nvPr/>
        </p:nvGrpSpPr>
        <p:grpSpPr>
          <a:xfrm>
            <a:off x="861844" y="2382272"/>
            <a:ext cx="9374505" cy="4384040"/>
            <a:chOff x="861844" y="2300080"/>
            <a:chExt cx="9374505" cy="438404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23B236E7-19D0-3040-B9BD-257F7D6424DA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61844" y="2300080"/>
              <a:ext cx="9374036" cy="4383796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402EE73C-4BD7-A343-BFF2-294A0362A020}"/>
                </a:ext>
              </a:extLst>
            </p:cNvPr>
            <p:cNvSpPr/>
            <p:nvPr/>
          </p:nvSpPr>
          <p:spPr>
            <a:xfrm>
              <a:off x="7524496" y="4763770"/>
              <a:ext cx="607060" cy="235585"/>
            </a:xfrm>
            <a:custGeom>
              <a:avLst/>
              <a:gdLst/>
              <a:ahLst/>
              <a:cxnLst/>
              <a:rect l="l" t="t" r="r" b="b"/>
              <a:pathLst>
                <a:path w="607059" h="235585">
                  <a:moveTo>
                    <a:pt x="532002" y="0"/>
                  </a:moveTo>
                  <a:lnTo>
                    <a:pt x="528701" y="9651"/>
                  </a:lnTo>
                  <a:lnTo>
                    <a:pt x="542321" y="15537"/>
                  </a:lnTo>
                  <a:lnTo>
                    <a:pt x="554037" y="23685"/>
                  </a:lnTo>
                  <a:lnTo>
                    <a:pt x="577774" y="61577"/>
                  </a:lnTo>
                  <a:lnTo>
                    <a:pt x="585597" y="116458"/>
                  </a:lnTo>
                  <a:lnTo>
                    <a:pt x="584717" y="137148"/>
                  </a:lnTo>
                  <a:lnTo>
                    <a:pt x="571626" y="187832"/>
                  </a:lnTo>
                  <a:lnTo>
                    <a:pt x="542462" y="219622"/>
                  </a:lnTo>
                  <a:lnTo>
                    <a:pt x="529081" y="225551"/>
                  </a:lnTo>
                  <a:lnTo>
                    <a:pt x="532002" y="235076"/>
                  </a:lnTo>
                  <a:lnTo>
                    <a:pt x="576937" y="208412"/>
                  </a:lnTo>
                  <a:lnTo>
                    <a:pt x="602202" y="159162"/>
                  </a:lnTo>
                  <a:lnTo>
                    <a:pt x="607059" y="117601"/>
                  </a:lnTo>
                  <a:lnTo>
                    <a:pt x="605845" y="96049"/>
                  </a:lnTo>
                  <a:lnTo>
                    <a:pt x="596130" y="57898"/>
                  </a:lnTo>
                  <a:lnTo>
                    <a:pt x="564006" y="15160"/>
                  </a:lnTo>
                  <a:lnTo>
                    <a:pt x="549052" y="6217"/>
                  </a:lnTo>
                  <a:lnTo>
                    <a:pt x="532002" y="0"/>
                  </a:lnTo>
                  <a:close/>
                </a:path>
                <a:path w="607059" h="235585">
                  <a:moveTo>
                    <a:pt x="74929" y="0"/>
                  </a:moveTo>
                  <a:lnTo>
                    <a:pt x="30067" y="26842"/>
                  </a:lnTo>
                  <a:lnTo>
                    <a:pt x="4794" y="76152"/>
                  </a:lnTo>
                  <a:lnTo>
                    <a:pt x="0" y="117601"/>
                  </a:lnTo>
                  <a:lnTo>
                    <a:pt x="1194" y="139227"/>
                  </a:lnTo>
                  <a:lnTo>
                    <a:pt x="10822" y="177430"/>
                  </a:lnTo>
                  <a:lnTo>
                    <a:pt x="42830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70" y="219622"/>
                  </a:lnTo>
                  <a:lnTo>
                    <a:pt x="52911" y="211359"/>
                  </a:lnTo>
                  <a:lnTo>
                    <a:pt x="29211" y="172858"/>
                  </a:lnTo>
                  <a:lnTo>
                    <a:pt x="21335" y="116458"/>
                  </a:lnTo>
                  <a:lnTo>
                    <a:pt x="22215" y="96387"/>
                  </a:lnTo>
                  <a:lnTo>
                    <a:pt x="35305" y="46862"/>
                  </a:lnTo>
                  <a:lnTo>
                    <a:pt x="64684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C1A2F3E9-211E-6040-AC62-14CBF3235193}"/>
                </a:ext>
              </a:extLst>
            </p:cNvPr>
            <p:cNvSpPr/>
            <p:nvPr/>
          </p:nvSpPr>
          <p:spPr>
            <a:xfrm>
              <a:off x="6380988" y="4498086"/>
              <a:ext cx="331470" cy="742315"/>
            </a:xfrm>
            <a:custGeom>
              <a:avLst/>
              <a:gdLst/>
              <a:ahLst/>
              <a:cxnLst/>
              <a:rect l="l" t="t" r="r" b="b"/>
              <a:pathLst>
                <a:path w="331470" h="742314">
                  <a:moveTo>
                    <a:pt x="0" y="0"/>
                  </a:moveTo>
                  <a:lnTo>
                    <a:pt x="64525" y="2162"/>
                  </a:lnTo>
                  <a:lnTo>
                    <a:pt x="117205" y="8064"/>
                  </a:lnTo>
                  <a:lnTo>
                    <a:pt x="152715" y="16823"/>
                  </a:lnTo>
                  <a:lnTo>
                    <a:pt x="165735" y="27558"/>
                  </a:lnTo>
                  <a:lnTo>
                    <a:pt x="165735" y="343534"/>
                  </a:lnTo>
                  <a:lnTo>
                    <a:pt x="178754" y="354270"/>
                  </a:lnTo>
                  <a:lnTo>
                    <a:pt x="214264" y="363029"/>
                  </a:lnTo>
                  <a:lnTo>
                    <a:pt x="266944" y="368931"/>
                  </a:lnTo>
                  <a:lnTo>
                    <a:pt x="331469" y="371094"/>
                  </a:lnTo>
                  <a:lnTo>
                    <a:pt x="266944" y="373256"/>
                  </a:lnTo>
                  <a:lnTo>
                    <a:pt x="214264" y="379158"/>
                  </a:lnTo>
                  <a:lnTo>
                    <a:pt x="178754" y="387917"/>
                  </a:lnTo>
                  <a:lnTo>
                    <a:pt x="165735" y="398652"/>
                  </a:lnTo>
                  <a:lnTo>
                    <a:pt x="165735" y="714628"/>
                  </a:lnTo>
                  <a:lnTo>
                    <a:pt x="152715" y="725364"/>
                  </a:lnTo>
                  <a:lnTo>
                    <a:pt x="117205" y="734123"/>
                  </a:lnTo>
                  <a:lnTo>
                    <a:pt x="64525" y="740025"/>
                  </a:lnTo>
                  <a:lnTo>
                    <a:pt x="0" y="7421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8617B4E3-5AFC-1847-ABC1-62406BE5647D}"/>
              </a:ext>
            </a:extLst>
          </p:cNvPr>
          <p:cNvSpPr txBox="1"/>
          <p:nvPr/>
        </p:nvSpPr>
        <p:spPr>
          <a:xfrm>
            <a:off x="6993890" y="4769762"/>
            <a:ext cx="1068070" cy="824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⋅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𝑻</a:t>
            </a:r>
            <a:r>
              <a:rPr sz="2000" spc="3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  <a:p>
            <a:pPr marL="306705">
              <a:lnSpc>
                <a:spcPct val="100000"/>
              </a:lnSpc>
              <a:spcBef>
                <a:spcPts val="1495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A3D016C-03D8-6F49-B3E3-B8D985E54DB0}"/>
              </a:ext>
            </a:extLst>
          </p:cNvPr>
          <p:cNvSpPr txBox="1"/>
          <p:nvPr/>
        </p:nvSpPr>
        <p:spPr>
          <a:xfrm>
            <a:off x="780808" y="1073669"/>
            <a:ext cx="27343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输入规模为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06370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06370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00655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06013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10929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21522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672468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11155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914AE9EE-CAC8-194D-BC6C-12FF933C0473}"/>
              </a:ext>
            </a:extLst>
          </p:cNvPr>
          <p:cNvSpPr/>
          <p:nvPr/>
        </p:nvSpPr>
        <p:spPr>
          <a:xfrm>
            <a:off x="5519928" y="2424170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4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3"/>
                </a:lnTo>
                <a:lnTo>
                  <a:pt x="59944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">
            <a:extLst>
              <a:ext uri="{FF2B5EF4-FFF2-40B4-BE49-F238E27FC236}">
                <a16:creationId xmlns:a16="http://schemas.microsoft.com/office/drawing/2014/main" id="{910DF047-3EC3-DD4F-912B-C480650C1742}"/>
              </a:ext>
            </a:extLst>
          </p:cNvPr>
          <p:cNvSpPr txBox="1"/>
          <p:nvPr/>
        </p:nvSpPr>
        <p:spPr>
          <a:xfrm>
            <a:off x="5785611" y="2430520"/>
            <a:ext cx="5594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Cambria Math"/>
                <a:cs typeface="Cambria Math"/>
              </a:rPr>
              <a:t>𝑻(𝒏)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8" name="object 3">
            <a:extLst>
              <a:ext uri="{FF2B5EF4-FFF2-40B4-BE49-F238E27FC236}">
                <a16:creationId xmlns:a16="http://schemas.microsoft.com/office/drawing/2014/main" id="{943B56EC-AE35-814F-89A3-E72C7E9E6604}"/>
              </a:ext>
            </a:extLst>
          </p:cNvPr>
          <p:cNvGrpSpPr/>
          <p:nvPr/>
        </p:nvGrpSpPr>
        <p:grpSpPr>
          <a:xfrm>
            <a:off x="5500878" y="2405118"/>
            <a:ext cx="1190625" cy="398145"/>
            <a:chOff x="5500878" y="1994154"/>
            <a:chExt cx="1190625" cy="398145"/>
          </a:xfrm>
        </p:grpSpPr>
        <p:sp>
          <p:nvSpPr>
            <p:cNvPr id="69" name="object 4">
              <a:extLst>
                <a:ext uri="{FF2B5EF4-FFF2-40B4-BE49-F238E27FC236}">
                  <a16:creationId xmlns:a16="http://schemas.microsoft.com/office/drawing/2014/main" id="{84417A1D-A1F2-BC41-AF4F-2BC4A86BBC43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5">
              <a:extLst>
                <a:ext uri="{FF2B5EF4-FFF2-40B4-BE49-F238E27FC236}">
                  <a16:creationId xmlns:a16="http://schemas.microsoft.com/office/drawing/2014/main" id="{AD386363-94FE-1E4E-B1F6-A7C692C53F9A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6">
            <a:extLst>
              <a:ext uri="{FF2B5EF4-FFF2-40B4-BE49-F238E27FC236}">
                <a16:creationId xmlns:a16="http://schemas.microsoft.com/office/drawing/2014/main" id="{70EFB802-5853-1740-9C20-3EE88E567B9F}"/>
              </a:ext>
            </a:extLst>
          </p:cNvPr>
          <p:cNvSpPr txBox="1"/>
          <p:nvPr/>
        </p:nvSpPr>
        <p:spPr>
          <a:xfrm>
            <a:off x="5771134" y="2430518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72" name="object 7">
            <a:extLst>
              <a:ext uri="{FF2B5EF4-FFF2-40B4-BE49-F238E27FC236}">
                <a16:creationId xmlns:a16="http://schemas.microsoft.com/office/drawing/2014/main" id="{ECEA2095-88C7-0245-AAB8-2015ABCE7F97}"/>
              </a:ext>
            </a:extLst>
          </p:cNvPr>
          <p:cNvGrpSpPr/>
          <p:nvPr/>
        </p:nvGrpSpPr>
        <p:grpSpPr>
          <a:xfrm>
            <a:off x="4056126" y="2766433"/>
            <a:ext cx="3484879" cy="1040130"/>
            <a:chOff x="4056126" y="2355469"/>
            <a:chExt cx="3484879" cy="1040130"/>
          </a:xfrm>
        </p:grpSpPr>
        <p:sp>
          <p:nvSpPr>
            <p:cNvPr id="73" name="object 8">
              <a:extLst>
                <a:ext uri="{FF2B5EF4-FFF2-40B4-BE49-F238E27FC236}">
                  <a16:creationId xmlns:a16="http://schemas.microsoft.com/office/drawing/2014/main" id="{58E3200F-5C0F-4A4E-BFC7-07D8450C9CE8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9">
              <a:extLst>
                <a:ext uri="{FF2B5EF4-FFF2-40B4-BE49-F238E27FC236}">
                  <a16:creationId xmlns:a16="http://schemas.microsoft.com/office/drawing/2014/main" id="{4001CBB5-8F53-4A47-AF42-0E17904850B3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10">
            <a:extLst>
              <a:ext uri="{FF2B5EF4-FFF2-40B4-BE49-F238E27FC236}">
                <a16:creationId xmlns:a16="http://schemas.microsoft.com/office/drawing/2014/main" id="{615A61F6-363E-9447-85A3-388F609B97D5}"/>
              </a:ext>
            </a:extLst>
          </p:cNvPr>
          <p:cNvSpPr txBox="1"/>
          <p:nvPr/>
        </p:nvSpPr>
        <p:spPr>
          <a:xfrm>
            <a:off x="4201921" y="3434580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𝑻(𝒏/𝟐)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6" name="object 11">
            <a:extLst>
              <a:ext uri="{FF2B5EF4-FFF2-40B4-BE49-F238E27FC236}">
                <a16:creationId xmlns:a16="http://schemas.microsoft.com/office/drawing/2014/main" id="{B53D3E9B-8C14-3B47-BF6C-7BDB3E41E4FE}"/>
              </a:ext>
            </a:extLst>
          </p:cNvPr>
          <p:cNvSpPr/>
          <p:nvPr/>
        </p:nvSpPr>
        <p:spPr>
          <a:xfrm>
            <a:off x="6964680" y="342772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3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3"/>
                </a:lnTo>
                <a:lnTo>
                  <a:pt x="1152144" y="299719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3"/>
                </a:lnTo>
                <a:lnTo>
                  <a:pt x="59944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19"/>
                </a:lnTo>
                <a:lnTo>
                  <a:pt x="0" y="5994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12">
            <a:extLst>
              <a:ext uri="{FF2B5EF4-FFF2-40B4-BE49-F238E27FC236}">
                <a16:creationId xmlns:a16="http://schemas.microsoft.com/office/drawing/2014/main" id="{3DD7C7F5-4420-7242-AA2C-DC79DB975195}"/>
              </a:ext>
            </a:extLst>
          </p:cNvPr>
          <p:cNvSpPr txBox="1"/>
          <p:nvPr/>
        </p:nvSpPr>
        <p:spPr>
          <a:xfrm>
            <a:off x="7091933" y="3434580"/>
            <a:ext cx="83629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𝑻(𝒏/𝟐)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B478AE14-772D-8E4A-9C28-74AD8C3DCC9B}"/>
              </a:ext>
            </a:extLst>
          </p:cNvPr>
          <p:cNvSpPr/>
          <p:nvPr/>
        </p:nvSpPr>
        <p:spPr>
          <a:xfrm>
            <a:off x="7926037" y="2406134"/>
            <a:ext cx="2383604" cy="758190"/>
          </a:xfrm>
          <a:prstGeom prst="wedgeRectCallout">
            <a:avLst>
              <a:gd name="adj1" fmla="val -39799"/>
              <a:gd name="adj2" fmla="val 84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spc="-5" dirty="0">
              <a:solidFill>
                <a:srgbClr val="FFFFFF"/>
              </a:solidFill>
              <a:latin typeface="宋体"/>
              <a:cs typeface="宋体"/>
            </a:endParaRPr>
          </a:p>
          <a:p>
            <a:pPr algn="ctr"/>
            <a:r>
              <a:rPr lang="zh-CN" altLang="en-US" sz="1800" spc="-5" dirty="0">
                <a:solidFill>
                  <a:srgbClr val="FFFFFF"/>
                </a:solidFill>
                <a:latin typeface="宋体"/>
                <a:cs typeface="宋体"/>
              </a:rPr>
              <a:t>每个结点代表解决一个</a:t>
            </a:r>
            <a:r>
              <a:rPr lang="zh-CN" altLang="en-US" sz="1800" spc="-10" dirty="0">
                <a:solidFill>
                  <a:srgbClr val="FFFFFF"/>
                </a:solidFill>
                <a:latin typeface="宋体"/>
                <a:cs typeface="宋体"/>
              </a:rPr>
              <a:t>子问题的代价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6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7" grpId="0"/>
      <p:bldP spid="57" grpId="1"/>
      <p:bldP spid="71" grpId="0"/>
      <p:bldP spid="75" grpId="0"/>
      <p:bldP spid="76" grpId="0" animBg="1"/>
      <p:bldP spid="77" grpId="0"/>
      <p:bldP spid="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7" name="object 4">
            <a:extLst>
              <a:ext uri="{FF2B5EF4-FFF2-40B4-BE49-F238E27FC236}">
                <a16:creationId xmlns:a16="http://schemas.microsoft.com/office/drawing/2014/main" id="{6946D2BE-6DB5-554D-980D-851DEC89D7A7}"/>
              </a:ext>
            </a:extLst>
          </p:cNvPr>
          <p:cNvGrpSpPr/>
          <p:nvPr/>
        </p:nvGrpSpPr>
        <p:grpSpPr>
          <a:xfrm>
            <a:off x="5500878" y="2466763"/>
            <a:ext cx="1190625" cy="398145"/>
            <a:chOff x="5500878" y="1994154"/>
            <a:chExt cx="1190625" cy="398145"/>
          </a:xfrm>
        </p:grpSpPr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83FD5685-576B-2B44-AE11-03B68C5A7E21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A32AF93-2428-4A49-BCC2-D05101CE9CDE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7">
            <a:extLst>
              <a:ext uri="{FF2B5EF4-FFF2-40B4-BE49-F238E27FC236}">
                <a16:creationId xmlns:a16="http://schemas.microsoft.com/office/drawing/2014/main" id="{1C2BAD00-0A0D-4848-9F9E-9A647E498879}"/>
              </a:ext>
            </a:extLst>
          </p:cNvPr>
          <p:cNvSpPr txBox="1"/>
          <p:nvPr/>
        </p:nvSpPr>
        <p:spPr>
          <a:xfrm>
            <a:off x="5771134" y="2492163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1" name="object 8">
            <a:extLst>
              <a:ext uri="{FF2B5EF4-FFF2-40B4-BE49-F238E27FC236}">
                <a16:creationId xmlns:a16="http://schemas.microsoft.com/office/drawing/2014/main" id="{1E5B6A2E-4D5E-B341-B583-C450D415561C}"/>
              </a:ext>
            </a:extLst>
          </p:cNvPr>
          <p:cNvGrpSpPr/>
          <p:nvPr/>
        </p:nvGrpSpPr>
        <p:grpSpPr>
          <a:xfrm>
            <a:off x="4056126" y="2828078"/>
            <a:ext cx="3484879" cy="1040130"/>
            <a:chOff x="4056126" y="2355469"/>
            <a:chExt cx="3484879" cy="1040130"/>
          </a:xfrm>
        </p:grpSpPr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4DCC13BF-E93D-3046-B26F-781933ECAD65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0A9DFC86-3349-B745-AF96-3B504C373FC9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AED588E6-5279-7B48-B0FD-A11F018180A7}"/>
                </a:ext>
              </a:extLst>
            </p:cNvPr>
            <p:cNvSpPr/>
            <p:nvPr/>
          </p:nvSpPr>
          <p:spPr>
            <a:xfrm>
              <a:off x="4408805" y="3099943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8" y="0"/>
                  </a:moveTo>
                  <a:lnTo>
                    <a:pt x="527939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5" y="116459"/>
                  </a:lnTo>
                  <a:lnTo>
                    <a:pt x="583973" y="137148"/>
                  </a:lnTo>
                  <a:lnTo>
                    <a:pt x="570865" y="187833"/>
                  </a:lnTo>
                  <a:lnTo>
                    <a:pt x="541700" y="219622"/>
                  </a:lnTo>
                  <a:lnTo>
                    <a:pt x="528320" y="225552"/>
                  </a:lnTo>
                  <a:lnTo>
                    <a:pt x="531368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8" y="0"/>
                  </a:lnTo>
                  <a:close/>
                </a:path>
                <a:path w="606425" h="235585">
                  <a:moveTo>
                    <a:pt x="74930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30" y="235077"/>
                  </a:lnTo>
                  <a:lnTo>
                    <a:pt x="77978" y="225552"/>
                  </a:lnTo>
                  <a:lnTo>
                    <a:pt x="64541" y="219622"/>
                  </a:lnTo>
                  <a:lnTo>
                    <a:pt x="52974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6" y="46862"/>
                  </a:lnTo>
                  <a:lnTo>
                    <a:pt x="64702" y="15537"/>
                  </a:lnTo>
                  <a:lnTo>
                    <a:pt x="78232" y="9652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12">
            <a:extLst>
              <a:ext uri="{FF2B5EF4-FFF2-40B4-BE49-F238E27FC236}">
                <a16:creationId xmlns:a16="http://schemas.microsoft.com/office/drawing/2014/main" id="{E46BD768-1419-7F45-8C74-20639B288355}"/>
              </a:ext>
            </a:extLst>
          </p:cNvPr>
          <p:cNvSpPr txBox="1"/>
          <p:nvPr/>
        </p:nvSpPr>
        <p:spPr>
          <a:xfrm>
            <a:off x="4188205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9" name="object 13">
            <a:extLst>
              <a:ext uri="{FF2B5EF4-FFF2-40B4-BE49-F238E27FC236}">
                <a16:creationId xmlns:a16="http://schemas.microsoft.com/office/drawing/2014/main" id="{46A75C0C-43B7-7543-A06F-456930200A40}"/>
              </a:ext>
            </a:extLst>
          </p:cNvPr>
          <p:cNvGrpSpPr/>
          <p:nvPr/>
        </p:nvGrpSpPr>
        <p:grpSpPr>
          <a:xfrm>
            <a:off x="6945630" y="3470316"/>
            <a:ext cx="1190625" cy="398145"/>
            <a:chOff x="6945630" y="2997707"/>
            <a:chExt cx="1190625" cy="398145"/>
          </a:xfrm>
        </p:grpSpPr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B095FF37-7B98-504A-960D-62E656BC18E0}"/>
                </a:ext>
              </a:extLst>
            </p:cNvPr>
            <p:cNvSpPr/>
            <p:nvPr/>
          </p:nvSpPr>
          <p:spPr>
            <a:xfrm>
              <a:off x="6964680" y="301675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5">
              <a:extLst>
                <a:ext uri="{FF2B5EF4-FFF2-40B4-BE49-F238E27FC236}">
                  <a16:creationId xmlns:a16="http://schemas.microsoft.com/office/drawing/2014/main" id="{62E9446F-5ED0-A242-B959-27A412978AE8}"/>
                </a:ext>
              </a:extLst>
            </p:cNvPr>
            <p:cNvSpPr/>
            <p:nvPr/>
          </p:nvSpPr>
          <p:spPr>
            <a:xfrm>
              <a:off x="7298817" y="3099942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7" y="0"/>
                  </a:moveTo>
                  <a:lnTo>
                    <a:pt x="527938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4" y="116459"/>
                  </a:lnTo>
                  <a:lnTo>
                    <a:pt x="583973" y="137148"/>
                  </a:lnTo>
                  <a:lnTo>
                    <a:pt x="570864" y="187833"/>
                  </a:lnTo>
                  <a:lnTo>
                    <a:pt x="541700" y="219622"/>
                  </a:lnTo>
                  <a:lnTo>
                    <a:pt x="528319" y="225552"/>
                  </a:lnTo>
                  <a:lnTo>
                    <a:pt x="531367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7" y="0"/>
                  </a:lnTo>
                  <a:close/>
                </a:path>
                <a:path w="60642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878" y="220043"/>
                  </a:lnTo>
                  <a:lnTo>
                    <a:pt x="74929" y="235077"/>
                  </a:lnTo>
                  <a:lnTo>
                    <a:pt x="77850" y="225552"/>
                  </a:lnTo>
                  <a:lnTo>
                    <a:pt x="64488" y="219622"/>
                  </a:lnTo>
                  <a:lnTo>
                    <a:pt x="52959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2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16">
            <a:extLst>
              <a:ext uri="{FF2B5EF4-FFF2-40B4-BE49-F238E27FC236}">
                <a16:creationId xmlns:a16="http://schemas.microsoft.com/office/drawing/2014/main" id="{86C630AE-F14A-6248-82FE-572616B2E872}"/>
              </a:ext>
            </a:extLst>
          </p:cNvPr>
          <p:cNvSpPr txBox="1"/>
          <p:nvPr/>
        </p:nvSpPr>
        <p:spPr>
          <a:xfrm>
            <a:off x="7078218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C9B8EAEC-C6DB-B14E-8E4E-AB9F48BDC012}"/>
              </a:ext>
            </a:extLst>
          </p:cNvPr>
          <p:cNvSpPr/>
          <p:nvPr/>
        </p:nvSpPr>
        <p:spPr>
          <a:xfrm>
            <a:off x="2835401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8">
            <a:extLst>
              <a:ext uri="{FF2B5EF4-FFF2-40B4-BE49-F238E27FC236}">
                <a16:creationId xmlns:a16="http://schemas.microsoft.com/office/drawing/2014/main" id="{9CB3D66A-82F6-9342-9D22-32B830100B02}"/>
              </a:ext>
            </a:extLst>
          </p:cNvPr>
          <p:cNvSpPr txBox="1"/>
          <p:nvPr/>
        </p:nvSpPr>
        <p:spPr>
          <a:xfrm>
            <a:off x="2962148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5" name="object 19">
            <a:extLst>
              <a:ext uri="{FF2B5EF4-FFF2-40B4-BE49-F238E27FC236}">
                <a16:creationId xmlns:a16="http://schemas.microsoft.com/office/drawing/2014/main" id="{DFBA8789-797B-F44E-863E-55104BB9E8C9}"/>
              </a:ext>
            </a:extLst>
          </p:cNvPr>
          <p:cNvSpPr/>
          <p:nvPr/>
        </p:nvSpPr>
        <p:spPr>
          <a:xfrm>
            <a:off x="6414515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0">
            <a:extLst>
              <a:ext uri="{FF2B5EF4-FFF2-40B4-BE49-F238E27FC236}">
                <a16:creationId xmlns:a16="http://schemas.microsoft.com/office/drawing/2014/main" id="{A28CE115-625B-2A49-B214-37ABDCC5B2EB}"/>
              </a:ext>
            </a:extLst>
          </p:cNvPr>
          <p:cNvSpPr txBox="1"/>
          <p:nvPr/>
        </p:nvSpPr>
        <p:spPr>
          <a:xfrm>
            <a:off x="6541769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B2387F4A-DF7A-A942-B3C8-D98D81A6ABB0}"/>
              </a:ext>
            </a:extLst>
          </p:cNvPr>
          <p:cNvSpPr/>
          <p:nvPr/>
        </p:nvSpPr>
        <p:spPr>
          <a:xfrm>
            <a:off x="4625340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2">
            <a:extLst>
              <a:ext uri="{FF2B5EF4-FFF2-40B4-BE49-F238E27FC236}">
                <a16:creationId xmlns:a16="http://schemas.microsoft.com/office/drawing/2014/main" id="{28812EDE-582F-924B-A05B-7D0295FB7478}"/>
              </a:ext>
            </a:extLst>
          </p:cNvPr>
          <p:cNvSpPr txBox="1"/>
          <p:nvPr/>
        </p:nvSpPr>
        <p:spPr>
          <a:xfrm>
            <a:off x="4752085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9" name="object 23">
            <a:extLst>
              <a:ext uri="{FF2B5EF4-FFF2-40B4-BE49-F238E27FC236}">
                <a16:creationId xmlns:a16="http://schemas.microsoft.com/office/drawing/2014/main" id="{24EE2148-0E52-624F-850A-D601C422714B}"/>
              </a:ext>
            </a:extLst>
          </p:cNvPr>
          <p:cNvSpPr/>
          <p:nvPr/>
        </p:nvSpPr>
        <p:spPr>
          <a:xfrm>
            <a:off x="8204454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4">
            <a:extLst>
              <a:ext uri="{FF2B5EF4-FFF2-40B4-BE49-F238E27FC236}">
                <a16:creationId xmlns:a16="http://schemas.microsoft.com/office/drawing/2014/main" id="{28FE82E7-A197-924E-A243-B08CB4C90757}"/>
              </a:ext>
            </a:extLst>
          </p:cNvPr>
          <p:cNvSpPr txBox="1"/>
          <p:nvPr/>
        </p:nvSpPr>
        <p:spPr>
          <a:xfrm>
            <a:off x="8331707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9BCEDC0-2820-5544-BEFD-3A27A86EDB3B}"/>
              </a:ext>
            </a:extLst>
          </p:cNvPr>
          <p:cNvCxnSpPr>
            <a:cxnSpLocks/>
          </p:cNvCxnSpPr>
          <p:nvPr/>
        </p:nvCxnSpPr>
        <p:spPr>
          <a:xfrm flipH="1">
            <a:off x="3369704" y="3846973"/>
            <a:ext cx="1187005" cy="673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8E2A889-60A6-724D-BCC0-81D455B39183}"/>
              </a:ext>
            </a:extLst>
          </p:cNvPr>
          <p:cNvCxnSpPr/>
          <p:nvPr/>
        </p:nvCxnSpPr>
        <p:spPr>
          <a:xfrm>
            <a:off x="4594415" y="3849411"/>
            <a:ext cx="575500" cy="6506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B7317E1-5CD7-9248-A862-A5AF7741B8F6}"/>
              </a:ext>
            </a:extLst>
          </p:cNvPr>
          <p:cNvCxnSpPr>
            <a:endCxn id="66" idx="0"/>
          </p:cNvCxnSpPr>
          <p:nvPr/>
        </p:nvCxnSpPr>
        <p:spPr>
          <a:xfrm flipH="1">
            <a:off x="6959599" y="3845856"/>
            <a:ext cx="497396" cy="65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0483D7A-C02A-854D-9290-2350FD52DD78}"/>
              </a:ext>
            </a:extLst>
          </p:cNvPr>
          <p:cNvCxnSpPr/>
          <p:nvPr/>
        </p:nvCxnSpPr>
        <p:spPr>
          <a:xfrm>
            <a:off x="7447438" y="3856270"/>
            <a:ext cx="1333278" cy="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标注 20">
            <a:extLst>
              <a:ext uri="{FF2B5EF4-FFF2-40B4-BE49-F238E27FC236}">
                <a16:creationId xmlns:a16="http://schemas.microsoft.com/office/drawing/2014/main" id="{EBD51730-806B-9842-A4C8-1994B92473CE}"/>
              </a:ext>
            </a:extLst>
          </p:cNvPr>
          <p:cNvSpPr/>
          <p:nvPr/>
        </p:nvSpPr>
        <p:spPr>
          <a:xfrm>
            <a:off x="9167367" y="3429000"/>
            <a:ext cx="2288318" cy="567647"/>
          </a:xfrm>
          <a:prstGeom prst="wedgeRectCallout">
            <a:avLst>
              <a:gd name="adj1" fmla="val -45078"/>
              <a:gd name="adj2" fmla="val 1005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spc="-10" dirty="0">
              <a:solidFill>
                <a:srgbClr val="FFFFFF"/>
              </a:solidFill>
              <a:latin typeface="宋体"/>
              <a:cs typeface="宋体"/>
            </a:endParaRPr>
          </a:p>
          <a:p>
            <a:pPr algn="ctr"/>
            <a:r>
              <a:rPr lang="zh-CN" altLang="en-US" sz="1800" spc="-10" dirty="0">
                <a:solidFill>
                  <a:srgbClr val="FFFFFF"/>
                </a:solidFill>
                <a:latin typeface="宋体"/>
                <a:cs typeface="宋体"/>
              </a:rPr>
              <a:t>根据递归式向下分解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FDAC5C8-F330-1C4C-ADD1-339E73237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4886934"/>
            <a:ext cx="10020300" cy="1193800"/>
          </a:xfrm>
          <a:prstGeom prst="rect">
            <a:avLst/>
          </a:prstGeom>
        </p:spPr>
      </p:pic>
      <p:sp>
        <p:nvSpPr>
          <p:cNvPr id="23" name="矩形标注 22">
            <a:extLst>
              <a:ext uri="{FF2B5EF4-FFF2-40B4-BE49-F238E27FC236}">
                <a16:creationId xmlns:a16="http://schemas.microsoft.com/office/drawing/2014/main" id="{2FF6440C-F040-284E-A648-15DFAE5110B9}"/>
              </a:ext>
            </a:extLst>
          </p:cNvPr>
          <p:cNvSpPr/>
          <p:nvPr/>
        </p:nvSpPr>
        <p:spPr>
          <a:xfrm>
            <a:off x="6767073" y="5106178"/>
            <a:ext cx="2276338" cy="400693"/>
          </a:xfrm>
          <a:prstGeom prst="wedgeRectCallout">
            <a:avLst>
              <a:gd name="adj1" fmla="val -43852"/>
              <a:gd name="adj2" fmla="val 1035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spc="-10" dirty="0">
              <a:solidFill>
                <a:srgbClr val="FFFFFF"/>
              </a:solidFill>
              <a:latin typeface="宋体"/>
              <a:cs typeface="宋体"/>
            </a:endParaRPr>
          </a:p>
          <a:p>
            <a:pPr algn="ctr"/>
            <a:r>
              <a:rPr lang="zh-CN" altLang="en-US" sz="1800" spc="-10" dirty="0">
                <a:solidFill>
                  <a:srgbClr val="FFFFFF"/>
                </a:solidFill>
                <a:latin typeface="宋体"/>
                <a:cs typeface="宋体"/>
              </a:rPr>
              <a:t>递归终点为叶子结点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118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7" name="object 4">
            <a:extLst>
              <a:ext uri="{FF2B5EF4-FFF2-40B4-BE49-F238E27FC236}">
                <a16:creationId xmlns:a16="http://schemas.microsoft.com/office/drawing/2014/main" id="{6946D2BE-6DB5-554D-980D-851DEC89D7A7}"/>
              </a:ext>
            </a:extLst>
          </p:cNvPr>
          <p:cNvGrpSpPr/>
          <p:nvPr/>
        </p:nvGrpSpPr>
        <p:grpSpPr>
          <a:xfrm>
            <a:off x="5500878" y="2466763"/>
            <a:ext cx="1190625" cy="398145"/>
            <a:chOff x="5500878" y="1994154"/>
            <a:chExt cx="1190625" cy="398145"/>
          </a:xfrm>
        </p:grpSpPr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83FD5685-576B-2B44-AE11-03B68C5A7E21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A32AF93-2428-4A49-BCC2-D05101CE9CDE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7">
            <a:extLst>
              <a:ext uri="{FF2B5EF4-FFF2-40B4-BE49-F238E27FC236}">
                <a16:creationId xmlns:a16="http://schemas.microsoft.com/office/drawing/2014/main" id="{1C2BAD00-0A0D-4848-9F9E-9A647E498879}"/>
              </a:ext>
            </a:extLst>
          </p:cNvPr>
          <p:cNvSpPr txBox="1"/>
          <p:nvPr/>
        </p:nvSpPr>
        <p:spPr>
          <a:xfrm>
            <a:off x="5771134" y="2492163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1" name="object 8">
            <a:extLst>
              <a:ext uri="{FF2B5EF4-FFF2-40B4-BE49-F238E27FC236}">
                <a16:creationId xmlns:a16="http://schemas.microsoft.com/office/drawing/2014/main" id="{1E5B6A2E-4D5E-B341-B583-C450D415561C}"/>
              </a:ext>
            </a:extLst>
          </p:cNvPr>
          <p:cNvGrpSpPr/>
          <p:nvPr/>
        </p:nvGrpSpPr>
        <p:grpSpPr>
          <a:xfrm>
            <a:off x="4056126" y="2828078"/>
            <a:ext cx="3484879" cy="1040130"/>
            <a:chOff x="4056126" y="2355469"/>
            <a:chExt cx="3484879" cy="1040130"/>
          </a:xfrm>
        </p:grpSpPr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4DCC13BF-E93D-3046-B26F-781933ECAD65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0A9DFC86-3349-B745-AF96-3B504C373FC9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AED588E6-5279-7B48-B0FD-A11F018180A7}"/>
                </a:ext>
              </a:extLst>
            </p:cNvPr>
            <p:cNvSpPr/>
            <p:nvPr/>
          </p:nvSpPr>
          <p:spPr>
            <a:xfrm>
              <a:off x="4408805" y="3099943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8" y="0"/>
                  </a:moveTo>
                  <a:lnTo>
                    <a:pt x="527939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5" y="116459"/>
                  </a:lnTo>
                  <a:lnTo>
                    <a:pt x="583973" y="137148"/>
                  </a:lnTo>
                  <a:lnTo>
                    <a:pt x="570865" y="187833"/>
                  </a:lnTo>
                  <a:lnTo>
                    <a:pt x="541700" y="219622"/>
                  </a:lnTo>
                  <a:lnTo>
                    <a:pt x="528320" y="225552"/>
                  </a:lnTo>
                  <a:lnTo>
                    <a:pt x="531368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8" y="0"/>
                  </a:lnTo>
                  <a:close/>
                </a:path>
                <a:path w="606425" h="235585">
                  <a:moveTo>
                    <a:pt x="74930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30" y="235077"/>
                  </a:lnTo>
                  <a:lnTo>
                    <a:pt x="77978" y="225552"/>
                  </a:lnTo>
                  <a:lnTo>
                    <a:pt x="64541" y="219622"/>
                  </a:lnTo>
                  <a:lnTo>
                    <a:pt x="52974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6" y="46862"/>
                  </a:lnTo>
                  <a:lnTo>
                    <a:pt x="64702" y="15537"/>
                  </a:lnTo>
                  <a:lnTo>
                    <a:pt x="78232" y="9652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12">
            <a:extLst>
              <a:ext uri="{FF2B5EF4-FFF2-40B4-BE49-F238E27FC236}">
                <a16:creationId xmlns:a16="http://schemas.microsoft.com/office/drawing/2014/main" id="{E46BD768-1419-7F45-8C74-20639B288355}"/>
              </a:ext>
            </a:extLst>
          </p:cNvPr>
          <p:cNvSpPr txBox="1"/>
          <p:nvPr/>
        </p:nvSpPr>
        <p:spPr>
          <a:xfrm>
            <a:off x="4188205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9" name="object 13">
            <a:extLst>
              <a:ext uri="{FF2B5EF4-FFF2-40B4-BE49-F238E27FC236}">
                <a16:creationId xmlns:a16="http://schemas.microsoft.com/office/drawing/2014/main" id="{46A75C0C-43B7-7543-A06F-456930200A40}"/>
              </a:ext>
            </a:extLst>
          </p:cNvPr>
          <p:cNvGrpSpPr/>
          <p:nvPr/>
        </p:nvGrpSpPr>
        <p:grpSpPr>
          <a:xfrm>
            <a:off x="6945630" y="3470316"/>
            <a:ext cx="1190625" cy="398145"/>
            <a:chOff x="6945630" y="2997707"/>
            <a:chExt cx="1190625" cy="398145"/>
          </a:xfrm>
        </p:grpSpPr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B095FF37-7B98-504A-960D-62E656BC18E0}"/>
                </a:ext>
              </a:extLst>
            </p:cNvPr>
            <p:cNvSpPr/>
            <p:nvPr/>
          </p:nvSpPr>
          <p:spPr>
            <a:xfrm>
              <a:off x="6964680" y="301675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5">
              <a:extLst>
                <a:ext uri="{FF2B5EF4-FFF2-40B4-BE49-F238E27FC236}">
                  <a16:creationId xmlns:a16="http://schemas.microsoft.com/office/drawing/2014/main" id="{62E9446F-5ED0-A242-B959-27A412978AE8}"/>
                </a:ext>
              </a:extLst>
            </p:cNvPr>
            <p:cNvSpPr/>
            <p:nvPr/>
          </p:nvSpPr>
          <p:spPr>
            <a:xfrm>
              <a:off x="7298817" y="3099942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7" y="0"/>
                  </a:moveTo>
                  <a:lnTo>
                    <a:pt x="527938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4" y="116459"/>
                  </a:lnTo>
                  <a:lnTo>
                    <a:pt x="583973" y="137148"/>
                  </a:lnTo>
                  <a:lnTo>
                    <a:pt x="570864" y="187833"/>
                  </a:lnTo>
                  <a:lnTo>
                    <a:pt x="541700" y="219622"/>
                  </a:lnTo>
                  <a:lnTo>
                    <a:pt x="528319" y="225552"/>
                  </a:lnTo>
                  <a:lnTo>
                    <a:pt x="531367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7" y="0"/>
                  </a:lnTo>
                  <a:close/>
                </a:path>
                <a:path w="60642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878" y="220043"/>
                  </a:lnTo>
                  <a:lnTo>
                    <a:pt x="74929" y="235077"/>
                  </a:lnTo>
                  <a:lnTo>
                    <a:pt x="77850" y="225552"/>
                  </a:lnTo>
                  <a:lnTo>
                    <a:pt x="64488" y="219622"/>
                  </a:lnTo>
                  <a:lnTo>
                    <a:pt x="52959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2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16">
            <a:extLst>
              <a:ext uri="{FF2B5EF4-FFF2-40B4-BE49-F238E27FC236}">
                <a16:creationId xmlns:a16="http://schemas.microsoft.com/office/drawing/2014/main" id="{86C630AE-F14A-6248-82FE-572616B2E872}"/>
              </a:ext>
            </a:extLst>
          </p:cNvPr>
          <p:cNvSpPr txBox="1"/>
          <p:nvPr/>
        </p:nvSpPr>
        <p:spPr>
          <a:xfrm>
            <a:off x="7078218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C9B8EAEC-C6DB-B14E-8E4E-AB9F48BDC012}"/>
              </a:ext>
            </a:extLst>
          </p:cNvPr>
          <p:cNvSpPr/>
          <p:nvPr/>
        </p:nvSpPr>
        <p:spPr>
          <a:xfrm>
            <a:off x="2835401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8">
            <a:extLst>
              <a:ext uri="{FF2B5EF4-FFF2-40B4-BE49-F238E27FC236}">
                <a16:creationId xmlns:a16="http://schemas.microsoft.com/office/drawing/2014/main" id="{9CB3D66A-82F6-9342-9D22-32B830100B02}"/>
              </a:ext>
            </a:extLst>
          </p:cNvPr>
          <p:cNvSpPr txBox="1"/>
          <p:nvPr/>
        </p:nvSpPr>
        <p:spPr>
          <a:xfrm>
            <a:off x="2962148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5" name="object 19">
            <a:extLst>
              <a:ext uri="{FF2B5EF4-FFF2-40B4-BE49-F238E27FC236}">
                <a16:creationId xmlns:a16="http://schemas.microsoft.com/office/drawing/2014/main" id="{DFBA8789-797B-F44E-863E-55104BB9E8C9}"/>
              </a:ext>
            </a:extLst>
          </p:cNvPr>
          <p:cNvSpPr/>
          <p:nvPr/>
        </p:nvSpPr>
        <p:spPr>
          <a:xfrm>
            <a:off x="6414515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0">
            <a:extLst>
              <a:ext uri="{FF2B5EF4-FFF2-40B4-BE49-F238E27FC236}">
                <a16:creationId xmlns:a16="http://schemas.microsoft.com/office/drawing/2014/main" id="{A28CE115-625B-2A49-B214-37ABDCC5B2EB}"/>
              </a:ext>
            </a:extLst>
          </p:cNvPr>
          <p:cNvSpPr txBox="1"/>
          <p:nvPr/>
        </p:nvSpPr>
        <p:spPr>
          <a:xfrm>
            <a:off x="6541769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B2387F4A-DF7A-A942-B3C8-D98D81A6ABB0}"/>
              </a:ext>
            </a:extLst>
          </p:cNvPr>
          <p:cNvSpPr/>
          <p:nvPr/>
        </p:nvSpPr>
        <p:spPr>
          <a:xfrm>
            <a:off x="4625340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2">
            <a:extLst>
              <a:ext uri="{FF2B5EF4-FFF2-40B4-BE49-F238E27FC236}">
                <a16:creationId xmlns:a16="http://schemas.microsoft.com/office/drawing/2014/main" id="{28812EDE-582F-924B-A05B-7D0295FB7478}"/>
              </a:ext>
            </a:extLst>
          </p:cNvPr>
          <p:cNvSpPr txBox="1"/>
          <p:nvPr/>
        </p:nvSpPr>
        <p:spPr>
          <a:xfrm>
            <a:off x="4752085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9" name="object 23">
            <a:extLst>
              <a:ext uri="{FF2B5EF4-FFF2-40B4-BE49-F238E27FC236}">
                <a16:creationId xmlns:a16="http://schemas.microsoft.com/office/drawing/2014/main" id="{24EE2148-0E52-624F-850A-D601C422714B}"/>
              </a:ext>
            </a:extLst>
          </p:cNvPr>
          <p:cNvSpPr/>
          <p:nvPr/>
        </p:nvSpPr>
        <p:spPr>
          <a:xfrm>
            <a:off x="8204454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4">
            <a:extLst>
              <a:ext uri="{FF2B5EF4-FFF2-40B4-BE49-F238E27FC236}">
                <a16:creationId xmlns:a16="http://schemas.microsoft.com/office/drawing/2014/main" id="{28FE82E7-A197-924E-A243-B08CB4C90757}"/>
              </a:ext>
            </a:extLst>
          </p:cNvPr>
          <p:cNvSpPr txBox="1"/>
          <p:nvPr/>
        </p:nvSpPr>
        <p:spPr>
          <a:xfrm>
            <a:off x="8331707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9BCEDC0-2820-5544-BEFD-3A27A86EDB3B}"/>
              </a:ext>
            </a:extLst>
          </p:cNvPr>
          <p:cNvCxnSpPr>
            <a:cxnSpLocks/>
          </p:cNvCxnSpPr>
          <p:nvPr/>
        </p:nvCxnSpPr>
        <p:spPr>
          <a:xfrm flipH="1">
            <a:off x="3369704" y="3846973"/>
            <a:ext cx="1187005" cy="673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8E2A889-60A6-724D-BCC0-81D455B39183}"/>
              </a:ext>
            </a:extLst>
          </p:cNvPr>
          <p:cNvCxnSpPr/>
          <p:nvPr/>
        </p:nvCxnSpPr>
        <p:spPr>
          <a:xfrm>
            <a:off x="4594415" y="3849411"/>
            <a:ext cx="575500" cy="6506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B7317E1-5CD7-9248-A862-A5AF7741B8F6}"/>
              </a:ext>
            </a:extLst>
          </p:cNvPr>
          <p:cNvCxnSpPr>
            <a:endCxn id="66" idx="0"/>
          </p:cNvCxnSpPr>
          <p:nvPr/>
        </p:nvCxnSpPr>
        <p:spPr>
          <a:xfrm flipH="1">
            <a:off x="6959599" y="3845856"/>
            <a:ext cx="497396" cy="65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0483D7A-C02A-854D-9290-2350FD52DD78}"/>
              </a:ext>
            </a:extLst>
          </p:cNvPr>
          <p:cNvCxnSpPr/>
          <p:nvPr/>
        </p:nvCxnSpPr>
        <p:spPr>
          <a:xfrm>
            <a:off x="7447438" y="3856270"/>
            <a:ext cx="1333278" cy="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CFDAC5C8-F330-1C4C-ADD1-339E7323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886934"/>
            <a:ext cx="10020300" cy="1193800"/>
          </a:xfrm>
          <a:prstGeom prst="rect">
            <a:avLst/>
          </a:prstGeom>
        </p:spPr>
      </p:pic>
      <p:sp>
        <p:nvSpPr>
          <p:cNvPr id="39" name="object 18">
            <a:extLst>
              <a:ext uri="{FF2B5EF4-FFF2-40B4-BE49-F238E27FC236}">
                <a16:creationId xmlns:a16="http://schemas.microsoft.com/office/drawing/2014/main" id="{51007708-65F2-4148-861A-34B10AD37F8E}"/>
              </a:ext>
            </a:extLst>
          </p:cNvPr>
          <p:cNvSpPr txBox="1"/>
          <p:nvPr/>
        </p:nvSpPr>
        <p:spPr>
          <a:xfrm>
            <a:off x="11200383" y="2495529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B18B7DF3-3C21-F343-BCF8-C8D231DD7A2D}"/>
              </a:ext>
            </a:extLst>
          </p:cNvPr>
          <p:cNvSpPr txBox="1"/>
          <p:nvPr/>
        </p:nvSpPr>
        <p:spPr>
          <a:xfrm>
            <a:off x="11200383" y="3529817"/>
            <a:ext cx="20701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F958237-E341-164D-BEA4-B75795876381}"/>
              </a:ext>
            </a:extLst>
          </p:cNvPr>
          <p:cNvSpPr txBox="1"/>
          <p:nvPr/>
        </p:nvSpPr>
        <p:spPr>
          <a:xfrm>
            <a:off x="11200383" y="4502636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3327B771-8D50-4C4C-A29B-AB0E8E0DFC53}"/>
              </a:ext>
            </a:extLst>
          </p:cNvPr>
          <p:cNvSpPr txBox="1"/>
          <p:nvPr/>
        </p:nvSpPr>
        <p:spPr>
          <a:xfrm>
            <a:off x="11200383" y="5542513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FD74AF83-11C8-7E45-A6A9-3A5356830339}"/>
              </a:ext>
            </a:extLst>
          </p:cNvPr>
          <p:cNvCxnSpPr/>
          <p:nvPr/>
        </p:nvCxnSpPr>
        <p:spPr>
          <a:xfrm>
            <a:off x="6959599" y="2681555"/>
            <a:ext cx="387963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A99FD803-292F-5241-938C-46FC0037504D}"/>
              </a:ext>
            </a:extLst>
          </p:cNvPr>
          <p:cNvCxnSpPr>
            <a:cxnSpLocks/>
          </p:cNvCxnSpPr>
          <p:nvPr/>
        </p:nvCxnSpPr>
        <p:spPr>
          <a:xfrm>
            <a:off x="8204454" y="3666162"/>
            <a:ext cx="2874431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25CD4BE7-C9C4-CA42-8F71-98F782B1749C}"/>
              </a:ext>
            </a:extLst>
          </p:cNvPr>
          <p:cNvCxnSpPr>
            <a:cxnSpLocks/>
          </p:cNvCxnSpPr>
          <p:nvPr/>
        </p:nvCxnSpPr>
        <p:spPr>
          <a:xfrm>
            <a:off x="9382129" y="4691866"/>
            <a:ext cx="1686593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EC8A4922-9286-ED4E-A4E6-315F77E443AC}"/>
              </a:ext>
            </a:extLst>
          </p:cNvPr>
          <p:cNvCxnSpPr>
            <a:cxnSpLocks/>
          </p:cNvCxnSpPr>
          <p:nvPr/>
        </p:nvCxnSpPr>
        <p:spPr>
          <a:xfrm>
            <a:off x="10654301" y="5717569"/>
            <a:ext cx="451849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FC19D48C-F2C8-E74A-AE15-7F012E003937}"/>
              </a:ext>
            </a:extLst>
          </p:cNvPr>
          <p:cNvSpPr txBox="1"/>
          <p:nvPr/>
        </p:nvSpPr>
        <p:spPr>
          <a:xfrm>
            <a:off x="9411180" y="2234600"/>
            <a:ext cx="16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b="1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宋体"/>
              </a:rPr>
              <a:t>分析每层代价</a:t>
            </a:r>
            <a:endParaRPr lang="zh-CN" altLang="en-US" sz="1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宋体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2E729DD-EFE9-0D4C-BBD1-EBF8C8A00CDA}"/>
              </a:ext>
            </a:extLst>
          </p:cNvPr>
          <p:cNvSpPr txBox="1"/>
          <p:nvPr/>
        </p:nvSpPr>
        <p:spPr>
          <a:xfrm>
            <a:off x="617544" y="2485813"/>
            <a:ext cx="3939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1800" dirty="0">
                <a:latin typeface="宋体"/>
                <a:cs typeface="宋体"/>
              </a:rPr>
              <a:t>为便于分析，假设</a:t>
            </a:r>
            <a:r>
              <a:rPr lang="zh-CN" altLang="en-US" sz="1800" spc="-10" dirty="0">
                <a:latin typeface="Cambria Math"/>
                <a:cs typeface="Cambria Math"/>
              </a:rPr>
              <a:t>𝒏</a:t>
            </a:r>
            <a:r>
              <a:rPr lang="zh-CN" altLang="en-US" sz="1800" dirty="0">
                <a:latin typeface="宋体"/>
                <a:cs typeface="宋体"/>
              </a:rPr>
              <a:t>是</a:t>
            </a:r>
            <a:r>
              <a:rPr lang="zh-CN" altLang="en-US" sz="1800" dirty="0">
                <a:latin typeface="Cambria Math"/>
                <a:cs typeface="Cambria Math"/>
              </a:rPr>
              <a:t>𝟐</a:t>
            </a:r>
            <a:r>
              <a:rPr lang="zh-CN" altLang="en-US" sz="1800" spc="-25" dirty="0">
                <a:latin typeface="宋体"/>
                <a:cs typeface="宋体"/>
              </a:rPr>
              <a:t>的幂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70" name="object 21">
            <a:extLst>
              <a:ext uri="{FF2B5EF4-FFF2-40B4-BE49-F238E27FC236}">
                <a16:creationId xmlns:a16="http://schemas.microsoft.com/office/drawing/2014/main" id="{CE0E4A67-33A1-2C42-97A6-CF5D3F4E0709}"/>
              </a:ext>
            </a:extLst>
          </p:cNvPr>
          <p:cNvSpPr txBox="1"/>
          <p:nvPr/>
        </p:nvSpPr>
        <p:spPr>
          <a:xfrm>
            <a:off x="1375918" y="2991418"/>
            <a:ext cx="3172460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20"/>
              </a:lnSpc>
              <a:spcBef>
                <a:spcPts val="100"/>
              </a:spcBef>
            </a:pPr>
            <a:r>
              <a:rPr sz="2400" spc="-80" dirty="0" err="1">
                <a:solidFill>
                  <a:srgbClr val="FF0000"/>
                </a:solidFill>
                <a:latin typeface="宋体"/>
                <a:cs typeface="宋体"/>
              </a:rPr>
              <a:t>递归树层数</a:t>
            </a:r>
            <a:r>
              <a:rPr sz="2400" spc="-80" dirty="0">
                <a:solidFill>
                  <a:srgbClr val="FF0000"/>
                </a:solidFill>
                <a:latin typeface="宋体"/>
                <a:cs typeface="宋体"/>
              </a:rPr>
              <a:t>：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400" spc="-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 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 dirty="0">
              <a:solidFill>
                <a:srgbClr val="FF0000"/>
              </a:solidFill>
              <a:latin typeface="Cambria Math"/>
              <a:cs typeface="Cambria Math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5009773-927E-2D4C-B247-224C16838263}"/>
              </a:ext>
            </a:extLst>
          </p:cNvPr>
          <p:cNvSpPr/>
          <p:nvPr/>
        </p:nvSpPr>
        <p:spPr>
          <a:xfrm>
            <a:off x="452063" y="6080734"/>
            <a:ext cx="7993294" cy="722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800" dirty="0">
              <a:latin typeface="宋体"/>
              <a:cs typeface="宋体"/>
            </a:endParaRPr>
          </a:p>
          <a:p>
            <a:pPr algn="ctr"/>
            <a:r>
              <a:rPr lang="zh-CN" altLang="en-US" sz="1800" dirty="0">
                <a:latin typeface="宋体"/>
                <a:cs typeface="宋体"/>
              </a:rPr>
              <a:t>由于树的深度通常由</a:t>
            </a:r>
            <a:r>
              <a:rPr lang="zh-CN" altLang="en-US" sz="1800" dirty="0">
                <a:latin typeface="Cambria Math"/>
                <a:cs typeface="Cambria Math"/>
              </a:rPr>
              <a:t>𝟎</a:t>
            </a:r>
            <a:r>
              <a:rPr lang="zh-CN" altLang="en-US" sz="1800" spc="-10" dirty="0">
                <a:latin typeface="宋体"/>
                <a:cs typeface="宋体"/>
              </a:rPr>
              <a:t>开始计数，故</a:t>
            </a:r>
            <a:r>
              <a:rPr lang="zh-CN" altLang="en-US" sz="1800" spc="70" dirty="0">
                <a:latin typeface="宋体"/>
                <a:cs typeface="宋体"/>
              </a:rPr>
              <a:t>层数</a:t>
            </a:r>
            <a:r>
              <a:rPr lang="en-US" altLang="zh-CN" sz="1800" spc="70" dirty="0">
                <a:latin typeface="宋体"/>
                <a:cs typeface="宋体"/>
              </a:rPr>
              <a:t>=</a:t>
            </a:r>
            <a:r>
              <a:rPr lang="zh-CN" altLang="en-US" sz="1800" spc="70" dirty="0">
                <a:latin typeface="宋体"/>
                <a:cs typeface="宋体"/>
              </a:rPr>
              <a:t>深度</a:t>
            </a:r>
            <a:r>
              <a:rPr lang="en-US" altLang="zh-CN" sz="1800" spc="-10" dirty="0">
                <a:latin typeface="Cambria Math"/>
                <a:cs typeface="Cambria Math"/>
              </a:rPr>
              <a:t>+𝟏</a:t>
            </a:r>
            <a:r>
              <a:rPr lang="zh-CN" altLang="en-US" sz="1800" spc="-15" dirty="0">
                <a:latin typeface="宋体"/>
                <a:cs typeface="宋体"/>
              </a:rPr>
              <a:t>，后续统一用“深度”</a:t>
            </a:r>
            <a:endParaRPr lang="zh-CN" altLang="en-US" sz="1800" dirty="0">
              <a:latin typeface="宋体"/>
              <a:cs typeface="宋体"/>
            </a:endParaRPr>
          </a:p>
          <a:p>
            <a:pPr algn="ctr"/>
            <a:endParaRPr kumimoji="1" lang="zh-CN" altLang="en-US" dirty="0"/>
          </a:p>
        </p:txBody>
      </p:sp>
      <p:sp>
        <p:nvSpPr>
          <p:cNvPr id="72" name="object 26">
            <a:extLst>
              <a:ext uri="{FF2B5EF4-FFF2-40B4-BE49-F238E27FC236}">
                <a16:creationId xmlns:a16="http://schemas.microsoft.com/office/drawing/2014/main" id="{3473AE88-1554-2041-A07B-A5F1C522B3F1}"/>
              </a:ext>
            </a:extLst>
          </p:cNvPr>
          <p:cNvSpPr txBox="1"/>
          <p:nvPr/>
        </p:nvSpPr>
        <p:spPr>
          <a:xfrm>
            <a:off x="1145371" y="3868015"/>
            <a:ext cx="1294130" cy="6718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spc="-20" dirty="0" err="1">
                <a:solidFill>
                  <a:srgbClr val="FF0000"/>
                </a:solidFill>
                <a:latin typeface="宋体"/>
                <a:cs typeface="宋体"/>
              </a:rPr>
              <a:t>递归树深</a:t>
            </a:r>
            <a:r>
              <a:rPr sz="2000" spc="-50" dirty="0" err="1">
                <a:solidFill>
                  <a:srgbClr val="FF0000"/>
                </a:solidFill>
                <a:latin typeface="宋体"/>
                <a:cs typeface="宋体"/>
              </a:rPr>
              <a:t>度</a:t>
            </a:r>
            <a:endParaRPr sz="2000" dirty="0">
              <a:latin typeface="宋体"/>
              <a:cs typeface="宋体"/>
            </a:endParaRPr>
          </a:p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73" name="object 19">
            <a:extLst>
              <a:ext uri="{FF2B5EF4-FFF2-40B4-BE49-F238E27FC236}">
                <a16:creationId xmlns:a16="http://schemas.microsoft.com/office/drawing/2014/main" id="{186EE374-79F6-0C4E-B8F0-856194986C95}"/>
              </a:ext>
            </a:extLst>
          </p:cNvPr>
          <p:cNvSpPr/>
          <p:nvPr/>
        </p:nvSpPr>
        <p:spPr>
          <a:xfrm>
            <a:off x="912136" y="2516389"/>
            <a:ext cx="218440" cy="3240405"/>
          </a:xfrm>
          <a:custGeom>
            <a:avLst/>
            <a:gdLst/>
            <a:ahLst/>
            <a:cxnLst/>
            <a:rect l="l" t="t" r="r" b="b"/>
            <a:pathLst>
              <a:path w="218439" h="3240404">
                <a:moveTo>
                  <a:pt x="217931" y="0"/>
                </a:moveTo>
                <a:lnTo>
                  <a:pt x="175510" y="1426"/>
                </a:lnTo>
                <a:lnTo>
                  <a:pt x="140874" y="5318"/>
                </a:lnTo>
                <a:lnTo>
                  <a:pt x="117526" y="11090"/>
                </a:lnTo>
                <a:lnTo>
                  <a:pt x="108965" y="18161"/>
                </a:lnTo>
                <a:lnTo>
                  <a:pt x="108965" y="1601851"/>
                </a:lnTo>
                <a:lnTo>
                  <a:pt x="100405" y="1608921"/>
                </a:lnTo>
                <a:lnTo>
                  <a:pt x="77057" y="1614693"/>
                </a:lnTo>
                <a:lnTo>
                  <a:pt x="42421" y="1618585"/>
                </a:lnTo>
                <a:lnTo>
                  <a:pt x="0" y="1620012"/>
                </a:lnTo>
                <a:lnTo>
                  <a:pt x="42421" y="1621438"/>
                </a:lnTo>
                <a:lnTo>
                  <a:pt x="77057" y="1625330"/>
                </a:lnTo>
                <a:lnTo>
                  <a:pt x="100405" y="1631102"/>
                </a:lnTo>
                <a:lnTo>
                  <a:pt x="108965" y="1638173"/>
                </a:lnTo>
                <a:lnTo>
                  <a:pt x="108965" y="3221863"/>
                </a:lnTo>
                <a:lnTo>
                  <a:pt x="117526" y="3228933"/>
                </a:lnTo>
                <a:lnTo>
                  <a:pt x="140874" y="3234705"/>
                </a:lnTo>
                <a:lnTo>
                  <a:pt x="175510" y="3238597"/>
                </a:lnTo>
                <a:lnTo>
                  <a:pt x="217931" y="32400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34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68" grpId="0"/>
      <p:bldP spid="69" grpId="0"/>
      <p:bldP spid="70" grpId="0"/>
      <p:bldP spid="25" grpId="0" animBg="1"/>
      <p:bldP spid="72" grpId="0"/>
      <p:bldP spid="73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47466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47466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41751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47109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52025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62618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713564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E1C776DC-4A6F-7447-AA03-7E485EBBAFFF}"/>
              </a:ext>
            </a:extLst>
          </p:cNvPr>
          <p:cNvSpPr txBox="1"/>
          <p:nvPr/>
        </p:nvSpPr>
        <p:spPr>
          <a:xfrm>
            <a:off x="749985" y="1033474"/>
            <a:ext cx="6061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宋体"/>
                <a:cs typeface="宋体"/>
              </a:rPr>
              <a:t>递归树法：用树的形式表示抽象递归</a:t>
            </a:r>
            <a:endParaRPr sz="2800" dirty="0">
              <a:latin typeface="宋体"/>
              <a:cs typeface="宋体"/>
            </a:endParaRPr>
          </a:p>
        </p:txBody>
      </p:sp>
      <p:grpSp>
        <p:nvGrpSpPr>
          <p:cNvPr id="47" name="object 4">
            <a:extLst>
              <a:ext uri="{FF2B5EF4-FFF2-40B4-BE49-F238E27FC236}">
                <a16:creationId xmlns:a16="http://schemas.microsoft.com/office/drawing/2014/main" id="{6946D2BE-6DB5-554D-980D-851DEC89D7A7}"/>
              </a:ext>
            </a:extLst>
          </p:cNvPr>
          <p:cNvGrpSpPr/>
          <p:nvPr/>
        </p:nvGrpSpPr>
        <p:grpSpPr>
          <a:xfrm>
            <a:off x="5500878" y="2466763"/>
            <a:ext cx="1190625" cy="398145"/>
            <a:chOff x="5500878" y="1994154"/>
            <a:chExt cx="1190625" cy="398145"/>
          </a:xfrm>
        </p:grpSpPr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83FD5685-576B-2B44-AE11-03B68C5A7E21}"/>
                </a:ext>
              </a:extLst>
            </p:cNvPr>
            <p:cNvSpPr/>
            <p:nvPr/>
          </p:nvSpPr>
          <p:spPr>
            <a:xfrm>
              <a:off x="5519928" y="2013204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5A32AF93-2428-4A49-BCC2-D05101CE9CDE}"/>
                </a:ext>
              </a:extLst>
            </p:cNvPr>
            <p:cNvSpPr/>
            <p:nvPr/>
          </p:nvSpPr>
          <p:spPr>
            <a:xfrm>
              <a:off x="5991733" y="2096135"/>
              <a:ext cx="330835" cy="235585"/>
            </a:xfrm>
            <a:custGeom>
              <a:avLst/>
              <a:gdLst/>
              <a:ahLst/>
              <a:cxnLst/>
              <a:rect l="l" t="t" r="r" b="b"/>
              <a:pathLst>
                <a:path w="330835" h="235585">
                  <a:moveTo>
                    <a:pt x="255524" y="0"/>
                  </a:moveTo>
                  <a:lnTo>
                    <a:pt x="252094" y="9651"/>
                  </a:lnTo>
                  <a:lnTo>
                    <a:pt x="265715" y="15537"/>
                  </a:lnTo>
                  <a:lnTo>
                    <a:pt x="277431" y="23685"/>
                  </a:lnTo>
                  <a:lnTo>
                    <a:pt x="301222" y="61577"/>
                  </a:lnTo>
                  <a:lnTo>
                    <a:pt x="308990" y="116459"/>
                  </a:lnTo>
                  <a:lnTo>
                    <a:pt x="308129" y="137148"/>
                  </a:lnTo>
                  <a:lnTo>
                    <a:pt x="295020" y="187832"/>
                  </a:lnTo>
                  <a:lnTo>
                    <a:pt x="265856" y="219622"/>
                  </a:lnTo>
                  <a:lnTo>
                    <a:pt x="252475" y="225551"/>
                  </a:lnTo>
                  <a:lnTo>
                    <a:pt x="255524" y="235076"/>
                  </a:lnTo>
                  <a:lnTo>
                    <a:pt x="300386" y="208412"/>
                  </a:lnTo>
                  <a:lnTo>
                    <a:pt x="325612" y="159162"/>
                  </a:lnTo>
                  <a:lnTo>
                    <a:pt x="330453" y="117601"/>
                  </a:lnTo>
                  <a:lnTo>
                    <a:pt x="329239" y="96103"/>
                  </a:lnTo>
                  <a:lnTo>
                    <a:pt x="319524" y="57915"/>
                  </a:lnTo>
                  <a:lnTo>
                    <a:pt x="287464" y="15160"/>
                  </a:lnTo>
                  <a:lnTo>
                    <a:pt x="272553" y="6217"/>
                  </a:lnTo>
                  <a:lnTo>
                    <a:pt x="255524" y="0"/>
                  </a:lnTo>
                  <a:close/>
                </a:path>
                <a:path w="33083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1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29" y="235076"/>
                  </a:lnTo>
                  <a:lnTo>
                    <a:pt x="77850" y="225551"/>
                  </a:lnTo>
                  <a:lnTo>
                    <a:pt x="64488" y="219622"/>
                  </a:lnTo>
                  <a:lnTo>
                    <a:pt x="52958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1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7">
            <a:extLst>
              <a:ext uri="{FF2B5EF4-FFF2-40B4-BE49-F238E27FC236}">
                <a16:creationId xmlns:a16="http://schemas.microsoft.com/office/drawing/2014/main" id="{1C2BAD00-0A0D-4848-9F9E-9A647E498879}"/>
              </a:ext>
            </a:extLst>
          </p:cNvPr>
          <p:cNvSpPr txBox="1"/>
          <p:nvPr/>
        </p:nvSpPr>
        <p:spPr>
          <a:xfrm>
            <a:off x="5771134" y="2492163"/>
            <a:ext cx="4806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1" name="object 8">
            <a:extLst>
              <a:ext uri="{FF2B5EF4-FFF2-40B4-BE49-F238E27FC236}">
                <a16:creationId xmlns:a16="http://schemas.microsoft.com/office/drawing/2014/main" id="{1E5B6A2E-4D5E-B341-B583-C450D415561C}"/>
              </a:ext>
            </a:extLst>
          </p:cNvPr>
          <p:cNvGrpSpPr/>
          <p:nvPr/>
        </p:nvGrpSpPr>
        <p:grpSpPr>
          <a:xfrm>
            <a:off x="4056126" y="2828078"/>
            <a:ext cx="3484879" cy="1040130"/>
            <a:chOff x="4056126" y="2355469"/>
            <a:chExt cx="3484879" cy="1040130"/>
          </a:xfrm>
        </p:grpSpPr>
        <p:sp>
          <p:nvSpPr>
            <p:cNvPr id="52" name="object 9">
              <a:extLst>
                <a:ext uri="{FF2B5EF4-FFF2-40B4-BE49-F238E27FC236}">
                  <a16:creationId xmlns:a16="http://schemas.microsoft.com/office/drawing/2014/main" id="{4DCC13BF-E93D-3046-B26F-781933ECAD65}"/>
                </a:ext>
              </a:extLst>
            </p:cNvPr>
            <p:cNvSpPr/>
            <p:nvPr/>
          </p:nvSpPr>
          <p:spPr>
            <a:xfrm>
              <a:off x="4651248" y="23554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0">
              <a:extLst>
                <a:ext uri="{FF2B5EF4-FFF2-40B4-BE49-F238E27FC236}">
                  <a16:creationId xmlns:a16="http://schemas.microsoft.com/office/drawing/2014/main" id="{0A9DFC86-3349-B745-AF96-3B504C373FC9}"/>
                </a:ext>
              </a:extLst>
            </p:cNvPr>
            <p:cNvSpPr/>
            <p:nvPr/>
          </p:nvSpPr>
          <p:spPr>
            <a:xfrm>
              <a:off x="4075176" y="30167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1">
              <a:extLst>
                <a:ext uri="{FF2B5EF4-FFF2-40B4-BE49-F238E27FC236}">
                  <a16:creationId xmlns:a16="http://schemas.microsoft.com/office/drawing/2014/main" id="{AED588E6-5279-7B48-B0FD-A11F018180A7}"/>
                </a:ext>
              </a:extLst>
            </p:cNvPr>
            <p:cNvSpPr/>
            <p:nvPr/>
          </p:nvSpPr>
          <p:spPr>
            <a:xfrm>
              <a:off x="4408805" y="3099943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8" y="0"/>
                  </a:moveTo>
                  <a:lnTo>
                    <a:pt x="527939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5" y="116459"/>
                  </a:lnTo>
                  <a:lnTo>
                    <a:pt x="583973" y="137148"/>
                  </a:lnTo>
                  <a:lnTo>
                    <a:pt x="570865" y="187833"/>
                  </a:lnTo>
                  <a:lnTo>
                    <a:pt x="541700" y="219622"/>
                  </a:lnTo>
                  <a:lnTo>
                    <a:pt x="528320" y="225552"/>
                  </a:lnTo>
                  <a:lnTo>
                    <a:pt x="531368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8" y="0"/>
                  </a:lnTo>
                  <a:close/>
                </a:path>
                <a:path w="606425" h="235585">
                  <a:moveTo>
                    <a:pt x="74930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925" y="220043"/>
                  </a:lnTo>
                  <a:lnTo>
                    <a:pt x="74930" y="235077"/>
                  </a:lnTo>
                  <a:lnTo>
                    <a:pt x="77978" y="225552"/>
                  </a:lnTo>
                  <a:lnTo>
                    <a:pt x="64541" y="219622"/>
                  </a:lnTo>
                  <a:lnTo>
                    <a:pt x="52974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6" y="46862"/>
                  </a:lnTo>
                  <a:lnTo>
                    <a:pt x="64702" y="15537"/>
                  </a:lnTo>
                  <a:lnTo>
                    <a:pt x="78232" y="9652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12">
            <a:extLst>
              <a:ext uri="{FF2B5EF4-FFF2-40B4-BE49-F238E27FC236}">
                <a16:creationId xmlns:a16="http://schemas.microsoft.com/office/drawing/2014/main" id="{E46BD768-1419-7F45-8C74-20639B288355}"/>
              </a:ext>
            </a:extLst>
          </p:cNvPr>
          <p:cNvSpPr txBox="1"/>
          <p:nvPr/>
        </p:nvSpPr>
        <p:spPr>
          <a:xfrm>
            <a:off x="4188205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9" name="object 13">
            <a:extLst>
              <a:ext uri="{FF2B5EF4-FFF2-40B4-BE49-F238E27FC236}">
                <a16:creationId xmlns:a16="http://schemas.microsoft.com/office/drawing/2014/main" id="{46A75C0C-43B7-7543-A06F-456930200A40}"/>
              </a:ext>
            </a:extLst>
          </p:cNvPr>
          <p:cNvGrpSpPr/>
          <p:nvPr/>
        </p:nvGrpSpPr>
        <p:grpSpPr>
          <a:xfrm>
            <a:off x="6945630" y="3470316"/>
            <a:ext cx="1190625" cy="398145"/>
            <a:chOff x="6945630" y="2997707"/>
            <a:chExt cx="1190625" cy="398145"/>
          </a:xfrm>
        </p:grpSpPr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B095FF37-7B98-504A-960D-62E656BC18E0}"/>
                </a:ext>
              </a:extLst>
            </p:cNvPr>
            <p:cNvSpPr/>
            <p:nvPr/>
          </p:nvSpPr>
          <p:spPr>
            <a:xfrm>
              <a:off x="6964680" y="301675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3"/>
                  </a:lnTo>
                  <a:lnTo>
                    <a:pt x="1152144" y="299719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5">
              <a:extLst>
                <a:ext uri="{FF2B5EF4-FFF2-40B4-BE49-F238E27FC236}">
                  <a16:creationId xmlns:a16="http://schemas.microsoft.com/office/drawing/2014/main" id="{62E9446F-5ED0-A242-B959-27A412978AE8}"/>
                </a:ext>
              </a:extLst>
            </p:cNvPr>
            <p:cNvSpPr/>
            <p:nvPr/>
          </p:nvSpPr>
          <p:spPr>
            <a:xfrm>
              <a:off x="7298817" y="3099942"/>
              <a:ext cx="606425" cy="235585"/>
            </a:xfrm>
            <a:custGeom>
              <a:avLst/>
              <a:gdLst/>
              <a:ahLst/>
              <a:cxnLst/>
              <a:rect l="l" t="t" r="r" b="b"/>
              <a:pathLst>
                <a:path w="606425" h="235585">
                  <a:moveTo>
                    <a:pt x="531367" y="0"/>
                  </a:moveTo>
                  <a:lnTo>
                    <a:pt x="527938" y="9652"/>
                  </a:lnTo>
                  <a:lnTo>
                    <a:pt x="541559" y="15537"/>
                  </a:lnTo>
                  <a:lnTo>
                    <a:pt x="553275" y="23685"/>
                  </a:lnTo>
                  <a:lnTo>
                    <a:pt x="577066" y="61577"/>
                  </a:lnTo>
                  <a:lnTo>
                    <a:pt x="584834" y="116459"/>
                  </a:lnTo>
                  <a:lnTo>
                    <a:pt x="583973" y="137148"/>
                  </a:lnTo>
                  <a:lnTo>
                    <a:pt x="570864" y="187833"/>
                  </a:lnTo>
                  <a:lnTo>
                    <a:pt x="541700" y="219622"/>
                  </a:lnTo>
                  <a:lnTo>
                    <a:pt x="528319" y="225552"/>
                  </a:lnTo>
                  <a:lnTo>
                    <a:pt x="531367" y="235077"/>
                  </a:lnTo>
                  <a:lnTo>
                    <a:pt x="576230" y="208412"/>
                  </a:lnTo>
                  <a:lnTo>
                    <a:pt x="601456" y="159162"/>
                  </a:lnTo>
                  <a:lnTo>
                    <a:pt x="606298" y="117602"/>
                  </a:lnTo>
                  <a:lnTo>
                    <a:pt x="605083" y="96103"/>
                  </a:lnTo>
                  <a:lnTo>
                    <a:pt x="595368" y="57915"/>
                  </a:lnTo>
                  <a:lnTo>
                    <a:pt x="563308" y="15160"/>
                  </a:lnTo>
                  <a:lnTo>
                    <a:pt x="548397" y="6217"/>
                  </a:lnTo>
                  <a:lnTo>
                    <a:pt x="531367" y="0"/>
                  </a:lnTo>
                  <a:close/>
                </a:path>
                <a:path w="606425" h="235585">
                  <a:moveTo>
                    <a:pt x="74929" y="0"/>
                  </a:moveTo>
                  <a:lnTo>
                    <a:pt x="30120" y="26842"/>
                  </a:lnTo>
                  <a:lnTo>
                    <a:pt x="4857" y="76200"/>
                  </a:lnTo>
                  <a:lnTo>
                    <a:pt x="0" y="117602"/>
                  </a:lnTo>
                  <a:lnTo>
                    <a:pt x="1212" y="139227"/>
                  </a:lnTo>
                  <a:lnTo>
                    <a:pt x="10876" y="177430"/>
                  </a:lnTo>
                  <a:lnTo>
                    <a:pt x="42878" y="220043"/>
                  </a:lnTo>
                  <a:lnTo>
                    <a:pt x="74929" y="235077"/>
                  </a:lnTo>
                  <a:lnTo>
                    <a:pt x="77850" y="225552"/>
                  </a:lnTo>
                  <a:lnTo>
                    <a:pt x="64488" y="219622"/>
                  </a:lnTo>
                  <a:lnTo>
                    <a:pt x="52959" y="211359"/>
                  </a:lnTo>
                  <a:lnTo>
                    <a:pt x="29231" y="172858"/>
                  </a:lnTo>
                  <a:lnTo>
                    <a:pt x="21462" y="116459"/>
                  </a:lnTo>
                  <a:lnTo>
                    <a:pt x="22322" y="96387"/>
                  </a:lnTo>
                  <a:lnTo>
                    <a:pt x="35305" y="46862"/>
                  </a:lnTo>
                  <a:lnTo>
                    <a:pt x="64702" y="15537"/>
                  </a:lnTo>
                  <a:lnTo>
                    <a:pt x="78231" y="9652"/>
                  </a:lnTo>
                  <a:lnTo>
                    <a:pt x="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16">
            <a:extLst>
              <a:ext uri="{FF2B5EF4-FFF2-40B4-BE49-F238E27FC236}">
                <a16:creationId xmlns:a16="http://schemas.microsoft.com/office/drawing/2014/main" id="{86C630AE-F14A-6248-82FE-572616B2E872}"/>
              </a:ext>
            </a:extLst>
          </p:cNvPr>
          <p:cNvSpPr txBox="1"/>
          <p:nvPr/>
        </p:nvSpPr>
        <p:spPr>
          <a:xfrm>
            <a:off x="7078218" y="3496225"/>
            <a:ext cx="757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𝑶</a:t>
            </a:r>
            <a:r>
              <a:rPr sz="2000" spc="37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C9B8EAEC-C6DB-B14E-8E4E-AB9F48BDC012}"/>
              </a:ext>
            </a:extLst>
          </p:cNvPr>
          <p:cNvSpPr/>
          <p:nvPr/>
        </p:nvSpPr>
        <p:spPr>
          <a:xfrm>
            <a:off x="2835401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8">
            <a:extLst>
              <a:ext uri="{FF2B5EF4-FFF2-40B4-BE49-F238E27FC236}">
                <a16:creationId xmlns:a16="http://schemas.microsoft.com/office/drawing/2014/main" id="{9CB3D66A-82F6-9342-9D22-32B830100B02}"/>
              </a:ext>
            </a:extLst>
          </p:cNvPr>
          <p:cNvSpPr txBox="1"/>
          <p:nvPr/>
        </p:nvSpPr>
        <p:spPr>
          <a:xfrm>
            <a:off x="2962148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5" name="object 19">
            <a:extLst>
              <a:ext uri="{FF2B5EF4-FFF2-40B4-BE49-F238E27FC236}">
                <a16:creationId xmlns:a16="http://schemas.microsoft.com/office/drawing/2014/main" id="{DFBA8789-797B-F44E-863E-55104BB9E8C9}"/>
              </a:ext>
            </a:extLst>
          </p:cNvPr>
          <p:cNvSpPr/>
          <p:nvPr/>
        </p:nvSpPr>
        <p:spPr>
          <a:xfrm>
            <a:off x="6414515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0">
            <a:extLst>
              <a:ext uri="{FF2B5EF4-FFF2-40B4-BE49-F238E27FC236}">
                <a16:creationId xmlns:a16="http://schemas.microsoft.com/office/drawing/2014/main" id="{A28CE115-625B-2A49-B214-37ABDCC5B2EB}"/>
              </a:ext>
            </a:extLst>
          </p:cNvPr>
          <p:cNvSpPr txBox="1"/>
          <p:nvPr/>
        </p:nvSpPr>
        <p:spPr>
          <a:xfrm>
            <a:off x="6541769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B2387F4A-DF7A-A942-B3C8-D98D81A6ABB0}"/>
              </a:ext>
            </a:extLst>
          </p:cNvPr>
          <p:cNvSpPr/>
          <p:nvPr/>
        </p:nvSpPr>
        <p:spPr>
          <a:xfrm>
            <a:off x="4625340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22">
            <a:extLst>
              <a:ext uri="{FF2B5EF4-FFF2-40B4-BE49-F238E27FC236}">
                <a16:creationId xmlns:a16="http://schemas.microsoft.com/office/drawing/2014/main" id="{28812EDE-582F-924B-A05B-7D0295FB7478}"/>
              </a:ext>
            </a:extLst>
          </p:cNvPr>
          <p:cNvSpPr txBox="1"/>
          <p:nvPr/>
        </p:nvSpPr>
        <p:spPr>
          <a:xfrm>
            <a:off x="4752085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9" name="object 23">
            <a:extLst>
              <a:ext uri="{FF2B5EF4-FFF2-40B4-BE49-F238E27FC236}">
                <a16:creationId xmlns:a16="http://schemas.microsoft.com/office/drawing/2014/main" id="{24EE2148-0E52-624F-850A-D601C422714B}"/>
              </a:ext>
            </a:extLst>
          </p:cNvPr>
          <p:cNvSpPr/>
          <p:nvPr/>
        </p:nvSpPr>
        <p:spPr>
          <a:xfrm>
            <a:off x="8204454" y="4492920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5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5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4">
            <a:extLst>
              <a:ext uri="{FF2B5EF4-FFF2-40B4-BE49-F238E27FC236}">
                <a16:creationId xmlns:a16="http://schemas.microsoft.com/office/drawing/2014/main" id="{28FE82E7-A197-924E-A243-B08CB4C90757}"/>
              </a:ext>
            </a:extLst>
          </p:cNvPr>
          <p:cNvSpPr txBox="1"/>
          <p:nvPr/>
        </p:nvSpPr>
        <p:spPr>
          <a:xfrm>
            <a:off x="8331707" y="4500032"/>
            <a:ext cx="8356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>
                <a:latin typeface="Cambria Math"/>
                <a:cs typeface="Cambria Math"/>
              </a:rPr>
              <a:t>𝑻(𝒏/𝟒)</a:t>
            </a:r>
            <a:endParaRPr sz="2000">
              <a:latin typeface="Cambria Math"/>
              <a:cs typeface="Cambria Math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9BCEDC0-2820-5544-BEFD-3A27A86EDB3B}"/>
              </a:ext>
            </a:extLst>
          </p:cNvPr>
          <p:cNvCxnSpPr>
            <a:cxnSpLocks/>
          </p:cNvCxnSpPr>
          <p:nvPr/>
        </p:nvCxnSpPr>
        <p:spPr>
          <a:xfrm flipH="1">
            <a:off x="3369704" y="3846973"/>
            <a:ext cx="1187005" cy="673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8E2A889-60A6-724D-BCC0-81D455B39183}"/>
              </a:ext>
            </a:extLst>
          </p:cNvPr>
          <p:cNvCxnSpPr/>
          <p:nvPr/>
        </p:nvCxnSpPr>
        <p:spPr>
          <a:xfrm>
            <a:off x="4594415" y="3849411"/>
            <a:ext cx="575500" cy="6506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B7317E1-5CD7-9248-A862-A5AF7741B8F6}"/>
              </a:ext>
            </a:extLst>
          </p:cNvPr>
          <p:cNvCxnSpPr>
            <a:endCxn id="66" idx="0"/>
          </p:cNvCxnSpPr>
          <p:nvPr/>
        </p:nvCxnSpPr>
        <p:spPr>
          <a:xfrm flipH="1">
            <a:off x="6959599" y="3845856"/>
            <a:ext cx="497396" cy="6541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0483D7A-C02A-854D-9290-2350FD52DD78}"/>
              </a:ext>
            </a:extLst>
          </p:cNvPr>
          <p:cNvCxnSpPr/>
          <p:nvPr/>
        </p:nvCxnSpPr>
        <p:spPr>
          <a:xfrm>
            <a:off x="7447438" y="3856270"/>
            <a:ext cx="1333278" cy="636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CFDAC5C8-F330-1C4C-ADD1-339E7323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886934"/>
            <a:ext cx="10020300" cy="1193800"/>
          </a:xfrm>
          <a:prstGeom prst="rect">
            <a:avLst/>
          </a:prstGeom>
        </p:spPr>
      </p:pic>
      <p:sp>
        <p:nvSpPr>
          <p:cNvPr id="39" name="object 18">
            <a:extLst>
              <a:ext uri="{FF2B5EF4-FFF2-40B4-BE49-F238E27FC236}">
                <a16:creationId xmlns:a16="http://schemas.microsoft.com/office/drawing/2014/main" id="{51007708-65F2-4148-861A-34B10AD37F8E}"/>
              </a:ext>
            </a:extLst>
          </p:cNvPr>
          <p:cNvSpPr txBox="1"/>
          <p:nvPr/>
        </p:nvSpPr>
        <p:spPr>
          <a:xfrm>
            <a:off x="11200383" y="2495529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B18B7DF3-3C21-F343-BCF8-C8D231DD7A2D}"/>
              </a:ext>
            </a:extLst>
          </p:cNvPr>
          <p:cNvSpPr txBox="1"/>
          <p:nvPr/>
        </p:nvSpPr>
        <p:spPr>
          <a:xfrm>
            <a:off x="11200383" y="3529817"/>
            <a:ext cx="20701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F958237-E341-164D-BEA4-B75795876381}"/>
              </a:ext>
            </a:extLst>
          </p:cNvPr>
          <p:cNvSpPr txBox="1"/>
          <p:nvPr/>
        </p:nvSpPr>
        <p:spPr>
          <a:xfrm>
            <a:off x="11200383" y="4502636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3327B771-8D50-4C4C-A29B-AB0E8E0DFC53}"/>
              </a:ext>
            </a:extLst>
          </p:cNvPr>
          <p:cNvSpPr txBox="1"/>
          <p:nvPr/>
        </p:nvSpPr>
        <p:spPr>
          <a:xfrm>
            <a:off x="11200383" y="5542513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FD74AF83-11C8-7E45-A6A9-3A5356830339}"/>
              </a:ext>
            </a:extLst>
          </p:cNvPr>
          <p:cNvCxnSpPr/>
          <p:nvPr/>
        </p:nvCxnSpPr>
        <p:spPr>
          <a:xfrm>
            <a:off x="6959599" y="2681555"/>
            <a:ext cx="387963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A99FD803-292F-5241-938C-46FC0037504D}"/>
              </a:ext>
            </a:extLst>
          </p:cNvPr>
          <p:cNvCxnSpPr>
            <a:cxnSpLocks/>
          </p:cNvCxnSpPr>
          <p:nvPr/>
        </p:nvCxnSpPr>
        <p:spPr>
          <a:xfrm>
            <a:off x="8204454" y="3666162"/>
            <a:ext cx="2874431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25CD4BE7-C9C4-CA42-8F71-98F782B1749C}"/>
              </a:ext>
            </a:extLst>
          </p:cNvPr>
          <p:cNvCxnSpPr>
            <a:cxnSpLocks/>
          </p:cNvCxnSpPr>
          <p:nvPr/>
        </p:nvCxnSpPr>
        <p:spPr>
          <a:xfrm>
            <a:off x="9382129" y="4691866"/>
            <a:ext cx="1686593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EC8A4922-9286-ED4E-A4E6-315F77E443AC}"/>
              </a:ext>
            </a:extLst>
          </p:cNvPr>
          <p:cNvCxnSpPr>
            <a:cxnSpLocks/>
          </p:cNvCxnSpPr>
          <p:nvPr/>
        </p:nvCxnSpPr>
        <p:spPr>
          <a:xfrm>
            <a:off x="10654301" y="5717569"/>
            <a:ext cx="451849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bject 26">
            <a:extLst>
              <a:ext uri="{FF2B5EF4-FFF2-40B4-BE49-F238E27FC236}">
                <a16:creationId xmlns:a16="http://schemas.microsoft.com/office/drawing/2014/main" id="{3473AE88-1554-2041-A07B-A5F1C522B3F1}"/>
              </a:ext>
            </a:extLst>
          </p:cNvPr>
          <p:cNvSpPr txBox="1"/>
          <p:nvPr/>
        </p:nvSpPr>
        <p:spPr>
          <a:xfrm>
            <a:off x="1145371" y="3868015"/>
            <a:ext cx="1294130" cy="6718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spc="-20" dirty="0" err="1">
                <a:solidFill>
                  <a:srgbClr val="FF0000"/>
                </a:solidFill>
                <a:latin typeface="宋体"/>
                <a:cs typeface="宋体"/>
              </a:rPr>
              <a:t>递归树深</a:t>
            </a:r>
            <a:r>
              <a:rPr sz="2000" spc="-50" dirty="0" err="1">
                <a:solidFill>
                  <a:srgbClr val="FF0000"/>
                </a:solidFill>
                <a:latin typeface="宋体"/>
                <a:cs typeface="宋体"/>
              </a:rPr>
              <a:t>度</a:t>
            </a:r>
            <a:endParaRPr sz="2000" dirty="0">
              <a:latin typeface="宋体"/>
              <a:cs typeface="宋体"/>
            </a:endParaRPr>
          </a:p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73" name="object 19">
            <a:extLst>
              <a:ext uri="{FF2B5EF4-FFF2-40B4-BE49-F238E27FC236}">
                <a16:creationId xmlns:a16="http://schemas.microsoft.com/office/drawing/2014/main" id="{186EE374-79F6-0C4E-B8F0-856194986C95}"/>
              </a:ext>
            </a:extLst>
          </p:cNvPr>
          <p:cNvSpPr/>
          <p:nvPr/>
        </p:nvSpPr>
        <p:spPr>
          <a:xfrm>
            <a:off x="912136" y="2516389"/>
            <a:ext cx="218440" cy="3240405"/>
          </a:xfrm>
          <a:custGeom>
            <a:avLst/>
            <a:gdLst/>
            <a:ahLst/>
            <a:cxnLst/>
            <a:rect l="l" t="t" r="r" b="b"/>
            <a:pathLst>
              <a:path w="218439" h="3240404">
                <a:moveTo>
                  <a:pt x="217931" y="0"/>
                </a:moveTo>
                <a:lnTo>
                  <a:pt x="175510" y="1426"/>
                </a:lnTo>
                <a:lnTo>
                  <a:pt x="140874" y="5318"/>
                </a:lnTo>
                <a:lnTo>
                  <a:pt x="117526" y="11090"/>
                </a:lnTo>
                <a:lnTo>
                  <a:pt x="108965" y="18161"/>
                </a:lnTo>
                <a:lnTo>
                  <a:pt x="108965" y="1601851"/>
                </a:lnTo>
                <a:lnTo>
                  <a:pt x="100405" y="1608921"/>
                </a:lnTo>
                <a:lnTo>
                  <a:pt x="77057" y="1614693"/>
                </a:lnTo>
                <a:lnTo>
                  <a:pt x="42421" y="1618585"/>
                </a:lnTo>
                <a:lnTo>
                  <a:pt x="0" y="1620012"/>
                </a:lnTo>
                <a:lnTo>
                  <a:pt x="42421" y="1621438"/>
                </a:lnTo>
                <a:lnTo>
                  <a:pt x="77057" y="1625330"/>
                </a:lnTo>
                <a:lnTo>
                  <a:pt x="100405" y="1631102"/>
                </a:lnTo>
                <a:lnTo>
                  <a:pt x="108965" y="1638173"/>
                </a:lnTo>
                <a:lnTo>
                  <a:pt x="108965" y="3221863"/>
                </a:lnTo>
                <a:lnTo>
                  <a:pt x="117526" y="3228933"/>
                </a:lnTo>
                <a:lnTo>
                  <a:pt x="140874" y="3234705"/>
                </a:lnTo>
                <a:lnTo>
                  <a:pt x="175510" y="3238597"/>
                </a:lnTo>
                <a:lnTo>
                  <a:pt x="217931" y="32400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17">
            <a:extLst>
              <a:ext uri="{FF2B5EF4-FFF2-40B4-BE49-F238E27FC236}">
                <a16:creationId xmlns:a16="http://schemas.microsoft.com/office/drawing/2014/main" id="{8682B7FD-F793-5A4F-87FA-8201D6F31B0D}"/>
              </a:ext>
            </a:extLst>
          </p:cNvPr>
          <p:cNvSpPr/>
          <p:nvPr/>
        </p:nvSpPr>
        <p:spPr>
          <a:xfrm>
            <a:off x="3227556" y="6084200"/>
            <a:ext cx="330835" cy="235585"/>
          </a:xfrm>
          <a:custGeom>
            <a:avLst/>
            <a:gdLst/>
            <a:ahLst/>
            <a:cxnLst/>
            <a:rect l="l" t="t" r="r" b="b"/>
            <a:pathLst>
              <a:path w="330835" h="235585">
                <a:moveTo>
                  <a:pt x="255524" y="0"/>
                </a:moveTo>
                <a:lnTo>
                  <a:pt x="252222" y="9537"/>
                </a:lnTo>
                <a:lnTo>
                  <a:pt x="265822" y="15443"/>
                </a:lnTo>
                <a:lnTo>
                  <a:pt x="277494" y="23617"/>
                </a:lnTo>
                <a:lnTo>
                  <a:pt x="301242" y="61502"/>
                </a:lnTo>
                <a:lnTo>
                  <a:pt x="309118" y="116344"/>
                </a:lnTo>
                <a:lnTo>
                  <a:pt x="308238" y="137071"/>
                </a:lnTo>
                <a:lnTo>
                  <a:pt x="295148" y="187832"/>
                </a:lnTo>
                <a:lnTo>
                  <a:pt x="265983" y="219567"/>
                </a:lnTo>
                <a:lnTo>
                  <a:pt x="252602" y="225501"/>
                </a:lnTo>
                <a:lnTo>
                  <a:pt x="255524" y="235038"/>
                </a:lnTo>
                <a:lnTo>
                  <a:pt x="300458" y="208356"/>
                </a:lnTo>
                <a:lnTo>
                  <a:pt x="325659" y="159100"/>
                </a:lnTo>
                <a:lnTo>
                  <a:pt x="330454" y="117576"/>
                </a:lnTo>
                <a:lnTo>
                  <a:pt x="329241" y="96028"/>
                </a:lnTo>
                <a:lnTo>
                  <a:pt x="319577" y="57838"/>
                </a:lnTo>
                <a:lnTo>
                  <a:pt x="287528" y="15070"/>
                </a:lnTo>
                <a:lnTo>
                  <a:pt x="272573" y="6153"/>
                </a:lnTo>
                <a:lnTo>
                  <a:pt x="255524" y="0"/>
                </a:lnTo>
                <a:close/>
              </a:path>
              <a:path w="330835" h="235585">
                <a:moveTo>
                  <a:pt x="75057" y="0"/>
                </a:moveTo>
                <a:lnTo>
                  <a:pt x="30194" y="26751"/>
                </a:lnTo>
                <a:lnTo>
                  <a:pt x="4857" y="76115"/>
                </a:lnTo>
                <a:lnTo>
                  <a:pt x="0" y="117576"/>
                </a:lnTo>
                <a:lnTo>
                  <a:pt x="1214" y="139172"/>
                </a:lnTo>
                <a:lnTo>
                  <a:pt x="10929" y="177364"/>
                </a:lnTo>
                <a:lnTo>
                  <a:pt x="42957" y="219998"/>
                </a:lnTo>
                <a:lnTo>
                  <a:pt x="75057" y="235038"/>
                </a:lnTo>
                <a:lnTo>
                  <a:pt x="77977" y="225501"/>
                </a:lnTo>
                <a:lnTo>
                  <a:pt x="64597" y="219567"/>
                </a:lnTo>
                <a:lnTo>
                  <a:pt x="53038" y="211310"/>
                </a:lnTo>
                <a:lnTo>
                  <a:pt x="29338" y="172814"/>
                </a:lnTo>
                <a:lnTo>
                  <a:pt x="21462" y="116344"/>
                </a:lnTo>
                <a:lnTo>
                  <a:pt x="22342" y="96287"/>
                </a:lnTo>
                <a:lnTo>
                  <a:pt x="35433" y="46774"/>
                </a:lnTo>
                <a:lnTo>
                  <a:pt x="64811" y="15443"/>
                </a:lnTo>
                <a:lnTo>
                  <a:pt x="78359" y="9537"/>
                </a:lnTo>
                <a:lnTo>
                  <a:pt x="750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18">
            <a:extLst>
              <a:ext uri="{FF2B5EF4-FFF2-40B4-BE49-F238E27FC236}">
                <a16:creationId xmlns:a16="http://schemas.microsoft.com/office/drawing/2014/main" id="{AE97AA6B-01F6-8246-B3DB-0CD918687A5D}"/>
              </a:ext>
            </a:extLst>
          </p:cNvPr>
          <p:cNvSpPr txBox="1"/>
          <p:nvPr/>
        </p:nvSpPr>
        <p:spPr>
          <a:xfrm>
            <a:off x="3034516" y="6007949"/>
            <a:ext cx="453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𝑻</a:t>
            </a:r>
            <a:r>
              <a:rPr sz="2000" spc="37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5" name="object 19">
            <a:extLst>
              <a:ext uri="{FF2B5EF4-FFF2-40B4-BE49-F238E27FC236}">
                <a16:creationId xmlns:a16="http://schemas.microsoft.com/office/drawing/2014/main" id="{3117042B-4BC7-1041-8FD1-9F79721BA649}"/>
              </a:ext>
            </a:extLst>
          </p:cNvPr>
          <p:cNvSpPr/>
          <p:nvPr/>
        </p:nvSpPr>
        <p:spPr>
          <a:xfrm>
            <a:off x="4120619" y="6084200"/>
            <a:ext cx="948055" cy="235585"/>
          </a:xfrm>
          <a:custGeom>
            <a:avLst/>
            <a:gdLst/>
            <a:ahLst/>
            <a:cxnLst/>
            <a:rect l="l" t="t" r="r" b="b"/>
            <a:pathLst>
              <a:path w="948053" h="235585">
                <a:moveTo>
                  <a:pt x="872744" y="0"/>
                </a:moveTo>
                <a:lnTo>
                  <a:pt x="869442" y="9537"/>
                </a:lnTo>
                <a:lnTo>
                  <a:pt x="883042" y="15443"/>
                </a:lnTo>
                <a:lnTo>
                  <a:pt x="894715" y="23617"/>
                </a:lnTo>
                <a:lnTo>
                  <a:pt x="918462" y="61502"/>
                </a:lnTo>
                <a:lnTo>
                  <a:pt x="926338" y="116344"/>
                </a:lnTo>
                <a:lnTo>
                  <a:pt x="925458" y="137071"/>
                </a:lnTo>
                <a:lnTo>
                  <a:pt x="912368" y="187832"/>
                </a:lnTo>
                <a:lnTo>
                  <a:pt x="883203" y="219567"/>
                </a:lnTo>
                <a:lnTo>
                  <a:pt x="869823" y="225501"/>
                </a:lnTo>
                <a:lnTo>
                  <a:pt x="872744" y="235038"/>
                </a:lnTo>
                <a:lnTo>
                  <a:pt x="917678" y="208356"/>
                </a:lnTo>
                <a:lnTo>
                  <a:pt x="942879" y="159100"/>
                </a:lnTo>
                <a:lnTo>
                  <a:pt x="947674" y="117576"/>
                </a:lnTo>
                <a:lnTo>
                  <a:pt x="946461" y="96028"/>
                </a:lnTo>
                <a:lnTo>
                  <a:pt x="936797" y="57838"/>
                </a:lnTo>
                <a:lnTo>
                  <a:pt x="904748" y="15070"/>
                </a:lnTo>
                <a:lnTo>
                  <a:pt x="889793" y="6153"/>
                </a:lnTo>
                <a:lnTo>
                  <a:pt x="872744" y="0"/>
                </a:lnTo>
                <a:close/>
              </a:path>
              <a:path w="948053" h="235585">
                <a:moveTo>
                  <a:pt x="75057" y="0"/>
                </a:moveTo>
                <a:lnTo>
                  <a:pt x="30194" y="26751"/>
                </a:lnTo>
                <a:lnTo>
                  <a:pt x="4857" y="76115"/>
                </a:lnTo>
                <a:lnTo>
                  <a:pt x="0" y="117576"/>
                </a:lnTo>
                <a:lnTo>
                  <a:pt x="1214" y="139172"/>
                </a:lnTo>
                <a:lnTo>
                  <a:pt x="10929" y="177364"/>
                </a:lnTo>
                <a:lnTo>
                  <a:pt x="42957" y="219998"/>
                </a:lnTo>
                <a:lnTo>
                  <a:pt x="75057" y="235038"/>
                </a:lnTo>
                <a:lnTo>
                  <a:pt x="77978" y="225501"/>
                </a:lnTo>
                <a:lnTo>
                  <a:pt x="64597" y="219567"/>
                </a:lnTo>
                <a:lnTo>
                  <a:pt x="53038" y="211310"/>
                </a:lnTo>
                <a:lnTo>
                  <a:pt x="29338" y="172814"/>
                </a:lnTo>
                <a:lnTo>
                  <a:pt x="21462" y="116344"/>
                </a:lnTo>
                <a:lnTo>
                  <a:pt x="22342" y="96287"/>
                </a:lnTo>
                <a:lnTo>
                  <a:pt x="35433" y="46774"/>
                </a:lnTo>
                <a:lnTo>
                  <a:pt x="64811" y="15443"/>
                </a:lnTo>
                <a:lnTo>
                  <a:pt x="78359" y="9537"/>
                </a:lnTo>
                <a:lnTo>
                  <a:pt x="750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20">
            <a:extLst>
              <a:ext uri="{FF2B5EF4-FFF2-40B4-BE49-F238E27FC236}">
                <a16:creationId xmlns:a16="http://schemas.microsoft.com/office/drawing/2014/main" id="{9FC222A9-7344-294C-B923-8192CA5FDF90}"/>
              </a:ext>
            </a:extLst>
          </p:cNvPr>
          <p:cNvSpPr txBox="1"/>
          <p:nvPr/>
        </p:nvSpPr>
        <p:spPr>
          <a:xfrm>
            <a:off x="3639544" y="6007949"/>
            <a:ext cx="1358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000" spc="3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000" spc="-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77" name="object 24">
            <a:extLst>
              <a:ext uri="{FF2B5EF4-FFF2-40B4-BE49-F238E27FC236}">
                <a16:creationId xmlns:a16="http://schemas.microsoft.com/office/drawing/2014/main" id="{D70D2A07-2E6C-0645-8EB2-AA228370BCD1}"/>
              </a:ext>
            </a:extLst>
          </p:cNvPr>
          <p:cNvSpPr txBox="1"/>
          <p:nvPr/>
        </p:nvSpPr>
        <p:spPr>
          <a:xfrm>
            <a:off x="5295003" y="5936117"/>
            <a:ext cx="2463800" cy="40203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二者相乘为总代价</a:t>
            </a:r>
            <a:endParaRPr sz="2400" dirty="0">
              <a:solidFill>
                <a:srgbClr val="FF0000"/>
              </a:solidFill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48342867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C1C2F-D0CA-C642-9753-12A32C129C1A}"/>
              </a:ext>
            </a:extLst>
          </p:cNvPr>
          <p:cNvSpPr txBox="1"/>
          <p:nvPr/>
        </p:nvSpPr>
        <p:spPr>
          <a:xfrm>
            <a:off x="1123278" y="170337"/>
            <a:ext cx="9945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-50" dirty="0">
                <a:latin typeface="SimSun" panose="02010600030101010101" pitchFamily="2" charset="-122"/>
                <a:ea typeface="SimSun" panose="02010600030101010101" pitchFamily="2" charset="-122"/>
              </a:rPr>
              <a:t>时间复杂度分析</a:t>
            </a:r>
            <a:endParaRPr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A3D016C-03D8-6F49-B3E3-B8D985E54DB0}"/>
              </a:ext>
            </a:extLst>
          </p:cNvPr>
          <p:cNvSpPr txBox="1"/>
          <p:nvPr/>
        </p:nvSpPr>
        <p:spPr>
          <a:xfrm>
            <a:off x="780808" y="1073669"/>
            <a:ext cx="27343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输入规模为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81984BA-BC21-9C45-95E3-823C0B556142}"/>
              </a:ext>
            </a:extLst>
          </p:cNvPr>
          <p:cNvSpPr txBox="1"/>
          <p:nvPr/>
        </p:nvSpPr>
        <p:spPr>
          <a:xfrm>
            <a:off x="2662438" y="1506370"/>
            <a:ext cx="27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C37DCC2-AC60-F340-B543-71A27CFF2A53}"/>
              </a:ext>
            </a:extLst>
          </p:cNvPr>
          <p:cNvSpPr txBox="1"/>
          <p:nvPr/>
        </p:nvSpPr>
        <p:spPr>
          <a:xfrm>
            <a:off x="5453379" y="1506370"/>
            <a:ext cx="8026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r>
              <a:rPr sz="24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988A8B92-17F7-9E4C-B456-33705CAFA812}"/>
              </a:ext>
            </a:extLst>
          </p:cNvPr>
          <p:cNvSpPr/>
          <p:nvPr/>
        </p:nvSpPr>
        <p:spPr>
          <a:xfrm>
            <a:off x="3194509" y="1900655"/>
            <a:ext cx="728345" cy="282575"/>
          </a:xfrm>
          <a:custGeom>
            <a:avLst/>
            <a:gdLst/>
            <a:ahLst/>
            <a:cxnLst/>
            <a:rect l="l" t="t" r="r" b="b"/>
            <a:pathLst>
              <a:path w="728345" h="282575">
                <a:moveTo>
                  <a:pt x="638175" y="0"/>
                </a:moveTo>
                <a:lnTo>
                  <a:pt x="634238" y="11429"/>
                </a:lnTo>
                <a:lnTo>
                  <a:pt x="650545" y="18504"/>
                </a:lnTo>
                <a:lnTo>
                  <a:pt x="664591" y="28305"/>
                </a:lnTo>
                <a:lnTo>
                  <a:pt x="693114" y="73852"/>
                </a:lnTo>
                <a:lnTo>
                  <a:pt x="701409" y="115623"/>
                </a:lnTo>
                <a:lnTo>
                  <a:pt x="702437" y="139700"/>
                </a:lnTo>
                <a:lnTo>
                  <a:pt x="701391" y="164580"/>
                </a:lnTo>
                <a:lnTo>
                  <a:pt x="693060" y="207529"/>
                </a:lnTo>
                <a:lnTo>
                  <a:pt x="664638" y="253730"/>
                </a:lnTo>
                <a:lnTo>
                  <a:pt x="634619" y="270763"/>
                </a:lnTo>
                <a:lnTo>
                  <a:pt x="638175" y="282320"/>
                </a:lnTo>
                <a:lnTo>
                  <a:pt x="676671" y="264191"/>
                </a:lnTo>
                <a:lnTo>
                  <a:pt x="704976" y="232917"/>
                </a:lnTo>
                <a:lnTo>
                  <a:pt x="722407" y="191023"/>
                </a:lnTo>
                <a:lnTo>
                  <a:pt x="728218" y="141224"/>
                </a:lnTo>
                <a:lnTo>
                  <a:pt x="726765" y="115339"/>
                </a:lnTo>
                <a:lnTo>
                  <a:pt x="715144" y="69429"/>
                </a:lnTo>
                <a:lnTo>
                  <a:pt x="692021" y="32093"/>
                </a:lnTo>
                <a:lnTo>
                  <a:pt x="658631" y="7379"/>
                </a:lnTo>
                <a:lnTo>
                  <a:pt x="638175" y="0"/>
                </a:lnTo>
                <a:close/>
              </a:path>
              <a:path w="72834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1B3908C-90DE-F14E-9C52-107100A0946F}"/>
              </a:ext>
            </a:extLst>
          </p:cNvPr>
          <p:cNvSpPr txBox="1"/>
          <p:nvPr/>
        </p:nvSpPr>
        <p:spPr>
          <a:xfrm>
            <a:off x="1007363" y="1706013"/>
            <a:ext cx="291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𝑻(𝒏)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zh-CN" altLang="en-US" sz="2400" spc="130" dirty="0">
                <a:solidFill>
                  <a:srgbClr val="FF0000"/>
                </a:solidFill>
                <a:latin typeface="Cambria Math"/>
                <a:cs typeface="Cambria Math"/>
              </a:rPr>
              <a:t>   </a:t>
            </a:r>
            <a:r>
              <a:rPr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𝟐⋅</a:t>
            </a:r>
            <a:r>
              <a:rPr lang="zh-CN" altLang="en-US" sz="3600" baseline="-30092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spc="-75" baseline="-30092" dirty="0">
                <a:solidFill>
                  <a:srgbClr val="FF0000"/>
                </a:solidFill>
                <a:latin typeface="Cambria Math"/>
                <a:cs typeface="Cambria Math"/>
              </a:rPr>
              <a:t>𝑻 </a:t>
            </a:r>
            <a:r>
              <a:rPr sz="3600" spc="-30" baseline="-30092" dirty="0">
                <a:solidFill>
                  <a:srgbClr val="FF0000"/>
                </a:solidFill>
                <a:latin typeface="Cambria Math"/>
                <a:cs typeface="Cambria Math"/>
              </a:rPr>
              <a:t>𝒏/𝟐</a:t>
            </a:r>
            <a:endParaRPr sz="3600" baseline="-30092" dirty="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0B45B5F-67D3-1646-8C84-F9989DCBAD98}"/>
              </a:ext>
            </a:extLst>
          </p:cNvPr>
          <p:cNvSpPr/>
          <p:nvPr/>
        </p:nvSpPr>
        <p:spPr>
          <a:xfrm>
            <a:off x="4623942" y="1910929"/>
            <a:ext cx="396875" cy="282575"/>
          </a:xfrm>
          <a:custGeom>
            <a:avLst/>
            <a:gdLst/>
            <a:ahLst/>
            <a:cxnLst/>
            <a:rect l="l" t="t" r="r" b="b"/>
            <a:pathLst>
              <a:path w="396875" h="282575">
                <a:moveTo>
                  <a:pt x="306705" y="0"/>
                </a:moveTo>
                <a:lnTo>
                  <a:pt x="302768" y="11429"/>
                </a:lnTo>
                <a:lnTo>
                  <a:pt x="319075" y="18504"/>
                </a:lnTo>
                <a:lnTo>
                  <a:pt x="333121" y="28305"/>
                </a:lnTo>
                <a:lnTo>
                  <a:pt x="361644" y="73852"/>
                </a:lnTo>
                <a:lnTo>
                  <a:pt x="369939" y="115623"/>
                </a:lnTo>
                <a:lnTo>
                  <a:pt x="370967" y="139700"/>
                </a:lnTo>
                <a:lnTo>
                  <a:pt x="369921" y="164580"/>
                </a:lnTo>
                <a:lnTo>
                  <a:pt x="361590" y="207529"/>
                </a:lnTo>
                <a:lnTo>
                  <a:pt x="333168" y="253730"/>
                </a:lnTo>
                <a:lnTo>
                  <a:pt x="303149" y="270763"/>
                </a:lnTo>
                <a:lnTo>
                  <a:pt x="306705" y="282320"/>
                </a:lnTo>
                <a:lnTo>
                  <a:pt x="345201" y="264191"/>
                </a:lnTo>
                <a:lnTo>
                  <a:pt x="373507" y="232917"/>
                </a:lnTo>
                <a:lnTo>
                  <a:pt x="390937" y="191023"/>
                </a:lnTo>
                <a:lnTo>
                  <a:pt x="396748" y="141224"/>
                </a:lnTo>
                <a:lnTo>
                  <a:pt x="395295" y="115339"/>
                </a:lnTo>
                <a:lnTo>
                  <a:pt x="383674" y="69429"/>
                </a:lnTo>
                <a:lnTo>
                  <a:pt x="360551" y="32093"/>
                </a:lnTo>
                <a:lnTo>
                  <a:pt x="327161" y="7379"/>
                </a:lnTo>
                <a:lnTo>
                  <a:pt x="306705" y="0"/>
                </a:lnTo>
                <a:close/>
              </a:path>
              <a:path w="396875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31" y="263646"/>
                </a:lnTo>
                <a:lnTo>
                  <a:pt x="63642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5DF825E-4E62-2F40-88C2-51EBF8418412}"/>
              </a:ext>
            </a:extLst>
          </p:cNvPr>
          <p:cNvSpPr txBox="1"/>
          <p:nvPr/>
        </p:nvSpPr>
        <p:spPr>
          <a:xfrm>
            <a:off x="4065778" y="1821522"/>
            <a:ext cx="105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86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	𝒏</a:t>
            </a:r>
            <a:r>
              <a:rPr sz="2400" spc="4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4DE7E29-1E1C-9D4A-A0C7-AF64DC8ED880}"/>
              </a:ext>
            </a:extLst>
          </p:cNvPr>
          <p:cNvSpPr/>
          <p:nvPr/>
        </p:nvSpPr>
        <p:spPr>
          <a:xfrm>
            <a:off x="2385313" y="1672468"/>
            <a:ext cx="160019" cy="49316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205C3A0B-7A02-2B4F-8A35-8E995E6B1A69}"/>
              </a:ext>
            </a:extLst>
          </p:cNvPr>
          <p:cNvSpPr/>
          <p:nvPr/>
        </p:nvSpPr>
        <p:spPr>
          <a:xfrm>
            <a:off x="5807602" y="2629657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3"/>
                </a:lnTo>
                <a:lnTo>
                  <a:pt x="59944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9D4277C2-B781-3F4C-BCD3-EEB4149CEC7F}"/>
              </a:ext>
            </a:extLst>
          </p:cNvPr>
          <p:cNvSpPr txBox="1"/>
          <p:nvPr/>
        </p:nvSpPr>
        <p:spPr>
          <a:xfrm>
            <a:off x="6256927" y="2636260"/>
            <a:ext cx="1898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9" name="object 5">
            <a:extLst>
              <a:ext uri="{FF2B5EF4-FFF2-40B4-BE49-F238E27FC236}">
                <a16:creationId xmlns:a16="http://schemas.microsoft.com/office/drawing/2014/main" id="{67EE8907-B12D-3443-839F-9C710B888936}"/>
              </a:ext>
            </a:extLst>
          </p:cNvPr>
          <p:cNvGrpSpPr/>
          <p:nvPr/>
        </p:nvGrpSpPr>
        <p:grpSpPr>
          <a:xfrm>
            <a:off x="4343800" y="2971922"/>
            <a:ext cx="3484879" cy="1040130"/>
            <a:chOff x="4056126" y="3269869"/>
            <a:chExt cx="3484879" cy="1040130"/>
          </a:xfrm>
        </p:grpSpPr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C0BA5923-A186-6640-A05F-F44817C2F29E}"/>
                </a:ext>
              </a:extLst>
            </p:cNvPr>
            <p:cNvSpPr/>
            <p:nvPr/>
          </p:nvSpPr>
          <p:spPr>
            <a:xfrm>
              <a:off x="4651248" y="3269868"/>
              <a:ext cx="2889885" cy="667385"/>
            </a:xfrm>
            <a:custGeom>
              <a:avLst/>
              <a:gdLst/>
              <a:ahLst/>
              <a:cxnLst/>
              <a:rect l="l" t="t" r="r" b="b"/>
              <a:pathLst>
                <a:path w="2889884" h="667385">
                  <a:moveTo>
                    <a:pt x="2889758" y="661162"/>
                  </a:moveTo>
                  <a:lnTo>
                    <a:pt x="2872206" y="639826"/>
                  </a:lnTo>
                  <a:lnTo>
                    <a:pt x="2808605" y="562483"/>
                  </a:lnTo>
                  <a:lnTo>
                    <a:pt x="2793111" y="597281"/>
                  </a:lnTo>
                  <a:lnTo>
                    <a:pt x="1452499" y="0"/>
                  </a:lnTo>
                  <a:lnTo>
                    <a:pt x="1444879" y="17119"/>
                  </a:lnTo>
                  <a:lnTo>
                    <a:pt x="1437259" y="0"/>
                  </a:lnTo>
                  <a:lnTo>
                    <a:pt x="96634" y="597281"/>
                  </a:lnTo>
                  <a:lnTo>
                    <a:pt x="81153" y="562483"/>
                  </a:lnTo>
                  <a:lnTo>
                    <a:pt x="0" y="661162"/>
                  </a:lnTo>
                  <a:lnTo>
                    <a:pt x="127635" y="666877"/>
                  </a:lnTo>
                  <a:lnTo>
                    <a:pt x="115582" y="639826"/>
                  </a:lnTo>
                  <a:lnTo>
                    <a:pt x="112128" y="632079"/>
                  </a:lnTo>
                  <a:lnTo>
                    <a:pt x="1444866" y="38315"/>
                  </a:lnTo>
                  <a:lnTo>
                    <a:pt x="2777617" y="632079"/>
                  </a:lnTo>
                  <a:lnTo>
                    <a:pt x="2762123" y="666877"/>
                  </a:lnTo>
                  <a:lnTo>
                    <a:pt x="2889758" y="661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7">
              <a:extLst>
                <a:ext uri="{FF2B5EF4-FFF2-40B4-BE49-F238E27FC236}">
                  <a16:creationId xmlns:a16="http://schemas.microsoft.com/office/drawing/2014/main" id="{2C3176FB-45CC-EC41-BF41-7F5D02647EE8}"/>
                </a:ext>
              </a:extLst>
            </p:cNvPr>
            <p:cNvSpPr/>
            <p:nvPr/>
          </p:nvSpPr>
          <p:spPr>
            <a:xfrm>
              <a:off x="4075176" y="3931158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1092200" y="0"/>
                  </a:lnTo>
                  <a:lnTo>
                    <a:pt x="1115550" y="4704"/>
                  </a:lnTo>
                  <a:lnTo>
                    <a:pt x="1134602" y="17541"/>
                  </a:lnTo>
                  <a:lnTo>
                    <a:pt x="1147439" y="36593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70"/>
                  </a:lnTo>
                  <a:lnTo>
                    <a:pt x="1134602" y="342122"/>
                  </a:lnTo>
                  <a:lnTo>
                    <a:pt x="1115550" y="354959"/>
                  </a:lnTo>
                  <a:lnTo>
                    <a:pt x="1092200" y="359664"/>
                  </a:lnTo>
                  <a:lnTo>
                    <a:pt x="59944" y="359664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8">
            <a:extLst>
              <a:ext uri="{FF2B5EF4-FFF2-40B4-BE49-F238E27FC236}">
                <a16:creationId xmlns:a16="http://schemas.microsoft.com/office/drawing/2014/main" id="{6B7DEE69-6C9A-6047-A479-606307E0C6C4}"/>
              </a:ext>
            </a:extLst>
          </p:cNvPr>
          <p:cNvSpPr txBox="1"/>
          <p:nvPr/>
        </p:nvSpPr>
        <p:spPr>
          <a:xfrm>
            <a:off x="4674000" y="3640068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1C6DF9CD-CE1E-E046-80B5-0522F99612BB}"/>
              </a:ext>
            </a:extLst>
          </p:cNvPr>
          <p:cNvSpPr/>
          <p:nvPr/>
        </p:nvSpPr>
        <p:spPr>
          <a:xfrm>
            <a:off x="7252354" y="363321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04"/>
                </a:lnTo>
                <a:lnTo>
                  <a:pt x="1134602" y="17541"/>
                </a:lnTo>
                <a:lnTo>
                  <a:pt x="1147439" y="36593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70"/>
                </a:lnTo>
                <a:lnTo>
                  <a:pt x="1134602" y="342122"/>
                </a:lnTo>
                <a:lnTo>
                  <a:pt x="1115550" y="354959"/>
                </a:lnTo>
                <a:lnTo>
                  <a:pt x="1092200" y="359664"/>
                </a:lnTo>
                <a:lnTo>
                  <a:pt x="59944" y="359664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D523C266-A743-D64E-BBCF-89694E5D6278}"/>
              </a:ext>
            </a:extLst>
          </p:cNvPr>
          <p:cNvSpPr txBox="1"/>
          <p:nvPr/>
        </p:nvSpPr>
        <p:spPr>
          <a:xfrm>
            <a:off x="7564012" y="3640068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07DEA043-66F3-F84F-ABF7-88D43B7B9C5F}"/>
              </a:ext>
            </a:extLst>
          </p:cNvPr>
          <p:cNvSpPr/>
          <p:nvPr/>
        </p:nvSpPr>
        <p:spPr>
          <a:xfrm>
            <a:off x="3123075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2">
            <a:extLst>
              <a:ext uri="{FF2B5EF4-FFF2-40B4-BE49-F238E27FC236}">
                <a16:creationId xmlns:a16="http://schemas.microsoft.com/office/drawing/2014/main" id="{57B1B2DE-9188-9149-A408-DB5786D4C5CE}"/>
              </a:ext>
            </a:extLst>
          </p:cNvPr>
          <p:cNvSpPr txBox="1"/>
          <p:nvPr/>
        </p:nvSpPr>
        <p:spPr>
          <a:xfrm>
            <a:off x="3434225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10847693-AFDA-1747-8477-98652CC0F6C7}"/>
              </a:ext>
            </a:extLst>
          </p:cNvPr>
          <p:cNvSpPr/>
          <p:nvPr/>
        </p:nvSpPr>
        <p:spPr>
          <a:xfrm>
            <a:off x="6702189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3" y="60070"/>
                </a:lnTo>
                <a:lnTo>
                  <a:pt x="1152143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4">
            <a:extLst>
              <a:ext uri="{FF2B5EF4-FFF2-40B4-BE49-F238E27FC236}">
                <a16:creationId xmlns:a16="http://schemas.microsoft.com/office/drawing/2014/main" id="{667F3CC9-AC6D-4D48-97E4-CD81936D0B4E}"/>
              </a:ext>
            </a:extLst>
          </p:cNvPr>
          <p:cNvSpPr txBox="1"/>
          <p:nvPr/>
        </p:nvSpPr>
        <p:spPr>
          <a:xfrm>
            <a:off x="7013847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15">
            <a:extLst>
              <a:ext uri="{FF2B5EF4-FFF2-40B4-BE49-F238E27FC236}">
                <a16:creationId xmlns:a16="http://schemas.microsoft.com/office/drawing/2014/main" id="{E25CF5A7-B53E-9D45-92F2-CE191D97017B}"/>
              </a:ext>
            </a:extLst>
          </p:cNvPr>
          <p:cNvSpPr/>
          <p:nvPr/>
        </p:nvSpPr>
        <p:spPr>
          <a:xfrm>
            <a:off x="4913014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6">
            <a:extLst>
              <a:ext uri="{FF2B5EF4-FFF2-40B4-BE49-F238E27FC236}">
                <a16:creationId xmlns:a16="http://schemas.microsoft.com/office/drawing/2014/main" id="{23E1EA0E-DB7F-5842-94FA-6D6C7F90957C}"/>
              </a:ext>
            </a:extLst>
          </p:cNvPr>
          <p:cNvSpPr txBox="1"/>
          <p:nvPr/>
        </p:nvSpPr>
        <p:spPr>
          <a:xfrm>
            <a:off x="5224164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17">
            <a:extLst>
              <a:ext uri="{FF2B5EF4-FFF2-40B4-BE49-F238E27FC236}">
                <a16:creationId xmlns:a16="http://schemas.microsoft.com/office/drawing/2014/main" id="{0BF6AC9A-E09C-C548-AA66-7FE3AB35C057}"/>
              </a:ext>
            </a:extLst>
          </p:cNvPr>
          <p:cNvSpPr/>
          <p:nvPr/>
        </p:nvSpPr>
        <p:spPr>
          <a:xfrm>
            <a:off x="8492128" y="4636764"/>
            <a:ext cx="1152525" cy="360680"/>
          </a:xfrm>
          <a:custGeom>
            <a:avLst/>
            <a:gdLst/>
            <a:ahLst/>
            <a:cxnLst/>
            <a:rect l="l" t="t" r="r" b="b"/>
            <a:pathLst>
              <a:path w="1152525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1" y="0"/>
                </a:lnTo>
                <a:lnTo>
                  <a:pt x="1092073" y="0"/>
                </a:lnTo>
                <a:lnTo>
                  <a:pt x="1115442" y="4724"/>
                </a:lnTo>
                <a:lnTo>
                  <a:pt x="1134538" y="17605"/>
                </a:lnTo>
                <a:lnTo>
                  <a:pt x="1147419" y="36701"/>
                </a:lnTo>
                <a:lnTo>
                  <a:pt x="1152144" y="60070"/>
                </a:lnTo>
                <a:lnTo>
                  <a:pt x="1152144" y="300354"/>
                </a:lnTo>
                <a:lnTo>
                  <a:pt x="1147419" y="323724"/>
                </a:lnTo>
                <a:lnTo>
                  <a:pt x="1134538" y="342820"/>
                </a:lnTo>
                <a:lnTo>
                  <a:pt x="1115442" y="355701"/>
                </a:lnTo>
                <a:lnTo>
                  <a:pt x="1092073" y="360425"/>
                </a:lnTo>
                <a:lnTo>
                  <a:pt x="60071" y="360425"/>
                </a:lnTo>
                <a:lnTo>
                  <a:pt x="36701" y="355701"/>
                </a:lnTo>
                <a:lnTo>
                  <a:pt x="17605" y="342820"/>
                </a:lnTo>
                <a:lnTo>
                  <a:pt x="4724" y="323724"/>
                </a:lnTo>
                <a:lnTo>
                  <a:pt x="0" y="300354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8">
            <a:extLst>
              <a:ext uri="{FF2B5EF4-FFF2-40B4-BE49-F238E27FC236}">
                <a16:creationId xmlns:a16="http://schemas.microsoft.com/office/drawing/2014/main" id="{105E3363-BFC4-034B-AD01-1FB1799F2021}"/>
              </a:ext>
            </a:extLst>
          </p:cNvPr>
          <p:cNvSpPr txBox="1"/>
          <p:nvPr/>
        </p:nvSpPr>
        <p:spPr>
          <a:xfrm>
            <a:off x="8803785" y="464387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𝒏/𝟒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3" name="object 19">
            <a:extLst>
              <a:ext uri="{FF2B5EF4-FFF2-40B4-BE49-F238E27FC236}">
                <a16:creationId xmlns:a16="http://schemas.microsoft.com/office/drawing/2014/main" id="{853E6473-079A-5E4B-B25F-3CCC0CDBA355}"/>
              </a:ext>
            </a:extLst>
          </p:cNvPr>
          <p:cNvGrpSpPr/>
          <p:nvPr/>
        </p:nvGrpSpPr>
        <p:grpSpPr>
          <a:xfrm>
            <a:off x="2079135" y="3975983"/>
            <a:ext cx="6988809" cy="2044064"/>
            <a:chOff x="1791461" y="4273930"/>
            <a:chExt cx="6988809" cy="2044064"/>
          </a:xfrm>
        </p:grpSpPr>
        <p:sp>
          <p:nvSpPr>
            <p:cNvPr id="34" name="object 20">
              <a:extLst>
                <a:ext uri="{FF2B5EF4-FFF2-40B4-BE49-F238E27FC236}">
                  <a16:creationId xmlns:a16="http://schemas.microsoft.com/office/drawing/2014/main" id="{CA1B15D4-0160-014D-A1D9-C8D18B7FF444}"/>
                </a:ext>
              </a:extLst>
            </p:cNvPr>
            <p:cNvSpPr/>
            <p:nvPr/>
          </p:nvSpPr>
          <p:spPr>
            <a:xfrm>
              <a:off x="3411474" y="4273930"/>
              <a:ext cx="5368925" cy="661035"/>
            </a:xfrm>
            <a:custGeom>
              <a:avLst/>
              <a:gdLst/>
              <a:ahLst/>
              <a:cxnLst/>
              <a:rect l="l" t="t" r="r" b="b"/>
              <a:pathLst>
                <a:path w="5368925" h="661035">
                  <a:moveTo>
                    <a:pt x="1789938" y="660654"/>
                  </a:moveTo>
                  <a:lnTo>
                    <a:pt x="1775002" y="600710"/>
                  </a:lnTo>
                  <a:lnTo>
                    <a:pt x="1759077" y="536702"/>
                  </a:lnTo>
                  <a:lnTo>
                    <a:pt x="1730133" y="561416"/>
                  </a:lnTo>
                  <a:lnTo>
                    <a:pt x="1254252" y="4572"/>
                  </a:lnTo>
                  <a:lnTo>
                    <a:pt x="1239596" y="17043"/>
                  </a:lnTo>
                  <a:lnTo>
                    <a:pt x="1230757" y="0"/>
                  </a:lnTo>
                  <a:lnTo>
                    <a:pt x="92646" y="591146"/>
                  </a:lnTo>
                  <a:lnTo>
                    <a:pt x="75057" y="557276"/>
                  </a:lnTo>
                  <a:lnTo>
                    <a:pt x="0" y="660654"/>
                  </a:lnTo>
                  <a:lnTo>
                    <a:pt x="127762" y="658749"/>
                  </a:lnTo>
                  <a:lnTo>
                    <a:pt x="114757" y="633730"/>
                  </a:lnTo>
                  <a:lnTo>
                    <a:pt x="110210" y="624967"/>
                  </a:lnTo>
                  <a:lnTo>
                    <a:pt x="1235062" y="40652"/>
                  </a:lnTo>
                  <a:lnTo>
                    <a:pt x="1701165" y="586155"/>
                  </a:lnTo>
                  <a:lnTo>
                    <a:pt x="1672209" y="610870"/>
                  </a:lnTo>
                  <a:lnTo>
                    <a:pt x="1789938" y="660654"/>
                  </a:lnTo>
                  <a:close/>
                </a:path>
                <a:path w="5368925" h="661035">
                  <a:moveTo>
                    <a:pt x="5368798" y="660654"/>
                  </a:moveTo>
                  <a:lnTo>
                    <a:pt x="5349240" y="633730"/>
                  </a:lnTo>
                  <a:lnTo>
                    <a:pt x="5293741" y="557276"/>
                  </a:lnTo>
                  <a:lnTo>
                    <a:pt x="5276139" y="591146"/>
                  </a:lnTo>
                  <a:lnTo>
                    <a:pt x="4138041" y="0"/>
                  </a:lnTo>
                  <a:lnTo>
                    <a:pt x="4129278" y="16891"/>
                  </a:lnTo>
                  <a:lnTo>
                    <a:pt x="4114800" y="4572"/>
                  </a:lnTo>
                  <a:lnTo>
                    <a:pt x="3638905" y="561416"/>
                  </a:lnTo>
                  <a:lnTo>
                    <a:pt x="3609975" y="536702"/>
                  </a:lnTo>
                  <a:lnTo>
                    <a:pt x="3579114" y="660654"/>
                  </a:lnTo>
                  <a:lnTo>
                    <a:pt x="3696843" y="610870"/>
                  </a:lnTo>
                  <a:lnTo>
                    <a:pt x="3684943" y="600710"/>
                  </a:lnTo>
                  <a:lnTo>
                    <a:pt x="3667874" y="586155"/>
                  </a:lnTo>
                  <a:lnTo>
                    <a:pt x="4133900" y="40741"/>
                  </a:lnTo>
                  <a:lnTo>
                    <a:pt x="5258574" y="624967"/>
                  </a:lnTo>
                  <a:lnTo>
                    <a:pt x="5241036" y="658749"/>
                  </a:lnTo>
                  <a:lnTo>
                    <a:pt x="5368798" y="660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1">
              <a:extLst>
                <a:ext uri="{FF2B5EF4-FFF2-40B4-BE49-F238E27FC236}">
                  <a16:creationId xmlns:a16="http://schemas.microsoft.com/office/drawing/2014/main" id="{84DF1E9A-68B3-5148-ADE1-9AF975A908FB}"/>
                </a:ext>
              </a:extLst>
            </p:cNvPr>
            <p:cNvSpPr/>
            <p:nvPr/>
          </p:nvSpPr>
          <p:spPr>
            <a:xfrm>
              <a:off x="1810511" y="5939027"/>
              <a:ext cx="1152525" cy="360045"/>
            </a:xfrm>
            <a:custGeom>
              <a:avLst/>
              <a:gdLst/>
              <a:ahLst/>
              <a:cxnLst/>
              <a:rect l="l" t="t" r="r" b="b"/>
              <a:pathLst>
                <a:path w="1152525" h="360045">
                  <a:moveTo>
                    <a:pt x="0" y="59944"/>
                  </a:moveTo>
                  <a:lnTo>
                    <a:pt x="4704" y="36609"/>
                  </a:lnTo>
                  <a:lnTo>
                    <a:pt x="17541" y="17556"/>
                  </a:lnTo>
                  <a:lnTo>
                    <a:pt x="36593" y="4710"/>
                  </a:lnTo>
                  <a:lnTo>
                    <a:pt x="59943" y="0"/>
                  </a:lnTo>
                  <a:lnTo>
                    <a:pt x="1092200" y="0"/>
                  </a:lnTo>
                  <a:lnTo>
                    <a:pt x="1115550" y="4710"/>
                  </a:lnTo>
                  <a:lnTo>
                    <a:pt x="1134602" y="17556"/>
                  </a:lnTo>
                  <a:lnTo>
                    <a:pt x="1147439" y="36609"/>
                  </a:lnTo>
                  <a:lnTo>
                    <a:pt x="1152144" y="59944"/>
                  </a:lnTo>
                  <a:lnTo>
                    <a:pt x="1152144" y="299720"/>
                  </a:lnTo>
                  <a:lnTo>
                    <a:pt x="1147439" y="323054"/>
                  </a:lnTo>
                  <a:lnTo>
                    <a:pt x="1134602" y="342107"/>
                  </a:lnTo>
                  <a:lnTo>
                    <a:pt x="1115550" y="354953"/>
                  </a:lnTo>
                  <a:lnTo>
                    <a:pt x="1092200" y="359664"/>
                  </a:lnTo>
                  <a:lnTo>
                    <a:pt x="59943" y="359664"/>
                  </a:lnTo>
                  <a:lnTo>
                    <a:pt x="36593" y="354953"/>
                  </a:lnTo>
                  <a:lnTo>
                    <a:pt x="17541" y="342107"/>
                  </a:lnTo>
                  <a:lnTo>
                    <a:pt x="4704" y="323054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22">
            <a:extLst>
              <a:ext uri="{FF2B5EF4-FFF2-40B4-BE49-F238E27FC236}">
                <a16:creationId xmlns:a16="http://schemas.microsoft.com/office/drawing/2014/main" id="{FD0F5A33-C702-DE44-8701-3EF66E112795}"/>
              </a:ext>
            </a:extLst>
          </p:cNvPr>
          <p:cNvSpPr txBox="1"/>
          <p:nvPr/>
        </p:nvSpPr>
        <p:spPr>
          <a:xfrm>
            <a:off x="2554369" y="5647938"/>
            <a:ext cx="177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7" name="object 23">
            <a:extLst>
              <a:ext uri="{FF2B5EF4-FFF2-40B4-BE49-F238E27FC236}">
                <a16:creationId xmlns:a16="http://schemas.microsoft.com/office/drawing/2014/main" id="{9F144761-BB88-8D44-B8C4-351927D98E89}"/>
              </a:ext>
            </a:extLst>
          </p:cNvPr>
          <p:cNvSpPr/>
          <p:nvPr/>
        </p:nvSpPr>
        <p:spPr>
          <a:xfrm>
            <a:off x="9719709" y="564108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609"/>
                </a:lnTo>
                <a:lnTo>
                  <a:pt x="17541" y="17556"/>
                </a:lnTo>
                <a:lnTo>
                  <a:pt x="36593" y="4710"/>
                </a:lnTo>
                <a:lnTo>
                  <a:pt x="59944" y="0"/>
                </a:lnTo>
                <a:lnTo>
                  <a:pt x="1092200" y="0"/>
                </a:lnTo>
                <a:lnTo>
                  <a:pt x="1115550" y="4710"/>
                </a:lnTo>
                <a:lnTo>
                  <a:pt x="1134602" y="17556"/>
                </a:lnTo>
                <a:lnTo>
                  <a:pt x="1147439" y="36609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54"/>
                </a:lnTo>
                <a:lnTo>
                  <a:pt x="1134602" y="342107"/>
                </a:lnTo>
                <a:lnTo>
                  <a:pt x="1115550" y="354953"/>
                </a:lnTo>
                <a:lnTo>
                  <a:pt x="1092200" y="359664"/>
                </a:lnTo>
                <a:lnTo>
                  <a:pt x="59944" y="359664"/>
                </a:lnTo>
                <a:lnTo>
                  <a:pt x="36593" y="354953"/>
                </a:lnTo>
                <a:lnTo>
                  <a:pt x="17541" y="342107"/>
                </a:lnTo>
                <a:lnTo>
                  <a:pt x="4704" y="323054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4">
            <a:extLst>
              <a:ext uri="{FF2B5EF4-FFF2-40B4-BE49-F238E27FC236}">
                <a16:creationId xmlns:a16="http://schemas.microsoft.com/office/drawing/2014/main" id="{574E8441-B47A-2B49-BE9B-F3457C08D169}"/>
              </a:ext>
            </a:extLst>
          </p:cNvPr>
          <p:cNvSpPr txBox="1"/>
          <p:nvPr/>
        </p:nvSpPr>
        <p:spPr>
          <a:xfrm>
            <a:off x="10176402" y="5647938"/>
            <a:ext cx="177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9" name="object 25">
            <a:extLst>
              <a:ext uri="{FF2B5EF4-FFF2-40B4-BE49-F238E27FC236}">
                <a16:creationId xmlns:a16="http://schemas.microsoft.com/office/drawing/2014/main" id="{CC409953-B79E-C84A-87D3-DC7D469664CB}"/>
              </a:ext>
            </a:extLst>
          </p:cNvPr>
          <p:cNvSpPr/>
          <p:nvPr/>
        </p:nvSpPr>
        <p:spPr>
          <a:xfrm>
            <a:off x="5908947" y="5641081"/>
            <a:ext cx="1152525" cy="360045"/>
          </a:xfrm>
          <a:custGeom>
            <a:avLst/>
            <a:gdLst/>
            <a:ahLst/>
            <a:cxnLst/>
            <a:rect l="l" t="t" r="r" b="b"/>
            <a:pathLst>
              <a:path w="1152525" h="360045">
                <a:moveTo>
                  <a:pt x="0" y="59944"/>
                </a:moveTo>
                <a:lnTo>
                  <a:pt x="4704" y="36609"/>
                </a:lnTo>
                <a:lnTo>
                  <a:pt x="17541" y="17556"/>
                </a:lnTo>
                <a:lnTo>
                  <a:pt x="36593" y="4710"/>
                </a:lnTo>
                <a:lnTo>
                  <a:pt x="59943" y="0"/>
                </a:lnTo>
                <a:lnTo>
                  <a:pt x="1092200" y="0"/>
                </a:lnTo>
                <a:lnTo>
                  <a:pt x="1115550" y="4710"/>
                </a:lnTo>
                <a:lnTo>
                  <a:pt x="1134602" y="17556"/>
                </a:lnTo>
                <a:lnTo>
                  <a:pt x="1147439" y="36609"/>
                </a:lnTo>
                <a:lnTo>
                  <a:pt x="1152144" y="59944"/>
                </a:lnTo>
                <a:lnTo>
                  <a:pt x="1152144" y="299720"/>
                </a:lnTo>
                <a:lnTo>
                  <a:pt x="1147439" y="323054"/>
                </a:lnTo>
                <a:lnTo>
                  <a:pt x="1134602" y="342107"/>
                </a:lnTo>
                <a:lnTo>
                  <a:pt x="1115550" y="354953"/>
                </a:lnTo>
                <a:lnTo>
                  <a:pt x="1092200" y="359664"/>
                </a:lnTo>
                <a:lnTo>
                  <a:pt x="59943" y="359664"/>
                </a:lnTo>
                <a:lnTo>
                  <a:pt x="36593" y="354953"/>
                </a:lnTo>
                <a:lnTo>
                  <a:pt x="17541" y="342107"/>
                </a:lnTo>
                <a:lnTo>
                  <a:pt x="4704" y="323054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6">
            <a:extLst>
              <a:ext uri="{FF2B5EF4-FFF2-40B4-BE49-F238E27FC236}">
                <a16:creationId xmlns:a16="http://schemas.microsoft.com/office/drawing/2014/main" id="{17223B47-1629-AD4A-81A0-362FBAD266F8}"/>
              </a:ext>
            </a:extLst>
          </p:cNvPr>
          <p:cNvSpPr txBox="1"/>
          <p:nvPr/>
        </p:nvSpPr>
        <p:spPr>
          <a:xfrm>
            <a:off x="6346335" y="5647938"/>
            <a:ext cx="216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1" name="object 27">
            <a:extLst>
              <a:ext uri="{FF2B5EF4-FFF2-40B4-BE49-F238E27FC236}">
                <a16:creationId xmlns:a16="http://schemas.microsoft.com/office/drawing/2014/main" id="{762B02BC-9B6D-B442-8848-214AD2D53D97}"/>
              </a:ext>
            </a:extLst>
          </p:cNvPr>
          <p:cNvSpPr/>
          <p:nvPr/>
        </p:nvSpPr>
        <p:spPr>
          <a:xfrm>
            <a:off x="9059309" y="4981062"/>
            <a:ext cx="1236980" cy="661035"/>
          </a:xfrm>
          <a:custGeom>
            <a:avLst/>
            <a:gdLst/>
            <a:ahLst/>
            <a:cxnLst/>
            <a:rect l="l" t="t" r="r" b="b"/>
            <a:pathLst>
              <a:path w="1236979" h="661035">
                <a:moveTo>
                  <a:pt x="1126525" y="624497"/>
                </a:moveTo>
                <a:lnTo>
                  <a:pt x="1108837" y="658228"/>
                </a:lnTo>
                <a:lnTo>
                  <a:pt x="1236599" y="660692"/>
                </a:lnTo>
                <a:lnTo>
                  <a:pt x="1216898" y="633336"/>
                </a:lnTo>
                <a:lnTo>
                  <a:pt x="1143381" y="633336"/>
                </a:lnTo>
                <a:lnTo>
                  <a:pt x="1126525" y="624497"/>
                </a:lnTo>
                <a:close/>
              </a:path>
              <a:path w="1236979" h="661035">
                <a:moveTo>
                  <a:pt x="1144239" y="590718"/>
                </a:moveTo>
                <a:lnTo>
                  <a:pt x="1126525" y="624497"/>
                </a:lnTo>
                <a:lnTo>
                  <a:pt x="1143381" y="633336"/>
                </a:lnTo>
                <a:lnTo>
                  <a:pt x="1161161" y="599592"/>
                </a:lnTo>
                <a:lnTo>
                  <a:pt x="1144239" y="590718"/>
                </a:lnTo>
                <a:close/>
              </a:path>
              <a:path w="1236979" h="661035">
                <a:moveTo>
                  <a:pt x="1161923" y="556996"/>
                </a:moveTo>
                <a:lnTo>
                  <a:pt x="1144239" y="590718"/>
                </a:lnTo>
                <a:lnTo>
                  <a:pt x="1161161" y="599592"/>
                </a:lnTo>
                <a:lnTo>
                  <a:pt x="1143381" y="633336"/>
                </a:lnTo>
                <a:lnTo>
                  <a:pt x="1216898" y="633336"/>
                </a:lnTo>
                <a:lnTo>
                  <a:pt x="1161923" y="556996"/>
                </a:lnTo>
                <a:close/>
              </a:path>
              <a:path w="1236979" h="661035">
                <a:moveTo>
                  <a:pt x="17780" y="0"/>
                </a:moveTo>
                <a:lnTo>
                  <a:pt x="0" y="33781"/>
                </a:lnTo>
                <a:lnTo>
                  <a:pt x="1126525" y="624497"/>
                </a:lnTo>
                <a:lnTo>
                  <a:pt x="1144239" y="590718"/>
                </a:lnTo>
                <a:lnTo>
                  <a:pt x="17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8">
            <a:extLst>
              <a:ext uri="{FF2B5EF4-FFF2-40B4-BE49-F238E27FC236}">
                <a16:creationId xmlns:a16="http://schemas.microsoft.com/office/drawing/2014/main" id="{B126D673-6D5F-3F42-A9B5-F9DA5EA158C5}"/>
              </a:ext>
            </a:extLst>
          </p:cNvPr>
          <p:cNvSpPr txBox="1"/>
          <p:nvPr/>
        </p:nvSpPr>
        <p:spPr>
          <a:xfrm>
            <a:off x="9693802" y="4982967"/>
            <a:ext cx="216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3" name="object 29">
            <a:extLst>
              <a:ext uri="{FF2B5EF4-FFF2-40B4-BE49-F238E27FC236}">
                <a16:creationId xmlns:a16="http://schemas.microsoft.com/office/drawing/2014/main" id="{E36AC9EF-4F93-6043-BB3F-954B9F83C964}"/>
              </a:ext>
            </a:extLst>
          </p:cNvPr>
          <p:cNvSpPr/>
          <p:nvPr/>
        </p:nvSpPr>
        <p:spPr>
          <a:xfrm>
            <a:off x="1592979" y="2786629"/>
            <a:ext cx="217170" cy="3240405"/>
          </a:xfrm>
          <a:custGeom>
            <a:avLst/>
            <a:gdLst/>
            <a:ahLst/>
            <a:cxnLst/>
            <a:rect l="l" t="t" r="r" b="b"/>
            <a:pathLst>
              <a:path w="217169" h="3240404">
                <a:moveTo>
                  <a:pt x="217169" y="0"/>
                </a:moveTo>
                <a:lnTo>
                  <a:pt x="174914" y="1424"/>
                </a:lnTo>
                <a:lnTo>
                  <a:pt x="140398" y="5302"/>
                </a:lnTo>
                <a:lnTo>
                  <a:pt x="117121" y="11037"/>
                </a:lnTo>
                <a:lnTo>
                  <a:pt x="108584" y="18034"/>
                </a:lnTo>
                <a:lnTo>
                  <a:pt x="108584" y="1601978"/>
                </a:lnTo>
                <a:lnTo>
                  <a:pt x="100048" y="1608974"/>
                </a:lnTo>
                <a:lnTo>
                  <a:pt x="76771" y="1614709"/>
                </a:lnTo>
                <a:lnTo>
                  <a:pt x="42255" y="1618587"/>
                </a:lnTo>
                <a:lnTo>
                  <a:pt x="0" y="1620012"/>
                </a:lnTo>
                <a:lnTo>
                  <a:pt x="42255" y="1621436"/>
                </a:lnTo>
                <a:lnTo>
                  <a:pt x="76771" y="1625314"/>
                </a:lnTo>
                <a:lnTo>
                  <a:pt x="100048" y="1631049"/>
                </a:lnTo>
                <a:lnTo>
                  <a:pt x="108584" y="1638046"/>
                </a:lnTo>
                <a:lnTo>
                  <a:pt x="108584" y="3221926"/>
                </a:lnTo>
                <a:lnTo>
                  <a:pt x="117121" y="3228970"/>
                </a:lnTo>
                <a:lnTo>
                  <a:pt x="140398" y="3234723"/>
                </a:lnTo>
                <a:lnTo>
                  <a:pt x="174914" y="3238601"/>
                </a:lnTo>
                <a:lnTo>
                  <a:pt x="217169" y="32400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30">
            <a:extLst>
              <a:ext uri="{FF2B5EF4-FFF2-40B4-BE49-F238E27FC236}">
                <a16:creationId xmlns:a16="http://schemas.microsoft.com/office/drawing/2014/main" id="{DF38910B-DF97-664C-B242-F9DAF267EDC7}"/>
              </a:ext>
            </a:extLst>
          </p:cNvPr>
          <p:cNvGrpSpPr/>
          <p:nvPr/>
        </p:nvGrpSpPr>
        <p:grpSpPr>
          <a:xfrm>
            <a:off x="2745885" y="2767579"/>
            <a:ext cx="8609330" cy="3091180"/>
            <a:chOff x="2458211" y="3065526"/>
            <a:chExt cx="8609330" cy="3091180"/>
          </a:xfrm>
        </p:grpSpPr>
        <p:sp>
          <p:nvSpPr>
            <p:cNvPr id="45" name="object 31">
              <a:extLst>
                <a:ext uri="{FF2B5EF4-FFF2-40B4-BE49-F238E27FC236}">
                  <a16:creationId xmlns:a16="http://schemas.microsoft.com/office/drawing/2014/main" id="{6EE822FA-4876-F241-86C7-911BDC3A24B1}"/>
                </a:ext>
              </a:extLst>
            </p:cNvPr>
            <p:cNvSpPr/>
            <p:nvPr/>
          </p:nvSpPr>
          <p:spPr>
            <a:xfrm>
              <a:off x="6964679" y="3084576"/>
              <a:ext cx="4083685" cy="3053080"/>
            </a:xfrm>
            <a:custGeom>
              <a:avLst/>
              <a:gdLst/>
              <a:ahLst/>
              <a:cxnLst/>
              <a:rect l="l" t="t" r="r" b="b"/>
              <a:pathLst>
                <a:path w="4083684" h="3053079">
                  <a:moveTo>
                    <a:pt x="0" y="0"/>
                  </a:moveTo>
                  <a:lnTo>
                    <a:pt x="4083304" y="5841"/>
                  </a:lnTo>
                </a:path>
                <a:path w="4083684" h="3053079">
                  <a:moveTo>
                    <a:pt x="1239774" y="1040130"/>
                  </a:moveTo>
                  <a:lnTo>
                    <a:pt x="4083558" y="1040130"/>
                  </a:lnTo>
                </a:path>
                <a:path w="4083684" h="3053079">
                  <a:moveTo>
                    <a:pt x="2385060" y="2012442"/>
                  </a:moveTo>
                  <a:lnTo>
                    <a:pt x="4083430" y="2012442"/>
                  </a:lnTo>
                </a:path>
                <a:path w="4083684" h="3053079">
                  <a:moveTo>
                    <a:pt x="3643122" y="3052572"/>
                  </a:moveTo>
                  <a:lnTo>
                    <a:pt x="4083050" y="3052572"/>
                  </a:lnTo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2">
              <a:extLst>
                <a:ext uri="{FF2B5EF4-FFF2-40B4-BE49-F238E27FC236}">
                  <a16:creationId xmlns:a16="http://schemas.microsoft.com/office/drawing/2014/main" id="{CEF11184-6801-6244-A800-73A8244804CB}"/>
                </a:ext>
              </a:extLst>
            </p:cNvPr>
            <p:cNvSpPr/>
            <p:nvPr/>
          </p:nvSpPr>
          <p:spPr>
            <a:xfrm>
              <a:off x="2458211" y="5278247"/>
              <a:ext cx="1035050" cy="660400"/>
            </a:xfrm>
            <a:custGeom>
              <a:avLst/>
              <a:gdLst/>
              <a:ahLst/>
              <a:cxnLst/>
              <a:rect l="l" t="t" r="r" b="b"/>
              <a:pathLst>
                <a:path w="1035050" h="660400">
                  <a:moveTo>
                    <a:pt x="66420" y="550735"/>
                  </a:moveTo>
                  <a:lnTo>
                    <a:pt x="0" y="659930"/>
                  </a:lnTo>
                  <a:lnTo>
                    <a:pt x="127126" y="647509"/>
                  </a:lnTo>
                  <a:lnTo>
                    <a:pt x="113249" y="625386"/>
                  </a:lnTo>
                  <a:lnTo>
                    <a:pt x="90805" y="625386"/>
                  </a:lnTo>
                  <a:lnTo>
                    <a:pt x="70485" y="593128"/>
                  </a:lnTo>
                  <a:lnTo>
                    <a:pt x="86644" y="582974"/>
                  </a:lnTo>
                  <a:lnTo>
                    <a:pt x="66420" y="550735"/>
                  </a:lnTo>
                  <a:close/>
                </a:path>
                <a:path w="1035050" h="660400">
                  <a:moveTo>
                    <a:pt x="86644" y="582974"/>
                  </a:moveTo>
                  <a:lnTo>
                    <a:pt x="70485" y="593128"/>
                  </a:lnTo>
                  <a:lnTo>
                    <a:pt x="90805" y="625386"/>
                  </a:lnTo>
                  <a:lnTo>
                    <a:pt x="106903" y="615270"/>
                  </a:lnTo>
                  <a:lnTo>
                    <a:pt x="86644" y="582974"/>
                  </a:lnTo>
                  <a:close/>
                </a:path>
                <a:path w="1035050" h="660400">
                  <a:moveTo>
                    <a:pt x="106903" y="615270"/>
                  </a:moveTo>
                  <a:lnTo>
                    <a:pt x="90805" y="625386"/>
                  </a:lnTo>
                  <a:lnTo>
                    <a:pt x="113249" y="625386"/>
                  </a:lnTo>
                  <a:lnTo>
                    <a:pt x="106903" y="615270"/>
                  </a:lnTo>
                  <a:close/>
                </a:path>
                <a:path w="1035050" h="660400">
                  <a:moveTo>
                    <a:pt x="1014476" y="0"/>
                  </a:moveTo>
                  <a:lnTo>
                    <a:pt x="86644" y="582974"/>
                  </a:lnTo>
                  <a:lnTo>
                    <a:pt x="106903" y="615270"/>
                  </a:lnTo>
                  <a:lnTo>
                    <a:pt x="1034796" y="32257"/>
                  </a:lnTo>
                  <a:lnTo>
                    <a:pt x="10144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33">
            <a:extLst>
              <a:ext uri="{FF2B5EF4-FFF2-40B4-BE49-F238E27FC236}">
                <a16:creationId xmlns:a16="http://schemas.microsoft.com/office/drawing/2014/main" id="{F2895EF4-F008-944B-BBD2-8054CA0A2B29}"/>
              </a:ext>
            </a:extLst>
          </p:cNvPr>
          <p:cNvSpPr txBox="1"/>
          <p:nvPr/>
        </p:nvSpPr>
        <p:spPr>
          <a:xfrm>
            <a:off x="11488057" y="2588001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8" name="object 34">
            <a:extLst>
              <a:ext uri="{FF2B5EF4-FFF2-40B4-BE49-F238E27FC236}">
                <a16:creationId xmlns:a16="http://schemas.microsoft.com/office/drawing/2014/main" id="{79841621-895A-AC43-A974-202A3814E809}"/>
              </a:ext>
            </a:extLst>
          </p:cNvPr>
          <p:cNvSpPr txBox="1"/>
          <p:nvPr/>
        </p:nvSpPr>
        <p:spPr>
          <a:xfrm>
            <a:off x="11488057" y="3622797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9" name="object 35">
            <a:extLst>
              <a:ext uri="{FF2B5EF4-FFF2-40B4-BE49-F238E27FC236}">
                <a16:creationId xmlns:a16="http://schemas.microsoft.com/office/drawing/2014/main" id="{914CFC61-1D2F-4D4E-B84D-7901A4459AA4}"/>
              </a:ext>
            </a:extLst>
          </p:cNvPr>
          <p:cNvSpPr txBox="1"/>
          <p:nvPr/>
        </p:nvSpPr>
        <p:spPr>
          <a:xfrm>
            <a:off x="11488057" y="4595363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0" name="object 36">
            <a:extLst>
              <a:ext uri="{FF2B5EF4-FFF2-40B4-BE49-F238E27FC236}">
                <a16:creationId xmlns:a16="http://schemas.microsoft.com/office/drawing/2014/main" id="{9C090C9E-E27B-A040-8860-3FCE07DD7DA6}"/>
              </a:ext>
            </a:extLst>
          </p:cNvPr>
          <p:cNvSpPr txBox="1"/>
          <p:nvPr/>
        </p:nvSpPr>
        <p:spPr>
          <a:xfrm>
            <a:off x="11488057" y="5635238"/>
            <a:ext cx="206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1" name="object 37">
            <a:extLst>
              <a:ext uri="{FF2B5EF4-FFF2-40B4-BE49-F238E27FC236}">
                <a16:creationId xmlns:a16="http://schemas.microsoft.com/office/drawing/2014/main" id="{B72CFF32-72A4-294C-991C-5EF4D44BD94F}"/>
              </a:ext>
            </a:extLst>
          </p:cNvPr>
          <p:cNvSpPr txBox="1"/>
          <p:nvPr/>
        </p:nvSpPr>
        <p:spPr>
          <a:xfrm>
            <a:off x="3014872" y="4948931"/>
            <a:ext cx="2165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5DE50D15-0224-7444-B7AB-82D9587A79E5}"/>
              </a:ext>
            </a:extLst>
          </p:cNvPr>
          <p:cNvSpPr txBox="1"/>
          <p:nvPr/>
        </p:nvSpPr>
        <p:spPr>
          <a:xfrm>
            <a:off x="310279" y="3847554"/>
            <a:ext cx="1294130" cy="6718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2000" spc="-2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递归树深</a:t>
            </a:r>
            <a:r>
              <a:rPr sz="2000" spc="-5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度</a:t>
            </a:r>
            <a:endParaRPr sz="20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3335" algn="ctr">
              <a:lnSpc>
                <a:spcPct val="100000"/>
              </a:lnSpc>
              <a:spcBef>
                <a:spcPts val="145"/>
              </a:spcBef>
            </a:pPr>
            <a:r>
              <a:rPr sz="2000" spc="-10" dirty="0">
                <a:solidFill>
                  <a:srgbClr val="FF0000"/>
                </a:solidFill>
                <a:latin typeface="Cambria Math"/>
                <a:cs typeface="Cambria Math"/>
              </a:rPr>
              <a:t>𝐥𝐨𝐠</a:t>
            </a:r>
            <a:r>
              <a:rPr sz="2000" spc="-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00" dirty="0">
              <a:latin typeface="Cambria Math"/>
              <a:cs typeface="Cambria Math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90CCC58-5649-C04D-A5EE-9CD82186BC4F}"/>
              </a:ext>
            </a:extLst>
          </p:cNvPr>
          <p:cNvGrpSpPr/>
          <p:nvPr/>
        </p:nvGrpSpPr>
        <p:grpSpPr>
          <a:xfrm>
            <a:off x="1356613" y="2390979"/>
            <a:ext cx="1948180" cy="391160"/>
            <a:chOff x="1356613" y="2390979"/>
            <a:chExt cx="1948180" cy="391160"/>
          </a:xfrm>
        </p:grpSpPr>
        <p:sp>
          <p:nvSpPr>
            <p:cNvPr id="53" name="object 40">
              <a:extLst>
                <a:ext uri="{FF2B5EF4-FFF2-40B4-BE49-F238E27FC236}">
                  <a16:creationId xmlns:a16="http://schemas.microsoft.com/office/drawing/2014/main" id="{E2CD6358-3E5F-AF40-AA29-9066195813A5}"/>
                </a:ext>
              </a:extLst>
            </p:cNvPr>
            <p:cNvSpPr txBox="1"/>
            <p:nvPr/>
          </p:nvSpPr>
          <p:spPr>
            <a:xfrm>
              <a:off x="1356613" y="2390979"/>
              <a:ext cx="194818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737235" algn="l"/>
                </a:tabLst>
              </a:pPr>
              <a:r>
                <a:rPr sz="2400" dirty="0">
                  <a:solidFill>
                    <a:srgbClr val="FF0000"/>
                  </a:solidFill>
                  <a:latin typeface="Cambria Math"/>
                  <a:cs typeface="Cambria Math"/>
                </a:rPr>
                <a:t>𝑻</a:t>
              </a:r>
              <a:r>
                <a:rPr sz="2400" spc="455" dirty="0">
                  <a:solidFill>
                    <a:srgbClr val="FF0000"/>
                  </a:solidFill>
                  <a:latin typeface="Cambria Math"/>
                  <a:cs typeface="Cambria Math"/>
                </a:rPr>
                <a:t> </a:t>
              </a:r>
              <a:r>
                <a:rPr sz="2400" spc="-50" dirty="0">
                  <a:solidFill>
                    <a:srgbClr val="FF0000"/>
                  </a:solidFill>
                  <a:latin typeface="Cambria Math"/>
                  <a:cs typeface="Cambria Math"/>
                </a:rPr>
                <a:t>𝒏</a:t>
              </a:r>
              <a:r>
                <a:rPr sz="2400" dirty="0">
                  <a:solidFill>
                    <a:srgbClr val="FF0000"/>
                  </a:solidFill>
                  <a:latin typeface="Cambria Math"/>
                  <a:cs typeface="Cambria Math"/>
                </a:rPr>
                <a:t>	=</a:t>
              </a:r>
              <a:r>
                <a:rPr sz="2400" spc="130" dirty="0">
                  <a:solidFill>
                    <a:srgbClr val="FF0000"/>
                  </a:solidFill>
                  <a:latin typeface="Cambria Math"/>
                  <a:cs typeface="Cambria Math"/>
                </a:rPr>
                <a:t> </a:t>
              </a:r>
              <a:r>
                <a:rPr sz="2400" dirty="0">
                  <a:solidFill>
                    <a:srgbClr val="FF0000"/>
                  </a:solidFill>
                  <a:latin typeface="Cambria Math"/>
                  <a:cs typeface="Cambria Math"/>
                </a:rPr>
                <a:t>𝒏𝐥𝐨𝐠</a:t>
              </a:r>
              <a:r>
                <a:rPr sz="2400" spc="-135" dirty="0">
                  <a:solidFill>
                    <a:srgbClr val="FF0000"/>
                  </a:solidFill>
                  <a:latin typeface="Cambria Math"/>
                  <a:cs typeface="Cambria Math"/>
                </a:rPr>
                <a:t> </a:t>
              </a:r>
              <a:r>
                <a:rPr sz="2400" spc="-50" dirty="0">
                  <a:solidFill>
                    <a:srgbClr val="FF0000"/>
                  </a:solidFill>
                  <a:latin typeface="Cambria Math"/>
                  <a:cs typeface="Cambria Math"/>
                </a:rPr>
                <a:t>𝒏</a:t>
              </a:r>
              <a:endParaRPr sz="2400" dirty="0">
                <a:latin typeface="Cambria Math"/>
                <a:cs typeface="Cambria Math"/>
              </a:endParaRPr>
            </a:p>
          </p:txBody>
        </p:sp>
        <p:sp>
          <p:nvSpPr>
            <p:cNvPr id="54" name="object 39">
              <a:extLst>
                <a:ext uri="{FF2B5EF4-FFF2-40B4-BE49-F238E27FC236}">
                  <a16:creationId xmlns:a16="http://schemas.microsoft.com/office/drawing/2014/main" id="{F7911E83-13D3-2F43-89EF-16610CF50466}"/>
                </a:ext>
              </a:extLst>
            </p:cNvPr>
            <p:cNvSpPr/>
            <p:nvPr/>
          </p:nvSpPr>
          <p:spPr>
            <a:xfrm>
              <a:off x="1586483" y="2480260"/>
              <a:ext cx="396875" cy="282575"/>
            </a:xfrm>
            <a:custGeom>
              <a:avLst/>
              <a:gdLst/>
              <a:ahLst/>
              <a:cxnLst/>
              <a:rect l="l" t="t" r="r" b="b"/>
              <a:pathLst>
                <a:path w="396875" h="282575">
                  <a:moveTo>
                    <a:pt x="306704" y="0"/>
                  </a:moveTo>
                  <a:lnTo>
                    <a:pt x="302767" y="11430"/>
                  </a:lnTo>
                  <a:lnTo>
                    <a:pt x="319075" y="18522"/>
                  </a:lnTo>
                  <a:lnTo>
                    <a:pt x="333120" y="28352"/>
                  </a:lnTo>
                  <a:lnTo>
                    <a:pt x="361644" y="73852"/>
                  </a:lnTo>
                  <a:lnTo>
                    <a:pt x="369939" y="115623"/>
                  </a:lnTo>
                  <a:lnTo>
                    <a:pt x="370966" y="139700"/>
                  </a:lnTo>
                  <a:lnTo>
                    <a:pt x="369939" y="164633"/>
                  </a:lnTo>
                  <a:lnTo>
                    <a:pt x="361644" y="207547"/>
                  </a:lnTo>
                  <a:lnTo>
                    <a:pt x="333168" y="253793"/>
                  </a:lnTo>
                  <a:lnTo>
                    <a:pt x="303148" y="270891"/>
                  </a:lnTo>
                  <a:lnTo>
                    <a:pt x="306704" y="282321"/>
                  </a:lnTo>
                  <a:lnTo>
                    <a:pt x="345249" y="264239"/>
                  </a:lnTo>
                  <a:lnTo>
                    <a:pt x="373507" y="232918"/>
                  </a:lnTo>
                  <a:lnTo>
                    <a:pt x="390937" y="191119"/>
                  </a:lnTo>
                  <a:lnTo>
                    <a:pt x="396747" y="141224"/>
                  </a:lnTo>
                  <a:lnTo>
                    <a:pt x="395295" y="115339"/>
                  </a:lnTo>
                  <a:lnTo>
                    <a:pt x="383674" y="69429"/>
                  </a:lnTo>
                  <a:lnTo>
                    <a:pt x="360604" y="32093"/>
                  </a:lnTo>
                  <a:lnTo>
                    <a:pt x="327179" y="7379"/>
                  </a:lnTo>
                  <a:lnTo>
                    <a:pt x="306704" y="0"/>
                  </a:lnTo>
                  <a:close/>
                </a:path>
                <a:path w="396875" h="282575">
                  <a:moveTo>
                    <a:pt x="90042" y="0"/>
                  </a:moveTo>
                  <a:lnTo>
                    <a:pt x="51641" y="18081"/>
                  </a:lnTo>
                  <a:lnTo>
                    <a:pt x="23240" y="49403"/>
                  </a:lnTo>
                  <a:lnTo>
                    <a:pt x="5810" y="91408"/>
                  </a:lnTo>
                  <a:lnTo>
                    <a:pt x="0" y="141224"/>
                  </a:lnTo>
                  <a:lnTo>
                    <a:pt x="1452" y="167177"/>
                  </a:lnTo>
                  <a:lnTo>
                    <a:pt x="13073" y="213036"/>
                  </a:lnTo>
                  <a:lnTo>
                    <a:pt x="36125" y="250227"/>
                  </a:lnTo>
                  <a:lnTo>
                    <a:pt x="69514" y="274941"/>
                  </a:lnTo>
                  <a:lnTo>
                    <a:pt x="90042" y="282321"/>
                  </a:lnTo>
                  <a:lnTo>
                    <a:pt x="93598" y="270891"/>
                  </a:lnTo>
                  <a:lnTo>
                    <a:pt x="77531" y="263717"/>
                  </a:lnTo>
                  <a:lnTo>
                    <a:pt x="63642" y="253793"/>
                  </a:lnTo>
                  <a:lnTo>
                    <a:pt x="35210" y="207547"/>
                  </a:lnTo>
                  <a:lnTo>
                    <a:pt x="26828" y="164633"/>
                  </a:lnTo>
                  <a:lnTo>
                    <a:pt x="25781" y="139700"/>
                  </a:lnTo>
                  <a:lnTo>
                    <a:pt x="26828" y="115623"/>
                  </a:lnTo>
                  <a:lnTo>
                    <a:pt x="35210" y="73852"/>
                  </a:lnTo>
                  <a:lnTo>
                    <a:pt x="63753" y="28352"/>
                  </a:lnTo>
                  <a:lnTo>
                    <a:pt x="94107" y="11430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3878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864A6C-25DA-A346-8F6E-E5036B2B0A72}"/>
              </a:ext>
            </a:extLst>
          </p:cNvPr>
          <p:cNvSpPr txBox="1"/>
          <p:nvPr/>
        </p:nvSpPr>
        <p:spPr>
          <a:xfrm>
            <a:off x="1294227" y="211016"/>
            <a:ext cx="5626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小结</a:t>
            </a:r>
            <a:r>
              <a:rPr kumimoji="1" lang="en-US" altLang="zh-CN" sz="40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最大非空子数组</a:t>
            </a:r>
            <a:endParaRPr kumimoji="1" lang="zh-CN" altLang="en-US" sz="4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5A69B0-3590-8C4A-B7AB-A4ADBF86F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980981"/>
              </p:ext>
            </p:extLst>
          </p:nvPr>
        </p:nvGraphicFramePr>
        <p:xfrm>
          <a:off x="1880489" y="1380848"/>
          <a:ext cx="8418830" cy="219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 marR="15360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5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算法名称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0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时间复杂度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 marR="153860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蛮力枚举</a:t>
                      </a:r>
                      <a:endParaRPr sz="2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 marR="153860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优化枚举</a:t>
                      </a:r>
                      <a:endParaRPr sz="2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marR="153860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分而治之</a:t>
                      </a:r>
                      <a:endParaRPr sz="2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0" dirty="0">
                          <a:latin typeface="Cambria Math"/>
                          <a:cs typeface="Cambria Math"/>
                        </a:rPr>
                        <a:t>𝑶(𝒏𝐥𝐨𝐠</a:t>
                      </a:r>
                      <a:r>
                        <a:rPr sz="2200" spc="-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25" dirty="0">
                          <a:latin typeface="Cambria Math"/>
                          <a:cs typeface="Cambria Math"/>
                        </a:rPr>
                        <a:t>𝒏)</a:t>
                      </a:r>
                      <a:endParaRPr sz="2200" dirty="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9A09F5A-B42B-2647-B9D3-8F59BC16CAA1}"/>
              </a:ext>
            </a:extLst>
          </p:cNvPr>
          <p:cNvSpPr txBox="1"/>
          <p:nvPr/>
        </p:nvSpPr>
        <p:spPr>
          <a:xfrm>
            <a:off x="1777429" y="4076602"/>
            <a:ext cx="7191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spc="-3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问题：是否可以设计一个时间复杂度</a:t>
            </a:r>
            <a:r>
              <a:rPr lang="zh-CN" altLang="en-US" sz="2400" spc="-3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𝑶</a:t>
            </a:r>
            <a:r>
              <a:rPr lang="en-US" altLang="zh-CN" sz="24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(𝒏)</a:t>
            </a:r>
            <a:r>
              <a:rPr lang="zh-CN" altLang="en-US" sz="2400" spc="-3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的算</a:t>
            </a:r>
            <a:r>
              <a:rPr lang="zh-CN" altLang="en-US" sz="2400" spc="-4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法？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C80E99-E276-854B-8F32-00146082B181}"/>
              </a:ext>
            </a:extLst>
          </p:cNvPr>
          <p:cNvSpPr txBox="1"/>
          <p:nvPr/>
        </p:nvSpPr>
        <p:spPr>
          <a:xfrm>
            <a:off x="1777429" y="4853525"/>
            <a:ext cx="9945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spc="-3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答案：</a:t>
            </a:r>
            <a:r>
              <a:rPr lang="zh-CN" altLang="en-US" sz="2400" spc="-3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动态规划</a:t>
            </a:r>
            <a:r>
              <a:rPr lang="zh-CN" altLang="en-US" sz="2400" spc="-5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！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26965B-FAE3-0D4F-9F67-998393409061}"/>
              </a:ext>
            </a:extLst>
          </p:cNvPr>
          <p:cNvSpPr txBox="1"/>
          <p:nvPr/>
        </p:nvSpPr>
        <p:spPr>
          <a:xfrm>
            <a:off x="-246580" y="4899691"/>
            <a:ext cx="9945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2550" algn="ctr">
              <a:lnSpc>
                <a:spcPct val="100000"/>
              </a:lnSpc>
              <a:spcBef>
                <a:spcPts val="130"/>
              </a:spcBef>
            </a:pPr>
            <a:r>
              <a:rPr lang="zh-CN" altLang="en-US"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lang="en-US" altLang="zh-CN" sz="1800" spc="-20" dirty="0">
                <a:solidFill>
                  <a:srgbClr val="FF0000"/>
                </a:solidFill>
                <a:latin typeface="Cambria Math"/>
                <a:cs typeface="Cambria Math"/>
              </a:rPr>
              <a:t>(𝒏)</a:t>
            </a:r>
            <a:endParaRPr lang="zh-CN" altLang="en-US" sz="18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80441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  <p:sp>
        <p:nvSpPr>
          <p:cNvPr id="4" name="矩形 40963">
            <a:extLst>
              <a:ext uri="{FF2B5EF4-FFF2-40B4-BE49-F238E27FC236}">
                <a16:creationId xmlns:a16="http://schemas.microsoft.com/office/drawing/2014/main" id="{0B9D7BC2-E234-2143-B91E-06F5482A0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28" y="1370864"/>
            <a:ext cx="10021384" cy="456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5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实例：</a:t>
            </a: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金块问题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有一袋金块</a:t>
            </a:r>
            <a:r>
              <a:rPr lang="en-US" altLang="zh-CN" sz="26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共</a:t>
            </a:r>
            <a:r>
              <a:rPr lang="en-US" altLang="zh-CN" sz="2600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块</a:t>
            </a:r>
            <a:r>
              <a:rPr lang="en-US" altLang="zh-CN" sz="26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，重量不一。假设有一台比较重量的仪器，设计算法用</a:t>
            </a:r>
            <a:r>
              <a:rPr lang="zh-CN" altLang="en-US" sz="2600" u="sng" dirty="0">
                <a:solidFill>
                  <a:srgbClr val="000099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最少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的比较次数找出最重和最轻的金块。</a:t>
            </a:r>
          </a:p>
        </p:txBody>
      </p:sp>
    </p:spTree>
    <p:extLst>
      <p:ext uri="{BB962C8B-B14F-4D97-AF65-F5344CB8AC3E}">
        <p14:creationId xmlns:p14="http://schemas.microsoft.com/office/powerpoint/2010/main" val="71320246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  <p:sp>
        <p:nvSpPr>
          <p:cNvPr id="6" name="矩形 41988">
            <a:extLst>
              <a:ext uri="{FF2B5EF4-FFF2-40B4-BE49-F238E27FC236}">
                <a16:creationId xmlns:a16="http://schemas.microsoft.com/office/drawing/2014/main" id="{BC33E63D-A0D0-7548-A808-A461E03ED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858" y="1542663"/>
            <a:ext cx="10376791" cy="3787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44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</a:t>
            </a:r>
            <a:r>
              <a:rPr lang="en-US" altLang="zh-CN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设计：</a:t>
            </a:r>
          </a:p>
          <a:p>
            <a:pPr>
              <a:lnSpc>
                <a:spcPct val="150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比较简单的方法是用</a:t>
            </a:r>
            <a:r>
              <a:rPr lang="zh-CN" altLang="en-US" sz="26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蛮力策略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，逐个进行比较查找。</a:t>
            </a:r>
            <a:endParaRPr lang="en-US" altLang="zh-CN" sz="2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先拿两块比较重量，留下重的一个与下一块比较，直到全部比较完毕，   </a:t>
            </a:r>
            <a:endParaRPr lang="en-US" altLang="zh-CN" sz="2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就找到了</a:t>
            </a:r>
            <a:r>
              <a:rPr lang="zh-CN" altLang="en-US" sz="2600" dirty="0">
                <a:solidFill>
                  <a:schemeClr val="accent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最重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的金子。</a:t>
            </a:r>
          </a:p>
          <a:p>
            <a:pPr>
              <a:lnSpc>
                <a:spcPct val="150000"/>
              </a:lnSpc>
              <a:spcBef>
                <a:spcPct val="40000"/>
              </a:spcBef>
              <a:buClrTx/>
              <a:buFontTx/>
              <a:buNone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用同样的方法可以找出</a:t>
            </a:r>
            <a:r>
              <a:rPr lang="zh-CN" altLang="en-US" sz="2600" dirty="0">
                <a:solidFill>
                  <a:schemeClr val="accent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最轻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的金砖。</a:t>
            </a:r>
          </a:p>
        </p:txBody>
      </p:sp>
    </p:spTree>
    <p:extLst>
      <p:ext uri="{BB962C8B-B14F-4D97-AF65-F5344CB8AC3E}">
        <p14:creationId xmlns:p14="http://schemas.microsoft.com/office/powerpoint/2010/main" val="87999905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3013">
            <a:extLst>
              <a:ext uri="{FF2B5EF4-FFF2-40B4-BE49-F238E27FC236}">
                <a16:creationId xmlns:a16="http://schemas.microsoft.com/office/drawing/2014/main" id="{7C2E6AA6-A9DE-644E-8F99-D89A098CD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64" y="1269206"/>
            <a:ext cx="8642350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44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</a:t>
            </a:r>
            <a:r>
              <a:rPr lang="en-US" altLang="zh-CN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实现：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  <a:r>
              <a:rPr lang="zh-CN" altLang="en-US" sz="2400" dirty="0"/>
              <a:t>	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lang="zh-CN" altLang="en-US" sz="2400" dirty="0"/>
              <a:t>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maxmin( float a[],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n)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 	{  max=a[1];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	    min=a[1];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     	    for(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&lt;=n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 )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	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if(max &lt; 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	max=a[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	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if(min &gt; 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  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min=a[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	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A0AB53-8899-634D-91E7-F2B33B9D7ABC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</p:spTree>
    <p:extLst>
      <p:ext uri="{BB962C8B-B14F-4D97-AF65-F5344CB8AC3E}">
        <p14:creationId xmlns:p14="http://schemas.microsoft.com/office/powerpoint/2010/main" val="167215457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5A0AB53-8899-634D-91E7-F2B33B9D7ABC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  <p:sp>
        <p:nvSpPr>
          <p:cNvPr id="5" name="矩形 44036">
            <a:extLst>
              <a:ext uri="{FF2B5EF4-FFF2-40B4-BE49-F238E27FC236}">
                <a16:creationId xmlns:a16="http://schemas.microsoft.com/office/drawing/2014/main" id="{BD9800C2-CAE2-7E42-8374-833EEA4B7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21" y="1560436"/>
            <a:ext cx="8224838" cy="303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80000"/>
            </a:pP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</a:t>
            </a:r>
            <a:r>
              <a:rPr lang="en-US" altLang="zh-CN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分析：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SzPct val="80000"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算法的比较次数：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SzPct val="80000"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6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最好的情况：</a:t>
            </a:r>
            <a:r>
              <a:rPr lang="en-US" altLang="zh-CN" sz="2600" dirty="0">
                <a:latin typeface="SimSun" panose="02010600030101010101" pitchFamily="2" charset="-122"/>
                <a:ea typeface="SimSun" panose="02010600030101010101" pitchFamily="2" charset="-122"/>
              </a:rPr>
              <a:t>n-1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次比较；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SzPct val="80000"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6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最坏的情况：</a:t>
            </a:r>
            <a:r>
              <a:rPr lang="en-US" altLang="zh-CN" sz="2600" dirty="0">
                <a:latin typeface="SimSun" panose="02010600030101010101" pitchFamily="2" charset="-122"/>
                <a:ea typeface="SimSun" panose="02010600030101010101" pitchFamily="2" charset="-122"/>
              </a:rPr>
              <a:t>2(n-1)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次比较；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SzPct val="80000"/>
            </a:pP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6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平均情况：</a:t>
            </a:r>
            <a:r>
              <a:rPr lang="en-US" altLang="zh-CN" sz="2600" dirty="0">
                <a:latin typeface="SimSun" panose="02010600030101010101" pitchFamily="2" charset="-122"/>
                <a:ea typeface="SimSun" panose="02010600030101010101" pitchFamily="2" charset="-122"/>
              </a:rPr>
              <a:t>3(n-1)/2</a:t>
            </a:r>
            <a:r>
              <a:rPr lang="zh-CN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次比较。 </a:t>
            </a:r>
          </a:p>
        </p:txBody>
      </p:sp>
    </p:spTree>
    <p:extLst>
      <p:ext uri="{BB962C8B-B14F-4D97-AF65-F5344CB8AC3E}">
        <p14:creationId xmlns:p14="http://schemas.microsoft.com/office/powerpoint/2010/main" val="173576685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5060">
            <a:extLst>
              <a:ext uri="{FF2B5EF4-FFF2-40B4-BE49-F238E27FC236}">
                <a16:creationId xmlns:a16="http://schemas.microsoft.com/office/drawing/2014/main" id="{A41CC2EE-3818-3F46-B1C3-C4C39D1E2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94" y="1375898"/>
            <a:ext cx="9918159" cy="345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</a:t>
            </a:r>
            <a:r>
              <a:rPr lang="en-US" altLang="zh-CN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设计</a:t>
            </a:r>
            <a:r>
              <a:rPr lang="en-US" altLang="zh-CN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:</a:t>
            </a:r>
          </a:p>
          <a:p>
            <a:pPr>
              <a:lnSpc>
                <a:spcPct val="110000"/>
              </a:lnSpc>
              <a:spcBef>
                <a:spcPct val="55000"/>
              </a:spcBef>
              <a:spcAft>
                <a:spcPct val="40000"/>
              </a:spcAft>
              <a:buClr>
                <a:schemeClr val="hlink"/>
              </a:buClr>
              <a:buSzPct val="80000"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用分治法（二分法）解决上述问题：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1) 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将数据等分为两组（两组数据可能差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）；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2) 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递归分解直到每组元素的个数≤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，可简单地找到最大、最小值；</a:t>
            </a:r>
          </a:p>
          <a:p>
            <a:pPr>
              <a:lnSpc>
                <a:spcPct val="15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3) 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回溯时将分解的</a:t>
            </a:r>
            <a:r>
              <a:rPr lang="zh-CN" altLang="en-US" sz="2400" dirty="0">
                <a:solidFill>
                  <a:schemeClr val="accent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两组解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大者取大，小者取小，合并为当前问题的解。</a:t>
            </a:r>
            <a:b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C44AD1-A7D4-DC41-9433-534C11D0DB13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</p:spTree>
    <p:extLst>
      <p:ext uri="{BB962C8B-B14F-4D97-AF65-F5344CB8AC3E}">
        <p14:creationId xmlns:p14="http://schemas.microsoft.com/office/powerpoint/2010/main" val="425307706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6084">
            <a:extLst>
              <a:ext uri="{FF2B5EF4-FFF2-40B4-BE49-F238E27FC236}">
                <a16:creationId xmlns:a16="http://schemas.microsoft.com/office/drawing/2014/main" id="{FCC9F180-1C1F-C84A-8551-7219EA166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16" y="1427550"/>
            <a:ext cx="4321175" cy="499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44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maxmin 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 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&amp;fmax, &amp;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int mid;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lmax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rmax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=j)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 fmax= 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}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=j-1)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]&lt;a[j])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 fmax= a[j]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}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  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 fmax= a[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a[j]; }</a:t>
            </a:r>
          </a:p>
        </p:txBody>
      </p:sp>
      <p:sp>
        <p:nvSpPr>
          <p:cNvPr id="4" name="矩形 46085">
            <a:extLst>
              <a:ext uri="{FF2B5EF4-FFF2-40B4-BE49-F238E27FC236}">
                <a16:creationId xmlns:a16="http://schemas.microsoft.com/office/drawing/2014/main" id="{0B52E333-1F6F-044D-83FD-F70764E8E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55" y="1423632"/>
            <a:ext cx="4963804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44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mid=(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2;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maxmin 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i,mid,lmax,lmin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maxmin (mid+1,j,rmax,rmin);</a:t>
            </a:r>
          </a:p>
          <a:p>
            <a:pPr>
              <a:lnSpc>
                <a:spcPct val="9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lmax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rmax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</a:p>
          <a:p>
            <a:pPr>
              <a:lnSpc>
                <a:spcPct val="90000"/>
              </a:lnSpc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fmax=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lmax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fmax=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rmax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8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3E7E4E-D266-584F-8CE7-893071885756}"/>
              </a:ext>
            </a:extLst>
          </p:cNvPr>
          <p:cNvSpPr/>
          <p:nvPr/>
        </p:nvSpPr>
        <p:spPr>
          <a:xfrm>
            <a:off x="1257434" y="323387"/>
            <a:ext cx="7453313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44450"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itchFamily="2" charset="2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SzPct val="80000"/>
            </a:pP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</a:t>
            </a:r>
            <a:r>
              <a:rPr lang="en-US" altLang="zh-CN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实现：</a:t>
            </a: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递归求取最大、最小元素</a:t>
            </a:r>
          </a:p>
        </p:txBody>
      </p:sp>
    </p:spTree>
    <p:extLst>
      <p:ext uri="{BB962C8B-B14F-4D97-AF65-F5344CB8AC3E}">
        <p14:creationId xmlns:p14="http://schemas.microsoft.com/office/powerpoint/2010/main" val="10002308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19980</TotalTime>
  <Words>7586</Words>
  <Application>Microsoft Office PowerPoint</Application>
  <PresentationFormat>宽屏</PresentationFormat>
  <Paragraphs>2246</Paragraphs>
  <Slides>125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39" baseType="lpstr">
      <vt:lpstr>Microsoft JhengHei</vt:lpstr>
      <vt:lpstr>PMingLiU</vt:lpstr>
      <vt:lpstr>Times New Roman Regular</vt:lpstr>
      <vt:lpstr>等线</vt:lpstr>
      <vt:lpstr>等线 Light</vt:lpstr>
      <vt:lpstr>方正大标宋简体</vt:lpstr>
      <vt:lpstr>方正清刻本悦宋简体</vt:lpstr>
      <vt:lpstr>SimSun</vt:lpstr>
      <vt:lpstr>SimSun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PowerPoint 演示文稿</vt:lpstr>
      <vt:lpstr>分而治之：一般步骤</vt:lpstr>
      <vt:lpstr>归并排序</vt:lpstr>
      <vt:lpstr>归并排序</vt:lpstr>
      <vt:lpstr>归并排序</vt:lpstr>
      <vt:lpstr>归并排序：伪代码</vt:lpstr>
      <vt:lpstr>归并排序：伪代码</vt:lpstr>
      <vt:lpstr>归并排序：伪代码</vt:lpstr>
      <vt:lpstr>归并排序：伪代码</vt:lpstr>
      <vt:lpstr>归并排序：伪代码</vt:lpstr>
      <vt:lpstr>归并排序：伪代码</vt:lpstr>
      <vt:lpstr>归并排序：伪代码</vt:lpstr>
      <vt:lpstr>归并排序：伪代码</vt:lpstr>
      <vt:lpstr>归并排序：伪代码</vt:lpstr>
      <vt:lpstr>归并排序：复杂度分析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算法设计与分析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zero fly</cp:lastModifiedBy>
  <cp:revision>652</cp:revision>
  <dcterms:created xsi:type="dcterms:W3CDTF">2022-08-31T02:13:47Z</dcterms:created>
  <dcterms:modified xsi:type="dcterms:W3CDTF">2023-06-29T08:22:33Z</dcterms:modified>
</cp:coreProperties>
</file>