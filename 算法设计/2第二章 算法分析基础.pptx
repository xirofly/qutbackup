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395" r:id="rId2"/>
    <p:sldId id="417" r:id="rId3"/>
    <p:sldId id="351" r:id="rId4"/>
    <p:sldId id="367" r:id="rId5"/>
    <p:sldId id="353" r:id="rId6"/>
    <p:sldId id="352" r:id="rId7"/>
    <p:sldId id="354" r:id="rId8"/>
    <p:sldId id="321" r:id="rId9"/>
    <p:sldId id="322" r:id="rId10"/>
    <p:sldId id="323" r:id="rId11"/>
    <p:sldId id="320" r:id="rId12"/>
    <p:sldId id="324" r:id="rId13"/>
    <p:sldId id="319" r:id="rId14"/>
    <p:sldId id="318" r:id="rId15"/>
    <p:sldId id="343" r:id="rId16"/>
    <p:sldId id="259" r:id="rId17"/>
    <p:sldId id="258" r:id="rId18"/>
    <p:sldId id="262" r:id="rId19"/>
    <p:sldId id="397" r:id="rId20"/>
    <p:sldId id="396" r:id="rId21"/>
    <p:sldId id="398" r:id="rId22"/>
    <p:sldId id="399" r:id="rId23"/>
    <p:sldId id="400" r:id="rId24"/>
    <p:sldId id="401" r:id="rId25"/>
    <p:sldId id="402" r:id="rId26"/>
    <p:sldId id="403" r:id="rId27"/>
    <p:sldId id="404" r:id="rId28"/>
    <p:sldId id="405" r:id="rId29"/>
    <p:sldId id="406" r:id="rId30"/>
    <p:sldId id="407" r:id="rId31"/>
    <p:sldId id="408" r:id="rId32"/>
    <p:sldId id="409" r:id="rId33"/>
    <p:sldId id="416" r:id="rId34"/>
    <p:sldId id="410" r:id="rId35"/>
    <p:sldId id="411" r:id="rId36"/>
    <p:sldId id="412" r:id="rId37"/>
    <p:sldId id="413" r:id="rId38"/>
    <p:sldId id="414" r:id="rId39"/>
    <p:sldId id="415"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92"/>
    <p:restoredTop sz="86622"/>
  </p:normalViewPr>
  <p:slideViewPr>
    <p:cSldViewPr snapToGrid="0" snapToObjects="1">
      <p:cViewPr varScale="1">
        <p:scale>
          <a:sx n="99" d="100"/>
          <a:sy n="99" d="100"/>
        </p:scale>
        <p:origin x="2528"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A31A9-199E-0040-B421-36D8B674C3C2}" type="datetimeFigureOut">
              <a:rPr kumimoji="1" lang="zh-CN" altLang="en-US" smtClean="0"/>
              <a:t>2023/4/19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1ABD9-FA3A-ED42-B2DF-4A75A1E7DD15}" type="slidenum">
              <a:rPr kumimoji="1" lang="zh-CN" altLang="en-US" smtClean="0"/>
              <a:t>‹#›</a:t>
            </a:fld>
            <a:endParaRPr kumimoji="1" lang="zh-CN" altLang="en-US"/>
          </a:p>
        </p:txBody>
      </p:sp>
    </p:spTree>
    <p:extLst>
      <p:ext uri="{BB962C8B-B14F-4D97-AF65-F5344CB8AC3E}">
        <p14:creationId xmlns:p14="http://schemas.microsoft.com/office/powerpoint/2010/main" val="3220058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7%9F%AD%E9%99%A4%E6%B3%95?fromModule=lemma_inlink"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so.csdn.net/so/search?q=%E6%9C%80%E5%A4%A7%E5%85%AC%E7%BA%A6%E6%95%B0&amp;spm=1001.2101.3001.7020" TargetMode="External"/><Relationship Id="rId5" Type="http://schemas.openxmlformats.org/officeDocument/2006/relationships/hyperlink" Target="https://baike.baidu.com/item/%E6%AC%A7%E5%87%A0%E9%87%8C%E5%BE%B7%E7%AE%97%E6%B3%95?fromModule=lemma_inlink" TargetMode="External"/><Relationship Id="rId4" Type="http://schemas.openxmlformats.org/officeDocument/2006/relationships/hyperlink" Target="https://baike.baidu.com/item/%E8%BE%97%E8%BD%AC%E7%9B%B8%E9%99%A4%E6%B3%95?fromModule=lemma_inlink"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C6B3782-2C2A-4249-98A3-D66C57BFD1C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SimSun" panose="02010600030101010101" pitchFamily="2" charset="-122"/>
                <a:ea typeface="SimSun" panose="02010600030101010101" pitchFamily="2" charset="-122"/>
                <a:cs typeface="Times New Roman" pitchFamily="18" charset="0"/>
              </a:rPr>
              <a:t>数据结构设计主要是选择数据的存储方式，</a:t>
            </a:r>
            <a:r>
              <a:rPr lang="zh-CN" altLang="en-US" sz="1200" dirty="0">
                <a:latin typeface="SimSun" panose="02010600030101010101" pitchFamily="2" charset="-122"/>
                <a:ea typeface="SimSun" panose="02010600030101010101" pitchFamily="2" charset="-122"/>
                <a:cs typeface="Times New Roman" pitchFamily="18" charset="0"/>
              </a:rPr>
              <a:t>如确定求解问题中的数据采用数组存储还是采用链表存储等。算法设计就是在选定的存储结构上设计一个满足要求的好算法。</a:t>
            </a:r>
            <a:endParaRPr lang="en-US" altLang="zh-CN" sz="1200" dirty="0">
              <a:latin typeface="SimSun" panose="02010600030101010101" pitchFamily="2" charset="-122"/>
              <a:ea typeface="SimSun" panose="02010600030101010101" pitchFamily="2" charset="-122"/>
              <a:cs typeface="Times New Roman" pitchFamily="18" charset="0"/>
            </a:endParaRPr>
          </a:p>
          <a:p>
            <a:endParaRPr lang="en-US" altLang="zh-CN" sz="1200" dirty="0">
              <a:latin typeface="SimSun" panose="02010600030101010101" pitchFamily="2" charset="-122"/>
              <a:ea typeface="SimSun" panose="02010600030101010101" pitchFamily="2" charset="-122"/>
              <a:cs typeface="Times New Roman" pitchFamily="18" charset="0"/>
            </a:endParaRPr>
          </a:p>
          <a:p>
            <a:r>
              <a:rPr lang="zh-CN" altLang="en-US" sz="1200" dirty="0">
                <a:latin typeface="SimSun" panose="02010600030101010101" pitchFamily="2" charset="-122"/>
                <a:ea typeface="SimSun" panose="02010600030101010101" pitchFamily="2" charset="-122"/>
                <a:cs typeface="Times New Roman" pitchFamily="18" charset="0"/>
              </a:rPr>
              <a:t>数据结构关注的是数据的逻辑结构、存储结构以及基本操作，而算法更多的是关注如何在数据结构的基础上解决实际问题。</a:t>
            </a:r>
            <a:r>
              <a:rPr lang="zh-CN" altLang="en-US" sz="1200" dirty="0">
                <a:solidFill>
                  <a:srgbClr val="FF0000"/>
                </a:solidFill>
                <a:latin typeface="SimSun" panose="02010600030101010101" pitchFamily="2" charset="-122"/>
                <a:ea typeface="SimSun" panose="02010600030101010101" pitchFamily="2" charset="-122"/>
                <a:cs typeface="Times New Roman" pitchFamily="18" charset="0"/>
              </a:rPr>
              <a:t>算法是编程思想，数据结构则是这些思想的逻辑基础。</a:t>
            </a:r>
            <a:endParaRPr lang="en-US" altLang="zh-CN" sz="1200" dirty="0">
              <a:latin typeface="SimSun" panose="02010600030101010101" pitchFamily="2" charset="-122"/>
              <a:ea typeface="SimSun" panose="02010600030101010101" pitchFamily="2" charset="-122"/>
              <a:cs typeface="Times New Roman"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2</a:t>
            </a:fld>
            <a:endParaRPr kumimoji="1" lang="zh-CN" altLang="en-US"/>
          </a:p>
        </p:txBody>
      </p:sp>
    </p:spTree>
    <p:extLst>
      <p:ext uri="{BB962C8B-B14F-4D97-AF65-F5344CB8AC3E}">
        <p14:creationId xmlns:p14="http://schemas.microsoft.com/office/powerpoint/2010/main" val="3491800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i="1" dirty="0"/>
              <a:t>公约数</a:t>
            </a:r>
            <a:r>
              <a:rPr lang="en-US" altLang="zh-CN" dirty="0"/>
              <a:t>,</a:t>
            </a:r>
            <a:r>
              <a:rPr lang="zh-CN" altLang="en-US" dirty="0"/>
              <a:t>公约数</a:t>
            </a:r>
            <a:r>
              <a:rPr lang="en-US" altLang="zh-CN" dirty="0"/>
              <a:t>,</a:t>
            </a:r>
            <a:r>
              <a:rPr lang="zh-CN" altLang="en-US" dirty="0"/>
              <a:t>亦称“公因数”。它是几个整数同时均能整除的整数。</a:t>
            </a:r>
            <a:endParaRPr lang="en-US" altLang="zh-CN" dirty="0"/>
          </a:p>
          <a:p>
            <a:endParaRPr lang="en-US" altLang="zh-CN" dirty="0"/>
          </a:p>
          <a:p>
            <a:r>
              <a:rPr lang="zh-CN" altLang="en-US" dirty="0"/>
              <a:t>例如：求</a:t>
            </a:r>
            <a:r>
              <a:rPr lang="en-US" altLang="zh-CN" dirty="0"/>
              <a:t>24</a:t>
            </a:r>
            <a:r>
              <a:rPr lang="zh-CN" altLang="en-US" dirty="0"/>
              <a:t>和</a:t>
            </a:r>
            <a:r>
              <a:rPr lang="en-US" altLang="zh-CN" dirty="0"/>
              <a:t>60</a:t>
            </a:r>
            <a:r>
              <a:rPr lang="zh-CN" altLang="en-US" dirty="0"/>
              <a:t>的最大公约数，先分解质因数，得</a:t>
            </a:r>
            <a:r>
              <a:rPr lang="en-US" altLang="zh-CN" dirty="0"/>
              <a:t>24=2×2×2×3</a:t>
            </a:r>
            <a:r>
              <a:rPr lang="zh-CN" altLang="en-US" dirty="0"/>
              <a:t>，</a:t>
            </a:r>
            <a:r>
              <a:rPr lang="en-US" altLang="zh-CN" dirty="0"/>
              <a:t>60=2×2×3×5</a:t>
            </a:r>
            <a:r>
              <a:rPr lang="zh-CN" altLang="en-US" dirty="0"/>
              <a:t>，</a:t>
            </a:r>
            <a:r>
              <a:rPr lang="en-US" altLang="zh-CN" dirty="0"/>
              <a:t>24</a:t>
            </a:r>
            <a:r>
              <a:rPr lang="zh-CN" altLang="en-US" dirty="0"/>
              <a:t>与</a:t>
            </a:r>
            <a:r>
              <a:rPr lang="en-US" altLang="zh-CN" dirty="0"/>
              <a:t>60</a:t>
            </a:r>
            <a:r>
              <a:rPr lang="zh-CN" altLang="en-US" dirty="0"/>
              <a:t>的全部公有的质因数是</a:t>
            </a:r>
            <a:r>
              <a:rPr lang="en-US" altLang="zh-CN" dirty="0"/>
              <a:t>2</a:t>
            </a:r>
            <a:r>
              <a:rPr lang="zh-CN" altLang="en-US" dirty="0"/>
              <a:t>、</a:t>
            </a:r>
            <a:r>
              <a:rPr lang="en-US" altLang="zh-CN" dirty="0"/>
              <a:t>2</a:t>
            </a:r>
            <a:r>
              <a:rPr lang="zh-CN" altLang="en-US" dirty="0"/>
              <a:t>、</a:t>
            </a:r>
            <a:r>
              <a:rPr lang="en-US" altLang="zh-CN" dirty="0"/>
              <a:t>3</a:t>
            </a:r>
            <a:r>
              <a:rPr lang="zh-CN" altLang="en-US" dirty="0"/>
              <a:t>，它们的积是</a:t>
            </a:r>
            <a:r>
              <a:rPr lang="en-US" altLang="zh-CN" dirty="0"/>
              <a:t>2×2×3=12</a:t>
            </a:r>
            <a:r>
              <a:rPr lang="zh-CN" altLang="en-US" dirty="0"/>
              <a:t>，所以，（</a:t>
            </a:r>
            <a:r>
              <a:rPr lang="en-US" altLang="zh-CN" dirty="0"/>
              <a:t>24</a:t>
            </a:r>
            <a:r>
              <a:rPr lang="zh-CN" altLang="en-US" dirty="0"/>
              <a:t>，</a:t>
            </a:r>
            <a:r>
              <a:rPr lang="en-US" altLang="zh-CN" dirty="0"/>
              <a:t>60</a:t>
            </a:r>
            <a:r>
              <a:rPr lang="zh-CN" altLang="en-US" dirty="0"/>
              <a:t>）</a:t>
            </a:r>
            <a:r>
              <a:rPr lang="en-US" altLang="zh-CN" dirty="0"/>
              <a:t>=12</a:t>
            </a:r>
            <a:r>
              <a:rPr lang="zh-CN" altLang="en-US" dirty="0"/>
              <a:t>。</a:t>
            </a:r>
            <a:endParaRPr lang="en-US" altLang="zh-CN" dirty="0"/>
          </a:p>
          <a:p>
            <a:endParaRPr kumimoji="1" lang="en-US" altLang="zh-CN" dirty="0"/>
          </a:p>
          <a:p>
            <a:r>
              <a:rPr lang="zh-CN" altLang="en-US" dirty="0">
                <a:hlinkClick r:id="rId3"/>
              </a:rPr>
              <a:t>短除法</a:t>
            </a:r>
            <a:r>
              <a:rPr lang="zh-CN" altLang="en-US" dirty="0"/>
              <a:t>：短除法求最大公约数，先用这几个数的公约数连续去除，一直除到所有的商互质为止，然后把所有的除数连乘起来，所得的积就是这几个数的最大公约数。</a:t>
            </a:r>
            <a:endParaRPr lang="en-US" altLang="zh-CN" dirty="0"/>
          </a:p>
          <a:p>
            <a:endParaRPr kumimoji="1" lang="en-US" altLang="zh-CN" dirty="0"/>
          </a:p>
          <a:p>
            <a:r>
              <a:rPr lang="zh-CN" altLang="en-US" dirty="0">
                <a:hlinkClick r:id="rId4"/>
              </a:rPr>
              <a:t>辗转相除法</a:t>
            </a:r>
            <a:r>
              <a:rPr lang="zh-CN" altLang="en-US" dirty="0"/>
              <a:t>：辗转相除法是求两个自然数的最大公约数的一种方法，也叫</a:t>
            </a:r>
            <a:r>
              <a:rPr lang="zh-CN" altLang="en-US" dirty="0">
                <a:hlinkClick r:id="rId5"/>
              </a:rPr>
              <a:t>欧几里德算法</a:t>
            </a:r>
            <a:r>
              <a:rPr lang="zh-CN" altLang="en-US" dirty="0"/>
              <a:t>。</a:t>
            </a:r>
            <a:endParaRPr kumimoji="1" lang="en-US" altLang="zh-CN" dirty="0"/>
          </a:p>
          <a:p>
            <a:endParaRPr kumimoji="1" lang="en-US" altLang="zh-CN" dirty="0"/>
          </a:p>
          <a:p>
            <a:r>
              <a:rPr lang="zh-CN" altLang="en-US" dirty="0"/>
              <a:t>用较大的数除以较小的数，再以除数和余数反复做除法运算，当余数为</a:t>
            </a:r>
            <a:r>
              <a:rPr lang="en-US" altLang="zh-CN" dirty="0"/>
              <a:t>0</a:t>
            </a:r>
            <a:r>
              <a:rPr lang="zh-CN" altLang="en-US" dirty="0"/>
              <a:t>时，取当前算式除数为</a:t>
            </a:r>
            <a:r>
              <a:rPr lang="zh-CN" altLang="en-US" dirty="0">
                <a:hlinkClick r:id="rId6"/>
              </a:rPr>
              <a:t>最大公约数</a:t>
            </a:r>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a:t>
            </a:fld>
            <a:endParaRPr kumimoji="1" lang="zh-CN" altLang="en-US"/>
          </a:p>
        </p:txBody>
      </p:sp>
    </p:spTree>
    <p:extLst>
      <p:ext uri="{BB962C8B-B14F-4D97-AF65-F5344CB8AC3E}">
        <p14:creationId xmlns:p14="http://schemas.microsoft.com/office/powerpoint/2010/main" val="6692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P20</a:t>
            </a:r>
            <a:r>
              <a:rPr kumimoji="1" lang="zh-CN" altLang="en-US" dirty="0"/>
              <a:t>  </a:t>
            </a:r>
            <a:r>
              <a:rPr kumimoji="1" lang="en-US" altLang="zh-CN" dirty="0"/>
              <a:t>mod</a:t>
            </a:r>
            <a:r>
              <a:rPr kumimoji="1" lang="zh-CN" altLang="en-US" dirty="0"/>
              <a:t>  求余 </a:t>
            </a:r>
            <a:r>
              <a:rPr kumimoji="1" lang="en-US" altLang="zh-CN" dirty="0"/>
              <a:t>%</a:t>
            </a:r>
            <a:r>
              <a:rPr kumimoji="1" lang="zh-CN" altLang="en-US"/>
              <a:t> </a:t>
            </a:r>
            <a:endParaRPr kumimoji="1" lang="en-US" altLang="zh-CN"/>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a:t>
            </a:fld>
            <a:endParaRPr kumimoji="1" lang="zh-CN" altLang="en-US"/>
          </a:p>
        </p:txBody>
      </p:sp>
    </p:spTree>
    <p:extLst>
      <p:ext uri="{BB962C8B-B14F-4D97-AF65-F5344CB8AC3E}">
        <p14:creationId xmlns:p14="http://schemas.microsoft.com/office/powerpoint/2010/main" val="2131784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P20</a:t>
            </a:r>
            <a:r>
              <a:rPr kumimoji="1" lang="zh-CN" altLang="en-US" dirty="0"/>
              <a:t>  </a:t>
            </a:r>
            <a:r>
              <a:rPr kumimoji="1" lang="en-US" altLang="zh-CN" dirty="0"/>
              <a:t>mod</a:t>
            </a:r>
            <a:r>
              <a:rPr kumimoji="1" lang="zh-CN" altLang="en-US" dirty="0"/>
              <a:t>  求余 </a:t>
            </a:r>
            <a:r>
              <a:rPr kumimoji="1" lang="en-US" altLang="zh-CN" dirty="0"/>
              <a:t>%</a:t>
            </a:r>
            <a:r>
              <a:rPr kumimoji="1" lang="zh-CN" altLang="en-US" dirty="0"/>
              <a:t> </a:t>
            </a:r>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a:t>
            </a:fld>
            <a:endParaRPr kumimoji="1" lang="zh-CN" altLang="en-US"/>
          </a:p>
        </p:txBody>
      </p:sp>
    </p:spTree>
    <p:extLst>
      <p:ext uri="{BB962C8B-B14F-4D97-AF65-F5344CB8AC3E}">
        <p14:creationId xmlns:p14="http://schemas.microsoft.com/office/powerpoint/2010/main" val="346257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欧几里得算法是不断地排除多余项，然后找到能够整除的一个数，短除法是不断地找两个数的最小公约数，直到找不到为止，然后把所有的最小公约数乘起来，就是最大公约数。</a:t>
            </a:r>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6</a:t>
            </a:fld>
            <a:endParaRPr kumimoji="1" lang="zh-CN" altLang="en-US"/>
          </a:p>
        </p:txBody>
      </p:sp>
    </p:spTree>
    <p:extLst>
      <p:ext uri="{BB962C8B-B14F-4D97-AF65-F5344CB8AC3E}">
        <p14:creationId xmlns:p14="http://schemas.microsoft.com/office/powerpoint/2010/main" val="2225090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辗转相除法效率更高！ </a:t>
            </a:r>
            <a:r>
              <a:rPr kumimoji="1" lang="en-US" altLang="zh-CN" dirty="0"/>
              <a:t>4.1.1</a:t>
            </a:r>
            <a:r>
              <a:rPr kumimoji="1" lang="zh-CN" altLang="en-US" dirty="0"/>
              <a:t>节递推法例题</a:t>
            </a:r>
            <a:r>
              <a:rPr kumimoji="1" lang="en-US" altLang="zh-CN" dirty="0"/>
              <a:t>2</a:t>
            </a:r>
          </a:p>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7</a:t>
            </a:fld>
            <a:endParaRPr kumimoji="1" lang="zh-CN" altLang="en-US"/>
          </a:p>
        </p:txBody>
      </p:sp>
    </p:spTree>
    <p:extLst>
      <p:ext uri="{BB962C8B-B14F-4D97-AF65-F5344CB8AC3E}">
        <p14:creationId xmlns:p14="http://schemas.microsoft.com/office/powerpoint/2010/main" val="2448184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9</a:t>
            </a:fld>
            <a:endParaRPr kumimoji="1" lang="zh-CN" altLang="en-US"/>
          </a:p>
        </p:txBody>
      </p:sp>
    </p:spTree>
    <p:extLst>
      <p:ext uri="{BB962C8B-B14F-4D97-AF65-F5344CB8AC3E}">
        <p14:creationId xmlns:p14="http://schemas.microsoft.com/office/powerpoint/2010/main" val="1315260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16</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32E36B-D170-4545-8E54-A61578580DB7}" type="slidenum">
              <a:rPr lang="zh-CN" altLang="en-US" smtClean="0"/>
              <a:pPr/>
              <a:t>18</a:t>
            </a:fld>
            <a:endParaRPr lang="zh-CN" altLang="en-US"/>
          </a:p>
        </p:txBody>
      </p:sp>
    </p:spTree>
    <p:extLst>
      <p:ext uri="{BB962C8B-B14F-4D97-AF65-F5344CB8AC3E}">
        <p14:creationId xmlns:p14="http://schemas.microsoft.com/office/powerpoint/2010/main" val="2557458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E32E36B-D170-4545-8E54-A61578580DB7}" type="slidenum">
              <a:rPr lang="zh-CN" altLang="en-US" smtClean="0"/>
              <a:pPr/>
              <a:t>20</a:t>
            </a:fld>
            <a:endParaRPr lang="zh-CN" altLang="en-US"/>
          </a:p>
        </p:txBody>
      </p:sp>
    </p:spTree>
    <p:extLst>
      <p:ext uri="{BB962C8B-B14F-4D97-AF65-F5344CB8AC3E}">
        <p14:creationId xmlns:p14="http://schemas.microsoft.com/office/powerpoint/2010/main" val="631063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练习，分析每一条语句的频度</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24</a:t>
            </a:fld>
            <a:endParaRPr kumimoji="1" lang="zh-CN" altLang="en-US"/>
          </a:p>
        </p:txBody>
      </p:sp>
    </p:spTree>
    <p:extLst>
      <p:ext uri="{BB962C8B-B14F-4D97-AF65-F5344CB8AC3E}">
        <p14:creationId xmlns:p14="http://schemas.microsoft.com/office/powerpoint/2010/main" val="3204584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4500"/>
              </a:lnSpc>
            </a:pPr>
            <a:r>
              <a:rPr lang="zh-CN" altLang="en-US" sz="1200" b="1" dirty="0">
                <a:solidFill>
                  <a:srgbClr val="000000"/>
                </a:solidFill>
                <a:latin typeface="Arial" panose="020B0604020202020204" pitchFamily="34" charset="0"/>
              </a:rPr>
              <a:t>如果算法的执行时间不随着问题规模</a:t>
            </a:r>
            <a:r>
              <a:rPr lang="en-US" altLang="zh-CN" sz="1200" b="1" dirty="0">
                <a:solidFill>
                  <a:srgbClr val="000000"/>
                </a:solidFill>
                <a:latin typeface="Arial" panose="020B0604020202020204" pitchFamily="34" charset="0"/>
              </a:rPr>
              <a:t>n</a:t>
            </a:r>
            <a:r>
              <a:rPr lang="zh-CN" altLang="en-US" sz="1200" b="1" dirty="0">
                <a:solidFill>
                  <a:srgbClr val="000000"/>
                </a:solidFill>
                <a:latin typeface="Arial" panose="020B0604020202020204" pitchFamily="34" charset="0"/>
              </a:rPr>
              <a:t>的增加而增长，即使算法中有上千条语句</a:t>
            </a:r>
            <a:r>
              <a:rPr lang="en-US" altLang="zh-CN" sz="1200" b="1" dirty="0">
                <a:solidFill>
                  <a:srgbClr val="000000"/>
                </a:solidFill>
                <a:latin typeface="Arial" panose="020B0604020202020204" pitchFamily="34" charset="0"/>
              </a:rPr>
              <a:t>,</a:t>
            </a:r>
            <a:r>
              <a:rPr lang="zh-CN" altLang="en-US" sz="1200" b="1" dirty="0">
                <a:solidFill>
                  <a:srgbClr val="000000"/>
                </a:solidFill>
                <a:latin typeface="Arial" panose="020B0604020202020204" pitchFamily="34" charset="0"/>
              </a:rPr>
              <a:t>其执行时间也不过是一个较大的常数。</a:t>
            </a:r>
            <a:endParaRPr lang="en-US" altLang="zh-CN" sz="1200" b="1" dirty="0">
              <a:solidFill>
                <a:srgbClr val="000000"/>
              </a:solidFill>
              <a:latin typeface="Arial" panose="020B0604020202020204" pitchFamily="34" charset="0"/>
            </a:endParaRPr>
          </a:p>
          <a:p>
            <a:pPr>
              <a:lnSpc>
                <a:spcPts val="4500"/>
              </a:lnSpc>
            </a:pPr>
            <a:r>
              <a:rPr lang="zh-CN" altLang="en-US" sz="1200" b="1" dirty="0">
                <a:solidFill>
                  <a:srgbClr val="000000"/>
                </a:solidFill>
                <a:latin typeface="Arial" panose="020B0604020202020204" pitchFamily="34" charset="0"/>
              </a:rPr>
              <a:t>此类算法的时间复杂度用</a:t>
            </a:r>
            <a:r>
              <a:rPr lang="en-US" altLang="zh-CN" sz="1200" b="1" dirty="0">
                <a:solidFill>
                  <a:srgbClr val="000000"/>
                </a:solidFill>
                <a:latin typeface="Arial" panose="020B0604020202020204" pitchFamily="34" charset="0"/>
              </a:rPr>
              <a:t>O(1)</a:t>
            </a:r>
            <a:r>
              <a:rPr lang="zh-CN" altLang="en-US" sz="1200" b="1" dirty="0">
                <a:solidFill>
                  <a:srgbClr val="000000"/>
                </a:solidFill>
                <a:latin typeface="Arial" panose="020B0604020202020204" pitchFamily="34" charset="0"/>
              </a:rPr>
              <a:t>表示。</a:t>
            </a:r>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29</a:t>
            </a:fld>
            <a:endParaRPr kumimoji="1" lang="zh-CN" altLang="en-US"/>
          </a:p>
        </p:txBody>
      </p:sp>
    </p:spTree>
    <p:extLst>
      <p:ext uri="{BB962C8B-B14F-4D97-AF65-F5344CB8AC3E}">
        <p14:creationId xmlns:p14="http://schemas.microsoft.com/office/powerpoint/2010/main" val="1115676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30</a:t>
            </a:fld>
            <a:endParaRPr kumimoji="1" lang="zh-CN" altLang="en-US"/>
          </a:p>
        </p:txBody>
      </p:sp>
    </p:spTree>
    <p:extLst>
      <p:ext uri="{BB962C8B-B14F-4D97-AF65-F5344CB8AC3E}">
        <p14:creationId xmlns:p14="http://schemas.microsoft.com/office/powerpoint/2010/main" val="827334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31</a:t>
            </a:fld>
            <a:endParaRPr kumimoji="1" lang="zh-CN" altLang="en-US"/>
          </a:p>
        </p:txBody>
      </p:sp>
    </p:spTree>
    <p:extLst>
      <p:ext uri="{BB962C8B-B14F-4D97-AF65-F5344CB8AC3E}">
        <p14:creationId xmlns:p14="http://schemas.microsoft.com/office/powerpoint/2010/main" val="4195430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K</a:t>
            </a:r>
            <a:r>
              <a:rPr kumimoji="1" lang="zh-CN" altLang="en-US" dirty="0"/>
              <a:t>从</a:t>
            </a:r>
            <a:r>
              <a:rPr kumimoji="1" lang="en-US" altLang="zh-CN" dirty="0"/>
              <a:t>1</a:t>
            </a:r>
            <a:r>
              <a:rPr kumimoji="1" lang="zh-CN" altLang="en-US" dirty="0"/>
              <a:t>开始，执行</a:t>
            </a:r>
            <a:r>
              <a:rPr kumimoji="1" lang="en-US" altLang="zh-CN" dirty="0"/>
              <a:t>j</a:t>
            </a:r>
            <a:r>
              <a:rPr kumimoji="1" lang="zh-CN" altLang="en-US" dirty="0"/>
              <a:t>次，因此最内层复杂度为</a:t>
            </a:r>
            <a:r>
              <a:rPr kumimoji="1" lang="en-US" altLang="zh-CN" dirty="0"/>
              <a:t>j</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32</a:t>
            </a:fld>
            <a:endParaRPr kumimoji="1" lang="zh-CN" altLang="en-US"/>
          </a:p>
        </p:txBody>
      </p:sp>
    </p:spTree>
    <p:extLst>
      <p:ext uri="{BB962C8B-B14F-4D97-AF65-F5344CB8AC3E}">
        <p14:creationId xmlns:p14="http://schemas.microsoft.com/office/powerpoint/2010/main" val="3245097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K</a:t>
            </a:r>
            <a:r>
              <a:rPr kumimoji="1" lang="zh-CN" altLang="en-US" dirty="0"/>
              <a:t>从</a:t>
            </a:r>
            <a:r>
              <a:rPr kumimoji="1" lang="en-US" altLang="zh-CN" dirty="0"/>
              <a:t>1</a:t>
            </a:r>
            <a:r>
              <a:rPr kumimoji="1" lang="zh-CN" altLang="en-US" dirty="0"/>
              <a:t>开始，执行</a:t>
            </a:r>
            <a:r>
              <a:rPr kumimoji="1" lang="en-US" altLang="zh-CN" dirty="0"/>
              <a:t>j</a:t>
            </a:r>
            <a:r>
              <a:rPr kumimoji="1" lang="zh-CN" altLang="en-US" dirty="0"/>
              <a:t>次，因此最内层复杂度为</a:t>
            </a:r>
            <a:r>
              <a:rPr kumimoji="1" lang="en-US" altLang="zh-CN" dirty="0"/>
              <a:t>j</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33</a:t>
            </a:fld>
            <a:endParaRPr kumimoji="1" lang="zh-CN" altLang="en-US"/>
          </a:p>
        </p:txBody>
      </p:sp>
    </p:spTree>
    <p:extLst>
      <p:ext uri="{BB962C8B-B14F-4D97-AF65-F5344CB8AC3E}">
        <p14:creationId xmlns:p14="http://schemas.microsoft.com/office/powerpoint/2010/main" val="1051501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34</a:t>
            </a:fld>
            <a:endParaRPr kumimoji="1" lang="zh-CN" altLang="en-US"/>
          </a:p>
        </p:txBody>
      </p:sp>
    </p:spTree>
    <p:extLst>
      <p:ext uri="{BB962C8B-B14F-4D97-AF65-F5344CB8AC3E}">
        <p14:creationId xmlns:p14="http://schemas.microsoft.com/office/powerpoint/2010/main" val="728592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35</a:t>
            </a:fld>
            <a:endParaRPr kumimoji="1" lang="zh-CN" altLang="en-US"/>
          </a:p>
        </p:txBody>
      </p:sp>
    </p:spTree>
    <p:extLst>
      <p:ext uri="{BB962C8B-B14F-4D97-AF65-F5344CB8AC3E}">
        <p14:creationId xmlns:p14="http://schemas.microsoft.com/office/powerpoint/2010/main" val="28651335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36</a:t>
            </a:fld>
            <a:endParaRPr kumimoji="1" lang="zh-CN" altLang="en-US"/>
          </a:p>
        </p:txBody>
      </p:sp>
    </p:spTree>
    <p:extLst>
      <p:ext uri="{BB962C8B-B14F-4D97-AF65-F5344CB8AC3E}">
        <p14:creationId xmlns:p14="http://schemas.microsoft.com/office/powerpoint/2010/main" val="1447032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37</a:t>
            </a:fld>
            <a:endParaRPr kumimoji="1" lang="zh-CN" altLang="en-US"/>
          </a:p>
        </p:txBody>
      </p:sp>
    </p:spTree>
    <p:extLst>
      <p:ext uri="{BB962C8B-B14F-4D97-AF65-F5344CB8AC3E}">
        <p14:creationId xmlns:p14="http://schemas.microsoft.com/office/powerpoint/2010/main" val="2408223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38</a:t>
            </a:fld>
            <a:endParaRPr kumimoji="1" lang="zh-CN" altLang="en-US"/>
          </a:p>
        </p:txBody>
      </p:sp>
    </p:spTree>
    <p:extLst>
      <p:ext uri="{BB962C8B-B14F-4D97-AF65-F5344CB8AC3E}">
        <p14:creationId xmlns:p14="http://schemas.microsoft.com/office/powerpoint/2010/main" val="3280055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39</a:t>
            </a:fld>
            <a:endParaRPr kumimoji="1" lang="zh-CN" altLang="en-US"/>
          </a:p>
        </p:txBody>
      </p:sp>
    </p:spTree>
    <p:extLst>
      <p:ext uri="{BB962C8B-B14F-4D97-AF65-F5344CB8AC3E}">
        <p14:creationId xmlns:p14="http://schemas.microsoft.com/office/powerpoint/2010/main" val="32246721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microsoft.com/office/2007/relationships/hdphoto" Target="../media/hdphoto1.wdp"/></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1930393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55D43-650A-8A4B-B4D9-196FB2C293E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5E4EBA6-65F5-F74A-84A4-1DAA79C9FDE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1867305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F5F6E5-6A2C-7845-96D1-C3F40C702DB9}"/>
              </a:ext>
            </a:extLst>
          </p:cNvPr>
          <p:cNvSpPr>
            <a:spLocks noGrp="1"/>
          </p:cNvSpPr>
          <p:nvPr>
            <p:ph type="title"/>
          </p:nvPr>
        </p:nvSpPr>
        <p:spPr>
          <a:xfrm>
            <a:off x="838200" y="365125"/>
            <a:ext cx="10515600" cy="1325563"/>
          </a:xfrm>
          <a:prstGeom prst="rect">
            <a:avLst/>
          </a:prstGeom>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C7972C42-3007-F74B-BAC1-5ECA14414296}"/>
              </a:ext>
            </a:extLst>
          </p:cNvPr>
          <p:cNvSpPr>
            <a:spLocks noGrp="1"/>
          </p:cNvSpPr>
          <p:nvPr>
            <p:ph idx="1"/>
          </p:nvPr>
        </p:nvSpPr>
        <p:spPr>
          <a:xfrm>
            <a:off x="838200" y="1825625"/>
            <a:ext cx="10515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矩形 3">
            <a:extLst>
              <a:ext uri="{FF2B5EF4-FFF2-40B4-BE49-F238E27FC236}">
                <a16:creationId xmlns:a16="http://schemas.microsoft.com/office/drawing/2014/main" id="{61DA583F-A0A9-184A-920D-99C2970D07DB}"/>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5">
            <a:extLst>
              <a:ext uri="{FF2B5EF4-FFF2-40B4-BE49-F238E27FC236}">
                <a16:creationId xmlns:a16="http://schemas.microsoft.com/office/drawing/2014/main" id="{59417B76-385F-8F47-9B73-0CC349ACC120}"/>
              </a:ext>
            </a:extLst>
          </p:cNvPr>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6" name="图片 5" descr="5">
            <a:extLst>
              <a:ext uri="{FF2B5EF4-FFF2-40B4-BE49-F238E27FC236}">
                <a16:creationId xmlns:a16="http://schemas.microsoft.com/office/drawing/2014/main" id="{B1FF307E-882A-204E-8371-C5B671C94F49}"/>
              </a:ext>
            </a:extLst>
          </p:cNvPr>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7" name="任意多边形: 形状 8">
            <a:extLst>
              <a:ext uri="{FF2B5EF4-FFF2-40B4-BE49-F238E27FC236}">
                <a16:creationId xmlns:a16="http://schemas.microsoft.com/office/drawing/2014/main" id="{CD9F0C46-2A13-7B45-81EB-EFB03DDF0203}"/>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a:extLst>
              <a:ext uri="{FF2B5EF4-FFF2-40B4-BE49-F238E27FC236}">
                <a16:creationId xmlns:a16="http://schemas.microsoft.com/office/drawing/2014/main" id="{4DBBE2AB-3342-1A43-B2D9-3B6F8B655CDE}"/>
              </a:ext>
            </a:extLst>
          </p:cNvPr>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6">
            <a:extLst>
              <a:ext uri="{FF2B5EF4-FFF2-40B4-BE49-F238E27FC236}">
                <a16:creationId xmlns:a16="http://schemas.microsoft.com/office/drawing/2014/main" id="{238E4E78-41CE-BF47-A793-D77629CA3E76}"/>
              </a:ext>
            </a:extLst>
          </p:cNvPr>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a:extLst>
              <a:ext uri="{FF2B5EF4-FFF2-40B4-BE49-F238E27FC236}">
                <a16:creationId xmlns:a16="http://schemas.microsoft.com/office/drawing/2014/main" id="{EF31D326-2891-3944-8D5B-E4558A6F158A}"/>
              </a:ext>
            </a:extLst>
          </p:cNvPr>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274642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D2F9D-10B2-074B-8179-66513359D97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A2FD4FF-6442-7D42-B1EE-9A10919FD37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74457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3275C-4BF5-474C-80F4-71D90D9D3FD6}"/>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84C7054-56E6-B54D-86C2-B62A7024A415}"/>
              </a:ext>
            </a:extLst>
          </p:cNvPr>
          <p:cNvSpPr>
            <a:spLocks noGrp="1"/>
          </p:cNvSpPr>
          <p:nvPr>
            <p:ph sz="half" idx="1"/>
          </p:nvPr>
        </p:nvSpPr>
        <p:spPr>
          <a:xfrm>
            <a:off x="838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E159AA6-2DAB-3D4B-968C-0C2209838485}"/>
              </a:ext>
            </a:extLst>
          </p:cNvPr>
          <p:cNvSpPr>
            <a:spLocks noGrp="1"/>
          </p:cNvSpPr>
          <p:nvPr>
            <p:ph sz="half" idx="2"/>
          </p:nvPr>
        </p:nvSpPr>
        <p:spPr>
          <a:xfrm>
            <a:off x="6172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906202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E1A48-F79F-564A-B2C8-EB0F930EFBBD}"/>
              </a:ext>
            </a:extLst>
          </p:cNvPr>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9B51C87-D0E9-8B44-8CAB-1AE71AC396B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3EEDA7B3-E5BE-FC4D-B7BF-2B58A0493409}"/>
              </a:ext>
            </a:extLst>
          </p:cNvPr>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D6C4BB-9DB3-5143-8B4A-DBAE48BA776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FE585AB-BE90-9748-958F-7AFFC1666F86}"/>
              </a:ext>
            </a:extLst>
          </p:cNvPr>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1300348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073C-34CE-AC4E-ABB7-C7FC12F3BC3D}"/>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Tree>
    <p:extLst>
      <p:ext uri="{BB962C8B-B14F-4D97-AF65-F5344CB8AC3E}">
        <p14:creationId xmlns:p14="http://schemas.microsoft.com/office/powerpoint/2010/main" val="289382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58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379DE3-176F-7442-91F0-E6732C3340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99DB349-89E5-AF43-A214-0FF14DB1A0E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DA0DD20-A8C2-9849-809E-627CE58CD89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91167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F92B43-D872-114B-9A28-B008488664C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D339AFF-5EFD-7944-A43D-2353E09902D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ED4B25B-91B6-DC42-9D31-70F2E52EAFE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140807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22525-0C80-9541-BB3B-BC93FC851C80}"/>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98C1780-5833-6242-ABA7-FD54F283EF89}"/>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793547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1D9FF4-CA80-5F4D-AD5D-F4CDA27A74DE}"/>
              </a:ext>
            </a:extLst>
          </p:cNvPr>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F123BF3-514A-1149-85D7-971F2301A782}"/>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2537626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2C13E-B573-714B-95DA-FE1C7233BD6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99F250F-66A4-CB44-B444-3B095FB2B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A7F82AD-DCFE-7E4E-BC3B-B8961D0D8C59}"/>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DC56CDDD-056A-1A4C-95F9-15BE2F0C592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5BCE82C-2DD0-3646-86EF-14086348DB97}"/>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442140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E2E0D-F100-0B4D-BA37-588E52D6E90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BBA4034-A796-F141-8E93-7D05FA74888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21E16C0-D6BE-0D44-807B-EE5C78EBE951}"/>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570FBDA1-4D93-7443-974E-B17BB720ECB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B5421B-EACC-AE4F-B121-1D692C9CB2B6}"/>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3178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0E980-962D-3F44-B0EA-A409EF1DA80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EA65C97-A96A-6A4D-927E-F838B2F04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32C3D4C-C0E9-CC4A-8470-334D0F88055B}"/>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DDD69112-64F2-DB41-9DE9-D0C488E2C54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4F072F-377D-184E-8A96-A3A16B3BD328}"/>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242879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A1FDEA-62E9-A94A-B877-2CEE48D65D8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B4BAE09-663E-5246-B2E4-5FB1D3203C2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3204E9-1F8D-1441-9E4C-06E8C04E0E3D}"/>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B1DC6EB-2F6E-0244-93A2-A837744C5CA8}"/>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6" name="页脚占位符 5">
            <a:extLst>
              <a:ext uri="{FF2B5EF4-FFF2-40B4-BE49-F238E27FC236}">
                <a16:creationId xmlns:a16="http://schemas.microsoft.com/office/drawing/2014/main" id="{9DC55E37-181B-A148-966C-4DAF9A1A881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8BCD124-A548-0943-8084-CC531D00038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926323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C78BAB-2899-214C-BD61-A44AF5D1AD1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D53B725-02FC-B943-BB4C-36416CD16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685D86A-09D3-C44C-B9F4-6E588BD2E29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8530A9B-0EB2-7D46-9DBE-21F3FC022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4191EEA-8572-9B4E-9BBC-22A9CFF172A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4ECD55-32DF-4F4E-87AB-7EA319859743}"/>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8" name="页脚占位符 7">
            <a:extLst>
              <a:ext uri="{FF2B5EF4-FFF2-40B4-BE49-F238E27FC236}">
                <a16:creationId xmlns:a16="http://schemas.microsoft.com/office/drawing/2014/main" id="{B30257D9-AB89-CD48-8EAB-65F0C1A251D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892495F-1C7B-FC49-9072-1A1CE7A02375}"/>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856789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79860-597F-4B4F-883A-07CEB02132A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9DBCFC3-D3A4-C04F-BCEF-DEC58AC205BD}"/>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4" name="页脚占位符 3">
            <a:extLst>
              <a:ext uri="{FF2B5EF4-FFF2-40B4-BE49-F238E27FC236}">
                <a16:creationId xmlns:a16="http://schemas.microsoft.com/office/drawing/2014/main" id="{DC8B824B-4892-E447-B7D3-02DD4BE5FE9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3F7D6A84-B6F8-E146-9356-7F8CA2E5918C}"/>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40493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5B2F9ED-98A6-1F40-B60C-87E353539EBA}"/>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3" name="页脚占位符 2">
            <a:extLst>
              <a:ext uri="{FF2B5EF4-FFF2-40B4-BE49-F238E27FC236}">
                <a16:creationId xmlns:a16="http://schemas.microsoft.com/office/drawing/2014/main" id="{44693E35-5555-584E-A717-28E84DBBCAA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5FBD873-0F17-9343-9583-D51ABBFA35A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702651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F2912-F3DA-C647-9CA0-A29982569C2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9A58FE21-107F-0A46-9DCC-01F8EFC192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0677B0A-3D49-6F4A-A0BD-178A30EA53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F78C4D0-E7BC-7346-A225-616065D0C804}"/>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6" name="页脚占位符 5">
            <a:extLst>
              <a:ext uri="{FF2B5EF4-FFF2-40B4-BE49-F238E27FC236}">
                <a16:creationId xmlns:a16="http://schemas.microsoft.com/office/drawing/2014/main" id="{4D455970-7EEC-9F4D-9441-ACCDA32EB20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89A71E7-E4C1-0345-916A-B57A481A6BD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8937452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64561-286B-E149-AE7F-1FF412E946E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63A84CE-2FA0-6E48-A6C9-C447366AD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8A4A75F7-3CD5-0848-9A3B-8CD193287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47D8C3B-237F-1C49-99C1-735A2D853DB7}"/>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6" name="页脚占位符 5">
            <a:extLst>
              <a:ext uri="{FF2B5EF4-FFF2-40B4-BE49-F238E27FC236}">
                <a16:creationId xmlns:a16="http://schemas.microsoft.com/office/drawing/2014/main" id="{3392BEC2-2425-2742-8386-3ADBB062692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A296E39-1419-7E45-BD69-DE0A3C7DC5B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724809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AF69E-AF88-B64D-ABDD-04DB5D3E557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6F59B29-31C7-A143-8657-8AE1CB8EF22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EF5996D-ACFA-8F4D-B912-DF75E3CC13D4}"/>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4632A62C-C6DE-D04B-8735-FED3190F3A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0D29B5-61B5-B74D-BE03-88925EFB3731}"/>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066705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50B4B1E-E39D-DD4A-B7F7-1B2FF26C70A5}"/>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D80FF54-B8C4-224E-8541-7902A00311C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71664AE-D3DB-2A40-ACE1-DBC1E97AE6EE}"/>
              </a:ext>
            </a:extLst>
          </p:cNvPr>
          <p:cNvSpPr>
            <a:spLocks noGrp="1"/>
          </p:cNvSpPr>
          <p:nvPr>
            <p:ph type="dt" sz="half" idx="10"/>
          </p:nvPr>
        </p:nvSpPr>
        <p:spPr/>
        <p:txBody>
          <a:body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8FD85D98-2BB9-784B-8D6D-76BBD0EA23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5E00FF-4311-1C4D-A115-27DB4E71F98B}"/>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368700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封面-2">
    <p:spTree>
      <p:nvGrpSpPr>
        <p:cNvPr id="1" name=""/>
        <p:cNvGrpSpPr/>
        <p:nvPr/>
      </p:nvGrpSpPr>
      <p:grpSpPr>
        <a:xfrm>
          <a:off x="0" y="0"/>
          <a:ext cx="0" cy="0"/>
          <a:chOff x="0" y="0"/>
          <a:chExt cx="0" cy="0"/>
        </a:xfrm>
      </p:grpSpPr>
      <p:cxnSp>
        <p:nvCxnSpPr>
          <p:cNvPr id="30" name="直接连接符 29"/>
          <p:cNvCxnSpPr/>
          <p:nvPr userDrawn="1"/>
        </p:nvCxnSpPr>
        <p:spPr>
          <a:xfrm flipV="1">
            <a:off x="2784475"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V="1">
            <a:off x="2861310"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6200000">
            <a:off x="2880995"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flipV="1">
            <a:off x="9404350"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rot="10800000" flipH="1" flipV="1">
            <a:off x="9327515"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rot="5400000" flipH="1">
            <a:off x="9193530"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sp>
        <p:nvSpPr>
          <p:cNvPr id="39" name="图片占位符 12"/>
          <p:cNvSpPr>
            <a:spLocks noGrp="1"/>
          </p:cNvSpPr>
          <p:nvPr>
            <p:ph type="pic" sz="quarter" idx="12"/>
          </p:nvPr>
        </p:nvSpPr>
        <p:spPr>
          <a:xfrm>
            <a:off x="126" y="-5114"/>
            <a:ext cx="12191748" cy="3616817"/>
          </a:xfrm>
        </p:spPr>
      </p:sp>
      <p:sp>
        <p:nvSpPr>
          <p:cNvPr id="40" name="任意多边形: 形状 39"/>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2"/>
            <a:srcRect/>
            <a:tile tx="0" ty="0" sx="100000" sy="100000" flip="none" algn="tl"/>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任意多边形: 形状 40"/>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chemeClr val="accent1">
              <a:alpha val="90000"/>
            </a:schemeClr>
          </a:solidFill>
          <a:ln>
            <a:noFill/>
          </a:ln>
          <a:effectLst>
            <a:outerShdw blurRad="190500" dist="38100" dir="5400000" algn="t" rotWithShape="0">
              <a:prstClr val="black">
                <a:alpha val="1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userDrawn="1"/>
        </p:nvSpPr>
        <p:spPr>
          <a:xfrm>
            <a:off x="-170180" y="-10795"/>
            <a:ext cx="12532360" cy="384111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3">
              <a:extLst>
                <a:ext uri="{BEBA8EAE-BF5A-486C-A8C5-ECC9F3942E4B}">
                  <a14:imgProps xmlns:a14="http://schemas.microsoft.com/office/drawing/2010/main">
                    <a14:imgLayer r:embed="rId4">
                      <a14:imgEffect>
                        <a14:artisticFilmGrain grainSize="50"/>
                      </a14:imgEffect>
                    </a14:imgLayer>
                  </a14:imgProps>
                </a:ext>
                <a:ext uri="{28A0092B-C50C-407E-A947-70E740481C1C}">
                  <a14:useLocalDpi xmlns:a14="http://schemas.microsoft.com/office/drawing/2010/main" val="0"/>
                </a:ext>
              </a:extLst>
            </a:blip>
            <a:srcRect/>
            <a:stretch>
              <a:fillRect l="-586" t="-64169" r="586" b="-25181"/>
            </a:stretch>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nvPr>
        </p:nvSpPr>
        <p:spPr>
          <a:xfrm>
            <a:off x="2719867" y="3935404"/>
            <a:ext cx="6752267" cy="652810"/>
          </a:xfrm>
        </p:spPr>
        <p:txBody>
          <a:bodyPr lIns="0" tIns="0" rIns="0" bIns="0"/>
          <a:lstStyle>
            <a:lvl1pPr>
              <a:defRPr b="1">
                <a:solidFill>
                  <a:srgbClr val="005D96"/>
                </a:solidFill>
                <a:latin typeface="方正大标宋简体" panose="02010601030101010101" pitchFamily="2" charset="-122"/>
                <a:ea typeface="方正大标宋简体" panose="02010601030101010101" pitchFamily="2" charset="-122"/>
              </a:defRPr>
            </a:lvl1pPr>
          </a:lstStyle>
          <a:p>
            <a:pPr lvl="0"/>
            <a:r>
              <a:rPr lang="zh-CN" altLang="en-US" b="1" dirty="0"/>
              <a:t>青岛理工大学答辩答辩模板</a:t>
            </a:r>
            <a:endParaRPr kumimoji="0" lang="zh-CN" altLang="en-US" sz="8800" b="1" i="0" u="none" strike="noStrike" kern="1200" cap="none" spc="100" normalizeH="0" baseline="0" noProof="0" dirty="0">
              <a:ln>
                <a:noFill/>
              </a:ln>
              <a:effectLst/>
              <a:uLnTx/>
              <a:uFillTx/>
              <a:latin typeface="方正大标宋简体" panose="02010601030101010101" pitchFamily="2" charset="-122"/>
              <a:ea typeface="方正大标宋简体" panose="02010601030101010101" pitchFamily="2" charset="-122"/>
            </a:endParaRPr>
          </a:p>
        </p:txBody>
      </p:sp>
      <p:sp>
        <p:nvSpPr>
          <p:cNvPr id="37" name="弧形 36"/>
          <p:cNvSpPr/>
          <p:nvPr userDrawn="1"/>
        </p:nvSpPr>
        <p:spPr>
          <a:xfrm>
            <a:off x="-912640" y="2648627"/>
            <a:ext cx="14352607" cy="5450476"/>
          </a:xfrm>
          <a:prstGeom prst="arc">
            <a:avLst>
              <a:gd name="adj1" fmla="val 11562219"/>
              <a:gd name="adj2" fmla="val 20729169"/>
            </a:avLst>
          </a:prstGeom>
          <a:ln w="53975">
            <a:solidFill>
              <a:srgbClr val="005D96"/>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占位符 9"/>
          <p:cNvSpPr>
            <a:spLocks noGrp="1"/>
          </p:cNvSpPr>
          <p:nvPr>
            <p:ph type="body" sz="quarter" idx="11" hasCustomPrompt="1"/>
          </p:nvPr>
        </p:nvSpPr>
        <p:spPr>
          <a:xfrm>
            <a:off x="515937" y="4657177"/>
            <a:ext cx="11160126" cy="337185"/>
          </a:xfrm>
          <a:prstGeom prst="rect">
            <a:avLst/>
          </a:prstGeom>
        </p:spPr>
        <p:txBody>
          <a:bodyPr vert="horz" wrap="square" lIns="0" tIns="45720" rIns="91440" bIns="45720" anchor="ctr" anchorCtr="0">
            <a:spAutoFit/>
          </a:bodyPr>
          <a:lstStyle>
            <a:lvl1pPr marL="0" indent="0" algn="ctr" defTabSz="914400" rtl="0" eaLnBrk="1" fontAlgn="auto" latinLnBrk="0" hangingPunct="1">
              <a:lnSpc>
                <a:spcPct val="100000"/>
              </a:lnSpc>
              <a:spcBef>
                <a:spcPts val="1000"/>
              </a:spcBef>
              <a:spcAft>
                <a:spcPts val="0"/>
              </a:spcAft>
              <a:buFont typeface="Arial" panose="020B0604020202020204" pitchFamily="34" charset="0"/>
              <a:buNone/>
              <a:defRPr sz="1600" spc="200">
                <a:solidFill>
                  <a:srgbClr val="595959"/>
                </a:solidFill>
                <a:latin typeface="Arial" panose="020B0604020202020204" pitchFamily="34" charset="0"/>
                <a:ea typeface="微软雅黑 Light" panose="020B0502040204020203"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Qingdao University of Technology PowerPoint Template</a:t>
            </a:r>
            <a:endParaRPr lang="zh-CN" altLang="en-US" dirty="0"/>
          </a:p>
        </p:txBody>
      </p:sp>
      <p:grpSp>
        <p:nvGrpSpPr>
          <p:cNvPr id="24" name="组合 23"/>
          <p:cNvGrpSpPr/>
          <p:nvPr userDrawn="1"/>
        </p:nvGrpSpPr>
        <p:grpSpPr>
          <a:xfrm>
            <a:off x="2704260" y="5219564"/>
            <a:ext cx="6783480" cy="99986"/>
            <a:chOff x="628656" y="974915"/>
            <a:chExt cx="11038056" cy="24702"/>
          </a:xfrm>
        </p:grpSpPr>
        <p:cxnSp>
          <p:nvCxnSpPr>
            <p:cNvPr id="25" name="直接连接符 24"/>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26" name="直接连接符 25"/>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sp>
        <p:nvSpPr>
          <p:cNvPr id="43" name="文本占位符 52"/>
          <p:cNvSpPr>
            <a:spLocks noGrp="1"/>
          </p:cNvSpPr>
          <p:nvPr>
            <p:ph type="body" sz="quarter" idx="13" hasCustomPrompt="1"/>
          </p:nvPr>
        </p:nvSpPr>
        <p:spPr>
          <a:xfrm>
            <a:off x="3979414" y="5821985"/>
            <a:ext cx="1978489" cy="304165"/>
          </a:xfrm>
          <a:prstGeom prst="rect">
            <a:avLst/>
          </a:prstGeom>
        </p:spPr>
        <p:txBody>
          <a:bodyPr vert="horz" wrap="square" lIns="0" tIns="0" rIns="0" bIns="0" anchor="b" anchorCtr="0">
            <a:sp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汇报人：青小理</a:t>
            </a:r>
          </a:p>
        </p:txBody>
      </p:sp>
      <p:sp>
        <p:nvSpPr>
          <p:cNvPr id="44" name="文本占位符 1"/>
          <p:cNvSpPr>
            <a:spLocks noGrp="1"/>
          </p:cNvSpPr>
          <p:nvPr>
            <p:ph type="body" sz="quarter" idx="15" hasCustomPrompt="1"/>
          </p:nvPr>
        </p:nvSpPr>
        <p:spPr>
          <a:xfrm>
            <a:off x="6756211" y="5838317"/>
            <a:ext cx="1849890" cy="287836"/>
          </a:xfrm>
          <a:prstGeom prst="rect">
            <a:avLst/>
          </a:prstGeom>
        </p:spPr>
        <p:txBody>
          <a:bodyPr vert="horz" wrap="square" lIns="0" tIns="0" rIns="0" bIns="0" anchor="b" anchorCtr="0">
            <a:norm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指导老师：青老师</a:t>
            </a:r>
          </a:p>
        </p:txBody>
      </p:sp>
      <p:sp>
        <p:nvSpPr>
          <p:cNvPr id="17" name="任意多边形: 形状 41"/>
          <p:cNvSpPr/>
          <p:nvPr userDrawn="1"/>
        </p:nvSpPr>
        <p:spPr>
          <a:xfrm>
            <a:off x="-170180" y="-56515"/>
            <a:ext cx="12532360" cy="390842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rgbClr val="005D96">
              <a:alpha val="69000"/>
            </a:srgb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文本框 17"/>
          <p:cNvSpPr txBox="1"/>
          <p:nvPr userDrawn="1"/>
        </p:nvSpPr>
        <p:spPr>
          <a:xfrm>
            <a:off x="10196830" y="-1358900"/>
            <a:ext cx="309880" cy="368300"/>
          </a:xfrm>
          <a:prstGeom prst="rect">
            <a:avLst/>
          </a:prstGeom>
          <a:noFill/>
        </p:spPr>
        <p:txBody>
          <a:bodyPr wrap="none" rtlCol="0">
            <a:spAutoFit/>
          </a:bodyPr>
          <a:lstStyle/>
          <a:p>
            <a:endParaRPr lang="zh-CN" altLang="en-US"/>
          </a:p>
        </p:txBody>
      </p:sp>
      <p:pic>
        <p:nvPicPr>
          <p:cNvPr id="19" name="图片 18" descr="青岛理工大学校徽"/>
          <p:cNvPicPr>
            <a:picLocks noChangeAspect="1"/>
          </p:cNvPicPr>
          <p:nvPr userDrawn="1"/>
        </p:nvPicPr>
        <p:blipFill>
          <a:blip r:embed="rId5"/>
          <a:stretch>
            <a:fillRect/>
          </a:stretch>
        </p:blipFill>
        <p:spPr>
          <a:xfrm>
            <a:off x="5283835" y="1692910"/>
            <a:ext cx="1783715" cy="1783715"/>
          </a:xfrm>
          <a:prstGeom prst="rect">
            <a:avLst/>
          </a:prstGeom>
        </p:spPr>
      </p:pic>
    </p:spTree>
    <p:extLst>
      <p:ext uri="{BB962C8B-B14F-4D97-AF65-F5344CB8AC3E}">
        <p14:creationId xmlns:p14="http://schemas.microsoft.com/office/powerpoint/2010/main" val="4255395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554457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2023/4/19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054090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2D3ABB-1285-294F-A20A-F30083EB9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A1A8907-74D6-0D45-95A8-836E4EC85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017F7AE-BD20-0A4F-80C4-18B0EDB6DE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5CF517-7373-6349-A426-5E433EDE14F4}" type="datetimeFigureOut">
              <a:rPr kumimoji="1" lang="zh-CN" altLang="en-US" smtClean="0"/>
              <a:t>2023/4/19</a:t>
            </a:fld>
            <a:endParaRPr kumimoji="1" lang="zh-CN" altLang="en-US"/>
          </a:p>
        </p:txBody>
      </p:sp>
      <p:sp>
        <p:nvSpPr>
          <p:cNvPr id="5" name="页脚占位符 4">
            <a:extLst>
              <a:ext uri="{FF2B5EF4-FFF2-40B4-BE49-F238E27FC236}">
                <a16:creationId xmlns:a16="http://schemas.microsoft.com/office/drawing/2014/main" id="{F034DFE5-4086-414D-857D-C32B7481EA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256FCBA4-62E5-7A40-8979-12F1BF0DD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29EF8-2028-4447-86E5-25060CA00E4D}" type="slidenum">
              <a:rPr kumimoji="1" lang="zh-CN" altLang="en-US" smtClean="0"/>
              <a:t>‹#›</a:t>
            </a:fld>
            <a:endParaRPr kumimoji="1" lang="zh-CN" altLang="en-US"/>
          </a:p>
        </p:txBody>
      </p:sp>
      <p:sp>
        <p:nvSpPr>
          <p:cNvPr id="7" name="矩形 6">
            <a:extLst>
              <a:ext uri="{FF2B5EF4-FFF2-40B4-BE49-F238E27FC236}">
                <a16:creationId xmlns:a16="http://schemas.microsoft.com/office/drawing/2014/main" id="{7487543E-91E5-5145-A581-4D7204F32DA7}"/>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5">
            <a:extLst>
              <a:ext uri="{FF2B5EF4-FFF2-40B4-BE49-F238E27FC236}">
                <a16:creationId xmlns:a16="http://schemas.microsoft.com/office/drawing/2014/main" id="{86770886-93F4-434C-9FE2-AEFDCF90D23E}"/>
              </a:ext>
            </a:extLst>
          </p:cNvPr>
          <p:cNvPicPr>
            <a:picLocks noChangeAspect="1"/>
          </p:cNvPicPr>
          <p:nvPr userDrawn="1"/>
        </p:nvPicPr>
        <p:blipFill>
          <a:blip r:embed="rId28">
            <a:alphaModFix amt="30000"/>
          </a:blip>
          <a:stretch>
            <a:fillRect/>
          </a:stretch>
        </p:blipFill>
        <p:spPr>
          <a:xfrm>
            <a:off x="-3829050" y="-421622"/>
            <a:ext cx="7726680" cy="7726680"/>
          </a:xfrm>
          <a:prstGeom prst="rect">
            <a:avLst/>
          </a:prstGeom>
        </p:spPr>
      </p:pic>
      <p:pic>
        <p:nvPicPr>
          <p:cNvPr id="9" name="图片 8" descr="5">
            <a:extLst>
              <a:ext uri="{FF2B5EF4-FFF2-40B4-BE49-F238E27FC236}">
                <a16:creationId xmlns:a16="http://schemas.microsoft.com/office/drawing/2014/main" id="{33BEC999-C1B9-3948-9008-02B970DB7EAB}"/>
              </a:ext>
            </a:extLst>
          </p:cNvPr>
          <p:cNvPicPr>
            <a:picLocks noChangeAspect="1"/>
          </p:cNvPicPr>
          <p:nvPr userDrawn="1"/>
        </p:nvPicPr>
        <p:blipFill>
          <a:blip r:embed="rId28">
            <a:alphaModFix amt="30000"/>
          </a:blip>
          <a:stretch>
            <a:fillRect/>
          </a:stretch>
        </p:blipFill>
        <p:spPr>
          <a:xfrm>
            <a:off x="8328660" y="-434340"/>
            <a:ext cx="7726680" cy="7726680"/>
          </a:xfrm>
          <a:prstGeom prst="rect">
            <a:avLst/>
          </a:prstGeom>
        </p:spPr>
      </p:pic>
      <p:sp>
        <p:nvSpPr>
          <p:cNvPr id="10" name="任意多边形: 形状 8">
            <a:extLst>
              <a:ext uri="{FF2B5EF4-FFF2-40B4-BE49-F238E27FC236}">
                <a16:creationId xmlns:a16="http://schemas.microsoft.com/office/drawing/2014/main" id="{CF7A9872-9A2D-0544-B95E-53F0A0452969}"/>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7">
            <a:extLst>
              <a:ext uri="{FF2B5EF4-FFF2-40B4-BE49-F238E27FC236}">
                <a16:creationId xmlns:a16="http://schemas.microsoft.com/office/drawing/2014/main" id="{7990B218-ED19-EA44-9E8D-A10600CCD7A7}"/>
              </a:ext>
            </a:extLst>
          </p:cNvPr>
          <p:cNvSpPr/>
          <p:nvPr userDrawn="1"/>
        </p:nvSpPr>
        <p:spPr>
          <a:xfrm rot="21413345">
            <a:off x="-51285" y="5815216"/>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6">
            <a:extLst>
              <a:ext uri="{FF2B5EF4-FFF2-40B4-BE49-F238E27FC236}">
                <a16:creationId xmlns:a16="http://schemas.microsoft.com/office/drawing/2014/main" id="{AF003127-AEDD-8E4C-9F09-DA9AF5FD300F}"/>
              </a:ext>
            </a:extLst>
          </p:cNvPr>
          <p:cNvSpPr/>
          <p:nvPr userDrawn="1"/>
        </p:nvSpPr>
        <p:spPr>
          <a:xfrm rot="21413345">
            <a:off x="-9274" y="5823247"/>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日期占位符 9">
            <a:extLst>
              <a:ext uri="{FF2B5EF4-FFF2-40B4-BE49-F238E27FC236}">
                <a16:creationId xmlns:a16="http://schemas.microsoft.com/office/drawing/2014/main" id="{25D4FA56-C140-9844-933D-B552570A8775}"/>
              </a:ext>
            </a:extLst>
          </p:cNvPr>
          <p:cNvSpPr txBox="1">
            <a:spLocks/>
          </p:cNvSpPr>
          <p:nvPr userDrawn="1"/>
        </p:nvSpPr>
        <p:spPr>
          <a:xfrm>
            <a:off x="468630"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百折不挠</a:t>
            </a:r>
            <a:r>
              <a:rPr lang="en-US" altLang="zh-CN"/>
              <a:t> </a:t>
            </a:r>
            <a:r>
              <a:rPr lang="zh-CN" altLang="en-US"/>
              <a:t>刚毅厚重</a:t>
            </a:r>
            <a:r>
              <a:rPr lang="en-US" altLang="zh-CN"/>
              <a:t> </a:t>
            </a:r>
            <a:r>
              <a:rPr lang="zh-CN" altLang="en-US"/>
              <a:t>勇承重载</a:t>
            </a:r>
            <a:endParaRPr lang="zh-CN" altLang="en-US" dirty="0"/>
          </a:p>
        </p:txBody>
      </p:sp>
      <p:sp>
        <p:nvSpPr>
          <p:cNvPr id="14" name="矩形 13">
            <a:extLst>
              <a:ext uri="{FF2B5EF4-FFF2-40B4-BE49-F238E27FC236}">
                <a16:creationId xmlns:a16="http://schemas.microsoft.com/office/drawing/2014/main" id="{73BF4C09-9862-DF42-BD08-3AFBEDF9DF09}"/>
              </a:ext>
            </a:extLst>
          </p:cNvPr>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15" name="图片 14" descr="青岛理工大学校徽">
            <a:extLst>
              <a:ext uri="{FF2B5EF4-FFF2-40B4-BE49-F238E27FC236}">
                <a16:creationId xmlns:a16="http://schemas.microsoft.com/office/drawing/2014/main" id="{41EA12D9-A451-3B45-A579-CA2846C1C316}"/>
              </a:ext>
            </a:extLst>
          </p:cNvPr>
          <p:cNvPicPr>
            <a:picLocks noChangeAspect="1"/>
          </p:cNvPicPr>
          <p:nvPr userDrawn="1"/>
        </p:nvPicPr>
        <p:blipFill>
          <a:blip r:embed="rId29"/>
          <a:stretch>
            <a:fillRect/>
          </a:stretch>
        </p:blipFill>
        <p:spPr>
          <a:xfrm>
            <a:off x="10973435" y="221615"/>
            <a:ext cx="723265" cy="723265"/>
          </a:xfrm>
          <a:prstGeom prst="rect">
            <a:avLst/>
          </a:prstGeom>
        </p:spPr>
      </p:pic>
    </p:spTree>
    <p:extLst>
      <p:ext uri="{BB962C8B-B14F-4D97-AF65-F5344CB8AC3E}">
        <p14:creationId xmlns:p14="http://schemas.microsoft.com/office/powerpoint/2010/main" val="2613865641"/>
      </p:ext>
    </p:extLst>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49" r:id="rId13"/>
    <p:sldLayoutId id="2147483650" r:id="rId14"/>
    <p:sldLayoutId id="2147483651" r:id="rId15"/>
    <p:sldLayoutId id="2147483652" r:id="rId16"/>
    <p:sldLayoutId id="2147483653" r:id="rId17"/>
    <p:sldLayoutId id="2147483654" r:id="rId18"/>
    <p:sldLayoutId id="2147483655" r:id="rId19"/>
    <p:sldLayoutId id="2147483656" r:id="rId20"/>
    <p:sldLayoutId id="2147483657" r:id="rId21"/>
    <p:sldLayoutId id="2147483658" r:id="rId22"/>
    <p:sldLayoutId id="2147483659" r:id="rId23"/>
    <p:sldLayoutId id="2147483660" r:id="rId24"/>
    <p:sldLayoutId id="2147483661" r:id="rId25"/>
    <p:sldLayoutId id="2147483675"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jpe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0.png"/><Relationship Id="rId7" Type="http://schemas.openxmlformats.org/officeDocument/2006/relationships/image" Target="../media/image110.pn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0.png"/><Relationship Id="rId10" Type="http://schemas.openxmlformats.org/officeDocument/2006/relationships/image" Target="../media/image14.png"/><Relationship Id="rId4" Type="http://schemas.openxmlformats.org/officeDocument/2006/relationships/image" Target="../media/image80.png"/><Relationship Id="rId9"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2719705" y="3857271"/>
            <a:ext cx="7350125" cy="652780"/>
          </a:xfrm>
        </p:spPr>
        <p:txBody>
          <a:bodyPr>
            <a:normAutofit/>
          </a:bodyPr>
          <a:lstStyle/>
          <a:p>
            <a:pPr algn="ctr"/>
            <a:r>
              <a:rPr lang="zh-CN" altLang="en-US" dirty="0"/>
              <a:t>算法设计与分析</a:t>
            </a:r>
            <a:endParaRPr lang="zh-CN" altLang="en-US" dirty="0">
              <a:solidFill>
                <a:srgbClr val="005D96"/>
              </a:solidFill>
            </a:endParaRPr>
          </a:p>
        </p:txBody>
      </p:sp>
      <p:grpSp>
        <p:nvGrpSpPr>
          <p:cNvPr id="37" name="组合 36"/>
          <p:cNvGrpSpPr/>
          <p:nvPr/>
        </p:nvGrpSpPr>
        <p:grpSpPr>
          <a:xfrm>
            <a:off x="2704260" y="5219564"/>
            <a:ext cx="6783480" cy="99986"/>
            <a:chOff x="628656" y="974915"/>
            <a:chExt cx="11038056" cy="24702"/>
          </a:xfrm>
        </p:grpSpPr>
        <p:cxnSp>
          <p:nvCxnSpPr>
            <p:cNvPr id="40" name="直接连接符 39"/>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47" name="直接连接符 46"/>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cxnSp>
        <p:nvCxnSpPr>
          <p:cNvPr id="95" name="直接连接符 94"/>
          <p:cNvCxnSpPr/>
          <p:nvPr/>
        </p:nvCxnSpPr>
        <p:spPr>
          <a:xfrm flipV="1">
            <a:off x="2784475" y="5848350"/>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2861310" y="589534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rot="16200000">
            <a:off x="2880995" y="5981065"/>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3161491" y="5800840"/>
            <a:ext cx="5933868" cy="367111"/>
            <a:chOff x="3517041" y="5800840"/>
            <a:chExt cx="5082917" cy="367111"/>
          </a:xfrm>
        </p:grpSpPr>
        <p:sp>
          <p:nvSpPr>
            <p:cNvPr id="36" name="文本框 35"/>
            <p:cNvSpPr txBox="1"/>
            <p:nvPr/>
          </p:nvSpPr>
          <p:spPr>
            <a:xfrm>
              <a:off x="3826448" y="5856877"/>
              <a:ext cx="2349253" cy="283476"/>
            </a:xfrm>
            <a:prstGeom prst="rect">
              <a:avLst/>
            </a:prstGeom>
            <a:noFill/>
          </p:spPr>
          <p:txBody>
            <a:bodyPr wrap="square" lIns="0" tIns="0" rIns="0" bIns="0" rtlCol="0" anchor="b">
              <a:spAutoFit/>
            </a:bodyPr>
            <a:lstStyle/>
            <a:p>
              <a:pPr lvl="0" algn="r">
                <a:lnSpc>
                  <a:spcPct val="110000"/>
                </a:lnSpc>
                <a:defRPr/>
              </a:pPr>
              <a:r>
                <a:rPr lang="zh-CN" altLang="en-US" dirty="0">
                  <a:solidFill>
                    <a:srgbClr val="005D96"/>
                  </a:solidFill>
                  <a:latin typeface="方正大标宋简体" panose="02010601030101010101" pitchFamily="2" charset="-122"/>
                  <a:ea typeface="方正大标宋简体" panose="02010601030101010101" pitchFamily="2" charset="-122"/>
                </a:rPr>
                <a:t>开课专业班级：软件</a:t>
              </a:r>
              <a:r>
                <a:rPr lang="en-US" altLang="zh-CN" dirty="0">
                  <a:solidFill>
                    <a:srgbClr val="005D96"/>
                  </a:solidFill>
                  <a:latin typeface="方正大标宋简体" panose="02010601030101010101" pitchFamily="2" charset="-122"/>
                  <a:ea typeface="方正大标宋简体" panose="02010601030101010101" pitchFamily="2" charset="-122"/>
                </a:rPr>
                <a:t>211-3</a:t>
              </a:r>
              <a:r>
                <a:rPr kumimoji="0" lang="zh-CN" altLang="en-US" b="0" i="0" u="none" strike="noStrike" kern="1200" cap="none" spc="0" normalizeH="0" baseline="0" noProof="0" dirty="0">
                  <a:ln>
                    <a:noFill/>
                  </a:ln>
                  <a:solidFill>
                    <a:srgbClr val="005D96"/>
                  </a:solidFill>
                  <a:effectLst/>
                  <a:uLnTx/>
                  <a:uFillTx/>
                  <a:latin typeface="方正大标宋简体" panose="02010601030101010101" pitchFamily="2" charset="-122"/>
                  <a:ea typeface="方正大标宋简体" panose="02010601030101010101" pitchFamily="2" charset="-122"/>
                </a:rPr>
                <a:t> </a:t>
              </a:r>
            </a:p>
          </p:txBody>
        </p:sp>
        <p:sp>
          <p:nvSpPr>
            <p:cNvPr id="38" name="文本框 37"/>
            <p:cNvSpPr txBox="1"/>
            <p:nvPr/>
          </p:nvSpPr>
          <p:spPr>
            <a:xfrm>
              <a:off x="6830089" y="5810965"/>
              <a:ext cx="1769869" cy="314894"/>
            </a:xfrm>
            <a:prstGeom prst="rect">
              <a:avLst/>
            </a:prstGeom>
            <a:noFill/>
          </p:spPr>
          <p:txBody>
            <a:bodyPr wrap="square" lIns="0" tIns="0" rIns="0" bIns="0" rtlCol="0" anchor="b">
              <a:spAutoFit/>
            </a:bodyPr>
            <a:lstStyle/>
            <a:p>
              <a:pPr marL="0" marR="0" lvl="0" indent="0" algn="r" defTabSz="914400" rtl="0" eaLnBrk="1" fontAlgn="auto" latinLnBrk="0" hangingPunct="1">
                <a:lnSpc>
                  <a:spcPct val="110000"/>
                </a:lnSpc>
                <a:spcBef>
                  <a:spcPts val="0"/>
                </a:spcBef>
                <a:spcAft>
                  <a:spcPts val="0"/>
                </a:spcAft>
                <a:buClrTx/>
                <a:buSzTx/>
                <a:buFontTx/>
                <a:buNone/>
                <a:defRPr/>
              </a:pPr>
              <a:r>
                <a:rPr lang="zh-CN" altLang="en-US" dirty="0">
                  <a:solidFill>
                    <a:srgbClr val="005D96"/>
                  </a:solidFill>
                  <a:latin typeface="方正大标宋简体" panose="02010601030101010101" pitchFamily="2" charset="-122"/>
                  <a:ea typeface="方正大标宋简体" panose="02010601030101010101" pitchFamily="2" charset="-122"/>
                </a:rPr>
                <a:t>开课教师：</a:t>
              </a:r>
              <a:r>
                <a:rPr lang="zh-CN" altLang="en-US" sz="2000" dirty="0">
                  <a:solidFill>
                    <a:srgbClr val="005D96"/>
                  </a:solidFill>
                  <a:latin typeface="方正大标宋简体" panose="02010601030101010101" pitchFamily="2" charset="-122"/>
                  <a:ea typeface="方正大标宋简体" panose="02010601030101010101" pitchFamily="2" charset="-122"/>
                </a:rPr>
                <a:t>赵浩然</a:t>
              </a:r>
            </a:p>
          </p:txBody>
        </p:sp>
        <p:sp>
          <p:nvSpPr>
            <p:cNvPr id="39" name="graduate_57239"/>
            <p:cNvSpPr>
              <a:spLocks noChangeAspect="1"/>
            </p:cNvSpPr>
            <p:nvPr/>
          </p:nvSpPr>
          <p:spPr bwMode="auto">
            <a:xfrm>
              <a:off x="3517041" y="5800840"/>
              <a:ext cx="247420" cy="360000"/>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005D96"/>
            </a:solidFill>
            <a:ln>
              <a:noFill/>
            </a:ln>
          </p:spPr>
          <p:txBody>
            <a:bodyPr/>
            <a:lstStyle/>
            <a:p>
              <a:endParaRPr lang="zh-CN" altLang="en-US" dirty="0">
                <a:solidFill>
                  <a:schemeClr val="accent4"/>
                </a:solidFill>
              </a:endParaRPr>
            </a:p>
          </p:txBody>
        </p:sp>
        <p:sp>
          <p:nvSpPr>
            <p:cNvPr id="45" name="professor_53644"/>
            <p:cNvSpPr>
              <a:spLocks noChangeAspect="1"/>
            </p:cNvSpPr>
            <p:nvPr/>
          </p:nvSpPr>
          <p:spPr bwMode="auto">
            <a:xfrm>
              <a:off x="6601606" y="5807951"/>
              <a:ext cx="254137" cy="360000"/>
            </a:xfrm>
            <a:custGeom>
              <a:avLst/>
              <a:gdLst>
                <a:gd name="connsiteX0" fmla="*/ 274879 w 424808"/>
                <a:gd name="connsiteY0" fmla="*/ 445205 h 601764"/>
                <a:gd name="connsiteX1" fmla="*/ 274879 w 424808"/>
                <a:gd name="connsiteY1" fmla="*/ 470531 h 601764"/>
                <a:gd name="connsiteX2" fmla="*/ 332512 w 424808"/>
                <a:gd name="connsiteY2" fmla="*/ 470531 h 601764"/>
                <a:gd name="connsiteX3" fmla="*/ 332512 w 424808"/>
                <a:gd name="connsiteY3" fmla="*/ 445205 h 601764"/>
                <a:gd name="connsiteX4" fmla="*/ 107051 w 424808"/>
                <a:gd name="connsiteY4" fmla="*/ 280818 h 601764"/>
                <a:gd name="connsiteX5" fmla="*/ 183588 w 424808"/>
                <a:gd name="connsiteY5" fmla="*/ 420340 h 601764"/>
                <a:gd name="connsiteX6" fmla="*/ 191426 w 424808"/>
                <a:gd name="connsiteY6" fmla="*/ 393633 h 601764"/>
                <a:gd name="connsiteX7" fmla="*/ 179899 w 424808"/>
                <a:gd name="connsiteY7" fmla="*/ 369228 h 601764"/>
                <a:gd name="connsiteX8" fmla="*/ 212174 w 424808"/>
                <a:gd name="connsiteY8" fmla="*/ 336074 h 601764"/>
                <a:gd name="connsiteX9" fmla="*/ 244910 w 424808"/>
                <a:gd name="connsiteY9" fmla="*/ 369228 h 601764"/>
                <a:gd name="connsiteX10" fmla="*/ 233383 w 424808"/>
                <a:gd name="connsiteY10" fmla="*/ 393633 h 601764"/>
                <a:gd name="connsiteX11" fmla="*/ 240760 w 424808"/>
                <a:gd name="connsiteY11" fmla="*/ 420340 h 601764"/>
                <a:gd name="connsiteX12" fmla="*/ 317758 w 424808"/>
                <a:gd name="connsiteY12" fmla="*/ 280818 h 601764"/>
                <a:gd name="connsiteX13" fmla="*/ 424726 w 424808"/>
                <a:gd name="connsiteY13" fmla="*/ 513815 h 601764"/>
                <a:gd name="connsiteX14" fmla="*/ 388763 w 424808"/>
                <a:gd name="connsiteY14" fmla="*/ 559861 h 601764"/>
                <a:gd name="connsiteX15" fmla="*/ 347267 w 424808"/>
                <a:gd name="connsiteY15" fmla="*/ 561703 h 601764"/>
                <a:gd name="connsiteX16" fmla="*/ 213557 w 424808"/>
                <a:gd name="connsiteY16" fmla="*/ 601764 h 601764"/>
                <a:gd name="connsiteX17" fmla="*/ 78003 w 424808"/>
                <a:gd name="connsiteY17" fmla="*/ 561703 h 601764"/>
                <a:gd name="connsiteX18" fmla="*/ 36507 w 424808"/>
                <a:gd name="connsiteY18" fmla="*/ 559861 h 601764"/>
                <a:gd name="connsiteX19" fmla="*/ 83 w 424808"/>
                <a:gd name="connsiteY19" fmla="*/ 513815 h 601764"/>
                <a:gd name="connsiteX20" fmla="*/ 107051 w 424808"/>
                <a:gd name="connsiteY20" fmla="*/ 280818 h 601764"/>
                <a:gd name="connsiteX21" fmla="*/ 184977 w 424808"/>
                <a:gd name="connsiteY21" fmla="*/ 152406 h 601764"/>
                <a:gd name="connsiteX22" fmla="*/ 153631 w 424808"/>
                <a:gd name="connsiteY22" fmla="*/ 166680 h 601764"/>
                <a:gd name="connsiteX23" fmla="*/ 153631 w 424808"/>
                <a:gd name="connsiteY23" fmla="*/ 167601 h 601764"/>
                <a:gd name="connsiteX24" fmla="*/ 170226 w 424808"/>
                <a:gd name="connsiteY24" fmla="*/ 184637 h 601764"/>
                <a:gd name="connsiteX25" fmla="*/ 178062 w 424808"/>
                <a:gd name="connsiteY25" fmla="*/ 184637 h 601764"/>
                <a:gd name="connsiteX26" fmla="*/ 195118 w 424808"/>
                <a:gd name="connsiteY26" fmla="*/ 167601 h 601764"/>
                <a:gd name="connsiteX27" fmla="*/ 184977 w 424808"/>
                <a:gd name="connsiteY27" fmla="*/ 152406 h 601764"/>
                <a:gd name="connsiteX28" fmla="*/ 247208 w 424808"/>
                <a:gd name="connsiteY28" fmla="*/ 150564 h 601764"/>
                <a:gd name="connsiteX29" fmla="*/ 230152 w 424808"/>
                <a:gd name="connsiteY29" fmla="*/ 167601 h 601764"/>
                <a:gd name="connsiteX30" fmla="*/ 247208 w 424808"/>
                <a:gd name="connsiteY30" fmla="*/ 184637 h 601764"/>
                <a:gd name="connsiteX31" fmla="*/ 254583 w 424808"/>
                <a:gd name="connsiteY31" fmla="*/ 184637 h 601764"/>
                <a:gd name="connsiteX32" fmla="*/ 271639 w 424808"/>
                <a:gd name="connsiteY32" fmla="*/ 167601 h 601764"/>
                <a:gd name="connsiteX33" fmla="*/ 254583 w 424808"/>
                <a:gd name="connsiteY33" fmla="*/ 150564 h 601764"/>
                <a:gd name="connsiteX34" fmla="*/ 236144 w 424808"/>
                <a:gd name="connsiteY34" fmla="*/ 107283 h 601764"/>
                <a:gd name="connsiteX35" fmla="*/ 196040 w 424808"/>
                <a:gd name="connsiteY35" fmla="*/ 145039 h 601764"/>
                <a:gd name="connsiteX36" fmla="*/ 201572 w 424808"/>
                <a:gd name="connsiteY36" fmla="*/ 150564 h 601764"/>
                <a:gd name="connsiteX37" fmla="*/ 223237 w 424808"/>
                <a:gd name="connsiteY37" fmla="*/ 150564 h 601764"/>
                <a:gd name="connsiteX38" fmla="*/ 247208 w 424808"/>
                <a:gd name="connsiteY38" fmla="*/ 138593 h 601764"/>
                <a:gd name="connsiteX39" fmla="*/ 254583 w 424808"/>
                <a:gd name="connsiteY39" fmla="*/ 138593 h 601764"/>
                <a:gd name="connsiteX40" fmla="*/ 284085 w 424808"/>
                <a:gd name="connsiteY40" fmla="*/ 167601 h 601764"/>
                <a:gd name="connsiteX41" fmla="*/ 254583 w 424808"/>
                <a:gd name="connsiteY41" fmla="*/ 197069 h 601764"/>
                <a:gd name="connsiteX42" fmla="*/ 247208 w 424808"/>
                <a:gd name="connsiteY42" fmla="*/ 197069 h 601764"/>
                <a:gd name="connsiteX43" fmla="*/ 217706 w 424808"/>
                <a:gd name="connsiteY43" fmla="*/ 167601 h 601764"/>
                <a:gd name="connsiteX44" fmla="*/ 218167 w 424808"/>
                <a:gd name="connsiteY44" fmla="*/ 162996 h 601764"/>
                <a:gd name="connsiteX45" fmla="*/ 206642 w 424808"/>
                <a:gd name="connsiteY45" fmla="*/ 162996 h 601764"/>
                <a:gd name="connsiteX46" fmla="*/ 207103 w 424808"/>
                <a:gd name="connsiteY46" fmla="*/ 167601 h 601764"/>
                <a:gd name="connsiteX47" fmla="*/ 178062 w 424808"/>
                <a:gd name="connsiteY47" fmla="*/ 197069 h 601764"/>
                <a:gd name="connsiteX48" fmla="*/ 170226 w 424808"/>
                <a:gd name="connsiteY48" fmla="*/ 197069 h 601764"/>
                <a:gd name="connsiteX49" fmla="*/ 141185 w 424808"/>
                <a:gd name="connsiteY49" fmla="*/ 170363 h 601764"/>
                <a:gd name="connsiteX50" fmla="*/ 119519 w 424808"/>
                <a:gd name="connsiteY50" fmla="*/ 173586 h 601764"/>
                <a:gd name="connsiteX51" fmla="*/ 212635 w 424808"/>
                <a:gd name="connsiteY51" fmla="*/ 280869 h 601764"/>
                <a:gd name="connsiteX52" fmla="*/ 307594 w 424808"/>
                <a:gd name="connsiteY52" fmla="*/ 155629 h 601764"/>
                <a:gd name="connsiteX53" fmla="*/ 236144 w 424808"/>
                <a:gd name="connsiteY53" fmla="*/ 107283 h 601764"/>
                <a:gd name="connsiteX54" fmla="*/ 212635 w 424808"/>
                <a:gd name="connsiteY54" fmla="*/ 0 h 601764"/>
                <a:gd name="connsiteX55" fmla="*/ 340323 w 424808"/>
                <a:gd name="connsiteY55" fmla="*/ 127082 h 601764"/>
                <a:gd name="connsiteX56" fmla="*/ 365215 w 424808"/>
                <a:gd name="connsiteY56" fmla="*/ 175889 h 601764"/>
                <a:gd name="connsiteX57" fmla="*/ 326955 w 424808"/>
                <a:gd name="connsiteY57" fmla="*/ 224695 h 601764"/>
                <a:gd name="connsiteX58" fmla="*/ 212635 w 424808"/>
                <a:gd name="connsiteY58" fmla="*/ 317244 h 601764"/>
                <a:gd name="connsiteX59" fmla="*/ 98315 w 424808"/>
                <a:gd name="connsiteY59" fmla="*/ 224695 h 601764"/>
                <a:gd name="connsiteX60" fmla="*/ 59594 w 424808"/>
                <a:gd name="connsiteY60" fmla="*/ 175889 h 601764"/>
                <a:gd name="connsiteX61" fmla="*/ 84947 w 424808"/>
                <a:gd name="connsiteY61" fmla="*/ 127082 h 601764"/>
                <a:gd name="connsiteX62" fmla="*/ 212635 w 424808"/>
                <a:gd name="connsiteY62" fmla="*/ 0 h 601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4808" h="601764">
                  <a:moveTo>
                    <a:pt x="274879" y="445205"/>
                  </a:moveTo>
                  <a:lnTo>
                    <a:pt x="274879" y="470531"/>
                  </a:lnTo>
                  <a:lnTo>
                    <a:pt x="332512" y="470531"/>
                  </a:lnTo>
                  <a:lnTo>
                    <a:pt x="332512" y="445205"/>
                  </a:lnTo>
                  <a:close/>
                  <a:moveTo>
                    <a:pt x="107051" y="280818"/>
                  </a:moveTo>
                  <a:lnTo>
                    <a:pt x="183588" y="420340"/>
                  </a:lnTo>
                  <a:lnTo>
                    <a:pt x="191426" y="393633"/>
                  </a:lnTo>
                  <a:cubicBezTo>
                    <a:pt x="184510" y="387647"/>
                    <a:pt x="179899" y="378898"/>
                    <a:pt x="179899" y="369228"/>
                  </a:cubicBezTo>
                  <a:cubicBezTo>
                    <a:pt x="179899" y="350809"/>
                    <a:pt x="193731" y="336074"/>
                    <a:pt x="212174" y="336074"/>
                  </a:cubicBezTo>
                  <a:cubicBezTo>
                    <a:pt x="230156" y="336074"/>
                    <a:pt x="244910" y="350809"/>
                    <a:pt x="244910" y="369228"/>
                  </a:cubicBezTo>
                  <a:cubicBezTo>
                    <a:pt x="244910" y="378898"/>
                    <a:pt x="240299" y="387647"/>
                    <a:pt x="233383" y="393633"/>
                  </a:cubicBezTo>
                  <a:lnTo>
                    <a:pt x="240760" y="420340"/>
                  </a:lnTo>
                  <a:lnTo>
                    <a:pt x="317758" y="280818"/>
                  </a:lnTo>
                  <a:cubicBezTo>
                    <a:pt x="367092" y="310288"/>
                    <a:pt x="417810" y="377977"/>
                    <a:pt x="424726" y="513815"/>
                  </a:cubicBezTo>
                  <a:cubicBezTo>
                    <a:pt x="426109" y="537759"/>
                    <a:pt x="409972" y="558480"/>
                    <a:pt x="388763" y="559861"/>
                  </a:cubicBezTo>
                  <a:cubicBezTo>
                    <a:pt x="387840" y="559861"/>
                    <a:pt x="347267" y="561703"/>
                    <a:pt x="347267" y="561703"/>
                  </a:cubicBezTo>
                  <a:cubicBezTo>
                    <a:pt x="322830" y="588410"/>
                    <a:pt x="274879" y="601764"/>
                    <a:pt x="213557" y="601764"/>
                  </a:cubicBezTo>
                  <a:cubicBezTo>
                    <a:pt x="155463" y="601764"/>
                    <a:pt x="103362" y="590713"/>
                    <a:pt x="78003" y="561703"/>
                  </a:cubicBezTo>
                  <a:cubicBezTo>
                    <a:pt x="78003" y="561703"/>
                    <a:pt x="36969" y="559861"/>
                    <a:pt x="36507" y="559861"/>
                  </a:cubicBezTo>
                  <a:cubicBezTo>
                    <a:pt x="14837" y="558480"/>
                    <a:pt x="-1300" y="537759"/>
                    <a:pt x="83" y="513815"/>
                  </a:cubicBezTo>
                  <a:cubicBezTo>
                    <a:pt x="6999" y="377056"/>
                    <a:pt x="57717" y="309827"/>
                    <a:pt x="107051" y="280818"/>
                  </a:cubicBezTo>
                  <a:close/>
                  <a:moveTo>
                    <a:pt x="184977" y="152406"/>
                  </a:moveTo>
                  <a:cubicBezTo>
                    <a:pt x="175758" y="157931"/>
                    <a:pt x="165155" y="162996"/>
                    <a:pt x="153631" y="166680"/>
                  </a:cubicBezTo>
                  <a:cubicBezTo>
                    <a:pt x="153631" y="167140"/>
                    <a:pt x="153631" y="167601"/>
                    <a:pt x="153631" y="167601"/>
                  </a:cubicBezTo>
                  <a:cubicBezTo>
                    <a:pt x="153631" y="176809"/>
                    <a:pt x="161007" y="184637"/>
                    <a:pt x="170226" y="184637"/>
                  </a:cubicBezTo>
                  <a:lnTo>
                    <a:pt x="178062" y="184637"/>
                  </a:lnTo>
                  <a:cubicBezTo>
                    <a:pt x="187282" y="184637"/>
                    <a:pt x="195118" y="176809"/>
                    <a:pt x="195118" y="167601"/>
                  </a:cubicBezTo>
                  <a:cubicBezTo>
                    <a:pt x="195118" y="160694"/>
                    <a:pt x="190969" y="155169"/>
                    <a:pt x="184977" y="152406"/>
                  </a:cubicBezTo>
                  <a:close/>
                  <a:moveTo>
                    <a:pt x="247208" y="150564"/>
                  </a:moveTo>
                  <a:cubicBezTo>
                    <a:pt x="237527" y="150564"/>
                    <a:pt x="230152" y="158392"/>
                    <a:pt x="230152" y="167601"/>
                  </a:cubicBezTo>
                  <a:cubicBezTo>
                    <a:pt x="230152" y="176809"/>
                    <a:pt x="237527" y="184637"/>
                    <a:pt x="247208" y="184637"/>
                  </a:cubicBezTo>
                  <a:lnTo>
                    <a:pt x="254583" y="184637"/>
                  </a:lnTo>
                  <a:cubicBezTo>
                    <a:pt x="263802" y="184637"/>
                    <a:pt x="271639" y="176809"/>
                    <a:pt x="271639" y="167601"/>
                  </a:cubicBezTo>
                  <a:cubicBezTo>
                    <a:pt x="271639" y="158392"/>
                    <a:pt x="263802" y="150564"/>
                    <a:pt x="254583" y="150564"/>
                  </a:cubicBezTo>
                  <a:close/>
                  <a:moveTo>
                    <a:pt x="236144" y="107283"/>
                  </a:moveTo>
                  <a:cubicBezTo>
                    <a:pt x="232457" y="111887"/>
                    <a:pt x="218628" y="129384"/>
                    <a:pt x="196040" y="145039"/>
                  </a:cubicBezTo>
                  <a:cubicBezTo>
                    <a:pt x="198345" y="146420"/>
                    <a:pt x="200189" y="148723"/>
                    <a:pt x="201572" y="150564"/>
                  </a:cubicBezTo>
                  <a:lnTo>
                    <a:pt x="223237" y="150564"/>
                  </a:lnTo>
                  <a:cubicBezTo>
                    <a:pt x="228769" y="143197"/>
                    <a:pt x="237066" y="138593"/>
                    <a:pt x="247208" y="138593"/>
                  </a:cubicBezTo>
                  <a:lnTo>
                    <a:pt x="254583" y="138593"/>
                  </a:lnTo>
                  <a:cubicBezTo>
                    <a:pt x="270717" y="138593"/>
                    <a:pt x="284085" y="151485"/>
                    <a:pt x="284085" y="167601"/>
                  </a:cubicBezTo>
                  <a:cubicBezTo>
                    <a:pt x="284085" y="183716"/>
                    <a:pt x="270717" y="197069"/>
                    <a:pt x="254583" y="197069"/>
                  </a:cubicBezTo>
                  <a:lnTo>
                    <a:pt x="247208" y="197069"/>
                  </a:lnTo>
                  <a:cubicBezTo>
                    <a:pt x="231074" y="197069"/>
                    <a:pt x="217706" y="183716"/>
                    <a:pt x="217706" y="167601"/>
                  </a:cubicBezTo>
                  <a:cubicBezTo>
                    <a:pt x="217706" y="166219"/>
                    <a:pt x="218167" y="164378"/>
                    <a:pt x="218167" y="162996"/>
                  </a:cubicBezTo>
                  <a:lnTo>
                    <a:pt x="206642" y="162996"/>
                  </a:lnTo>
                  <a:cubicBezTo>
                    <a:pt x="207103" y="164378"/>
                    <a:pt x="207103" y="166219"/>
                    <a:pt x="207103" y="167601"/>
                  </a:cubicBezTo>
                  <a:cubicBezTo>
                    <a:pt x="207103" y="183716"/>
                    <a:pt x="194196" y="197069"/>
                    <a:pt x="178062" y="197069"/>
                  </a:cubicBezTo>
                  <a:lnTo>
                    <a:pt x="170226" y="197069"/>
                  </a:lnTo>
                  <a:cubicBezTo>
                    <a:pt x="155014" y="197069"/>
                    <a:pt x="142568" y="185097"/>
                    <a:pt x="141185" y="170363"/>
                  </a:cubicBezTo>
                  <a:cubicBezTo>
                    <a:pt x="134270" y="171745"/>
                    <a:pt x="126895" y="173126"/>
                    <a:pt x="119519" y="173586"/>
                  </a:cubicBezTo>
                  <a:cubicBezTo>
                    <a:pt x="129200" y="235746"/>
                    <a:pt x="163311" y="280869"/>
                    <a:pt x="212635" y="280869"/>
                  </a:cubicBezTo>
                  <a:cubicBezTo>
                    <a:pt x="264724" y="280869"/>
                    <a:pt x="302985" y="228839"/>
                    <a:pt x="307594" y="155629"/>
                  </a:cubicBezTo>
                  <a:cubicBezTo>
                    <a:pt x="260576" y="144579"/>
                    <a:pt x="242598" y="119715"/>
                    <a:pt x="236144" y="107283"/>
                  </a:cubicBezTo>
                  <a:close/>
                  <a:moveTo>
                    <a:pt x="212635" y="0"/>
                  </a:moveTo>
                  <a:cubicBezTo>
                    <a:pt x="313126" y="0"/>
                    <a:pt x="333870" y="55713"/>
                    <a:pt x="340323" y="127082"/>
                  </a:cubicBezTo>
                  <a:cubicBezTo>
                    <a:pt x="359684" y="130305"/>
                    <a:pt x="370286" y="145499"/>
                    <a:pt x="365215" y="175889"/>
                  </a:cubicBezTo>
                  <a:cubicBezTo>
                    <a:pt x="361067" y="201213"/>
                    <a:pt x="349081" y="222854"/>
                    <a:pt x="326955" y="224695"/>
                  </a:cubicBezTo>
                  <a:cubicBezTo>
                    <a:pt x="305290" y="281790"/>
                    <a:pt x="262420" y="317244"/>
                    <a:pt x="212635" y="317244"/>
                  </a:cubicBezTo>
                  <a:cubicBezTo>
                    <a:pt x="160546" y="317244"/>
                    <a:pt x="119980" y="280409"/>
                    <a:pt x="98315" y="224695"/>
                  </a:cubicBezTo>
                  <a:cubicBezTo>
                    <a:pt x="76188" y="222854"/>
                    <a:pt x="64203" y="201213"/>
                    <a:pt x="59594" y="175889"/>
                  </a:cubicBezTo>
                  <a:cubicBezTo>
                    <a:pt x="54523" y="145499"/>
                    <a:pt x="65586" y="130305"/>
                    <a:pt x="84947" y="127082"/>
                  </a:cubicBezTo>
                  <a:cubicBezTo>
                    <a:pt x="91400" y="55713"/>
                    <a:pt x="111222" y="0"/>
                    <a:pt x="212635" y="0"/>
                  </a:cubicBezTo>
                  <a:close/>
                </a:path>
              </a:pathLst>
            </a:custGeom>
            <a:solidFill>
              <a:srgbClr val="005D96"/>
            </a:solidFill>
            <a:ln>
              <a:noFill/>
            </a:ln>
          </p:spPr>
          <p:txBody>
            <a:bodyPr/>
            <a:lstStyle/>
            <a:p>
              <a:endParaRPr lang="zh-CN" altLang="en-US" dirty="0">
                <a:solidFill>
                  <a:schemeClr val="accent4"/>
                </a:solidFill>
              </a:endParaRPr>
            </a:p>
          </p:txBody>
        </p:sp>
      </p:grpSp>
      <p:sp>
        <p:nvSpPr>
          <p:cNvPr id="3" name="文本框 2"/>
          <p:cNvSpPr txBox="1"/>
          <p:nvPr/>
        </p:nvSpPr>
        <p:spPr>
          <a:xfrm>
            <a:off x="-114300" y="4502150"/>
            <a:ext cx="309880" cy="368300"/>
          </a:xfrm>
          <a:prstGeom prst="rect">
            <a:avLst/>
          </a:prstGeom>
          <a:noFill/>
        </p:spPr>
        <p:txBody>
          <a:bodyPr wrap="none" rtlCol="0">
            <a:spAutoFit/>
          </a:bodyPr>
          <a:lstStyle/>
          <a:p>
            <a:endParaRPr lang="zh-CN" altLang="en-US"/>
          </a:p>
        </p:txBody>
      </p:sp>
      <p:sp>
        <p:nvSpPr>
          <p:cNvPr id="4" name="文本占位符 3">
            <a:extLst>
              <a:ext uri="{FF2B5EF4-FFF2-40B4-BE49-F238E27FC236}">
                <a16:creationId xmlns:a16="http://schemas.microsoft.com/office/drawing/2014/main" id="{4ADE574F-A14B-EE44-B58F-28595D784A72}"/>
              </a:ext>
            </a:extLst>
          </p:cNvPr>
          <p:cNvSpPr>
            <a:spLocks noGrp="1"/>
          </p:cNvSpPr>
          <p:nvPr>
            <p:ph type="body" sz="quarter" idx="11"/>
          </p:nvPr>
        </p:nvSpPr>
        <p:spPr>
          <a:xfrm>
            <a:off x="4908922" y="4734940"/>
            <a:ext cx="5881922" cy="337185"/>
          </a:xfrm>
        </p:spPr>
        <p:txBody>
          <a:bodyPr/>
          <a:lstStyle/>
          <a:p>
            <a:r>
              <a:rPr lang="en-US" altLang="zh-CN" b="1" dirty="0">
                <a:solidFill>
                  <a:schemeClr val="tx1"/>
                </a:solidFill>
              </a:rPr>
              <a:t>----</a:t>
            </a:r>
            <a:r>
              <a:rPr lang="zh-CN" altLang="en-US" b="1" dirty="0">
                <a:solidFill>
                  <a:schemeClr val="tx1"/>
                </a:solidFill>
              </a:rPr>
              <a:t> 课程编号：</a:t>
            </a:r>
            <a:r>
              <a:rPr lang="en-US" altLang="zh-CN" b="1" dirty="0">
                <a:solidFill>
                  <a:schemeClr val="tx1"/>
                </a:solidFill>
              </a:rPr>
              <a:t>BK10504150-01</a:t>
            </a:r>
            <a:endParaRPr lang="zh-CN" altLang="en-US" b="1" dirty="0">
              <a:solidFill>
                <a:schemeClr val="tx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5D70E9-72E5-2E4B-9749-F699BA8816BE}"/>
              </a:ext>
            </a:extLst>
          </p:cNvPr>
          <p:cNvSpPr txBox="1"/>
          <p:nvPr/>
        </p:nvSpPr>
        <p:spPr>
          <a:xfrm>
            <a:off x="1240220" y="420414"/>
            <a:ext cx="2787943" cy="538609"/>
          </a:xfrm>
          <a:prstGeom prst="rect">
            <a:avLst/>
          </a:prstGeom>
          <a:noFill/>
        </p:spPr>
        <p:txBody>
          <a:bodyPr wrap="none" rtlCol="0">
            <a:spAutoFit/>
          </a:bodyPr>
          <a:lstStyle/>
          <a:p>
            <a:r>
              <a:rPr lang="zh-CN" altLang="en-US" sz="2900" b="1" dirty="0">
                <a:latin typeface="黑体" panose="02010609060101010101" pitchFamily="49" charset="-122"/>
                <a:ea typeface="+mj-ea"/>
                <a:cs typeface="+mj-cs"/>
              </a:rPr>
              <a:t>导入：算法概述</a:t>
            </a:r>
          </a:p>
        </p:txBody>
      </p:sp>
      <p:sp>
        <p:nvSpPr>
          <p:cNvPr id="6" name="文本框 5">
            <a:extLst>
              <a:ext uri="{FF2B5EF4-FFF2-40B4-BE49-F238E27FC236}">
                <a16:creationId xmlns:a16="http://schemas.microsoft.com/office/drawing/2014/main" id="{B1692361-E651-D64C-882B-C7172354056A}"/>
              </a:ext>
            </a:extLst>
          </p:cNvPr>
          <p:cNvSpPr txBox="1"/>
          <p:nvPr/>
        </p:nvSpPr>
        <p:spPr>
          <a:xfrm>
            <a:off x="696310" y="1512755"/>
            <a:ext cx="2624959" cy="461665"/>
          </a:xfrm>
          <a:prstGeom prst="rect">
            <a:avLst/>
          </a:prstGeom>
          <a:noFill/>
        </p:spPr>
        <p:txBody>
          <a:bodyPr wrap="square">
            <a:spAutoFit/>
          </a:bodyPr>
          <a:lstStyle/>
          <a:p>
            <a:r>
              <a:rPr lang="en-US" altLang="zh-CN" sz="2400" b="1" dirty="0">
                <a:latin typeface="SimSun" panose="02010600030101010101" pitchFamily="2" charset="-122"/>
                <a:ea typeface="SimSun" panose="02010600030101010101" pitchFamily="2" charset="-122"/>
              </a:rPr>
              <a:t>1</a:t>
            </a:r>
            <a:r>
              <a:rPr lang="zh-CN" altLang="en-US" sz="2400" b="1" dirty="0">
                <a:latin typeface="SimSun" panose="02010600030101010101" pitchFamily="2" charset="-122"/>
                <a:ea typeface="SimSun" panose="02010600030101010101" pitchFamily="2" charset="-122"/>
              </a:rPr>
              <a:t>、什么是算法？ </a:t>
            </a:r>
            <a:endParaRPr lang="zh-CN" altLang="en-US" sz="2400" dirty="0">
              <a:latin typeface="SimSun" panose="02010600030101010101" pitchFamily="2" charset="-122"/>
              <a:ea typeface="SimSun" panose="02010600030101010101" pitchFamily="2" charset="-122"/>
            </a:endParaRPr>
          </a:p>
        </p:txBody>
      </p:sp>
      <p:sp>
        <p:nvSpPr>
          <p:cNvPr id="8" name="文本框 7">
            <a:extLst>
              <a:ext uri="{FF2B5EF4-FFF2-40B4-BE49-F238E27FC236}">
                <a16:creationId xmlns:a16="http://schemas.microsoft.com/office/drawing/2014/main" id="{7D6DB342-7343-8243-AE94-9C60D29FE94D}"/>
              </a:ext>
            </a:extLst>
          </p:cNvPr>
          <p:cNvSpPr txBox="1"/>
          <p:nvPr/>
        </p:nvSpPr>
        <p:spPr>
          <a:xfrm>
            <a:off x="696310" y="2420430"/>
            <a:ext cx="3087414" cy="461665"/>
          </a:xfrm>
          <a:prstGeom prst="rect">
            <a:avLst/>
          </a:prstGeom>
          <a:noFill/>
        </p:spPr>
        <p:txBody>
          <a:bodyPr wrap="square">
            <a:spAutoFit/>
          </a:bodyPr>
          <a:lstStyle/>
          <a:p>
            <a:pPr marL="0" indent="0">
              <a:buFontTx/>
              <a:buNone/>
            </a:pPr>
            <a:r>
              <a:rPr lang="en-US" altLang="zh-CN" sz="2400" b="1" dirty="0">
                <a:latin typeface="SimSun" panose="02010600030101010101" pitchFamily="2" charset="-122"/>
                <a:ea typeface="SimSun" panose="02010600030101010101" pitchFamily="2" charset="-122"/>
              </a:rPr>
              <a:t>2</a:t>
            </a:r>
            <a:r>
              <a:rPr lang="zh-CN" altLang="en-US" sz="2400" b="1" dirty="0">
                <a:latin typeface="SimSun" panose="02010600030101010101" pitchFamily="2" charset="-122"/>
                <a:ea typeface="SimSun" panose="02010600030101010101" pitchFamily="2" charset="-122"/>
              </a:rPr>
              <a:t>、什么是数据结构？</a:t>
            </a:r>
          </a:p>
        </p:txBody>
      </p:sp>
      <p:sp>
        <p:nvSpPr>
          <p:cNvPr id="10" name="文本框 9">
            <a:extLst>
              <a:ext uri="{FF2B5EF4-FFF2-40B4-BE49-F238E27FC236}">
                <a16:creationId xmlns:a16="http://schemas.microsoft.com/office/drawing/2014/main" id="{CBF5264A-4812-7F45-9283-C5165D97E82D}"/>
              </a:ext>
            </a:extLst>
          </p:cNvPr>
          <p:cNvSpPr txBox="1"/>
          <p:nvPr/>
        </p:nvSpPr>
        <p:spPr>
          <a:xfrm>
            <a:off x="696310" y="3265815"/>
            <a:ext cx="5284076" cy="461665"/>
          </a:xfrm>
          <a:prstGeom prst="rect">
            <a:avLst/>
          </a:prstGeom>
          <a:noFill/>
        </p:spPr>
        <p:txBody>
          <a:bodyPr wrap="square">
            <a:spAutoFit/>
          </a:bodyPr>
          <a:lstStyle/>
          <a:p>
            <a:pPr>
              <a:spcBef>
                <a:spcPct val="50000"/>
              </a:spcBef>
            </a:pPr>
            <a:r>
              <a:rPr lang="en-US" altLang="zh-CN" sz="2400" b="1" dirty="0">
                <a:latin typeface="SimSun" panose="02010600030101010101" pitchFamily="2" charset="-122"/>
                <a:ea typeface="SimSun" panose="02010600030101010101" pitchFamily="2" charset="-122"/>
                <a:cs typeface="Times New Roman" pitchFamily="18" charset="0"/>
              </a:rPr>
              <a:t>3</a:t>
            </a:r>
            <a:r>
              <a:rPr lang="zh-CN" altLang="en-US" sz="2400" b="1" dirty="0">
                <a:latin typeface="SimSun" panose="02010600030101010101" pitchFamily="2" charset="-122"/>
                <a:ea typeface="SimSun" panose="02010600030101010101" pitchFamily="2" charset="-122"/>
                <a:cs typeface="Times New Roman" pitchFamily="18" charset="0"/>
              </a:rPr>
              <a:t>、算法与数据结构既有联系又有区别</a:t>
            </a:r>
            <a:endParaRPr lang="zh-CN" altLang="en-US" sz="2400" dirty="0">
              <a:solidFill>
                <a:srgbClr val="0000FF"/>
              </a:solidFill>
              <a:latin typeface="SimSun" panose="02010600030101010101" pitchFamily="2" charset="-122"/>
              <a:ea typeface="SimSun" panose="02010600030101010101" pitchFamily="2" charset="-122"/>
              <a:cs typeface="Times New Roman" pitchFamily="18" charset="0"/>
            </a:endParaRPr>
          </a:p>
        </p:txBody>
      </p:sp>
      <p:sp>
        <p:nvSpPr>
          <p:cNvPr id="12" name="文本框 11">
            <a:extLst>
              <a:ext uri="{FF2B5EF4-FFF2-40B4-BE49-F238E27FC236}">
                <a16:creationId xmlns:a16="http://schemas.microsoft.com/office/drawing/2014/main" id="{29AC3AB8-B7E4-474F-ADE2-B6FFA9D837FF}"/>
              </a:ext>
            </a:extLst>
          </p:cNvPr>
          <p:cNvSpPr txBox="1"/>
          <p:nvPr/>
        </p:nvSpPr>
        <p:spPr>
          <a:xfrm>
            <a:off x="1240220" y="4918295"/>
            <a:ext cx="7935311" cy="1001043"/>
          </a:xfrm>
          <a:prstGeom prst="rect">
            <a:avLst/>
          </a:prstGeom>
          <a:solidFill>
            <a:schemeClr val="bg2"/>
          </a:solidFill>
          <a:ln w="12700">
            <a:solidFill>
              <a:schemeClr val="tx1"/>
            </a:solidFill>
          </a:ln>
        </p:spPr>
        <p:txBody>
          <a:bodyPr wrap="square">
            <a:spAutoFit/>
          </a:bodyPr>
          <a:lstStyle/>
          <a:p>
            <a:pPr marL="0" indent="0" algn="just" latinLnBrk="1">
              <a:lnSpc>
                <a:spcPct val="150000"/>
              </a:lnSpc>
              <a:spcBef>
                <a:spcPct val="45000"/>
              </a:spcBef>
              <a:buFontTx/>
              <a:buNone/>
            </a:pPr>
            <a:r>
              <a:rPr lang="zh-CN" altLang="en-US" sz="1800" b="1" dirty="0">
                <a:latin typeface="宋体" panose="02010600030101010101" pitchFamily="2" charset="-122"/>
              </a:rPr>
              <a:t>在这些步骤中，</a:t>
            </a:r>
            <a:r>
              <a:rPr lang="zh-CN" altLang="en-US" sz="1800" b="1" dirty="0">
                <a:solidFill>
                  <a:srgbClr val="0033CC"/>
                </a:solidFill>
                <a:latin typeface="黑体" panose="02010609060101010101" pitchFamily="49" charset="-122"/>
              </a:rPr>
              <a:t>问题分析、数学模型建立、算法设计</a:t>
            </a:r>
            <a:r>
              <a:rPr lang="zh-CN" altLang="en-US" sz="1800" b="1" dirty="0">
                <a:latin typeface="宋体" panose="02010600030101010101" pitchFamily="2" charset="-122"/>
              </a:rPr>
              <a:t>是解决问题的核心步骤。 </a:t>
            </a:r>
          </a:p>
          <a:p>
            <a:pPr marL="0" indent="0" algn="just" latinLnBrk="1">
              <a:lnSpc>
                <a:spcPct val="150000"/>
              </a:lnSpc>
              <a:spcBef>
                <a:spcPct val="45000"/>
              </a:spcBef>
              <a:buFontTx/>
              <a:buNone/>
            </a:pPr>
            <a:r>
              <a:rPr lang="zh-CN" altLang="en-US" sz="1800" b="1" dirty="0">
                <a:latin typeface="宋体" panose="02010600030101010101" pitchFamily="2" charset="-122"/>
              </a:rPr>
              <a:t>而</a:t>
            </a:r>
            <a:r>
              <a:rPr lang="zh-CN" altLang="en-US" sz="1800" b="1" dirty="0">
                <a:solidFill>
                  <a:srgbClr val="FF0000"/>
                </a:solidFill>
                <a:latin typeface="黑体" panose="02010609060101010101" pitchFamily="49" charset="-122"/>
              </a:rPr>
              <a:t>算法设计</a:t>
            </a:r>
            <a:r>
              <a:rPr lang="zh-CN" altLang="en-US" sz="1800" b="1" dirty="0">
                <a:solidFill>
                  <a:srgbClr val="FF0000"/>
                </a:solidFill>
                <a:latin typeface="宋体" panose="02010600030101010101" pitchFamily="2" charset="-122"/>
              </a:rPr>
              <a:t>是核心中的核心</a:t>
            </a:r>
            <a:r>
              <a:rPr lang="zh-CN" altLang="en-US" sz="1800" b="1" dirty="0">
                <a:latin typeface="宋体" panose="02010600030101010101" pitchFamily="2" charset="-122"/>
              </a:rPr>
              <a:t>。</a:t>
            </a:r>
          </a:p>
        </p:txBody>
      </p:sp>
      <p:sp>
        <p:nvSpPr>
          <p:cNvPr id="13" name="文本框 12">
            <a:extLst>
              <a:ext uri="{FF2B5EF4-FFF2-40B4-BE49-F238E27FC236}">
                <a16:creationId xmlns:a16="http://schemas.microsoft.com/office/drawing/2014/main" id="{AD99A465-08FF-D34F-9DA3-0531804A576F}"/>
              </a:ext>
            </a:extLst>
          </p:cNvPr>
          <p:cNvSpPr txBox="1"/>
          <p:nvPr/>
        </p:nvSpPr>
        <p:spPr>
          <a:xfrm>
            <a:off x="696310" y="4155869"/>
            <a:ext cx="5284076" cy="461665"/>
          </a:xfrm>
          <a:prstGeom prst="rect">
            <a:avLst/>
          </a:prstGeom>
          <a:noFill/>
        </p:spPr>
        <p:txBody>
          <a:bodyPr wrap="square">
            <a:spAutoFit/>
          </a:bodyPr>
          <a:lstStyle/>
          <a:p>
            <a:pPr>
              <a:spcBef>
                <a:spcPct val="50000"/>
              </a:spcBef>
            </a:pPr>
            <a:r>
              <a:rPr lang="en-US" altLang="zh-CN" sz="2400" b="1" dirty="0">
                <a:latin typeface="SimSun" panose="02010600030101010101" pitchFamily="2" charset="-122"/>
                <a:ea typeface="SimSun" panose="02010600030101010101" pitchFamily="2" charset="-122"/>
                <a:cs typeface="Times New Roman" pitchFamily="18" charset="0"/>
              </a:rPr>
              <a:t>4</a:t>
            </a:r>
            <a:r>
              <a:rPr lang="zh-CN" altLang="en-US" sz="2400" b="1" dirty="0">
                <a:latin typeface="SimSun" panose="02010600030101010101" pitchFamily="2" charset="-122"/>
                <a:ea typeface="SimSun" panose="02010600030101010101" pitchFamily="2" charset="-122"/>
                <a:cs typeface="Times New Roman" pitchFamily="18" charset="0"/>
              </a:rPr>
              <a:t>、</a:t>
            </a:r>
            <a:r>
              <a:rPr lang="zh-CN" altLang="en-US" sz="2400" b="1" dirty="0">
                <a:latin typeface="SimSun" panose="02010600030101010101" pitchFamily="2" charset="-122"/>
                <a:ea typeface="SimSun" panose="02010600030101010101" pitchFamily="2" charset="-122"/>
                <a:cs typeface="+mn-ea"/>
              </a:rPr>
              <a:t>用计算机求解问题的步骤</a:t>
            </a:r>
            <a:endParaRPr lang="zh-CN" altLang="en-US" sz="2400" b="1" dirty="0">
              <a:latin typeface="SimSun" panose="02010600030101010101" pitchFamily="2" charset="-122"/>
              <a:ea typeface="SimSun" panose="02010600030101010101" pitchFamily="2" charset="-122"/>
              <a:cs typeface="Times New Roman" pitchFamily="18" charset="0"/>
            </a:endParaRPr>
          </a:p>
        </p:txBody>
      </p:sp>
      <p:sp>
        <p:nvSpPr>
          <p:cNvPr id="15" name="文本框 14">
            <a:extLst>
              <a:ext uri="{FF2B5EF4-FFF2-40B4-BE49-F238E27FC236}">
                <a16:creationId xmlns:a16="http://schemas.microsoft.com/office/drawing/2014/main" id="{A4B65A02-D0BE-2F4A-9AB6-47B81E3DFEDD}"/>
              </a:ext>
            </a:extLst>
          </p:cNvPr>
          <p:cNvSpPr txBox="1"/>
          <p:nvPr/>
        </p:nvSpPr>
        <p:spPr>
          <a:xfrm>
            <a:off x="3390898" y="1303129"/>
            <a:ext cx="8180992" cy="937180"/>
          </a:xfrm>
          <a:prstGeom prst="rect">
            <a:avLst/>
          </a:prstGeom>
          <a:solidFill>
            <a:schemeClr val="bg2"/>
          </a:solidFill>
          <a:ln w="12700">
            <a:solidFill>
              <a:schemeClr val="tx1"/>
            </a:solidFill>
          </a:ln>
        </p:spPr>
        <p:txBody>
          <a:bodyPr wrap="square">
            <a:spAutoFit/>
          </a:bodyPr>
          <a:lstStyle/>
          <a:p>
            <a:pPr marL="0" indent="0" algn="just" latinLnBrk="1">
              <a:lnSpc>
                <a:spcPct val="150000"/>
              </a:lnSpc>
              <a:spcBef>
                <a:spcPct val="55000"/>
              </a:spcBef>
              <a:buFontTx/>
              <a:buNone/>
            </a:pPr>
            <a:r>
              <a:rPr lang="zh-CN" altLang="en-US" b="1" u="sng" dirty="0">
                <a:latin typeface="楷体_GB2312" pitchFamily="49" charset="-122"/>
              </a:rPr>
              <a:t>算法</a:t>
            </a:r>
            <a:r>
              <a:rPr lang="zh-CN" altLang="en-US" b="1" dirty="0">
                <a:latin typeface="楷体_GB2312" pitchFamily="49" charset="-122"/>
              </a:rPr>
              <a:t>是指在解决问题时，按照某种机械步骤一定可以得到问题结果的处理过程。</a:t>
            </a:r>
          </a:p>
          <a:p>
            <a:pPr marL="0" indent="0" algn="just" latinLnBrk="1">
              <a:spcBef>
                <a:spcPct val="55000"/>
              </a:spcBef>
              <a:buFontTx/>
              <a:buNone/>
            </a:pPr>
            <a:r>
              <a:rPr lang="zh-CN" altLang="en-US" b="1" u="sng" dirty="0">
                <a:latin typeface="楷体_GB2312" pitchFamily="49" charset="-122"/>
              </a:rPr>
              <a:t>算法</a:t>
            </a:r>
            <a:r>
              <a:rPr lang="zh-CN" altLang="en-US" b="1" dirty="0">
                <a:latin typeface="楷体_GB2312" pitchFamily="49" charset="-122"/>
              </a:rPr>
              <a:t>就是</a:t>
            </a:r>
            <a:r>
              <a:rPr lang="zh-CN" altLang="en-US" b="1" dirty="0">
                <a:solidFill>
                  <a:srgbClr val="FF0000"/>
                </a:solidFill>
                <a:latin typeface="楷体_GB2312" pitchFamily="49" charset="-122"/>
              </a:rPr>
              <a:t>计算机解决问题的方法和步骤的描述</a:t>
            </a:r>
            <a:r>
              <a:rPr lang="zh-CN" altLang="en-US" b="1" dirty="0">
                <a:latin typeface="楷体_GB2312" pitchFamily="49" charset="-122"/>
              </a:rPr>
              <a:t>。</a:t>
            </a:r>
          </a:p>
        </p:txBody>
      </p:sp>
      <p:sp>
        <p:nvSpPr>
          <p:cNvPr id="17" name="文本框 16">
            <a:extLst>
              <a:ext uri="{FF2B5EF4-FFF2-40B4-BE49-F238E27FC236}">
                <a16:creationId xmlns:a16="http://schemas.microsoft.com/office/drawing/2014/main" id="{0D62D339-D9E4-C545-88F1-67EED021B1E1}"/>
              </a:ext>
            </a:extLst>
          </p:cNvPr>
          <p:cNvSpPr txBox="1"/>
          <p:nvPr/>
        </p:nvSpPr>
        <p:spPr>
          <a:xfrm>
            <a:off x="4122684" y="2519957"/>
            <a:ext cx="4453758" cy="369332"/>
          </a:xfrm>
          <a:prstGeom prst="rect">
            <a:avLst/>
          </a:prstGeom>
          <a:solidFill>
            <a:schemeClr val="bg2"/>
          </a:solidFill>
          <a:ln w="12700">
            <a:solidFill>
              <a:schemeClr val="tx1"/>
            </a:solidFill>
          </a:ln>
        </p:spPr>
        <p:txBody>
          <a:bodyPr wrap="square">
            <a:spAutoFit/>
          </a:bodyPr>
          <a:lstStyle/>
          <a:p>
            <a:pPr algn="just"/>
            <a:r>
              <a:rPr lang="zh-CN" altLang="en-US" sz="1800" b="1" u="sng" dirty="0"/>
              <a:t>数据结构</a:t>
            </a:r>
            <a:r>
              <a:rPr lang="zh-CN" altLang="en-US" sz="1800" b="1" dirty="0"/>
              <a:t>是计算机存储、组织数据的方式。</a:t>
            </a:r>
            <a:endParaRPr lang="zh-CN" altLang="en-US" dirty="0"/>
          </a:p>
        </p:txBody>
      </p:sp>
    </p:spTree>
    <p:extLst>
      <p:ext uri="{BB962C8B-B14F-4D97-AF65-F5344CB8AC3E}">
        <p14:creationId xmlns:p14="http://schemas.microsoft.com/office/powerpoint/2010/main" val="254088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内容占位符 111618">
            <a:extLst>
              <a:ext uri="{FF2B5EF4-FFF2-40B4-BE49-F238E27FC236}">
                <a16:creationId xmlns:a16="http://schemas.microsoft.com/office/drawing/2014/main" id="{987C44D3-E56A-8B4D-8E46-D3778E8ED350}"/>
              </a:ext>
            </a:extLst>
          </p:cNvPr>
          <p:cNvSpPr>
            <a:spLocks noGrp="1" noChangeArrowheads="1"/>
          </p:cNvSpPr>
          <p:nvPr>
            <p:ph idx="1"/>
          </p:nvPr>
        </p:nvSpPr>
        <p:spPr>
          <a:xfrm>
            <a:off x="468704" y="1381959"/>
            <a:ext cx="5627296" cy="3217018"/>
          </a:xfrm>
          <a:solidFill>
            <a:srgbClr val="FFFFFF"/>
          </a:solidFill>
        </p:spPr>
        <p:txBody>
          <a:bodyPr/>
          <a:lstStyle/>
          <a:p>
            <a:pPr marL="0" indent="0" latinLnBrk="1">
              <a:buNone/>
            </a:pPr>
            <a:r>
              <a:rPr lang="zh-CN" altLang="en-US" b="1" dirty="0">
                <a:solidFill>
                  <a:srgbClr val="0000FF"/>
                </a:solidFill>
                <a:latin typeface="楷体_GB2312" pitchFamily="49" charset="-122"/>
              </a:rPr>
              <a:t>【例】</a:t>
            </a:r>
            <a:r>
              <a:rPr lang="zh-CN" altLang="en-US" b="1" dirty="0">
                <a:latin typeface="楷体_GB2312" pitchFamily="49" charset="-122"/>
              </a:rPr>
              <a:t>求两个正整数的最大公约数</a:t>
            </a:r>
          </a:p>
          <a:p>
            <a:pPr marL="0" indent="0" latinLnBrk="1">
              <a:buNone/>
            </a:pPr>
            <a:r>
              <a:rPr lang="zh-CN" altLang="en-US" b="1" dirty="0">
                <a:solidFill>
                  <a:srgbClr val="0000FF"/>
                </a:solidFill>
                <a:latin typeface="楷体_GB2312" pitchFamily="49" charset="-122"/>
              </a:rPr>
              <a:t>  </a:t>
            </a:r>
            <a:endParaRPr lang="zh-CN" altLang="en-US" sz="2700" b="1" dirty="0">
              <a:latin typeface="楷体_GB2312" pitchFamily="49" charset="-122"/>
            </a:endParaRPr>
          </a:p>
        </p:txBody>
      </p:sp>
      <p:sp>
        <p:nvSpPr>
          <p:cNvPr id="104450" name="标题 111619">
            <a:extLst>
              <a:ext uri="{FF2B5EF4-FFF2-40B4-BE49-F238E27FC236}">
                <a16:creationId xmlns:a16="http://schemas.microsoft.com/office/drawing/2014/main" id="{9EF7AFD3-5890-3045-9A3D-C3C2D6C56A32}"/>
              </a:ext>
            </a:extLst>
          </p:cNvPr>
          <p:cNvSpPr>
            <a:spLocks noGrp="1" noChangeArrowheads="1"/>
          </p:cNvSpPr>
          <p:nvPr>
            <p:ph type="title"/>
          </p:nvPr>
        </p:nvSpPr>
        <p:spPr>
          <a:xfrm>
            <a:off x="1347972" y="241483"/>
            <a:ext cx="9016999" cy="683527"/>
          </a:xfrm>
        </p:spPr>
        <p:txBody>
          <a:bodyPr/>
          <a:lstStyle/>
          <a:p>
            <a:pPr algn="l"/>
            <a:r>
              <a:rPr lang="zh-CN" altLang="en-US" sz="2900" b="1" noProof="1">
                <a:latin typeface="黑体" panose="02010609060101010101" pitchFamily="49" charset="-122"/>
                <a:sym typeface="+mn-ea"/>
              </a:rPr>
              <a:t>一个简单问题的求解过程 (续)</a:t>
            </a:r>
          </a:p>
        </p:txBody>
      </p:sp>
      <p:sp>
        <p:nvSpPr>
          <p:cNvPr id="111621" name="矩形 111620">
            <a:extLst>
              <a:ext uri="{FF2B5EF4-FFF2-40B4-BE49-F238E27FC236}">
                <a16:creationId xmlns:a16="http://schemas.microsoft.com/office/drawing/2014/main" id="{DEBE2DBC-4950-4849-9924-C15F60E503E2}"/>
              </a:ext>
            </a:extLst>
          </p:cNvPr>
          <p:cNvSpPr>
            <a:spLocks noChangeArrowheads="1"/>
          </p:cNvSpPr>
          <p:nvPr/>
        </p:nvSpPr>
        <p:spPr bwMode="auto">
          <a:xfrm>
            <a:off x="681355" y="2428832"/>
            <a:ext cx="5846763" cy="23162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黑体" panose="02010609060101010101" pitchFamily="49" charset="-122"/>
              </a:defRPr>
            </a:lvl1pPr>
            <a:lvl2pPr marL="742950" indent="-285750">
              <a:spcBef>
                <a:spcPct val="20000"/>
              </a:spcBef>
              <a:buChar char="–"/>
              <a:defRPr sz="24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400">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4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4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ea typeface="黑体" panose="02010609060101010101" pitchFamily="49" charset="-122"/>
              </a:defRPr>
            </a:lvl9pPr>
          </a:lstStyle>
          <a:p>
            <a:pPr latinLnBrk="1" hangingPunct="1">
              <a:buClr>
                <a:schemeClr val="hlink"/>
              </a:buClr>
              <a:buFontTx/>
              <a:buNone/>
            </a:pPr>
            <a:r>
              <a:rPr lang="zh-CN" altLang="en-US" dirty="0">
                <a:latin typeface="楷体_GB2312" pitchFamily="49" charset="-122"/>
              </a:rPr>
              <a:t>问题：</a:t>
            </a:r>
          </a:p>
          <a:p>
            <a:pPr latinLnBrk="1" hangingPunct="1">
              <a:lnSpc>
                <a:spcPct val="150000"/>
              </a:lnSpc>
              <a:buClr>
                <a:schemeClr val="hlink"/>
              </a:buClr>
              <a:buFontTx/>
              <a:buNone/>
            </a:pPr>
            <a:r>
              <a:rPr lang="zh-CN" altLang="en-US" dirty="0">
                <a:latin typeface="楷体_GB2312" pitchFamily="49" charset="-122"/>
                <a:ea typeface="宋体" panose="02010600030101010101" pitchFamily="2" charset="-122"/>
              </a:rPr>
              <a:t>	</a:t>
            </a:r>
            <a:r>
              <a:rPr lang="en-US" altLang="zh-CN" dirty="0">
                <a:latin typeface="楷体_GB2312" pitchFamily="49" charset="-122"/>
                <a:ea typeface="宋体" panose="02010600030101010101" pitchFamily="2" charset="-122"/>
              </a:rPr>
              <a:t>1</a:t>
            </a:r>
            <a:r>
              <a:rPr lang="zh-CN" altLang="en-US" dirty="0">
                <a:latin typeface="楷体_GB2312" pitchFamily="49" charset="-122"/>
                <a:ea typeface="宋体" panose="02010600030101010101" pitchFamily="2" charset="-122"/>
              </a:rPr>
              <a:t>、数学模型？</a:t>
            </a:r>
          </a:p>
          <a:p>
            <a:pPr latinLnBrk="1" hangingPunct="1">
              <a:lnSpc>
                <a:spcPct val="150000"/>
              </a:lnSpc>
              <a:buClr>
                <a:schemeClr val="hlink"/>
              </a:buClr>
              <a:buFontTx/>
              <a:buNone/>
            </a:pPr>
            <a:r>
              <a:rPr lang="zh-CN" altLang="en-US" dirty="0">
                <a:latin typeface="楷体_GB2312" pitchFamily="49" charset="-122"/>
                <a:ea typeface="宋体" panose="02010600030101010101" pitchFamily="2" charset="-122"/>
              </a:rPr>
              <a:t>	</a:t>
            </a:r>
            <a:r>
              <a:rPr lang="en-US" altLang="zh-CN" dirty="0">
                <a:latin typeface="楷体_GB2312" pitchFamily="49" charset="-122"/>
                <a:ea typeface="宋体" panose="02010600030101010101" pitchFamily="2" charset="-122"/>
              </a:rPr>
              <a:t>2</a:t>
            </a:r>
            <a:r>
              <a:rPr lang="zh-CN" altLang="en-US" dirty="0">
                <a:latin typeface="楷体_GB2312" pitchFamily="49" charset="-122"/>
                <a:ea typeface="宋体" panose="02010600030101010101" pitchFamily="2" charset="-122"/>
              </a:rPr>
              <a:t>、算法设计思想？</a:t>
            </a:r>
          </a:p>
          <a:p>
            <a:pPr latinLnBrk="1" hangingPunct="1">
              <a:buClr>
                <a:schemeClr val="hlink"/>
              </a:buClr>
              <a:buFontTx/>
              <a:buNone/>
            </a:pPr>
            <a:endParaRPr lang="zh-CN" altLang="en-US" dirty="0">
              <a:latin typeface="楷体_GB2312" pitchFamily="49" charset="-122"/>
              <a:ea typeface="宋体" panose="02010600030101010101" pitchFamily="2" charset="-122"/>
            </a:endParaRPr>
          </a:p>
          <a:p>
            <a:pPr latinLnBrk="1" hangingPunct="1">
              <a:buClr>
                <a:schemeClr val="hlink"/>
              </a:buClr>
              <a:buFontTx/>
              <a:buNone/>
            </a:pPr>
            <a:r>
              <a:rPr lang="zh-CN" altLang="en-US" dirty="0">
                <a:solidFill>
                  <a:srgbClr val="0000FF"/>
                </a:solidFill>
                <a:latin typeface="楷体_GB2312" pitchFamily="49" charset="-122"/>
                <a:ea typeface="宋体" panose="02010600030101010101" pitchFamily="2" charset="-122"/>
              </a:rPr>
              <a:t>  </a:t>
            </a:r>
            <a:endParaRPr lang="zh-CN" altLang="en-US" sz="2700" dirty="0">
              <a:latin typeface="楷体_GB2312" pitchFamily="49" charset="-122"/>
              <a:ea typeface="宋体" panose="02010600030101010101" pitchFamily="2" charset="-122"/>
            </a:endParaRPr>
          </a:p>
        </p:txBody>
      </p:sp>
      <p:sp>
        <p:nvSpPr>
          <p:cNvPr id="5" name="任意多边形: 形状 8">
            <a:extLst>
              <a:ext uri="{FF2B5EF4-FFF2-40B4-BE49-F238E27FC236}">
                <a16:creationId xmlns:a16="http://schemas.microsoft.com/office/drawing/2014/main" id="{4F5D3825-DE34-E14F-844F-52F815CDCF97}"/>
              </a:ext>
            </a:extLst>
          </p:cNvPr>
          <p:cNvSpPr/>
          <p:nvPr/>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6">
            <a:extLst>
              <a:ext uri="{FF2B5EF4-FFF2-40B4-BE49-F238E27FC236}">
                <a16:creationId xmlns:a16="http://schemas.microsoft.com/office/drawing/2014/main" id="{1CBD04EA-2F5F-6A41-995E-6F5CE7D3D0CB}"/>
              </a:ext>
            </a:extLst>
          </p:cNvPr>
          <p:cNvSpPr/>
          <p:nvPr/>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7">
            <a:extLst>
              <a:ext uri="{FF2B5EF4-FFF2-40B4-BE49-F238E27FC236}">
                <a16:creationId xmlns:a16="http://schemas.microsoft.com/office/drawing/2014/main" id="{C5C6DC4A-7D5E-2249-A331-1F6EC34B4D1F}"/>
              </a:ext>
            </a:extLst>
          </p:cNvPr>
          <p:cNvSpPr/>
          <p:nvPr/>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7">
            <a:extLst>
              <a:ext uri="{FF2B5EF4-FFF2-40B4-BE49-F238E27FC236}">
                <a16:creationId xmlns:a16="http://schemas.microsoft.com/office/drawing/2014/main" id="{7612FC1F-D0D2-6542-899E-3F82DBCA2424}"/>
              </a:ext>
            </a:extLst>
          </p:cNvPr>
          <p:cNvSpPr/>
          <p:nvPr/>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9" name="图片 8" descr="青岛理工大学校徽">
            <a:extLst>
              <a:ext uri="{FF2B5EF4-FFF2-40B4-BE49-F238E27FC236}">
                <a16:creationId xmlns:a16="http://schemas.microsoft.com/office/drawing/2014/main" id="{B870C1C8-19A6-234F-9257-85706365ADFA}"/>
              </a:ext>
            </a:extLst>
          </p:cNvPr>
          <p:cNvPicPr>
            <a:picLocks noChangeAspect="1"/>
          </p:cNvPicPr>
          <p:nvPr/>
        </p:nvPicPr>
        <p:blipFill>
          <a:blip r:embed="rId3"/>
          <a:stretch>
            <a:fillRect/>
          </a:stretch>
        </p:blipFill>
        <p:spPr>
          <a:xfrm>
            <a:off x="10973435" y="221615"/>
            <a:ext cx="723265" cy="723265"/>
          </a:xfrm>
          <a:prstGeom prst="rect">
            <a:avLst/>
          </a:prstGeom>
        </p:spPr>
      </p:pic>
      <p:sp>
        <p:nvSpPr>
          <p:cNvPr id="10" name="日期占位符 1">
            <a:extLst>
              <a:ext uri="{FF2B5EF4-FFF2-40B4-BE49-F238E27FC236}">
                <a16:creationId xmlns:a16="http://schemas.microsoft.com/office/drawing/2014/main" id="{8AD4DF64-37EA-6A49-AE34-2B6E517F4767}"/>
              </a:ext>
            </a:extLst>
          </p:cNvPr>
          <p:cNvSpPr txBox="1">
            <a:spLocks/>
          </p:cNvSpPr>
          <p:nvPr/>
        </p:nvSpPr>
        <p:spPr>
          <a:xfrm>
            <a:off x="681355"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a:t>百折不挠</a:t>
            </a:r>
            <a:r>
              <a:rPr lang="en-US" altLang="zh-CN" sz="1000"/>
              <a:t> </a:t>
            </a:r>
            <a:r>
              <a:rPr lang="zh-CN" altLang="en-US" sz="1000"/>
              <a:t>刚毅厚重</a:t>
            </a:r>
            <a:r>
              <a:rPr lang="en-US" altLang="zh-CN" sz="1000"/>
              <a:t> </a:t>
            </a:r>
            <a:r>
              <a:rPr lang="zh-CN" altLang="en-US" sz="1000"/>
              <a:t>勇承重载</a:t>
            </a:r>
            <a:endParaRPr lang="zh-CN" altLang="en-US" sz="1000" dirty="0"/>
          </a:p>
        </p:txBody>
      </p:sp>
      <p:sp>
        <p:nvSpPr>
          <p:cNvPr id="2" name="圆角矩形 1">
            <a:extLst>
              <a:ext uri="{FF2B5EF4-FFF2-40B4-BE49-F238E27FC236}">
                <a16:creationId xmlns:a16="http://schemas.microsoft.com/office/drawing/2014/main" id="{27AB098F-E012-1D4C-854A-E154271CF3A2}"/>
              </a:ext>
            </a:extLst>
          </p:cNvPr>
          <p:cNvSpPr/>
          <p:nvPr/>
        </p:nvSpPr>
        <p:spPr>
          <a:xfrm>
            <a:off x="6740769" y="2830676"/>
            <a:ext cx="2004646" cy="480646"/>
          </a:xfrm>
          <a:prstGeom prst="roundRect">
            <a:avLst/>
          </a:prstGeom>
          <a:solidFill>
            <a:schemeClr val="accent5">
              <a:lumMod val="40000"/>
              <a:lumOff val="6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dirty="0"/>
              <a:t>质因数分解法</a:t>
            </a:r>
          </a:p>
        </p:txBody>
      </p:sp>
      <p:sp>
        <p:nvSpPr>
          <p:cNvPr id="12" name="圆角矩形 11">
            <a:extLst>
              <a:ext uri="{FF2B5EF4-FFF2-40B4-BE49-F238E27FC236}">
                <a16:creationId xmlns:a16="http://schemas.microsoft.com/office/drawing/2014/main" id="{2E2340DE-0A7D-3D4E-82A8-09C47510A835}"/>
              </a:ext>
            </a:extLst>
          </p:cNvPr>
          <p:cNvSpPr/>
          <p:nvPr/>
        </p:nvSpPr>
        <p:spPr>
          <a:xfrm>
            <a:off x="6740769" y="3530120"/>
            <a:ext cx="2004646" cy="480646"/>
          </a:xfrm>
          <a:prstGeom prst="roundRect">
            <a:avLst/>
          </a:prstGeom>
          <a:solidFill>
            <a:schemeClr val="accent5">
              <a:lumMod val="40000"/>
              <a:lumOff val="6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dirty="0"/>
              <a:t>短除法</a:t>
            </a:r>
          </a:p>
        </p:txBody>
      </p:sp>
      <p:sp>
        <p:nvSpPr>
          <p:cNvPr id="13" name="圆角矩形 12">
            <a:extLst>
              <a:ext uri="{FF2B5EF4-FFF2-40B4-BE49-F238E27FC236}">
                <a16:creationId xmlns:a16="http://schemas.microsoft.com/office/drawing/2014/main" id="{A0EA1AD0-5039-4B4A-825A-20A61D6A1E08}"/>
              </a:ext>
            </a:extLst>
          </p:cNvPr>
          <p:cNvSpPr/>
          <p:nvPr/>
        </p:nvSpPr>
        <p:spPr>
          <a:xfrm>
            <a:off x="6740769" y="4264422"/>
            <a:ext cx="2004646" cy="480646"/>
          </a:xfrm>
          <a:prstGeom prst="roundRect">
            <a:avLst/>
          </a:prstGeom>
          <a:solidFill>
            <a:schemeClr val="accent5">
              <a:lumMod val="40000"/>
              <a:lumOff val="6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dirty="0"/>
              <a:t>辗转相除法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1621"/>
                                        </p:tgtEl>
                                        <p:attrNameLst>
                                          <p:attrName>style.visibility</p:attrName>
                                        </p:attrNameLst>
                                      </p:cBhvr>
                                      <p:to>
                                        <p:strVal val="visible"/>
                                      </p:to>
                                    </p:set>
                                    <p:anim calcmode="lin" valueType="num">
                                      <p:cBhvr additive="base">
                                        <p:cTn id="7" dur="500" fill="hold"/>
                                        <p:tgtEl>
                                          <p:spTgt spid="111621"/>
                                        </p:tgtEl>
                                        <p:attrNameLst>
                                          <p:attrName>ppt_x</p:attrName>
                                        </p:attrNameLst>
                                      </p:cBhvr>
                                      <p:tavLst>
                                        <p:tav tm="0">
                                          <p:val>
                                            <p:strVal val="#ppt_x"/>
                                          </p:val>
                                        </p:tav>
                                        <p:tav tm="100000">
                                          <p:val>
                                            <p:strVal val="#ppt_x"/>
                                          </p:val>
                                        </p:tav>
                                      </p:tavLst>
                                    </p:anim>
                                    <p:anim calcmode="lin" valueType="num">
                                      <p:cBhvr additive="base">
                                        <p:cTn id="8" dur="500" fill="hold"/>
                                        <p:tgtEl>
                                          <p:spTgt spid="1116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p:tgtEl>
                                          <p:spTgt spid="12"/>
                                        </p:tgtEl>
                                        <p:attrNameLst>
                                          <p:attrName>ppt_y</p:attrName>
                                        </p:attrNameLst>
                                      </p:cBhvr>
                                      <p:tavLst>
                                        <p:tav tm="0">
                                          <p:val>
                                            <p:strVal val="#ppt_y+#ppt_h*1.125000"/>
                                          </p:val>
                                        </p:tav>
                                        <p:tav tm="100000">
                                          <p:val>
                                            <p:strVal val="#ppt_y"/>
                                          </p:val>
                                        </p:tav>
                                      </p:tavLst>
                                    </p:anim>
                                    <p:animEffect transition="in" filter="wipe(up)">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p:tgtEl>
                                          <p:spTgt spid="13"/>
                                        </p:tgtEl>
                                        <p:attrNameLst>
                                          <p:attrName>ppt_y</p:attrName>
                                        </p:attrNameLst>
                                      </p:cBhvr>
                                      <p:tavLst>
                                        <p:tav tm="0">
                                          <p:val>
                                            <p:strVal val="#ppt_y+#ppt_h*1.125000"/>
                                          </p:val>
                                        </p:tav>
                                        <p:tav tm="100000">
                                          <p:val>
                                            <p:strVal val="#ppt_y"/>
                                          </p:val>
                                        </p:tav>
                                      </p:tavLst>
                                    </p:anim>
                                    <p:animEffect transition="in" filter="wipe(up)">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animBg="1"/>
      <p:bldP spid="2"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内容占位符 113666">
            <a:extLst>
              <a:ext uri="{FF2B5EF4-FFF2-40B4-BE49-F238E27FC236}">
                <a16:creationId xmlns:a16="http://schemas.microsoft.com/office/drawing/2014/main" id="{0C04B813-6549-9349-BB23-B9548FD7A91A}"/>
              </a:ext>
            </a:extLst>
          </p:cNvPr>
          <p:cNvSpPr>
            <a:spLocks noGrp="1" noChangeArrowheads="1"/>
          </p:cNvSpPr>
          <p:nvPr>
            <p:ph idx="1"/>
          </p:nvPr>
        </p:nvSpPr>
        <p:spPr>
          <a:xfrm>
            <a:off x="681354" y="1276450"/>
            <a:ext cx="9763907" cy="4866441"/>
          </a:xfrm>
          <a:solidFill>
            <a:srgbClr val="FFFFFF"/>
          </a:solidFill>
        </p:spPr>
        <p:txBody>
          <a:bodyPr>
            <a:noAutofit/>
          </a:bodyPr>
          <a:lstStyle/>
          <a:p>
            <a:pPr marL="0" indent="0" latinLnBrk="1">
              <a:buNone/>
            </a:pPr>
            <a:r>
              <a:rPr lang="zh-CN" altLang="en-US" sz="2400" b="1" dirty="0">
                <a:latin typeface="黑体" panose="02010609060101010101" pitchFamily="49" charset="-122"/>
              </a:rPr>
              <a:t>算法实现如下</a:t>
            </a:r>
            <a:r>
              <a:rPr lang="en-US" altLang="zh-CN" sz="2400" b="1" dirty="0">
                <a:latin typeface="黑体" panose="02010609060101010101" pitchFamily="49" charset="-122"/>
              </a:rPr>
              <a:t>:</a:t>
            </a:r>
            <a:r>
              <a:rPr lang="en-US" altLang="zh-CN" sz="2400" b="1" dirty="0">
                <a:solidFill>
                  <a:srgbClr val="0000FF"/>
                </a:solidFill>
                <a:latin typeface="楷体_GB2312" pitchFamily="49" charset="-122"/>
              </a:rPr>
              <a:t> </a:t>
            </a:r>
          </a:p>
          <a:p>
            <a:pPr marL="0" indent="0" latinLnBrk="1">
              <a:lnSpc>
                <a:spcPct val="100000"/>
              </a:lnSpc>
              <a:spcBef>
                <a:spcPct val="3000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main( )</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 </a:t>
            </a:r>
          </a:p>
          <a:p>
            <a:pPr marL="0" indent="0" latinLnBrk="1">
              <a:lnSpc>
                <a:spcPct val="100000"/>
              </a:lnSpc>
              <a:spcBef>
                <a:spcPct val="0"/>
              </a:spcBef>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int </a:t>
            </a:r>
            <a:r>
              <a:rPr lang="en-US" altLang="zh-CN" sz="2400" dirty="0" err="1">
                <a:latin typeface="Times New Roman" panose="02020603050405020304" pitchFamily="18" charset="0"/>
                <a:cs typeface="Times New Roman" panose="02020603050405020304" pitchFamily="18" charset="0"/>
              </a:rPr>
              <a:t>a,b,c,i</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input(</a:t>
            </a:r>
            <a:r>
              <a:rPr lang="en-US" altLang="zh-CN" sz="2400" dirty="0" err="1">
                <a:latin typeface="Times New Roman" panose="02020603050405020304" pitchFamily="18" charset="0"/>
                <a:cs typeface="Times New Roman" panose="02020603050405020304" pitchFamily="18" charset="0"/>
              </a:rPr>
              <a:t>a,b</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c=1</a:t>
            </a:r>
            <a:r>
              <a:rPr lang="zh-CN" altLang="en-US"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=2;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&lt;=a and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&lt;=b;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if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(a mod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and b mod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 </a:t>
            </a:r>
          </a:p>
          <a:p>
            <a:pPr marL="0" indent="0" latinLnBrk="1">
              <a:lnSpc>
                <a:spcPct val="100000"/>
              </a:lnSpc>
              <a:spcBef>
                <a:spcPct val="0"/>
              </a:spcBef>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print(“%d is maximal  common divisor”,</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p>
        </p:txBody>
      </p:sp>
      <p:sp>
        <p:nvSpPr>
          <p:cNvPr id="106498" name="标题 113667">
            <a:extLst>
              <a:ext uri="{FF2B5EF4-FFF2-40B4-BE49-F238E27FC236}">
                <a16:creationId xmlns:a16="http://schemas.microsoft.com/office/drawing/2014/main" id="{CFB27438-4676-4E4A-ACB8-3135E5BA3763}"/>
              </a:ext>
            </a:extLst>
          </p:cNvPr>
          <p:cNvSpPr>
            <a:spLocks noGrp="1" noChangeArrowheads="1"/>
          </p:cNvSpPr>
          <p:nvPr>
            <p:ph type="title"/>
          </p:nvPr>
        </p:nvSpPr>
        <p:spPr>
          <a:xfrm>
            <a:off x="1318437" y="345380"/>
            <a:ext cx="7845056" cy="591040"/>
          </a:xfrm>
        </p:spPr>
        <p:txBody>
          <a:bodyPr/>
          <a:lstStyle/>
          <a:p>
            <a:pPr algn="l"/>
            <a:r>
              <a:rPr lang="zh-CN" altLang="en-US" sz="2900" b="1" noProof="1">
                <a:latin typeface="黑体" panose="02010609060101010101" pitchFamily="49" charset="-122"/>
                <a:sym typeface="+mn-ea"/>
              </a:rPr>
              <a:t>一个简单问题的求解过程 (续)</a:t>
            </a:r>
          </a:p>
        </p:txBody>
      </p:sp>
      <p:sp>
        <p:nvSpPr>
          <p:cNvPr id="4" name="任意多边形: 形状 8">
            <a:extLst>
              <a:ext uri="{FF2B5EF4-FFF2-40B4-BE49-F238E27FC236}">
                <a16:creationId xmlns:a16="http://schemas.microsoft.com/office/drawing/2014/main" id="{D319DCE4-DD41-B246-ADC2-1D697D446DDE}"/>
              </a:ext>
            </a:extLst>
          </p:cNvPr>
          <p:cNvSpPr/>
          <p:nvPr/>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6">
            <a:extLst>
              <a:ext uri="{FF2B5EF4-FFF2-40B4-BE49-F238E27FC236}">
                <a16:creationId xmlns:a16="http://schemas.microsoft.com/office/drawing/2014/main" id="{E96D4EE9-9B5E-0A43-834E-3F7FCBD4B451}"/>
              </a:ext>
            </a:extLst>
          </p:cNvPr>
          <p:cNvSpPr/>
          <p:nvPr/>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7">
            <a:extLst>
              <a:ext uri="{FF2B5EF4-FFF2-40B4-BE49-F238E27FC236}">
                <a16:creationId xmlns:a16="http://schemas.microsoft.com/office/drawing/2014/main" id="{D42D99ED-8282-D347-A37D-CE608241696E}"/>
              </a:ext>
            </a:extLst>
          </p:cNvPr>
          <p:cNvSpPr/>
          <p:nvPr/>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矩形 6">
            <a:extLst>
              <a:ext uri="{FF2B5EF4-FFF2-40B4-BE49-F238E27FC236}">
                <a16:creationId xmlns:a16="http://schemas.microsoft.com/office/drawing/2014/main" id="{6AB554AC-8287-2E4A-AD84-E73151B172CB}"/>
              </a:ext>
            </a:extLst>
          </p:cNvPr>
          <p:cNvSpPr/>
          <p:nvPr/>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8" name="图片 7" descr="青岛理工大学校徽">
            <a:extLst>
              <a:ext uri="{FF2B5EF4-FFF2-40B4-BE49-F238E27FC236}">
                <a16:creationId xmlns:a16="http://schemas.microsoft.com/office/drawing/2014/main" id="{4A5E19CB-A0C9-574C-9396-1B5415C8A4A7}"/>
              </a:ext>
            </a:extLst>
          </p:cNvPr>
          <p:cNvPicPr>
            <a:picLocks noChangeAspect="1"/>
          </p:cNvPicPr>
          <p:nvPr/>
        </p:nvPicPr>
        <p:blipFill>
          <a:blip r:embed="rId3"/>
          <a:stretch>
            <a:fillRect/>
          </a:stretch>
        </p:blipFill>
        <p:spPr>
          <a:xfrm>
            <a:off x="10973435" y="221615"/>
            <a:ext cx="723265" cy="723265"/>
          </a:xfrm>
          <a:prstGeom prst="rect">
            <a:avLst/>
          </a:prstGeom>
        </p:spPr>
      </p:pic>
      <p:sp>
        <p:nvSpPr>
          <p:cNvPr id="9" name="日期占位符 1">
            <a:extLst>
              <a:ext uri="{FF2B5EF4-FFF2-40B4-BE49-F238E27FC236}">
                <a16:creationId xmlns:a16="http://schemas.microsoft.com/office/drawing/2014/main" id="{B76E8833-D553-B643-B8FB-29BA49D9D39F}"/>
              </a:ext>
            </a:extLst>
          </p:cNvPr>
          <p:cNvSpPr txBox="1">
            <a:spLocks/>
          </p:cNvSpPr>
          <p:nvPr/>
        </p:nvSpPr>
        <p:spPr>
          <a:xfrm>
            <a:off x="681355"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a:t>百折不挠</a:t>
            </a:r>
            <a:r>
              <a:rPr lang="en-US" altLang="zh-CN" sz="1000"/>
              <a:t> </a:t>
            </a:r>
            <a:r>
              <a:rPr lang="zh-CN" altLang="en-US" sz="1000"/>
              <a:t>刚毅厚重</a:t>
            </a:r>
            <a:r>
              <a:rPr lang="en-US" altLang="zh-CN" sz="1000"/>
              <a:t> </a:t>
            </a:r>
            <a:r>
              <a:rPr lang="zh-CN" altLang="en-US" sz="1000"/>
              <a:t>勇承重载</a:t>
            </a:r>
            <a:endParaRPr lang="zh-CN" altLang="en-US" sz="1000" dirty="0"/>
          </a:p>
        </p:txBody>
      </p:sp>
      <p:sp>
        <p:nvSpPr>
          <p:cNvPr id="11" name="文本框 10">
            <a:extLst>
              <a:ext uri="{FF2B5EF4-FFF2-40B4-BE49-F238E27FC236}">
                <a16:creationId xmlns:a16="http://schemas.microsoft.com/office/drawing/2014/main" id="{6C8FFE2E-9D4E-1F47-B7AA-D7A474EA8E47}"/>
              </a:ext>
            </a:extLst>
          </p:cNvPr>
          <p:cNvSpPr txBox="1"/>
          <p:nvPr/>
        </p:nvSpPr>
        <p:spPr>
          <a:xfrm>
            <a:off x="5240965" y="3619594"/>
            <a:ext cx="2488324" cy="369332"/>
          </a:xfrm>
          <a:prstGeom prst="rect">
            <a:avLst/>
          </a:prstGeom>
          <a:noFill/>
        </p:spPr>
        <p:txBody>
          <a:bodyPr wrap="square">
            <a:spAutoFit/>
          </a:bodyPr>
          <a:lstStyle/>
          <a:p>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枚举可能的公约数</a:t>
            </a:r>
            <a:r>
              <a:rPr lang="en-US" altLang="zh-CN" sz="1800" dirty="0">
                <a:latin typeface="Times New Roman" panose="02020603050405020304" pitchFamily="18" charset="0"/>
                <a:cs typeface="Times New Roman" panose="02020603050405020304" pitchFamily="18" charset="0"/>
              </a:rPr>
              <a:t> </a:t>
            </a:r>
            <a:endParaRPr lang="zh-CN" altLang="en-US" dirty="0"/>
          </a:p>
        </p:txBody>
      </p:sp>
      <p:sp>
        <p:nvSpPr>
          <p:cNvPr id="13" name="文本框 12">
            <a:extLst>
              <a:ext uri="{FF2B5EF4-FFF2-40B4-BE49-F238E27FC236}">
                <a16:creationId xmlns:a16="http://schemas.microsoft.com/office/drawing/2014/main" id="{C5862A79-41CE-CA45-B320-CFEFF487EE4A}"/>
              </a:ext>
            </a:extLst>
          </p:cNvPr>
          <p:cNvSpPr txBox="1"/>
          <p:nvPr/>
        </p:nvSpPr>
        <p:spPr>
          <a:xfrm>
            <a:off x="5646683" y="3999860"/>
            <a:ext cx="2393731" cy="369332"/>
          </a:xfrm>
          <a:prstGeom prst="rect">
            <a:avLst/>
          </a:prstGeom>
          <a:noFill/>
        </p:spPr>
        <p:txBody>
          <a:bodyPr wrap="square">
            <a:spAutoFit/>
          </a:bodyPr>
          <a:lstStyle/>
          <a:p>
            <a:pPr marL="0" indent="0" latinLnBrk="1">
              <a:lnSpc>
                <a:spcPct val="100000"/>
              </a:lnSpc>
              <a:spcBef>
                <a:spcPct val="0"/>
              </a:spcBef>
              <a:buNone/>
            </a:pP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尝试 </a:t>
            </a:r>
            <a:r>
              <a:rPr lang="en-US" altLang="zh-CN" sz="1800" dirty="0" err="1">
                <a:latin typeface="Times New Roman" panose="02020603050405020304" pitchFamily="18" charset="0"/>
                <a:cs typeface="Times New Roman" panose="02020603050405020304" pitchFamily="18" charset="0"/>
              </a:rPr>
              <a:t>i</a:t>
            </a:r>
            <a:r>
              <a:rPr lang="zh-CN" altLang="en-US" sz="1800" dirty="0">
                <a:latin typeface="Times New Roman" panose="02020603050405020304" pitchFamily="18" charset="0"/>
                <a:cs typeface="Times New Roman" panose="02020603050405020304" pitchFamily="18" charset="0"/>
              </a:rPr>
              <a:t> 是否为公约数</a:t>
            </a:r>
            <a:endParaRPr lang="en-US" altLang="zh-CN" sz="1800" dirty="0">
              <a:latin typeface="Times New Roman" panose="02020603050405020304" pitchFamily="18" charset="0"/>
              <a:cs typeface="Times New Roman" panose="02020603050405020304" pitchFamily="18" charset="0"/>
            </a:endParaRPr>
          </a:p>
        </p:txBody>
      </p:sp>
      <p:sp>
        <p:nvSpPr>
          <p:cNvPr id="10" name="云形 9">
            <a:extLst>
              <a:ext uri="{FF2B5EF4-FFF2-40B4-BE49-F238E27FC236}">
                <a16:creationId xmlns:a16="http://schemas.microsoft.com/office/drawing/2014/main" id="{F6EC0BEC-F12B-EF49-AB85-1833E2D5A9F2}"/>
              </a:ext>
            </a:extLst>
          </p:cNvPr>
          <p:cNvSpPr/>
          <p:nvPr/>
        </p:nvSpPr>
        <p:spPr>
          <a:xfrm>
            <a:off x="5646683" y="1744717"/>
            <a:ext cx="2393731" cy="118766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思考：这个算法是否正确？</a:t>
            </a:r>
          </a:p>
        </p:txBody>
      </p:sp>
      <p:sp>
        <p:nvSpPr>
          <p:cNvPr id="16" name="文本框 15">
            <a:extLst>
              <a:ext uri="{FF2B5EF4-FFF2-40B4-BE49-F238E27FC236}">
                <a16:creationId xmlns:a16="http://schemas.microsoft.com/office/drawing/2014/main" id="{8FDD1AF9-24F0-2347-B9DE-45CA1DBD23F8}"/>
              </a:ext>
            </a:extLst>
          </p:cNvPr>
          <p:cNvSpPr txBox="1"/>
          <p:nvPr/>
        </p:nvSpPr>
        <p:spPr>
          <a:xfrm>
            <a:off x="3197773" y="4725443"/>
            <a:ext cx="5242034" cy="369332"/>
          </a:xfrm>
          <a:prstGeom prst="rect">
            <a:avLst/>
          </a:prstGeom>
          <a:noFill/>
        </p:spPr>
        <p:txBody>
          <a:bodyPr wrap="square">
            <a:spAutoFit/>
          </a:bodyPr>
          <a:lstStyle/>
          <a:p>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b</a:t>
            </a:r>
            <a:r>
              <a:rPr lang="zh-CN" altLang="en-US" sz="1800" dirty="0">
                <a:latin typeface="Times New Roman" panose="02020603050405020304" pitchFamily="18" charset="0"/>
                <a:cs typeface="Times New Roman" panose="02020603050405020304" pitchFamily="18" charset="0"/>
              </a:rPr>
              <a:t>都除掉这个因数，避免下次重复计算该因数</a:t>
            </a:r>
            <a:endParaRPr lang="zh-CN" altLang="en-US" dirty="0"/>
          </a:p>
        </p:txBody>
      </p:sp>
    </p:spTree>
    <p:extLst>
      <p:ext uri="{BB962C8B-B14F-4D97-AF65-F5344CB8AC3E}">
        <p14:creationId xmlns:p14="http://schemas.microsoft.com/office/powerpoint/2010/main" val="241501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0"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内容占位符 113666">
            <a:extLst>
              <a:ext uri="{FF2B5EF4-FFF2-40B4-BE49-F238E27FC236}">
                <a16:creationId xmlns:a16="http://schemas.microsoft.com/office/drawing/2014/main" id="{0C04B813-6549-9349-BB23-B9548FD7A91A}"/>
              </a:ext>
            </a:extLst>
          </p:cNvPr>
          <p:cNvSpPr>
            <a:spLocks noGrp="1" noChangeArrowheads="1"/>
          </p:cNvSpPr>
          <p:nvPr>
            <p:ph idx="1"/>
          </p:nvPr>
        </p:nvSpPr>
        <p:spPr>
          <a:xfrm>
            <a:off x="681354" y="1276450"/>
            <a:ext cx="9763907" cy="4866441"/>
          </a:xfrm>
          <a:solidFill>
            <a:srgbClr val="FFFFFF"/>
          </a:solidFill>
        </p:spPr>
        <p:txBody>
          <a:bodyPr>
            <a:noAutofit/>
          </a:bodyPr>
          <a:lstStyle/>
          <a:p>
            <a:pPr marL="0" indent="0" latinLnBrk="1">
              <a:buNone/>
            </a:pPr>
            <a:r>
              <a:rPr lang="zh-CN" altLang="en-US" sz="2400" b="1" dirty="0">
                <a:latin typeface="黑体" panose="02010609060101010101" pitchFamily="49" charset="-122"/>
              </a:rPr>
              <a:t>算法实现如下</a:t>
            </a:r>
            <a:r>
              <a:rPr lang="en-US" altLang="zh-CN" sz="2400" b="1" dirty="0">
                <a:latin typeface="黑体" panose="02010609060101010101" pitchFamily="49" charset="-122"/>
              </a:rPr>
              <a:t>:</a:t>
            </a:r>
            <a:r>
              <a:rPr lang="en-US" altLang="zh-CN" sz="2400" b="1" dirty="0">
                <a:solidFill>
                  <a:srgbClr val="0000FF"/>
                </a:solidFill>
                <a:latin typeface="楷体_GB2312" pitchFamily="49" charset="-122"/>
              </a:rPr>
              <a:t> </a:t>
            </a:r>
          </a:p>
          <a:p>
            <a:pPr marL="0" indent="0" latinLnBrk="1">
              <a:lnSpc>
                <a:spcPct val="100000"/>
              </a:lnSpc>
              <a:spcBef>
                <a:spcPct val="3000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mian</a:t>
            </a:r>
            <a:r>
              <a:rPr lang="en-US" altLang="zh-CN"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 </a:t>
            </a:r>
          </a:p>
          <a:p>
            <a:pPr marL="0" indent="0" latinLnBrk="1">
              <a:lnSpc>
                <a:spcPct val="100000"/>
              </a:lnSpc>
              <a:spcBef>
                <a:spcPct val="0"/>
              </a:spcBef>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int </a:t>
            </a:r>
            <a:r>
              <a:rPr lang="en-US" altLang="zh-CN" sz="2400" dirty="0" err="1">
                <a:latin typeface="Times New Roman" panose="02020603050405020304" pitchFamily="18" charset="0"/>
                <a:cs typeface="Times New Roman" panose="02020603050405020304" pitchFamily="18" charset="0"/>
              </a:rPr>
              <a:t>a,b,c,i</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input(</a:t>
            </a:r>
            <a:r>
              <a:rPr lang="en-US" altLang="zh-CN" sz="2400" dirty="0" err="1">
                <a:latin typeface="Times New Roman" panose="02020603050405020304" pitchFamily="18" charset="0"/>
                <a:cs typeface="Times New Roman" panose="02020603050405020304" pitchFamily="18" charset="0"/>
              </a:rPr>
              <a:t>a,b</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c=1</a:t>
            </a:r>
            <a:r>
              <a:rPr lang="zh-CN" altLang="en-US"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=2;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&lt;=a and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&lt;=b;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枚举可能的公约数</a:t>
            </a:r>
            <a:r>
              <a:rPr lang="en-US" altLang="zh-CN"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while</a:t>
            </a:r>
            <a:r>
              <a:rPr lang="en-US" altLang="zh-CN" sz="2400" dirty="0">
                <a:latin typeface="Times New Roman" panose="02020603050405020304" pitchFamily="18" charset="0"/>
                <a:cs typeface="Times New Roman" panose="02020603050405020304" pitchFamily="18" charset="0"/>
              </a:rPr>
              <a:t>  (a mod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and b mod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=0 )   //</a:t>
            </a:r>
            <a:r>
              <a:rPr lang="zh-CN" altLang="en-US" sz="2400" dirty="0">
                <a:latin typeface="Times New Roman" panose="02020603050405020304" pitchFamily="18" charset="0"/>
                <a:cs typeface="Times New Roman" panose="02020603050405020304" pitchFamily="18" charset="0"/>
              </a:rPr>
              <a:t> 尝试 </a:t>
            </a:r>
            <a:r>
              <a:rPr lang="en-US" altLang="zh-CN" sz="2400"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 是否为公约数</a:t>
            </a:r>
            <a:endParaRPr lang="en-US" altLang="zh-CN" sz="2400" dirty="0">
              <a:latin typeface="Times New Roman" panose="02020603050405020304" pitchFamily="18" charset="0"/>
              <a:cs typeface="Times New Roman" panose="02020603050405020304" pitchFamily="18" charset="0"/>
            </a:endParaRP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 c=</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都除掉这个因数，避免下次重复计算该因数</a:t>
            </a:r>
            <a:endParaRPr lang="en-US" altLang="zh-CN" sz="2400" dirty="0">
              <a:latin typeface="Times New Roman" panose="02020603050405020304" pitchFamily="18" charset="0"/>
              <a:cs typeface="Times New Roman" panose="02020603050405020304" pitchFamily="18" charset="0"/>
            </a:endParaRP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print(“%d is maximal  common divisor”,</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t>
            </a:r>
          </a:p>
          <a:p>
            <a:pPr marL="0" indent="0" latinLnBrk="1">
              <a:lnSpc>
                <a:spcPct val="100000"/>
              </a:lnSpc>
              <a:spcBef>
                <a:spcPct val="0"/>
              </a:spcBef>
              <a:buNone/>
            </a:pPr>
            <a:r>
              <a:rPr lang="en-US" altLang="zh-CN" sz="2400" dirty="0">
                <a:latin typeface="Times New Roman" panose="02020603050405020304" pitchFamily="18" charset="0"/>
                <a:cs typeface="Times New Roman" panose="02020603050405020304" pitchFamily="18" charset="0"/>
              </a:rPr>
              <a:t>     }</a:t>
            </a:r>
          </a:p>
        </p:txBody>
      </p:sp>
      <p:sp>
        <p:nvSpPr>
          <p:cNvPr id="106498" name="标题 113667">
            <a:extLst>
              <a:ext uri="{FF2B5EF4-FFF2-40B4-BE49-F238E27FC236}">
                <a16:creationId xmlns:a16="http://schemas.microsoft.com/office/drawing/2014/main" id="{CFB27438-4676-4E4A-ACB8-3135E5BA3763}"/>
              </a:ext>
            </a:extLst>
          </p:cNvPr>
          <p:cNvSpPr>
            <a:spLocks noGrp="1" noChangeArrowheads="1"/>
          </p:cNvSpPr>
          <p:nvPr>
            <p:ph type="title"/>
          </p:nvPr>
        </p:nvSpPr>
        <p:spPr>
          <a:xfrm>
            <a:off x="1318437" y="345380"/>
            <a:ext cx="7845056" cy="591040"/>
          </a:xfrm>
        </p:spPr>
        <p:txBody>
          <a:bodyPr/>
          <a:lstStyle/>
          <a:p>
            <a:pPr algn="l"/>
            <a:r>
              <a:rPr lang="zh-CN" altLang="en-US" sz="2900" b="1" noProof="1">
                <a:latin typeface="黑体" panose="02010609060101010101" pitchFamily="49" charset="-122"/>
                <a:sym typeface="+mn-ea"/>
              </a:rPr>
              <a:t>一个简单问题的求解过程 (续)</a:t>
            </a:r>
          </a:p>
        </p:txBody>
      </p:sp>
      <p:sp>
        <p:nvSpPr>
          <p:cNvPr id="4" name="任意多边形: 形状 8">
            <a:extLst>
              <a:ext uri="{FF2B5EF4-FFF2-40B4-BE49-F238E27FC236}">
                <a16:creationId xmlns:a16="http://schemas.microsoft.com/office/drawing/2014/main" id="{D319DCE4-DD41-B246-ADC2-1D697D446DDE}"/>
              </a:ext>
            </a:extLst>
          </p:cNvPr>
          <p:cNvSpPr/>
          <p:nvPr/>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6">
            <a:extLst>
              <a:ext uri="{FF2B5EF4-FFF2-40B4-BE49-F238E27FC236}">
                <a16:creationId xmlns:a16="http://schemas.microsoft.com/office/drawing/2014/main" id="{E96D4EE9-9B5E-0A43-834E-3F7FCBD4B451}"/>
              </a:ext>
            </a:extLst>
          </p:cNvPr>
          <p:cNvSpPr/>
          <p:nvPr/>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7">
            <a:extLst>
              <a:ext uri="{FF2B5EF4-FFF2-40B4-BE49-F238E27FC236}">
                <a16:creationId xmlns:a16="http://schemas.microsoft.com/office/drawing/2014/main" id="{D42D99ED-8282-D347-A37D-CE608241696E}"/>
              </a:ext>
            </a:extLst>
          </p:cNvPr>
          <p:cNvSpPr/>
          <p:nvPr/>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矩形 6">
            <a:extLst>
              <a:ext uri="{FF2B5EF4-FFF2-40B4-BE49-F238E27FC236}">
                <a16:creationId xmlns:a16="http://schemas.microsoft.com/office/drawing/2014/main" id="{6AB554AC-8287-2E4A-AD84-E73151B172CB}"/>
              </a:ext>
            </a:extLst>
          </p:cNvPr>
          <p:cNvSpPr/>
          <p:nvPr/>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8" name="图片 7" descr="青岛理工大学校徽">
            <a:extLst>
              <a:ext uri="{FF2B5EF4-FFF2-40B4-BE49-F238E27FC236}">
                <a16:creationId xmlns:a16="http://schemas.microsoft.com/office/drawing/2014/main" id="{4A5E19CB-A0C9-574C-9396-1B5415C8A4A7}"/>
              </a:ext>
            </a:extLst>
          </p:cNvPr>
          <p:cNvPicPr>
            <a:picLocks noChangeAspect="1"/>
          </p:cNvPicPr>
          <p:nvPr/>
        </p:nvPicPr>
        <p:blipFill>
          <a:blip r:embed="rId3"/>
          <a:stretch>
            <a:fillRect/>
          </a:stretch>
        </p:blipFill>
        <p:spPr>
          <a:xfrm>
            <a:off x="10973435" y="221615"/>
            <a:ext cx="723265" cy="723265"/>
          </a:xfrm>
          <a:prstGeom prst="rect">
            <a:avLst/>
          </a:prstGeom>
        </p:spPr>
      </p:pic>
      <p:sp>
        <p:nvSpPr>
          <p:cNvPr id="9" name="日期占位符 1">
            <a:extLst>
              <a:ext uri="{FF2B5EF4-FFF2-40B4-BE49-F238E27FC236}">
                <a16:creationId xmlns:a16="http://schemas.microsoft.com/office/drawing/2014/main" id="{B76E8833-D553-B643-B8FB-29BA49D9D39F}"/>
              </a:ext>
            </a:extLst>
          </p:cNvPr>
          <p:cNvSpPr txBox="1">
            <a:spLocks/>
          </p:cNvSpPr>
          <p:nvPr/>
        </p:nvSpPr>
        <p:spPr>
          <a:xfrm>
            <a:off x="681355"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a:t>百折不挠</a:t>
            </a:r>
            <a:r>
              <a:rPr lang="en-US" altLang="zh-CN" sz="1000"/>
              <a:t> </a:t>
            </a:r>
            <a:r>
              <a:rPr lang="zh-CN" altLang="en-US" sz="1000"/>
              <a:t>刚毅厚重</a:t>
            </a:r>
            <a:r>
              <a:rPr lang="en-US" altLang="zh-CN" sz="1000"/>
              <a:t> </a:t>
            </a:r>
            <a:r>
              <a:rPr lang="zh-CN" altLang="en-US" sz="1000"/>
              <a:t>勇承重载</a:t>
            </a:r>
            <a:endParaRPr lang="zh-CN" alt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内容占位符 112642">
            <a:extLst>
              <a:ext uri="{FF2B5EF4-FFF2-40B4-BE49-F238E27FC236}">
                <a16:creationId xmlns:a16="http://schemas.microsoft.com/office/drawing/2014/main" id="{C0AA35ED-0EA0-A448-A33B-B859574D40DF}"/>
              </a:ext>
            </a:extLst>
          </p:cNvPr>
          <p:cNvSpPr>
            <a:spLocks noGrp="1" noChangeArrowheads="1"/>
          </p:cNvSpPr>
          <p:nvPr>
            <p:ph idx="1"/>
          </p:nvPr>
        </p:nvSpPr>
        <p:spPr>
          <a:xfrm>
            <a:off x="681354" y="1490035"/>
            <a:ext cx="10631687" cy="2677928"/>
          </a:xfrm>
          <a:solidFill>
            <a:srgbClr val="FFFFFF"/>
          </a:solidFill>
        </p:spPr>
        <p:txBody>
          <a:bodyPr>
            <a:normAutofit fontScale="85000" lnSpcReduction="10000"/>
          </a:bodyPr>
          <a:lstStyle/>
          <a:p>
            <a:pPr marL="0" indent="0" latinLnBrk="1">
              <a:buNone/>
            </a:pPr>
            <a:r>
              <a:rPr lang="zh-CN" altLang="en-US" b="1" dirty="0">
                <a:latin typeface="楷体_GB2312" pitchFamily="49" charset="-122"/>
              </a:rPr>
              <a:t>算法设计：</a:t>
            </a:r>
          </a:p>
          <a:p>
            <a:pPr marL="0" indent="0" latinLnBrk="1">
              <a:lnSpc>
                <a:spcPct val="150000"/>
              </a:lnSpc>
              <a:spcBef>
                <a:spcPct val="55000"/>
              </a:spcBef>
              <a:buNone/>
            </a:pPr>
            <a:r>
              <a:rPr lang="en-US" altLang="zh-CN" sz="2700" b="1" dirty="0">
                <a:latin typeface="楷体_GB2312" pitchFamily="49" charset="-122"/>
              </a:rPr>
              <a:t>1</a:t>
            </a:r>
            <a:r>
              <a:rPr lang="zh-CN" altLang="en-US" sz="2700" b="1" dirty="0">
                <a:latin typeface="楷体_GB2312" pitchFamily="49" charset="-122"/>
              </a:rPr>
              <a:t>）用</a:t>
            </a:r>
            <a:r>
              <a:rPr lang="en-US" altLang="zh-CN" sz="2700" b="1" dirty="0">
                <a:latin typeface="楷体_GB2312" pitchFamily="49" charset="-122"/>
              </a:rPr>
              <a:t>for</a:t>
            </a:r>
            <a:r>
              <a:rPr lang="zh-CN" altLang="en-US" sz="2700" b="1" dirty="0">
                <a:latin typeface="楷体_GB2312" pitchFamily="49" charset="-122"/>
              </a:rPr>
              <a:t>循环枚举可能的因数，并用变量累乘求出公因数。</a:t>
            </a:r>
          </a:p>
          <a:p>
            <a:pPr marL="0" indent="0" latinLnBrk="1">
              <a:lnSpc>
                <a:spcPct val="150000"/>
              </a:lnSpc>
              <a:spcBef>
                <a:spcPct val="55000"/>
              </a:spcBef>
              <a:buNone/>
            </a:pPr>
            <a:r>
              <a:rPr lang="en-US" altLang="zh-CN" sz="2700" b="1" dirty="0">
                <a:latin typeface="楷体_GB2312" pitchFamily="49" charset="-122"/>
              </a:rPr>
              <a:t>2</a:t>
            </a:r>
            <a:r>
              <a:rPr lang="zh-CN" altLang="en-US" sz="2700" b="1" dirty="0">
                <a:latin typeface="楷体_GB2312" pitchFamily="49" charset="-122"/>
              </a:rPr>
              <a:t>）注意到因数 </a:t>
            </a:r>
            <a:r>
              <a:rPr lang="en-US" altLang="zh-CN" sz="2700" b="1" dirty="0">
                <a:latin typeface="Times New Roman" panose="02020603050405020304" pitchFamily="18" charset="0"/>
                <a:cs typeface="Times New Roman" panose="02020603050405020304" pitchFamily="18" charset="0"/>
              </a:rPr>
              <a:t>2</a:t>
            </a:r>
            <a:r>
              <a:rPr lang="zh-CN" altLang="en-US" sz="2700" b="1" dirty="0">
                <a:latin typeface="Times New Roman" panose="02020603050405020304" pitchFamily="18" charset="0"/>
                <a:cs typeface="Times New Roman" panose="02020603050405020304" pitchFamily="18" charset="0"/>
              </a:rPr>
              <a:t> </a:t>
            </a:r>
            <a:r>
              <a:rPr lang="zh-CN" altLang="en-US" sz="2700" b="1" dirty="0">
                <a:latin typeface="楷体_GB2312" pitchFamily="49" charset="-122"/>
              </a:rPr>
              <a:t>在 </a:t>
            </a:r>
            <a:r>
              <a:rPr lang="en-US" altLang="zh-CN" sz="2700" b="1" dirty="0">
                <a:latin typeface="Times New Roman" panose="02020603050405020304" pitchFamily="18" charset="0"/>
                <a:cs typeface="Times New Roman" panose="02020603050405020304" pitchFamily="18" charset="0"/>
              </a:rPr>
              <a:t>4,</a:t>
            </a:r>
            <a:r>
              <a:rPr lang="zh-CN" altLang="en-US" sz="2700" b="1" dirty="0">
                <a:latin typeface="Times New Roman" panose="02020603050405020304" pitchFamily="18" charset="0"/>
                <a:cs typeface="Times New Roman" panose="02020603050405020304" pitchFamily="18" charset="0"/>
              </a:rPr>
              <a:t> </a:t>
            </a:r>
            <a:r>
              <a:rPr lang="en-US" altLang="zh-CN" sz="2700" b="1" dirty="0">
                <a:latin typeface="Times New Roman" panose="02020603050405020304" pitchFamily="18" charset="0"/>
                <a:cs typeface="Times New Roman" panose="02020603050405020304" pitchFamily="18" charset="0"/>
              </a:rPr>
              <a:t>8</a:t>
            </a:r>
            <a:r>
              <a:rPr lang="zh-CN" altLang="en-US" sz="2700" b="1" dirty="0">
                <a:latin typeface="Times New Roman" panose="02020603050405020304" pitchFamily="18" charset="0"/>
                <a:cs typeface="Times New Roman" panose="02020603050405020304" pitchFamily="18" charset="0"/>
              </a:rPr>
              <a:t> </a:t>
            </a:r>
            <a:r>
              <a:rPr lang="zh-CN" altLang="en-US" sz="2700" b="1" dirty="0">
                <a:latin typeface="楷体_GB2312" pitchFamily="49" charset="-122"/>
              </a:rPr>
              <a:t>两个数据中出现两次，</a:t>
            </a:r>
            <a:endParaRPr lang="en-US" altLang="zh-CN" sz="2700" b="1" dirty="0">
              <a:latin typeface="楷体_GB2312" pitchFamily="49" charset="-122"/>
            </a:endParaRPr>
          </a:p>
          <a:p>
            <a:pPr marL="0" indent="0" latinLnBrk="1">
              <a:lnSpc>
                <a:spcPct val="150000"/>
              </a:lnSpc>
              <a:spcBef>
                <a:spcPct val="55000"/>
              </a:spcBef>
              <a:buNone/>
            </a:pPr>
            <a:r>
              <a:rPr lang="zh-CN" altLang="en-US" sz="2700" b="1" dirty="0">
                <a:latin typeface="楷体_GB2312" pitchFamily="49" charset="-122"/>
              </a:rPr>
              <a:t>所以，测试某因数是否为所给数据的因数时，</a:t>
            </a:r>
            <a:r>
              <a:rPr lang="zh-CN" altLang="en-US" sz="2700" b="1" u="sng" dirty="0">
                <a:solidFill>
                  <a:srgbClr val="FF0000"/>
                </a:solidFill>
                <a:latin typeface="楷体_GB2312" pitchFamily="49" charset="-122"/>
              </a:rPr>
              <a:t>应该用循环语句而不是条件语句。</a:t>
            </a:r>
          </a:p>
        </p:txBody>
      </p:sp>
      <p:sp>
        <p:nvSpPr>
          <p:cNvPr id="105474" name="标题 112643">
            <a:extLst>
              <a:ext uri="{FF2B5EF4-FFF2-40B4-BE49-F238E27FC236}">
                <a16:creationId xmlns:a16="http://schemas.microsoft.com/office/drawing/2014/main" id="{A99BA965-C165-424D-B3AF-B72350A0A9B0}"/>
              </a:ext>
            </a:extLst>
          </p:cNvPr>
          <p:cNvSpPr>
            <a:spLocks noGrp="1" noChangeArrowheads="1"/>
          </p:cNvSpPr>
          <p:nvPr>
            <p:ph type="title"/>
          </p:nvPr>
        </p:nvSpPr>
        <p:spPr>
          <a:xfrm>
            <a:off x="1238693" y="241483"/>
            <a:ext cx="8972107" cy="683527"/>
          </a:xfrm>
        </p:spPr>
        <p:txBody>
          <a:bodyPr/>
          <a:lstStyle/>
          <a:p>
            <a:pPr algn="l"/>
            <a:r>
              <a:rPr lang="zh-CN" altLang="en-US" sz="2900" b="1" noProof="1">
                <a:latin typeface="黑体" panose="02010609060101010101" pitchFamily="49" charset="-122"/>
                <a:sym typeface="+mn-ea"/>
              </a:rPr>
              <a:t>一个简单问题的求解过程 (续)</a:t>
            </a:r>
          </a:p>
        </p:txBody>
      </p:sp>
      <p:sp>
        <p:nvSpPr>
          <p:cNvPr id="4" name="任意多边形: 形状 8">
            <a:extLst>
              <a:ext uri="{FF2B5EF4-FFF2-40B4-BE49-F238E27FC236}">
                <a16:creationId xmlns:a16="http://schemas.microsoft.com/office/drawing/2014/main" id="{BD9EBF50-4230-1748-B1BD-689E040B3C31}"/>
              </a:ext>
            </a:extLst>
          </p:cNvPr>
          <p:cNvSpPr/>
          <p:nvPr/>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6">
            <a:extLst>
              <a:ext uri="{FF2B5EF4-FFF2-40B4-BE49-F238E27FC236}">
                <a16:creationId xmlns:a16="http://schemas.microsoft.com/office/drawing/2014/main" id="{EA611EDF-F990-AE48-A625-C3F5FA0EBBEA}"/>
              </a:ext>
            </a:extLst>
          </p:cNvPr>
          <p:cNvSpPr/>
          <p:nvPr/>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7">
            <a:extLst>
              <a:ext uri="{FF2B5EF4-FFF2-40B4-BE49-F238E27FC236}">
                <a16:creationId xmlns:a16="http://schemas.microsoft.com/office/drawing/2014/main" id="{0DB2F2C2-E9DF-974D-A51D-2B85D53C5EAA}"/>
              </a:ext>
            </a:extLst>
          </p:cNvPr>
          <p:cNvSpPr/>
          <p:nvPr/>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矩形 6">
            <a:extLst>
              <a:ext uri="{FF2B5EF4-FFF2-40B4-BE49-F238E27FC236}">
                <a16:creationId xmlns:a16="http://schemas.microsoft.com/office/drawing/2014/main" id="{785308D9-C2D6-674C-9487-7E5F815FF9C9}"/>
              </a:ext>
            </a:extLst>
          </p:cNvPr>
          <p:cNvSpPr/>
          <p:nvPr/>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8" name="图片 7" descr="青岛理工大学校徽">
            <a:extLst>
              <a:ext uri="{FF2B5EF4-FFF2-40B4-BE49-F238E27FC236}">
                <a16:creationId xmlns:a16="http://schemas.microsoft.com/office/drawing/2014/main" id="{15286553-8E14-054A-BB89-E04A0FE6C5F0}"/>
              </a:ext>
            </a:extLst>
          </p:cNvPr>
          <p:cNvPicPr>
            <a:picLocks noChangeAspect="1"/>
          </p:cNvPicPr>
          <p:nvPr/>
        </p:nvPicPr>
        <p:blipFill>
          <a:blip r:embed="rId3"/>
          <a:stretch>
            <a:fillRect/>
          </a:stretch>
        </p:blipFill>
        <p:spPr>
          <a:xfrm>
            <a:off x="10973435" y="221615"/>
            <a:ext cx="723265" cy="723265"/>
          </a:xfrm>
          <a:prstGeom prst="rect">
            <a:avLst/>
          </a:prstGeom>
        </p:spPr>
      </p:pic>
      <p:sp>
        <p:nvSpPr>
          <p:cNvPr id="9" name="日期占位符 1">
            <a:extLst>
              <a:ext uri="{FF2B5EF4-FFF2-40B4-BE49-F238E27FC236}">
                <a16:creationId xmlns:a16="http://schemas.microsoft.com/office/drawing/2014/main" id="{1F82AE15-46A6-F545-9F1D-4F907E063E9D}"/>
              </a:ext>
            </a:extLst>
          </p:cNvPr>
          <p:cNvSpPr txBox="1">
            <a:spLocks/>
          </p:cNvSpPr>
          <p:nvPr/>
        </p:nvSpPr>
        <p:spPr>
          <a:xfrm>
            <a:off x="681355"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a:t>百折不挠</a:t>
            </a:r>
            <a:r>
              <a:rPr lang="en-US" altLang="zh-CN" sz="1000"/>
              <a:t> </a:t>
            </a:r>
            <a:r>
              <a:rPr lang="zh-CN" altLang="en-US" sz="1000"/>
              <a:t>刚毅厚重</a:t>
            </a:r>
            <a:r>
              <a:rPr lang="en-US" altLang="zh-CN" sz="1000"/>
              <a:t> </a:t>
            </a:r>
            <a:r>
              <a:rPr lang="zh-CN" altLang="en-US" sz="1000"/>
              <a:t>勇承重载</a:t>
            </a:r>
            <a:endParaRPr lang="zh-CN" alt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3">
                                            <p:txEl>
                                              <p:pRg st="1" end="1"/>
                                            </p:txEl>
                                          </p:spTgt>
                                        </p:tgtEl>
                                        <p:attrNameLst>
                                          <p:attrName>style.visibility</p:attrName>
                                        </p:attrNameLst>
                                      </p:cBhvr>
                                      <p:to>
                                        <p:strVal val="visible"/>
                                      </p:to>
                                    </p:set>
                                    <p:anim calcmode="lin" valueType="num">
                                      <p:cBhvr additive="base">
                                        <p:cTn id="7" dur="500" fill="hold"/>
                                        <p:tgtEl>
                                          <p:spTgt spid="10547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3">
                                            <p:txEl>
                                              <p:pRg st="2" end="2"/>
                                            </p:txEl>
                                          </p:spTgt>
                                        </p:tgtEl>
                                        <p:attrNameLst>
                                          <p:attrName>style.visibility</p:attrName>
                                        </p:attrNameLst>
                                      </p:cBhvr>
                                      <p:to>
                                        <p:strVal val="visible"/>
                                      </p:to>
                                    </p:set>
                                    <p:anim calcmode="lin" valueType="num">
                                      <p:cBhvr additive="base">
                                        <p:cTn id="13" dur="500" fill="hold"/>
                                        <p:tgtEl>
                                          <p:spTgt spid="10547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547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5473">
                                            <p:txEl>
                                              <p:pRg st="3" end="3"/>
                                            </p:txEl>
                                          </p:spTgt>
                                        </p:tgtEl>
                                        <p:attrNameLst>
                                          <p:attrName>style.visibility</p:attrName>
                                        </p:attrNameLst>
                                      </p:cBhvr>
                                      <p:to>
                                        <p:strVal val="visible"/>
                                      </p:to>
                                    </p:set>
                                    <p:anim calcmode="lin" valueType="num">
                                      <p:cBhvr additive="base">
                                        <p:cTn id="19" dur="500" fill="hold"/>
                                        <p:tgtEl>
                                          <p:spTgt spid="10547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547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内容占位符 114690">
            <a:extLst>
              <a:ext uri="{FF2B5EF4-FFF2-40B4-BE49-F238E27FC236}">
                <a16:creationId xmlns:a16="http://schemas.microsoft.com/office/drawing/2014/main" id="{BB2D6BA6-1BD6-EF40-B2CD-085F9C0A06AB}"/>
              </a:ext>
            </a:extLst>
          </p:cNvPr>
          <p:cNvSpPr>
            <a:spLocks noGrp="1" noChangeArrowheads="1"/>
          </p:cNvSpPr>
          <p:nvPr>
            <p:ph idx="1"/>
          </p:nvPr>
        </p:nvSpPr>
        <p:spPr>
          <a:xfrm>
            <a:off x="746022" y="1381959"/>
            <a:ext cx="10694611" cy="4641850"/>
          </a:xfrm>
          <a:solidFill>
            <a:srgbClr val="FFFFFF"/>
          </a:solidFill>
        </p:spPr>
        <p:txBody>
          <a:bodyPr>
            <a:normAutofit/>
          </a:bodyPr>
          <a:lstStyle/>
          <a:p>
            <a:pPr marL="0" indent="0" latinLnBrk="1">
              <a:buNone/>
            </a:pPr>
            <a:r>
              <a:rPr lang="zh-CN" altLang="en-US" b="1" dirty="0">
                <a:latin typeface="楷体_GB2312" pitchFamily="49" charset="-122"/>
              </a:rPr>
              <a:t>算法说明：</a:t>
            </a:r>
          </a:p>
          <a:p>
            <a:pPr marL="0" indent="0" latinLnBrk="1">
              <a:lnSpc>
                <a:spcPct val="160000"/>
              </a:lnSpc>
              <a:buNone/>
            </a:pPr>
            <a:r>
              <a:rPr lang="zh-CN" altLang="en-US" sz="2600" b="1" dirty="0">
                <a:latin typeface="宋体" panose="02010600030101010101" pitchFamily="2" charset="-122"/>
                <a:ea typeface="宋体" panose="02010600030101010101" pitchFamily="2" charset="-122"/>
              </a:rPr>
              <a:t>若是则进入内层循环</a:t>
            </a:r>
            <a:r>
              <a:rPr lang="zh-CN" altLang="en-US" sz="2600" b="1" dirty="0">
                <a:solidFill>
                  <a:srgbClr val="FF0000"/>
                </a:solidFill>
                <a:latin typeface="宋体" panose="02010600030101010101" pitchFamily="2" charset="-122"/>
                <a:ea typeface="宋体" panose="02010600030101010101" pitchFamily="2" charset="-122"/>
              </a:rPr>
              <a:t>累乘因数</a:t>
            </a:r>
            <a:r>
              <a:rPr lang="zh-CN" altLang="en-US" sz="2600" b="1" dirty="0">
                <a:latin typeface="宋体" panose="02010600030101010101" pitchFamily="2" charset="-122"/>
                <a:ea typeface="宋体" panose="02010600030101010101" pitchFamily="2" charset="-122"/>
              </a:rPr>
              <a:t>，并且除掉这个因数，避免下次重复处理该因数。</a:t>
            </a:r>
          </a:p>
          <a:p>
            <a:pPr marL="0" indent="0" latinLnBrk="1">
              <a:lnSpc>
                <a:spcPct val="150000"/>
              </a:lnSpc>
              <a:spcBef>
                <a:spcPct val="40000"/>
              </a:spcBef>
              <a:buNone/>
            </a:pPr>
            <a:r>
              <a:rPr lang="zh-CN" altLang="en-US" b="1" dirty="0">
                <a:latin typeface="黑体" panose="02010609060101010101" pitchFamily="49" charset="-122"/>
              </a:rPr>
              <a:t>算法分析：</a:t>
            </a:r>
            <a:endParaRPr lang="zh-CN" altLang="en-US" b="1" dirty="0">
              <a:latin typeface="宋体" panose="02010600030101010101" pitchFamily="2" charset="-122"/>
              <a:ea typeface="宋体" panose="02010600030101010101" pitchFamily="2" charset="-122"/>
            </a:endParaRPr>
          </a:p>
          <a:p>
            <a:pPr marL="0" indent="0" latinLnBrk="1">
              <a:lnSpc>
                <a:spcPct val="150000"/>
              </a:lnSpc>
              <a:spcBef>
                <a:spcPts val="0"/>
              </a:spcBef>
              <a:buNone/>
            </a:pPr>
            <a:r>
              <a:rPr lang="zh-CN" altLang="en-US" b="1" dirty="0">
                <a:latin typeface="宋体" panose="02010600030101010101" pitchFamily="2" charset="-122"/>
                <a:ea typeface="宋体" panose="02010600030101010101" pitchFamily="2" charset="-122"/>
              </a:rPr>
              <a:t>  </a:t>
            </a:r>
            <a:r>
              <a:rPr lang="zh-CN" altLang="en-US" b="1" dirty="0">
                <a:solidFill>
                  <a:srgbClr val="0033CC"/>
                </a:solidFill>
                <a:latin typeface="黑体" panose="02010609060101010101" pitchFamily="49" charset="-122"/>
              </a:rPr>
              <a:t>这个算法好吗？</a:t>
            </a:r>
            <a:endParaRPr lang="zh-CN" altLang="en-US" sz="2600" b="1" dirty="0">
              <a:latin typeface="宋体" panose="02010600030101010101" pitchFamily="2" charset="-122"/>
              <a:ea typeface="宋体" panose="02010600030101010101" pitchFamily="2" charset="-122"/>
            </a:endParaRPr>
          </a:p>
          <a:p>
            <a:pPr marL="0" indent="0" latinLnBrk="1">
              <a:lnSpc>
                <a:spcPct val="150000"/>
              </a:lnSpc>
              <a:spcBef>
                <a:spcPts val="0"/>
              </a:spcBef>
              <a:buNone/>
            </a:pPr>
            <a:r>
              <a:rPr lang="zh-CN" altLang="en-US" sz="2600" b="1" dirty="0">
                <a:solidFill>
                  <a:srgbClr val="0033CC"/>
                </a:solidFill>
                <a:latin typeface="黑体" panose="02010609060101010101" pitchFamily="49" charset="-122"/>
              </a:rPr>
              <a:t>  问题分析、建模、算法设计是求解问题的必然过程。</a:t>
            </a:r>
          </a:p>
        </p:txBody>
      </p:sp>
      <p:sp>
        <p:nvSpPr>
          <p:cNvPr id="107522" name="标题 114691">
            <a:extLst>
              <a:ext uri="{FF2B5EF4-FFF2-40B4-BE49-F238E27FC236}">
                <a16:creationId xmlns:a16="http://schemas.microsoft.com/office/drawing/2014/main" id="{E6A41983-CD99-904A-B382-90EB9434847B}"/>
              </a:ext>
            </a:extLst>
          </p:cNvPr>
          <p:cNvSpPr>
            <a:spLocks noGrp="1" noChangeArrowheads="1"/>
          </p:cNvSpPr>
          <p:nvPr>
            <p:ph type="title"/>
          </p:nvPr>
        </p:nvSpPr>
        <p:spPr>
          <a:xfrm>
            <a:off x="1276777" y="131947"/>
            <a:ext cx="7929245" cy="850716"/>
          </a:xfrm>
        </p:spPr>
        <p:txBody>
          <a:bodyPr/>
          <a:lstStyle/>
          <a:p>
            <a:pPr algn="l"/>
            <a:r>
              <a:rPr lang="zh-CN" altLang="en-US" sz="2900" b="1" noProof="1">
                <a:latin typeface="黑体" panose="02010609060101010101" pitchFamily="49" charset="-122"/>
                <a:sym typeface="+mn-ea"/>
              </a:rPr>
              <a:t>一个简单问题的求解过程 (续)</a:t>
            </a:r>
          </a:p>
        </p:txBody>
      </p:sp>
      <p:sp>
        <p:nvSpPr>
          <p:cNvPr id="4" name="任意多边形: 形状 8">
            <a:extLst>
              <a:ext uri="{FF2B5EF4-FFF2-40B4-BE49-F238E27FC236}">
                <a16:creationId xmlns:a16="http://schemas.microsoft.com/office/drawing/2014/main" id="{653BA9A5-5FDE-E642-B1B2-806AA8BC650E}"/>
              </a:ext>
            </a:extLst>
          </p:cNvPr>
          <p:cNvSpPr/>
          <p:nvPr/>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6">
            <a:extLst>
              <a:ext uri="{FF2B5EF4-FFF2-40B4-BE49-F238E27FC236}">
                <a16:creationId xmlns:a16="http://schemas.microsoft.com/office/drawing/2014/main" id="{4902971B-3480-854B-A16E-3266B3E3183D}"/>
              </a:ext>
            </a:extLst>
          </p:cNvPr>
          <p:cNvSpPr/>
          <p:nvPr/>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7">
            <a:extLst>
              <a:ext uri="{FF2B5EF4-FFF2-40B4-BE49-F238E27FC236}">
                <a16:creationId xmlns:a16="http://schemas.microsoft.com/office/drawing/2014/main" id="{B3876D12-93D8-3347-BDEA-F8F9459D222C}"/>
              </a:ext>
            </a:extLst>
          </p:cNvPr>
          <p:cNvSpPr/>
          <p:nvPr/>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矩形 6">
            <a:extLst>
              <a:ext uri="{FF2B5EF4-FFF2-40B4-BE49-F238E27FC236}">
                <a16:creationId xmlns:a16="http://schemas.microsoft.com/office/drawing/2014/main" id="{57EB245A-021F-BF4D-83AA-10880AAB8D0E}"/>
              </a:ext>
            </a:extLst>
          </p:cNvPr>
          <p:cNvSpPr/>
          <p:nvPr/>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8" name="图片 7" descr="青岛理工大学校徽">
            <a:extLst>
              <a:ext uri="{FF2B5EF4-FFF2-40B4-BE49-F238E27FC236}">
                <a16:creationId xmlns:a16="http://schemas.microsoft.com/office/drawing/2014/main" id="{8EE4F051-800A-614D-8AA0-3B2E4C1DF621}"/>
              </a:ext>
            </a:extLst>
          </p:cNvPr>
          <p:cNvPicPr>
            <a:picLocks noChangeAspect="1"/>
          </p:cNvPicPr>
          <p:nvPr/>
        </p:nvPicPr>
        <p:blipFill>
          <a:blip r:embed="rId3"/>
          <a:stretch>
            <a:fillRect/>
          </a:stretch>
        </p:blipFill>
        <p:spPr>
          <a:xfrm>
            <a:off x="10973435" y="221615"/>
            <a:ext cx="723265" cy="723265"/>
          </a:xfrm>
          <a:prstGeom prst="rect">
            <a:avLst/>
          </a:prstGeom>
        </p:spPr>
      </p:pic>
      <p:sp>
        <p:nvSpPr>
          <p:cNvPr id="9" name="日期占位符 1">
            <a:extLst>
              <a:ext uri="{FF2B5EF4-FFF2-40B4-BE49-F238E27FC236}">
                <a16:creationId xmlns:a16="http://schemas.microsoft.com/office/drawing/2014/main" id="{3A53CA54-0983-D548-875A-5F0D93B91BB3}"/>
              </a:ext>
            </a:extLst>
          </p:cNvPr>
          <p:cNvSpPr txBox="1">
            <a:spLocks/>
          </p:cNvSpPr>
          <p:nvPr/>
        </p:nvSpPr>
        <p:spPr>
          <a:xfrm>
            <a:off x="681355"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a:t>百折不挠</a:t>
            </a:r>
            <a:r>
              <a:rPr lang="en-US" altLang="zh-CN" sz="1000"/>
              <a:t> </a:t>
            </a:r>
            <a:r>
              <a:rPr lang="zh-CN" altLang="en-US" sz="1000"/>
              <a:t>刚毅厚重</a:t>
            </a:r>
            <a:r>
              <a:rPr lang="en-US" altLang="zh-CN" sz="1000"/>
              <a:t> </a:t>
            </a:r>
            <a:r>
              <a:rPr lang="zh-CN" altLang="en-US" sz="1000"/>
              <a:t>勇承重载</a:t>
            </a:r>
            <a:endParaRPr lang="zh-CN" altLang="en-US" sz="1000" dirty="0"/>
          </a:p>
        </p:txBody>
      </p:sp>
      <p:sp>
        <p:nvSpPr>
          <p:cNvPr id="2" name="圆角矩形 1">
            <a:extLst>
              <a:ext uri="{FF2B5EF4-FFF2-40B4-BE49-F238E27FC236}">
                <a16:creationId xmlns:a16="http://schemas.microsoft.com/office/drawing/2014/main" id="{D3803CC8-DAC8-3A43-A3B7-448988FB72CD}"/>
              </a:ext>
            </a:extLst>
          </p:cNvPr>
          <p:cNvSpPr/>
          <p:nvPr/>
        </p:nvSpPr>
        <p:spPr>
          <a:xfrm>
            <a:off x="4256690" y="4162096"/>
            <a:ext cx="2511972" cy="441434"/>
          </a:xfrm>
          <a:prstGeom prst="roundRect">
            <a:avLst/>
          </a:prstGeom>
          <a:solidFill>
            <a:schemeClr val="bg2"/>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dirty="0"/>
              <a:t>辗转相除法效率更高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65">
                                            <p:txEl>
                                              <p:pRg st="3" end="3"/>
                                            </p:txEl>
                                          </p:spTgt>
                                        </p:tgtEl>
                                        <p:attrNameLst>
                                          <p:attrName>style.visibility</p:attrName>
                                        </p:attrNameLst>
                                      </p:cBhvr>
                                      <p:to>
                                        <p:strVal val="visible"/>
                                      </p:to>
                                    </p:set>
                                    <p:animEffect transition="in" filter="blinds(horizontal)">
                                      <p:cBhvr>
                                        <p:cTn id="7" dur="500"/>
                                        <p:tgtEl>
                                          <p:spTgt spid="6246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465">
                                            <p:txEl>
                                              <p:pRg st="4" end="4"/>
                                            </p:txEl>
                                          </p:spTgt>
                                        </p:tgtEl>
                                        <p:attrNameLst>
                                          <p:attrName>style.visibility</p:attrName>
                                        </p:attrNameLst>
                                      </p:cBhvr>
                                      <p:to>
                                        <p:strVal val="visible"/>
                                      </p:to>
                                    </p:set>
                                    <p:animEffect transition="in" filter="blinds(horizontal)">
                                      <p:cBhvr>
                                        <p:cTn id="12" dur="500"/>
                                        <p:tgtEl>
                                          <p:spTgt spid="6246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476771" y="421343"/>
            <a:ext cx="4475096"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2800" dirty="0">
                <a:solidFill>
                  <a:srgbClr val="005D96"/>
                </a:solidFill>
                <a:cs typeface="+mn-ea"/>
                <a:sym typeface="+mn-lt"/>
              </a:rPr>
              <a:t>1.3</a:t>
            </a:r>
            <a:r>
              <a:rPr lang="zh-CN" altLang="en-US" sz="2800" dirty="0">
                <a:solidFill>
                  <a:srgbClr val="005D96"/>
                </a:solidFill>
                <a:cs typeface="+mn-ea"/>
                <a:sym typeface="+mn-lt"/>
              </a:rPr>
              <a:t>  </a:t>
            </a:r>
            <a:r>
              <a:rPr lang="zh-CN" altLang="en-US" sz="2800" noProof="1">
                <a:solidFill>
                  <a:srgbClr val="005D96"/>
                </a:solidFill>
                <a:cs typeface="+mn-ea"/>
                <a:sym typeface="+mn-ea"/>
              </a:rPr>
              <a:t>现代常用算法概览</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sp>
        <p:nvSpPr>
          <p:cNvPr id="10" name="内容占位符 116738">
            <a:extLst>
              <a:ext uri="{FF2B5EF4-FFF2-40B4-BE49-F238E27FC236}">
                <a16:creationId xmlns:a16="http://schemas.microsoft.com/office/drawing/2014/main" id="{7C69F42C-D2C0-D84D-A158-07ED2740BE68}"/>
              </a:ext>
            </a:extLst>
          </p:cNvPr>
          <p:cNvSpPr txBox="1">
            <a:spLocks noChangeArrowheads="1"/>
          </p:cNvSpPr>
          <p:nvPr/>
        </p:nvSpPr>
        <p:spPr>
          <a:xfrm>
            <a:off x="681355" y="1418659"/>
            <a:ext cx="8229600" cy="4199786"/>
          </a:xfrm>
          <a:prstGeom prst="rect">
            <a:avLst/>
          </a:prstGeom>
          <a:solidFill>
            <a:srgbClr val="FFFFFF"/>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latinLnBrk="1">
              <a:lnSpc>
                <a:spcPct val="150000"/>
              </a:lnSpc>
              <a:spcBef>
                <a:spcPct val="30000"/>
              </a:spcBef>
              <a:buFontTx/>
              <a:buNone/>
            </a:pPr>
            <a:r>
              <a:rPr lang="zh-CN" altLang="en-US" b="1" dirty="0">
                <a:latin typeface="楷体_GB2312" pitchFamily="49" charset="-122"/>
              </a:rPr>
              <a:t>一、压缩算法</a:t>
            </a:r>
          </a:p>
          <a:p>
            <a:pPr marL="0" indent="0" latinLnBrk="1">
              <a:lnSpc>
                <a:spcPct val="150000"/>
              </a:lnSpc>
              <a:spcBef>
                <a:spcPct val="30000"/>
              </a:spcBef>
              <a:buFontTx/>
              <a:buNone/>
            </a:pPr>
            <a:r>
              <a:rPr lang="zh-CN" altLang="en-US" b="1" dirty="0">
                <a:latin typeface="楷体_GB2312" pitchFamily="49" charset="-122"/>
              </a:rPr>
              <a:t>二、加密算法</a:t>
            </a:r>
          </a:p>
          <a:p>
            <a:pPr marL="0" indent="0" latinLnBrk="1">
              <a:lnSpc>
                <a:spcPct val="150000"/>
              </a:lnSpc>
              <a:spcBef>
                <a:spcPct val="30000"/>
              </a:spcBef>
              <a:buFontTx/>
              <a:buNone/>
            </a:pPr>
            <a:r>
              <a:rPr lang="zh-CN" altLang="en-US" b="1" dirty="0">
                <a:latin typeface="楷体_GB2312" pitchFamily="49" charset="-122"/>
              </a:rPr>
              <a:t>三、</a:t>
            </a:r>
            <a:r>
              <a:rPr lang="zh-CN" altLang="en-US" b="1" u="sng" dirty="0">
                <a:latin typeface="楷体_GB2312" pitchFamily="49" charset="-122"/>
              </a:rPr>
              <a:t>人工智能算法</a:t>
            </a:r>
          </a:p>
          <a:p>
            <a:pPr marL="0" indent="0" latinLnBrk="1">
              <a:lnSpc>
                <a:spcPct val="150000"/>
              </a:lnSpc>
              <a:spcBef>
                <a:spcPct val="30000"/>
              </a:spcBef>
              <a:buFontTx/>
              <a:buNone/>
            </a:pPr>
            <a:r>
              <a:rPr lang="zh-CN" altLang="en-US" b="1" dirty="0">
                <a:latin typeface="楷体_GB2312" pitchFamily="49" charset="-122"/>
              </a:rPr>
              <a:t>四、并行算法</a:t>
            </a:r>
          </a:p>
          <a:p>
            <a:pPr marL="0" indent="0" latinLnBrk="1">
              <a:lnSpc>
                <a:spcPct val="150000"/>
              </a:lnSpc>
              <a:spcBef>
                <a:spcPct val="30000"/>
              </a:spcBef>
              <a:buFontTx/>
              <a:buNone/>
            </a:pPr>
            <a:r>
              <a:rPr lang="zh-CN" altLang="en-US" b="1" dirty="0">
                <a:latin typeface="楷体_GB2312" pitchFamily="49" charset="-122"/>
              </a:rPr>
              <a:t>五、其他实用算法</a:t>
            </a:r>
          </a:p>
        </p:txBody>
      </p:sp>
    </p:spTree>
    <p:extLst>
      <p:ext uri="{BB962C8B-B14F-4D97-AF65-F5344CB8AC3E}">
        <p14:creationId xmlns:p14="http://schemas.microsoft.com/office/powerpoint/2010/main" val="3148926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241622" y="321637"/>
            <a:ext cx="2086680"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dirty="0">
                <a:solidFill>
                  <a:srgbClr val="005D96"/>
                </a:solidFill>
                <a:cs typeface="+mn-ea"/>
              </a:rPr>
              <a:t>压缩算法</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3"/>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sp>
        <p:nvSpPr>
          <p:cNvPr id="12" name="文本框 11">
            <a:extLst>
              <a:ext uri="{FF2B5EF4-FFF2-40B4-BE49-F238E27FC236}">
                <a16:creationId xmlns:a16="http://schemas.microsoft.com/office/drawing/2014/main" id="{0951C8C9-9017-7848-81B8-F68ABE5AFBF1}"/>
              </a:ext>
            </a:extLst>
          </p:cNvPr>
          <p:cNvSpPr txBox="1"/>
          <p:nvPr/>
        </p:nvSpPr>
        <p:spPr>
          <a:xfrm>
            <a:off x="761999" y="1366032"/>
            <a:ext cx="10511051" cy="1231684"/>
          </a:xfrm>
          <a:prstGeom prst="rect">
            <a:avLst/>
          </a:prstGeom>
          <a:noFill/>
        </p:spPr>
        <p:txBody>
          <a:bodyPr wrap="square">
            <a:spAutoFit/>
          </a:bodyPr>
          <a:lstStyle/>
          <a:p>
            <a:pPr marL="457200" indent="-457200" algn="just" latinLnBrk="1">
              <a:lnSpc>
                <a:spcPct val="150000"/>
              </a:lnSpc>
              <a:spcBef>
                <a:spcPct val="40000"/>
              </a:spcBef>
              <a:buFont typeface="Wingdings" pitchFamily="2" charset="2"/>
              <a:buChar char="l"/>
            </a:pPr>
            <a:r>
              <a:rPr lang="zh-CN" altLang="en-US" sz="2600" b="1" dirty="0"/>
              <a:t>数据压缩就是采用特殊的编码方式来保存数据，使数据占用的存储空间比较少</a:t>
            </a:r>
          </a:p>
        </p:txBody>
      </p:sp>
      <p:sp>
        <p:nvSpPr>
          <p:cNvPr id="13" name="文本框 12">
            <a:extLst>
              <a:ext uri="{FF2B5EF4-FFF2-40B4-BE49-F238E27FC236}">
                <a16:creationId xmlns:a16="http://schemas.microsoft.com/office/drawing/2014/main" id="{AB912F53-5D9D-A345-B557-34E3608A7681}"/>
              </a:ext>
            </a:extLst>
          </p:cNvPr>
          <p:cNvSpPr txBox="1"/>
          <p:nvPr/>
        </p:nvSpPr>
        <p:spPr>
          <a:xfrm>
            <a:off x="762000" y="2794389"/>
            <a:ext cx="10511050" cy="2250103"/>
          </a:xfrm>
          <a:prstGeom prst="rect">
            <a:avLst/>
          </a:prstGeom>
          <a:noFill/>
        </p:spPr>
        <p:txBody>
          <a:bodyPr wrap="square">
            <a:spAutoFit/>
          </a:bodyPr>
          <a:lstStyle/>
          <a:p>
            <a:pPr marL="0" indent="0" algn="just" latinLnBrk="1">
              <a:lnSpc>
                <a:spcPct val="150000"/>
              </a:lnSpc>
              <a:spcBef>
                <a:spcPct val="55000"/>
              </a:spcBef>
              <a:buFontTx/>
              <a:buNone/>
            </a:pPr>
            <a:r>
              <a:rPr lang="zh-CN" altLang="en-US" sz="2400" b="1" dirty="0">
                <a:latin typeface="楷体_GB2312" pitchFamily="49" charset="-122"/>
              </a:rPr>
              <a:t>比如一个图片文件当保存为不同的格式时，其数据量（文件大小）的差别非常大，使用</a:t>
            </a:r>
            <a:r>
              <a:rPr lang="en-US" altLang="zh-CN" sz="2400" b="1" u="sng" dirty="0">
                <a:latin typeface="楷体_GB2312" pitchFamily="49" charset="-122"/>
              </a:rPr>
              <a:t>BMP</a:t>
            </a:r>
            <a:r>
              <a:rPr lang="zh-CN" altLang="en-US" sz="2400" b="1" dirty="0">
                <a:latin typeface="楷体_GB2312" pitchFamily="49" charset="-122"/>
              </a:rPr>
              <a:t>和</a:t>
            </a:r>
            <a:r>
              <a:rPr lang="en-US" altLang="zh-CN" sz="2400" b="1" u="sng" dirty="0">
                <a:latin typeface="楷体_GB2312" pitchFamily="49" charset="-122"/>
              </a:rPr>
              <a:t>JPEG</a:t>
            </a:r>
            <a:r>
              <a:rPr lang="zh-CN" altLang="en-US" sz="2400" b="1" dirty="0">
                <a:latin typeface="楷体_GB2312" pitchFamily="49" charset="-122"/>
              </a:rPr>
              <a:t>格式生成的文件有时会相差十几倍。而所谓的</a:t>
            </a:r>
            <a:r>
              <a:rPr lang="en-US" altLang="zh-CN" sz="2400" b="1" dirty="0">
                <a:latin typeface="楷体_GB2312" pitchFamily="49" charset="-122"/>
              </a:rPr>
              <a:t>JPEG</a:t>
            </a:r>
            <a:r>
              <a:rPr lang="zh-CN" altLang="en-US" sz="2400" b="1" dirty="0">
                <a:latin typeface="楷体_GB2312" pitchFamily="49" charset="-122"/>
              </a:rPr>
              <a:t>格式图片就是在微小的损失图片质量的情况下对图片文件中的相同或相似数据进行大量压缩，以使之生成的文件更小。</a:t>
            </a:r>
          </a:p>
        </p:txBody>
      </p:sp>
      <p:sp>
        <p:nvSpPr>
          <p:cNvPr id="15" name="文本框 14">
            <a:extLst>
              <a:ext uri="{FF2B5EF4-FFF2-40B4-BE49-F238E27FC236}">
                <a16:creationId xmlns:a16="http://schemas.microsoft.com/office/drawing/2014/main" id="{9B3A2DFC-C92F-AE47-BAE5-9C7B71CF0335}"/>
              </a:ext>
            </a:extLst>
          </p:cNvPr>
          <p:cNvSpPr txBox="1"/>
          <p:nvPr/>
        </p:nvSpPr>
        <p:spPr>
          <a:xfrm>
            <a:off x="762000" y="5349871"/>
            <a:ext cx="10607842" cy="492443"/>
          </a:xfrm>
          <a:prstGeom prst="rect">
            <a:avLst/>
          </a:prstGeom>
          <a:noFill/>
        </p:spPr>
        <p:txBody>
          <a:bodyPr wrap="square">
            <a:spAutoFit/>
          </a:bodyPr>
          <a:lstStyle/>
          <a:p>
            <a:pPr marL="457200" indent="-457200" algn="just" latinLnBrk="1">
              <a:buFont typeface="Wingdings" pitchFamily="2" charset="2"/>
              <a:buChar char="l"/>
            </a:pPr>
            <a:r>
              <a:rPr lang="zh-CN" altLang="en-US" sz="2600" b="1" dirty="0">
                <a:latin typeface="楷体_GB2312" pitchFamily="49" charset="-122"/>
              </a:rPr>
              <a:t>常见的通用压缩格式：</a:t>
            </a:r>
            <a:r>
              <a:rPr lang="en-US" altLang="zh-CN" sz="2600" b="1" dirty="0">
                <a:latin typeface="楷体_GB2312" pitchFamily="49" charset="-122"/>
              </a:rPr>
              <a:t>ZIP</a:t>
            </a:r>
            <a:r>
              <a:rPr lang="zh-CN" altLang="en-US" sz="2600" b="1" dirty="0">
                <a:latin typeface="楷体_GB2312" pitchFamily="49" charset="-122"/>
              </a:rPr>
              <a:t>、</a:t>
            </a:r>
            <a:r>
              <a:rPr lang="en-US" altLang="zh-CN" sz="2600" b="1" dirty="0">
                <a:latin typeface="楷体_GB2312" pitchFamily="49" charset="-122"/>
              </a:rPr>
              <a:t>CAB</a:t>
            </a:r>
            <a:r>
              <a:rPr lang="zh-CN" altLang="en-US" sz="2600" b="1" dirty="0">
                <a:latin typeface="楷体_GB2312" pitchFamily="49" charset="-122"/>
              </a:rPr>
              <a:t>、</a:t>
            </a:r>
            <a:r>
              <a:rPr lang="en-US" altLang="zh-CN" sz="2600" b="1" dirty="0">
                <a:latin typeface="楷体_GB2312" pitchFamily="49" charset="-122"/>
              </a:rPr>
              <a:t>ARJ</a:t>
            </a:r>
            <a:r>
              <a:rPr lang="zh-CN" altLang="en-US" sz="2600" b="1" dirty="0">
                <a:latin typeface="楷体_GB2312" pitchFamily="49" charset="-122"/>
              </a:rPr>
              <a:t>、</a:t>
            </a:r>
            <a:r>
              <a:rPr lang="en-US" altLang="zh-CN" sz="2600" b="1" dirty="0">
                <a:latin typeface="楷体_GB2312" pitchFamily="49" charset="-122"/>
              </a:rPr>
              <a:t>RAR</a:t>
            </a:r>
            <a:r>
              <a:rPr lang="zh-CN" altLang="en-US" sz="2600" b="1" dirty="0">
                <a:latin typeface="楷体_GB2312" pitchFamily="49" charset="-122"/>
              </a:rPr>
              <a:t>　</a:t>
            </a:r>
            <a:endParaRPr lang="zh-CN" altLang="en-US" dirty="0"/>
          </a:p>
        </p:txBody>
      </p:sp>
    </p:spTree>
    <p:extLst>
      <p:ext uri="{BB962C8B-B14F-4D97-AF65-F5344CB8AC3E}">
        <p14:creationId xmlns:p14="http://schemas.microsoft.com/office/powerpoint/2010/main" val="393539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337875" y="364272"/>
            <a:ext cx="4475096"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2800" dirty="0">
                <a:solidFill>
                  <a:srgbClr val="005D96"/>
                </a:solidFill>
                <a:cs typeface="+mn-ea"/>
              </a:rPr>
              <a:t>加密算法</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sp>
        <p:nvSpPr>
          <p:cNvPr id="10" name="内容占位符 125954">
            <a:extLst>
              <a:ext uri="{FF2B5EF4-FFF2-40B4-BE49-F238E27FC236}">
                <a16:creationId xmlns:a16="http://schemas.microsoft.com/office/drawing/2014/main" id="{55771AB1-61F3-EA4B-A806-22802244421C}"/>
              </a:ext>
            </a:extLst>
          </p:cNvPr>
          <p:cNvSpPr txBox="1">
            <a:spLocks noChangeArrowheads="1"/>
          </p:cNvSpPr>
          <p:nvPr/>
        </p:nvSpPr>
        <p:spPr>
          <a:xfrm>
            <a:off x="762000" y="1412081"/>
            <a:ext cx="10620434" cy="4385345"/>
          </a:xfrm>
          <a:prstGeom prst="rect">
            <a:avLst/>
          </a:prstGeom>
          <a:solidFill>
            <a:srgbClr val="FFFFFF"/>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latinLnBrk="1">
              <a:lnSpc>
                <a:spcPct val="150000"/>
              </a:lnSpc>
              <a:buFontTx/>
              <a:buNone/>
            </a:pPr>
            <a:r>
              <a:rPr lang="zh-CN" altLang="en-US" b="1" dirty="0">
                <a:latin typeface="黑体" panose="02010609060101010101" pitchFamily="49" charset="-122"/>
              </a:rPr>
              <a:t>数据加密概述</a:t>
            </a:r>
          </a:p>
          <a:p>
            <a:pPr algn="just" latinLnBrk="1">
              <a:lnSpc>
                <a:spcPct val="150000"/>
              </a:lnSpc>
              <a:buFont typeface="Wingdings" pitchFamily="2" charset="2"/>
              <a:buChar char="l"/>
            </a:pPr>
            <a:r>
              <a:rPr lang="zh-CN" altLang="en-US" sz="2400" b="1" dirty="0">
                <a:latin typeface="楷体_GB2312" pitchFamily="49" charset="-122"/>
              </a:rPr>
              <a:t> 密钥：</a:t>
            </a:r>
            <a:r>
              <a:rPr lang="zh-CN" altLang="en-US" sz="2400" b="1" dirty="0"/>
              <a:t>是一种参数（它是在明文转换为密文或将密文转换为明文的算法中输入的数据）</a:t>
            </a:r>
          </a:p>
          <a:p>
            <a:pPr algn="just" latinLnBrk="1">
              <a:lnSpc>
                <a:spcPct val="150000"/>
              </a:lnSpc>
              <a:buFont typeface="Wingdings" pitchFamily="2" charset="2"/>
              <a:buChar char="l"/>
            </a:pPr>
            <a:r>
              <a:rPr lang="zh-CN" altLang="en-US" sz="2400" b="1" u="sng" dirty="0"/>
              <a:t> 加密算法</a:t>
            </a:r>
            <a:r>
              <a:rPr lang="zh-CN" altLang="en-US" sz="2400" b="1" dirty="0"/>
              <a:t>是明文转换成密文的变换函数；</a:t>
            </a:r>
          </a:p>
          <a:p>
            <a:pPr algn="just" latinLnBrk="1">
              <a:lnSpc>
                <a:spcPct val="150000"/>
              </a:lnSpc>
              <a:buFont typeface="Wingdings" pitchFamily="2" charset="2"/>
              <a:buChar char="l"/>
            </a:pPr>
            <a:r>
              <a:rPr lang="zh-CN" altLang="en-US" sz="2400" b="1" dirty="0"/>
              <a:t> 同样的密钥用不同的加密算法，得到不同的密文；</a:t>
            </a:r>
          </a:p>
          <a:p>
            <a:pPr algn="just" latinLnBrk="1">
              <a:lnSpc>
                <a:spcPct val="150000"/>
              </a:lnSpc>
              <a:buFont typeface="Wingdings" pitchFamily="2" charset="2"/>
              <a:buChar char="l"/>
            </a:pPr>
            <a:r>
              <a:rPr lang="zh-CN" altLang="en-US" sz="2400" b="1" dirty="0"/>
              <a:t> 相同的加密算法，对应不同的密钥，也可以产生完全不同的密文。</a:t>
            </a:r>
            <a:r>
              <a:rPr lang="zh-CN" altLang="en-US" dirty="0"/>
              <a:t> </a:t>
            </a:r>
            <a:endParaRPr lang="zh-CN" altLang="en-US" b="1" dirty="0">
              <a:latin typeface="楷体_GB2312" pitchFamily="49" charset="-122"/>
            </a:endParaRPr>
          </a:p>
        </p:txBody>
      </p:sp>
    </p:spTree>
    <p:extLst>
      <p:ext uri="{BB962C8B-B14F-4D97-AF65-F5344CB8AC3E}">
        <p14:creationId xmlns:p14="http://schemas.microsoft.com/office/powerpoint/2010/main" val="2550867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337875" y="364272"/>
            <a:ext cx="4475096"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2800" dirty="0">
                <a:solidFill>
                  <a:srgbClr val="005D96"/>
                </a:solidFill>
                <a:cs typeface="+mn-ea"/>
              </a:rPr>
              <a:t>人工智能算法</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pic>
        <p:nvPicPr>
          <p:cNvPr id="3074" name="Picture 2">
            <a:extLst>
              <a:ext uri="{FF2B5EF4-FFF2-40B4-BE49-F238E27FC236}">
                <a16:creationId xmlns:a16="http://schemas.microsoft.com/office/drawing/2014/main" id="{4BE306AF-CB60-134E-AF58-46CA6DAC6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392" y="1137578"/>
            <a:ext cx="9519703" cy="4865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567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337875" y="364272"/>
            <a:ext cx="4475096"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2800" dirty="0">
                <a:solidFill>
                  <a:srgbClr val="005D96"/>
                </a:solidFill>
                <a:cs typeface="+mn-ea"/>
              </a:rPr>
              <a:t>人工智能算法</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sp>
        <p:nvSpPr>
          <p:cNvPr id="12" name="文本框 11">
            <a:extLst>
              <a:ext uri="{FF2B5EF4-FFF2-40B4-BE49-F238E27FC236}">
                <a16:creationId xmlns:a16="http://schemas.microsoft.com/office/drawing/2014/main" id="{5F29118B-A400-6F41-B67F-99D2B5FD8C21}"/>
              </a:ext>
            </a:extLst>
          </p:cNvPr>
          <p:cNvSpPr txBox="1"/>
          <p:nvPr/>
        </p:nvSpPr>
        <p:spPr>
          <a:xfrm>
            <a:off x="3762047" y="441216"/>
            <a:ext cx="4699565" cy="461665"/>
          </a:xfrm>
          <a:prstGeom prst="rect">
            <a:avLst/>
          </a:prstGeom>
          <a:noFill/>
        </p:spPr>
        <p:txBody>
          <a:bodyPr wrap="square">
            <a:spAutoFit/>
          </a:bodyPr>
          <a:lstStyle/>
          <a:p>
            <a:r>
              <a:rPr lang="zh-CN" altLang="en-US" sz="2400" b="1" dirty="0">
                <a:solidFill>
                  <a:schemeClr val="accent2"/>
                </a:solidFill>
                <a:highlight>
                  <a:srgbClr val="FFFF00"/>
                </a:highlight>
                <a:latin typeface="Times New Roman" panose="02020603050405020304" pitchFamily="18" charset="0"/>
                <a:cs typeface="Times New Roman" panose="02020603050405020304" pitchFamily="18" charset="0"/>
              </a:rPr>
              <a:t>（</a:t>
            </a:r>
            <a:r>
              <a:rPr lang="en" altLang="zh-CN" sz="2400" b="1" dirty="0">
                <a:solidFill>
                  <a:schemeClr val="accent2"/>
                </a:solidFill>
                <a:highlight>
                  <a:srgbClr val="FFFF00"/>
                </a:highlight>
                <a:latin typeface="Times New Roman" panose="02020603050405020304" pitchFamily="18" charset="0"/>
                <a:cs typeface="Times New Roman" panose="02020603050405020304" pitchFamily="18" charset="0"/>
              </a:rPr>
              <a:t>Artificial Intelligence</a:t>
            </a:r>
            <a:r>
              <a:rPr lang="zh-CN" altLang="en-US" sz="2400" b="1" dirty="0">
                <a:solidFill>
                  <a:schemeClr val="accent2"/>
                </a:solidFill>
                <a:highlight>
                  <a:srgbClr val="FFFF00"/>
                </a:highlight>
                <a:latin typeface="Times New Roman" panose="02020603050405020304" pitchFamily="18" charset="0"/>
                <a:cs typeface="Times New Roman" panose="02020603050405020304" pitchFamily="18" charset="0"/>
              </a:rPr>
              <a:t>）</a:t>
            </a:r>
          </a:p>
        </p:txBody>
      </p:sp>
      <p:pic>
        <p:nvPicPr>
          <p:cNvPr id="2050" name="Picture 2">
            <a:extLst>
              <a:ext uri="{FF2B5EF4-FFF2-40B4-BE49-F238E27FC236}">
                <a16:creationId xmlns:a16="http://schemas.microsoft.com/office/drawing/2014/main" id="{BDF564E6-0A62-2141-B79F-A81377697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355" y="1243240"/>
            <a:ext cx="8750450" cy="472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96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63" name="文本框 45"/>
          <p:cNvSpPr txBox="1"/>
          <p:nvPr userDrawn="1"/>
        </p:nvSpPr>
        <p:spPr>
          <a:xfrm>
            <a:off x="1337875" y="364272"/>
            <a:ext cx="4475096" cy="523220"/>
          </a:xfrm>
          <a:prstGeom prst="rect">
            <a:avLst/>
          </a:prstGeom>
          <a:noFill/>
        </p:spPr>
        <p:txBody>
          <a:bodyPr wrap="square" l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2800" dirty="0">
                <a:solidFill>
                  <a:srgbClr val="005D96"/>
                </a:solidFill>
                <a:cs typeface="+mn-ea"/>
              </a:rPr>
              <a:t>人工智能算法</a:t>
            </a:r>
            <a:endParaRPr lang="zh-CN" altLang="en-US" sz="2800" dirty="0">
              <a:solidFill>
                <a:srgbClr val="005D96"/>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pic>
        <p:nvPicPr>
          <p:cNvPr id="4" name="图片 3">
            <a:extLst>
              <a:ext uri="{FF2B5EF4-FFF2-40B4-BE49-F238E27FC236}">
                <a16:creationId xmlns:a16="http://schemas.microsoft.com/office/drawing/2014/main" id="{D52FA8D8-1713-B047-881E-20B74A451150}"/>
              </a:ext>
            </a:extLst>
          </p:cNvPr>
          <p:cNvPicPr>
            <a:picLocks noChangeAspect="1"/>
          </p:cNvPicPr>
          <p:nvPr/>
        </p:nvPicPr>
        <p:blipFill>
          <a:blip r:embed="rId3"/>
          <a:stretch>
            <a:fillRect/>
          </a:stretch>
        </p:blipFill>
        <p:spPr>
          <a:xfrm>
            <a:off x="681355" y="1185588"/>
            <a:ext cx="10405241" cy="4486824"/>
          </a:xfrm>
          <a:prstGeom prst="rect">
            <a:avLst/>
          </a:prstGeom>
        </p:spPr>
      </p:pic>
      <p:sp>
        <p:nvSpPr>
          <p:cNvPr id="5" name="椭圆 4">
            <a:extLst>
              <a:ext uri="{FF2B5EF4-FFF2-40B4-BE49-F238E27FC236}">
                <a16:creationId xmlns:a16="http://schemas.microsoft.com/office/drawing/2014/main" id="{6CEA086C-74DD-A343-869C-BEF22803450F}"/>
              </a:ext>
            </a:extLst>
          </p:cNvPr>
          <p:cNvSpPr/>
          <p:nvPr/>
        </p:nvSpPr>
        <p:spPr>
          <a:xfrm>
            <a:off x="546538" y="1101508"/>
            <a:ext cx="3028885" cy="52256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113838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pic>
        <p:nvPicPr>
          <p:cNvPr id="4" name="图片 3">
            <a:extLst>
              <a:ext uri="{FF2B5EF4-FFF2-40B4-BE49-F238E27FC236}">
                <a16:creationId xmlns:a16="http://schemas.microsoft.com/office/drawing/2014/main" id="{36CC7321-2D0D-3547-AB51-ED8014EB91AB}"/>
              </a:ext>
            </a:extLst>
          </p:cNvPr>
          <p:cNvPicPr>
            <a:picLocks noChangeAspect="1"/>
          </p:cNvPicPr>
          <p:nvPr/>
        </p:nvPicPr>
        <p:blipFill rotWithShape="1">
          <a:blip r:embed="rId3"/>
          <a:srcRect t="1206" b="41198"/>
          <a:stretch/>
        </p:blipFill>
        <p:spPr>
          <a:xfrm>
            <a:off x="762000" y="1198179"/>
            <a:ext cx="8802414" cy="4720521"/>
          </a:xfrm>
          <a:prstGeom prst="rect">
            <a:avLst/>
          </a:prstGeom>
        </p:spPr>
      </p:pic>
      <p:sp>
        <p:nvSpPr>
          <p:cNvPr id="6" name="文本框 5">
            <a:extLst>
              <a:ext uri="{FF2B5EF4-FFF2-40B4-BE49-F238E27FC236}">
                <a16:creationId xmlns:a16="http://schemas.microsoft.com/office/drawing/2014/main" id="{89C020AE-3A01-C743-8B81-C124A725BA53}"/>
              </a:ext>
            </a:extLst>
          </p:cNvPr>
          <p:cNvSpPr txBox="1"/>
          <p:nvPr/>
        </p:nvSpPr>
        <p:spPr>
          <a:xfrm>
            <a:off x="1324303" y="340289"/>
            <a:ext cx="3629520" cy="461665"/>
          </a:xfrm>
          <a:prstGeom prst="rect">
            <a:avLst/>
          </a:prstGeom>
          <a:noFill/>
        </p:spPr>
        <p:txBody>
          <a:bodyPr wrap="none" rtlCol="0">
            <a:spAutoFit/>
          </a:bodyPr>
          <a:lstStyle/>
          <a:p>
            <a:r>
              <a:rPr kumimoji="1" lang="en-US" altLang="zh-CN" sz="2400" b="1" dirty="0" err="1"/>
              <a:t>ChatGPT</a:t>
            </a:r>
            <a:r>
              <a:rPr kumimoji="1" lang="zh-CN" altLang="en-US" sz="2400" b="1" dirty="0"/>
              <a:t> 给我们的建议：</a:t>
            </a:r>
          </a:p>
        </p:txBody>
      </p:sp>
      <p:sp>
        <p:nvSpPr>
          <p:cNvPr id="12" name="圆角矩形 11">
            <a:extLst>
              <a:ext uri="{FF2B5EF4-FFF2-40B4-BE49-F238E27FC236}">
                <a16:creationId xmlns:a16="http://schemas.microsoft.com/office/drawing/2014/main" id="{57ED221A-A5F2-5D4B-9930-67B317E086C0}"/>
              </a:ext>
            </a:extLst>
          </p:cNvPr>
          <p:cNvSpPr/>
          <p:nvPr/>
        </p:nvSpPr>
        <p:spPr>
          <a:xfrm>
            <a:off x="1406769" y="3552092"/>
            <a:ext cx="7303477" cy="750277"/>
          </a:xfrm>
          <a:prstGeom prst="roundRect">
            <a:avLst/>
          </a:prstGeom>
          <a:noFill/>
          <a:ln w="190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2791605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82590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矩形 61"/>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3" name="图片 2" descr="青岛理工大学校徽"/>
          <p:cNvPicPr>
            <a:picLocks noChangeAspect="1"/>
          </p:cNvPicPr>
          <p:nvPr userDrawn="1"/>
        </p:nvPicPr>
        <p:blipFill>
          <a:blip r:embed="rId2"/>
          <a:stretch>
            <a:fillRect/>
          </a:stretch>
        </p:blipFill>
        <p:spPr>
          <a:xfrm>
            <a:off x="10973435" y="221615"/>
            <a:ext cx="723265" cy="723265"/>
          </a:xfrm>
          <a:prstGeom prst="rect">
            <a:avLst/>
          </a:prstGeom>
        </p:spPr>
      </p:pic>
      <p:sp>
        <p:nvSpPr>
          <p:cNvPr id="11" name="文本框 10"/>
          <p:cNvSpPr txBox="1"/>
          <p:nvPr/>
        </p:nvSpPr>
        <p:spPr>
          <a:xfrm>
            <a:off x="4313555" y="7432040"/>
            <a:ext cx="309880" cy="368300"/>
          </a:xfrm>
          <a:prstGeom prst="rect">
            <a:avLst/>
          </a:prstGeom>
          <a:noFill/>
        </p:spPr>
        <p:txBody>
          <a:bodyPr wrap="none" rtlCol="0">
            <a:spAutoFit/>
          </a:bodyPr>
          <a:lstStyle/>
          <a:p>
            <a:endParaRPr lang="zh-CN" altLang="en-US"/>
          </a:p>
        </p:txBody>
      </p:sp>
      <p:sp>
        <p:nvSpPr>
          <p:cNvPr id="2" name="日期占位符 1"/>
          <p:cNvSpPr>
            <a:spLocks noGrp="1"/>
          </p:cNvSpPr>
          <p:nvPr>
            <p:ph type="dt" sz="half" idx="2"/>
          </p:nvPr>
        </p:nvSpPr>
        <p:spPr>
          <a:xfrm>
            <a:off x="681355"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sz="1000" dirty="0"/>
              <a:t>百折不挠</a:t>
            </a:r>
            <a:r>
              <a:rPr lang="en-US" altLang="zh-CN" sz="1000" dirty="0"/>
              <a:t> </a:t>
            </a:r>
            <a:r>
              <a:rPr lang="zh-CN" altLang="en-US" sz="1000" dirty="0"/>
              <a:t>刚毅厚重</a:t>
            </a:r>
            <a:r>
              <a:rPr lang="en-US" altLang="zh-CN" sz="1000" dirty="0"/>
              <a:t> </a:t>
            </a:r>
            <a:r>
              <a:rPr lang="zh-CN" altLang="en-US" sz="1000" dirty="0"/>
              <a:t>勇承重载</a:t>
            </a:r>
          </a:p>
        </p:txBody>
      </p:sp>
      <p:pic>
        <p:nvPicPr>
          <p:cNvPr id="5" name="图片 4">
            <a:extLst>
              <a:ext uri="{FF2B5EF4-FFF2-40B4-BE49-F238E27FC236}">
                <a16:creationId xmlns:a16="http://schemas.microsoft.com/office/drawing/2014/main" id="{9DBE11E4-B75F-7E41-9BDB-AF0AB418D8A4}"/>
              </a:ext>
            </a:extLst>
          </p:cNvPr>
          <p:cNvPicPr>
            <a:picLocks noChangeAspect="1"/>
          </p:cNvPicPr>
          <p:nvPr/>
        </p:nvPicPr>
        <p:blipFill>
          <a:blip r:embed="rId3"/>
          <a:stretch>
            <a:fillRect/>
          </a:stretch>
        </p:blipFill>
        <p:spPr>
          <a:xfrm>
            <a:off x="761999" y="1362324"/>
            <a:ext cx="9454055" cy="4250771"/>
          </a:xfrm>
          <a:prstGeom prst="rect">
            <a:avLst/>
          </a:prstGeom>
        </p:spPr>
      </p:pic>
      <p:sp>
        <p:nvSpPr>
          <p:cNvPr id="12" name="文本框 11">
            <a:extLst>
              <a:ext uri="{FF2B5EF4-FFF2-40B4-BE49-F238E27FC236}">
                <a16:creationId xmlns:a16="http://schemas.microsoft.com/office/drawing/2014/main" id="{C0AB0D63-DA9F-5A43-98EA-94427C4B0C6B}"/>
              </a:ext>
            </a:extLst>
          </p:cNvPr>
          <p:cNvSpPr txBox="1"/>
          <p:nvPr/>
        </p:nvSpPr>
        <p:spPr>
          <a:xfrm>
            <a:off x="1324303" y="340289"/>
            <a:ext cx="3629520" cy="461665"/>
          </a:xfrm>
          <a:prstGeom prst="rect">
            <a:avLst/>
          </a:prstGeom>
          <a:noFill/>
        </p:spPr>
        <p:txBody>
          <a:bodyPr wrap="none" rtlCol="0">
            <a:spAutoFit/>
          </a:bodyPr>
          <a:lstStyle/>
          <a:p>
            <a:r>
              <a:rPr kumimoji="1" lang="en-US" altLang="zh-CN" sz="2400" b="1" dirty="0" err="1"/>
              <a:t>ChatGPT</a:t>
            </a:r>
            <a:r>
              <a:rPr kumimoji="1" lang="zh-CN" altLang="en-US" sz="2400" b="1" dirty="0"/>
              <a:t> 给我们的建议：</a:t>
            </a:r>
          </a:p>
        </p:txBody>
      </p:sp>
    </p:spTree>
    <p:extLst>
      <p:ext uri="{BB962C8B-B14F-4D97-AF65-F5344CB8AC3E}">
        <p14:creationId xmlns:p14="http://schemas.microsoft.com/office/powerpoint/2010/main" val="38543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483860" y="981075"/>
            <a:ext cx="1360805" cy="1334770"/>
          </a:xfrm>
          <a:prstGeom prst="ellipse">
            <a:avLst/>
          </a:prstGeom>
          <a:gradFill>
            <a:gsLst>
              <a:gs pos="0">
                <a:srgbClr val="005D96"/>
              </a:gs>
              <a:gs pos="100000">
                <a:srgbClr val="06253A"/>
              </a:gs>
            </a:gsLst>
            <a:lin ang="13500000" scaled="1"/>
          </a:gradFill>
          <a:ln>
            <a:solidFill>
              <a:srgbClr val="005D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Times New Roman Regular" panose="02020603050405020304" charset="0"/>
                <a:ea typeface="+mj-ea"/>
                <a:cs typeface="Times New Roman Regular" panose="02020603050405020304" charset="0"/>
              </a:rPr>
              <a:t>02</a:t>
            </a:r>
          </a:p>
        </p:txBody>
      </p:sp>
      <p:sp>
        <p:nvSpPr>
          <p:cNvPr id="7" name="文本框 6"/>
          <p:cNvSpPr txBox="1"/>
          <p:nvPr/>
        </p:nvSpPr>
        <p:spPr>
          <a:xfrm>
            <a:off x="2763383" y="2794468"/>
            <a:ext cx="6664005" cy="830997"/>
          </a:xfrm>
          <a:prstGeom prst="rect">
            <a:avLst/>
          </a:prstGeom>
          <a:noFill/>
        </p:spPr>
        <p:txBody>
          <a:bodyPr wrap="none" rtlCol="0">
            <a:spAutoFit/>
          </a:bodyPr>
          <a:lstStyle/>
          <a:p>
            <a:pPr algn="ctr"/>
            <a:r>
              <a:rPr lang="zh-CN" altLang="en-US" sz="4800" b="1" spc="600" dirty="0">
                <a:solidFill>
                  <a:schemeClr val="tx2">
                    <a:lumMod val="50000"/>
                  </a:schemeClr>
                </a:solidFill>
              </a:rPr>
              <a:t>第二章 算法分析基础</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任意多边形: 形状 259"/>
          <p:cNvSpPr/>
          <p:nvPr/>
        </p:nvSpPr>
        <p:spPr>
          <a:xfrm rot="16200000">
            <a:off x="-2221865" y="657860"/>
            <a:ext cx="6991985" cy="5542280"/>
          </a:xfrm>
          <a:custGeom>
            <a:avLst/>
            <a:gdLst>
              <a:gd name="connsiteX0" fmla="*/ 0 w 12192000"/>
              <a:gd name="connsiteY0" fmla="*/ 0 h 4365952"/>
              <a:gd name="connsiteX1" fmla="*/ 12192000 w 12192000"/>
              <a:gd name="connsiteY1" fmla="*/ 0 h 4365952"/>
              <a:gd name="connsiteX2" fmla="*/ 12192000 w 12192000"/>
              <a:gd name="connsiteY2" fmla="*/ 4365951 h 4365952"/>
              <a:gd name="connsiteX3" fmla="*/ 12095344 w 12192000"/>
              <a:gd name="connsiteY3" fmla="*/ 4326916 h 4365952"/>
              <a:gd name="connsiteX4" fmla="*/ 6096000 w 12192000"/>
              <a:gd name="connsiteY4" fmla="*/ 3429001 h 4365952"/>
              <a:gd name="connsiteX5" fmla="*/ 96657 w 12192000"/>
              <a:gd name="connsiteY5" fmla="*/ 4326916 h 4365952"/>
              <a:gd name="connsiteX6" fmla="*/ 0 w 12192000"/>
              <a:gd name="connsiteY6" fmla="*/ 4365952 h 43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365952">
                <a:moveTo>
                  <a:pt x="0" y="0"/>
                </a:moveTo>
                <a:lnTo>
                  <a:pt x="12192000" y="0"/>
                </a:lnTo>
                <a:lnTo>
                  <a:pt x="12192000" y="4365951"/>
                </a:lnTo>
                <a:lnTo>
                  <a:pt x="12095344" y="4326916"/>
                </a:lnTo>
                <a:cubicBezTo>
                  <a:pt x="10669347" y="3778537"/>
                  <a:pt x="8511292" y="3429001"/>
                  <a:pt x="6096000" y="3429001"/>
                </a:cubicBezTo>
                <a:cubicBezTo>
                  <a:pt x="3680708" y="3429001"/>
                  <a:pt x="1522653" y="3778537"/>
                  <a:pt x="96657" y="4326916"/>
                </a:cubicBezTo>
                <a:lnTo>
                  <a:pt x="0" y="4365952"/>
                </a:lnTo>
                <a:close/>
              </a:path>
            </a:pathLst>
          </a:custGeom>
          <a:noFill/>
          <a:ln>
            <a:gradFill flip="none" rotWithShape="1">
              <a:gsLst>
                <a:gs pos="50000">
                  <a:schemeClr val="accent1">
                    <a:lumMod val="23000"/>
                    <a:alpha val="0"/>
                  </a:schemeClr>
                </a:gs>
                <a:gs pos="0">
                  <a:schemeClr val="accent1">
                    <a:lumMod val="75000"/>
                  </a:schemeClr>
                </a:gs>
                <a:gs pos="100000">
                  <a:srgbClr val="005D96">
                    <a:lumMod val="91000"/>
                  </a:srgbClr>
                </a:gs>
              </a:gsLst>
              <a:lin ang="5400000" scaled="1"/>
              <a:tileRect/>
            </a:gra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9" name="任意多边形: 形状 258"/>
          <p:cNvSpPr>
            <a:spLocks noChangeAspect="1"/>
          </p:cNvSpPr>
          <p:nvPr/>
        </p:nvSpPr>
        <p:spPr>
          <a:xfrm>
            <a:off x="-314960" y="0"/>
            <a:ext cx="4064000" cy="6858000"/>
          </a:xfrm>
          <a:custGeom>
            <a:avLst/>
            <a:gdLst>
              <a:gd name="connsiteX0" fmla="*/ 0 w 4064002"/>
              <a:gd name="connsiteY0" fmla="*/ 0 h 6857999"/>
              <a:gd name="connsiteX1" fmla="*/ 4063998 w 4064002"/>
              <a:gd name="connsiteY1" fmla="*/ 0 h 6857999"/>
              <a:gd name="connsiteX2" fmla="*/ 4027665 w 4064002"/>
              <a:gd name="connsiteY2" fmla="*/ 54365 h 6857999"/>
              <a:gd name="connsiteX3" fmla="*/ 3191850 w 4064002"/>
              <a:gd name="connsiteY3" fmla="*/ 3428997 h 6857999"/>
              <a:gd name="connsiteX4" fmla="*/ 4027665 w 4064002"/>
              <a:gd name="connsiteY4" fmla="*/ 6803629 h 6857999"/>
              <a:gd name="connsiteX5" fmla="*/ 4064002 w 4064002"/>
              <a:gd name="connsiteY5" fmla="*/ 6857999 h 6857999"/>
              <a:gd name="connsiteX6" fmla="*/ 0 w 4064002"/>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4002" h="6857999">
                <a:moveTo>
                  <a:pt x="0" y="0"/>
                </a:moveTo>
                <a:lnTo>
                  <a:pt x="4063998" y="0"/>
                </a:lnTo>
                <a:lnTo>
                  <a:pt x="4027665" y="54365"/>
                </a:lnTo>
                <a:cubicBezTo>
                  <a:pt x="3517212" y="856488"/>
                  <a:pt x="3191850" y="2070395"/>
                  <a:pt x="3191850" y="3428997"/>
                </a:cubicBezTo>
                <a:cubicBezTo>
                  <a:pt x="3191850" y="4787600"/>
                  <a:pt x="3517212" y="6001506"/>
                  <a:pt x="4027665" y="6803629"/>
                </a:cubicBezTo>
                <a:lnTo>
                  <a:pt x="4064002" y="6857999"/>
                </a:lnTo>
                <a:lnTo>
                  <a:pt x="0" y="6857999"/>
                </a:lnTo>
                <a:close/>
              </a:path>
            </a:pathLst>
          </a:custGeom>
          <a:blipFill dpi="0" rotWithShape="1">
            <a:blip r:embed="rId2">
              <a:extLst>
                <a:ext uri="{BEBA8EAE-BF5A-486C-A8C5-ECC9F3942E4B}">
                  <a14:imgProps xmlns:a14="http://schemas.microsoft.com/office/drawing/2010/main">
                    <a14:imgLayer r:embed="rId3">
                      <a14:imgEffect>
                        <a14:brightnessContrast bright="20000" contrast="-20000"/>
                      </a14:imgEffect>
                      <a14:imgEffect>
                        <a14:colorTemperature colorTemp="11200"/>
                      </a14:imgEffect>
                    </a14:imgLayer>
                  </a14:imgProps>
                </a:ext>
              </a:extLst>
            </a:blip>
            <a:srcRect/>
            <a:stretch>
              <a:fillRect l="7737" t="-18518" r="-186989"/>
            </a:stretch>
          </a:blipFill>
          <a:ln w="12700" cap="flat" cmpd="sng" algn="ctr">
            <a:noFill/>
            <a:prstDash val="solid"/>
            <a:miter lim="800000"/>
          </a:ln>
          <a:effectLst/>
          <a:extLst>
            <a:ext uri="{91240B29-F687-4F45-9708-019B960494DF}">
              <a14:hiddenLine xmlns:a14="http://schemas.microsoft.com/office/drawing/2010/main" w="12700">
                <a:solidFill>
                  <a:schemeClr val="dk1"/>
                </a:solidFill>
                <a:prstDash val="solid"/>
                <a:miter lim="800000"/>
                <a:headEnd/>
                <a:tailEnd/>
              </a14:hiddenLine>
            </a:ext>
          </a:extLst>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zh-CN" altLang="en-US"/>
          </a:p>
        </p:txBody>
      </p:sp>
      <p:sp>
        <p:nvSpPr>
          <p:cNvPr id="261" name="任意多边形: 形状 260"/>
          <p:cNvSpPr/>
          <p:nvPr/>
        </p:nvSpPr>
        <p:spPr>
          <a:xfrm rot="16200000">
            <a:off x="-1711960" y="1397635"/>
            <a:ext cx="6858000" cy="4064000"/>
          </a:xfrm>
          <a:custGeom>
            <a:avLst/>
            <a:gdLst>
              <a:gd name="connsiteX0" fmla="*/ 0 w 12192000"/>
              <a:gd name="connsiteY0" fmla="*/ 0 h 4365952"/>
              <a:gd name="connsiteX1" fmla="*/ 12192000 w 12192000"/>
              <a:gd name="connsiteY1" fmla="*/ 0 h 4365952"/>
              <a:gd name="connsiteX2" fmla="*/ 12192000 w 12192000"/>
              <a:gd name="connsiteY2" fmla="*/ 4365951 h 4365952"/>
              <a:gd name="connsiteX3" fmla="*/ 12095344 w 12192000"/>
              <a:gd name="connsiteY3" fmla="*/ 4326916 h 4365952"/>
              <a:gd name="connsiteX4" fmla="*/ 6096000 w 12192000"/>
              <a:gd name="connsiteY4" fmla="*/ 3429001 h 4365952"/>
              <a:gd name="connsiteX5" fmla="*/ 96657 w 12192000"/>
              <a:gd name="connsiteY5" fmla="*/ 4326916 h 4365952"/>
              <a:gd name="connsiteX6" fmla="*/ 0 w 12192000"/>
              <a:gd name="connsiteY6" fmla="*/ 4365952 h 43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365952">
                <a:moveTo>
                  <a:pt x="0" y="0"/>
                </a:moveTo>
                <a:lnTo>
                  <a:pt x="12192000" y="0"/>
                </a:lnTo>
                <a:lnTo>
                  <a:pt x="12192000" y="4365951"/>
                </a:lnTo>
                <a:lnTo>
                  <a:pt x="12095344" y="4326916"/>
                </a:lnTo>
                <a:cubicBezTo>
                  <a:pt x="10669347" y="3778537"/>
                  <a:pt x="8511292" y="3429001"/>
                  <a:pt x="6096000" y="3429001"/>
                </a:cubicBezTo>
                <a:cubicBezTo>
                  <a:pt x="3680708" y="3429001"/>
                  <a:pt x="1522653" y="3778537"/>
                  <a:pt x="96657" y="4326916"/>
                </a:cubicBezTo>
                <a:lnTo>
                  <a:pt x="0" y="4365952"/>
                </a:lnTo>
                <a:close/>
              </a:path>
            </a:pathLst>
          </a:custGeom>
          <a:solidFill>
            <a:srgbClr val="005D9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51" name="组合 150"/>
          <p:cNvGrpSpPr/>
          <p:nvPr/>
        </p:nvGrpSpPr>
        <p:grpSpPr>
          <a:xfrm>
            <a:off x="7813393" y="245976"/>
            <a:ext cx="3254473" cy="606020"/>
            <a:chOff x="6144693" y="269504"/>
            <a:chExt cx="3254473" cy="606020"/>
          </a:xfrm>
        </p:grpSpPr>
        <p:sp>
          <p:nvSpPr>
            <p:cNvPr id="152" name="文本占位符 5"/>
            <p:cNvSpPr txBox="1"/>
            <p:nvPr/>
          </p:nvSpPr>
          <p:spPr>
            <a:xfrm>
              <a:off x="6144693" y="269504"/>
              <a:ext cx="1435100" cy="570230"/>
            </a:xfrm>
            <a:prstGeom prst="rect">
              <a:avLst/>
            </a:prstGeom>
          </p:spPr>
          <p:txBody>
            <a:bodyPr lIns="0" tIns="45720" rIns="0" bIns="45720">
              <a:noAutofit/>
            </a:bodyPr>
            <a:lstStyle>
              <a:lvl1pPr marL="0" indent="0" algn="l" defTabSz="914400" rtl="0" eaLnBrk="1" latinLnBrk="0" hangingPunct="1">
                <a:lnSpc>
                  <a:spcPct val="100000"/>
                </a:lnSpc>
                <a:spcBef>
                  <a:spcPts val="0"/>
                </a:spcBef>
                <a:buFont typeface="Arial" panose="020B0604020202020204" pitchFamily="34" charset="0"/>
                <a:buNone/>
                <a:defRPr sz="2400" kern="1200">
                  <a:gradFill>
                    <a:gsLst>
                      <a:gs pos="0">
                        <a:schemeClr val="accent1">
                          <a:lumMod val="75000"/>
                          <a:alpha val="80000"/>
                        </a:schemeClr>
                      </a:gs>
                      <a:gs pos="100000">
                        <a:schemeClr val="accent1">
                          <a:lumMod val="50000"/>
                        </a:schemeClr>
                      </a:gs>
                    </a:gsLst>
                    <a:lin ang="5400000" scaled="0"/>
                  </a:gra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3600" dirty="0">
                  <a:solidFill>
                    <a:srgbClr val="005D96"/>
                  </a:solidFill>
                </a:rPr>
                <a:t>目录</a:t>
              </a:r>
            </a:p>
          </p:txBody>
        </p:sp>
        <p:sp>
          <p:nvSpPr>
            <p:cNvPr id="153" name="文本框 152"/>
            <p:cNvSpPr txBox="1"/>
            <p:nvPr/>
          </p:nvSpPr>
          <p:spPr>
            <a:xfrm>
              <a:off x="7519128" y="413859"/>
              <a:ext cx="1880038" cy="461665"/>
            </a:xfrm>
            <a:prstGeom prst="rect">
              <a:avLst/>
            </a:prstGeom>
            <a:noFill/>
          </p:spPr>
          <p:txBody>
            <a:bodyPr wrap="square">
              <a:spAutoFit/>
            </a:bodyPr>
            <a:lstStyle/>
            <a:p>
              <a:r>
                <a:rPr lang="en-US" altLang="zh-CN" sz="2400" dirty="0"/>
                <a:t>CONTENTS</a:t>
              </a:r>
              <a:endParaRPr lang="zh-CN" altLang="en-US" sz="2400" dirty="0"/>
            </a:p>
          </p:txBody>
        </p:sp>
        <p:sp>
          <p:nvSpPr>
            <p:cNvPr id="154" name="文本框 153"/>
            <p:cNvSpPr txBox="1"/>
            <p:nvPr/>
          </p:nvSpPr>
          <p:spPr>
            <a:xfrm>
              <a:off x="7369265" y="413859"/>
              <a:ext cx="210519" cy="461665"/>
            </a:xfrm>
            <a:prstGeom prst="rect">
              <a:avLst/>
            </a:prstGeom>
            <a:noFill/>
          </p:spPr>
          <p:txBody>
            <a:bodyPr wrap="square" rtlCol="0">
              <a:spAutoFit/>
            </a:bodyPr>
            <a:lstStyle/>
            <a:p>
              <a:r>
                <a:rPr lang="en-US" altLang="zh-CN" sz="2400" dirty="0"/>
                <a:t>/</a:t>
              </a:r>
              <a:endParaRPr lang="zh-CN" altLang="en-US" sz="2400" dirty="0"/>
            </a:p>
          </p:txBody>
        </p:sp>
      </p:grpSp>
      <p:pic>
        <p:nvPicPr>
          <p:cNvPr id="3" name="图片 2" descr="校徽（无底色）"/>
          <p:cNvPicPr>
            <a:picLocks noChangeAspect="1"/>
          </p:cNvPicPr>
          <p:nvPr/>
        </p:nvPicPr>
        <p:blipFill>
          <a:blip r:embed="rId4"/>
          <a:stretch>
            <a:fillRect/>
          </a:stretch>
        </p:blipFill>
        <p:spPr>
          <a:xfrm>
            <a:off x="753110" y="2653030"/>
            <a:ext cx="1553845" cy="1553845"/>
          </a:xfrm>
          <a:prstGeom prst="rect">
            <a:avLst/>
          </a:prstGeom>
        </p:spPr>
      </p:pic>
      <p:grpSp>
        <p:nvGrpSpPr>
          <p:cNvPr id="52" name="组合 66">
            <a:extLst>
              <a:ext uri="{FF2B5EF4-FFF2-40B4-BE49-F238E27FC236}">
                <a16:creationId xmlns:a16="http://schemas.microsoft.com/office/drawing/2014/main" id="{4B3092BC-6B99-9A42-AC51-BD65B6176DEA}"/>
              </a:ext>
            </a:extLst>
          </p:cNvPr>
          <p:cNvGrpSpPr/>
          <p:nvPr/>
        </p:nvGrpSpPr>
        <p:grpSpPr>
          <a:xfrm>
            <a:off x="4989597" y="1954100"/>
            <a:ext cx="3358800" cy="492484"/>
            <a:chOff x="5487488" y="1407158"/>
            <a:chExt cx="2108848" cy="316319"/>
          </a:xfrm>
        </p:grpSpPr>
        <p:sp>
          <p:nvSpPr>
            <p:cNvPr id="53" name="圆角矩形 52">
              <a:extLst>
                <a:ext uri="{FF2B5EF4-FFF2-40B4-BE49-F238E27FC236}">
                  <a16:creationId xmlns:a16="http://schemas.microsoft.com/office/drawing/2014/main" id="{33628B0F-5DFC-F64D-9341-2BE5F89D0C15}"/>
                </a:ext>
              </a:extLst>
            </p:cNvPr>
            <p:cNvSpPr/>
            <p:nvPr/>
          </p:nvSpPr>
          <p:spPr>
            <a:xfrm>
              <a:off x="5487488" y="1424449"/>
              <a:ext cx="2108848" cy="288198"/>
            </a:xfrm>
            <a:prstGeom prst="roundRect">
              <a:avLst/>
            </a:prstGeom>
            <a:solidFill>
              <a:srgbClr val="0070C0"/>
            </a:solid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lt"/>
                <a:ea typeface="Arial Unicode MS" panose="020B0604020202020204" pitchFamily="34" charset="-122"/>
                <a:cs typeface="Arial Unicode MS" panose="020B0604020202020204" pitchFamily="34" charset="-122"/>
              </a:endParaRPr>
            </a:p>
          </p:txBody>
        </p:sp>
        <p:sp>
          <p:nvSpPr>
            <p:cNvPr id="54" name="矩形 53">
              <a:extLst>
                <a:ext uri="{FF2B5EF4-FFF2-40B4-BE49-F238E27FC236}">
                  <a16:creationId xmlns:a16="http://schemas.microsoft.com/office/drawing/2014/main" id="{A2792682-4844-1045-8EE0-15F9E54F662B}"/>
                </a:ext>
              </a:extLst>
            </p:cNvPr>
            <p:cNvSpPr/>
            <p:nvPr/>
          </p:nvSpPr>
          <p:spPr>
            <a:xfrm>
              <a:off x="5577226" y="1407158"/>
              <a:ext cx="1881789" cy="316319"/>
            </a:xfrm>
            <a:prstGeom prst="rect">
              <a:avLst/>
            </a:prstGeom>
          </p:spPr>
          <p:txBody>
            <a:bodyPr wrap="square" lIns="121960" tIns="60980" rIns="121960" bIns="60980">
              <a:spAutoFit/>
            </a:bodyPr>
            <a:lstStyle/>
            <a:p>
              <a:pPr>
                <a:defRPr/>
              </a:pPr>
              <a:r>
                <a:rPr lang="zh-CN" altLang="en-US" sz="24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算法分析体系及计量</a:t>
              </a:r>
              <a:endParaRPr lang="zh-CN" altLang="zh-CN" sz="24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55" name="组合 69">
            <a:extLst>
              <a:ext uri="{FF2B5EF4-FFF2-40B4-BE49-F238E27FC236}">
                <a16:creationId xmlns:a16="http://schemas.microsoft.com/office/drawing/2014/main" id="{72E80373-0076-A346-B618-81FC7E675750}"/>
              </a:ext>
            </a:extLst>
          </p:cNvPr>
          <p:cNvGrpSpPr/>
          <p:nvPr/>
        </p:nvGrpSpPr>
        <p:grpSpPr>
          <a:xfrm>
            <a:off x="4989597" y="2723068"/>
            <a:ext cx="3358800" cy="492484"/>
            <a:chOff x="5474028" y="1934550"/>
            <a:chExt cx="2108848" cy="316319"/>
          </a:xfrm>
        </p:grpSpPr>
        <p:sp>
          <p:nvSpPr>
            <p:cNvPr id="56" name="圆角矩形 55">
              <a:extLst>
                <a:ext uri="{FF2B5EF4-FFF2-40B4-BE49-F238E27FC236}">
                  <a16:creationId xmlns:a16="http://schemas.microsoft.com/office/drawing/2014/main" id="{4A25F9BA-4E53-1446-8F09-9A13D60F5C8C}"/>
                </a:ext>
              </a:extLst>
            </p:cNvPr>
            <p:cNvSpPr/>
            <p:nvPr/>
          </p:nvSpPr>
          <p:spPr>
            <a:xfrm>
              <a:off x="5474028" y="1945401"/>
              <a:ext cx="2108848" cy="288197"/>
            </a:xfrm>
            <a:prstGeom prst="roundRect">
              <a:avLst/>
            </a:prstGeom>
            <a:solidFill>
              <a:srgbClr val="00B0F0"/>
            </a:solid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lt"/>
                <a:ea typeface="Arial Unicode MS" panose="020B0604020202020204" pitchFamily="34" charset="-122"/>
                <a:cs typeface="Arial Unicode MS" panose="020B0604020202020204" pitchFamily="34" charset="-122"/>
              </a:endParaRPr>
            </a:p>
          </p:txBody>
        </p:sp>
        <p:sp>
          <p:nvSpPr>
            <p:cNvPr id="57" name="矩形 56">
              <a:extLst>
                <a:ext uri="{FF2B5EF4-FFF2-40B4-BE49-F238E27FC236}">
                  <a16:creationId xmlns:a16="http://schemas.microsoft.com/office/drawing/2014/main" id="{B43E14B8-5C87-F94A-B8FC-D63695889DB3}"/>
                </a:ext>
              </a:extLst>
            </p:cNvPr>
            <p:cNvSpPr/>
            <p:nvPr/>
          </p:nvSpPr>
          <p:spPr>
            <a:xfrm>
              <a:off x="5569800" y="1934550"/>
              <a:ext cx="1881789" cy="316319"/>
            </a:xfrm>
            <a:prstGeom prst="rect">
              <a:avLst/>
            </a:prstGeom>
          </p:spPr>
          <p:txBody>
            <a:bodyPr wrap="square" lIns="121960" tIns="60980" rIns="121960" bIns="60980">
              <a:spAutoFit/>
            </a:bodyPr>
            <a:lstStyle/>
            <a:p>
              <a:pPr lvl="0"/>
              <a:r>
                <a:rPr lang="zh-CN" altLang="en-US" sz="2400" b="1" dirty="0">
                  <a:solidFill>
                    <a:prstClr val="white"/>
                  </a:solidFill>
                  <a:latin typeface="微软雅黑" pitchFamily="34" charset="-122"/>
                  <a:ea typeface="微软雅黑" pitchFamily="34" charset="-122"/>
                  <a:cs typeface="+mn-ea"/>
                  <a:sym typeface="+mn-lt"/>
                </a:rPr>
                <a:t>算法分析实例</a:t>
              </a:r>
            </a:p>
          </p:txBody>
        </p:sp>
      </p:grpSp>
      <p:grpSp>
        <p:nvGrpSpPr>
          <p:cNvPr id="58" name="组合 72">
            <a:extLst>
              <a:ext uri="{FF2B5EF4-FFF2-40B4-BE49-F238E27FC236}">
                <a16:creationId xmlns:a16="http://schemas.microsoft.com/office/drawing/2014/main" id="{66974B87-A0F6-904B-9CBD-B345D7FDBBDD}"/>
              </a:ext>
            </a:extLst>
          </p:cNvPr>
          <p:cNvGrpSpPr/>
          <p:nvPr/>
        </p:nvGrpSpPr>
        <p:grpSpPr>
          <a:xfrm>
            <a:off x="4989597" y="3414037"/>
            <a:ext cx="3358800" cy="492483"/>
            <a:chOff x="5487488" y="2497671"/>
            <a:chExt cx="2108848" cy="316319"/>
          </a:xfrm>
        </p:grpSpPr>
        <p:sp>
          <p:nvSpPr>
            <p:cNvPr id="59" name="圆角矩形 58">
              <a:extLst>
                <a:ext uri="{FF2B5EF4-FFF2-40B4-BE49-F238E27FC236}">
                  <a16:creationId xmlns:a16="http://schemas.microsoft.com/office/drawing/2014/main" id="{2841D47F-D5E2-E046-A9E1-67A7BB32E117}"/>
                </a:ext>
              </a:extLst>
            </p:cNvPr>
            <p:cNvSpPr/>
            <p:nvPr/>
          </p:nvSpPr>
          <p:spPr>
            <a:xfrm>
              <a:off x="5487488" y="2512581"/>
              <a:ext cx="2108848" cy="288198"/>
            </a:xfrm>
            <a:prstGeom prst="roundRect">
              <a:avLst/>
            </a:prstGeom>
            <a:solidFill>
              <a:srgbClr val="0070C0"/>
            </a:solid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lt"/>
                <a:ea typeface="Arial Unicode MS" panose="020B0604020202020204" pitchFamily="34" charset="-122"/>
                <a:cs typeface="Arial Unicode MS" panose="020B0604020202020204" pitchFamily="34" charset="-122"/>
              </a:endParaRPr>
            </a:p>
          </p:txBody>
        </p:sp>
        <p:sp>
          <p:nvSpPr>
            <p:cNvPr id="60" name="矩形 59">
              <a:extLst>
                <a:ext uri="{FF2B5EF4-FFF2-40B4-BE49-F238E27FC236}">
                  <a16:creationId xmlns:a16="http://schemas.microsoft.com/office/drawing/2014/main" id="{F1D9C05A-87A9-7B44-915F-94DB532C8A99}"/>
                </a:ext>
              </a:extLst>
            </p:cNvPr>
            <p:cNvSpPr/>
            <p:nvPr/>
          </p:nvSpPr>
          <p:spPr>
            <a:xfrm>
              <a:off x="5577226" y="2497671"/>
              <a:ext cx="1714137" cy="316319"/>
            </a:xfrm>
            <a:prstGeom prst="rect">
              <a:avLst/>
            </a:prstGeom>
          </p:spPr>
          <p:txBody>
            <a:bodyPr wrap="square" lIns="121960" tIns="60980" rIns="121960" bIns="60980">
              <a:spAutoFit/>
            </a:bodyPr>
            <a:lstStyle/>
            <a:p>
              <a:pPr lvl="0"/>
              <a:r>
                <a:rPr lang="zh-CN" altLang="en-US" sz="2400" b="1" dirty="0">
                  <a:solidFill>
                    <a:prstClr val="white"/>
                  </a:solidFill>
                  <a:latin typeface="微软雅黑" pitchFamily="34" charset="-122"/>
                  <a:ea typeface="微软雅黑" pitchFamily="34" charset="-122"/>
                  <a:cs typeface="+mn-ea"/>
                  <a:sym typeface="+mn-lt"/>
                </a:rPr>
                <a:t>提高算法质量</a:t>
              </a:r>
            </a:p>
          </p:txBody>
        </p:sp>
      </p:grpSp>
      <p:grpSp>
        <p:nvGrpSpPr>
          <p:cNvPr id="61" name="组合 75">
            <a:extLst>
              <a:ext uri="{FF2B5EF4-FFF2-40B4-BE49-F238E27FC236}">
                <a16:creationId xmlns:a16="http://schemas.microsoft.com/office/drawing/2014/main" id="{96E2CF7A-7F94-A746-B147-51582FA8E893}"/>
              </a:ext>
            </a:extLst>
          </p:cNvPr>
          <p:cNvGrpSpPr/>
          <p:nvPr/>
        </p:nvGrpSpPr>
        <p:grpSpPr>
          <a:xfrm>
            <a:off x="4989597" y="4171758"/>
            <a:ext cx="3358800" cy="492483"/>
            <a:chOff x="5487488" y="3028417"/>
            <a:chExt cx="2108848" cy="316318"/>
          </a:xfrm>
        </p:grpSpPr>
        <p:sp>
          <p:nvSpPr>
            <p:cNvPr id="62" name="圆角矩形 61">
              <a:extLst>
                <a:ext uri="{FF2B5EF4-FFF2-40B4-BE49-F238E27FC236}">
                  <a16:creationId xmlns:a16="http://schemas.microsoft.com/office/drawing/2014/main" id="{1546FDD0-7B34-8143-8321-06FBEA0E4A8A}"/>
                </a:ext>
              </a:extLst>
            </p:cNvPr>
            <p:cNvSpPr/>
            <p:nvPr/>
          </p:nvSpPr>
          <p:spPr>
            <a:xfrm>
              <a:off x="5487488" y="3049353"/>
              <a:ext cx="2108848" cy="288198"/>
            </a:xfrm>
            <a:prstGeom prst="roundRect">
              <a:avLst/>
            </a:prstGeom>
            <a:solidFill>
              <a:srgbClr val="00B0F0"/>
            </a:solid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lt"/>
                <a:ea typeface="Arial Unicode MS" panose="020B0604020202020204" pitchFamily="34" charset="-122"/>
                <a:cs typeface="Arial Unicode MS" panose="020B0604020202020204" pitchFamily="34" charset="-122"/>
              </a:endParaRPr>
            </a:p>
          </p:txBody>
        </p:sp>
        <p:sp>
          <p:nvSpPr>
            <p:cNvPr id="63" name="矩形 62">
              <a:extLst>
                <a:ext uri="{FF2B5EF4-FFF2-40B4-BE49-F238E27FC236}">
                  <a16:creationId xmlns:a16="http://schemas.microsoft.com/office/drawing/2014/main" id="{FA59C496-8ED0-4843-A1B4-0C1C4C857F0F}"/>
                </a:ext>
              </a:extLst>
            </p:cNvPr>
            <p:cNvSpPr/>
            <p:nvPr/>
          </p:nvSpPr>
          <p:spPr>
            <a:xfrm>
              <a:off x="5577226" y="3028417"/>
              <a:ext cx="1714137" cy="316318"/>
            </a:xfrm>
            <a:prstGeom prst="rect">
              <a:avLst/>
            </a:prstGeom>
          </p:spPr>
          <p:txBody>
            <a:bodyPr wrap="square" lIns="121960" tIns="60980" rIns="121960" bIns="60980">
              <a:spAutoFit/>
            </a:bodyPr>
            <a:lstStyle/>
            <a:p>
              <a:pPr lvl="0"/>
              <a:r>
                <a:rPr lang="zh-CN" altLang="en-US" sz="2400" b="1" dirty="0">
                  <a:solidFill>
                    <a:prstClr val="white"/>
                  </a:solidFill>
                  <a:latin typeface="微软雅黑" pitchFamily="34" charset="-122"/>
                  <a:ea typeface="微软雅黑" pitchFamily="34" charset="-122"/>
                  <a:cs typeface="+mn-ea"/>
                  <a:sym typeface="+mn-lt"/>
                </a:rPr>
                <a:t>问题复杂度及分类</a:t>
              </a:r>
            </a:p>
          </p:txBody>
        </p:sp>
      </p:grpSp>
      <p:grpSp>
        <p:nvGrpSpPr>
          <p:cNvPr id="97" name="组合 3">
            <a:extLst>
              <a:ext uri="{FF2B5EF4-FFF2-40B4-BE49-F238E27FC236}">
                <a16:creationId xmlns:a16="http://schemas.microsoft.com/office/drawing/2014/main" id="{2FD88074-EA3C-624F-AA7F-8AC28A9C974D}"/>
              </a:ext>
            </a:extLst>
          </p:cNvPr>
          <p:cNvGrpSpPr/>
          <p:nvPr/>
        </p:nvGrpSpPr>
        <p:grpSpPr>
          <a:xfrm>
            <a:off x="4262397" y="1948556"/>
            <a:ext cx="642942" cy="474142"/>
            <a:chOff x="4836465" y="1285772"/>
            <a:chExt cx="495649" cy="355606"/>
          </a:xfrm>
          <a:gradFill flip="none" rotWithShape="1">
            <a:gsLst>
              <a:gs pos="0">
                <a:srgbClr val="00B0F0"/>
              </a:gs>
              <a:gs pos="100000">
                <a:srgbClr val="0070C0"/>
              </a:gs>
            </a:gsLst>
            <a:lin ang="18900000" scaled="1"/>
            <a:tileRect/>
          </a:gradFill>
        </p:grpSpPr>
        <p:sp>
          <p:nvSpPr>
            <p:cNvPr id="98" name="圆角矩形 97">
              <a:extLst>
                <a:ext uri="{FF2B5EF4-FFF2-40B4-BE49-F238E27FC236}">
                  <a16:creationId xmlns:a16="http://schemas.microsoft.com/office/drawing/2014/main" id="{B81908CD-0679-0944-B383-611EF49A7E1B}"/>
                </a:ext>
              </a:extLst>
            </p:cNvPr>
            <p:cNvSpPr/>
            <p:nvPr/>
          </p:nvSpPr>
          <p:spPr>
            <a:xfrm>
              <a:off x="4860032" y="1304852"/>
              <a:ext cx="402984" cy="336526"/>
            </a:xfrm>
            <a:prstGeom prst="roundRect">
              <a:avLst/>
            </a:prstGeom>
            <a:grp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ea"/>
                <a:ea typeface="+mj-ea"/>
                <a:cs typeface="Arial Unicode MS" panose="020B0604020202020204" pitchFamily="34" charset="-122"/>
              </a:endParaRPr>
            </a:p>
          </p:txBody>
        </p:sp>
        <p:sp>
          <p:nvSpPr>
            <p:cNvPr id="99" name="TextBox 2">
              <a:extLst>
                <a:ext uri="{FF2B5EF4-FFF2-40B4-BE49-F238E27FC236}">
                  <a16:creationId xmlns:a16="http://schemas.microsoft.com/office/drawing/2014/main" id="{AB274877-A61F-4742-927C-587079BE9E9F}"/>
                </a:ext>
              </a:extLst>
            </p:cNvPr>
            <p:cNvSpPr txBox="1"/>
            <p:nvPr/>
          </p:nvSpPr>
          <p:spPr>
            <a:xfrm>
              <a:off x="4836465" y="1285772"/>
              <a:ext cx="495649" cy="346248"/>
            </a:xfrm>
            <a:prstGeom prst="rect">
              <a:avLst/>
            </a:prstGeom>
            <a:noFill/>
          </p:spPr>
          <p:txBody>
            <a:bodyPr wrap="none" rtlCol="0">
              <a:spAutoFit/>
            </a:bodyPr>
            <a:lstStyle/>
            <a:p>
              <a:r>
                <a:rPr lang="en-US" altLang="zh-CN" sz="2400" b="1" dirty="0">
                  <a:solidFill>
                    <a:schemeClr val="bg1"/>
                  </a:solidFill>
                  <a:latin typeface="+mj-ea"/>
                  <a:ea typeface="+mj-ea"/>
                </a:rPr>
                <a:t>01</a:t>
              </a:r>
              <a:endParaRPr lang="zh-CN" altLang="en-US" sz="2400" b="1" dirty="0">
                <a:solidFill>
                  <a:schemeClr val="bg1"/>
                </a:solidFill>
                <a:latin typeface="+mj-ea"/>
                <a:ea typeface="+mj-ea"/>
              </a:endParaRPr>
            </a:p>
          </p:txBody>
        </p:sp>
      </p:grpSp>
      <p:grpSp>
        <p:nvGrpSpPr>
          <p:cNvPr id="100" name="组合 87">
            <a:extLst>
              <a:ext uri="{FF2B5EF4-FFF2-40B4-BE49-F238E27FC236}">
                <a16:creationId xmlns:a16="http://schemas.microsoft.com/office/drawing/2014/main" id="{F24E9047-6CEE-4441-A5DC-BD640B1280AF}"/>
              </a:ext>
            </a:extLst>
          </p:cNvPr>
          <p:cNvGrpSpPr/>
          <p:nvPr/>
        </p:nvGrpSpPr>
        <p:grpSpPr>
          <a:xfrm>
            <a:off x="4262261" y="2668636"/>
            <a:ext cx="642942" cy="474142"/>
            <a:chOff x="4836465" y="1285772"/>
            <a:chExt cx="495649" cy="355606"/>
          </a:xfrm>
          <a:gradFill flip="none" rotWithShape="1">
            <a:gsLst>
              <a:gs pos="0">
                <a:srgbClr val="00B0F0"/>
              </a:gs>
              <a:gs pos="100000">
                <a:srgbClr val="0070C0"/>
              </a:gs>
            </a:gsLst>
            <a:lin ang="18900000" scaled="1"/>
            <a:tileRect/>
          </a:gradFill>
        </p:grpSpPr>
        <p:sp>
          <p:nvSpPr>
            <p:cNvPr id="101" name="圆角矩形 100">
              <a:extLst>
                <a:ext uri="{FF2B5EF4-FFF2-40B4-BE49-F238E27FC236}">
                  <a16:creationId xmlns:a16="http://schemas.microsoft.com/office/drawing/2014/main" id="{57C9262D-02AA-7146-B7A6-5773CCE14EF3}"/>
                </a:ext>
              </a:extLst>
            </p:cNvPr>
            <p:cNvSpPr/>
            <p:nvPr/>
          </p:nvSpPr>
          <p:spPr>
            <a:xfrm>
              <a:off x="4860032" y="1304852"/>
              <a:ext cx="402984" cy="336526"/>
            </a:xfrm>
            <a:prstGeom prst="roundRect">
              <a:avLst/>
            </a:prstGeom>
            <a:grp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ea"/>
                <a:ea typeface="+mj-ea"/>
                <a:cs typeface="Arial Unicode MS" panose="020B0604020202020204" pitchFamily="34" charset="-122"/>
              </a:endParaRPr>
            </a:p>
          </p:txBody>
        </p:sp>
        <p:sp>
          <p:nvSpPr>
            <p:cNvPr id="102" name="TextBox 89">
              <a:extLst>
                <a:ext uri="{FF2B5EF4-FFF2-40B4-BE49-F238E27FC236}">
                  <a16:creationId xmlns:a16="http://schemas.microsoft.com/office/drawing/2014/main" id="{6790C132-7996-9B44-B316-0CA77CDF101D}"/>
                </a:ext>
              </a:extLst>
            </p:cNvPr>
            <p:cNvSpPr txBox="1"/>
            <p:nvPr/>
          </p:nvSpPr>
          <p:spPr>
            <a:xfrm>
              <a:off x="4836465" y="1285772"/>
              <a:ext cx="495649" cy="346248"/>
            </a:xfrm>
            <a:prstGeom prst="rect">
              <a:avLst/>
            </a:prstGeom>
            <a:noFill/>
          </p:spPr>
          <p:txBody>
            <a:bodyPr wrap="none" rtlCol="0">
              <a:spAutoFit/>
            </a:bodyPr>
            <a:lstStyle/>
            <a:p>
              <a:r>
                <a:rPr lang="en-US" altLang="zh-CN" sz="2400" b="1" dirty="0">
                  <a:solidFill>
                    <a:schemeClr val="bg1"/>
                  </a:solidFill>
                  <a:latin typeface="+mj-ea"/>
                  <a:ea typeface="+mj-ea"/>
                </a:rPr>
                <a:t>02</a:t>
              </a:r>
              <a:endParaRPr lang="zh-CN" altLang="en-US" sz="2400" b="1" dirty="0">
                <a:solidFill>
                  <a:schemeClr val="bg1"/>
                </a:solidFill>
                <a:latin typeface="+mj-ea"/>
                <a:ea typeface="+mj-ea"/>
              </a:endParaRPr>
            </a:p>
          </p:txBody>
        </p:sp>
      </p:grpSp>
      <p:grpSp>
        <p:nvGrpSpPr>
          <p:cNvPr id="103" name="组合 90">
            <a:extLst>
              <a:ext uri="{FF2B5EF4-FFF2-40B4-BE49-F238E27FC236}">
                <a16:creationId xmlns:a16="http://schemas.microsoft.com/office/drawing/2014/main" id="{F7BDBB3E-B17C-BA43-958A-0E81E2D83ECD}"/>
              </a:ext>
            </a:extLst>
          </p:cNvPr>
          <p:cNvGrpSpPr/>
          <p:nvPr/>
        </p:nvGrpSpPr>
        <p:grpSpPr>
          <a:xfrm>
            <a:off x="4262397" y="3388716"/>
            <a:ext cx="642942" cy="474142"/>
            <a:chOff x="4836465" y="1285772"/>
            <a:chExt cx="495649" cy="355606"/>
          </a:xfrm>
          <a:gradFill flip="none" rotWithShape="1">
            <a:gsLst>
              <a:gs pos="0">
                <a:srgbClr val="00B0F0"/>
              </a:gs>
              <a:gs pos="100000">
                <a:srgbClr val="0070C0"/>
              </a:gs>
            </a:gsLst>
            <a:lin ang="18900000" scaled="1"/>
            <a:tileRect/>
          </a:gradFill>
        </p:grpSpPr>
        <p:sp>
          <p:nvSpPr>
            <p:cNvPr id="104" name="圆角矩形 103">
              <a:extLst>
                <a:ext uri="{FF2B5EF4-FFF2-40B4-BE49-F238E27FC236}">
                  <a16:creationId xmlns:a16="http://schemas.microsoft.com/office/drawing/2014/main" id="{78FEF639-B696-5F40-B4A3-39606312C319}"/>
                </a:ext>
              </a:extLst>
            </p:cNvPr>
            <p:cNvSpPr/>
            <p:nvPr/>
          </p:nvSpPr>
          <p:spPr>
            <a:xfrm>
              <a:off x="4860032" y="1304852"/>
              <a:ext cx="402984" cy="336526"/>
            </a:xfrm>
            <a:prstGeom prst="roundRect">
              <a:avLst/>
            </a:prstGeom>
            <a:grp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ea"/>
                <a:ea typeface="+mj-ea"/>
                <a:cs typeface="Arial Unicode MS" panose="020B0604020202020204" pitchFamily="34" charset="-122"/>
              </a:endParaRPr>
            </a:p>
          </p:txBody>
        </p:sp>
        <p:sp>
          <p:nvSpPr>
            <p:cNvPr id="105" name="TextBox 92">
              <a:extLst>
                <a:ext uri="{FF2B5EF4-FFF2-40B4-BE49-F238E27FC236}">
                  <a16:creationId xmlns:a16="http://schemas.microsoft.com/office/drawing/2014/main" id="{48DA2925-B8C7-8148-B055-B12BD4A8663A}"/>
                </a:ext>
              </a:extLst>
            </p:cNvPr>
            <p:cNvSpPr txBox="1"/>
            <p:nvPr/>
          </p:nvSpPr>
          <p:spPr>
            <a:xfrm>
              <a:off x="4836465" y="1285772"/>
              <a:ext cx="495649" cy="346248"/>
            </a:xfrm>
            <a:prstGeom prst="rect">
              <a:avLst/>
            </a:prstGeom>
            <a:noFill/>
          </p:spPr>
          <p:txBody>
            <a:bodyPr wrap="none" rtlCol="0">
              <a:spAutoFit/>
            </a:bodyPr>
            <a:lstStyle/>
            <a:p>
              <a:r>
                <a:rPr lang="en-US" altLang="zh-CN" sz="2400" b="1" dirty="0">
                  <a:solidFill>
                    <a:schemeClr val="bg1"/>
                  </a:solidFill>
                  <a:latin typeface="+mj-ea"/>
                  <a:ea typeface="+mj-ea"/>
                </a:rPr>
                <a:t>03</a:t>
              </a:r>
              <a:endParaRPr lang="zh-CN" altLang="en-US" sz="2400" b="1" dirty="0">
                <a:solidFill>
                  <a:schemeClr val="bg1"/>
                </a:solidFill>
                <a:latin typeface="+mj-ea"/>
                <a:ea typeface="+mj-ea"/>
              </a:endParaRPr>
            </a:p>
          </p:txBody>
        </p:sp>
      </p:grpSp>
      <p:grpSp>
        <p:nvGrpSpPr>
          <p:cNvPr id="106" name="组合 93">
            <a:extLst>
              <a:ext uri="{FF2B5EF4-FFF2-40B4-BE49-F238E27FC236}">
                <a16:creationId xmlns:a16="http://schemas.microsoft.com/office/drawing/2014/main" id="{124BE285-D79F-6742-A94B-E4039DF90B8D}"/>
              </a:ext>
            </a:extLst>
          </p:cNvPr>
          <p:cNvGrpSpPr/>
          <p:nvPr/>
        </p:nvGrpSpPr>
        <p:grpSpPr>
          <a:xfrm>
            <a:off x="4262397" y="4180804"/>
            <a:ext cx="642942" cy="474142"/>
            <a:chOff x="4836465" y="1285772"/>
            <a:chExt cx="495649" cy="355606"/>
          </a:xfrm>
          <a:gradFill flip="none" rotWithShape="1">
            <a:gsLst>
              <a:gs pos="0">
                <a:srgbClr val="00B0F0"/>
              </a:gs>
              <a:gs pos="100000">
                <a:srgbClr val="0070C0"/>
              </a:gs>
            </a:gsLst>
            <a:lin ang="18900000" scaled="1"/>
            <a:tileRect/>
          </a:gradFill>
        </p:grpSpPr>
        <p:sp>
          <p:nvSpPr>
            <p:cNvPr id="107" name="圆角矩形 106">
              <a:extLst>
                <a:ext uri="{FF2B5EF4-FFF2-40B4-BE49-F238E27FC236}">
                  <a16:creationId xmlns:a16="http://schemas.microsoft.com/office/drawing/2014/main" id="{5F7AA796-C63C-2A49-867F-4E9517A59061}"/>
                </a:ext>
              </a:extLst>
            </p:cNvPr>
            <p:cNvSpPr/>
            <p:nvPr/>
          </p:nvSpPr>
          <p:spPr>
            <a:xfrm>
              <a:off x="4860032" y="1304852"/>
              <a:ext cx="402984" cy="336526"/>
            </a:xfrm>
            <a:prstGeom prst="roundRect">
              <a:avLst/>
            </a:prstGeom>
            <a:grpFill/>
            <a:ln>
              <a:noFill/>
            </a:ln>
            <a:effectLst>
              <a:outerShdw blurRad="190500" dist="152400" dir="81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400" b="1" dirty="0">
                <a:latin typeface="+mj-ea"/>
                <a:ea typeface="+mj-ea"/>
                <a:cs typeface="Arial Unicode MS" panose="020B0604020202020204" pitchFamily="34" charset="-122"/>
              </a:endParaRPr>
            </a:p>
          </p:txBody>
        </p:sp>
        <p:sp>
          <p:nvSpPr>
            <p:cNvPr id="108" name="TextBox 95">
              <a:extLst>
                <a:ext uri="{FF2B5EF4-FFF2-40B4-BE49-F238E27FC236}">
                  <a16:creationId xmlns:a16="http://schemas.microsoft.com/office/drawing/2014/main" id="{36EC1BD2-2722-134C-89F1-BF3B6DB529CE}"/>
                </a:ext>
              </a:extLst>
            </p:cNvPr>
            <p:cNvSpPr txBox="1"/>
            <p:nvPr/>
          </p:nvSpPr>
          <p:spPr>
            <a:xfrm>
              <a:off x="4836465" y="1285772"/>
              <a:ext cx="495649" cy="346248"/>
            </a:xfrm>
            <a:prstGeom prst="rect">
              <a:avLst/>
            </a:prstGeom>
            <a:noFill/>
          </p:spPr>
          <p:txBody>
            <a:bodyPr wrap="none" rtlCol="0">
              <a:spAutoFit/>
            </a:bodyPr>
            <a:lstStyle/>
            <a:p>
              <a:r>
                <a:rPr lang="en-US" altLang="zh-CN" sz="2400" b="1" dirty="0">
                  <a:solidFill>
                    <a:schemeClr val="bg1"/>
                  </a:solidFill>
                  <a:latin typeface="+mj-ea"/>
                  <a:ea typeface="+mj-ea"/>
                </a:rPr>
                <a:t>04</a:t>
              </a:r>
              <a:endParaRPr lang="zh-CN" altLang="en-US" sz="2400" b="1" dirty="0">
                <a:solidFill>
                  <a:schemeClr val="bg1"/>
                </a:solidFill>
                <a:latin typeface="+mj-ea"/>
                <a:ea typeface="+mj-e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705890" y="1512503"/>
            <a:ext cx="11028910" cy="2914976"/>
          </a:xfrm>
          <a:prstGeom prst="rect">
            <a:avLst/>
          </a:prstGeom>
          <a:noFill/>
        </p:spPr>
        <p:txBody>
          <a:bodyPr wrap="square" lIns="71067" tIns="35534" rIns="71067" bIns="35534" rtlCol="0">
            <a:spAutoFit/>
          </a:bodyPr>
          <a:lstStyle>
            <a:defPPr>
              <a:defRPr lang="zh-CN"/>
            </a:defPPr>
            <a:lvl1pPr>
              <a:lnSpc>
                <a:spcPct val="150000"/>
              </a:lnSpc>
              <a:defRPr sz="1800">
                <a:solidFill>
                  <a:schemeClr val="tx1">
                    <a:lumMod val="50000"/>
                    <a:lumOff val="50000"/>
                  </a:schemeClr>
                </a:solidFill>
                <a:latin typeface="微软雅黑" pitchFamily="34" charset="-122"/>
                <a:ea typeface="微软雅黑" pitchFamily="34" charset="-122"/>
              </a:defRPr>
            </a:lvl1pPr>
          </a:lstStyle>
          <a:p>
            <a:pPr>
              <a:lnSpc>
                <a:spcPct val="200000"/>
              </a:lnSpc>
            </a:pPr>
            <a:r>
              <a:rPr lang="en-US" altLang="zh-CN" sz="2400" dirty="0">
                <a:solidFill>
                  <a:schemeClr val="tx1"/>
                </a:solidFill>
              </a:rPr>
              <a:t>●</a:t>
            </a:r>
            <a:r>
              <a:rPr lang="zh-CN" altLang="en-US" sz="2400" dirty="0">
                <a:solidFill>
                  <a:schemeClr val="tx1"/>
                </a:solidFill>
              </a:rPr>
              <a:t> 算法分析是分析算法占用计算机资源的情况。</a:t>
            </a:r>
          </a:p>
          <a:p>
            <a:pPr>
              <a:lnSpc>
                <a:spcPct val="200000"/>
              </a:lnSpc>
            </a:pPr>
            <a:r>
              <a:rPr lang="zh-CN" altLang="en-US" sz="2400" dirty="0">
                <a:solidFill>
                  <a:schemeClr val="tx1"/>
                </a:solidFill>
              </a:rPr>
              <a:t>　所以算法分析的两个主要方面是</a:t>
            </a:r>
            <a:r>
              <a:rPr lang="zh-CN" altLang="en-US" sz="2400" dirty="0">
                <a:solidFill>
                  <a:srgbClr val="FF0000"/>
                </a:solidFill>
              </a:rPr>
              <a:t>分析算法的</a:t>
            </a:r>
            <a:r>
              <a:rPr lang="zh-CN" altLang="en-US" sz="2400" u="sng" dirty="0">
                <a:solidFill>
                  <a:srgbClr val="FF0000"/>
                </a:solidFill>
              </a:rPr>
              <a:t>时间复杂度</a:t>
            </a:r>
            <a:r>
              <a:rPr lang="zh-CN" altLang="en-US" sz="2400" dirty="0">
                <a:solidFill>
                  <a:srgbClr val="FF0000"/>
                </a:solidFill>
              </a:rPr>
              <a:t>和</a:t>
            </a:r>
            <a:r>
              <a:rPr lang="zh-CN" altLang="en-US" sz="2400" u="sng" dirty="0">
                <a:solidFill>
                  <a:srgbClr val="FF0000"/>
                </a:solidFill>
              </a:rPr>
              <a:t>空间复杂度</a:t>
            </a:r>
            <a:endParaRPr lang="en-US" altLang="zh-CN" sz="2400" u="sng" dirty="0">
              <a:solidFill>
                <a:srgbClr val="FF0000"/>
              </a:solidFill>
            </a:endParaRPr>
          </a:p>
          <a:p>
            <a:pPr marL="342900" indent="-342900">
              <a:lnSpc>
                <a:spcPct val="200000"/>
              </a:lnSpc>
              <a:buFont typeface="Wingdings" pitchFamily="2" charset="2"/>
              <a:buChar char="l"/>
            </a:pPr>
            <a:r>
              <a:rPr lang="zh-CN" altLang="en-US" sz="2400" dirty="0">
                <a:solidFill>
                  <a:schemeClr val="tx1"/>
                </a:solidFill>
              </a:rPr>
              <a:t>算法分析的任务</a:t>
            </a:r>
          </a:p>
          <a:p>
            <a:pPr>
              <a:lnSpc>
                <a:spcPct val="200000"/>
              </a:lnSpc>
            </a:pPr>
            <a:r>
              <a:rPr lang="zh-CN" altLang="en-US" sz="2400" dirty="0">
                <a:solidFill>
                  <a:schemeClr val="tx1"/>
                </a:solidFill>
              </a:rPr>
              <a:t>    对设计出的每一个具体的算法</a:t>
            </a:r>
            <a:r>
              <a:rPr lang="en-US" altLang="zh-CN" sz="2400" dirty="0">
                <a:solidFill>
                  <a:schemeClr val="tx1"/>
                </a:solidFill>
              </a:rPr>
              <a:t>,</a:t>
            </a:r>
            <a:r>
              <a:rPr lang="zh-CN" altLang="en-US" sz="2400" dirty="0">
                <a:solidFill>
                  <a:schemeClr val="tx1"/>
                </a:solidFill>
              </a:rPr>
              <a:t> 利用数学工具，讨论其复杂度（空间和时间）</a:t>
            </a:r>
          </a:p>
        </p:txBody>
      </p:sp>
      <p:sp>
        <p:nvSpPr>
          <p:cNvPr id="15" name="标题 8"/>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算法分析体系及计量</a:t>
            </a:r>
          </a:p>
        </p:txBody>
      </p:sp>
    </p:spTree>
    <p:extLst>
      <p:ext uri="{BB962C8B-B14F-4D97-AF65-F5344CB8AC3E}">
        <p14:creationId xmlns:p14="http://schemas.microsoft.com/office/powerpoint/2010/main" val="646960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CB089-F276-2247-9D7B-4D8CAA02856D}"/>
              </a:ext>
            </a:extLst>
          </p:cNvPr>
          <p:cNvSpPr>
            <a:spLocks noGrp="1"/>
          </p:cNvSpPr>
          <p:nvPr>
            <p:ph type="title"/>
          </p:nvPr>
        </p:nvSpPr>
        <p:spPr>
          <a:xfrm>
            <a:off x="1219201" y="267158"/>
            <a:ext cx="5366657" cy="770163"/>
          </a:xfrm>
        </p:spPr>
        <p:txBody>
          <a:bodyPr/>
          <a:lstStyle/>
          <a:p>
            <a:r>
              <a:rPr lang="zh-CN" altLang="en-US" dirty="0">
                <a:latin typeface="微软雅黑" pitchFamily="34" charset="-122"/>
                <a:ea typeface="微软雅黑" pitchFamily="34" charset="-122"/>
              </a:rPr>
              <a:t>算法分析体系及计量</a:t>
            </a:r>
            <a:endParaRPr kumimoji="1" lang="zh-CN" altLang="en-US" dirty="0"/>
          </a:p>
        </p:txBody>
      </p:sp>
      <p:sp>
        <p:nvSpPr>
          <p:cNvPr id="3" name="Text Box 1029">
            <a:extLst>
              <a:ext uri="{FF2B5EF4-FFF2-40B4-BE49-F238E27FC236}">
                <a16:creationId xmlns:a16="http://schemas.microsoft.com/office/drawing/2014/main" id="{3B49F0D6-0ADA-944B-9005-F15E38A8B60C}"/>
              </a:ext>
            </a:extLst>
          </p:cNvPr>
          <p:cNvSpPr txBox="1">
            <a:spLocks noChangeArrowheads="1"/>
          </p:cNvSpPr>
          <p:nvPr/>
        </p:nvSpPr>
        <p:spPr bwMode="auto">
          <a:xfrm>
            <a:off x="294368" y="1233484"/>
            <a:ext cx="6977289" cy="346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marL="381000">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2" algn="just">
              <a:lnSpc>
                <a:spcPct val="150000"/>
              </a:lnSpc>
            </a:pPr>
            <a:r>
              <a:rPr lang="zh-CN" altLang="en-US" sz="2600" b="1" dirty="0">
                <a:latin typeface="宋体" panose="02010600030101010101" pitchFamily="2" charset="-122"/>
              </a:rPr>
              <a:t>对算法的分析和评价，主要涉及</a:t>
            </a:r>
            <a:r>
              <a:rPr lang="en-US" altLang="zh-CN" sz="2600" b="1" dirty="0">
                <a:latin typeface="宋体" panose="02010600030101010101" pitchFamily="2" charset="-122"/>
              </a:rPr>
              <a:t>5</a:t>
            </a:r>
            <a:r>
              <a:rPr lang="zh-CN" altLang="en-US" sz="2600" b="1" dirty="0">
                <a:latin typeface="宋体" panose="02010600030101010101" pitchFamily="2" charset="-122"/>
              </a:rPr>
              <a:t>个方面：</a:t>
            </a:r>
          </a:p>
          <a:p>
            <a:pPr lvl="2" algn="just">
              <a:lnSpc>
                <a:spcPct val="150000"/>
              </a:lnSpc>
              <a:spcBef>
                <a:spcPct val="5000"/>
              </a:spcBef>
              <a:buClr>
                <a:schemeClr val="tx2"/>
              </a:buClr>
              <a:buFont typeface="Wingdings" pitchFamily="2" charset="2"/>
              <a:buChar char="Ø"/>
            </a:pPr>
            <a:r>
              <a:rPr lang="zh-CN" altLang="en-US" b="1" dirty="0">
                <a:latin typeface="宋体" panose="02010600030101010101" pitchFamily="2" charset="-122"/>
              </a:rPr>
              <a:t>	正确性</a:t>
            </a:r>
          </a:p>
          <a:p>
            <a:pPr lvl="2" algn="just">
              <a:lnSpc>
                <a:spcPct val="150000"/>
              </a:lnSpc>
              <a:spcBef>
                <a:spcPct val="5000"/>
              </a:spcBef>
              <a:buClr>
                <a:schemeClr val="tx2"/>
              </a:buClr>
              <a:buFont typeface="Wingdings" pitchFamily="2" charset="2"/>
              <a:buChar char="Ø"/>
            </a:pPr>
            <a:r>
              <a:rPr lang="zh-CN" altLang="en-US" b="1" dirty="0">
                <a:latin typeface="宋体" panose="02010600030101010101" pitchFamily="2" charset="-122"/>
              </a:rPr>
              <a:t>	可维护性</a:t>
            </a:r>
          </a:p>
          <a:p>
            <a:pPr lvl="2" algn="just">
              <a:lnSpc>
                <a:spcPct val="150000"/>
              </a:lnSpc>
              <a:spcBef>
                <a:spcPct val="5000"/>
              </a:spcBef>
              <a:buClr>
                <a:schemeClr val="tx2"/>
              </a:buClr>
              <a:buFont typeface="Wingdings" pitchFamily="2" charset="2"/>
              <a:buChar char="Ø"/>
            </a:pPr>
            <a:r>
              <a:rPr lang="zh-CN" altLang="en-US" b="1" dirty="0">
                <a:latin typeface="宋体" panose="02010600030101010101" pitchFamily="2" charset="-122"/>
              </a:rPr>
              <a:t>	可读性</a:t>
            </a:r>
          </a:p>
          <a:p>
            <a:pPr lvl="2" algn="just">
              <a:lnSpc>
                <a:spcPct val="150000"/>
              </a:lnSpc>
              <a:spcBef>
                <a:spcPct val="5000"/>
              </a:spcBef>
              <a:buClr>
                <a:schemeClr val="tx2"/>
              </a:buClr>
              <a:buFont typeface="Wingdings" pitchFamily="2" charset="2"/>
              <a:buChar char="Ø"/>
            </a:pPr>
            <a:r>
              <a:rPr lang="zh-CN" altLang="en-US" b="1" dirty="0">
                <a:latin typeface="宋体" panose="02010600030101010101" pitchFamily="2" charset="-122"/>
              </a:rPr>
              <a:t>	运算量</a:t>
            </a:r>
          </a:p>
          <a:p>
            <a:pPr lvl="2" algn="just">
              <a:lnSpc>
                <a:spcPct val="150000"/>
              </a:lnSpc>
              <a:spcBef>
                <a:spcPct val="5000"/>
              </a:spcBef>
              <a:buClr>
                <a:schemeClr val="tx2"/>
              </a:buClr>
              <a:buFont typeface="Wingdings" pitchFamily="2" charset="2"/>
              <a:buChar char="Ø"/>
            </a:pPr>
            <a:r>
              <a:rPr lang="zh-CN" altLang="en-US" b="1" dirty="0">
                <a:latin typeface="宋体" panose="02010600030101010101" pitchFamily="2" charset="-122"/>
              </a:rPr>
              <a:t>	占用存储空间</a:t>
            </a:r>
          </a:p>
        </p:txBody>
      </p:sp>
      <p:sp>
        <p:nvSpPr>
          <p:cNvPr id="7" name="文本框 6">
            <a:extLst>
              <a:ext uri="{FF2B5EF4-FFF2-40B4-BE49-F238E27FC236}">
                <a16:creationId xmlns:a16="http://schemas.microsoft.com/office/drawing/2014/main" id="{2177FCE4-F096-5B42-8E4D-B7E10B8474DA}"/>
              </a:ext>
            </a:extLst>
          </p:cNvPr>
          <p:cNvSpPr txBox="1"/>
          <p:nvPr/>
        </p:nvSpPr>
        <p:spPr>
          <a:xfrm>
            <a:off x="626155" y="4730292"/>
            <a:ext cx="11380788" cy="1113766"/>
          </a:xfrm>
          <a:prstGeom prst="rect">
            <a:avLst/>
          </a:prstGeom>
          <a:noFill/>
        </p:spPr>
        <p:txBody>
          <a:bodyPr wrap="square">
            <a:spAutoFit/>
          </a:bodyPr>
          <a:lstStyle/>
          <a:p>
            <a:pPr>
              <a:lnSpc>
                <a:spcPct val="150000"/>
              </a:lnSpc>
            </a:pPr>
            <a:r>
              <a:rPr lang="zh-CN" altLang="en-US" sz="2400" b="1" dirty="0">
                <a:latin typeface="SimSun" panose="02010600030101010101" pitchFamily="2" charset="-122"/>
                <a:ea typeface="SimSun" panose="02010600030101010101" pitchFamily="2" charset="-122"/>
              </a:rPr>
              <a:t>其中：算法应易于理解、编码、调试；算法实现所</a:t>
            </a:r>
            <a:r>
              <a:rPr lang="zh-CN" altLang="en-US" sz="2400" b="1" dirty="0">
                <a:solidFill>
                  <a:srgbClr val="FF0000"/>
                </a:solidFill>
                <a:latin typeface="SimSun" panose="02010600030101010101" pitchFamily="2" charset="-122"/>
                <a:ea typeface="SimSun" panose="02010600030101010101" pitchFamily="2" charset="-122"/>
              </a:rPr>
              <a:t>耗费的时间</a:t>
            </a:r>
            <a:r>
              <a:rPr lang="zh-CN" altLang="en-US" sz="2400" b="1" dirty="0">
                <a:latin typeface="SimSun" panose="02010600030101010101" pitchFamily="2" charset="-122"/>
                <a:ea typeface="SimSun" panose="02010600030101010101" pitchFamily="2" charset="-122"/>
              </a:rPr>
              <a:t>；算法实现所</a:t>
            </a:r>
            <a:r>
              <a:rPr lang="zh-CN" altLang="en-US" sz="2400" b="1" dirty="0">
                <a:solidFill>
                  <a:srgbClr val="FF0000"/>
                </a:solidFill>
                <a:latin typeface="SimSun" panose="02010600030101010101" pitchFamily="2" charset="-122"/>
                <a:ea typeface="SimSun" panose="02010600030101010101" pitchFamily="2" charset="-122"/>
              </a:rPr>
              <a:t>耗费的存储空间</a:t>
            </a:r>
            <a:r>
              <a:rPr lang="zh-CN" altLang="en-US" sz="2400" b="1" dirty="0">
                <a:latin typeface="SimSun" panose="02010600030101010101" pitchFamily="2" charset="-122"/>
                <a:ea typeface="SimSun" panose="02010600030101010101" pitchFamily="2" charset="-122"/>
              </a:rPr>
              <a:t>是评价算法的</a:t>
            </a:r>
            <a:r>
              <a:rPr lang="en-US" altLang="zh-CN" sz="2400" b="1" dirty="0">
                <a:latin typeface="SimSun" panose="02010600030101010101" pitchFamily="2" charset="-122"/>
                <a:ea typeface="SimSun" panose="02010600030101010101" pitchFamily="2" charset="-122"/>
              </a:rPr>
              <a:t>3</a:t>
            </a:r>
            <a:r>
              <a:rPr lang="zh-CN" altLang="en-US" sz="2400" b="1" dirty="0">
                <a:latin typeface="SimSun" panose="02010600030101010101" pitchFamily="2" charset="-122"/>
                <a:ea typeface="SimSun" panose="02010600030101010101" pitchFamily="2" charset="-122"/>
              </a:rPr>
              <a:t>条主要标准。</a:t>
            </a:r>
          </a:p>
        </p:txBody>
      </p:sp>
    </p:spTree>
    <p:extLst>
      <p:ext uri="{BB962C8B-B14F-4D97-AF65-F5344CB8AC3E}">
        <p14:creationId xmlns:p14="http://schemas.microsoft.com/office/powerpoint/2010/main" val="1043889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8"/>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
        <p:nvSpPr>
          <p:cNvPr id="4" name="Text Box 3">
            <a:extLst>
              <a:ext uri="{FF2B5EF4-FFF2-40B4-BE49-F238E27FC236}">
                <a16:creationId xmlns:a16="http://schemas.microsoft.com/office/drawing/2014/main" id="{67B554A2-2D2C-1C49-885F-2CACD72BAF09}"/>
              </a:ext>
            </a:extLst>
          </p:cNvPr>
          <p:cNvSpPr txBox="1">
            <a:spLocks noChangeArrowheads="1"/>
          </p:cNvSpPr>
          <p:nvPr/>
        </p:nvSpPr>
        <p:spPr bwMode="auto">
          <a:xfrm>
            <a:off x="745643" y="1214422"/>
            <a:ext cx="2639814" cy="369332"/>
          </a:xfrm>
          <a:prstGeom prst="rect">
            <a:avLst/>
          </a:prstGeom>
          <a:solidFill>
            <a:srgbClr val="9900FF"/>
          </a:solidFill>
          <a:ln w="9525">
            <a:noFill/>
            <a:miter lim="800000"/>
            <a:headEnd/>
            <a:tailEnd/>
          </a:ln>
          <a:effectLst/>
        </p:spPr>
        <p:txBody>
          <a:bodyPr wrap="square">
            <a:spAutoFit/>
          </a:bodyPr>
          <a:lstStyle/>
          <a:p>
            <a:pPr algn="just">
              <a:spcBef>
                <a:spcPct val="50000"/>
              </a:spcBef>
            </a:pPr>
            <a:r>
              <a:rPr lang="en-US" altLang="zh-CN" dirty="0">
                <a:solidFill>
                  <a:schemeClr val="bg1"/>
                </a:solidFill>
                <a:latin typeface="Consolas" pitchFamily="49" charset="0"/>
                <a:ea typeface="华文中宋" pitchFamily="2" charset="-122"/>
                <a:cs typeface="Consolas" pitchFamily="49" charset="0"/>
              </a:rPr>
              <a:t>1. </a:t>
            </a:r>
            <a:r>
              <a:rPr lang="zh-CN" altLang="en-US" dirty="0">
                <a:solidFill>
                  <a:schemeClr val="bg1"/>
                </a:solidFill>
                <a:latin typeface="Consolas" pitchFamily="49" charset="0"/>
                <a:ea typeface="华文中宋" pitchFamily="2" charset="-122"/>
                <a:cs typeface="Consolas" pitchFamily="49" charset="0"/>
              </a:rPr>
              <a:t>时间复杂度分析概述</a:t>
            </a:r>
          </a:p>
        </p:txBody>
      </p:sp>
      <p:sp>
        <p:nvSpPr>
          <p:cNvPr id="5" name="Text Box 4">
            <a:extLst>
              <a:ext uri="{FF2B5EF4-FFF2-40B4-BE49-F238E27FC236}">
                <a16:creationId xmlns:a16="http://schemas.microsoft.com/office/drawing/2014/main" id="{D21D0724-F982-7546-8C9F-44A89B332C7E}"/>
              </a:ext>
            </a:extLst>
          </p:cNvPr>
          <p:cNvSpPr txBox="1">
            <a:spLocks noChangeArrowheads="1"/>
          </p:cNvSpPr>
          <p:nvPr/>
        </p:nvSpPr>
        <p:spPr bwMode="auto">
          <a:xfrm>
            <a:off x="738157" y="1670499"/>
            <a:ext cx="10038700" cy="957250"/>
          </a:xfrm>
          <a:prstGeom prst="rect">
            <a:avLst/>
          </a:prstGeom>
          <a:noFill/>
          <a:ln w="9525">
            <a:noFill/>
            <a:miter lim="800000"/>
            <a:headEnd/>
            <a:tailEnd/>
          </a:ln>
          <a:effectLst/>
        </p:spPr>
        <p:txBody>
          <a:bodyPr wrap="square">
            <a:spAutoFit/>
          </a:bodyPr>
          <a:lstStyle/>
          <a:p>
            <a:pPr>
              <a:lnSpc>
                <a:spcPct val="150000"/>
              </a:lnSpc>
              <a:spcBef>
                <a:spcPct val="50000"/>
              </a:spcBef>
            </a:pPr>
            <a:r>
              <a:rPr lang="zh-CN" altLang="en-US" sz="2000" dirty="0">
                <a:solidFill>
                  <a:srgbClr val="0000FF"/>
                </a:solidFill>
                <a:latin typeface="SimSun" panose="02010600030101010101" pitchFamily="2" charset="-122"/>
                <a:ea typeface="SimSun" panose="02010600030101010101" pitchFamily="2" charset="-122"/>
                <a:cs typeface="Times New Roman" pitchFamily="18" charset="0"/>
              </a:rPr>
              <a:t>　 一个算法是由控制结构（顺序、分支和循环</a:t>
            </a:r>
            <a:r>
              <a:rPr lang="en-US" altLang="zh-CN" sz="2000" dirty="0">
                <a:solidFill>
                  <a:srgbClr val="0000FF"/>
                </a:solidFill>
                <a:latin typeface="SimSun" panose="02010600030101010101" pitchFamily="2" charset="-122"/>
                <a:ea typeface="SimSun" panose="02010600030101010101" pitchFamily="2" charset="-122"/>
                <a:cs typeface="Times New Roman" pitchFamily="18" charset="0"/>
              </a:rPr>
              <a:t>3</a:t>
            </a:r>
            <a:r>
              <a:rPr lang="zh-CN" altLang="en-US" sz="2000" dirty="0">
                <a:solidFill>
                  <a:srgbClr val="0000FF"/>
                </a:solidFill>
                <a:latin typeface="SimSun" panose="02010600030101010101" pitchFamily="2" charset="-122"/>
                <a:ea typeface="SimSun" panose="02010600030101010101" pitchFamily="2" charset="-122"/>
                <a:cs typeface="Times New Roman" pitchFamily="18" charset="0"/>
              </a:rPr>
              <a:t>种）和原操作（指固有数据类型的操作）构成的，算法的运行时间取决于两者的综合效果。 </a:t>
            </a:r>
          </a:p>
        </p:txBody>
      </p:sp>
      <p:sp>
        <p:nvSpPr>
          <p:cNvPr id="6" name="Rectangle 6">
            <a:extLst>
              <a:ext uri="{FF2B5EF4-FFF2-40B4-BE49-F238E27FC236}">
                <a16:creationId xmlns:a16="http://schemas.microsoft.com/office/drawing/2014/main" id="{84C6A970-D698-294F-9E18-02C6A79C7C56}"/>
              </a:ext>
            </a:extLst>
          </p:cNvPr>
          <p:cNvSpPr>
            <a:spLocks noChangeArrowheads="1"/>
          </p:cNvSpPr>
          <p:nvPr/>
        </p:nvSpPr>
        <p:spPr bwMode="auto">
          <a:xfrm>
            <a:off x="174171" y="2349949"/>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7" name="TextBox 8">
            <a:extLst>
              <a:ext uri="{FF2B5EF4-FFF2-40B4-BE49-F238E27FC236}">
                <a16:creationId xmlns:a16="http://schemas.microsoft.com/office/drawing/2014/main" id="{07E537F9-63D6-F04F-8C64-716B646473C4}"/>
              </a:ext>
            </a:extLst>
          </p:cNvPr>
          <p:cNvSpPr txBox="1"/>
          <p:nvPr/>
        </p:nvSpPr>
        <p:spPr>
          <a:xfrm>
            <a:off x="817081" y="2871098"/>
            <a:ext cx="6786610" cy="3272004"/>
          </a:xfrm>
          <a:prstGeom prst="rect">
            <a:avLst/>
          </a:prstGeom>
          <a:solidFill>
            <a:schemeClr val="accent4">
              <a:lumMod val="40000"/>
              <a:lumOff val="60000"/>
            </a:schemeClr>
          </a:solidFill>
        </p:spPr>
        <p:style>
          <a:lnRef idx="1">
            <a:schemeClr val="accent1"/>
          </a:lnRef>
          <a:fillRef idx="2">
            <a:schemeClr val="accent1"/>
          </a:fillRef>
          <a:effectRef idx="1">
            <a:schemeClr val="accent1"/>
          </a:effectRef>
          <a:fontRef idx="minor">
            <a:schemeClr val="dk1"/>
          </a:fontRef>
        </p:style>
        <p:txBody>
          <a:bodyPr wrap="square" lIns="180000" tIns="180000" bIns="180000" rtlCol="0">
            <a:spAutoFit/>
          </a:bodyPr>
          <a:lstStyle/>
          <a:p>
            <a:r>
              <a:rPr lang="en-US" altLang="zh-CN" sz="1800">
                <a:solidFill>
                  <a:srgbClr val="0000FF"/>
                </a:solidFill>
                <a:latin typeface="Consolas" pitchFamily="49" charset="0"/>
                <a:ea typeface="楷体" pitchFamily="49" charset="-122"/>
                <a:cs typeface="Consolas" pitchFamily="49" charset="0"/>
              </a:rPr>
              <a:t>bool Solve(double a[][MAX],int m,int n,double &amp;s)</a:t>
            </a:r>
          </a:p>
          <a:p>
            <a:r>
              <a:rPr lang="en-US" altLang="zh-CN" sz="1800">
                <a:solidFill>
                  <a:srgbClr val="0000FF"/>
                </a:solidFill>
                <a:latin typeface="Consolas" pitchFamily="49" charset="0"/>
                <a:ea typeface="楷体" pitchFamily="49" charset="-122"/>
                <a:cs typeface="Consolas" pitchFamily="49" charset="0"/>
              </a:rPr>
              <a:t>{</a:t>
            </a:r>
          </a:p>
          <a:p>
            <a:r>
              <a:rPr lang="en-US" altLang="zh-CN" sz="1800">
                <a:solidFill>
                  <a:srgbClr val="0000FF"/>
                </a:solidFill>
                <a:latin typeface="Consolas" pitchFamily="49" charset="0"/>
                <a:ea typeface="楷体" pitchFamily="49" charset="-122"/>
                <a:cs typeface="Consolas" pitchFamily="49" charset="0"/>
              </a:rPr>
              <a:t>   int i; s=0;</a:t>
            </a:r>
          </a:p>
          <a:p>
            <a:pPr>
              <a:lnSpc>
                <a:spcPct val="200000"/>
              </a:lnSpc>
            </a:pPr>
            <a:r>
              <a:rPr lang="en-US" altLang="zh-CN" sz="1800">
                <a:solidFill>
                  <a:srgbClr val="0000FF"/>
                </a:solidFill>
                <a:latin typeface="Consolas" pitchFamily="49" charset="0"/>
                <a:ea typeface="楷体" pitchFamily="49" charset="-122"/>
                <a:cs typeface="Consolas" pitchFamily="49" charset="0"/>
              </a:rPr>
              <a:t>   if (m!=n) return false;</a:t>
            </a:r>
          </a:p>
          <a:p>
            <a:pPr>
              <a:lnSpc>
                <a:spcPct val="150000"/>
              </a:lnSpc>
            </a:pPr>
            <a:r>
              <a:rPr lang="en-US" altLang="zh-CN" sz="1800">
                <a:solidFill>
                  <a:srgbClr val="0000FF"/>
                </a:solidFill>
                <a:latin typeface="Consolas" pitchFamily="49" charset="0"/>
                <a:ea typeface="楷体" pitchFamily="49" charset="-122"/>
                <a:cs typeface="Consolas" pitchFamily="49" charset="0"/>
              </a:rPr>
              <a:t>   for (i=0;i&lt;m;i++)</a:t>
            </a:r>
          </a:p>
          <a:p>
            <a:r>
              <a:rPr lang="en-US" altLang="zh-CN" sz="1800">
                <a:solidFill>
                  <a:srgbClr val="0000FF"/>
                </a:solidFill>
                <a:latin typeface="Consolas" pitchFamily="49" charset="0"/>
                <a:ea typeface="楷体" pitchFamily="49" charset="-122"/>
                <a:cs typeface="Consolas" pitchFamily="49" charset="0"/>
              </a:rPr>
              <a:t>     s+=a[i][i];</a:t>
            </a:r>
          </a:p>
          <a:p>
            <a:pPr>
              <a:lnSpc>
                <a:spcPct val="200000"/>
              </a:lnSpc>
            </a:pPr>
            <a:r>
              <a:rPr lang="en-US" altLang="zh-CN" sz="1800">
                <a:solidFill>
                  <a:srgbClr val="0000FF"/>
                </a:solidFill>
                <a:latin typeface="Consolas" pitchFamily="49" charset="0"/>
                <a:ea typeface="楷体" pitchFamily="49" charset="-122"/>
                <a:cs typeface="Consolas" pitchFamily="49" charset="0"/>
              </a:rPr>
              <a:t>   return true;</a:t>
            </a:r>
          </a:p>
          <a:p>
            <a:r>
              <a:rPr lang="en-US" altLang="zh-CN" sz="180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p:txBody>
      </p:sp>
      <p:grpSp>
        <p:nvGrpSpPr>
          <p:cNvPr id="8" name="组合 7">
            <a:extLst>
              <a:ext uri="{FF2B5EF4-FFF2-40B4-BE49-F238E27FC236}">
                <a16:creationId xmlns:a16="http://schemas.microsoft.com/office/drawing/2014/main" id="{3BAD2642-B05F-454A-87CA-2E1EA014CD3C}"/>
              </a:ext>
            </a:extLst>
          </p:cNvPr>
          <p:cNvGrpSpPr/>
          <p:nvPr/>
        </p:nvGrpSpPr>
        <p:grpSpPr>
          <a:xfrm>
            <a:off x="1232646" y="3514040"/>
            <a:ext cx="7871243" cy="428628"/>
            <a:chOff x="1058475" y="3786190"/>
            <a:chExt cx="7871243" cy="428628"/>
          </a:xfrm>
        </p:grpSpPr>
        <p:sp>
          <p:nvSpPr>
            <p:cNvPr id="9" name="TextBox 9">
              <a:extLst>
                <a:ext uri="{FF2B5EF4-FFF2-40B4-BE49-F238E27FC236}">
                  <a16:creationId xmlns:a16="http://schemas.microsoft.com/office/drawing/2014/main" id="{7B75A354-442D-3F4A-9B26-B4F8162B62D9}"/>
                </a:ext>
              </a:extLst>
            </p:cNvPr>
            <p:cNvSpPr txBox="1"/>
            <p:nvPr/>
          </p:nvSpPr>
          <p:spPr>
            <a:xfrm>
              <a:off x="7572396" y="3825379"/>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顺序结构</a:t>
              </a:r>
            </a:p>
          </p:txBody>
        </p:sp>
        <p:sp>
          <p:nvSpPr>
            <p:cNvPr id="10" name="圆角矩形 9">
              <a:extLst>
                <a:ext uri="{FF2B5EF4-FFF2-40B4-BE49-F238E27FC236}">
                  <a16:creationId xmlns:a16="http://schemas.microsoft.com/office/drawing/2014/main" id="{4B9BAD07-50A3-EF48-A1F6-E3F157C2B751}"/>
                </a:ext>
              </a:extLst>
            </p:cNvPr>
            <p:cNvSpPr/>
            <p:nvPr/>
          </p:nvSpPr>
          <p:spPr>
            <a:xfrm>
              <a:off x="1058475" y="3786190"/>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8">
              <a:extLst>
                <a:ext uri="{FF2B5EF4-FFF2-40B4-BE49-F238E27FC236}">
                  <a16:creationId xmlns:a16="http://schemas.microsoft.com/office/drawing/2014/main" id="{2C2B82DE-0257-A84C-81FF-57F0CDD12EFF}"/>
                </a:ext>
              </a:extLst>
            </p:cNvPr>
            <p:cNvCxnSpPr>
              <a:stCxn id="10" idx="3"/>
              <a:endCxn id="9" idx="1"/>
            </p:cNvCxnSpPr>
            <p:nvPr/>
          </p:nvCxnSpPr>
          <p:spPr>
            <a:xfrm flipV="1">
              <a:off x="4273185" y="3994656"/>
              <a:ext cx="3299211" cy="5848"/>
            </a:xfrm>
            <a:prstGeom prst="line">
              <a:avLst/>
            </a:prstGeom>
          </p:spPr>
          <p:style>
            <a:lnRef idx="2">
              <a:schemeClr val="accent3"/>
            </a:lnRef>
            <a:fillRef idx="0">
              <a:schemeClr val="accent3"/>
            </a:fillRef>
            <a:effectRef idx="1">
              <a:schemeClr val="accent3"/>
            </a:effectRef>
            <a:fontRef idx="minor">
              <a:schemeClr val="tx1"/>
            </a:fontRef>
          </p:style>
        </p:cxnSp>
      </p:grpSp>
      <p:grpSp>
        <p:nvGrpSpPr>
          <p:cNvPr id="12" name="组合 11">
            <a:extLst>
              <a:ext uri="{FF2B5EF4-FFF2-40B4-BE49-F238E27FC236}">
                <a16:creationId xmlns:a16="http://schemas.microsoft.com/office/drawing/2014/main" id="{E293501D-B717-674C-8879-82C6E98E0149}"/>
              </a:ext>
            </a:extLst>
          </p:cNvPr>
          <p:cNvGrpSpPr/>
          <p:nvPr/>
        </p:nvGrpSpPr>
        <p:grpSpPr>
          <a:xfrm>
            <a:off x="1232646" y="4014106"/>
            <a:ext cx="7871243" cy="428628"/>
            <a:chOff x="1058475" y="4286256"/>
            <a:chExt cx="7871243" cy="428628"/>
          </a:xfrm>
        </p:grpSpPr>
        <p:sp>
          <p:nvSpPr>
            <p:cNvPr id="13" name="TextBox 10">
              <a:extLst>
                <a:ext uri="{FF2B5EF4-FFF2-40B4-BE49-F238E27FC236}">
                  <a16:creationId xmlns:a16="http://schemas.microsoft.com/office/drawing/2014/main" id="{99C7803B-D203-7848-A131-84416E596C61}"/>
                </a:ext>
              </a:extLst>
            </p:cNvPr>
            <p:cNvSpPr txBox="1"/>
            <p:nvPr/>
          </p:nvSpPr>
          <p:spPr>
            <a:xfrm>
              <a:off x="7572396" y="4325445"/>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分支结构</a:t>
              </a:r>
            </a:p>
          </p:txBody>
        </p:sp>
        <p:sp>
          <p:nvSpPr>
            <p:cNvPr id="14" name="圆角矩形 13">
              <a:extLst>
                <a:ext uri="{FF2B5EF4-FFF2-40B4-BE49-F238E27FC236}">
                  <a16:creationId xmlns:a16="http://schemas.microsoft.com/office/drawing/2014/main" id="{E23D2337-05D6-0043-BE0A-019E0FB487CB}"/>
                </a:ext>
              </a:extLst>
            </p:cNvPr>
            <p:cNvSpPr/>
            <p:nvPr/>
          </p:nvSpPr>
          <p:spPr>
            <a:xfrm>
              <a:off x="1058475" y="4286256"/>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20">
              <a:extLst>
                <a:ext uri="{FF2B5EF4-FFF2-40B4-BE49-F238E27FC236}">
                  <a16:creationId xmlns:a16="http://schemas.microsoft.com/office/drawing/2014/main" id="{8F8B4505-CDF3-0E44-B3F7-366A3496342D}"/>
                </a:ext>
              </a:extLst>
            </p:cNvPr>
            <p:cNvCxnSpPr>
              <a:stCxn id="14" idx="3"/>
              <a:endCxn id="13" idx="1"/>
            </p:cNvCxnSpPr>
            <p:nvPr/>
          </p:nvCxnSpPr>
          <p:spPr>
            <a:xfrm flipV="1">
              <a:off x="4273185" y="4494722"/>
              <a:ext cx="3299211" cy="5848"/>
            </a:xfrm>
            <a:prstGeom prst="line">
              <a:avLst/>
            </a:prstGeom>
          </p:spPr>
          <p:style>
            <a:lnRef idx="2">
              <a:schemeClr val="accent4"/>
            </a:lnRef>
            <a:fillRef idx="0">
              <a:schemeClr val="accent4"/>
            </a:fillRef>
            <a:effectRef idx="1">
              <a:schemeClr val="accent4"/>
            </a:effectRef>
            <a:fontRef idx="minor">
              <a:schemeClr val="tx1"/>
            </a:fontRef>
          </p:style>
        </p:cxnSp>
      </p:grpSp>
      <p:grpSp>
        <p:nvGrpSpPr>
          <p:cNvPr id="18" name="组合 17">
            <a:extLst>
              <a:ext uri="{FF2B5EF4-FFF2-40B4-BE49-F238E27FC236}">
                <a16:creationId xmlns:a16="http://schemas.microsoft.com/office/drawing/2014/main" id="{DEE5B1F2-C0B6-0743-BA13-FEFF40782558}"/>
              </a:ext>
            </a:extLst>
          </p:cNvPr>
          <p:cNvGrpSpPr/>
          <p:nvPr/>
        </p:nvGrpSpPr>
        <p:grpSpPr>
          <a:xfrm>
            <a:off x="1232646" y="4514172"/>
            <a:ext cx="7871243" cy="642942"/>
            <a:chOff x="1058475" y="4786322"/>
            <a:chExt cx="7871243" cy="642942"/>
          </a:xfrm>
        </p:grpSpPr>
        <p:sp>
          <p:nvSpPr>
            <p:cNvPr id="19" name="TextBox 11">
              <a:extLst>
                <a:ext uri="{FF2B5EF4-FFF2-40B4-BE49-F238E27FC236}">
                  <a16:creationId xmlns:a16="http://schemas.microsoft.com/office/drawing/2014/main" id="{7330EE4F-A8B4-1B4E-9D88-72E96EEB071A}"/>
                </a:ext>
              </a:extLst>
            </p:cNvPr>
            <p:cNvSpPr txBox="1"/>
            <p:nvPr/>
          </p:nvSpPr>
          <p:spPr>
            <a:xfrm>
              <a:off x="7572396" y="4910012"/>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循环结构</a:t>
              </a:r>
            </a:p>
          </p:txBody>
        </p:sp>
        <p:sp>
          <p:nvSpPr>
            <p:cNvPr id="20" name="圆角矩形 19">
              <a:extLst>
                <a:ext uri="{FF2B5EF4-FFF2-40B4-BE49-F238E27FC236}">
                  <a16:creationId xmlns:a16="http://schemas.microsoft.com/office/drawing/2014/main" id="{AA3CFB9E-7F50-A64E-824D-DEAD4EF86E0A}"/>
                </a:ext>
              </a:extLst>
            </p:cNvPr>
            <p:cNvSpPr/>
            <p:nvPr/>
          </p:nvSpPr>
          <p:spPr>
            <a:xfrm>
              <a:off x="1058475" y="4786322"/>
              <a:ext cx="3214710" cy="642942"/>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2">
              <a:extLst>
                <a:ext uri="{FF2B5EF4-FFF2-40B4-BE49-F238E27FC236}">
                  <a16:creationId xmlns:a16="http://schemas.microsoft.com/office/drawing/2014/main" id="{89225605-6D1A-A343-9878-E48E3AF1BDE0}"/>
                </a:ext>
              </a:extLst>
            </p:cNvPr>
            <p:cNvCxnSpPr>
              <a:stCxn id="20" idx="3"/>
              <a:endCxn id="19" idx="1"/>
            </p:cNvCxnSpPr>
            <p:nvPr/>
          </p:nvCxnSpPr>
          <p:spPr>
            <a:xfrm flipV="1">
              <a:off x="4273185" y="5079289"/>
              <a:ext cx="3299211" cy="28504"/>
            </a:xfrm>
            <a:prstGeom prst="line">
              <a:avLst/>
            </a:prstGeom>
          </p:spPr>
          <p:style>
            <a:lnRef idx="2">
              <a:schemeClr val="accent3"/>
            </a:lnRef>
            <a:fillRef idx="0">
              <a:schemeClr val="accent3"/>
            </a:fillRef>
            <a:effectRef idx="1">
              <a:schemeClr val="accent3"/>
            </a:effectRef>
            <a:fontRef idx="minor">
              <a:schemeClr val="tx1"/>
            </a:fontRef>
          </p:style>
        </p:cxnSp>
      </p:grpSp>
      <p:grpSp>
        <p:nvGrpSpPr>
          <p:cNvPr id="22" name="组合 21">
            <a:extLst>
              <a:ext uri="{FF2B5EF4-FFF2-40B4-BE49-F238E27FC236}">
                <a16:creationId xmlns:a16="http://schemas.microsoft.com/office/drawing/2014/main" id="{EB14F17B-80F4-1449-BB15-C8C14382CCCA}"/>
              </a:ext>
            </a:extLst>
          </p:cNvPr>
          <p:cNvGrpSpPr/>
          <p:nvPr/>
        </p:nvGrpSpPr>
        <p:grpSpPr>
          <a:xfrm>
            <a:off x="1232646" y="5215489"/>
            <a:ext cx="7871243" cy="428628"/>
            <a:chOff x="1058475" y="5487639"/>
            <a:chExt cx="7871243" cy="428628"/>
          </a:xfrm>
        </p:grpSpPr>
        <p:sp>
          <p:nvSpPr>
            <p:cNvPr id="23" name="TextBox 12">
              <a:extLst>
                <a:ext uri="{FF2B5EF4-FFF2-40B4-BE49-F238E27FC236}">
                  <a16:creationId xmlns:a16="http://schemas.microsoft.com/office/drawing/2014/main" id="{3F22F27C-D818-304F-851E-645A3A60470D}"/>
                </a:ext>
              </a:extLst>
            </p:cNvPr>
            <p:cNvSpPr txBox="1"/>
            <p:nvPr/>
          </p:nvSpPr>
          <p:spPr>
            <a:xfrm>
              <a:off x="7572396" y="5507642"/>
              <a:ext cx="1357322" cy="338554"/>
            </a:xfrm>
            <a:prstGeom prst="rect">
              <a:avLst/>
            </a:prstGeom>
            <a:noFill/>
          </p:spPr>
          <p:txBody>
            <a:bodyPr wrap="square" rtlCol="0">
              <a:spAutoFit/>
            </a:bodyPr>
            <a:lstStyle/>
            <a:p>
              <a:r>
                <a:rPr lang="zh-CN" altLang="en-US" sz="1600" spc="300">
                  <a:solidFill>
                    <a:srgbClr val="0000FF"/>
                  </a:solidFill>
                  <a:latin typeface="微软雅黑" pitchFamily="34" charset="-122"/>
                  <a:ea typeface="微软雅黑" pitchFamily="34" charset="-122"/>
                  <a:cs typeface="Times New Roman" pitchFamily="18" charset="0"/>
                </a:rPr>
                <a:t>顺序结构</a:t>
              </a:r>
            </a:p>
          </p:txBody>
        </p:sp>
        <p:sp>
          <p:nvSpPr>
            <p:cNvPr id="24" name="圆角矩形 23">
              <a:extLst>
                <a:ext uri="{FF2B5EF4-FFF2-40B4-BE49-F238E27FC236}">
                  <a16:creationId xmlns:a16="http://schemas.microsoft.com/office/drawing/2014/main" id="{3286DEC1-8CFF-D84A-B456-08811C002B8B}"/>
                </a:ext>
              </a:extLst>
            </p:cNvPr>
            <p:cNvSpPr/>
            <p:nvPr/>
          </p:nvSpPr>
          <p:spPr>
            <a:xfrm>
              <a:off x="1058475" y="5487639"/>
              <a:ext cx="3214710" cy="428628"/>
            </a:xfrm>
            <a:prstGeom prst="roundRect">
              <a:avLst/>
            </a:prstGeom>
            <a:solidFill>
              <a:schemeClr val="accent1">
                <a:alpha val="0"/>
              </a:schemeClr>
            </a:solidFill>
            <a:ln>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07012DA1-E4B8-3B45-B12E-BE798670C989}"/>
                </a:ext>
              </a:extLst>
            </p:cNvPr>
            <p:cNvCxnSpPr>
              <a:stCxn id="24" idx="3"/>
              <a:endCxn id="23" idx="1"/>
            </p:cNvCxnSpPr>
            <p:nvPr/>
          </p:nvCxnSpPr>
          <p:spPr>
            <a:xfrm flipV="1">
              <a:off x="4273185" y="5676919"/>
              <a:ext cx="3299211" cy="25034"/>
            </a:xfrm>
            <a:prstGeom prst="line">
              <a:avLst/>
            </a:prstGeom>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333504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a:extLst>
              <a:ext uri="{FF2B5EF4-FFF2-40B4-BE49-F238E27FC236}">
                <a16:creationId xmlns:a16="http://schemas.microsoft.com/office/drawing/2014/main" id="{1DDB0893-C694-9646-948C-1ECFE9E7F0E4}"/>
              </a:ext>
            </a:extLst>
          </p:cNvPr>
          <p:cNvSpPr txBox="1">
            <a:spLocks noChangeArrowheads="1"/>
          </p:cNvSpPr>
          <p:nvPr/>
        </p:nvSpPr>
        <p:spPr bwMode="auto">
          <a:xfrm>
            <a:off x="462642" y="1447348"/>
            <a:ext cx="11206844" cy="4267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2">
              <a:lnSpc>
                <a:spcPct val="150000"/>
              </a:lnSpc>
            </a:pPr>
            <a:r>
              <a:rPr lang="zh-CN" altLang="en-US" b="1" dirty="0">
                <a:latin typeface="Arial" panose="020B0604020202020204" pitchFamily="34" charset="0"/>
              </a:rPr>
              <a:t>  问题规模 </a:t>
            </a:r>
            <a:r>
              <a:rPr lang="en-US" altLang="zh-CN" b="1" dirty="0">
                <a:latin typeface="Arial" panose="020B0604020202020204" pitchFamily="34" charset="0"/>
              </a:rPr>
              <a:t>(</a:t>
            </a:r>
            <a:r>
              <a:rPr kumimoji="1" lang="zh-CN" altLang="en-US" sz="2400" b="1" dirty="0">
                <a:latin typeface="Times New Roman" panose="02020603050405020304" pitchFamily="18" charset="0"/>
              </a:rPr>
              <a:t>指输入量的多少</a:t>
            </a:r>
            <a:r>
              <a:rPr lang="en-US" altLang="zh-CN" b="1" dirty="0">
                <a:latin typeface="Arial" panose="020B0604020202020204" pitchFamily="34" charset="0"/>
              </a:rPr>
              <a:t>)</a:t>
            </a:r>
            <a:r>
              <a:rPr lang="zh-CN" altLang="en-US" b="1" dirty="0">
                <a:latin typeface="Arial" panose="020B0604020202020204" pitchFamily="34" charset="0"/>
              </a:rPr>
              <a:t>：用整数量</a:t>
            </a:r>
            <a:r>
              <a:rPr lang="en-US" altLang="zh-CN" b="1" dirty="0">
                <a:latin typeface="Arial" panose="020B0604020202020204" pitchFamily="34" charset="0"/>
              </a:rPr>
              <a:t>n</a:t>
            </a:r>
            <a:r>
              <a:rPr lang="zh-CN" altLang="en-US" b="1" dirty="0">
                <a:latin typeface="Arial" panose="020B0604020202020204" pitchFamily="34" charset="0"/>
              </a:rPr>
              <a:t>表示</a:t>
            </a:r>
            <a:endParaRPr lang="en-US" altLang="zh-CN" b="1" dirty="0">
              <a:latin typeface="Arial" panose="020B0604020202020204" pitchFamily="34" charset="0"/>
            </a:endParaRPr>
          </a:p>
          <a:p>
            <a:pPr marL="0" lvl="2">
              <a:lnSpc>
                <a:spcPct val="150000"/>
              </a:lnSpc>
            </a:pPr>
            <a:r>
              <a:rPr lang="en-US" altLang="zh-CN" dirty="0"/>
              <a:t> </a:t>
            </a:r>
            <a:r>
              <a:rPr lang="zh-CN" altLang="en-US" b="1" dirty="0">
                <a:latin typeface="Arial" panose="020B0604020202020204" pitchFamily="34" charset="0"/>
              </a:rPr>
              <a:t> 算法的</a:t>
            </a:r>
            <a:r>
              <a:rPr lang="zh-CN" altLang="en-US" b="1" u="sng" dirty="0">
                <a:latin typeface="Arial" panose="020B0604020202020204" pitchFamily="34" charset="0"/>
              </a:rPr>
              <a:t>原操作</a:t>
            </a:r>
            <a:r>
              <a:rPr lang="zh-CN" altLang="en-US" b="1" dirty="0">
                <a:latin typeface="Arial" panose="020B0604020202020204" pitchFamily="34" charset="0"/>
              </a:rPr>
              <a:t>次数可以用</a:t>
            </a:r>
            <a:r>
              <a:rPr lang="zh-CN" altLang="en-US" b="1" dirty="0">
                <a:solidFill>
                  <a:srgbClr val="FF0000"/>
                </a:solidFill>
                <a:latin typeface="Arial" panose="020B0604020202020204" pitchFamily="34" charset="0"/>
              </a:rPr>
              <a:t>函数</a:t>
            </a:r>
            <a:r>
              <a:rPr lang="en-US" altLang="zh-CN" b="1" dirty="0">
                <a:solidFill>
                  <a:srgbClr val="FF0000"/>
                </a:solidFill>
                <a:latin typeface="Arial" panose="020B0604020202020204" pitchFamily="34" charset="0"/>
              </a:rPr>
              <a:t>f(n)</a:t>
            </a:r>
            <a:r>
              <a:rPr lang="zh-CN" altLang="en-US" b="1" dirty="0">
                <a:solidFill>
                  <a:schemeClr val="tx2"/>
                </a:solidFill>
                <a:latin typeface="Arial" panose="020B0604020202020204" pitchFamily="34" charset="0"/>
              </a:rPr>
              <a:t>来表示</a:t>
            </a:r>
            <a:endParaRPr lang="zh-CN" altLang="en-US" b="1" dirty="0">
              <a:latin typeface="Arial" panose="020B0604020202020204" pitchFamily="34" charset="0"/>
            </a:endParaRPr>
          </a:p>
          <a:p>
            <a:pPr marL="0" lvl="2">
              <a:lnSpc>
                <a:spcPct val="110000"/>
              </a:lnSpc>
            </a:pPr>
            <a:endParaRPr lang="zh-CN" altLang="en-US" b="1" dirty="0">
              <a:latin typeface="Arial" panose="020B0604020202020204" pitchFamily="34" charset="0"/>
            </a:endParaRPr>
          </a:p>
          <a:p>
            <a:pPr marL="0" lvl="2">
              <a:lnSpc>
                <a:spcPct val="150000"/>
              </a:lnSpc>
            </a:pPr>
            <a:r>
              <a:rPr lang="zh-CN" altLang="en-US" b="1" dirty="0">
                <a:latin typeface="Arial" panose="020B0604020202020204" pitchFamily="34" charset="0"/>
              </a:rPr>
              <a:t>  假如随着</a:t>
            </a:r>
            <a:r>
              <a:rPr lang="zh-CN" altLang="en-US" b="1" dirty="0">
                <a:solidFill>
                  <a:srgbClr val="FF0000"/>
                </a:solidFill>
                <a:latin typeface="Arial" panose="020B0604020202020204" pitchFamily="34" charset="0"/>
                <a:ea typeface="黑体" panose="02010609060101010101" pitchFamily="49" charset="-122"/>
              </a:rPr>
              <a:t>问题规模</a:t>
            </a:r>
            <a:r>
              <a:rPr lang="en-US" altLang="zh-CN" b="1" dirty="0">
                <a:solidFill>
                  <a:srgbClr val="FF0000"/>
                </a:solidFill>
                <a:latin typeface="Arial" panose="020B0604020202020204" pitchFamily="34" charset="0"/>
              </a:rPr>
              <a:t>n</a:t>
            </a:r>
            <a:r>
              <a:rPr lang="zh-CN" altLang="en-US" b="1" dirty="0">
                <a:latin typeface="Arial" panose="020B0604020202020204" pitchFamily="34" charset="0"/>
              </a:rPr>
              <a:t>的增长</a:t>
            </a:r>
            <a:r>
              <a:rPr lang="en-US" altLang="zh-CN" b="1" dirty="0">
                <a:latin typeface="Arial" panose="020B0604020202020204" pitchFamily="34" charset="0"/>
              </a:rPr>
              <a:t>,</a:t>
            </a:r>
            <a:r>
              <a:rPr lang="zh-CN" altLang="en-US" b="1" dirty="0">
                <a:latin typeface="Arial" panose="020B0604020202020204" pitchFamily="34" charset="0"/>
              </a:rPr>
              <a:t>算法执行时间的增长率和</a:t>
            </a:r>
            <a:r>
              <a:rPr lang="en-US" altLang="zh-CN" b="1" dirty="0">
                <a:latin typeface="Arial" panose="020B0604020202020204" pitchFamily="34" charset="0"/>
              </a:rPr>
              <a:t>f(n)</a:t>
            </a:r>
            <a:r>
              <a:rPr lang="zh-CN" altLang="en-US" b="1" dirty="0">
                <a:latin typeface="Arial" panose="020B0604020202020204" pitchFamily="34" charset="0"/>
              </a:rPr>
              <a:t>的增长率相同</a:t>
            </a:r>
            <a:r>
              <a:rPr lang="en-US" altLang="zh-CN" b="1" dirty="0">
                <a:latin typeface="Arial" panose="020B0604020202020204" pitchFamily="34" charset="0"/>
              </a:rPr>
              <a:t>,</a:t>
            </a:r>
          </a:p>
          <a:p>
            <a:pPr marL="0" lvl="2">
              <a:lnSpc>
                <a:spcPct val="150000"/>
              </a:lnSpc>
            </a:pPr>
            <a:r>
              <a:rPr lang="zh-CN" altLang="en-US" b="1" dirty="0">
                <a:latin typeface="Arial" panose="020B0604020202020204" pitchFamily="34" charset="0"/>
              </a:rPr>
              <a:t>  则可记作</a:t>
            </a:r>
            <a:r>
              <a:rPr lang="en-US" altLang="zh-CN" b="1" dirty="0">
                <a:latin typeface="Arial" panose="020B0604020202020204" pitchFamily="34" charset="0"/>
              </a:rPr>
              <a:t>:</a:t>
            </a:r>
          </a:p>
          <a:p>
            <a:pPr marL="0" lvl="2">
              <a:lnSpc>
                <a:spcPct val="150000"/>
              </a:lnSpc>
            </a:pPr>
            <a:r>
              <a:rPr lang="en-US" altLang="zh-CN" b="1" dirty="0">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T(n)=</a:t>
            </a:r>
            <a:r>
              <a:rPr lang="en-US" altLang="zh-CN" b="1" dirty="0" err="1">
                <a:latin typeface="Arial" panose="020B0604020202020204" pitchFamily="34" charset="0"/>
              </a:rPr>
              <a:t>Ο</a:t>
            </a:r>
            <a:r>
              <a:rPr lang="en-US" altLang="zh-CN" b="1" dirty="0">
                <a:latin typeface="Arial" panose="020B0604020202020204" pitchFamily="34" charset="0"/>
              </a:rPr>
              <a:t>(f(n))</a:t>
            </a:r>
          </a:p>
          <a:p>
            <a:pPr marL="0" lvl="2">
              <a:lnSpc>
                <a:spcPct val="150000"/>
              </a:lnSpc>
            </a:pPr>
            <a:r>
              <a:rPr lang="en-US" altLang="zh-CN" b="1" dirty="0">
                <a:latin typeface="Arial" panose="020B0604020202020204" pitchFamily="34" charset="0"/>
              </a:rPr>
              <a:t>	</a:t>
            </a:r>
            <a:r>
              <a:rPr lang="zh-CN" altLang="en-US" b="1" dirty="0">
                <a:latin typeface="Arial" panose="020B0604020202020204" pitchFamily="34" charset="0"/>
              </a:rPr>
              <a:t>          称</a:t>
            </a:r>
            <a:r>
              <a:rPr lang="en-US" altLang="zh-CN" b="1" dirty="0">
                <a:solidFill>
                  <a:srgbClr val="FF0000"/>
                </a:solidFill>
                <a:latin typeface="Arial" panose="020B0604020202020204" pitchFamily="34" charset="0"/>
              </a:rPr>
              <a:t>T(n)</a:t>
            </a:r>
            <a:r>
              <a:rPr lang="zh-CN" altLang="en-US" b="1" dirty="0">
                <a:solidFill>
                  <a:srgbClr val="FF0000"/>
                </a:solidFill>
                <a:latin typeface="Arial" panose="020B0604020202020204" pitchFamily="34" charset="0"/>
              </a:rPr>
              <a:t>为算法的时间复杂度</a:t>
            </a:r>
            <a:r>
              <a:rPr lang="zh-CN" altLang="en-US" b="1" dirty="0">
                <a:latin typeface="Arial" panose="020B0604020202020204" pitchFamily="34" charset="0"/>
              </a:rPr>
              <a:t>。</a:t>
            </a:r>
          </a:p>
        </p:txBody>
      </p:sp>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Tree>
    <p:extLst>
      <p:ext uri="{BB962C8B-B14F-4D97-AF65-F5344CB8AC3E}">
        <p14:creationId xmlns:p14="http://schemas.microsoft.com/office/powerpoint/2010/main" val="756567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a:extLst>
              <a:ext uri="{FF2B5EF4-FFF2-40B4-BE49-F238E27FC236}">
                <a16:creationId xmlns:a16="http://schemas.microsoft.com/office/drawing/2014/main" id="{1DDB0893-C694-9646-948C-1ECFE9E7F0E4}"/>
              </a:ext>
            </a:extLst>
          </p:cNvPr>
          <p:cNvSpPr txBox="1">
            <a:spLocks noChangeArrowheads="1"/>
          </p:cNvSpPr>
          <p:nvPr/>
        </p:nvSpPr>
        <p:spPr bwMode="auto">
          <a:xfrm>
            <a:off x="713011" y="1458234"/>
            <a:ext cx="8833758" cy="348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2">
              <a:lnSpc>
                <a:spcPct val="200000"/>
              </a:lnSpc>
            </a:pPr>
            <a:r>
              <a:rPr lang="zh-CN" altLang="en-US" b="1" dirty="0">
                <a:latin typeface="Arial" panose="020B0604020202020204" pitchFamily="34" charset="0"/>
              </a:rPr>
              <a:t>时间复杂度估算方法</a:t>
            </a:r>
          </a:p>
          <a:p>
            <a:pPr marL="0" lvl="2">
              <a:lnSpc>
                <a:spcPct val="200000"/>
              </a:lnSpc>
            </a:pPr>
            <a:r>
              <a:rPr lang="zh-CN" altLang="en-US" b="1" dirty="0">
                <a:latin typeface="Arial" panose="020B0604020202020204" pitchFamily="34" charset="0"/>
              </a:rPr>
              <a:t>    由于：算法 </a:t>
            </a:r>
            <a:r>
              <a:rPr lang="en-US" altLang="zh-CN" b="1" dirty="0">
                <a:latin typeface="Arial" panose="020B0604020202020204" pitchFamily="34" charset="0"/>
              </a:rPr>
              <a:t>=</a:t>
            </a:r>
            <a:r>
              <a:rPr lang="zh-CN" altLang="en-US" b="1" dirty="0">
                <a:latin typeface="Arial" panose="020B0604020202020204" pitchFamily="34" charset="0"/>
              </a:rPr>
              <a:t> 控制结构 </a:t>
            </a:r>
            <a:r>
              <a:rPr lang="en-US" altLang="zh-CN" b="1" dirty="0">
                <a:latin typeface="Arial" panose="020B0604020202020204" pitchFamily="34" charset="0"/>
              </a:rPr>
              <a:t>+</a:t>
            </a:r>
            <a:r>
              <a:rPr lang="zh-CN" altLang="en-US" b="1" dirty="0">
                <a:latin typeface="Arial" panose="020B0604020202020204" pitchFamily="34" charset="0"/>
              </a:rPr>
              <a:t> 原操作 </a:t>
            </a:r>
            <a:r>
              <a:rPr lang="en-US" altLang="zh-CN" b="1" dirty="0">
                <a:latin typeface="Arial" panose="020B0604020202020204" pitchFamily="34" charset="0"/>
              </a:rPr>
              <a:t>(</a:t>
            </a:r>
            <a:r>
              <a:rPr lang="zh-CN" altLang="en-US" b="1" dirty="0">
                <a:latin typeface="Arial" panose="020B0604020202020204" pitchFamily="34" charset="0"/>
              </a:rPr>
              <a:t>固有数据类型的操作</a:t>
            </a:r>
            <a:r>
              <a:rPr lang="en-US" altLang="zh-CN" b="1" dirty="0">
                <a:latin typeface="Arial" panose="020B0604020202020204" pitchFamily="34" charset="0"/>
              </a:rPr>
              <a:t>)</a:t>
            </a:r>
          </a:p>
          <a:p>
            <a:pPr marL="0" lvl="2">
              <a:lnSpc>
                <a:spcPct val="200000"/>
              </a:lnSpc>
            </a:pPr>
            <a:r>
              <a:rPr lang="en-US" altLang="zh-CN" b="1" dirty="0">
                <a:latin typeface="Arial" panose="020B0604020202020204" pitchFamily="34" charset="0"/>
              </a:rPr>
              <a:t>    </a:t>
            </a:r>
            <a:r>
              <a:rPr lang="zh-CN" altLang="en-US" b="1" dirty="0">
                <a:latin typeface="Arial" panose="020B0604020202020204" pitchFamily="34" charset="0"/>
              </a:rPr>
              <a:t>所以：</a:t>
            </a:r>
            <a:r>
              <a:rPr lang="zh-CN" altLang="en-US" b="1" u="sng" dirty="0">
                <a:latin typeface="Arial" panose="020B0604020202020204" pitchFamily="34" charset="0"/>
              </a:rPr>
              <a:t>算法的执行时间 </a:t>
            </a:r>
            <a:r>
              <a:rPr lang="en-US" altLang="zh-CN" b="1" dirty="0">
                <a:latin typeface="Arial" panose="020B0604020202020204" pitchFamily="34" charset="0"/>
              </a:rPr>
              <a:t>= </a:t>
            </a:r>
            <a:r>
              <a:rPr lang="zh-CN" altLang="en-US" b="1" u="sng" dirty="0">
                <a:latin typeface="Arial" panose="020B0604020202020204" pitchFamily="34" charset="0"/>
              </a:rPr>
              <a:t>原操作执行次数</a:t>
            </a:r>
            <a:r>
              <a:rPr lang="zh-CN" altLang="en-US" b="1" dirty="0">
                <a:latin typeface="Arial" panose="020B0604020202020204" pitchFamily="34" charset="0"/>
              </a:rPr>
              <a:t>*原操作的执行时间</a:t>
            </a:r>
          </a:p>
          <a:p>
            <a:pPr marL="0" lvl="2">
              <a:lnSpc>
                <a:spcPct val="200000"/>
              </a:lnSpc>
            </a:pPr>
            <a:r>
              <a:rPr lang="zh-CN" altLang="en-US" b="1" dirty="0">
                <a:latin typeface="Arial" panose="020B0604020202020204" pitchFamily="34" charset="0"/>
              </a:rPr>
              <a:t>    即：</a:t>
            </a:r>
            <a:r>
              <a:rPr lang="zh-CN" altLang="en-US" b="1" dirty="0">
                <a:solidFill>
                  <a:srgbClr val="FF0000"/>
                </a:solidFill>
                <a:latin typeface="Arial" panose="020B0604020202020204" pitchFamily="34" charset="0"/>
              </a:rPr>
              <a:t>算法的执行时间与原操作执行次数成正比</a:t>
            </a:r>
            <a:r>
              <a:rPr lang="zh-CN" altLang="en-US" b="1" dirty="0">
                <a:latin typeface="Arial" panose="020B0604020202020204" pitchFamily="34" charset="0"/>
              </a:rPr>
              <a:t>。</a:t>
            </a:r>
          </a:p>
          <a:p>
            <a:pPr marL="0" lvl="2">
              <a:lnSpc>
                <a:spcPct val="200000"/>
              </a:lnSpc>
            </a:pPr>
            <a:endParaRPr lang="zh-CN" altLang="en-US" b="1" dirty="0">
              <a:latin typeface="Arial" panose="020B0604020202020204" pitchFamily="34" charset="0"/>
            </a:endParaRPr>
          </a:p>
        </p:txBody>
      </p:sp>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Tree>
    <p:extLst>
      <p:ext uri="{BB962C8B-B14F-4D97-AF65-F5344CB8AC3E}">
        <p14:creationId xmlns:p14="http://schemas.microsoft.com/office/powerpoint/2010/main" val="1084102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a:extLst>
              <a:ext uri="{FF2B5EF4-FFF2-40B4-BE49-F238E27FC236}">
                <a16:creationId xmlns:a16="http://schemas.microsoft.com/office/drawing/2014/main" id="{1DDB0893-C694-9646-948C-1ECFE9E7F0E4}"/>
              </a:ext>
            </a:extLst>
          </p:cNvPr>
          <p:cNvSpPr txBox="1">
            <a:spLocks noChangeArrowheads="1"/>
          </p:cNvSpPr>
          <p:nvPr/>
        </p:nvSpPr>
        <p:spPr bwMode="auto">
          <a:xfrm>
            <a:off x="709627" y="1458234"/>
            <a:ext cx="10772745" cy="3336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2">
              <a:lnSpc>
                <a:spcPct val="200000"/>
              </a:lnSpc>
            </a:pPr>
            <a:r>
              <a:rPr lang="zh-CN" altLang="en-US" b="1" dirty="0">
                <a:latin typeface="Arial" panose="020B0604020202020204" pitchFamily="34" charset="0"/>
              </a:rPr>
              <a:t>一个算法转换为程序后所耗费的时间</a:t>
            </a:r>
            <a:r>
              <a:rPr lang="en-US" altLang="zh-CN" b="1" dirty="0">
                <a:latin typeface="Arial" panose="020B0604020202020204" pitchFamily="34" charset="0"/>
              </a:rPr>
              <a:t>,</a:t>
            </a:r>
            <a:r>
              <a:rPr lang="zh-CN" altLang="en-US" b="1" dirty="0">
                <a:latin typeface="Arial" panose="020B0604020202020204" pitchFamily="34" charset="0"/>
              </a:rPr>
              <a:t>除了与所用的</a:t>
            </a:r>
            <a:r>
              <a:rPr lang="zh-CN" altLang="en-US" b="1" u="sng" dirty="0">
                <a:latin typeface="Arial" panose="020B0604020202020204" pitchFamily="34" charset="0"/>
              </a:rPr>
              <a:t>计算软、硬件环境</a:t>
            </a:r>
            <a:r>
              <a:rPr lang="zh-CN" altLang="en-US" b="1" dirty="0">
                <a:latin typeface="Arial" panose="020B0604020202020204" pitchFamily="34" charset="0"/>
              </a:rPr>
              <a:t>有关外，主要取决于算法中指令重复执行的次数，即语句的</a:t>
            </a:r>
            <a:r>
              <a:rPr lang="zh-CN" altLang="en-US" b="1" dirty="0">
                <a:solidFill>
                  <a:srgbClr val="FF0000"/>
                </a:solidFill>
                <a:latin typeface="Arial" panose="020B0604020202020204" pitchFamily="34" charset="0"/>
              </a:rPr>
              <a:t>频度</a:t>
            </a:r>
            <a:r>
              <a:rPr lang="zh-CN" altLang="en-US" b="1" dirty="0">
                <a:latin typeface="Arial" panose="020B0604020202020204" pitchFamily="34" charset="0"/>
              </a:rPr>
              <a:t>相关。</a:t>
            </a:r>
          </a:p>
          <a:p>
            <a:pPr marL="0" lvl="2">
              <a:lnSpc>
                <a:spcPct val="200000"/>
              </a:lnSpc>
            </a:pPr>
            <a:r>
              <a:rPr lang="zh-CN" altLang="en-US" b="1" dirty="0">
                <a:latin typeface="Arial" panose="020B0604020202020204" pitchFamily="34" charset="0"/>
              </a:rPr>
              <a:t>频度：语句的频度是指该语句重复执行的次数。</a:t>
            </a:r>
          </a:p>
          <a:p>
            <a:pPr marL="0" lvl="2">
              <a:lnSpc>
                <a:spcPct val="200000"/>
              </a:lnSpc>
            </a:pPr>
            <a:r>
              <a:rPr lang="zh-CN" altLang="en-US" b="1" dirty="0">
                <a:latin typeface="Arial" panose="020B0604020202020204" pitchFamily="34" charset="0"/>
              </a:rPr>
              <a:t>一个算法中所有</a:t>
            </a:r>
            <a:r>
              <a:rPr lang="zh-CN" altLang="en-US" b="1" dirty="0">
                <a:solidFill>
                  <a:srgbClr val="FF0000"/>
                </a:solidFill>
                <a:latin typeface="Arial" panose="020B0604020202020204" pitchFamily="34" charset="0"/>
              </a:rPr>
              <a:t>语句的频度之和</a:t>
            </a:r>
            <a:r>
              <a:rPr lang="zh-CN" altLang="en-US" b="1" dirty="0">
                <a:latin typeface="Arial" panose="020B0604020202020204" pitchFamily="34" charset="0"/>
              </a:rPr>
              <a:t>构成了该算法的运行时间。</a:t>
            </a:r>
          </a:p>
        </p:txBody>
      </p:sp>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Tree>
    <p:extLst>
      <p:ext uri="{BB962C8B-B14F-4D97-AF65-F5344CB8AC3E}">
        <p14:creationId xmlns:p14="http://schemas.microsoft.com/office/powerpoint/2010/main" val="3062750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
        <p:nvSpPr>
          <p:cNvPr id="5" name="Text Box 2">
            <a:extLst>
              <a:ext uri="{FF2B5EF4-FFF2-40B4-BE49-F238E27FC236}">
                <a16:creationId xmlns:a16="http://schemas.microsoft.com/office/drawing/2014/main" id="{20AACFE0-C4D5-C74D-B2DE-326836438133}"/>
              </a:ext>
            </a:extLst>
          </p:cNvPr>
          <p:cNvSpPr txBox="1">
            <a:spLocks noChangeArrowheads="1"/>
          </p:cNvSpPr>
          <p:nvPr/>
        </p:nvSpPr>
        <p:spPr bwMode="auto">
          <a:xfrm>
            <a:off x="300386" y="1292771"/>
            <a:ext cx="8747125"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marL="358775">
              <a:defRPr sz="2400">
                <a:solidFill>
                  <a:schemeClr val="tx1"/>
                </a:solidFill>
                <a:latin typeface="Times New Roman" panose="02020603050405020304" pitchFamily="18" charset="0"/>
                <a:ea typeface="宋体" panose="02010600030101010101" pitchFamily="2" charset="-122"/>
              </a:defRPr>
            </a:lvl3pPr>
            <a:lvl4pPr marL="538163">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2" algn="just">
              <a:lnSpc>
                <a:spcPct val="150000"/>
              </a:lnSpc>
              <a:spcBef>
                <a:spcPct val="45000"/>
              </a:spcBef>
            </a:pPr>
            <a:r>
              <a:rPr lang="zh-CN" altLang="en-US" b="1" dirty="0">
                <a:latin typeface="Arial" panose="020B0604020202020204" pitchFamily="34" charset="0"/>
              </a:rPr>
              <a:t>例如：  </a:t>
            </a:r>
            <a:r>
              <a:rPr lang="en-US" altLang="zh-CN" b="1" dirty="0">
                <a:cs typeface="Times New Roman" panose="02020603050405020304" pitchFamily="18" charset="0"/>
              </a:rPr>
              <a:t>for(j=1;</a:t>
            </a:r>
            <a:r>
              <a:rPr lang="zh-CN" altLang="en-US" b="1" dirty="0">
                <a:cs typeface="Times New Roman" panose="02020603050405020304" pitchFamily="18" charset="0"/>
              </a:rPr>
              <a:t> </a:t>
            </a:r>
            <a:r>
              <a:rPr lang="en-US" altLang="zh-CN" b="1" dirty="0">
                <a:cs typeface="Times New Roman" panose="02020603050405020304" pitchFamily="18" charset="0"/>
              </a:rPr>
              <a:t>j&lt;=n;</a:t>
            </a:r>
            <a:r>
              <a:rPr lang="zh-CN" altLang="en-US" b="1" dirty="0">
                <a:cs typeface="Times New Roman" panose="02020603050405020304" pitchFamily="18" charset="0"/>
              </a:rPr>
              <a:t> </a:t>
            </a:r>
            <a:r>
              <a:rPr lang="en-US" altLang="zh-CN" b="1" dirty="0">
                <a:cs typeface="Times New Roman" panose="02020603050405020304" pitchFamily="18" charset="0"/>
              </a:rPr>
              <a:t>j=j+1)   </a:t>
            </a:r>
          </a:p>
          <a:p>
            <a:pPr lvl="3" algn="just">
              <a:lnSpc>
                <a:spcPct val="150000"/>
              </a:lnSpc>
            </a:pPr>
            <a:r>
              <a:rPr lang="en-US" altLang="zh-CN" b="1" dirty="0">
                <a:cs typeface="Times New Roman" panose="02020603050405020304" pitchFamily="18" charset="0"/>
              </a:rPr>
              <a:t>             	for(k=1;</a:t>
            </a:r>
            <a:r>
              <a:rPr lang="zh-CN" altLang="en-US" b="1" dirty="0">
                <a:cs typeface="Times New Roman" panose="02020603050405020304" pitchFamily="18" charset="0"/>
              </a:rPr>
              <a:t> </a:t>
            </a:r>
            <a:r>
              <a:rPr lang="en-US" altLang="zh-CN" b="1" dirty="0">
                <a:cs typeface="Times New Roman" panose="02020603050405020304" pitchFamily="18" charset="0"/>
              </a:rPr>
              <a:t>k&lt;=n;</a:t>
            </a:r>
            <a:r>
              <a:rPr lang="zh-CN" altLang="en-US" b="1" dirty="0">
                <a:cs typeface="Times New Roman" panose="02020603050405020304" pitchFamily="18" charset="0"/>
              </a:rPr>
              <a:t> </a:t>
            </a:r>
            <a:r>
              <a:rPr lang="en-US" altLang="zh-CN" b="1" dirty="0">
                <a:cs typeface="Times New Roman" panose="02020603050405020304" pitchFamily="18" charset="0"/>
              </a:rPr>
              <a:t>k=k+1)</a:t>
            </a:r>
          </a:p>
          <a:p>
            <a:pPr lvl="3" algn="just">
              <a:lnSpc>
                <a:spcPct val="150000"/>
              </a:lnSpc>
            </a:pPr>
            <a:r>
              <a:rPr lang="en-US" altLang="zh-CN" b="1" dirty="0">
                <a:cs typeface="Times New Roman" panose="02020603050405020304" pitchFamily="18" charset="0"/>
              </a:rPr>
              <a:t>                </a:t>
            </a:r>
            <a:r>
              <a:rPr lang="zh-CN" altLang="en-US" b="1" dirty="0">
                <a:cs typeface="Times New Roman" panose="02020603050405020304" pitchFamily="18" charset="0"/>
              </a:rPr>
              <a:t>     </a:t>
            </a:r>
            <a:r>
              <a:rPr lang="en-US" altLang="zh-CN" b="1" dirty="0">
                <a:cs typeface="Times New Roman" panose="02020603050405020304" pitchFamily="18" charset="0"/>
              </a:rPr>
              <a:t>x=x+1</a:t>
            </a:r>
            <a:r>
              <a:rPr lang="zh-CN" altLang="en-US" b="1" dirty="0">
                <a:cs typeface="Times New Roman" panose="02020603050405020304" pitchFamily="18" charset="0"/>
              </a:rPr>
              <a:t>；</a:t>
            </a:r>
            <a:endParaRPr lang="en-US" altLang="zh-CN" b="1" dirty="0">
              <a:cs typeface="Times New Roman" panose="02020603050405020304" pitchFamily="18" charset="0"/>
            </a:endParaRPr>
          </a:p>
        </p:txBody>
      </p:sp>
      <p:sp>
        <p:nvSpPr>
          <p:cNvPr id="8" name="文本框 7">
            <a:extLst>
              <a:ext uri="{FF2B5EF4-FFF2-40B4-BE49-F238E27FC236}">
                <a16:creationId xmlns:a16="http://schemas.microsoft.com/office/drawing/2014/main" id="{5E6B5054-6413-744D-8AB5-C394CD015D12}"/>
              </a:ext>
            </a:extLst>
          </p:cNvPr>
          <p:cNvSpPr txBox="1"/>
          <p:nvPr/>
        </p:nvSpPr>
        <p:spPr>
          <a:xfrm>
            <a:off x="735980" y="3235244"/>
            <a:ext cx="4917688" cy="461665"/>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x=x+1</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Times New Roman" panose="02020603050405020304" pitchFamily="18" charset="0"/>
                <a:cs typeface="Times New Roman" panose="02020603050405020304" pitchFamily="18" charset="0"/>
              </a:rPr>
              <a:t>k=k+1</a:t>
            </a:r>
            <a:r>
              <a:rPr lang="zh-CN" altLang="en-US" sz="2400" b="1" dirty="0">
                <a:latin typeface="Times New Roman" panose="02020603050405020304" pitchFamily="18" charset="0"/>
                <a:cs typeface="Times New Roman" panose="02020603050405020304" pitchFamily="18" charset="0"/>
              </a:rPr>
              <a:t>的频度：</a:t>
            </a:r>
            <a:r>
              <a:rPr lang="en-US" altLang="zh-CN" sz="2400" b="1" dirty="0">
                <a:latin typeface="Arial" panose="020B0604020202020204" pitchFamily="34" charset="0"/>
              </a:rPr>
              <a:t> n</a:t>
            </a:r>
            <a:r>
              <a:rPr lang="en-US" altLang="zh-CN" sz="2400" b="1" baseline="30000" dirty="0">
                <a:latin typeface="Arial" panose="020B0604020202020204" pitchFamily="34" charset="0"/>
              </a:rPr>
              <a:t>2</a:t>
            </a:r>
            <a:endParaRPr lang="zh-CN" altLang="en-US" sz="24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CC1A77E-076C-A440-8AB5-40AAE9DDA094}"/>
              </a:ext>
            </a:extLst>
          </p:cNvPr>
          <p:cNvSpPr txBox="1"/>
          <p:nvPr/>
        </p:nvSpPr>
        <p:spPr>
          <a:xfrm>
            <a:off x="735980" y="3835794"/>
            <a:ext cx="4415883" cy="461665"/>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k=1</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Times New Roman" panose="02020603050405020304" pitchFamily="18" charset="0"/>
                <a:cs typeface="Times New Roman" panose="02020603050405020304" pitchFamily="18" charset="0"/>
              </a:rPr>
              <a:t>j=j+1</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Times New Roman" panose="02020603050405020304" pitchFamily="18" charset="0"/>
                <a:cs typeface="Times New Roman" panose="02020603050405020304" pitchFamily="18" charset="0"/>
              </a:rPr>
              <a:t>n</a:t>
            </a:r>
            <a:endParaRPr lang="zh-CN" altLang="en-US" sz="24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A5E4DF98-513F-824D-AA03-C4A66E4164C7}"/>
              </a:ext>
            </a:extLst>
          </p:cNvPr>
          <p:cNvSpPr txBox="1"/>
          <p:nvPr/>
        </p:nvSpPr>
        <p:spPr>
          <a:xfrm>
            <a:off x="735980" y="4481740"/>
            <a:ext cx="2475571" cy="461665"/>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j=1</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Times New Roman" panose="02020603050405020304" pitchFamily="18" charset="0"/>
                <a:cs typeface="Times New Roman" panose="02020603050405020304" pitchFamily="18" charset="0"/>
              </a:rPr>
              <a:t>:</a:t>
            </a:r>
            <a:r>
              <a:rPr lang="en-US" altLang="zh-CN" sz="1800" b="1" dirty="0">
                <a:latin typeface="Arial" panose="020B0604020202020204" pitchFamily="34" charset="0"/>
              </a:rPr>
              <a:t>	</a:t>
            </a:r>
            <a:r>
              <a:rPr lang="en-US" altLang="zh-CN" sz="2400" b="1" dirty="0">
                <a:latin typeface="Arial" panose="020B0604020202020204" pitchFamily="34" charset="0"/>
              </a:rPr>
              <a:t>1</a:t>
            </a:r>
            <a:endParaRPr lang="zh-CN" altLang="en-US" dirty="0"/>
          </a:p>
        </p:txBody>
      </p:sp>
      <p:sp>
        <p:nvSpPr>
          <p:cNvPr id="14" name="文本框 13">
            <a:extLst>
              <a:ext uri="{FF2B5EF4-FFF2-40B4-BE49-F238E27FC236}">
                <a16:creationId xmlns:a16="http://schemas.microsoft.com/office/drawing/2014/main" id="{D9236BF2-CB54-FA47-9F09-29BCF50141B3}"/>
              </a:ext>
            </a:extLst>
          </p:cNvPr>
          <p:cNvSpPr txBox="1"/>
          <p:nvPr/>
        </p:nvSpPr>
        <p:spPr>
          <a:xfrm>
            <a:off x="3323063" y="4460659"/>
            <a:ext cx="2899318" cy="461665"/>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j&lt;=n</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Arial" panose="020B0604020202020204" pitchFamily="34" charset="0"/>
              </a:rPr>
              <a:t> n+1</a:t>
            </a:r>
            <a:endParaRPr lang="zh-CN" altLang="en-US" sz="24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2DC959E4-28FA-D446-9AD3-626F92B5AFBA}"/>
              </a:ext>
            </a:extLst>
          </p:cNvPr>
          <p:cNvSpPr txBox="1"/>
          <p:nvPr/>
        </p:nvSpPr>
        <p:spPr>
          <a:xfrm>
            <a:off x="6244684" y="4460658"/>
            <a:ext cx="4010722" cy="461665"/>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k&lt;=n</a:t>
            </a:r>
            <a:r>
              <a:rPr lang="zh-CN" altLang="en-US" sz="2400" b="1" dirty="0">
                <a:latin typeface="Times New Roman" panose="02020603050405020304" pitchFamily="18" charset="0"/>
                <a:cs typeface="Times New Roman" panose="02020603050405020304" pitchFamily="18" charset="0"/>
              </a:rPr>
              <a:t> 的频度：</a:t>
            </a:r>
            <a:r>
              <a:rPr lang="en-US" altLang="zh-CN" sz="2400" b="1" dirty="0">
                <a:latin typeface="Arial" panose="020B0604020202020204" pitchFamily="34" charset="0"/>
              </a:rPr>
              <a:t> n(n+1)</a:t>
            </a:r>
            <a:endParaRPr lang="zh-CN" altLang="en-US" sz="24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026159CE-3E2B-5041-A44F-D2B6EF1D28BA}"/>
              </a:ext>
            </a:extLst>
          </p:cNvPr>
          <p:cNvSpPr txBox="1"/>
          <p:nvPr/>
        </p:nvSpPr>
        <p:spPr>
          <a:xfrm>
            <a:off x="635619" y="5224409"/>
            <a:ext cx="4137103" cy="461665"/>
          </a:xfrm>
          <a:prstGeom prst="rect">
            <a:avLst/>
          </a:prstGeom>
          <a:noFill/>
        </p:spPr>
        <p:txBody>
          <a:bodyPr wrap="square">
            <a:spAutoFit/>
          </a:bodyPr>
          <a:lstStyle/>
          <a:p>
            <a:r>
              <a:rPr lang="en-US" altLang="zh-CN" sz="2400" b="1" dirty="0">
                <a:latin typeface="Arial" panose="020B0604020202020204" pitchFamily="34" charset="0"/>
              </a:rPr>
              <a:t> </a:t>
            </a:r>
            <a:r>
              <a:rPr lang="zh-CN" altLang="en-US" sz="2400" b="1" dirty="0">
                <a:latin typeface="Arial" panose="020B0604020202020204" pitchFamily="34" charset="0"/>
              </a:rPr>
              <a:t>相加得到：</a:t>
            </a:r>
            <a:r>
              <a:rPr lang="en-US" altLang="zh-CN" sz="2400" b="1" dirty="0">
                <a:solidFill>
                  <a:srgbClr val="006600"/>
                </a:solidFill>
                <a:latin typeface="Arial" panose="020B0604020202020204" pitchFamily="34" charset="0"/>
              </a:rPr>
              <a:t>3n</a:t>
            </a:r>
            <a:r>
              <a:rPr lang="en-US" altLang="zh-CN" sz="2400" b="1" baseline="30000" dirty="0">
                <a:solidFill>
                  <a:srgbClr val="006600"/>
                </a:solidFill>
                <a:latin typeface="Arial" panose="020B0604020202020204" pitchFamily="34" charset="0"/>
              </a:rPr>
              <a:t>2</a:t>
            </a:r>
            <a:r>
              <a:rPr lang="en-US" altLang="zh-CN" sz="2400" b="1" dirty="0">
                <a:solidFill>
                  <a:srgbClr val="006600"/>
                </a:solidFill>
                <a:latin typeface="Arial" panose="020B0604020202020204" pitchFamily="34" charset="0"/>
              </a:rPr>
              <a:t>+4n+2</a:t>
            </a:r>
            <a:endParaRPr lang="zh-CN" altLang="en-US" sz="2400" dirty="0"/>
          </a:p>
        </p:txBody>
      </p:sp>
      <p:sp>
        <p:nvSpPr>
          <p:cNvPr id="19" name="Rectangle 1028">
            <a:extLst>
              <a:ext uri="{FF2B5EF4-FFF2-40B4-BE49-F238E27FC236}">
                <a16:creationId xmlns:a16="http://schemas.microsoft.com/office/drawing/2014/main" id="{07DEE1C8-C292-E945-BD3F-3DDA993E6887}"/>
              </a:ext>
            </a:extLst>
          </p:cNvPr>
          <p:cNvSpPr>
            <a:spLocks noChangeArrowheads="1"/>
          </p:cNvSpPr>
          <p:nvPr/>
        </p:nvSpPr>
        <p:spPr bwMode="auto">
          <a:xfrm>
            <a:off x="635619" y="3009478"/>
            <a:ext cx="9147381" cy="2944524"/>
          </a:xfrm>
          <a:prstGeom prst="rect">
            <a:avLst/>
          </a:prstGeom>
          <a:solidFill>
            <a:schemeClr val="bg1"/>
          </a:solidFill>
          <a:ln>
            <a:noFill/>
          </a:ln>
        </p:spPr>
        <p:txBody>
          <a:bodyPr wrap="square">
            <a:spAutoFit/>
          </a:bodyPr>
          <a:lstStyle/>
          <a:p>
            <a:pPr>
              <a:lnSpc>
                <a:spcPct val="200000"/>
              </a:lnSpc>
            </a:pPr>
            <a:r>
              <a:rPr lang="zh-CN" altLang="en-US" sz="2400" b="1" dirty="0">
                <a:latin typeface="Arial" panose="020B0604020202020204" pitchFamily="34" charset="0"/>
              </a:rPr>
              <a:t>相加得到：</a:t>
            </a:r>
            <a:r>
              <a:rPr lang="en-US" altLang="zh-CN" sz="2400" b="1" dirty="0">
                <a:solidFill>
                  <a:srgbClr val="006600"/>
                </a:solidFill>
                <a:latin typeface="Arial" panose="020B0604020202020204" pitchFamily="34" charset="0"/>
              </a:rPr>
              <a:t>3n</a:t>
            </a:r>
            <a:r>
              <a:rPr lang="en-US" altLang="zh-CN" sz="2400" b="1" baseline="30000" dirty="0">
                <a:solidFill>
                  <a:srgbClr val="006600"/>
                </a:solidFill>
                <a:latin typeface="Arial" panose="020B0604020202020204" pitchFamily="34" charset="0"/>
              </a:rPr>
              <a:t>2</a:t>
            </a:r>
            <a:r>
              <a:rPr lang="en-US" altLang="zh-CN" sz="2400" b="1" dirty="0">
                <a:solidFill>
                  <a:srgbClr val="006600"/>
                </a:solidFill>
                <a:latin typeface="Arial" panose="020B0604020202020204" pitchFamily="34" charset="0"/>
              </a:rPr>
              <a:t>+4n+2</a:t>
            </a:r>
            <a:endParaRPr lang="en-US" altLang="zh-CN" sz="2400" b="1" dirty="0"/>
          </a:p>
          <a:p>
            <a:pPr>
              <a:lnSpc>
                <a:spcPct val="200000"/>
              </a:lnSpc>
            </a:pPr>
            <a:r>
              <a:rPr lang="zh-CN" altLang="en-US" sz="2400" b="1" dirty="0"/>
              <a:t>该算法执行时间的增长率和函数</a:t>
            </a:r>
            <a:r>
              <a:rPr lang="en-US" altLang="zh-CN" sz="2400" b="1" dirty="0">
                <a:solidFill>
                  <a:schemeClr val="tx2"/>
                </a:solidFill>
              </a:rPr>
              <a:t>f(n)= 3n</a:t>
            </a:r>
            <a:r>
              <a:rPr lang="en-US" altLang="zh-CN" sz="2400" b="1" baseline="30000" dirty="0">
                <a:solidFill>
                  <a:schemeClr val="tx2"/>
                </a:solidFill>
                <a:latin typeface="Arial" panose="020B0604020202020204" pitchFamily="34" charset="0"/>
              </a:rPr>
              <a:t>2</a:t>
            </a:r>
            <a:r>
              <a:rPr lang="en-US" altLang="zh-CN" sz="2400" b="1" dirty="0">
                <a:solidFill>
                  <a:schemeClr val="tx2"/>
                </a:solidFill>
              </a:rPr>
              <a:t>+4n+2</a:t>
            </a:r>
            <a:r>
              <a:rPr lang="zh-CN" altLang="en-US" sz="2400" b="1" dirty="0"/>
              <a:t>相同，</a:t>
            </a:r>
          </a:p>
          <a:p>
            <a:pPr>
              <a:lnSpc>
                <a:spcPct val="200000"/>
              </a:lnSpc>
            </a:pPr>
            <a:r>
              <a:rPr lang="zh-CN" altLang="en-US" sz="2400" b="1" dirty="0"/>
              <a:t>其时间复杂度可以记为：</a:t>
            </a:r>
            <a:r>
              <a:rPr lang="en-US" altLang="zh-CN" sz="2400" b="1" dirty="0"/>
              <a:t>T(n)=Of(n)=O(3n</a:t>
            </a:r>
            <a:r>
              <a:rPr lang="en-US" altLang="zh-CN" sz="2400" b="1" baseline="30000" dirty="0">
                <a:latin typeface="Arial" panose="020B0604020202020204" pitchFamily="34" charset="0"/>
              </a:rPr>
              <a:t>2</a:t>
            </a:r>
            <a:r>
              <a:rPr lang="en-US" altLang="zh-CN" sz="2400" b="1" dirty="0"/>
              <a:t>+4n+2)</a:t>
            </a:r>
          </a:p>
          <a:p>
            <a:pPr>
              <a:lnSpc>
                <a:spcPct val="200000"/>
              </a:lnSpc>
            </a:pPr>
            <a:endParaRPr lang="en-US" altLang="zh-CN" sz="2400" b="1" dirty="0"/>
          </a:p>
        </p:txBody>
      </p:sp>
      <p:sp>
        <p:nvSpPr>
          <p:cNvPr id="2" name="云形 1">
            <a:extLst>
              <a:ext uri="{FF2B5EF4-FFF2-40B4-BE49-F238E27FC236}">
                <a16:creationId xmlns:a16="http://schemas.microsoft.com/office/drawing/2014/main" id="{DF15F502-8113-2345-BAAB-82757A2E51B8}"/>
              </a:ext>
            </a:extLst>
          </p:cNvPr>
          <p:cNvSpPr/>
          <p:nvPr/>
        </p:nvSpPr>
        <p:spPr>
          <a:xfrm>
            <a:off x="6222381" y="1560993"/>
            <a:ext cx="2879835" cy="144848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计算每一条语句的频度！</a:t>
            </a:r>
          </a:p>
        </p:txBody>
      </p:sp>
    </p:spTree>
    <p:extLst>
      <p:ext uri="{BB962C8B-B14F-4D97-AF65-F5344CB8AC3E}">
        <p14:creationId xmlns:p14="http://schemas.microsoft.com/office/powerpoint/2010/main" val="301075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linds(horizontal)">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P spid="18" grpId="0"/>
      <p:bldP spid="19" grpId="0" animBg="1"/>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
        <p:nvSpPr>
          <p:cNvPr id="13" name="文本框 12">
            <a:extLst>
              <a:ext uri="{FF2B5EF4-FFF2-40B4-BE49-F238E27FC236}">
                <a16:creationId xmlns:a16="http://schemas.microsoft.com/office/drawing/2014/main" id="{BA5D7D6F-1070-684F-8742-3C9F7732930F}"/>
              </a:ext>
            </a:extLst>
          </p:cNvPr>
          <p:cNvSpPr txBox="1"/>
          <p:nvPr/>
        </p:nvSpPr>
        <p:spPr>
          <a:xfrm>
            <a:off x="-256479" y="1303181"/>
            <a:ext cx="11965259" cy="3504806"/>
          </a:xfrm>
          <a:prstGeom prst="rect">
            <a:avLst/>
          </a:prstGeom>
          <a:noFill/>
        </p:spPr>
        <p:txBody>
          <a:bodyPr wrap="square">
            <a:spAutoFit/>
          </a:bodyPr>
          <a:lstStyle/>
          <a:p>
            <a:pPr lvl="2">
              <a:lnSpc>
                <a:spcPct val="120000"/>
              </a:lnSpc>
            </a:pPr>
            <a:r>
              <a:rPr lang="zh-CN" altLang="en-US" sz="2400" b="1" dirty="0">
                <a:latin typeface="宋体" panose="02010600030101010101" pitchFamily="2" charset="-122"/>
              </a:rPr>
              <a:t>算法的时间复杂度使用记号</a:t>
            </a:r>
            <a:r>
              <a:rPr lang="en-US" altLang="zh-CN" sz="2400" b="1" dirty="0"/>
              <a:t>O</a:t>
            </a:r>
            <a:r>
              <a:rPr lang="zh-CN" altLang="en-US" sz="2400" b="1" dirty="0"/>
              <a:t>（数量级</a:t>
            </a:r>
            <a:r>
              <a:rPr lang="en-US" altLang="zh-CN" sz="2400" b="1" dirty="0">
                <a:solidFill>
                  <a:srgbClr val="FF0000"/>
                </a:solidFill>
              </a:rPr>
              <a:t>O</a:t>
            </a:r>
            <a:r>
              <a:rPr lang="en-US" altLang="zh-CN" sz="2400" b="1" dirty="0"/>
              <a:t>rder</a:t>
            </a:r>
            <a:r>
              <a:rPr lang="zh-CN" altLang="en-US" sz="2400" b="1" dirty="0"/>
              <a:t>）标识</a:t>
            </a:r>
          </a:p>
          <a:p>
            <a:pPr lvl="2">
              <a:lnSpc>
                <a:spcPct val="150000"/>
              </a:lnSpc>
              <a:spcBef>
                <a:spcPct val="45000"/>
              </a:spcBef>
            </a:pPr>
            <a:r>
              <a:rPr lang="zh-CN" altLang="en-US" sz="2400" b="1" dirty="0">
                <a:solidFill>
                  <a:schemeClr val="tx2"/>
                </a:solidFill>
                <a:ea typeface="黑体" panose="02010609060101010101" pitchFamily="49" charset="-122"/>
              </a:rPr>
              <a:t>例如：</a:t>
            </a:r>
          </a:p>
          <a:p>
            <a:pPr lvl="2">
              <a:lnSpc>
                <a:spcPct val="150000"/>
              </a:lnSpc>
              <a:spcBef>
                <a:spcPct val="5000"/>
              </a:spcBef>
            </a:pPr>
            <a:r>
              <a:rPr lang="zh-CN" altLang="en-US" sz="2400" b="1" dirty="0">
                <a:latin typeface="Arial" panose="020B0604020202020204" pitchFamily="34" charset="0"/>
              </a:rPr>
              <a:t>若一个算法的运行时间用规模</a:t>
            </a:r>
            <a:r>
              <a:rPr lang="en-US" altLang="zh-CN" sz="2400" b="1" dirty="0">
                <a:latin typeface="Arial" panose="020B0604020202020204" pitchFamily="34" charset="0"/>
              </a:rPr>
              <a:t>n</a:t>
            </a:r>
            <a:r>
              <a:rPr lang="zh-CN" altLang="en-US" sz="2400" b="1" dirty="0">
                <a:latin typeface="Arial" panose="020B0604020202020204" pitchFamily="34" charset="0"/>
              </a:rPr>
              <a:t>可表示为：</a:t>
            </a:r>
            <a:r>
              <a:rPr lang="en-US" altLang="zh-CN" sz="2400" b="1" dirty="0">
                <a:latin typeface="Arial" panose="020B0604020202020204" pitchFamily="34" charset="0"/>
              </a:rPr>
              <a:t>n</a:t>
            </a:r>
            <a:r>
              <a:rPr lang="en-US" altLang="zh-CN" sz="2400" b="1" baseline="30000" dirty="0">
                <a:latin typeface="Arial" panose="020B0604020202020204" pitchFamily="34" charset="0"/>
              </a:rPr>
              <a:t>2</a:t>
            </a:r>
            <a:r>
              <a:rPr lang="en-US" altLang="zh-CN" sz="2400" b="1" dirty="0">
                <a:latin typeface="Arial" panose="020B0604020202020204" pitchFamily="34" charset="0"/>
              </a:rPr>
              <a:t>+n+1</a:t>
            </a:r>
          </a:p>
          <a:p>
            <a:pPr lvl="2">
              <a:lnSpc>
                <a:spcPct val="150000"/>
              </a:lnSpc>
              <a:spcBef>
                <a:spcPct val="5000"/>
              </a:spcBef>
            </a:pPr>
            <a:r>
              <a:rPr lang="zh-CN" altLang="en-US" sz="2400" b="1" dirty="0">
                <a:latin typeface="Arial" panose="020B0604020202020204" pitchFamily="34" charset="0"/>
              </a:rPr>
              <a:t>由于</a:t>
            </a:r>
            <a:r>
              <a:rPr lang="en-US" altLang="zh-CN" sz="2400" b="1" dirty="0">
                <a:solidFill>
                  <a:srgbClr val="FF0000"/>
                </a:solidFill>
                <a:latin typeface="Arial" panose="020B0604020202020204" pitchFamily="34" charset="0"/>
              </a:rPr>
              <a:t>n</a:t>
            </a:r>
            <a:r>
              <a:rPr lang="en-US" altLang="zh-CN" sz="2400" b="1" baseline="30000" dirty="0">
                <a:solidFill>
                  <a:srgbClr val="FF0000"/>
                </a:solidFill>
                <a:latin typeface="Arial" panose="020B0604020202020204" pitchFamily="34" charset="0"/>
              </a:rPr>
              <a:t>2</a:t>
            </a:r>
            <a:r>
              <a:rPr lang="en-US" altLang="zh-CN" sz="2400" b="1" dirty="0">
                <a:solidFill>
                  <a:srgbClr val="FF0000"/>
                </a:solidFill>
                <a:latin typeface="Arial" panose="020B0604020202020204" pitchFamily="34" charset="0"/>
              </a:rPr>
              <a:t>+n+1</a:t>
            </a:r>
            <a:r>
              <a:rPr lang="zh-CN" altLang="en-US" sz="2400" b="1" dirty="0">
                <a:solidFill>
                  <a:srgbClr val="FF0000"/>
                </a:solidFill>
                <a:latin typeface="Arial" panose="020B0604020202020204" pitchFamily="34" charset="0"/>
              </a:rPr>
              <a:t>与</a:t>
            </a:r>
            <a:r>
              <a:rPr lang="en-US" altLang="zh-CN" sz="2400" b="1" dirty="0">
                <a:solidFill>
                  <a:srgbClr val="FF0000"/>
                </a:solidFill>
                <a:latin typeface="Arial" panose="020B0604020202020204" pitchFamily="34" charset="0"/>
              </a:rPr>
              <a:t>n</a:t>
            </a:r>
            <a:r>
              <a:rPr lang="en-US" altLang="zh-CN" sz="2400" b="1" baseline="30000" dirty="0">
                <a:solidFill>
                  <a:srgbClr val="FF0000"/>
                </a:solidFill>
                <a:latin typeface="Arial" panose="020B0604020202020204" pitchFamily="34" charset="0"/>
              </a:rPr>
              <a:t>2</a:t>
            </a:r>
            <a:r>
              <a:rPr lang="zh-CN" altLang="en-US" sz="2400" b="1" dirty="0">
                <a:latin typeface="Arial" panose="020B0604020202020204" pitchFamily="34" charset="0"/>
              </a:rPr>
              <a:t>的数量级相等，</a:t>
            </a:r>
            <a:endParaRPr lang="en-US" altLang="zh-CN" sz="2400" b="1" dirty="0">
              <a:latin typeface="Arial" panose="020B0604020202020204" pitchFamily="34" charset="0"/>
            </a:endParaRPr>
          </a:p>
          <a:p>
            <a:pPr lvl="2">
              <a:lnSpc>
                <a:spcPct val="150000"/>
              </a:lnSpc>
              <a:spcBef>
                <a:spcPct val="5000"/>
              </a:spcBef>
            </a:pPr>
            <a:r>
              <a:rPr lang="zh-CN" altLang="en-US" sz="2400" b="1" dirty="0">
                <a:latin typeface="Arial" panose="020B0604020202020204" pitchFamily="34" charset="0"/>
              </a:rPr>
              <a:t>我们说这个算法的渐进时间复杂度</a:t>
            </a:r>
            <a:r>
              <a:rPr lang="en-US" altLang="zh-CN" sz="2400" b="1" dirty="0">
                <a:latin typeface="Arial" panose="020B0604020202020204" pitchFamily="34" charset="0"/>
              </a:rPr>
              <a:t>(</a:t>
            </a:r>
            <a:r>
              <a:rPr lang="zh-CN" altLang="en-US" sz="2400" b="1" dirty="0">
                <a:latin typeface="Arial" panose="020B0604020202020204" pitchFamily="34" charset="0"/>
              </a:rPr>
              <a:t>简称</a:t>
            </a:r>
            <a:r>
              <a:rPr lang="zh-CN" altLang="en-US" sz="2400" b="1" dirty="0">
                <a:solidFill>
                  <a:schemeClr val="tx2"/>
                </a:solidFill>
                <a:latin typeface="Arial" panose="020B0604020202020204" pitchFamily="34" charset="0"/>
                <a:ea typeface="黑体" panose="02010609060101010101" pitchFamily="49" charset="-122"/>
              </a:rPr>
              <a:t>算法的时间复杂度</a:t>
            </a:r>
            <a:r>
              <a:rPr lang="en-US" altLang="zh-CN" sz="2400" b="1" dirty="0">
                <a:latin typeface="Arial" panose="020B0604020202020204" pitchFamily="34" charset="0"/>
              </a:rPr>
              <a:t>)</a:t>
            </a:r>
            <a:r>
              <a:rPr lang="zh-CN" altLang="en-US" sz="2400" b="1" dirty="0">
                <a:latin typeface="Arial" panose="020B0604020202020204" pitchFamily="34" charset="0"/>
              </a:rPr>
              <a:t>为：		</a:t>
            </a:r>
          </a:p>
          <a:p>
            <a:pPr lvl="2">
              <a:lnSpc>
                <a:spcPct val="120000"/>
              </a:lnSpc>
              <a:spcBef>
                <a:spcPct val="35000"/>
              </a:spcBef>
            </a:pPr>
            <a:r>
              <a:rPr lang="en-US" altLang="zh-CN" sz="2400" b="1" dirty="0">
                <a:latin typeface="Arial" panose="020B0604020202020204" pitchFamily="34" charset="0"/>
              </a:rPr>
              <a:t>T(n)=O(n</a:t>
            </a:r>
            <a:r>
              <a:rPr lang="en-US" altLang="zh-CN" sz="2400" b="1" baseline="30000" dirty="0">
                <a:latin typeface="Arial" panose="020B0604020202020204" pitchFamily="34" charset="0"/>
              </a:rPr>
              <a:t>2</a:t>
            </a:r>
            <a:r>
              <a:rPr lang="en-US" altLang="zh-CN" sz="2400" b="1" dirty="0">
                <a:latin typeface="Arial" panose="020B0604020202020204" pitchFamily="34" charset="0"/>
              </a:rPr>
              <a:t>) </a:t>
            </a:r>
          </a:p>
        </p:txBody>
      </p:sp>
      <p:sp>
        <p:nvSpPr>
          <p:cNvPr id="15" name="Rectangle 5">
            <a:extLst>
              <a:ext uri="{FF2B5EF4-FFF2-40B4-BE49-F238E27FC236}">
                <a16:creationId xmlns:a16="http://schemas.microsoft.com/office/drawing/2014/main" id="{2BAFE608-1A60-7C4D-8400-871F5A8801E9}"/>
              </a:ext>
            </a:extLst>
          </p:cNvPr>
          <p:cNvSpPr>
            <a:spLocks noChangeArrowheads="1"/>
          </p:cNvSpPr>
          <p:nvPr/>
        </p:nvSpPr>
        <p:spPr bwMode="auto">
          <a:xfrm>
            <a:off x="644641" y="5010191"/>
            <a:ext cx="684053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80000"/>
              </a:spcBef>
            </a:pPr>
            <a:r>
              <a:rPr lang="zh-CN" altLang="en-US" sz="2400" b="1" dirty="0">
                <a:latin typeface="Arial" panose="020B0604020202020204" pitchFamily="34" charset="0"/>
              </a:rPr>
              <a:t>对于：</a:t>
            </a:r>
            <a:r>
              <a:rPr lang="en-US" altLang="zh-CN" sz="2400" b="1" dirty="0">
                <a:latin typeface="Arial" panose="020B0604020202020204" pitchFamily="34" charset="0"/>
              </a:rPr>
              <a:t>T(n)=Of(n)=O(3n</a:t>
            </a:r>
            <a:r>
              <a:rPr lang="en-US" altLang="zh-CN" sz="2400" b="1" baseline="30000" dirty="0">
                <a:latin typeface="Arial" panose="020B0604020202020204" pitchFamily="34" charset="0"/>
              </a:rPr>
              <a:t>2</a:t>
            </a:r>
            <a:r>
              <a:rPr lang="en-US" altLang="zh-CN" sz="2400" b="1" dirty="0">
                <a:latin typeface="Arial" panose="020B0604020202020204" pitchFamily="34" charset="0"/>
              </a:rPr>
              <a:t>+4n+2) </a:t>
            </a:r>
          </a:p>
          <a:p>
            <a:pPr>
              <a:spcBef>
                <a:spcPct val="80000"/>
              </a:spcBef>
            </a:pPr>
            <a:r>
              <a:rPr lang="zh-CN" altLang="en-US" sz="2400" b="1" dirty="0">
                <a:latin typeface="Arial" panose="020B0604020202020204" pitchFamily="34" charset="0"/>
              </a:rPr>
              <a:t>该算法的时间复杂度可以记为： </a:t>
            </a:r>
            <a:r>
              <a:rPr lang="en-US" altLang="zh-CN" sz="2400" b="1" dirty="0">
                <a:latin typeface="Arial" panose="020B0604020202020204" pitchFamily="34" charset="0"/>
              </a:rPr>
              <a:t>T(n)=O(n</a:t>
            </a:r>
            <a:r>
              <a:rPr lang="en-US" altLang="zh-CN" sz="2400" b="1" baseline="30000" dirty="0">
                <a:latin typeface="Arial" panose="020B0604020202020204" pitchFamily="34" charset="0"/>
              </a:rPr>
              <a:t>2</a:t>
            </a:r>
            <a:r>
              <a:rPr lang="en-US" altLang="zh-CN" sz="2400" b="1" dirty="0">
                <a:latin typeface="Arial" panose="020B0604020202020204" pitchFamily="34" charset="0"/>
              </a:rPr>
              <a:t>)</a:t>
            </a:r>
          </a:p>
        </p:txBody>
      </p:sp>
    </p:spTree>
    <p:extLst>
      <p:ext uri="{BB962C8B-B14F-4D97-AF65-F5344CB8AC3E}">
        <p14:creationId xmlns:p14="http://schemas.microsoft.com/office/powerpoint/2010/main" val="1081683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算法时间复杂度分析</a:t>
            </a:r>
          </a:p>
        </p:txBody>
      </p:sp>
      <p:sp>
        <p:nvSpPr>
          <p:cNvPr id="5" name="Text Box 2">
            <a:extLst>
              <a:ext uri="{FF2B5EF4-FFF2-40B4-BE49-F238E27FC236}">
                <a16:creationId xmlns:a16="http://schemas.microsoft.com/office/drawing/2014/main" id="{5098247B-2B53-074D-AC47-C772226C88C0}"/>
              </a:ext>
            </a:extLst>
          </p:cNvPr>
          <p:cNvSpPr txBox="1">
            <a:spLocks noChangeArrowheads="1"/>
          </p:cNvSpPr>
          <p:nvPr/>
        </p:nvSpPr>
        <p:spPr bwMode="auto">
          <a:xfrm>
            <a:off x="640615" y="1330790"/>
            <a:ext cx="10153766" cy="1050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2200" b="1" dirty="0">
                <a:latin typeface="宋体" panose="02010600030101010101" pitchFamily="2" charset="-122"/>
              </a:rPr>
              <a:t>对较复杂的算法计算运行时间</a:t>
            </a:r>
            <a:r>
              <a:rPr lang="en-US" altLang="zh-CN" sz="2200" b="1" dirty="0">
                <a:latin typeface="宋体" panose="02010600030101010101" pitchFamily="2" charset="-122"/>
              </a:rPr>
              <a:t>,</a:t>
            </a:r>
            <a:r>
              <a:rPr lang="zh-CN" altLang="en-US" sz="2200" b="1" dirty="0">
                <a:latin typeface="宋体" panose="02010600030101010101" pitchFamily="2" charset="-122"/>
              </a:rPr>
              <a:t>要选取算法的基本</a:t>
            </a:r>
            <a:r>
              <a:rPr lang="en-US" altLang="zh-CN" sz="2200" b="1" dirty="0">
                <a:latin typeface="宋体" panose="02010600030101010101" pitchFamily="2" charset="-122"/>
              </a:rPr>
              <a:t>(</a:t>
            </a:r>
            <a:r>
              <a:rPr lang="zh-CN" altLang="en-US" sz="2200" b="1" dirty="0">
                <a:latin typeface="宋体" panose="02010600030101010101" pitchFamily="2" charset="-122"/>
              </a:rPr>
              <a:t>或者说是主要</a:t>
            </a:r>
            <a:r>
              <a:rPr lang="en-US" altLang="zh-CN" sz="2200" b="1" dirty="0">
                <a:latin typeface="宋体" panose="02010600030101010101" pitchFamily="2" charset="-122"/>
              </a:rPr>
              <a:t>)</a:t>
            </a:r>
            <a:r>
              <a:rPr lang="zh-CN" altLang="en-US" sz="2200" b="1" dirty="0">
                <a:latin typeface="宋体" panose="02010600030101010101" pitchFamily="2" charset="-122"/>
              </a:rPr>
              <a:t>的原操作</a:t>
            </a:r>
            <a:r>
              <a:rPr lang="en-US" altLang="zh-CN" sz="2200" b="1" dirty="0">
                <a:latin typeface="宋体" panose="02010600030101010101" pitchFamily="2" charset="-122"/>
              </a:rPr>
              <a:t>,</a:t>
            </a:r>
            <a:r>
              <a:rPr lang="zh-CN" altLang="en-US" sz="2200" b="1" dirty="0">
                <a:latin typeface="宋体" panose="02010600030101010101" pitchFamily="2" charset="-122"/>
              </a:rPr>
              <a:t>以该基本操作在算法中</a:t>
            </a:r>
            <a:r>
              <a:rPr lang="zh-CN" altLang="en-US" sz="2200" b="1" dirty="0">
                <a:solidFill>
                  <a:srgbClr val="FF0000"/>
                </a:solidFill>
                <a:latin typeface="宋体" panose="02010600030101010101" pitchFamily="2" charset="-122"/>
              </a:rPr>
              <a:t>执行的次数</a:t>
            </a:r>
            <a:r>
              <a:rPr lang="zh-CN" altLang="en-US" sz="2200" b="1" dirty="0">
                <a:latin typeface="宋体" panose="02010600030101010101" pitchFamily="2" charset="-122"/>
              </a:rPr>
              <a:t>作为算法运行时间的衡量准则。</a:t>
            </a:r>
          </a:p>
        </p:txBody>
      </p:sp>
      <p:sp>
        <p:nvSpPr>
          <p:cNvPr id="6" name="Text Box 2">
            <a:extLst>
              <a:ext uri="{FF2B5EF4-FFF2-40B4-BE49-F238E27FC236}">
                <a16:creationId xmlns:a16="http://schemas.microsoft.com/office/drawing/2014/main" id="{43DA6AD4-18A7-AD44-A893-7729D0716744}"/>
              </a:ext>
            </a:extLst>
          </p:cNvPr>
          <p:cNvSpPr txBox="1">
            <a:spLocks noChangeArrowheads="1"/>
          </p:cNvSpPr>
          <p:nvPr/>
        </p:nvSpPr>
        <p:spPr bwMode="auto">
          <a:xfrm>
            <a:off x="802889" y="2481823"/>
            <a:ext cx="4659468" cy="3689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endParaRPr lang="zh-CN" altLang="en-US" sz="1200" b="1" dirty="0">
              <a:latin typeface="宋体" panose="02010600030101010101" pitchFamily="2" charset="-122"/>
            </a:endParaRPr>
          </a:p>
          <a:p>
            <a:pPr algn="just"/>
            <a:r>
              <a:rPr lang="zh-CN" altLang="en-US" b="1" dirty="0">
                <a:latin typeface="宋体" panose="02010600030101010101" pitchFamily="2" charset="-122"/>
              </a:rPr>
              <a:t>      例如：     </a:t>
            </a:r>
            <a:endParaRPr lang="en-US" altLang="zh-CN" b="1" dirty="0">
              <a:latin typeface="宋体" panose="02010600030101010101" pitchFamily="2" charset="-122"/>
            </a:endParaRPr>
          </a:p>
          <a:p>
            <a:pPr algn="just"/>
            <a:endParaRPr lang="en-US" altLang="zh-CN" b="1" dirty="0">
              <a:latin typeface="宋体" panose="02010600030101010101" pitchFamily="2" charset="-122"/>
            </a:endParaRPr>
          </a:p>
          <a:p>
            <a:pPr lvl="1" algn="just">
              <a:lnSpc>
                <a:spcPct val="150000"/>
              </a:lnSpc>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for(</a:t>
            </a:r>
            <a:r>
              <a:rPr lang="en-US" altLang="zh-CN" b="1"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=1;i&lt;=n; </a:t>
            </a:r>
            <a:r>
              <a:rPr lang="en-US" altLang="zh-CN" b="1"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=i+1)</a:t>
            </a:r>
          </a:p>
          <a:p>
            <a:pPr lvl="1" algn="just">
              <a:lnSpc>
                <a:spcPct val="150000"/>
              </a:lnSpc>
            </a:pPr>
            <a:r>
              <a:rPr lang="en-US" altLang="zh-CN" b="1" dirty="0">
                <a:latin typeface="Times New Roman" panose="02020603050405020304" pitchFamily="18" charset="0"/>
                <a:cs typeface="Times New Roman" panose="02020603050405020304" pitchFamily="18" charset="0"/>
              </a:rPr>
              <a:t>            for(j=1;j&lt;=n; j=j+1)</a:t>
            </a:r>
          </a:p>
          <a:p>
            <a:pPr lvl="1" algn="just">
              <a:lnSpc>
                <a:spcPct val="150000"/>
              </a:lnSpc>
            </a:pPr>
            <a:r>
              <a:rPr lang="en-US" altLang="zh-CN" b="1" dirty="0">
                <a:latin typeface="Times New Roman" panose="02020603050405020304" pitchFamily="18" charset="0"/>
                <a:cs typeface="Times New Roman" panose="02020603050405020304" pitchFamily="18" charset="0"/>
              </a:rPr>
              <a:t>            { </a:t>
            </a:r>
          </a:p>
          <a:p>
            <a:pPr lvl="1" algn="just">
              <a:lnSpc>
                <a:spcPct val="150000"/>
              </a:lnSpc>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c[</a:t>
            </a:r>
            <a:r>
              <a:rPr lang="en-US" altLang="zh-CN" b="1" dirty="0" err="1">
                <a:latin typeface="Times New Roman" panose="02020603050405020304" pitchFamily="18" charset="0"/>
                <a:cs typeface="Times New Roman" panose="02020603050405020304" pitchFamily="18" charset="0"/>
              </a:rPr>
              <a:t>i,j</a:t>
            </a:r>
            <a:r>
              <a:rPr lang="en-US" altLang="zh-CN" b="1" dirty="0">
                <a:latin typeface="Times New Roman" panose="02020603050405020304" pitchFamily="18" charset="0"/>
                <a:cs typeface="Times New Roman" panose="02020603050405020304" pitchFamily="18" charset="0"/>
              </a:rPr>
              <a:t>]=0;</a:t>
            </a:r>
          </a:p>
          <a:p>
            <a:pPr lvl="1" algn="just">
              <a:lnSpc>
                <a:spcPct val="150000"/>
              </a:lnSpc>
            </a:pPr>
            <a:r>
              <a:rPr lang="en-US" altLang="zh-CN" b="1" dirty="0">
                <a:latin typeface="Times New Roman" panose="02020603050405020304" pitchFamily="18" charset="0"/>
                <a:cs typeface="Times New Roman" panose="02020603050405020304" pitchFamily="18" charset="0"/>
              </a:rPr>
              <a:t>               for(k=1;k&lt;=</a:t>
            </a:r>
            <a:r>
              <a:rPr lang="en-US" altLang="zh-CN" b="1" dirty="0" err="1">
                <a:latin typeface="Times New Roman" panose="02020603050405020304" pitchFamily="18" charset="0"/>
                <a:cs typeface="Times New Roman" panose="02020603050405020304" pitchFamily="18" charset="0"/>
              </a:rPr>
              <a:t>n;k</a:t>
            </a:r>
            <a:r>
              <a:rPr lang="en-US" altLang="zh-CN" b="1" dirty="0">
                <a:latin typeface="Times New Roman" panose="02020603050405020304" pitchFamily="18" charset="0"/>
                <a:cs typeface="Times New Roman" panose="02020603050405020304" pitchFamily="18" charset="0"/>
              </a:rPr>
              <a:t>=k+1)</a:t>
            </a:r>
          </a:p>
          <a:p>
            <a:pPr lvl="1" algn="just">
              <a:lnSpc>
                <a:spcPct val="150000"/>
              </a:lnSpc>
            </a:pPr>
            <a:r>
              <a:rPr lang="en-US" altLang="zh-CN" b="1" dirty="0">
                <a:latin typeface="Times New Roman" panose="02020603050405020304" pitchFamily="18" charset="0"/>
                <a:cs typeface="Times New Roman" panose="02020603050405020304" pitchFamily="18" charset="0"/>
              </a:rPr>
              <a:t>                   c[</a:t>
            </a:r>
            <a:r>
              <a:rPr lang="en-US" altLang="zh-CN" b="1" dirty="0" err="1">
                <a:latin typeface="Times New Roman" panose="02020603050405020304" pitchFamily="18" charset="0"/>
                <a:cs typeface="Times New Roman" panose="02020603050405020304" pitchFamily="18" charset="0"/>
              </a:rPr>
              <a:t>i,j</a:t>
            </a:r>
            <a:r>
              <a:rPr lang="en-US" altLang="zh-CN" b="1" dirty="0">
                <a:latin typeface="Times New Roman" panose="02020603050405020304" pitchFamily="18" charset="0"/>
                <a:cs typeface="Times New Roman" panose="02020603050405020304" pitchFamily="18" charset="0"/>
              </a:rPr>
              <a:t>]= c[</a:t>
            </a:r>
            <a:r>
              <a:rPr lang="en-US" altLang="zh-CN" b="1" dirty="0" err="1">
                <a:latin typeface="Times New Roman" panose="02020603050405020304" pitchFamily="18" charset="0"/>
                <a:cs typeface="Times New Roman" panose="02020603050405020304" pitchFamily="18" charset="0"/>
              </a:rPr>
              <a:t>i,j</a:t>
            </a:r>
            <a:r>
              <a:rPr lang="en-US" altLang="zh-CN" b="1" dirty="0">
                <a:latin typeface="Times New Roman" panose="02020603050405020304" pitchFamily="18" charset="0"/>
                <a:cs typeface="Times New Roman" panose="02020603050405020304" pitchFamily="18" charset="0"/>
              </a:rPr>
              <a:t>]+</a:t>
            </a:r>
            <a:r>
              <a:rPr lang="en-US" altLang="zh-CN" b="1" dirty="0">
                <a:solidFill>
                  <a:srgbClr val="FF0000"/>
                </a:solidFill>
                <a:latin typeface="Times New Roman" panose="02020603050405020304" pitchFamily="18" charset="0"/>
                <a:cs typeface="Times New Roman" panose="02020603050405020304" pitchFamily="18" charset="0"/>
              </a:rPr>
              <a:t>a[</a:t>
            </a:r>
            <a:r>
              <a:rPr lang="en-US" altLang="zh-CN" b="1" dirty="0" err="1">
                <a:solidFill>
                  <a:srgbClr val="FF0000"/>
                </a:solidFill>
                <a:latin typeface="Times New Roman" panose="02020603050405020304" pitchFamily="18" charset="0"/>
                <a:cs typeface="Times New Roman" panose="02020603050405020304" pitchFamily="18" charset="0"/>
              </a:rPr>
              <a:t>i,k</a:t>
            </a:r>
            <a:r>
              <a:rPr lang="en-US" altLang="zh-CN" b="1" dirty="0">
                <a:solidFill>
                  <a:srgbClr val="FF0000"/>
                </a:solidFill>
                <a:latin typeface="Times New Roman" panose="02020603050405020304" pitchFamily="18" charset="0"/>
                <a:cs typeface="Times New Roman" panose="02020603050405020304" pitchFamily="18" charset="0"/>
              </a:rPr>
              <a:t>]*b[</a:t>
            </a:r>
            <a:r>
              <a:rPr lang="en-US" altLang="zh-CN" b="1" dirty="0" err="1">
                <a:solidFill>
                  <a:srgbClr val="FF0000"/>
                </a:solidFill>
                <a:latin typeface="Times New Roman" panose="02020603050405020304" pitchFamily="18" charset="0"/>
                <a:cs typeface="Times New Roman" panose="02020603050405020304" pitchFamily="18" charset="0"/>
              </a:rPr>
              <a:t>k,j</a:t>
            </a:r>
            <a:r>
              <a:rPr lang="en-US" altLang="zh-CN" b="1" dirty="0">
                <a:solidFill>
                  <a:srgbClr val="FF0000"/>
                </a:solidFill>
                <a:latin typeface="Times New Roman" panose="02020603050405020304" pitchFamily="18" charset="0"/>
                <a:cs typeface="Times New Roman" panose="02020603050405020304" pitchFamily="18" charset="0"/>
              </a:rPr>
              <a:t>];</a:t>
            </a:r>
          </a:p>
          <a:p>
            <a:pPr lvl="1" algn="just">
              <a:lnSpc>
                <a:spcPct val="150000"/>
              </a:lnSpc>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p>
        </p:txBody>
      </p:sp>
      <p:sp>
        <p:nvSpPr>
          <p:cNvPr id="7" name="Text Box 4">
            <a:extLst>
              <a:ext uri="{FF2B5EF4-FFF2-40B4-BE49-F238E27FC236}">
                <a16:creationId xmlns:a16="http://schemas.microsoft.com/office/drawing/2014/main" id="{64128411-2EEC-5044-A725-7E9A4950090A}"/>
              </a:ext>
            </a:extLst>
          </p:cNvPr>
          <p:cNvSpPr txBox="1">
            <a:spLocks noChangeArrowheads="1"/>
          </p:cNvSpPr>
          <p:nvPr/>
        </p:nvSpPr>
        <p:spPr bwMode="auto">
          <a:xfrm>
            <a:off x="5218731" y="3895800"/>
            <a:ext cx="697326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2200" b="1" dirty="0">
                <a:latin typeface="宋体" panose="02010600030101010101" pitchFamily="2" charset="-122"/>
              </a:rPr>
              <a:t>该算法的基本操作是乘法操作</a:t>
            </a:r>
            <a:r>
              <a:rPr lang="en-US" altLang="zh-CN" sz="2200" b="1" dirty="0">
                <a:latin typeface="宋体" panose="02010600030101010101" pitchFamily="2" charset="-122"/>
              </a:rPr>
              <a:t>,</a:t>
            </a:r>
            <a:r>
              <a:rPr lang="zh-CN" altLang="en-US" sz="2200" b="1" dirty="0">
                <a:latin typeface="宋体" panose="02010600030101010101" pitchFamily="2" charset="-122"/>
              </a:rPr>
              <a:t>时间复杂度为</a:t>
            </a:r>
            <a:r>
              <a:rPr lang="en-US" altLang="zh-CN" b="1" dirty="0">
                <a:solidFill>
                  <a:srgbClr val="FF0000"/>
                </a:solidFill>
                <a:latin typeface="Arial" panose="020B0604020202020204" pitchFamily="34" charset="0"/>
              </a:rPr>
              <a:t>O(n</a:t>
            </a:r>
            <a:r>
              <a:rPr lang="en-US" altLang="zh-CN" b="1" baseline="30000" dirty="0">
                <a:solidFill>
                  <a:srgbClr val="FF0000"/>
                </a:solidFill>
                <a:latin typeface="Arial" panose="020B0604020202020204" pitchFamily="34" charset="0"/>
              </a:rPr>
              <a:t>3</a:t>
            </a:r>
            <a:r>
              <a:rPr lang="zh-CN" altLang="en-US" b="1" dirty="0">
                <a:solidFill>
                  <a:srgbClr val="FF0000"/>
                </a:solidFill>
                <a:latin typeface="Arial" panose="020B0604020202020204" pitchFamily="34" charset="0"/>
              </a:rPr>
              <a:t>）</a:t>
            </a:r>
          </a:p>
        </p:txBody>
      </p:sp>
      <p:sp>
        <p:nvSpPr>
          <p:cNvPr id="2" name="云形 1">
            <a:extLst>
              <a:ext uri="{FF2B5EF4-FFF2-40B4-BE49-F238E27FC236}">
                <a16:creationId xmlns:a16="http://schemas.microsoft.com/office/drawing/2014/main" id="{804DEA15-43AA-DC4A-9260-CB03F374E749}"/>
              </a:ext>
            </a:extLst>
          </p:cNvPr>
          <p:cNvSpPr/>
          <p:nvPr/>
        </p:nvSpPr>
        <p:spPr>
          <a:xfrm>
            <a:off x="5462357" y="4950671"/>
            <a:ext cx="1947436" cy="861848"/>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计算时间复杂度</a:t>
            </a:r>
          </a:p>
        </p:txBody>
      </p:sp>
    </p:spTree>
    <p:extLst>
      <p:ext uri="{BB962C8B-B14F-4D97-AF65-F5344CB8AC3E}">
        <p14:creationId xmlns:p14="http://schemas.microsoft.com/office/powerpoint/2010/main" val="284951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blinds(horizontal)">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算法空间复杂性</a:t>
            </a:r>
          </a:p>
        </p:txBody>
      </p:sp>
      <p:sp>
        <p:nvSpPr>
          <p:cNvPr id="8" name="Text Box 2">
            <a:extLst>
              <a:ext uri="{FF2B5EF4-FFF2-40B4-BE49-F238E27FC236}">
                <a16:creationId xmlns:a16="http://schemas.microsoft.com/office/drawing/2014/main" id="{48CD20DC-7546-2949-8828-59D34A65D3E4}"/>
              </a:ext>
            </a:extLst>
          </p:cNvPr>
          <p:cNvSpPr txBox="1">
            <a:spLocks noChangeArrowheads="1"/>
          </p:cNvSpPr>
          <p:nvPr/>
        </p:nvSpPr>
        <p:spPr bwMode="auto">
          <a:xfrm>
            <a:off x="277231" y="1602950"/>
            <a:ext cx="6215063" cy="259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marL="358775">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2"/>
            <a:r>
              <a:rPr lang="zh-CN" altLang="en-US" sz="2800" b="1" dirty="0">
                <a:latin typeface="宋体" panose="02010600030101010101" pitchFamily="2" charset="-122"/>
              </a:rPr>
              <a:t>算法的存储量包括： </a:t>
            </a:r>
          </a:p>
          <a:p>
            <a:pPr>
              <a:lnSpc>
                <a:spcPct val="150000"/>
              </a:lnSpc>
              <a:spcBef>
                <a:spcPct val="55000"/>
              </a:spcBef>
            </a:pPr>
            <a:r>
              <a:rPr lang="zh-CN" altLang="en-US" sz="2800" b="1" dirty="0">
                <a:latin typeface="宋体" panose="02010600030101010101" pitchFamily="2" charset="-122"/>
              </a:rPr>
              <a:t>      </a:t>
            </a:r>
            <a:r>
              <a:rPr lang="en-US" altLang="zh-CN" sz="2800" b="1" dirty="0">
                <a:latin typeface="宋体" panose="02010600030101010101" pitchFamily="2" charset="-122"/>
              </a:rPr>
              <a:t>1) </a:t>
            </a:r>
            <a:r>
              <a:rPr lang="zh-CN" altLang="en-US" sz="2800" b="1" dirty="0">
                <a:latin typeface="宋体" panose="02010600030101010101" pitchFamily="2" charset="-122"/>
              </a:rPr>
              <a:t>输入数据所占空间 </a:t>
            </a:r>
          </a:p>
          <a:p>
            <a:pPr lvl="2">
              <a:lnSpc>
                <a:spcPct val="150000"/>
              </a:lnSpc>
            </a:pPr>
            <a:r>
              <a:rPr lang="zh-CN" altLang="en-US" sz="2800" b="1" dirty="0">
                <a:latin typeface="宋体" panose="02010600030101010101" pitchFamily="2" charset="-122"/>
              </a:rPr>
              <a:t>    </a:t>
            </a:r>
            <a:r>
              <a:rPr lang="en-US" altLang="zh-CN" sz="2800" b="1" dirty="0">
                <a:latin typeface="宋体" panose="02010600030101010101" pitchFamily="2" charset="-122"/>
              </a:rPr>
              <a:t>2) </a:t>
            </a:r>
            <a:r>
              <a:rPr lang="zh-CN" altLang="en-US" sz="2800" b="1" dirty="0">
                <a:latin typeface="宋体" panose="02010600030101010101" pitchFamily="2" charset="-122"/>
              </a:rPr>
              <a:t>算法本身所占空间 </a:t>
            </a:r>
          </a:p>
          <a:p>
            <a:pPr lvl="2">
              <a:lnSpc>
                <a:spcPct val="150000"/>
              </a:lnSpc>
            </a:pPr>
            <a:r>
              <a:rPr lang="zh-CN" altLang="en-US" sz="2800" b="1" dirty="0">
                <a:latin typeface="宋体" panose="02010600030101010101" pitchFamily="2" charset="-122"/>
              </a:rPr>
              <a:t>    </a:t>
            </a:r>
            <a:r>
              <a:rPr lang="en-US" altLang="zh-CN" sz="2800" b="1" dirty="0">
                <a:latin typeface="宋体" panose="02010600030101010101" pitchFamily="2" charset="-122"/>
              </a:rPr>
              <a:t>3) </a:t>
            </a:r>
            <a:r>
              <a:rPr lang="zh-CN" altLang="en-US" sz="2800" b="1" dirty="0">
                <a:latin typeface="宋体" panose="02010600030101010101" pitchFamily="2" charset="-122"/>
              </a:rPr>
              <a:t>辅助变量所占空间 </a:t>
            </a:r>
          </a:p>
        </p:txBody>
      </p:sp>
    </p:spTree>
    <p:extLst>
      <p:ext uri="{BB962C8B-B14F-4D97-AF65-F5344CB8AC3E}">
        <p14:creationId xmlns:p14="http://schemas.microsoft.com/office/powerpoint/2010/main" val="3213144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6043930" cy="569668"/>
          </a:xfrm>
        </p:spPr>
        <p:txBody>
          <a:bodyPr>
            <a:noAutofit/>
          </a:bodyPr>
          <a:lstStyle/>
          <a:p>
            <a:r>
              <a:rPr lang="zh-CN" altLang="en-US" dirty="0">
                <a:latin typeface="微软雅黑" pitchFamily="34" charset="-122"/>
                <a:ea typeface="微软雅黑" pitchFamily="34" charset="-122"/>
              </a:rPr>
              <a:t>算法空间复杂性</a:t>
            </a:r>
          </a:p>
        </p:txBody>
      </p:sp>
      <p:sp>
        <p:nvSpPr>
          <p:cNvPr id="5" name="Text Box 2">
            <a:extLst>
              <a:ext uri="{FF2B5EF4-FFF2-40B4-BE49-F238E27FC236}">
                <a16:creationId xmlns:a16="http://schemas.microsoft.com/office/drawing/2014/main" id="{9B27FC0D-E9F8-4E44-B59E-93C81C91AF86}"/>
              </a:ext>
            </a:extLst>
          </p:cNvPr>
          <p:cNvSpPr txBox="1">
            <a:spLocks noChangeArrowheads="1"/>
          </p:cNvSpPr>
          <p:nvPr/>
        </p:nvSpPr>
        <p:spPr bwMode="auto">
          <a:xfrm>
            <a:off x="597695" y="1430648"/>
            <a:ext cx="11690949" cy="3073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marL="358775">
              <a:defRPr sz="2400">
                <a:solidFill>
                  <a:schemeClr val="tx1"/>
                </a:solidFill>
                <a:latin typeface="Times New Roman" panose="02020603050405020304" pitchFamily="18" charset="0"/>
                <a:ea typeface="宋体" panose="02010600030101010101" pitchFamily="2" charset="-122"/>
              </a:defRPr>
            </a:lvl3pPr>
            <a:lvl4pPr marL="538163">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chemeClr val="tx2"/>
                </a:solidFill>
                <a:latin typeface="Arial" panose="020B0604020202020204" pitchFamily="34" charset="0"/>
                <a:ea typeface="黑体" panose="02010609060101010101" pitchFamily="49" charset="-122"/>
              </a:rPr>
              <a:t>算法的空间复杂度</a:t>
            </a:r>
            <a:r>
              <a:rPr lang="en-US" altLang="zh-CN" sz="2800" b="1" dirty="0">
                <a:solidFill>
                  <a:schemeClr val="tx2"/>
                </a:solidFill>
                <a:latin typeface="Arial" panose="020B0604020202020204" pitchFamily="34" charset="0"/>
                <a:ea typeface="黑体" panose="02010609060101010101" pitchFamily="49" charset="-122"/>
              </a:rPr>
              <a:t>:</a:t>
            </a:r>
          </a:p>
          <a:p>
            <a:pPr>
              <a:lnSpc>
                <a:spcPct val="150000"/>
              </a:lnSpc>
              <a:spcBef>
                <a:spcPct val="55000"/>
              </a:spcBef>
            </a:pPr>
            <a:r>
              <a:rPr lang="zh-CN" altLang="en-US" b="1" dirty="0">
                <a:latin typeface="Arial" panose="020B0604020202020204" pitchFamily="34" charset="0"/>
              </a:rPr>
              <a:t>是指算法在执行过程中</a:t>
            </a:r>
            <a:r>
              <a:rPr lang="zh-CN" altLang="en-US" b="1" dirty="0">
                <a:solidFill>
                  <a:srgbClr val="FF0000"/>
                </a:solidFill>
                <a:latin typeface="Arial" panose="020B0604020202020204" pitchFamily="34" charset="0"/>
              </a:rPr>
              <a:t>所占存储空间的大小</a:t>
            </a:r>
            <a:r>
              <a:rPr lang="en-US" altLang="zh-CN" b="1" dirty="0">
                <a:latin typeface="Arial" panose="020B0604020202020204" pitchFamily="34" charset="0"/>
              </a:rPr>
              <a:t>, </a:t>
            </a:r>
            <a:r>
              <a:rPr lang="zh-CN" altLang="en-US" b="1" dirty="0">
                <a:latin typeface="Arial" panose="020B0604020202020204" pitchFamily="34" charset="0"/>
              </a:rPr>
              <a:t>用</a:t>
            </a:r>
            <a:r>
              <a:rPr lang="en-US" altLang="zh-CN" b="1" dirty="0">
                <a:latin typeface="Arial" panose="020B0604020202020204" pitchFamily="34" charset="0"/>
              </a:rPr>
              <a:t>S(n)</a:t>
            </a:r>
            <a:r>
              <a:rPr lang="zh-CN" altLang="en-US" b="1" dirty="0">
                <a:latin typeface="Arial" panose="020B0604020202020204" pitchFamily="34" charset="0"/>
              </a:rPr>
              <a:t>表示。</a:t>
            </a:r>
            <a:endParaRPr lang="en-US" altLang="zh-CN" b="1" dirty="0">
              <a:latin typeface="Arial" panose="020B0604020202020204" pitchFamily="34" charset="0"/>
            </a:endParaRPr>
          </a:p>
          <a:p>
            <a:pPr>
              <a:lnSpc>
                <a:spcPct val="150000"/>
              </a:lnSpc>
              <a:spcBef>
                <a:spcPct val="55000"/>
              </a:spcBef>
            </a:pPr>
            <a:r>
              <a:rPr lang="zh-CN" altLang="en-US" b="1" dirty="0">
                <a:latin typeface="Arial" panose="020B0604020202020204" pitchFamily="34" charset="0"/>
              </a:rPr>
              <a:t>与算法的时间复杂度相同，算法的空间复杂度</a:t>
            </a:r>
            <a:r>
              <a:rPr lang="en-US" altLang="zh-CN" b="1" dirty="0">
                <a:latin typeface="Arial" panose="020B0604020202020204" pitchFamily="34" charset="0"/>
              </a:rPr>
              <a:t>S(n)</a:t>
            </a:r>
            <a:r>
              <a:rPr lang="zh-CN" altLang="en-US" b="1" dirty="0">
                <a:latin typeface="Arial" panose="020B0604020202020204" pitchFamily="34" charset="0"/>
              </a:rPr>
              <a:t>也可表示为</a:t>
            </a:r>
            <a:r>
              <a:rPr lang="en-US" altLang="zh-CN" b="1" dirty="0">
                <a:latin typeface="Arial" panose="020B0604020202020204" pitchFamily="34" charset="0"/>
              </a:rPr>
              <a:t>:   </a:t>
            </a:r>
          </a:p>
          <a:p>
            <a:pPr>
              <a:lnSpc>
                <a:spcPct val="150000"/>
              </a:lnSpc>
            </a:pPr>
            <a:r>
              <a:rPr lang="en-US" altLang="zh-CN" b="1" dirty="0">
                <a:latin typeface="Arial" panose="020B0604020202020204" pitchFamily="34" charset="0"/>
              </a:rPr>
              <a:t>                     S(n)</a:t>
            </a:r>
            <a:r>
              <a:rPr lang="zh-CN" altLang="en-US" b="1" dirty="0">
                <a:latin typeface="Arial" panose="020B0604020202020204" pitchFamily="34" charset="0"/>
              </a:rPr>
              <a:t> </a:t>
            </a:r>
            <a:r>
              <a:rPr lang="en-US" altLang="zh-CN" b="1" dirty="0">
                <a:latin typeface="Arial" panose="020B0604020202020204" pitchFamily="34" charset="0"/>
              </a:rPr>
              <a:t>=</a:t>
            </a:r>
            <a:r>
              <a:rPr lang="zh-CN" altLang="en-US" b="1" dirty="0">
                <a:latin typeface="Arial" panose="020B0604020202020204" pitchFamily="34" charset="0"/>
              </a:rPr>
              <a:t> </a:t>
            </a:r>
            <a:r>
              <a:rPr lang="en-US" altLang="zh-CN" b="1" dirty="0" err="1">
                <a:latin typeface="Arial" panose="020B0604020202020204" pitchFamily="34" charset="0"/>
              </a:rPr>
              <a:t>Ο</a:t>
            </a:r>
            <a:r>
              <a:rPr lang="en-US" altLang="zh-CN" b="1" dirty="0">
                <a:latin typeface="Arial" panose="020B0604020202020204" pitchFamily="34" charset="0"/>
              </a:rPr>
              <a:t>(g(n))</a:t>
            </a:r>
          </a:p>
          <a:p>
            <a:pPr>
              <a:lnSpc>
                <a:spcPct val="150000"/>
              </a:lnSpc>
            </a:pPr>
            <a:r>
              <a:rPr lang="zh-CN" altLang="en-US" b="1" dirty="0">
                <a:latin typeface="Arial" panose="020B0604020202020204" pitchFamily="34" charset="0"/>
              </a:rPr>
              <a:t>表示随着问题规模</a:t>
            </a:r>
            <a:r>
              <a:rPr lang="en-US" altLang="zh-CN" b="1" dirty="0">
                <a:latin typeface="Arial" panose="020B0604020202020204" pitchFamily="34" charset="0"/>
              </a:rPr>
              <a:t>n</a:t>
            </a:r>
            <a:r>
              <a:rPr lang="zh-CN" altLang="en-US" b="1" dirty="0">
                <a:latin typeface="Arial" panose="020B0604020202020204" pitchFamily="34" charset="0"/>
              </a:rPr>
              <a:t>的增大</a:t>
            </a:r>
            <a:r>
              <a:rPr lang="en-US" altLang="zh-CN" b="1" dirty="0">
                <a:latin typeface="Arial" panose="020B0604020202020204" pitchFamily="34" charset="0"/>
              </a:rPr>
              <a:t>, </a:t>
            </a:r>
            <a:r>
              <a:rPr lang="zh-CN" altLang="en-US" b="1" dirty="0">
                <a:latin typeface="Arial" panose="020B0604020202020204" pitchFamily="34" charset="0"/>
              </a:rPr>
              <a:t>算法运行所需存储量的增长率与</a:t>
            </a:r>
            <a:r>
              <a:rPr lang="en-US" altLang="zh-CN" b="1" dirty="0">
                <a:latin typeface="Arial" panose="020B0604020202020204" pitchFamily="34" charset="0"/>
              </a:rPr>
              <a:t>g(n)</a:t>
            </a:r>
            <a:r>
              <a:rPr lang="zh-CN" altLang="en-US" b="1" dirty="0">
                <a:latin typeface="Arial" panose="020B0604020202020204" pitchFamily="34" charset="0"/>
              </a:rPr>
              <a:t>的增长率相同。</a:t>
            </a:r>
          </a:p>
        </p:txBody>
      </p:sp>
    </p:spTree>
    <p:extLst>
      <p:ext uri="{BB962C8B-B14F-4D97-AF65-F5344CB8AC3E}">
        <p14:creationId xmlns:p14="http://schemas.microsoft.com/office/powerpoint/2010/main" val="800557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chemeClr val="tx1"/>
                </a:solidFill>
                <a:latin typeface="SimSun" panose="02010600030101010101" pitchFamily="2" charset="-122"/>
                <a:ea typeface="SimSun" panose="02010600030101010101" pitchFamily="2" charset="-122"/>
              </a:rPr>
              <a:t>非递归算法分析</a:t>
            </a:r>
            <a:endParaRPr lang="zh-CN" altLang="en-US" dirty="0">
              <a:latin typeface="SimSun" panose="02010600030101010101" pitchFamily="2" charset="-122"/>
              <a:ea typeface="SimSun" panose="02010600030101010101" pitchFamily="2" charset="-122"/>
            </a:endParaRPr>
          </a:p>
        </p:txBody>
      </p:sp>
      <p:sp>
        <p:nvSpPr>
          <p:cNvPr id="7" name="文本框 6">
            <a:extLst>
              <a:ext uri="{FF2B5EF4-FFF2-40B4-BE49-F238E27FC236}">
                <a16:creationId xmlns:a16="http://schemas.microsoft.com/office/drawing/2014/main" id="{6B467D56-A13D-4649-8076-321E8B6A920B}"/>
              </a:ext>
            </a:extLst>
          </p:cNvPr>
          <p:cNvSpPr txBox="1"/>
          <p:nvPr/>
        </p:nvSpPr>
        <p:spPr>
          <a:xfrm>
            <a:off x="669073" y="1429358"/>
            <a:ext cx="10604810" cy="1852430"/>
          </a:xfrm>
          <a:prstGeom prst="rect">
            <a:avLst/>
          </a:prstGeom>
          <a:noFill/>
        </p:spPr>
        <p:txBody>
          <a:bodyPr wrap="square">
            <a:spAutoFit/>
          </a:bodyPr>
          <a:lstStyle/>
          <a:p>
            <a:pPr algn="just"/>
            <a:r>
              <a:rPr lang="en-US" altLang="zh-CN" sz="2400" b="1" dirty="0">
                <a:solidFill>
                  <a:schemeClr val="tx2"/>
                </a:solidFill>
                <a:latin typeface="SimSun" panose="02010600030101010101" pitchFamily="2" charset="-122"/>
                <a:ea typeface="SimSun" panose="02010600030101010101" pitchFamily="2" charset="-122"/>
              </a:rPr>
              <a:t>1.</a:t>
            </a:r>
            <a:r>
              <a:rPr lang="zh-CN" altLang="en-US" sz="2400" b="1" dirty="0">
                <a:solidFill>
                  <a:schemeClr val="tx2"/>
                </a:solidFill>
                <a:latin typeface="SimSun" panose="02010600030101010101" pitchFamily="2" charset="-122"/>
                <a:ea typeface="SimSun" panose="02010600030101010101" pitchFamily="2" charset="-122"/>
              </a:rPr>
              <a:t>不依赖于问题规模的时间复杂度</a:t>
            </a:r>
          </a:p>
          <a:p>
            <a:pPr algn="just"/>
            <a:endParaRPr lang="zh-CN" altLang="en-US" sz="2400" b="1" dirty="0">
              <a:solidFill>
                <a:schemeClr val="tx2"/>
              </a:solidFill>
              <a:latin typeface="SimSun" panose="02010600030101010101" pitchFamily="2" charset="-122"/>
              <a:ea typeface="SimSun" panose="02010600030101010101" pitchFamily="2" charset="-122"/>
            </a:endParaRPr>
          </a:p>
          <a:p>
            <a:pPr algn="just">
              <a:lnSpc>
                <a:spcPct val="150000"/>
              </a:lnSpc>
            </a:pPr>
            <a:r>
              <a:rPr lang="zh-CN" altLang="en-US" sz="2400" b="1" dirty="0">
                <a:latin typeface="SimSun" panose="02010600030101010101" pitchFamily="2" charset="-122"/>
                <a:ea typeface="SimSun" panose="02010600030101010101" pitchFamily="2" charset="-122"/>
              </a:rPr>
              <a:t>有一类简单的问题，其操作具有普遍性，也就是说对所有的数据均等价地进行处理，这类算法的时间复杂度，很容易分析。</a:t>
            </a:r>
          </a:p>
        </p:txBody>
      </p:sp>
      <p:sp>
        <p:nvSpPr>
          <p:cNvPr id="8" name="Text Box 2">
            <a:extLst>
              <a:ext uri="{FF2B5EF4-FFF2-40B4-BE49-F238E27FC236}">
                <a16:creationId xmlns:a16="http://schemas.microsoft.com/office/drawing/2014/main" id="{9BD1798B-36FE-2E49-8C32-2CDC0CDB1FE1}"/>
              </a:ext>
            </a:extLst>
          </p:cNvPr>
          <p:cNvSpPr txBox="1">
            <a:spLocks noChangeArrowheads="1"/>
          </p:cNvSpPr>
          <p:nvPr/>
        </p:nvSpPr>
        <p:spPr bwMode="auto">
          <a:xfrm>
            <a:off x="548269" y="3710025"/>
            <a:ext cx="3823009" cy="194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600" b="1" dirty="0">
                <a:solidFill>
                  <a:schemeClr val="tx2"/>
                </a:solidFill>
                <a:latin typeface="黑体" panose="02010609060101010101" pitchFamily="49" charset="-122"/>
                <a:ea typeface="黑体" panose="02010609060101010101" pitchFamily="49" charset="-122"/>
              </a:rPr>
              <a:t>【</a:t>
            </a:r>
            <a:r>
              <a:rPr lang="zh-CN" altLang="en-US" sz="2600" b="1" dirty="0">
                <a:solidFill>
                  <a:schemeClr val="tx2"/>
                </a:solidFill>
                <a:latin typeface="黑体" panose="02010609060101010101" pitchFamily="49" charset="-122"/>
                <a:ea typeface="黑体" panose="02010609060101010101" pitchFamily="49" charset="-122"/>
              </a:rPr>
              <a:t>例</a:t>
            </a:r>
            <a:r>
              <a:rPr lang="en-US" altLang="zh-CN" sz="2600" b="1" dirty="0">
                <a:solidFill>
                  <a:schemeClr val="tx2"/>
                </a:solidFill>
                <a:latin typeface="黑体" panose="02010609060101010101" pitchFamily="49" charset="-122"/>
                <a:ea typeface="黑体" panose="02010609060101010101" pitchFamily="49" charset="-122"/>
              </a:rPr>
              <a:t>1】</a:t>
            </a:r>
            <a:r>
              <a:rPr lang="zh-CN" altLang="en-US" sz="2600" b="1" dirty="0">
                <a:solidFill>
                  <a:schemeClr val="tx2"/>
                </a:solidFill>
                <a:latin typeface="黑体" panose="02010609060101010101" pitchFamily="49" charset="-122"/>
                <a:ea typeface="黑体" panose="02010609060101010101" pitchFamily="49" charset="-122"/>
              </a:rPr>
              <a:t>交换</a:t>
            </a:r>
            <a:r>
              <a:rPr lang="en-US" altLang="zh-CN" sz="2600" b="1" dirty="0" err="1">
                <a:solidFill>
                  <a:schemeClr val="tx2"/>
                </a:solidFill>
                <a:latin typeface="黑体" panose="02010609060101010101" pitchFamily="49" charset="-122"/>
                <a:ea typeface="黑体" panose="02010609060101010101" pitchFamily="49" charset="-122"/>
              </a:rPr>
              <a:t>i</a:t>
            </a:r>
            <a:r>
              <a:rPr lang="zh-CN" altLang="en-US" sz="2600" b="1" dirty="0">
                <a:solidFill>
                  <a:schemeClr val="tx2"/>
                </a:solidFill>
                <a:latin typeface="黑体" panose="02010609060101010101" pitchFamily="49" charset="-122"/>
                <a:ea typeface="黑体" panose="02010609060101010101" pitchFamily="49" charset="-122"/>
              </a:rPr>
              <a:t>和</a:t>
            </a:r>
            <a:r>
              <a:rPr lang="en-US" altLang="zh-CN" sz="2600" b="1" dirty="0">
                <a:solidFill>
                  <a:schemeClr val="tx2"/>
                </a:solidFill>
                <a:latin typeface="黑体" panose="02010609060101010101" pitchFamily="49" charset="-122"/>
                <a:ea typeface="黑体" panose="02010609060101010101" pitchFamily="49" charset="-122"/>
              </a:rPr>
              <a:t>j</a:t>
            </a:r>
            <a:r>
              <a:rPr lang="zh-CN" altLang="en-US" sz="2600" b="1" dirty="0">
                <a:solidFill>
                  <a:schemeClr val="tx2"/>
                </a:solidFill>
                <a:latin typeface="黑体" panose="02010609060101010101" pitchFamily="49" charset="-122"/>
                <a:ea typeface="黑体" panose="02010609060101010101" pitchFamily="49" charset="-122"/>
              </a:rPr>
              <a:t>的内容</a:t>
            </a:r>
            <a:r>
              <a:rPr lang="zh-CN" altLang="en-US" sz="2800" b="1" dirty="0">
                <a:solidFill>
                  <a:srgbClr val="0000FF"/>
                </a:solidFill>
                <a:latin typeface="宋体" panose="02010600030101010101" pitchFamily="2" charset="-122"/>
              </a:rPr>
              <a:t> </a:t>
            </a:r>
          </a:p>
          <a:p>
            <a:pPr>
              <a:spcBef>
                <a:spcPct val="30000"/>
              </a:spcBef>
            </a:pPr>
            <a:r>
              <a:rPr lang="zh-CN" altLang="en-US" b="1" dirty="0">
                <a:latin typeface="Arial" panose="020B0604020202020204" pitchFamily="34" charset="0"/>
              </a:rPr>
              <a:t>	</a:t>
            </a:r>
            <a:r>
              <a:rPr lang="en-US" altLang="zh-CN" sz="2800" b="1" dirty="0">
                <a:latin typeface="Arial" panose="020B0604020202020204" pitchFamily="34" charset="0"/>
              </a:rPr>
              <a:t>temp=</a:t>
            </a:r>
            <a:r>
              <a:rPr lang="en-US" altLang="zh-CN" sz="2800" b="1" dirty="0" err="1">
                <a:latin typeface="Arial" panose="020B0604020202020204" pitchFamily="34" charset="0"/>
              </a:rPr>
              <a:t>i</a:t>
            </a:r>
            <a:r>
              <a:rPr lang="en-US" altLang="zh-CN" sz="2800" b="1" dirty="0">
                <a:latin typeface="Arial" panose="020B0604020202020204" pitchFamily="34" charset="0"/>
              </a:rPr>
              <a:t>;</a:t>
            </a:r>
          </a:p>
          <a:p>
            <a:r>
              <a:rPr lang="en-US" altLang="zh-CN" sz="2800" b="1" dirty="0">
                <a:latin typeface="Arial" panose="020B0604020202020204" pitchFamily="34" charset="0"/>
              </a:rPr>
              <a:t>	</a:t>
            </a:r>
            <a:r>
              <a:rPr lang="en-US" altLang="zh-CN" sz="2800" b="1" dirty="0" err="1">
                <a:latin typeface="Arial" panose="020B0604020202020204" pitchFamily="34" charset="0"/>
              </a:rPr>
              <a:t>i</a:t>
            </a:r>
            <a:r>
              <a:rPr lang="en-US" altLang="zh-CN" sz="2800" b="1" dirty="0">
                <a:latin typeface="Arial" panose="020B0604020202020204" pitchFamily="34" charset="0"/>
              </a:rPr>
              <a:t>=j;</a:t>
            </a:r>
          </a:p>
          <a:p>
            <a:pPr>
              <a:spcAft>
                <a:spcPct val="40000"/>
              </a:spcAft>
            </a:pPr>
            <a:r>
              <a:rPr lang="zh-CN" altLang="en-US" sz="2800" b="1" dirty="0">
                <a:latin typeface="Arial" panose="020B0604020202020204" pitchFamily="34" charset="0"/>
              </a:rPr>
              <a:t>         </a:t>
            </a:r>
            <a:r>
              <a:rPr lang="en-US" altLang="zh-CN" sz="2800" b="1" dirty="0">
                <a:latin typeface="Arial" panose="020B0604020202020204" pitchFamily="34" charset="0"/>
              </a:rPr>
              <a:t>j=temp;</a:t>
            </a:r>
          </a:p>
        </p:txBody>
      </p:sp>
      <p:sp>
        <p:nvSpPr>
          <p:cNvPr id="9" name="文本框 8">
            <a:extLst>
              <a:ext uri="{FF2B5EF4-FFF2-40B4-BE49-F238E27FC236}">
                <a16:creationId xmlns:a16="http://schemas.microsoft.com/office/drawing/2014/main" id="{022F9F76-AFA2-354F-AB15-81E3573A04D9}"/>
              </a:ext>
            </a:extLst>
          </p:cNvPr>
          <p:cNvSpPr txBox="1"/>
          <p:nvPr/>
        </p:nvSpPr>
        <p:spPr>
          <a:xfrm>
            <a:off x="5315414" y="4023449"/>
            <a:ext cx="5802352" cy="1405193"/>
          </a:xfrm>
          <a:prstGeom prst="rect">
            <a:avLst/>
          </a:prstGeom>
          <a:noFill/>
        </p:spPr>
        <p:txBody>
          <a:bodyPr wrap="square">
            <a:spAutoFit/>
          </a:bodyPr>
          <a:lstStyle/>
          <a:p>
            <a:pPr>
              <a:lnSpc>
                <a:spcPct val="150000"/>
              </a:lnSpc>
            </a:pPr>
            <a:r>
              <a:rPr lang="zh-CN" altLang="en-US" sz="2000" b="1" dirty="0">
                <a:latin typeface="SimSun" panose="02010600030101010101" pitchFamily="2" charset="-122"/>
                <a:ea typeface="SimSun" panose="02010600030101010101" pitchFamily="2" charset="-122"/>
              </a:rPr>
              <a:t>以上三条单个语句的频度均为</a:t>
            </a:r>
            <a:r>
              <a:rPr lang="en-US" altLang="zh-CN" sz="2000" b="1" dirty="0">
                <a:latin typeface="SimSun" panose="02010600030101010101" pitchFamily="2" charset="-122"/>
                <a:ea typeface="SimSun" panose="02010600030101010101" pitchFamily="2" charset="-122"/>
              </a:rPr>
              <a:t>1</a:t>
            </a:r>
            <a:r>
              <a:rPr lang="zh-CN" altLang="en-US" sz="2000" b="1" dirty="0">
                <a:latin typeface="SimSun" panose="02010600030101010101" pitchFamily="2" charset="-122"/>
                <a:ea typeface="SimSun" panose="02010600030101010101" pitchFamily="2" charset="-122"/>
              </a:rPr>
              <a:t>，该算法段的执行时间是一个与问题规模</a:t>
            </a:r>
            <a:r>
              <a:rPr lang="en-US" altLang="zh-CN" sz="2000" b="1" dirty="0">
                <a:latin typeface="SimSun" panose="02010600030101010101" pitchFamily="2" charset="-122"/>
                <a:ea typeface="SimSun" panose="02010600030101010101" pitchFamily="2" charset="-122"/>
              </a:rPr>
              <a:t>n</a:t>
            </a:r>
            <a:r>
              <a:rPr lang="zh-CN" altLang="en-US" sz="2000" b="1" dirty="0">
                <a:latin typeface="SimSun" panose="02010600030101010101" pitchFamily="2" charset="-122"/>
                <a:ea typeface="SimSun" panose="02010600030101010101" pitchFamily="2" charset="-122"/>
              </a:rPr>
              <a:t>无关的常数。算法的时间复杂度为常数阶，记作</a:t>
            </a:r>
            <a:r>
              <a:rPr lang="en-US" altLang="zh-CN" sz="2000" b="1" dirty="0">
                <a:solidFill>
                  <a:srgbClr val="FF0000"/>
                </a:solidFill>
                <a:latin typeface="SimSun" panose="02010600030101010101" pitchFamily="2" charset="-122"/>
                <a:ea typeface="SimSun" panose="02010600030101010101" pitchFamily="2" charset="-122"/>
              </a:rPr>
              <a:t>T(n)=O(1)</a:t>
            </a:r>
            <a:r>
              <a:rPr lang="zh-CN" altLang="en-US" sz="2000" b="1" dirty="0">
                <a:latin typeface="SimSun" panose="02010600030101010101" pitchFamily="2" charset="-122"/>
                <a:ea typeface="SimSun" panose="02010600030101010101" pitchFamily="2" charset="-122"/>
              </a:rPr>
              <a:t>。</a:t>
            </a:r>
            <a:endParaRPr lang="zh-CN" altLang="en-US" sz="20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1697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chemeClr val="tx1"/>
                </a:solidFill>
                <a:latin typeface="SimSun" panose="02010600030101010101" pitchFamily="2" charset="-122"/>
                <a:ea typeface="SimSun" panose="02010600030101010101" pitchFamily="2" charset="-122"/>
              </a:rPr>
              <a:t>非递归算法分析</a:t>
            </a:r>
            <a:endParaRPr lang="zh-CN" altLang="en-US" dirty="0">
              <a:latin typeface="SimSun" panose="02010600030101010101" pitchFamily="2" charset="-122"/>
              <a:ea typeface="SimSun" panose="02010600030101010101" pitchFamily="2" charset="-122"/>
            </a:endParaRPr>
          </a:p>
        </p:txBody>
      </p:sp>
      <p:sp>
        <p:nvSpPr>
          <p:cNvPr id="6" name="Text Box 3">
            <a:extLst>
              <a:ext uri="{FF2B5EF4-FFF2-40B4-BE49-F238E27FC236}">
                <a16:creationId xmlns:a16="http://schemas.microsoft.com/office/drawing/2014/main" id="{B5DECB13-68E5-2E47-A8E3-CFE543269E61}"/>
              </a:ext>
            </a:extLst>
          </p:cNvPr>
          <p:cNvSpPr txBox="1">
            <a:spLocks noChangeArrowheads="1"/>
          </p:cNvSpPr>
          <p:nvPr/>
        </p:nvSpPr>
        <p:spPr bwMode="auto">
          <a:xfrm>
            <a:off x="557522" y="1509209"/>
            <a:ext cx="10772117" cy="289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b="1" dirty="0">
                <a:solidFill>
                  <a:schemeClr val="tx2"/>
                </a:solidFill>
                <a:latin typeface="宋体" panose="02010600030101010101" pitchFamily="2" charset="-122"/>
              </a:rPr>
              <a:t>【</a:t>
            </a:r>
            <a:r>
              <a:rPr lang="zh-CN" altLang="en-US" b="1" dirty="0">
                <a:solidFill>
                  <a:schemeClr val="tx2"/>
                </a:solidFill>
                <a:latin typeface="宋体" panose="02010600030101010101" pitchFamily="2" charset="-122"/>
              </a:rPr>
              <a:t>例</a:t>
            </a:r>
            <a:r>
              <a:rPr lang="en-US" altLang="zh-CN" b="1" dirty="0">
                <a:solidFill>
                  <a:schemeClr val="tx2"/>
                </a:solidFill>
                <a:latin typeface="Arial" panose="020B0604020202020204" pitchFamily="34" charset="0"/>
              </a:rPr>
              <a:t>2</a:t>
            </a:r>
            <a:r>
              <a:rPr lang="en-US" altLang="zh-CN" b="1" dirty="0">
                <a:solidFill>
                  <a:schemeClr val="tx2"/>
                </a:solidFill>
                <a:latin typeface="宋体" panose="02010600030101010101" pitchFamily="2" charset="-122"/>
              </a:rPr>
              <a:t>】</a:t>
            </a:r>
            <a:r>
              <a:rPr lang="zh-CN" altLang="en-US" b="1" dirty="0">
                <a:solidFill>
                  <a:schemeClr val="tx2"/>
                </a:solidFill>
                <a:latin typeface="黑体" panose="02010609060101010101" pitchFamily="49" charset="-122"/>
                <a:ea typeface="黑体" panose="02010609060101010101" pitchFamily="49" charset="-122"/>
              </a:rPr>
              <a:t>变量计数之一</a:t>
            </a:r>
            <a:r>
              <a:rPr lang="zh-CN" altLang="en-US" b="1" dirty="0">
                <a:solidFill>
                  <a:srgbClr val="0000FF"/>
                </a:solidFill>
                <a:latin typeface="宋体" panose="02010600030101010101" pitchFamily="2" charset="-122"/>
              </a:rPr>
              <a:t> </a:t>
            </a:r>
          </a:p>
          <a:p>
            <a:pPr>
              <a:lnSpc>
                <a:spcPct val="150000"/>
              </a:lnSpc>
              <a:spcBef>
                <a:spcPct val="30000"/>
              </a:spcBef>
            </a:pPr>
            <a:r>
              <a:rPr lang="zh-CN" altLang="en-US" b="1" dirty="0">
                <a:latin typeface="Arial" panose="020B0604020202020204" pitchFamily="34" charset="0"/>
              </a:rPr>
              <a:t>		</a:t>
            </a:r>
            <a:r>
              <a:rPr lang="en-US" altLang="zh-CN" b="1" dirty="0">
                <a:latin typeface="Arial" panose="020B0604020202020204" pitchFamily="34" charset="0"/>
              </a:rPr>
              <a:t>x=0;y=0;</a:t>
            </a:r>
          </a:p>
          <a:p>
            <a:pPr>
              <a:lnSpc>
                <a:spcPct val="150000"/>
              </a:lnSpc>
            </a:pPr>
            <a:r>
              <a:rPr lang="en-US" altLang="zh-CN" b="1" dirty="0">
                <a:latin typeface="Arial" panose="020B0604020202020204" pitchFamily="34" charset="0"/>
              </a:rPr>
              <a:t>		for(k=1;k&lt;=</a:t>
            </a:r>
            <a:r>
              <a:rPr lang="en-US" altLang="zh-CN" b="1" dirty="0" err="1">
                <a:latin typeface="Arial" panose="020B0604020202020204" pitchFamily="34" charset="0"/>
              </a:rPr>
              <a:t>n;k</a:t>
            </a:r>
            <a:r>
              <a:rPr lang="en-US" altLang="zh-CN" b="1" dirty="0">
                <a:latin typeface="Arial" panose="020B0604020202020204" pitchFamily="34" charset="0"/>
              </a:rPr>
              <a:t>=k+1)</a:t>
            </a:r>
          </a:p>
          <a:p>
            <a:pPr>
              <a:lnSpc>
                <a:spcPct val="150000"/>
              </a:lnSpc>
            </a:pPr>
            <a:r>
              <a:rPr lang="en-US" altLang="zh-CN" b="1" dirty="0">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x=x+1;</a:t>
            </a:r>
          </a:p>
          <a:p>
            <a:pPr>
              <a:lnSpc>
                <a:spcPct val="150000"/>
              </a:lnSpc>
            </a:pPr>
            <a:r>
              <a:rPr lang="en-US" altLang="zh-CN" b="1" dirty="0">
                <a:latin typeface="Arial" panose="020B0604020202020204" pitchFamily="34" charset="0"/>
              </a:rPr>
              <a:t>		for(</a:t>
            </a:r>
            <a:r>
              <a:rPr lang="en-US" altLang="zh-CN" b="1" dirty="0" err="1">
                <a:latin typeface="Arial" panose="020B0604020202020204" pitchFamily="34" charset="0"/>
              </a:rPr>
              <a:t>i</a:t>
            </a:r>
            <a:r>
              <a:rPr lang="en-US" altLang="zh-CN" b="1" dirty="0">
                <a:latin typeface="Arial" panose="020B0604020202020204" pitchFamily="34" charset="0"/>
              </a:rPr>
              <a:t>=1;i&lt;=</a:t>
            </a:r>
            <a:r>
              <a:rPr lang="en-US" altLang="zh-CN" b="1" dirty="0" err="1">
                <a:latin typeface="Arial" panose="020B0604020202020204" pitchFamily="34" charset="0"/>
              </a:rPr>
              <a:t>n;i</a:t>
            </a:r>
            <a:r>
              <a:rPr lang="en-US" altLang="zh-CN" b="1" dirty="0">
                <a:latin typeface="Arial" panose="020B0604020202020204" pitchFamily="34" charset="0"/>
              </a:rPr>
              <a:t>=i+1)</a:t>
            </a:r>
          </a:p>
          <a:p>
            <a:pPr>
              <a:lnSpc>
                <a:spcPct val="150000"/>
              </a:lnSpc>
            </a:pPr>
            <a:r>
              <a:rPr lang="en-US" altLang="zh-CN" b="1" dirty="0">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for(j=1;j&lt;=</a:t>
            </a:r>
            <a:r>
              <a:rPr lang="en-US" altLang="zh-CN" b="1" dirty="0" err="1">
                <a:latin typeface="Arial" panose="020B0604020202020204" pitchFamily="34" charset="0"/>
              </a:rPr>
              <a:t>n;j</a:t>
            </a:r>
            <a:r>
              <a:rPr lang="en-US" altLang="zh-CN" b="1" dirty="0">
                <a:latin typeface="Arial" panose="020B0604020202020204" pitchFamily="34" charset="0"/>
              </a:rPr>
              <a:t>=j+1)</a:t>
            </a:r>
          </a:p>
          <a:p>
            <a:pPr>
              <a:lnSpc>
                <a:spcPct val="150000"/>
              </a:lnSpc>
              <a:spcAft>
                <a:spcPct val="30000"/>
              </a:spcAft>
            </a:pPr>
            <a:r>
              <a:rPr lang="en-US" altLang="zh-CN" b="1" dirty="0">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y=y+1; </a:t>
            </a:r>
          </a:p>
        </p:txBody>
      </p:sp>
      <p:sp>
        <p:nvSpPr>
          <p:cNvPr id="10" name="文本框 9">
            <a:extLst>
              <a:ext uri="{FF2B5EF4-FFF2-40B4-BE49-F238E27FC236}">
                <a16:creationId xmlns:a16="http://schemas.microsoft.com/office/drawing/2014/main" id="{CDC30949-869D-7E4F-8764-8C05E9BF78BC}"/>
              </a:ext>
            </a:extLst>
          </p:cNvPr>
          <p:cNvSpPr txBox="1"/>
          <p:nvPr/>
        </p:nvSpPr>
        <p:spPr>
          <a:xfrm>
            <a:off x="557522" y="4672000"/>
            <a:ext cx="10772117" cy="1121525"/>
          </a:xfrm>
          <a:prstGeom prst="rect">
            <a:avLst/>
          </a:prstGeom>
          <a:noFill/>
        </p:spPr>
        <p:txBody>
          <a:bodyPr wrap="square">
            <a:spAutoFit/>
          </a:bodyPr>
          <a:lstStyle/>
          <a:p>
            <a:pPr>
              <a:lnSpc>
                <a:spcPct val="200000"/>
              </a:lnSpc>
            </a:pPr>
            <a:r>
              <a:rPr lang="zh-CN" altLang="en-US" sz="1800" b="1" dirty="0">
                <a:latin typeface="Arial" panose="020B0604020202020204" pitchFamily="34" charset="0"/>
              </a:rPr>
              <a:t>该算法段的时间复杂度为：</a:t>
            </a:r>
            <a:endParaRPr lang="en-US" altLang="zh-CN" sz="1800" b="1" dirty="0">
              <a:latin typeface="Arial" panose="020B0604020202020204" pitchFamily="34" charset="0"/>
            </a:endParaRPr>
          </a:p>
          <a:p>
            <a:pPr>
              <a:lnSpc>
                <a:spcPct val="200000"/>
              </a:lnSpc>
            </a:pPr>
            <a:r>
              <a:rPr lang="zh-CN" altLang="en-US" sz="1800" b="1" dirty="0">
                <a:latin typeface="Arial" panose="020B0604020202020204" pitchFamily="34" charset="0"/>
              </a:rPr>
              <a:t>当有若干个循环语句时，算法的时间复杂度是</a:t>
            </a:r>
            <a:r>
              <a:rPr lang="zh-CN" altLang="en-US" sz="1800" b="1" dirty="0">
                <a:solidFill>
                  <a:srgbClr val="FF0000"/>
                </a:solidFill>
                <a:latin typeface="Arial" panose="020B0604020202020204" pitchFamily="34" charset="0"/>
              </a:rPr>
              <a:t>由嵌套层数最多的循环语句中最内层语句的频度</a:t>
            </a:r>
            <a:r>
              <a:rPr lang="en-US" altLang="zh-CN" sz="1800" b="1" dirty="0">
                <a:solidFill>
                  <a:srgbClr val="FF0000"/>
                </a:solidFill>
                <a:latin typeface="Arial" panose="020B0604020202020204" pitchFamily="34" charset="0"/>
              </a:rPr>
              <a:t>f(n)</a:t>
            </a:r>
            <a:r>
              <a:rPr lang="zh-CN" altLang="en-US" sz="1800" b="1" dirty="0">
                <a:latin typeface="Arial" panose="020B0604020202020204" pitchFamily="34" charset="0"/>
              </a:rPr>
              <a:t>决定的。</a:t>
            </a:r>
          </a:p>
        </p:txBody>
      </p:sp>
      <p:sp>
        <p:nvSpPr>
          <p:cNvPr id="11" name="文本框 10">
            <a:extLst>
              <a:ext uri="{FF2B5EF4-FFF2-40B4-BE49-F238E27FC236}">
                <a16:creationId xmlns:a16="http://schemas.microsoft.com/office/drawing/2014/main" id="{244AE7B8-51E9-6348-A25E-D61C983B6CA9}"/>
              </a:ext>
            </a:extLst>
          </p:cNvPr>
          <p:cNvSpPr txBox="1"/>
          <p:nvPr/>
        </p:nvSpPr>
        <p:spPr>
          <a:xfrm>
            <a:off x="3802545" y="4665234"/>
            <a:ext cx="2141035" cy="567528"/>
          </a:xfrm>
          <a:prstGeom prst="rect">
            <a:avLst/>
          </a:prstGeom>
          <a:noFill/>
        </p:spPr>
        <p:txBody>
          <a:bodyPr wrap="square">
            <a:spAutoFit/>
          </a:bodyPr>
          <a:lstStyle/>
          <a:p>
            <a:pPr>
              <a:lnSpc>
                <a:spcPct val="200000"/>
              </a:lnSpc>
            </a:pPr>
            <a:r>
              <a:rPr lang="en-US" altLang="zh-CN" sz="1800" b="1" dirty="0">
                <a:latin typeface="Arial" panose="020B0604020202020204" pitchFamily="34" charset="0"/>
              </a:rPr>
              <a:t>T(n)=O(n</a:t>
            </a:r>
            <a:r>
              <a:rPr lang="en-US" altLang="zh-CN" sz="1800" b="1" baseline="30000" dirty="0">
                <a:latin typeface="Arial" panose="020B0604020202020204" pitchFamily="34" charset="0"/>
              </a:rPr>
              <a:t>2</a:t>
            </a:r>
            <a:r>
              <a:rPr lang="en-US" altLang="zh-CN" sz="1800" b="1" dirty="0">
                <a:latin typeface="Arial" panose="020B0604020202020204" pitchFamily="34" charset="0"/>
              </a:rPr>
              <a:t>)</a:t>
            </a:r>
            <a:r>
              <a:rPr lang="zh-CN" altLang="en-US" sz="1800" b="1" dirty="0">
                <a:latin typeface="Arial" panose="020B0604020202020204" pitchFamily="34" charset="0"/>
              </a:rPr>
              <a:t>。</a:t>
            </a:r>
          </a:p>
        </p:txBody>
      </p:sp>
    </p:spTree>
    <p:extLst>
      <p:ext uri="{BB962C8B-B14F-4D97-AF65-F5344CB8AC3E}">
        <p14:creationId xmlns:p14="http://schemas.microsoft.com/office/powerpoint/2010/main" val="389262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chemeClr val="tx1"/>
                </a:solidFill>
                <a:latin typeface="SimSun" panose="02010600030101010101" pitchFamily="2" charset="-122"/>
                <a:ea typeface="SimSun" panose="02010600030101010101" pitchFamily="2" charset="-122"/>
              </a:rPr>
              <a:t>非递归算法分析</a:t>
            </a:r>
            <a:endParaRPr lang="zh-CN" altLang="en-US" dirty="0">
              <a:latin typeface="SimSun" panose="02010600030101010101" pitchFamily="2" charset="-122"/>
              <a:ea typeface="SimSun" panose="02010600030101010101" pitchFamily="2" charset="-122"/>
            </a:endParaRPr>
          </a:p>
        </p:txBody>
      </p:sp>
      <p:sp>
        <p:nvSpPr>
          <p:cNvPr id="5" name="Text Box 2">
            <a:extLst>
              <a:ext uri="{FF2B5EF4-FFF2-40B4-BE49-F238E27FC236}">
                <a16:creationId xmlns:a16="http://schemas.microsoft.com/office/drawing/2014/main" id="{F7B5DA16-FD55-5D4E-83AF-BE7E2402E0BC}"/>
              </a:ext>
            </a:extLst>
          </p:cNvPr>
          <p:cNvSpPr txBox="1">
            <a:spLocks noChangeArrowheads="1"/>
          </p:cNvSpPr>
          <p:nvPr/>
        </p:nvSpPr>
        <p:spPr bwMode="auto">
          <a:xfrm>
            <a:off x="735979" y="1364244"/>
            <a:ext cx="7816385" cy="248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例</a:t>
            </a:r>
            <a:r>
              <a:rPr lang="en-US" altLang="zh-CN" b="1" dirty="0">
                <a:solidFill>
                  <a:schemeClr val="tx2"/>
                </a:solidFill>
                <a:latin typeface="Arial" panose="020B0604020202020204" pitchFamily="34" charset="0"/>
              </a:rPr>
              <a:t>3】</a:t>
            </a:r>
            <a:r>
              <a:rPr lang="zh-CN" altLang="en-US" b="1" dirty="0">
                <a:solidFill>
                  <a:schemeClr val="tx2"/>
                </a:solidFill>
                <a:latin typeface="Arial" panose="020B0604020202020204" pitchFamily="34" charset="0"/>
                <a:ea typeface="黑体" panose="02010609060101010101" pitchFamily="49" charset="-122"/>
              </a:rPr>
              <a:t>变量计数之二</a:t>
            </a:r>
          </a:p>
          <a:p>
            <a:pPr>
              <a:spcBef>
                <a:spcPct val="30000"/>
              </a:spcBef>
            </a:pPr>
            <a:r>
              <a:rPr lang="zh-CN" altLang="en-US" sz="2600" b="1" dirty="0">
                <a:latin typeface="Times New Roman" panose="02020603050405020304" pitchFamily="18" charset="0"/>
                <a:cs typeface="Times New Roman" panose="02020603050405020304" pitchFamily="18" charset="0"/>
              </a:rPr>
              <a:t>         </a:t>
            </a:r>
            <a:r>
              <a:rPr lang="en-US" altLang="zh-CN" sz="2600" b="1" dirty="0">
                <a:latin typeface="Times New Roman" panose="02020603050405020304" pitchFamily="18" charset="0"/>
                <a:cs typeface="Times New Roman" panose="02020603050405020304" pitchFamily="18" charset="0"/>
              </a:rPr>
              <a:t>x=1;</a:t>
            </a:r>
          </a:p>
          <a:p>
            <a:r>
              <a:rPr lang="zh-CN" altLang="en-US" sz="2600" b="1" dirty="0">
                <a:latin typeface="Times New Roman" panose="02020603050405020304" pitchFamily="18" charset="0"/>
                <a:cs typeface="Times New Roman" panose="02020603050405020304" pitchFamily="18" charset="0"/>
              </a:rPr>
              <a:t>         </a:t>
            </a:r>
            <a:r>
              <a:rPr lang="en-US" altLang="zh-CN" sz="2600" b="1" dirty="0">
                <a:latin typeface="Times New Roman" panose="02020603050405020304" pitchFamily="18" charset="0"/>
                <a:cs typeface="Times New Roman" panose="02020603050405020304" pitchFamily="18" charset="0"/>
              </a:rPr>
              <a:t>for(</a:t>
            </a:r>
            <a:r>
              <a:rPr lang="en-US" altLang="zh-CN" sz="2600" b="1" dirty="0" err="1">
                <a:latin typeface="Times New Roman" panose="02020603050405020304" pitchFamily="18" charset="0"/>
                <a:cs typeface="Times New Roman" panose="02020603050405020304" pitchFamily="18" charset="0"/>
              </a:rPr>
              <a:t>i</a:t>
            </a:r>
            <a:r>
              <a:rPr lang="en-US" altLang="zh-CN" sz="2600" b="1" dirty="0">
                <a:latin typeface="Times New Roman" panose="02020603050405020304" pitchFamily="18" charset="0"/>
                <a:cs typeface="Times New Roman" panose="02020603050405020304" pitchFamily="18" charset="0"/>
              </a:rPr>
              <a:t>=1;i&lt;=</a:t>
            </a:r>
            <a:r>
              <a:rPr lang="en-US" altLang="zh-CN" sz="2600" b="1" dirty="0" err="1">
                <a:latin typeface="Times New Roman" panose="02020603050405020304" pitchFamily="18" charset="0"/>
                <a:cs typeface="Times New Roman" panose="02020603050405020304" pitchFamily="18" charset="0"/>
              </a:rPr>
              <a:t>n;i</a:t>
            </a:r>
            <a:r>
              <a:rPr lang="en-US" altLang="zh-CN" sz="2600" b="1" dirty="0">
                <a:latin typeface="Times New Roman" panose="02020603050405020304" pitchFamily="18" charset="0"/>
                <a:cs typeface="Times New Roman" panose="02020603050405020304" pitchFamily="18" charset="0"/>
              </a:rPr>
              <a:t>=i+1)</a:t>
            </a:r>
          </a:p>
          <a:p>
            <a:r>
              <a:rPr lang="en-US" altLang="zh-CN" sz="2600" b="1" dirty="0">
                <a:latin typeface="Times New Roman" panose="02020603050405020304" pitchFamily="18" charset="0"/>
                <a:cs typeface="Times New Roman" panose="02020603050405020304" pitchFamily="18" charset="0"/>
              </a:rPr>
              <a:t>	    for(j=1;j&lt;=</a:t>
            </a:r>
            <a:r>
              <a:rPr lang="en-US" altLang="zh-CN" sz="2600" b="1" dirty="0" err="1">
                <a:latin typeface="Times New Roman" panose="02020603050405020304" pitchFamily="18" charset="0"/>
                <a:cs typeface="Times New Roman" panose="02020603050405020304" pitchFamily="18" charset="0"/>
              </a:rPr>
              <a:t>n;j</a:t>
            </a:r>
            <a:r>
              <a:rPr lang="en-US" altLang="zh-CN" sz="2600" b="1" dirty="0">
                <a:latin typeface="Times New Roman" panose="02020603050405020304" pitchFamily="18" charset="0"/>
                <a:cs typeface="Times New Roman" panose="02020603050405020304" pitchFamily="18" charset="0"/>
              </a:rPr>
              <a:t>=j+1)</a:t>
            </a:r>
          </a:p>
          <a:p>
            <a:r>
              <a:rPr lang="en-US" altLang="zh-CN" sz="2600" b="1" dirty="0">
                <a:latin typeface="Times New Roman" panose="02020603050405020304" pitchFamily="18" charset="0"/>
                <a:cs typeface="Times New Roman" panose="02020603050405020304" pitchFamily="18" charset="0"/>
              </a:rPr>
              <a:t>	</a:t>
            </a:r>
            <a:r>
              <a:rPr lang="zh-CN" altLang="en-US" sz="2600" b="1" dirty="0">
                <a:latin typeface="Times New Roman" panose="02020603050405020304" pitchFamily="18" charset="0"/>
                <a:cs typeface="Times New Roman" panose="02020603050405020304" pitchFamily="18" charset="0"/>
              </a:rPr>
              <a:t>         </a:t>
            </a:r>
            <a:r>
              <a:rPr lang="en-US" altLang="zh-CN" sz="2600" b="1" dirty="0">
                <a:latin typeface="Times New Roman" panose="02020603050405020304" pitchFamily="18" charset="0"/>
                <a:cs typeface="Times New Roman" panose="02020603050405020304" pitchFamily="18" charset="0"/>
              </a:rPr>
              <a:t>for(k=1;k&lt;=</a:t>
            </a:r>
            <a:r>
              <a:rPr lang="en-US" altLang="zh-CN" sz="2600" b="1" dirty="0" err="1">
                <a:latin typeface="Times New Roman" panose="02020603050405020304" pitchFamily="18" charset="0"/>
                <a:cs typeface="Times New Roman" panose="02020603050405020304" pitchFamily="18" charset="0"/>
              </a:rPr>
              <a:t>n;k</a:t>
            </a:r>
            <a:r>
              <a:rPr lang="en-US" altLang="zh-CN" sz="2600" b="1" dirty="0">
                <a:latin typeface="Times New Roman" panose="02020603050405020304" pitchFamily="18" charset="0"/>
                <a:cs typeface="Times New Roman" panose="02020603050405020304" pitchFamily="18" charset="0"/>
              </a:rPr>
              <a:t>=k+1)</a:t>
            </a:r>
          </a:p>
          <a:p>
            <a:r>
              <a:rPr lang="en-US" altLang="zh-CN" sz="2600" b="1" dirty="0">
                <a:latin typeface="Times New Roman" panose="02020603050405020304" pitchFamily="18" charset="0"/>
                <a:cs typeface="Times New Roman" panose="02020603050405020304" pitchFamily="18" charset="0"/>
              </a:rPr>
              <a:t>		     x=x+1;</a:t>
            </a:r>
          </a:p>
        </p:txBody>
      </p:sp>
      <p:sp>
        <p:nvSpPr>
          <p:cNvPr id="7" name="文本框 6">
            <a:extLst>
              <a:ext uri="{FF2B5EF4-FFF2-40B4-BE49-F238E27FC236}">
                <a16:creationId xmlns:a16="http://schemas.microsoft.com/office/drawing/2014/main" id="{FB5E6F3C-4F55-3A4E-A704-05665FB4D7F5}"/>
              </a:ext>
            </a:extLst>
          </p:cNvPr>
          <p:cNvSpPr txBox="1"/>
          <p:nvPr/>
        </p:nvSpPr>
        <p:spPr>
          <a:xfrm>
            <a:off x="1421195" y="4299677"/>
            <a:ext cx="4076353" cy="461665"/>
          </a:xfrm>
          <a:prstGeom prst="rect">
            <a:avLst/>
          </a:prstGeom>
          <a:noFill/>
        </p:spPr>
        <p:txBody>
          <a:bodyPr wrap="square">
            <a:spAutoFit/>
          </a:bodyPr>
          <a:lstStyle/>
          <a:p>
            <a:r>
              <a:rPr lang="en-US" altLang="zh-CN" sz="2400" b="1" dirty="0">
                <a:latin typeface="Arial" panose="020B0604020202020204" pitchFamily="34" charset="0"/>
              </a:rPr>
              <a:t> </a:t>
            </a:r>
            <a:r>
              <a:rPr lang="zh-CN" altLang="en-US" sz="2400" b="1" dirty="0">
                <a:latin typeface="Arial" panose="020B0604020202020204" pitchFamily="34" charset="0"/>
              </a:rPr>
              <a:t>则该算法段的时间复杂度为：</a:t>
            </a:r>
            <a:endParaRPr lang="zh-CN" altLang="en-US" sz="2400" dirty="0"/>
          </a:p>
        </p:txBody>
      </p:sp>
      <p:sp>
        <p:nvSpPr>
          <p:cNvPr id="9" name="文本框 8">
            <a:extLst>
              <a:ext uri="{FF2B5EF4-FFF2-40B4-BE49-F238E27FC236}">
                <a16:creationId xmlns:a16="http://schemas.microsoft.com/office/drawing/2014/main" id="{9CC9BEED-DFA7-0C46-9381-2AD2A8461187}"/>
              </a:ext>
            </a:extLst>
          </p:cNvPr>
          <p:cNvSpPr txBox="1"/>
          <p:nvPr/>
        </p:nvSpPr>
        <p:spPr>
          <a:xfrm>
            <a:off x="5631360" y="4299677"/>
            <a:ext cx="2776655" cy="461665"/>
          </a:xfrm>
          <a:prstGeom prst="rect">
            <a:avLst/>
          </a:prstGeom>
          <a:noFill/>
        </p:spPr>
        <p:txBody>
          <a:bodyPr wrap="square">
            <a:spAutoFit/>
          </a:bodyPr>
          <a:lstStyle/>
          <a:p>
            <a:r>
              <a:rPr lang="en-US" altLang="zh-CN" sz="2400" b="1" dirty="0">
                <a:latin typeface="Arial" panose="020B0604020202020204" pitchFamily="34" charset="0"/>
              </a:rPr>
              <a:t>T(n)= O(n</a:t>
            </a:r>
            <a:r>
              <a:rPr lang="en-US" altLang="zh-CN" sz="2400" b="1" baseline="30000" dirty="0">
                <a:latin typeface="Arial" panose="020B0604020202020204" pitchFamily="34" charset="0"/>
              </a:rPr>
              <a:t>3</a:t>
            </a:r>
            <a:r>
              <a:rPr lang="en-US" altLang="zh-CN" sz="2400" b="1" dirty="0">
                <a:latin typeface="Arial" panose="020B0604020202020204" pitchFamily="34" charset="0"/>
              </a:rPr>
              <a:t>)</a:t>
            </a:r>
            <a:endParaRPr lang="zh-CN" altLang="en-US" sz="2400" dirty="0"/>
          </a:p>
        </p:txBody>
      </p:sp>
    </p:spTree>
    <p:extLst>
      <p:ext uri="{BB962C8B-B14F-4D97-AF65-F5344CB8AC3E}">
        <p14:creationId xmlns:p14="http://schemas.microsoft.com/office/powerpoint/2010/main" val="146963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chemeClr val="tx1"/>
                </a:solidFill>
                <a:latin typeface="SimSun" panose="02010600030101010101" pitchFamily="2" charset="-122"/>
                <a:ea typeface="SimSun" panose="02010600030101010101" pitchFamily="2" charset="-122"/>
              </a:rPr>
              <a:t>非递归算法分析</a:t>
            </a:r>
            <a:endParaRPr lang="zh-CN" altLang="en-US" dirty="0">
              <a:latin typeface="SimSun" panose="02010600030101010101" pitchFamily="2" charset="-122"/>
              <a:ea typeface="SimSun" panose="02010600030101010101" pitchFamily="2" charset="-122"/>
            </a:endParaRPr>
          </a:p>
        </p:txBody>
      </p:sp>
      <p:sp>
        <p:nvSpPr>
          <p:cNvPr id="6" name="Text Box 2">
            <a:extLst>
              <a:ext uri="{FF2B5EF4-FFF2-40B4-BE49-F238E27FC236}">
                <a16:creationId xmlns:a16="http://schemas.microsoft.com/office/drawing/2014/main" id="{7FC90691-3344-DE43-87CB-B3D8CB69DF86}"/>
              </a:ext>
            </a:extLst>
          </p:cNvPr>
          <p:cNvSpPr txBox="1">
            <a:spLocks noChangeArrowheads="1"/>
          </p:cNvSpPr>
          <p:nvPr/>
        </p:nvSpPr>
        <p:spPr bwMode="auto">
          <a:xfrm>
            <a:off x="551405" y="1564966"/>
            <a:ext cx="8012112" cy="232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例</a:t>
            </a:r>
            <a:r>
              <a:rPr lang="en-US" altLang="zh-CN" b="1" dirty="0">
                <a:solidFill>
                  <a:schemeClr val="tx2"/>
                </a:solidFill>
                <a:latin typeface="Arial" panose="020B0604020202020204" pitchFamily="34" charset="0"/>
              </a:rPr>
              <a:t>4】</a:t>
            </a:r>
            <a:r>
              <a:rPr lang="zh-CN" altLang="en-US" b="1" dirty="0">
                <a:solidFill>
                  <a:schemeClr val="tx2"/>
                </a:solidFill>
                <a:latin typeface="Arial" panose="020B0604020202020204" pitchFamily="34" charset="0"/>
                <a:ea typeface="黑体" panose="02010609060101010101" pitchFamily="49" charset="-122"/>
              </a:rPr>
              <a:t>变量计数之之三</a:t>
            </a:r>
          </a:p>
          <a:p>
            <a:pPr>
              <a:spcBef>
                <a:spcPct val="30000"/>
              </a:spcBef>
            </a:pPr>
            <a:r>
              <a:rPr lang="zh-CN" altLang="en-US" b="1" dirty="0">
                <a:latin typeface="Arial" panose="020B0604020202020204" pitchFamily="34" charset="0"/>
              </a:rPr>
              <a:t>	</a:t>
            </a:r>
            <a:r>
              <a:rPr lang="en-US" altLang="zh-CN" sz="2400" b="1" dirty="0">
                <a:latin typeface="Times New Roman" panose="02020603050405020304" pitchFamily="18" charset="0"/>
                <a:cs typeface="Times New Roman" panose="02020603050405020304" pitchFamily="18" charset="0"/>
              </a:rPr>
              <a:t>x=1;</a:t>
            </a:r>
          </a:p>
          <a:p>
            <a:r>
              <a:rPr lang="en-US" altLang="zh-CN" sz="2400" b="1" dirty="0">
                <a:latin typeface="Times New Roman" panose="02020603050405020304" pitchFamily="18" charset="0"/>
                <a:cs typeface="Times New Roman" panose="02020603050405020304" pitchFamily="18" charset="0"/>
              </a:rPr>
              <a:t>	for(</a:t>
            </a:r>
            <a:r>
              <a:rPr lang="en-US" altLang="zh-CN" sz="2400" b="1" dirty="0" err="1">
                <a:latin typeface="Times New Roman" panose="02020603050405020304" pitchFamily="18" charset="0"/>
                <a:cs typeface="Times New Roman" panose="02020603050405020304" pitchFamily="18" charset="0"/>
              </a:rPr>
              <a:t>i</a:t>
            </a:r>
            <a:r>
              <a:rPr lang="en-US" altLang="zh-CN" sz="2400" b="1" dirty="0">
                <a:latin typeface="Times New Roman" panose="02020603050405020304" pitchFamily="18" charset="0"/>
                <a:cs typeface="Times New Roman" panose="02020603050405020304" pitchFamily="18" charset="0"/>
              </a:rPr>
              <a:t>=1;i&lt;=</a:t>
            </a:r>
            <a:r>
              <a:rPr lang="en-US" altLang="zh-CN" sz="2400" b="1" dirty="0" err="1">
                <a:latin typeface="Times New Roman" panose="02020603050405020304" pitchFamily="18" charset="0"/>
                <a:cs typeface="Times New Roman" panose="02020603050405020304" pitchFamily="18" charset="0"/>
              </a:rPr>
              <a:t>n;i</a:t>
            </a:r>
            <a:r>
              <a:rPr lang="en-US" altLang="zh-CN" sz="2400" b="1" dirty="0">
                <a:latin typeface="Times New Roman" panose="02020603050405020304" pitchFamily="18" charset="0"/>
                <a:cs typeface="Times New Roman" panose="02020603050405020304" pitchFamily="18" charset="0"/>
              </a:rPr>
              <a:t>=i+1)</a:t>
            </a:r>
          </a:p>
          <a:p>
            <a:r>
              <a:rPr lang="en-US" altLang="zh-CN" sz="2400" b="1" dirty="0">
                <a:latin typeface="Times New Roman" panose="02020603050405020304" pitchFamily="18" charset="0"/>
                <a:cs typeface="Times New Roman" panose="02020603050405020304" pitchFamily="18" charset="0"/>
              </a:rPr>
              <a:t>	     for(j=1;j&lt;=</a:t>
            </a:r>
            <a:r>
              <a:rPr lang="en-US" altLang="zh-CN" sz="2400" b="1" dirty="0" err="1">
                <a:latin typeface="Times New Roman" panose="02020603050405020304" pitchFamily="18" charset="0"/>
                <a:cs typeface="Times New Roman" panose="02020603050405020304" pitchFamily="18" charset="0"/>
              </a:rPr>
              <a:t>i;j</a:t>
            </a:r>
            <a:r>
              <a:rPr lang="en-US" altLang="zh-CN" sz="2400" b="1" dirty="0">
                <a:latin typeface="Times New Roman" panose="02020603050405020304" pitchFamily="18" charset="0"/>
                <a:cs typeface="Times New Roman" panose="02020603050405020304" pitchFamily="18" charset="0"/>
              </a:rPr>
              <a:t>=j+1)</a:t>
            </a:r>
          </a:p>
          <a:p>
            <a:r>
              <a:rPr lang="en-US" altLang="zh-CN" sz="2400" b="1" dirty="0">
                <a:latin typeface="Times New Roman" panose="02020603050405020304" pitchFamily="18" charset="0"/>
                <a:cs typeface="Times New Roman" panose="02020603050405020304" pitchFamily="18" charset="0"/>
              </a:rPr>
              <a:t>		for(k=1;k&lt;=</a:t>
            </a:r>
            <a:r>
              <a:rPr lang="en-US" altLang="zh-CN" sz="2400" b="1" dirty="0" err="1">
                <a:latin typeface="Times New Roman" panose="02020603050405020304" pitchFamily="18" charset="0"/>
                <a:cs typeface="Times New Roman" panose="02020603050405020304" pitchFamily="18" charset="0"/>
              </a:rPr>
              <a:t>j;k</a:t>
            </a:r>
            <a:r>
              <a:rPr lang="en-US" altLang="zh-CN" sz="2400" b="1" dirty="0">
                <a:latin typeface="Times New Roman" panose="02020603050405020304" pitchFamily="18" charset="0"/>
                <a:cs typeface="Times New Roman" panose="02020603050405020304" pitchFamily="18" charset="0"/>
              </a:rPr>
              <a:t>=k+1)</a:t>
            </a:r>
          </a:p>
          <a:p>
            <a:r>
              <a:rPr lang="en-US" altLang="zh-CN" sz="2400" b="1" dirty="0">
                <a:latin typeface="Times New Roman" panose="02020603050405020304" pitchFamily="18" charset="0"/>
                <a:cs typeface="Times New Roman" panose="02020603050405020304" pitchFamily="18" charset="0"/>
              </a:rPr>
              <a:t>		      x=x+1;</a:t>
            </a:r>
          </a:p>
        </p:txBody>
      </p:sp>
      <p:sp>
        <p:nvSpPr>
          <p:cNvPr id="8" name="文本框 7">
            <a:extLst>
              <a:ext uri="{FF2B5EF4-FFF2-40B4-BE49-F238E27FC236}">
                <a16:creationId xmlns:a16="http://schemas.microsoft.com/office/drawing/2014/main" id="{3168192C-535C-C746-A0CE-65E22A3F6270}"/>
              </a:ext>
            </a:extLst>
          </p:cNvPr>
          <p:cNvSpPr txBox="1"/>
          <p:nvPr/>
        </p:nvSpPr>
        <p:spPr>
          <a:xfrm>
            <a:off x="5969956" y="2514870"/>
            <a:ext cx="4705815" cy="461665"/>
          </a:xfrm>
          <a:prstGeom prst="rect">
            <a:avLst/>
          </a:prstGeom>
          <a:noFill/>
        </p:spPr>
        <p:txBody>
          <a:bodyPr wrap="square">
            <a:spAutoFit/>
          </a:bodyPr>
          <a:lstStyle/>
          <a:p>
            <a:r>
              <a:rPr lang="zh-CN" altLang="en-US" sz="2400" b="1" dirty="0">
                <a:latin typeface="Arial" panose="020B0604020202020204" pitchFamily="34" charset="0"/>
              </a:rPr>
              <a:t>则该算法段的时间复杂度</a:t>
            </a:r>
            <a:r>
              <a:rPr lang="en-US" altLang="zh-CN" sz="2400" b="1" dirty="0">
                <a:latin typeface="Arial" panose="020B0604020202020204" pitchFamily="34" charset="0"/>
              </a:rPr>
              <a:t>T(n)= ?</a:t>
            </a:r>
            <a:endParaRPr lang="zh-CN" altLang="en-US" sz="2400"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B16FC4B-E1C9-0349-AFDA-A7E768D2C488}"/>
                  </a:ext>
                </a:extLst>
              </p:cNvPr>
              <p:cNvSpPr txBox="1"/>
              <p:nvPr/>
            </p:nvSpPr>
            <p:spPr>
              <a:xfrm>
                <a:off x="293319" y="4231923"/>
                <a:ext cx="1773045" cy="8198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nary>
                            <m:naryPr>
                              <m:chr m:val="∑"/>
                              <m:ctrlPr>
                                <a:rPr kumimoji="1" lang="zh-CN" altLang="en-US" i="1">
                                  <a:latin typeface="Cambria Math" panose="02040503050406030204" pitchFamily="18" charset="0"/>
                                </a:rPr>
                              </m:ctrlPr>
                            </m:naryPr>
                            <m:sub>
                              <m:r>
                                <m:rPr>
                                  <m:brk m:alnAt="23"/>
                                </m:rPr>
                                <a:rPr kumimoji="1" lang="en-US" altLang="zh-CN" i="1">
                                  <a:latin typeface="Cambria Math" panose="02040503050406030204" pitchFamily="18" charset="0"/>
                                </a:rPr>
                                <m:t>𝑗</m:t>
                              </m:r>
                              <m:r>
                                <a:rPr kumimoji="1" lang="en-US" altLang="zh-CN" i="1">
                                  <a:latin typeface="Cambria Math" panose="02040503050406030204" pitchFamily="18" charset="0"/>
                                </a:rPr>
                                <m:t>=1</m:t>
                              </m:r>
                            </m:sub>
                            <m:sup>
                              <m:r>
                                <a:rPr kumimoji="1" lang="en-US" altLang="zh-CN" i="1">
                                  <a:latin typeface="Cambria Math" panose="02040503050406030204" pitchFamily="18" charset="0"/>
                                </a:rPr>
                                <m:t>𝑖</m:t>
                              </m:r>
                            </m:sup>
                            <m:e>
                              <m:nary>
                                <m:naryPr>
                                  <m:chr m:val="∑"/>
                                  <m:ctrlPr>
                                    <a:rPr kumimoji="1" lang="zh-CN" altLang="en-US" i="1">
                                      <a:latin typeface="Cambria Math" panose="02040503050406030204" pitchFamily="18" charset="0"/>
                                    </a:rPr>
                                  </m:ctrlPr>
                                </m:naryPr>
                                <m:sub>
                                  <m:r>
                                    <m:rPr>
                                      <m:sty m:val="p"/>
                                      <m:brk m:alnAt="23"/>
                                    </m:rPr>
                                    <a:rPr kumimoji="1" lang="en-US" altLang="zh-CN" i="1">
                                      <a:latin typeface="Cambria Math" panose="02040503050406030204" pitchFamily="18" charset="0"/>
                                    </a:rPr>
                                    <m:t>k</m:t>
                                  </m:r>
                                  <m:r>
                                    <a:rPr kumimoji="1" lang="en-US" altLang="zh-CN" i="1">
                                      <a:latin typeface="Cambria Math" panose="02040503050406030204" pitchFamily="18" charset="0"/>
                                    </a:rPr>
                                    <m:t>=1</m:t>
                                  </m:r>
                                </m:sub>
                                <m:sup>
                                  <m:r>
                                    <a:rPr kumimoji="1" lang="en-US" altLang="zh-CN" i="1">
                                      <a:latin typeface="Cambria Math" panose="02040503050406030204" pitchFamily="18" charset="0"/>
                                    </a:rPr>
                                    <m:t>𝑗</m:t>
                                  </m:r>
                                </m:sup>
                                <m:e>
                                  <m:r>
                                    <a:rPr kumimoji="1" lang="en-US" altLang="zh-CN" i="1">
                                      <a:latin typeface="Cambria Math" panose="02040503050406030204" pitchFamily="18" charset="0"/>
                                    </a:rPr>
                                    <m:t>1</m:t>
                                  </m:r>
                                </m:e>
                              </m:nary>
                              <m:r>
                                <a:rPr kumimoji="1" lang="en-US" altLang="zh-CN" b="0" i="1" smtClean="0">
                                  <a:latin typeface="Cambria Math" panose="02040503050406030204" pitchFamily="18" charset="0"/>
                                </a:rPr>
                                <m:t>=</m:t>
                              </m:r>
                            </m:e>
                          </m:nary>
                        </m:e>
                      </m:nary>
                    </m:oMath>
                  </m:oMathPara>
                </a14:m>
                <a:endParaRPr kumimoji="1" lang="zh-CN" altLang="en-US" dirty="0"/>
              </a:p>
            </p:txBody>
          </p:sp>
        </mc:Choice>
        <mc:Fallback xmlns="">
          <p:sp>
            <p:nvSpPr>
              <p:cNvPr id="3" name="文本框 2">
                <a:extLst>
                  <a:ext uri="{FF2B5EF4-FFF2-40B4-BE49-F238E27FC236}">
                    <a16:creationId xmlns:a16="http://schemas.microsoft.com/office/drawing/2014/main" id="{AB16FC4B-E1C9-0349-AFDA-A7E768D2C488}"/>
                  </a:ext>
                </a:extLst>
              </p:cNvPr>
              <p:cNvSpPr txBox="1">
                <a:spLocks noRot="1" noChangeAspect="1" noMove="1" noResize="1" noEditPoints="1" noAdjustHandles="1" noChangeArrowheads="1" noChangeShapeType="1" noTextEdit="1"/>
              </p:cNvSpPr>
              <p:nvPr/>
            </p:nvSpPr>
            <p:spPr>
              <a:xfrm>
                <a:off x="293319" y="4231923"/>
                <a:ext cx="1773045" cy="819840"/>
              </a:xfrm>
              <a:prstGeom prst="rect">
                <a:avLst/>
              </a:prstGeom>
              <a:blipFill>
                <a:blip r:embed="rId3"/>
                <a:stretch>
                  <a:fillRect l="-38571" t="-106154" b="-16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2BDF9A7-B3DC-1B48-95FE-14AF62313E02}"/>
                  </a:ext>
                </a:extLst>
              </p:cNvPr>
              <p:cNvSpPr txBox="1"/>
              <p:nvPr/>
            </p:nvSpPr>
            <p:spPr>
              <a:xfrm>
                <a:off x="1590910" y="4225194"/>
                <a:ext cx="1773045" cy="8198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nary>
                            <m:naryPr>
                              <m:chr m:val="∑"/>
                              <m:ctrlPr>
                                <a:rPr kumimoji="1" lang="zh-CN" altLang="en-US" i="1">
                                  <a:latin typeface="Cambria Math" panose="02040503050406030204" pitchFamily="18" charset="0"/>
                                </a:rPr>
                              </m:ctrlPr>
                            </m:naryPr>
                            <m:sub>
                              <m:r>
                                <m:rPr>
                                  <m:brk m:alnAt="23"/>
                                </m:rPr>
                                <a:rPr kumimoji="1" lang="en-US" altLang="zh-CN" i="1">
                                  <a:latin typeface="Cambria Math" panose="02040503050406030204" pitchFamily="18" charset="0"/>
                                </a:rPr>
                                <m:t>𝑗</m:t>
                              </m:r>
                              <m:r>
                                <a:rPr kumimoji="1" lang="en-US" altLang="zh-CN" i="1">
                                  <a:latin typeface="Cambria Math" panose="02040503050406030204" pitchFamily="18" charset="0"/>
                                </a:rPr>
                                <m:t>=1</m:t>
                              </m:r>
                            </m:sub>
                            <m:sup>
                              <m:r>
                                <a:rPr kumimoji="1" lang="en-US" altLang="zh-CN" i="1">
                                  <a:latin typeface="Cambria Math" panose="02040503050406030204" pitchFamily="18" charset="0"/>
                                </a:rPr>
                                <m:t>𝑖</m:t>
                              </m:r>
                            </m:sup>
                            <m:e>
                              <m:r>
                                <a:rPr kumimoji="1" lang="en-US" altLang="zh-CN" b="0" i="1" smtClean="0">
                                  <a:latin typeface="Cambria Math" panose="02040503050406030204" pitchFamily="18" charset="0"/>
                                </a:rPr>
                                <m:t>𝑗</m:t>
                              </m:r>
                              <m:r>
                                <a:rPr kumimoji="1" lang="en-US" altLang="zh-CN" b="0" i="1" smtClean="0">
                                  <a:latin typeface="Cambria Math" panose="02040503050406030204" pitchFamily="18" charset="0"/>
                                </a:rPr>
                                <m:t>=</m:t>
                              </m:r>
                            </m:e>
                          </m:nary>
                        </m:e>
                      </m:nary>
                    </m:oMath>
                  </m:oMathPara>
                </a14:m>
                <a:endParaRPr kumimoji="1" lang="zh-CN" altLang="en-US" dirty="0"/>
              </a:p>
            </p:txBody>
          </p:sp>
        </mc:Choice>
        <mc:Fallback xmlns="">
          <p:sp>
            <p:nvSpPr>
              <p:cNvPr id="13" name="文本框 12">
                <a:extLst>
                  <a:ext uri="{FF2B5EF4-FFF2-40B4-BE49-F238E27FC236}">
                    <a16:creationId xmlns:a16="http://schemas.microsoft.com/office/drawing/2014/main" id="{A2BDF9A7-B3DC-1B48-95FE-14AF62313E02}"/>
                  </a:ext>
                </a:extLst>
              </p:cNvPr>
              <p:cNvSpPr txBox="1">
                <a:spLocks noRot="1" noChangeAspect="1" noMove="1" noResize="1" noEditPoints="1" noAdjustHandles="1" noChangeArrowheads="1" noChangeShapeType="1" noTextEdit="1"/>
              </p:cNvSpPr>
              <p:nvPr/>
            </p:nvSpPr>
            <p:spPr>
              <a:xfrm>
                <a:off x="1590910" y="4225194"/>
                <a:ext cx="1773045" cy="819840"/>
              </a:xfrm>
              <a:prstGeom prst="rect">
                <a:avLst/>
              </a:prstGeom>
              <a:blipFill>
                <a:blip r:embed="rId4"/>
                <a:stretch>
                  <a:fillRect l="-27143" t="-104545" b="-15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D1E03F5-37D6-824F-A7F2-56E4F4901779}"/>
                  </a:ext>
                </a:extLst>
              </p:cNvPr>
              <p:cNvSpPr txBox="1"/>
              <p:nvPr/>
            </p:nvSpPr>
            <p:spPr>
              <a:xfrm>
                <a:off x="2888501" y="4256997"/>
                <a:ext cx="1773045"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1+</m:t>
                              </m:r>
                              <m:r>
                                <a:rPr kumimoji="1" lang="en-US" altLang="zh-CN" i="1">
                                  <a:latin typeface="Cambria Math" panose="02040503050406030204" pitchFamily="18" charset="0"/>
                                </a:rPr>
                                <m:t>𝑖</m:t>
                              </m:r>
                            </m:e>
                          </m:d>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/2</m:t>
                          </m:r>
                        </m:e>
                      </m:nary>
                    </m:oMath>
                  </m:oMathPara>
                </a14:m>
                <a:endParaRPr kumimoji="1" lang="zh-CN" altLang="en-US" dirty="0"/>
              </a:p>
            </p:txBody>
          </p:sp>
        </mc:Choice>
        <mc:Fallback xmlns="">
          <p:sp>
            <p:nvSpPr>
              <p:cNvPr id="14" name="文本框 13">
                <a:extLst>
                  <a:ext uri="{FF2B5EF4-FFF2-40B4-BE49-F238E27FC236}">
                    <a16:creationId xmlns:a16="http://schemas.microsoft.com/office/drawing/2014/main" id="{5D1E03F5-37D6-824F-A7F2-56E4F4901779}"/>
                  </a:ext>
                </a:extLst>
              </p:cNvPr>
              <p:cNvSpPr txBox="1">
                <a:spLocks noRot="1" noChangeAspect="1" noMove="1" noResize="1" noEditPoints="1" noAdjustHandles="1" noChangeArrowheads="1" noChangeShapeType="1" noTextEdit="1"/>
              </p:cNvSpPr>
              <p:nvPr/>
            </p:nvSpPr>
            <p:spPr>
              <a:xfrm>
                <a:off x="2888501" y="4256997"/>
                <a:ext cx="1773045" cy="756233"/>
              </a:xfrm>
              <a:prstGeom prst="rect">
                <a:avLst/>
              </a:prstGeom>
              <a:blipFill>
                <a:blip r:embed="rId5"/>
                <a:stretch>
                  <a:fillRect l="-34752" t="-118333" b="-18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75F029E-7295-834C-B9EF-FE55A5EBDFE3}"/>
                  </a:ext>
                </a:extLst>
              </p:cNvPr>
              <p:cNvSpPr txBox="1"/>
              <p:nvPr/>
            </p:nvSpPr>
            <p:spPr>
              <a:xfrm>
                <a:off x="4490559" y="4263727"/>
                <a:ext cx="1773045"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m:t>
                      </m:r>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e>
                            <m:sup>
                              <m:r>
                                <a:rPr kumimoji="1" lang="en-US" altLang="zh-CN" b="0" i="1" smtClean="0">
                                  <a:latin typeface="Cambria Math" panose="02040503050406030204" pitchFamily="18" charset="0"/>
                                </a:rPr>
                                <m:t>2</m:t>
                              </m:r>
                            </m:sup>
                          </m:s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)/2</m:t>
                          </m:r>
                        </m:e>
                      </m:nary>
                    </m:oMath>
                  </m:oMathPara>
                </a14:m>
                <a:endParaRPr kumimoji="1" lang="zh-CN" altLang="en-US" dirty="0"/>
              </a:p>
            </p:txBody>
          </p:sp>
        </mc:Choice>
        <mc:Fallback xmlns="">
          <p:sp>
            <p:nvSpPr>
              <p:cNvPr id="15" name="文本框 14">
                <a:extLst>
                  <a:ext uri="{FF2B5EF4-FFF2-40B4-BE49-F238E27FC236}">
                    <a16:creationId xmlns:a16="http://schemas.microsoft.com/office/drawing/2014/main" id="{875F029E-7295-834C-B9EF-FE55A5EBDFE3}"/>
                  </a:ext>
                </a:extLst>
              </p:cNvPr>
              <p:cNvSpPr txBox="1">
                <a:spLocks noRot="1" noChangeAspect="1" noMove="1" noResize="1" noEditPoints="1" noAdjustHandles="1" noChangeArrowheads="1" noChangeShapeType="1" noTextEdit="1"/>
              </p:cNvSpPr>
              <p:nvPr/>
            </p:nvSpPr>
            <p:spPr>
              <a:xfrm>
                <a:off x="4490559" y="4263727"/>
                <a:ext cx="1773045" cy="756233"/>
              </a:xfrm>
              <a:prstGeom prst="rect">
                <a:avLst/>
              </a:prstGeom>
              <a:blipFill>
                <a:blip r:embed="rId6"/>
                <a:stretch>
                  <a:fillRect l="-25000" t="-116393" b="-177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9B6C08-A98C-5F44-B772-DE77493CD215}"/>
                  </a:ext>
                </a:extLst>
              </p:cNvPr>
              <p:cNvSpPr txBox="1"/>
              <p:nvPr/>
            </p:nvSpPr>
            <p:spPr>
              <a:xfrm>
                <a:off x="5969956" y="4256997"/>
                <a:ext cx="1773045"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m:t>
                      </m:r>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𝑖</m:t>
                              </m:r>
                            </m:e>
                            <m:sup>
                              <m:r>
                                <a:rPr kumimoji="1" lang="en-US" altLang="zh-CN" b="0" i="1" smtClean="0">
                                  <a:latin typeface="Cambria Math" panose="02040503050406030204" pitchFamily="18" charset="0"/>
                                </a:rPr>
                                <m:t>2</m:t>
                              </m:r>
                            </m:sup>
                          </m:sSup>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e>
                      </m:nary>
                    </m:oMath>
                  </m:oMathPara>
                </a14:m>
                <a:endParaRPr kumimoji="1" lang="zh-CN" altLang="en-US" dirty="0"/>
              </a:p>
            </p:txBody>
          </p:sp>
        </mc:Choice>
        <mc:Fallback xmlns="">
          <p:sp>
            <p:nvSpPr>
              <p:cNvPr id="16" name="文本框 15">
                <a:extLst>
                  <a:ext uri="{FF2B5EF4-FFF2-40B4-BE49-F238E27FC236}">
                    <a16:creationId xmlns:a16="http://schemas.microsoft.com/office/drawing/2014/main" id="{D19B6C08-A98C-5F44-B772-DE77493CD215}"/>
                  </a:ext>
                </a:extLst>
              </p:cNvPr>
              <p:cNvSpPr txBox="1">
                <a:spLocks noRot="1" noChangeAspect="1" noMove="1" noResize="1" noEditPoints="1" noAdjustHandles="1" noChangeArrowheads="1" noChangeShapeType="1" noTextEdit="1"/>
              </p:cNvSpPr>
              <p:nvPr/>
            </p:nvSpPr>
            <p:spPr>
              <a:xfrm>
                <a:off x="5969956" y="4256997"/>
                <a:ext cx="1773045" cy="756233"/>
              </a:xfrm>
              <a:prstGeom prst="rect">
                <a:avLst/>
              </a:prstGeom>
              <a:blipFill>
                <a:blip r:embed="rId7"/>
                <a:stretch>
                  <a:fillRect l="-11348" t="-118333" b="-18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BFCFD94-1FDD-1D4D-BAE4-24E4C7D2937A}"/>
                  </a:ext>
                </a:extLst>
              </p:cNvPr>
              <p:cNvSpPr txBox="1"/>
              <p:nvPr/>
            </p:nvSpPr>
            <p:spPr>
              <a:xfrm>
                <a:off x="7099610" y="4217560"/>
                <a:ext cx="112937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e>
                      </m:nary>
                    </m:oMath>
                  </m:oMathPara>
                </a14:m>
                <a:endParaRPr lang="zh-CN" altLang="en-US" dirty="0"/>
              </a:p>
            </p:txBody>
          </p:sp>
        </mc:Choice>
        <mc:Fallback xmlns="">
          <p:sp>
            <p:nvSpPr>
              <p:cNvPr id="18" name="文本框 17">
                <a:extLst>
                  <a:ext uri="{FF2B5EF4-FFF2-40B4-BE49-F238E27FC236}">
                    <a16:creationId xmlns:a16="http://schemas.microsoft.com/office/drawing/2014/main" id="{3BFCFD94-1FDD-1D4D-BAE4-24E4C7D2937A}"/>
                  </a:ext>
                </a:extLst>
              </p:cNvPr>
              <p:cNvSpPr txBox="1">
                <a:spLocks noRot="1" noChangeAspect="1" noMove="1" noResize="1" noEditPoints="1" noAdjustHandles="1" noChangeArrowheads="1" noChangeShapeType="1" noTextEdit="1"/>
              </p:cNvSpPr>
              <p:nvPr/>
            </p:nvSpPr>
            <p:spPr>
              <a:xfrm>
                <a:off x="7099610" y="4217560"/>
                <a:ext cx="1129372" cy="848566"/>
              </a:xfrm>
              <a:prstGeom prst="rect">
                <a:avLst/>
              </a:prstGeom>
              <a:blipFill>
                <a:blip r:embed="rId8"/>
                <a:stretch>
                  <a:fillRect l="-49438" t="-101493" r="-4494" b="-1567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7CB1B89-C435-6145-B483-4E0BEBED07AC}"/>
                  </a:ext>
                </a:extLst>
              </p:cNvPr>
              <p:cNvSpPr txBox="1"/>
              <p:nvPr/>
            </p:nvSpPr>
            <p:spPr>
              <a:xfrm>
                <a:off x="7825725" y="4514494"/>
                <a:ext cx="54917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/2</m:t>
                      </m:r>
                    </m:oMath>
                  </m:oMathPara>
                </a14:m>
                <a:endParaRPr kumimoji="1" lang="zh-CN" altLang="en-US" dirty="0"/>
              </a:p>
            </p:txBody>
          </p:sp>
        </mc:Choice>
        <mc:Fallback xmlns="">
          <p:sp>
            <p:nvSpPr>
              <p:cNvPr id="20" name="文本框 19">
                <a:extLst>
                  <a:ext uri="{FF2B5EF4-FFF2-40B4-BE49-F238E27FC236}">
                    <a16:creationId xmlns:a16="http://schemas.microsoft.com/office/drawing/2014/main" id="{17CB1B89-C435-6145-B483-4E0BEBED07AC}"/>
                  </a:ext>
                </a:extLst>
              </p:cNvPr>
              <p:cNvSpPr txBox="1">
                <a:spLocks noRot="1" noChangeAspect="1" noMove="1" noResize="1" noEditPoints="1" noAdjustHandles="1" noChangeArrowheads="1" noChangeShapeType="1" noTextEdit="1"/>
              </p:cNvSpPr>
              <p:nvPr/>
            </p:nvSpPr>
            <p:spPr>
              <a:xfrm>
                <a:off x="7825725" y="4514494"/>
                <a:ext cx="549174" cy="276999"/>
              </a:xfrm>
              <a:prstGeom prst="rect">
                <a:avLst/>
              </a:prstGeom>
              <a:blipFill>
                <a:blip r:embed="rId9"/>
                <a:stretch>
                  <a:fillRect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6455F53-B533-3E4C-9D0F-3B15CFE009E8}"/>
                  </a:ext>
                </a:extLst>
              </p:cNvPr>
              <p:cNvSpPr txBox="1"/>
              <p:nvPr/>
            </p:nvSpPr>
            <p:spPr>
              <a:xfrm>
                <a:off x="1675981" y="5407105"/>
                <a:ext cx="3633239" cy="616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m:t>
                      </m:r>
                      <m:d>
                        <m:dPr>
                          <m:begChr m:val="["/>
                          <m:endChr m:val="]"/>
                          <m:ctrlPr>
                            <a:rPr kumimoji="1" lang="en-US" altLang="zh-CN" b="0" i="1" smtClean="0">
                              <a:latin typeface="Cambria Math" panose="02040503050406030204" pitchFamily="18" charset="0"/>
                            </a:rPr>
                          </m:ctrlPr>
                        </m:dPr>
                        <m:e>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𝑛</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+1</m:t>
                                  </m:r>
                                </m:e>
                              </m:d>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2</m:t>
                                  </m:r>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+1</m:t>
                                  </m:r>
                                </m:e>
                              </m:d>
                            </m:num>
                            <m:den>
                              <m:r>
                                <a:rPr kumimoji="1" lang="en-US" altLang="zh-CN" b="0" i="1" smtClean="0">
                                  <a:latin typeface="Cambria Math" panose="02040503050406030204" pitchFamily="18" charset="0"/>
                                </a:rPr>
                                <m:t>6</m:t>
                              </m:r>
                            </m:den>
                          </m:f>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𝑛</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+1</m:t>
                                  </m:r>
                                </m:e>
                              </m:d>
                            </m:num>
                            <m:den>
                              <m:r>
                                <a:rPr kumimoji="1" lang="en-US" altLang="zh-CN" b="0" i="1" smtClean="0">
                                  <a:latin typeface="Cambria Math" panose="02040503050406030204" pitchFamily="18" charset="0"/>
                                </a:rPr>
                                <m:t>2</m:t>
                              </m:r>
                            </m:den>
                          </m:f>
                        </m:e>
                      </m:d>
                      <m:r>
                        <a:rPr kumimoji="1" lang="en-US" altLang="zh-CN" b="0" i="1" smtClean="0">
                          <a:latin typeface="Cambria Math" panose="02040503050406030204" pitchFamily="18" charset="0"/>
                        </a:rPr>
                        <m:t>/2</m:t>
                      </m:r>
                    </m:oMath>
                  </m:oMathPara>
                </a14:m>
                <a:endParaRPr kumimoji="1" lang="zh-CN" altLang="en-US" dirty="0"/>
              </a:p>
            </p:txBody>
          </p:sp>
        </mc:Choice>
        <mc:Fallback xmlns="">
          <p:sp>
            <p:nvSpPr>
              <p:cNvPr id="21" name="文本框 20">
                <a:extLst>
                  <a:ext uri="{FF2B5EF4-FFF2-40B4-BE49-F238E27FC236}">
                    <a16:creationId xmlns:a16="http://schemas.microsoft.com/office/drawing/2014/main" id="{36455F53-B533-3E4C-9D0F-3B15CFE009E8}"/>
                  </a:ext>
                </a:extLst>
              </p:cNvPr>
              <p:cNvSpPr txBox="1">
                <a:spLocks noRot="1" noChangeAspect="1" noMove="1" noResize="1" noEditPoints="1" noAdjustHandles="1" noChangeArrowheads="1" noChangeShapeType="1" noTextEdit="1"/>
              </p:cNvSpPr>
              <p:nvPr/>
            </p:nvSpPr>
            <p:spPr>
              <a:xfrm>
                <a:off x="1675981" y="5407105"/>
                <a:ext cx="3633239" cy="616387"/>
              </a:xfrm>
              <a:prstGeom prst="rect">
                <a:avLst/>
              </a:prstGeom>
              <a:blipFill>
                <a:blip r:embed="rId10"/>
                <a:stretch>
                  <a:fillRect l="-348" r="-697"/>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B37C4B32-FB8F-6042-96F3-CBD4A4007180}"/>
              </a:ext>
            </a:extLst>
          </p:cNvPr>
          <p:cNvSpPr txBox="1"/>
          <p:nvPr/>
        </p:nvSpPr>
        <p:spPr>
          <a:xfrm>
            <a:off x="5980939" y="5460696"/>
            <a:ext cx="4802289" cy="461665"/>
          </a:xfrm>
          <a:prstGeom prst="rect">
            <a:avLst/>
          </a:prstGeom>
          <a:noFill/>
        </p:spPr>
        <p:txBody>
          <a:bodyPr wrap="square">
            <a:spAutoFit/>
          </a:bodyPr>
          <a:lstStyle/>
          <a:p>
            <a:pPr>
              <a:spcBef>
                <a:spcPct val="50000"/>
              </a:spcBef>
            </a:pPr>
            <a:r>
              <a:rPr lang="zh-CN" altLang="en-US" sz="2400" dirty="0">
                <a:solidFill>
                  <a:srgbClr val="0000FF"/>
                </a:solidFill>
                <a:latin typeface="SimSun" panose="02010600030101010101" pitchFamily="2" charset="-122"/>
                <a:ea typeface="SimSun" panose="02010600030101010101" pitchFamily="2" charset="-122"/>
                <a:cs typeface="Consolas" pitchFamily="49" charset="0"/>
              </a:rPr>
              <a:t>则该算法的时间复杂度为</a:t>
            </a:r>
            <a:r>
              <a:rPr lang="en-US" altLang="zh-CN" sz="2400" dirty="0">
                <a:solidFill>
                  <a:srgbClr val="0000FF"/>
                </a:solidFill>
                <a:latin typeface="SimSun" panose="02010600030101010101" pitchFamily="2" charset="-122"/>
                <a:ea typeface="SimSun" panose="02010600030101010101" pitchFamily="2" charset="-122"/>
                <a:cs typeface="Consolas" pitchFamily="49" charset="0"/>
              </a:rPr>
              <a:t>O(</a:t>
            </a:r>
            <a:r>
              <a:rPr lang="en-US" altLang="zh-CN" sz="2400" i="1" dirty="0">
                <a:solidFill>
                  <a:srgbClr val="0000FF"/>
                </a:solidFill>
                <a:latin typeface="SimSun" panose="02010600030101010101" pitchFamily="2" charset="-122"/>
                <a:ea typeface="SimSun" panose="02010600030101010101" pitchFamily="2" charset="-122"/>
                <a:cs typeface="Consolas" pitchFamily="49" charset="0"/>
              </a:rPr>
              <a:t>n</a:t>
            </a:r>
            <a:r>
              <a:rPr lang="en-US" altLang="zh-CN" sz="2400" baseline="30000" dirty="0">
                <a:solidFill>
                  <a:srgbClr val="0000FF"/>
                </a:solidFill>
                <a:latin typeface="SimSun" panose="02010600030101010101" pitchFamily="2" charset="-122"/>
                <a:ea typeface="SimSun" panose="02010600030101010101" pitchFamily="2" charset="-122"/>
                <a:cs typeface="Consolas" pitchFamily="49" charset="0"/>
              </a:rPr>
              <a:t>3</a:t>
            </a:r>
            <a:r>
              <a:rPr lang="en-US" altLang="zh-CN" sz="2400" dirty="0">
                <a:solidFill>
                  <a:srgbClr val="0000FF"/>
                </a:solidFill>
                <a:latin typeface="SimSun" panose="02010600030101010101" pitchFamily="2" charset="-122"/>
                <a:ea typeface="SimSun" panose="02010600030101010101" pitchFamily="2" charset="-122"/>
                <a:cs typeface="Consolas" pitchFamily="49" charset="0"/>
              </a:rPr>
              <a:t>)</a:t>
            </a:r>
            <a:r>
              <a:rPr lang="zh-CN" altLang="en-US" sz="2400" dirty="0">
                <a:solidFill>
                  <a:srgbClr val="0000FF"/>
                </a:solidFill>
                <a:latin typeface="SimSun" panose="02010600030101010101" pitchFamily="2" charset="-122"/>
                <a:ea typeface="SimSun" panose="02010600030101010101" pitchFamily="2" charset="-122"/>
                <a:cs typeface="Consolas" pitchFamily="49" charset="0"/>
              </a:rPr>
              <a:t>。</a:t>
            </a:r>
          </a:p>
        </p:txBody>
      </p:sp>
    </p:spTree>
    <p:extLst>
      <p:ext uri="{BB962C8B-B14F-4D97-AF65-F5344CB8AC3E}">
        <p14:creationId xmlns:p14="http://schemas.microsoft.com/office/powerpoint/2010/main" val="67884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P spid="15" grpId="0"/>
      <p:bldP spid="16" grpId="0"/>
      <p:bldP spid="18" grpId="0"/>
      <p:bldP spid="20" grpId="0"/>
      <p:bldP spid="21"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chemeClr val="tx1"/>
                </a:solidFill>
                <a:latin typeface="SimSun" panose="02010600030101010101" pitchFamily="2" charset="-122"/>
                <a:ea typeface="SimSun" panose="02010600030101010101" pitchFamily="2" charset="-122"/>
              </a:rPr>
              <a:t>非递归算法分析</a:t>
            </a:r>
            <a:endParaRPr lang="zh-CN" altLang="en-US" dirty="0">
              <a:latin typeface="SimSun" panose="02010600030101010101" pitchFamily="2" charset="-122"/>
              <a:ea typeface="SimSun" panose="02010600030101010101" pitchFamily="2" charset="-122"/>
            </a:endParaRPr>
          </a:p>
        </p:txBody>
      </p:sp>
      <p:sp>
        <p:nvSpPr>
          <p:cNvPr id="17" name="Text Box 2">
            <a:extLst>
              <a:ext uri="{FF2B5EF4-FFF2-40B4-BE49-F238E27FC236}">
                <a16:creationId xmlns:a16="http://schemas.microsoft.com/office/drawing/2014/main" id="{B208203F-A914-0640-B86B-5EA1774921F7}"/>
              </a:ext>
            </a:extLst>
          </p:cNvPr>
          <p:cNvSpPr txBox="1">
            <a:spLocks noChangeArrowheads="1"/>
          </p:cNvSpPr>
          <p:nvPr/>
        </p:nvSpPr>
        <p:spPr bwMode="auto">
          <a:xfrm>
            <a:off x="552450" y="1344071"/>
            <a:ext cx="5543550" cy="461665"/>
          </a:xfrm>
          <a:prstGeom prst="rect">
            <a:avLst/>
          </a:prstGeom>
          <a:noFill/>
          <a:ln w="9525">
            <a:noFill/>
            <a:miter lim="800000"/>
            <a:headEnd/>
            <a:tailEnd/>
          </a:ln>
          <a:effectLst/>
        </p:spPr>
        <p:txBody>
          <a:bodyPr>
            <a:spAutoFit/>
          </a:bodyPr>
          <a:lstStyle/>
          <a:p>
            <a:pPr>
              <a:spcBef>
                <a:spcPct val="50000"/>
              </a:spcBef>
            </a:pPr>
            <a:r>
              <a:rPr lang="en-US" altLang="zh-CN" sz="2400" dirty="0">
                <a:solidFill>
                  <a:srgbClr val="FF0000"/>
                </a:solidFill>
                <a:latin typeface="SimSun" panose="02010600030101010101" pitchFamily="2" charset="-122"/>
                <a:ea typeface="SimSun" panose="02010600030101010101" pitchFamily="2" charset="-122"/>
                <a:cs typeface="Consolas" pitchFamily="49" charset="0"/>
              </a:rPr>
              <a:t>【</a:t>
            </a:r>
            <a:r>
              <a:rPr lang="zh-CN" altLang="en-US" sz="2400" dirty="0">
                <a:solidFill>
                  <a:srgbClr val="FF0000"/>
                </a:solidFill>
                <a:latin typeface="SimSun" panose="02010600030101010101" pitchFamily="2" charset="-122"/>
                <a:ea typeface="SimSun" panose="02010600030101010101" pitchFamily="2" charset="-122"/>
                <a:cs typeface="Consolas" pitchFamily="49" charset="0"/>
              </a:rPr>
              <a:t>练习</a:t>
            </a:r>
            <a:r>
              <a:rPr lang="en-US" altLang="zh-CN" sz="2400" dirty="0">
                <a:solidFill>
                  <a:srgbClr val="FF0000"/>
                </a:solidFill>
                <a:latin typeface="SimSun" panose="02010600030101010101" pitchFamily="2" charset="-122"/>
                <a:ea typeface="SimSun" panose="02010600030101010101" pitchFamily="2" charset="-122"/>
                <a:cs typeface="Consolas" pitchFamily="49" charset="0"/>
              </a:rPr>
              <a:t>】</a:t>
            </a:r>
            <a:r>
              <a:rPr lang="zh-CN" altLang="en-US" sz="2400" dirty="0">
                <a:solidFill>
                  <a:srgbClr val="0000FF"/>
                </a:solidFill>
                <a:latin typeface="SimSun" panose="02010600030101010101" pitchFamily="2" charset="-122"/>
                <a:ea typeface="SimSun" panose="02010600030101010101" pitchFamily="2" charset="-122"/>
                <a:cs typeface="Consolas" pitchFamily="49" charset="0"/>
              </a:rPr>
              <a:t>分析以下算法的时间复杂度：</a:t>
            </a:r>
          </a:p>
        </p:txBody>
      </p:sp>
      <p:sp>
        <p:nvSpPr>
          <p:cNvPr id="19" name="Text Box 3">
            <a:extLst>
              <a:ext uri="{FF2B5EF4-FFF2-40B4-BE49-F238E27FC236}">
                <a16:creationId xmlns:a16="http://schemas.microsoft.com/office/drawing/2014/main" id="{ADB57B25-E360-3A45-A770-0C71B46C7E19}"/>
              </a:ext>
            </a:extLst>
          </p:cNvPr>
          <p:cNvSpPr txBox="1">
            <a:spLocks noChangeArrowheads="1"/>
          </p:cNvSpPr>
          <p:nvPr/>
        </p:nvSpPr>
        <p:spPr bwMode="auto">
          <a:xfrm>
            <a:off x="745652" y="2109133"/>
            <a:ext cx="4500594" cy="2579507"/>
          </a:xfrm>
          <a:prstGeom prst="rect">
            <a:avLst/>
          </a:prstGeom>
          <a:solidFill>
            <a:schemeClr val="accent4">
              <a:lumMod val="40000"/>
              <a:lumOff val="60000"/>
            </a:schemeClr>
          </a:solidFill>
          <a:ln w="9525">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lIns="180000" tIns="180000" bIns="180000">
            <a:spAutoFit/>
          </a:bodyPr>
          <a:lstStyle/>
          <a:p>
            <a:r>
              <a:rPr lang="en-US" altLang="zh-CN" sz="1800" dirty="0">
                <a:solidFill>
                  <a:srgbClr val="9900FF"/>
                </a:solidFill>
                <a:latin typeface="Consolas" pitchFamily="49" charset="0"/>
                <a:ea typeface="楷体" pitchFamily="49" charset="-122"/>
                <a:cs typeface="Consolas" pitchFamily="49" charset="0"/>
              </a:rPr>
              <a:t>void fun(int n)</a:t>
            </a:r>
          </a:p>
          <a:p>
            <a:r>
              <a:rPr lang="en-US" altLang="zh-CN" sz="1800" dirty="0">
                <a:solidFill>
                  <a:srgbClr val="0000FF"/>
                </a:solidFill>
                <a:latin typeface="Consolas" pitchFamily="49" charset="0"/>
                <a:ea typeface="楷体" pitchFamily="49" charset="-122"/>
                <a:cs typeface="Consolas" pitchFamily="49" charset="0"/>
              </a:rPr>
              <a:t>{  </a:t>
            </a:r>
          </a:p>
          <a:p>
            <a:r>
              <a:rPr lang="zh-CN" altLang="en-US"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int s=0,i,j,k;</a:t>
            </a:r>
          </a:p>
          <a:p>
            <a:r>
              <a:rPr lang="en-US" altLang="zh-CN" sz="1800" dirty="0">
                <a:solidFill>
                  <a:srgbClr val="0000FF"/>
                </a:solidFill>
                <a:latin typeface="Consolas" pitchFamily="49" charset="0"/>
                <a:ea typeface="楷体" pitchFamily="49" charset="-122"/>
                <a:cs typeface="Consolas" pitchFamily="49" charset="0"/>
              </a:rPr>
              <a:t>   for (</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=0;i&lt;=</a:t>
            </a:r>
            <a:r>
              <a:rPr lang="en-US" altLang="zh-CN" sz="1800" dirty="0" err="1">
                <a:solidFill>
                  <a:srgbClr val="0000FF"/>
                </a:solidFill>
                <a:latin typeface="Consolas" pitchFamily="49" charset="0"/>
                <a:ea typeface="楷体" pitchFamily="49" charset="-122"/>
                <a:cs typeface="Consolas" pitchFamily="49" charset="0"/>
              </a:rPr>
              <a:t>n;i</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nb-NO" altLang="zh-CN" sz="1800" dirty="0">
                <a:solidFill>
                  <a:srgbClr val="0000FF"/>
                </a:solidFill>
                <a:latin typeface="Consolas" pitchFamily="49" charset="0"/>
                <a:ea typeface="楷体" pitchFamily="49" charset="-122"/>
                <a:cs typeface="Consolas" pitchFamily="49" charset="0"/>
              </a:rPr>
              <a:t>for (j=0;j&lt;=</a:t>
            </a:r>
            <a:r>
              <a:rPr lang="nb-NO" altLang="zh-CN" sz="1800" dirty="0" err="1">
                <a:solidFill>
                  <a:srgbClr val="0000FF"/>
                </a:solidFill>
                <a:latin typeface="Consolas" pitchFamily="49" charset="0"/>
                <a:ea typeface="楷体" pitchFamily="49" charset="-122"/>
                <a:cs typeface="Consolas" pitchFamily="49" charset="0"/>
              </a:rPr>
              <a:t>i;j</a:t>
            </a:r>
            <a:r>
              <a:rPr lang="nb-NO" altLang="zh-CN" sz="1800" dirty="0">
                <a:solidFill>
                  <a:srgbClr val="0000FF"/>
                </a:solidFill>
                <a:latin typeface="Consolas" pitchFamily="49" charset="0"/>
                <a:ea typeface="楷体" pitchFamily="49" charset="-122"/>
                <a:cs typeface="Consolas" pitchFamily="49" charset="0"/>
              </a:rPr>
              <a:t>++)</a:t>
            </a:r>
          </a:p>
          <a:p>
            <a:r>
              <a:rPr lang="nb-NO" altLang="zh-CN" sz="1800" dirty="0">
                <a:solidFill>
                  <a:srgbClr val="0000FF"/>
                </a:solidFill>
                <a:latin typeface="Consolas" pitchFamily="49" charset="0"/>
                <a:ea typeface="楷体" pitchFamily="49" charset="-122"/>
                <a:cs typeface="Consolas" pitchFamily="49" charset="0"/>
              </a:rPr>
              <a:t>	     for (k=0;k&lt;</a:t>
            </a:r>
            <a:r>
              <a:rPr lang="nb-NO" altLang="zh-CN" sz="1800" dirty="0" err="1">
                <a:solidFill>
                  <a:srgbClr val="0000FF"/>
                </a:solidFill>
                <a:latin typeface="Consolas" pitchFamily="49" charset="0"/>
                <a:ea typeface="楷体" pitchFamily="49" charset="-122"/>
                <a:cs typeface="Consolas" pitchFamily="49" charset="0"/>
              </a:rPr>
              <a:t>j;k</a:t>
            </a:r>
            <a:r>
              <a:rPr lang="nb-NO" altLang="zh-CN" sz="1800" dirty="0">
                <a:solidFill>
                  <a:srgbClr val="0000FF"/>
                </a:solidFill>
                <a:latin typeface="Consolas" pitchFamily="49" charset="0"/>
                <a:ea typeface="楷体" pitchFamily="49" charset="-122"/>
                <a:cs typeface="Consolas" pitchFamily="49" charset="0"/>
              </a:rPr>
              <a:t>++)</a:t>
            </a:r>
          </a:p>
          <a:p>
            <a:r>
              <a:rPr lang="nb-NO"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s++;</a:t>
            </a:r>
          </a:p>
          <a:p>
            <a:r>
              <a:rPr lang="en-US" altLang="zh-CN" sz="1800" dirty="0">
                <a:solidFill>
                  <a:srgbClr val="0000FF"/>
                </a:solidFill>
                <a:latin typeface="Consolas" pitchFamily="49" charset="0"/>
                <a:ea typeface="楷体" pitchFamily="49" charset="-122"/>
                <a:cs typeface="Consolas" pitchFamily="49" charset="0"/>
              </a:rPr>
              <a:t>}</a:t>
            </a:r>
          </a:p>
        </p:txBody>
      </p:sp>
      <p:sp>
        <p:nvSpPr>
          <p:cNvPr id="22" name="Text Box 4">
            <a:extLst>
              <a:ext uri="{FF2B5EF4-FFF2-40B4-BE49-F238E27FC236}">
                <a16:creationId xmlns:a16="http://schemas.microsoft.com/office/drawing/2014/main" id="{33666F21-F8F4-6047-9B27-8BDDAD9B66B9}"/>
              </a:ext>
            </a:extLst>
          </p:cNvPr>
          <p:cNvSpPr txBox="1">
            <a:spLocks noChangeArrowheads="1"/>
          </p:cNvSpPr>
          <p:nvPr/>
        </p:nvSpPr>
        <p:spPr bwMode="auto">
          <a:xfrm>
            <a:off x="5768816" y="2100804"/>
            <a:ext cx="5961076" cy="430887"/>
          </a:xfrm>
          <a:prstGeom prst="rect">
            <a:avLst/>
          </a:prstGeom>
          <a:noFill/>
          <a:ln w="9525">
            <a:noFill/>
            <a:miter lim="800000"/>
            <a:headEnd/>
            <a:tailEnd/>
          </a:ln>
          <a:effectLst/>
        </p:spPr>
        <p:txBody>
          <a:bodyPr wrap="square">
            <a:spAutoFit/>
          </a:bodyPr>
          <a:lstStyle/>
          <a:p>
            <a:pPr>
              <a:spcBef>
                <a:spcPct val="50000"/>
              </a:spcBef>
            </a:pPr>
            <a:r>
              <a:rPr lang="zh-CN" altLang="en-US" sz="2200" dirty="0">
                <a:solidFill>
                  <a:srgbClr val="FF0000"/>
                </a:solidFill>
                <a:latin typeface="SimSun" panose="02010600030101010101" pitchFamily="2" charset="-122"/>
                <a:ea typeface="SimSun" panose="02010600030101010101" pitchFamily="2" charset="-122"/>
                <a:cs typeface="Consolas" pitchFamily="49" charset="0"/>
              </a:rPr>
              <a:t>解：</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该算法的基本语句是</a:t>
            </a:r>
            <a:r>
              <a:rPr lang="en-US" altLang="zh-CN" sz="2200" dirty="0">
                <a:solidFill>
                  <a:srgbClr val="0000FF"/>
                </a:solidFill>
                <a:latin typeface="SimSun" panose="02010600030101010101" pitchFamily="2" charset="-122"/>
                <a:ea typeface="SimSun" panose="02010600030101010101" pitchFamily="2" charset="-122"/>
                <a:cs typeface="Consolas" pitchFamily="49" charset="0"/>
              </a:rPr>
              <a:t>s++</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，所以有：</a:t>
            </a:r>
          </a:p>
        </p:txBody>
      </p:sp>
      <p:sp>
        <p:nvSpPr>
          <p:cNvPr id="24" name="Text Box 21">
            <a:extLst>
              <a:ext uri="{FF2B5EF4-FFF2-40B4-BE49-F238E27FC236}">
                <a16:creationId xmlns:a16="http://schemas.microsoft.com/office/drawing/2014/main" id="{5279FBEA-4455-6449-B08B-09FACAC4A353}"/>
              </a:ext>
            </a:extLst>
          </p:cNvPr>
          <p:cNvSpPr txBox="1">
            <a:spLocks noChangeArrowheads="1"/>
          </p:cNvSpPr>
          <p:nvPr/>
        </p:nvSpPr>
        <p:spPr bwMode="auto">
          <a:xfrm>
            <a:off x="5768816" y="4688640"/>
            <a:ext cx="5329237" cy="430887"/>
          </a:xfrm>
          <a:prstGeom prst="rect">
            <a:avLst/>
          </a:prstGeom>
          <a:noFill/>
          <a:ln w="9525">
            <a:noFill/>
            <a:miter lim="800000"/>
            <a:headEnd/>
            <a:tailEnd/>
          </a:ln>
          <a:effectLst/>
        </p:spPr>
        <p:txBody>
          <a:bodyPr>
            <a:spAutoFit/>
          </a:bodyPr>
          <a:lstStyle/>
          <a:p>
            <a:pPr>
              <a:spcBef>
                <a:spcPct val="50000"/>
              </a:spcBef>
            </a:pP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则该算法的时间复杂度为</a:t>
            </a:r>
            <a:r>
              <a:rPr lang="en-US" altLang="zh-CN" sz="2200" dirty="0">
                <a:solidFill>
                  <a:srgbClr val="0000FF"/>
                </a:solidFill>
                <a:latin typeface="SimSun" panose="02010600030101010101" pitchFamily="2" charset="-122"/>
                <a:ea typeface="SimSun" panose="02010600030101010101" pitchFamily="2" charset="-122"/>
                <a:cs typeface="Consolas" pitchFamily="49" charset="0"/>
              </a:rPr>
              <a:t>O(</a:t>
            </a:r>
            <a:r>
              <a:rPr lang="en-US" altLang="zh-CN" sz="2200" i="1" dirty="0">
                <a:solidFill>
                  <a:srgbClr val="0000FF"/>
                </a:solidFill>
                <a:latin typeface="SimSun" panose="02010600030101010101" pitchFamily="2" charset="-122"/>
                <a:ea typeface="SimSun" panose="02010600030101010101" pitchFamily="2" charset="-122"/>
                <a:cs typeface="Consolas" pitchFamily="49" charset="0"/>
              </a:rPr>
              <a:t>n</a:t>
            </a:r>
            <a:r>
              <a:rPr lang="en-US" altLang="zh-CN" sz="2200" baseline="30000" dirty="0">
                <a:solidFill>
                  <a:srgbClr val="0000FF"/>
                </a:solidFill>
                <a:latin typeface="SimSun" panose="02010600030101010101" pitchFamily="2" charset="-122"/>
                <a:ea typeface="SimSun" panose="02010600030101010101" pitchFamily="2" charset="-122"/>
                <a:cs typeface="Consolas" pitchFamily="49" charset="0"/>
              </a:rPr>
              <a:t>3</a:t>
            </a:r>
            <a:r>
              <a:rPr lang="en-US" altLang="zh-CN" sz="2200" dirty="0">
                <a:solidFill>
                  <a:srgbClr val="0000FF"/>
                </a:solidFill>
                <a:latin typeface="SimSun" panose="02010600030101010101" pitchFamily="2" charset="-122"/>
                <a:ea typeface="SimSun" panose="02010600030101010101" pitchFamily="2" charset="-122"/>
                <a:cs typeface="Consolas" pitchFamily="49" charset="0"/>
              </a:rPr>
              <a:t>)</a:t>
            </a:r>
            <a:r>
              <a:rPr lang="zh-CN" altLang="en-US" sz="2200" dirty="0">
                <a:solidFill>
                  <a:srgbClr val="0000FF"/>
                </a:solidFill>
                <a:latin typeface="SimSun" panose="02010600030101010101" pitchFamily="2" charset="-122"/>
                <a:ea typeface="SimSun" panose="02010600030101010101" pitchFamily="2" charset="-122"/>
                <a:cs typeface="Consolas" pitchFamily="49" charset="0"/>
              </a:rPr>
              <a:t>。</a:t>
            </a:r>
          </a:p>
        </p:txBody>
      </p:sp>
      <p:pic>
        <p:nvPicPr>
          <p:cNvPr id="25" name="Picture 1">
            <a:extLst>
              <a:ext uri="{FF2B5EF4-FFF2-40B4-BE49-F238E27FC236}">
                <a16:creationId xmlns:a16="http://schemas.microsoft.com/office/drawing/2014/main" id="{92FA5467-C9BC-F148-AAF6-1F54603C7187}"/>
              </a:ext>
            </a:extLst>
          </p:cNvPr>
          <p:cNvPicPr>
            <a:picLocks noChangeAspect="1" noChangeArrowheads="1"/>
          </p:cNvPicPr>
          <p:nvPr/>
        </p:nvPicPr>
        <p:blipFill>
          <a:blip r:embed="rId3" cstate="print"/>
          <a:srcRect/>
          <a:stretch>
            <a:fillRect/>
          </a:stretch>
        </p:blipFill>
        <p:spPr bwMode="auto">
          <a:xfrm>
            <a:off x="5768816" y="2826112"/>
            <a:ext cx="5562273" cy="1500198"/>
          </a:xfrm>
          <a:prstGeom prst="rect">
            <a:avLst/>
          </a:prstGeom>
          <a:noFill/>
          <a:ln w="9525">
            <a:noFill/>
            <a:miter lim="800000"/>
            <a:headEnd/>
            <a:tailEnd/>
          </a:ln>
          <a:effectLst/>
        </p:spPr>
      </p:pic>
    </p:spTree>
    <p:extLst>
      <p:ext uri="{BB962C8B-B14F-4D97-AF65-F5344CB8AC3E}">
        <p14:creationId xmlns:p14="http://schemas.microsoft.com/office/powerpoint/2010/main" val="269201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rgbClr val="FF0000"/>
                </a:solidFill>
                <a:latin typeface="SimSun" panose="02010600030101010101" pitchFamily="2" charset="-122"/>
                <a:ea typeface="SimSun" panose="02010600030101010101" pitchFamily="2" charset="-122"/>
              </a:rPr>
              <a:t>递归算法分析</a:t>
            </a:r>
            <a:endParaRPr lang="zh-CN" altLang="en-US" dirty="0">
              <a:solidFill>
                <a:srgbClr val="FF0000"/>
              </a:solidFill>
              <a:latin typeface="SimSun" panose="02010600030101010101" pitchFamily="2" charset="-122"/>
              <a:ea typeface="SimSun" panose="02010600030101010101" pitchFamily="2" charset="-122"/>
            </a:endParaRPr>
          </a:p>
        </p:txBody>
      </p:sp>
      <p:sp>
        <p:nvSpPr>
          <p:cNvPr id="17" name="Text Box 2">
            <a:hlinkClick r:id="" action="ppaction://noaction"/>
            <a:extLst>
              <a:ext uri="{FF2B5EF4-FFF2-40B4-BE49-F238E27FC236}">
                <a16:creationId xmlns:a16="http://schemas.microsoft.com/office/drawing/2014/main" id="{F0DED5CD-333A-3B43-9EC6-B7D4E6C872F6}"/>
              </a:ext>
            </a:extLst>
          </p:cNvPr>
          <p:cNvSpPr txBox="1">
            <a:spLocks noChangeArrowheads="1"/>
          </p:cNvSpPr>
          <p:nvPr/>
        </p:nvSpPr>
        <p:spPr bwMode="auto">
          <a:xfrm>
            <a:off x="662413" y="1531512"/>
            <a:ext cx="8299450" cy="276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solidFill>
                  <a:schemeClr val="tx2"/>
                </a:solidFill>
                <a:latin typeface="黑体" panose="02010609060101010101" pitchFamily="49" charset="-122"/>
                <a:ea typeface="黑体" panose="02010609060101010101" pitchFamily="49" charset="-122"/>
              </a:rPr>
              <a:t>1</a:t>
            </a:r>
            <a:r>
              <a:rPr lang="zh-CN" altLang="en-US" sz="2800" b="1" dirty="0">
                <a:solidFill>
                  <a:schemeClr val="tx2"/>
                </a:solidFill>
                <a:latin typeface="黑体" panose="02010609060101010101" pitchFamily="49" charset="-122"/>
                <a:ea typeface="黑体" panose="02010609060101010101" pitchFamily="49" charset="-122"/>
              </a:rPr>
              <a:t>、认识递归处理过程</a:t>
            </a:r>
          </a:p>
          <a:p>
            <a:pPr>
              <a:lnSpc>
                <a:spcPct val="150000"/>
              </a:lnSpc>
              <a:spcBef>
                <a:spcPct val="40000"/>
              </a:spcBef>
            </a:pPr>
            <a:r>
              <a:rPr lang="zh-CN" altLang="en-US" sz="2600" b="1" dirty="0">
                <a:latin typeface="宋体" panose="02010600030101010101" pitchFamily="2" charset="-122"/>
              </a:rPr>
              <a:t>    </a:t>
            </a:r>
            <a:r>
              <a:rPr lang="en-US" altLang="zh-CN" sz="2600" b="1" dirty="0">
                <a:latin typeface="宋体" panose="02010600030101010101" pitchFamily="2" charset="-122"/>
              </a:rPr>
              <a:t>1</a:t>
            </a:r>
            <a:r>
              <a:rPr lang="zh-CN" altLang="en-US" sz="2600" b="1" dirty="0">
                <a:latin typeface="宋体" panose="02010600030101010101" pitchFamily="2" charset="-122"/>
              </a:rPr>
              <a:t>）执行过程</a:t>
            </a:r>
          </a:p>
          <a:p>
            <a:pPr>
              <a:lnSpc>
                <a:spcPct val="150000"/>
              </a:lnSpc>
            </a:pPr>
            <a:r>
              <a:rPr lang="zh-CN" altLang="en-US" sz="2600" b="1" dirty="0">
                <a:latin typeface="宋体" panose="02010600030101010101" pitchFamily="2" charset="-122"/>
              </a:rPr>
              <a:t>    </a:t>
            </a:r>
            <a:r>
              <a:rPr lang="en-US" altLang="zh-CN" sz="2600" b="1" dirty="0">
                <a:latin typeface="宋体" panose="02010600030101010101" pitchFamily="2" charset="-122"/>
              </a:rPr>
              <a:t>2</a:t>
            </a:r>
            <a:r>
              <a:rPr lang="zh-CN" altLang="en-US" sz="2600" b="1" dirty="0">
                <a:latin typeface="宋体" panose="02010600030101010101" pitchFamily="2" charset="-122"/>
              </a:rPr>
              <a:t>）实现机理 </a:t>
            </a:r>
          </a:p>
          <a:p>
            <a:pPr>
              <a:lnSpc>
                <a:spcPct val="150000"/>
              </a:lnSpc>
            </a:pPr>
            <a:r>
              <a:rPr lang="zh-CN" altLang="en-US" sz="2600" b="1" dirty="0">
                <a:latin typeface="宋体" panose="02010600030101010101" pitchFamily="2" charset="-122"/>
              </a:rPr>
              <a:t>    </a:t>
            </a:r>
            <a:r>
              <a:rPr lang="en-US" altLang="zh-CN" sz="2600" b="1" dirty="0">
                <a:latin typeface="宋体" panose="02010600030101010101" pitchFamily="2" charset="-122"/>
              </a:rPr>
              <a:t>3</a:t>
            </a:r>
            <a:r>
              <a:rPr lang="zh-CN" altLang="en-US" sz="2600" b="1" dirty="0">
                <a:latin typeface="宋体" panose="02010600030101010101" pitchFamily="2" charset="-122"/>
              </a:rPr>
              <a:t>）递归调用的几种形式</a:t>
            </a:r>
          </a:p>
          <a:p>
            <a:r>
              <a:rPr lang="zh-CN" altLang="en-US" b="1" dirty="0">
                <a:latin typeface="宋体" panose="02010600030101010101" pitchFamily="2" charset="-122"/>
              </a:rPr>
              <a:t>     </a:t>
            </a:r>
          </a:p>
        </p:txBody>
      </p:sp>
    </p:spTree>
    <p:extLst>
      <p:ext uri="{BB962C8B-B14F-4D97-AF65-F5344CB8AC3E}">
        <p14:creationId xmlns:p14="http://schemas.microsoft.com/office/powerpoint/2010/main" val="198417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rgbClr val="FF0000"/>
                </a:solidFill>
                <a:latin typeface="SimSun" panose="02010600030101010101" pitchFamily="2" charset="-122"/>
                <a:ea typeface="SimSun" panose="02010600030101010101" pitchFamily="2" charset="-122"/>
              </a:rPr>
              <a:t>递归算法分析</a:t>
            </a:r>
            <a:endParaRPr lang="zh-CN" altLang="en-US" dirty="0">
              <a:solidFill>
                <a:srgbClr val="FF0000"/>
              </a:solidFill>
              <a:latin typeface="SimSun" panose="02010600030101010101" pitchFamily="2" charset="-122"/>
              <a:ea typeface="SimSun" panose="02010600030101010101" pitchFamily="2" charset="-122"/>
            </a:endParaRPr>
          </a:p>
        </p:txBody>
      </p:sp>
      <p:sp>
        <p:nvSpPr>
          <p:cNvPr id="5" name="Text Box 2">
            <a:extLst>
              <a:ext uri="{FF2B5EF4-FFF2-40B4-BE49-F238E27FC236}">
                <a16:creationId xmlns:a16="http://schemas.microsoft.com/office/drawing/2014/main" id="{697EE437-BB2E-D64D-AE08-C68DFA8683D3}"/>
              </a:ext>
            </a:extLst>
          </p:cNvPr>
          <p:cNvSpPr txBox="1">
            <a:spLocks noChangeArrowheads="1"/>
          </p:cNvSpPr>
          <p:nvPr/>
        </p:nvSpPr>
        <p:spPr bwMode="auto">
          <a:xfrm>
            <a:off x="395790" y="1426621"/>
            <a:ext cx="8424863" cy="539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365125" indent="-9842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1"/>
            <a:r>
              <a:rPr lang="en-US" altLang="zh-CN" b="1" dirty="0">
                <a:solidFill>
                  <a:schemeClr val="tx2"/>
                </a:solidFill>
                <a:latin typeface="黑体" panose="02010609060101010101" pitchFamily="49" charset="-122"/>
                <a:ea typeface="黑体" panose="02010609060101010101" pitchFamily="49" charset="-122"/>
              </a:rPr>
              <a:t>1) </a:t>
            </a:r>
            <a:r>
              <a:rPr lang="zh-CN" altLang="en-US" b="1" dirty="0">
                <a:solidFill>
                  <a:schemeClr val="tx2"/>
                </a:solidFill>
                <a:latin typeface="黑体" panose="02010609060101010101" pitchFamily="49" charset="-122"/>
                <a:ea typeface="黑体" panose="02010609060101010101" pitchFamily="49" charset="-122"/>
              </a:rPr>
              <a:t>递归算法的执行过程</a:t>
            </a:r>
          </a:p>
          <a:p>
            <a:pPr lvl="1">
              <a:spcBef>
                <a:spcPct val="70000"/>
              </a:spcBef>
            </a:pP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例</a:t>
            </a:r>
            <a:r>
              <a:rPr lang="en-US" altLang="zh-CN" b="1" dirty="0">
                <a:solidFill>
                  <a:schemeClr val="tx2"/>
                </a:solidFill>
                <a:latin typeface="Arial" panose="020B0604020202020204" pitchFamily="34" charset="0"/>
              </a:rPr>
              <a:t>5】</a:t>
            </a:r>
            <a:r>
              <a:rPr lang="zh-CN" altLang="en-US" b="1" dirty="0">
                <a:solidFill>
                  <a:schemeClr val="tx2"/>
                </a:solidFill>
                <a:latin typeface="Arial" panose="020B0604020202020204" pitchFamily="34" charset="0"/>
              </a:rPr>
              <a:t>求</a:t>
            </a:r>
            <a:r>
              <a:rPr lang="en-US" altLang="zh-CN" b="1" dirty="0">
                <a:solidFill>
                  <a:schemeClr val="tx2"/>
                </a:solidFill>
                <a:latin typeface="Arial" panose="020B0604020202020204" pitchFamily="34" charset="0"/>
              </a:rPr>
              <a:t>n</a:t>
            </a:r>
            <a:r>
              <a:rPr lang="zh-CN" altLang="en-US" b="1" dirty="0">
                <a:solidFill>
                  <a:schemeClr val="tx2"/>
                </a:solidFill>
                <a:latin typeface="Arial" panose="020B0604020202020204" pitchFamily="34" charset="0"/>
              </a:rPr>
              <a:t>！</a:t>
            </a:r>
          </a:p>
          <a:p>
            <a:pPr lvl="1">
              <a:lnSpc>
                <a:spcPct val="150000"/>
              </a:lnSpc>
              <a:spcBef>
                <a:spcPct val="45000"/>
              </a:spcBef>
            </a:pPr>
            <a:r>
              <a:rPr lang="zh-CN" altLang="en-US" b="1" dirty="0">
                <a:latin typeface="Arial" panose="020B0604020202020204" pitchFamily="34" charset="0"/>
              </a:rPr>
              <a:t>  </a:t>
            </a:r>
            <a:r>
              <a:rPr lang="en-US" altLang="zh-CN" b="1" dirty="0">
                <a:latin typeface="Arial" panose="020B0604020202020204" pitchFamily="34" charset="0"/>
              </a:rPr>
              <a:t>(1)  </a:t>
            </a:r>
            <a:r>
              <a:rPr lang="zh-CN" altLang="en-US" b="1" dirty="0">
                <a:latin typeface="Arial" panose="020B0604020202020204" pitchFamily="34" charset="0"/>
              </a:rPr>
              <a:t>常采用的算法： </a:t>
            </a:r>
            <a:r>
              <a:rPr lang="en-US" altLang="zh-CN" b="1" dirty="0">
                <a:latin typeface="Arial" panose="020B0604020202020204" pitchFamily="34" charset="0"/>
              </a:rPr>
              <a:t>n! = 1</a:t>
            </a:r>
            <a:r>
              <a:rPr lang="en-US" altLang="zh-CN" sz="2000" b="1" dirty="0"/>
              <a:t>×</a:t>
            </a:r>
            <a:r>
              <a:rPr lang="en-US" altLang="zh-CN" b="1" dirty="0">
                <a:latin typeface="Arial" panose="020B0604020202020204" pitchFamily="34" charset="0"/>
              </a:rPr>
              <a:t>2</a:t>
            </a:r>
            <a:r>
              <a:rPr lang="en-US" altLang="zh-CN" sz="2000" b="1" dirty="0"/>
              <a:t>×</a:t>
            </a:r>
            <a:r>
              <a:rPr lang="en-US" altLang="zh-CN" b="1" dirty="0">
                <a:latin typeface="Arial" panose="020B0604020202020204" pitchFamily="34" charset="0"/>
              </a:rPr>
              <a:t>3</a:t>
            </a:r>
            <a:r>
              <a:rPr lang="en-US" altLang="zh-CN" sz="2000" b="1" dirty="0"/>
              <a:t>×</a:t>
            </a:r>
            <a:r>
              <a:rPr lang="en-US" altLang="zh-CN" b="1" dirty="0">
                <a:latin typeface="Arial" panose="020B0604020202020204" pitchFamily="34" charset="0"/>
              </a:rPr>
              <a:t>……</a:t>
            </a:r>
            <a:r>
              <a:rPr lang="en-US" altLang="zh-CN" sz="2000" b="1" dirty="0"/>
              <a:t>×</a:t>
            </a:r>
            <a:r>
              <a:rPr lang="en-US" altLang="zh-CN" b="1" dirty="0">
                <a:latin typeface="Arial" panose="020B0604020202020204" pitchFamily="34" charset="0"/>
              </a:rPr>
              <a:t>n</a:t>
            </a:r>
          </a:p>
          <a:p>
            <a:pPr lvl="1">
              <a:lnSpc>
                <a:spcPct val="150000"/>
              </a:lnSpc>
              <a:spcBef>
                <a:spcPct val="45000"/>
              </a:spcBef>
            </a:pPr>
            <a:r>
              <a:rPr lang="en-US" altLang="zh-CN" b="1" dirty="0">
                <a:latin typeface="Arial" panose="020B0604020202020204" pitchFamily="34" charset="0"/>
              </a:rPr>
              <a:t>		 </a:t>
            </a:r>
            <a:r>
              <a:rPr lang="zh-CN" altLang="en-US" b="1" dirty="0">
                <a:latin typeface="Arial" panose="020B0604020202020204" pitchFamily="34" charset="0"/>
              </a:rPr>
              <a:t>程序设计：使用循环来完成</a:t>
            </a:r>
          </a:p>
          <a:p>
            <a:pPr>
              <a:lnSpc>
                <a:spcPct val="150000"/>
              </a:lnSpc>
            </a:pPr>
            <a:r>
              <a:rPr lang="zh-CN" altLang="en-US" b="1" dirty="0"/>
              <a:t>			</a:t>
            </a:r>
            <a:r>
              <a:rPr lang="en-US" altLang="zh-CN" b="1" dirty="0">
                <a:latin typeface="Arial" panose="020B0604020202020204" pitchFamily="34" charset="0"/>
              </a:rPr>
              <a:t>s=1;</a:t>
            </a:r>
          </a:p>
          <a:p>
            <a:pPr>
              <a:lnSpc>
                <a:spcPct val="150000"/>
              </a:lnSpc>
            </a:pPr>
            <a:r>
              <a:rPr lang="en-US" altLang="zh-CN" b="1" dirty="0"/>
              <a:t>			</a:t>
            </a:r>
            <a:r>
              <a:rPr lang="en-US" altLang="zh-CN" b="1" dirty="0">
                <a:latin typeface="Arial" panose="020B0604020202020204" pitchFamily="34" charset="0"/>
              </a:rPr>
              <a:t>for(</a:t>
            </a:r>
            <a:r>
              <a:rPr lang="en-US" altLang="zh-CN" b="1" dirty="0" err="1">
                <a:latin typeface="Arial" panose="020B0604020202020204" pitchFamily="34" charset="0"/>
              </a:rPr>
              <a:t>i</a:t>
            </a:r>
            <a:r>
              <a:rPr lang="en-US" altLang="zh-CN" b="1" dirty="0">
                <a:latin typeface="Arial" panose="020B0604020202020204" pitchFamily="34" charset="0"/>
              </a:rPr>
              <a:t>=1;i&lt;=</a:t>
            </a:r>
            <a:r>
              <a:rPr lang="en-US" altLang="zh-CN" b="1" dirty="0" err="1">
                <a:latin typeface="Arial" panose="020B0604020202020204" pitchFamily="34" charset="0"/>
              </a:rPr>
              <a:t>n;i</a:t>
            </a:r>
            <a:r>
              <a:rPr lang="en-US" altLang="zh-CN" b="1" dirty="0">
                <a:latin typeface="Arial" panose="020B0604020202020204" pitchFamily="34" charset="0"/>
              </a:rPr>
              <a:t>++)</a:t>
            </a:r>
          </a:p>
          <a:p>
            <a:pPr>
              <a:lnSpc>
                <a:spcPct val="150000"/>
              </a:lnSpc>
            </a:pPr>
            <a:r>
              <a:rPr lang="en-US" altLang="zh-CN" b="1" dirty="0">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s=s*</a:t>
            </a:r>
            <a:r>
              <a:rPr lang="en-US" altLang="zh-CN" b="1" dirty="0" err="1">
                <a:latin typeface="Arial" panose="020B0604020202020204" pitchFamily="34" charset="0"/>
              </a:rPr>
              <a:t>i</a:t>
            </a:r>
            <a:r>
              <a:rPr lang="en-US" altLang="zh-CN" b="1" dirty="0">
                <a:latin typeface="Arial" panose="020B0604020202020204" pitchFamily="34" charset="0"/>
              </a:rPr>
              <a:t>;</a:t>
            </a:r>
          </a:p>
          <a:p>
            <a:pPr>
              <a:lnSpc>
                <a:spcPct val="150000"/>
              </a:lnSpc>
            </a:pPr>
            <a:r>
              <a:rPr lang="en-US" altLang="zh-CN" b="1" dirty="0">
                <a:latin typeface="Arial" panose="020B0604020202020204" pitchFamily="34" charset="0"/>
              </a:rPr>
              <a:t>            </a:t>
            </a:r>
            <a:r>
              <a:rPr lang="zh-CN" altLang="en-US" b="1" dirty="0">
                <a:latin typeface="Arial" panose="020B0604020202020204" pitchFamily="34" charset="0"/>
              </a:rPr>
              <a:t>易知：该算法的时间复杂度</a:t>
            </a:r>
            <a:r>
              <a:rPr lang="en-US" altLang="zh-CN" b="1" dirty="0">
                <a:latin typeface="Arial" panose="020B0604020202020204" pitchFamily="34" charset="0"/>
              </a:rPr>
              <a:t>T(n)=O(n)</a:t>
            </a:r>
          </a:p>
          <a:p>
            <a:pPr lvl="1">
              <a:lnSpc>
                <a:spcPct val="90000"/>
              </a:lnSpc>
              <a:spcBef>
                <a:spcPct val="45000"/>
              </a:spcBef>
            </a:pPr>
            <a:endParaRPr lang="en-US" altLang="zh-CN" dirty="0">
              <a:latin typeface="Arial" panose="020B0604020202020204" pitchFamily="34" charset="0"/>
              <a:ea typeface="楷体_GB2312" pitchFamily="49" charset="-122"/>
            </a:endParaRPr>
          </a:p>
        </p:txBody>
      </p:sp>
    </p:spTree>
    <p:extLst>
      <p:ext uri="{BB962C8B-B14F-4D97-AF65-F5344CB8AC3E}">
        <p14:creationId xmlns:p14="http://schemas.microsoft.com/office/powerpoint/2010/main" val="2432560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blinds(horizontal)">
                                      <p:cBhvr>
                                        <p:cTn id="10" dur="500"/>
                                        <p:tgtEl>
                                          <p:spTgt spid="5">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blinds(horizontal)">
                                      <p:cBhvr>
                                        <p:cTn id="13" dur="500"/>
                                        <p:tgtEl>
                                          <p:spTgt spid="5">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blinds(horizontal)">
                                      <p:cBhvr>
                                        <p:cTn id="16" dur="500"/>
                                        <p:tgtEl>
                                          <p:spTgt spid="5">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Effect transition="in" filter="blinds(horizontal)">
                                      <p:cBhvr>
                                        <p:cTn id="19" dur="500"/>
                                        <p:tgtEl>
                                          <p:spTgt spid="5">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
                                            <p:txEl>
                                              <p:pRg st="7" end="7"/>
                                            </p:txEl>
                                          </p:spTgt>
                                        </p:tgtEl>
                                        <p:attrNameLst>
                                          <p:attrName>style.visibility</p:attrName>
                                        </p:attrNameLst>
                                      </p:cBhvr>
                                      <p:to>
                                        <p:strVal val="visible"/>
                                      </p:to>
                                    </p:set>
                                    <p:animEffect transition="in" filter="blinds(horizontal)">
                                      <p:cBhvr>
                                        <p:cTn id="2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rgbClr val="FF0000"/>
                </a:solidFill>
                <a:latin typeface="SimSun" panose="02010600030101010101" pitchFamily="2" charset="-122"/>
                <a:ea typeface="SimSun" panose="02010600030101010101" pitchFamily="2" charset="-122"/>
              </a:rPr>
              <a:t>递归算法分析</a:t>
            </a:r>
            <a:endParaRPr lang="zh-CN" altLang="en-US" dirty="0">
              <a:solidFill>
                <a:srgbClr val="FF0000"/>
              </a:solidFill>
              <a:latin typeface="SimSun" panose="02010600030101010101" pitchFamily="2" charset="-122"/>
              <a:ea typeface="SimSun" panose="02010600030101010101" pitchFamily="2" charset="-122"/>
            </a:endParaRPr>
          </a:p>
        </p:txBody>
      </p:sp>
      <p:sp>
        <p:nvSpPr>
          <p:cNvPr id="5" name="Text Box 2">
            <a:extLst>
              <a:ext uri="{FF2B5EF4-FFF2-40B4-BE49-F238E27FC236}">
                <a16:creationId xmlns:a16="http://schemas.microsoft.com/office/drawing/2014/main" id="{697EE437-BB2E-D64D-AE08-C68DFA8683D3}"/>
              </a:ext>
            </a:extLst>
          </p:cNvPr>
          <p:cNvSpPr txBox="1">
            <a:spLocks noChangeArrowheads="1"/>
          </p:cNvSpPr>
          <p:nvPr/>
        </p:nvSpPr>
        <p:spPr bwMode="auto">
          <a:xfrm>
            <a:off x="395790" y="1426621"/>
            <a:ext cx="8424863" cy="15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365125" indent="-9842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1"/>
            <a:r>
              <a:rPr lang="en-US" altLang="zh-CN" b="1" dirty="0">
                <a:solidFill>
                  <a:schemeClr val="tx2"/>
                </a:solidFill>
                <a:latin typeface="黑体" panose="02010609060101010101" pitchFamily="49" charset="-122"/>
                <a:ea typeface="黑体" panose="02010609060101010101" pitchFamily="49" charset="-122"/>
              </a:rPr>
              <a:t>1) </a:t>
            </a:r>
            <a:r>
              <a:rPr lang="zh-CN" altLang="en-US" b="1" dirty="0">
                <a:solidFill>
                  <a:schemeClr val="tx2"/>
                </a:solidFill>
                <a:latin typeface="黑体" panose="02010609060101010101" pitchFamily="49" charset="-122"/>
                <a:ea typeface="黑体" panose="02010609060101010101" pitchFamily="49" charset="-122"/>
              </a:rPr>
              <a:t>递归算法的执行过程</a:t>
            </a:r>
          </a:p>
          <a:p>
            <a:pPr lvl="1">
              <a:spcBef>
                <a:spcPct val="70000"/>
              </a:spcBef>
            </a:pPr>
            <a:r>
              <a:rPr lang="en-US" altLang="zh-CN" b="1" dirty="0">
                <a:solidFill>
                  <a:schemeClr val="tx2"/>
                </a:solidFill>
                <a:latin typeface="Arial" panose="020B0604020202020204" pitchFamily="34" charset="0"/>
              </a:rPr>
              <a:t>【</a:t>
            </a:r>
            <a:r>
              <a:rPr lang="zh-CN" altLang="en-US" b="1" dirty="0">
                <a:solidFill>
                  <a:schemeClr val="tx2"/>
                </a:solidFill>
                <a:latin typeface="Arial" panose="020B0604020202020204" pitchFamily="34" charset="0"/>
              </a:rPr>
              <a:t>例</a:t>
            </a:r>
            <a:r>
              <a:rPr lang="en-US" altLang="zh-CN" b="1" dirty="0">
                <a:solidFill>
                  <a:schemeClr val="tx2"/>
                </a:solidFill>
                <a:latin typeface="Arial" panose="020B0604020202020204" pitchFamily="34" charset="0"/>
              </a:rPr>
              <a:t>5】</a:t>
            </a:r>
            <a:r>
              <a:rPr lang="zh-CN" altLang="en-US" b="1" dirty="0">
                <a:solidFill>
                  <a:schemeClr val="tx2"/>
                </a:solidFill>
                <a:latin typeface="Arial" panose="020B0604020202020204" pitchFamily="34" charset="0"/>
              </a:rPr>
              <a:t>求</a:t>
            </a:r>
            <a:r>
              <a:rPr lang="en-US" altLang="zh-CN" b="1" dirty="0">
                <a:solidFill>
                  <a:schemeClr val="tx2"/>
                </a:solidFill>
                <a:latin typeface="Arial" panose="020B0604020202020204" pitchFamily="34" charset="0"/>
              </a:rPr>
              <a:t>n</a:t>
            </a:r>
            <a:r>
              <a:rPr lang="zh-CN" altLang="en-US" b="1" dirty="0">
                <a:solidFill>
                  <a:schemeClr val="tx2"/>
                </a:solidFill>
                <a:latin typeface="Arial" panose="020B0604020202020204" pitchFamily="34" charset="0"/>
              </a:rPr>
              <a:t>！</a:t>
            </a:r>
          </a:p>
          <a:p>
            <a:pPr lvl="1">
              <a:lnSpc>
                <a:spcPct val="90000"/>
              </a:lnSpc>
              <a:spcBef>
                <a:spcPct val="45000"/>
              </a:spcBef>
            </a:pPr>
            <a:endParaRPr lang="en-US" altLang="zh-CN" dirty="0">
              <a:latin typeface="Arial" panose="020B0604020202020204" pitchFamily="34" charset="0"/>
              <a:ea typeface="楷体_GB2312" pitchFamily="49" charset="-122"/>
            </a:endParaRPr>
          </a:p>
        </p:txBody>
      </p:sp>
      <p:sp>
        <p:nvSpPr>
          <p:cNvPr id="6" name="文本框 5">
            <a:extLst>
              <a:ext uri="{FF2B5EF4-FFF2-40B4-BE49-F238E27FC236}">
                <a16:creationId xmlns:a16="http://schemas.microsoft.com/office/drawing/2014/main" id="{A80BCC3B-12D9-3B46-AFEB-06413A572904}"/>
              </a:ext>
            </a:extLst>
          </p:cNvPr>
          <p:cNvSpPr txBox="1"/>
          <p:nvPr/>
        </p:nvSpPr>
        <p:spPr>
          <a:xfrm>
            <a:off x="797234" y="2660062"/>
            <a:ext cx="3507137" cy="2409890"/>
          </a:xfrm>
          <a:prstGeom prst="rect">
            <a:avLst/>
          </a:prstGeom>
          <a:noFill/>
        </p:spPr>
        <p:txBody>
          <a:bodyPr wrap="square">
            <a:spAutoFit/>
          </a:bodyPr>
          <a:lstStyle/>
          <a:p>
            <a:r>
              <a:rPr lang="en-US" altLang="zh-CN" sz="2400" b="1" dirty="0">
                <a:latin typeface="SimSun" panose="02010600030101010101" pitchFamily="2" charset="-122"/>
                <a:ea typeface="SimSun" panose="02010600030101010101" pitchFamily="2" charset="-122"/>
              </a:rPr>
              <a:t>(2) </a:t>
            </a:r>
            <a:r>
              <a:rPr lang="zh-CN" altLang="en-US" sz="2400" b="1" dirty="0">
                <a:latin typeface="SimSun" panose="02010600030101010101" pitchFamily="2" charset="-122"/>
                <a:ea typeface="SimSun" panose="02010600030101010101" pitchFamily="2" charset="-122"/>
              </a:rPr>
              <a:t>使用递归算法 </a:t>
            </a:r>
          </a:p>
          <a:p>
            <a:pPr>
              <a:spcBef>
                <a:spcPct val="35000"/>
              </a:spcBef>
            </a:pPr>
            <a:r>
              <a:rPr lang="zh-CN" altLang="en-US" sz="2400" b="1" dirty="0">
                <a:latin typeface="SimSun" panose="02010600030101010101" pitchFamily="2" charset="-122"/>
                <a:ea typeface="SimSun" panose="02010600030101010101" pitchFamily="2" charset="-122"/>
              </a:rPr>
              <a:t>    构造算法：</a:t>
            </a:r>
          </a:p>
          <a:p>
            <a:pPr>
              <a:lnSpc>
                <a:spcPct val="150000"/>
              </a:lnSpc>
              <a:spcBef>
                <a:spcPct val="25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n!=n*(n-1) !</a:t>
            </a:r>
            <a:endParaRPr lang="zh-CN" altLang="en-US" b="1" dirty="0">
              <a:latin typeface="Times New Roman" panose="02020603050405020304" pitchFamily="18" charset="0"/>
              <a:cs typeface="Times New Roman" panose="02020603050405020304" pitchFamily="18" charset="0"/>
            </a:endParaRPr>
          </a:p>
          <a:p>
            <a:pPr>
              <a:lnSpc>
                <a:spcPct val="150000"/>
              </a:lnSpc>
              <a:spcBef>
                <a:spcPct val="25000"/>
              </a:spcBef>
            </a:pPr>
            <a:r>
              <a:rPr lang="zh-CN" altLang="en-US"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0!=1</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1!=1 </a:t>
            </a:r>
          </a:p>
          <a:p>
            <a:pPr>
              <a:lnSpc>
                <a:spcPct val="90000"/>
              </a:lnSpc>
              <a:spcBef>
                <a:spcPct val="40000"/>
              </a:spcBef>
              <a:spcAft>
                <a:spcPct val="5000"/>
              </a:spcAft>
            </a:pPr>
            <a:r>
              <a:rPr lang="zh-CN" altLang="en-US" b="1" dirty="0">
                <a:latin typeface="Arial" panose="020B0604020202020204" pitchFamily="34" charset="0"/>
                <a:ea typeface="黑体" panose="02010609060101010101" pitchFamily="49" charset="-122"/>
              </a:rPr>
              <a:t>         </a:t>
            </a:r>
            <a:r>
              <a:rPr lang="zh-CN" altLang="en-US" sz="2400" b="1" dirty="0">
                <a:latin typeface="SimSun" panose="02010600030101010101" pitchFamily="2" charset="-122"/>
                <a:ea typeface="SimSun" panose="02010600030101010101" pitchFamily="2" charset="-122"/>
              </a:rPr>
              <a:t>递归算法实现如下：                     </a:t>
            </a:r>
            <a:endParaRPr lang="zh-CN" altLang="en-US" b="1" dirty="0">
              <a:latin typeface="SimSun" panose="02010600030101010101" pitchFamily="2" charset="-122"/>
              <a:ea typeface="SimSun" panose="02010600030101010101" pitchFamily="2" charset="-122"/>
            </a:endParaRPr>
          </a:p>
        </p:txBody>
      </p:sp>
      <p:sp>
        <p:nvSpPr>
          <p:cNvPr id="7" name="文本框 6">
            <a:extLst>
              <a:ext uri="{FF2B5EF4-FFF2-40B4-BE49-F238E27FC236}">
                <a16:creationId xmlns:a16="http://schemas.microsoft.com/office/drawing/2014/main" id="{60EF2B60-789D-3944-B6B6-620D1308ED6D}"/>
              </a:ext>
            </a:extLst>
          </p:cNvPr>
          <p:cNvSpPr txBox="1"/>
          <p:nvPr/>
        </p:nvSpPr>
        <p:spPr>
          <a:xfrm>
            <a:off x="5029199" y="2699587"/>
            <a:ext cx="3624147" cy="2437590"/>
          </a:xfrm>
          <a:prstGeom prst="rect">
            <a:avLst/>
          </a:prstGeom>
          <a:noFill/>
        </p:spPr>
        <p:txBody>
          <a:bodyPr wrap="square">
            <a:spAutoFit/>
          </a:bodyPr>
          <a:lstStyle/>
          <a:p>
            <a:pPr>
              <a:lnSpc>
                <a:spcPct val="95000"/>
              </a:lnSpc>
              <a:spcBef>
                <a:spcPct val="25000"/>
              </a:spcBef>
            </a:pPr>
            <a:r>
              <a:rPr lang="en-US" altLang="zh-CN" sz="2400" b="1" dirty="0">
                <a:latin typeface="Times New Roman" panose="02020603050405020304" pitchFamily="18" charset="0"/>
                <a:cs typeface="Times New Roman" panose="02020603050405020304" pitchFamily="18" charset="0"/>
              </a:rPr>
              <a:t>fact(int n)</a:t>
            </a:r>
          </a:p>
          <a:p>
            <a:pPr>
              <a:lnSpc>
                <a:spcPct val="90000"/>
              </a:lnSpc>
            </a:pPr>
            <a:r>
              <a:rPr lang="en-US" altLang="zh-CN" sz="2400" b="1" dirty="0">
                <a:latin typeface="Times New Roman" panose="02020603050405020304" pitchFamily="18" charset="0"/>
                <a:cs typeface="Times New Roman" panose="02020603050405020304" pitchFamily="18" charset="0"/>
              </a:rPr>
              <a:t>{  </a:t>
            </a:r>
          </a:p>
          <a:p>
            <a:pPr>
              <a:lnSpc>
                <a:spcPct val="90000"/>
              </a:lnSpc>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if (n=0 or n=1)</a:t>
            </a:r>
          </a:p>
          <a:p>
            <a:pPr>
              <a:lnSpc>
                <a:spcPct val="90000"/>
              </a:lnSpc>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return(1);</a:t>
            </a:r>
          </a:p>
          <a:p>
            <a:pPr>
              <a:lnSpc>
                <a:spcPct val="90000"/>
              </a:lnSpc>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else</a:t>
            </a:r>
          </a:p>
          <a:p>
            <a:pPr>
              <a:lnSpc>
                <a:spcPct val="90000"/>
              </a:lnSpc>
            </a:pP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return(n*fact(n-1))</a:t>
            </a:r>
            <a:r>
              <a:rPr lang="zh-CN" altLang="en-US" sz="2400" b="1" dirty="0">
                <a:latin typeface="Times New Roman" panose="02020603050405020304" pitchFamily="18" charset="0"/>
                <a:cs typeface="Times New Roman" panose="02020603050405020304" pitchFamily="18" charset="0"/>
              </a:rPr>
              <a:t>；</a:t>
            </a:r>
          </a:p>
          <a:p>
            <a:pPr>
              <a:lnSpc>
                <a:spcPct val="90000"/>
              </a:lnSpc>
            </a:pPr>
            <a:r>
              <a:rPr lang="en-US" altLang="zh-CN" sz="2400" b="1"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a typeface="楷体_GB2312" pitchFamily="49" charset="-122"/>
              <a:cs typeface="Times New Roman" panose="02020603050405020304" pitchFamily="18" charset="0"/>
            </a:endParaRPr>
          </a:p>
        </p:txBody>
      </p:sp>
    </p:spTree>
    <p:extLst>
      <p:ext uri="{BB962C8B-B14F-4D97-AF65-F5344CB8AC3E}">
        <p14:creationId xmlns:p14="http://schemas.microsoft.com/office/powerpoint/2010/main" val="15894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rgbClr val="FF0000"/>
                </a:solidFill>
                <a:latin typeface="SimSun" panose="02010600030101010101" pitchFamily="2" charset="-122"/>
                <a:ea typeface="SimSun" panose="02010600030101010101" pitchFamily="2" charset="-122"/>
              </a:rPr>
              <a:t>递归算法分析</a:t>
            </a:r>
            <a:endParaRPr lang="zh-CN" altLang="en-US" dirty="0">
              <a:solidFill>
                <a:srgbClr val="FF0000"/>
              </a:solidFill>
              <a:latin typeface="SimSun" panose="02010600030101010101" pitchFamily="2" charset="-122"/>
              <a:ea typeface="SimSun" panose="02010600030101010101" pitchFamily="2" charset="-122"/>
            </a:endParaRPr>
          </a:p>
        </p:txBody>
      </p:sp>
      <p:sp>
        <p:nvSpPr>
          <p:cNvPr id="8" name="Text Box 4">
            <a:extLst>
              <a:ext uri="{FF2B5EF4-FFF2-40B4-BE49-F238E27FC236}">
                <a16:creationId xmlns:a16="http://schemas.microsoft.com/office/drawing/2014/main" id="{FBE68D4A-20C7-4F43-A351-61B72A86C02E}"/>
              </a:ext>
            </a:extLst>
          </p:cNvPr>
          <p:cNvSpPr txBox="1">
            <a:spLocks noChangeArrowheads="1"/>
          </p:cNvSpPr>
          <p:nvPr/>
        </p:nvSpPr>
        <p:spPr bwMode="auto">
          <a:xfrm>
            <a:off x="424715" y="1482377"/>
            <a:ext cx="11767285" cy="272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365125" indent="-9842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1">
              <a:lnSpc>
                <a:spcPct val="150000"/>
              </a:lnSpc>
            </a:pPr>
            <a:r>
              <a:rPr lang="en-US" altLang="zh-CN" b="1" dirty="0">
                <a:solidFill>
                  <a:schemeClr val="tx2"/>
                </a:solidFill>
                <a:latin typeface="SimSun" panose="02010600030101010101" pitchFamily="2" charset="-122"/>
                <a:ea typeface="SimSun" panose="02010600030101010101" pitchFamily="2" charset="-122"/>
              </a:rPr>
              <a:t>2) </a:t>
            </a:r>
            <a:r>
              <a:rPr lang="zh-CN" altLang="en-US" b="1" dirty="0">
                <a:solidFill>
                  <a:schemeClr val="tx2"/>
                </a:solidFill>
                <a:latin typeface="SimSun" panose="02010600030101010101" pitchFamily="2" charset="-122"/>
                <a:ea typeface="SimSun" panose="02010600030101010101" pitchFamily="2" charset="-122"/>
              </a:rPr>
              <a:t>递归算法的实现机理</a:t>
            </a:r>
          </a:p>
          <a:p>
            <a:pPr lvl="1">
              <a:lnSpc>
                <a:spcPct val="150000"/>
              </a:lnSpc>
              <a:spcBef>
                <a:spcPct val="45000"/>
              </a:spcBef>
            </a:pPr>
            <a:r>
              <a:rPr lang="zh-CN" altLang="en-US" b="1" dirty="0">
                <a:latin typeface="SimSun" panose="02010600030101010101" pitchFamily="2" charset="-122"/>
                <a:ea typeface="SimSun" panose="02010600030101010101" pitchFamily="2" charset="-122"/>
              </a:rPr>
              <a:t>递归算法的每一次调用，都用一个特殊的数据结构</a:t>
            </a:r>
            <a:r>
              <a:rPr lang="zh-CN" altLang="en-US" b="1" dirty="0">
                <a:solidFill>
                  <a:srgbClr val="FF0000"/>
                </a:solidFill>
                <a:latin typeface="SimSun" panose="02010600030101010101" pitchFamily="2" charset="-122"/>
                <a:ea typeface="SimSun" panose="02010600030101010101" pitchFamily="2" charset="-122"/>
              </a:rPr>
              <a:t>“栈”</a:t>
            </a:r>
            <a:r>
              <a:rPr lang="zh-CN" altLang="en-US" b="1" dirty="0">
                <a:latin typeface="SimSun" panose="02010600030101010101" pitchFamily="2" charset="-122"/>
                <a:ea typeface="SimSun" panose="02010600030101010101" pitchFamily="2" charset="-122"/>
              </a:rPr>
              <a:t>记录当前算法的执行状态。</a:t>
            </a:r>
          </a:p>
          <a:p>
            <a:pPr lvl="1">
              <a:lnSpc>
                <a:spcPct val="150000"/>
              </a:lnSpc>
              <a:spcBef>
                <a:spcPct val="45000"/>
              </a:spcBef>
            </a:pPr>
            <a:r>
              <a:rPr lang="zh-CN" altLang="en-US" b="1" dirty="0">
                <a:latin typeface="SimSun" panose="02010600030101010101" pitchFamily="2" charset="-122"/>
                <a:ea typeface="SimSun" panose="02010600030101010101" pitchFamily="2" charset="-122"/>
              </a:rPr>
              <a:t>递归调用是一个降低规模的过程，满足停止条件停止递归调用，然后开始回溯</a:t>
            </a:r>
            <a:endParaRPr lang="en-US" altLang="zh-CN" b="1" dirty="0">
              <a:latin typeface="SimSun" panose="02010600030101010101" pitchFamily="2" charset="-122"/>
              <a:ea typeface="SimSun" panose="02010600030101010101" pitchFamily="2" charset="-122"/>
            </a:endParaRPr>
          </a:p>
          <a:p>
            <a:pPr lvl="1">
              <a:lnSpc>
                <a:spcPct val="150000"/>
              </a:lnSpc>
              <a:spcBef>
                <a:spcPct val="45000"/>
              </a:spcBef>
            </a:pPr>
            <a:r>
              <a:rPr lang="zh-CN" altLang="en-US" b="1" dirty="0">
                <a:latin typeface="SimSun" panose="02010600030101010101" pitchFamily="2" charset="-122"/>
                <a:ea typeface="SimSun" panose="02010600030101010101" pitchFamily="2" charset="-122"/>
              </a:rPr>
              <a:t>（返回调用算法）并计算结果。</a:t>
            </a:r>
          </a:p>
        </p:txBody>
      </p:sp>
    </p:spTree>
    <p:extLst>
      <p:ext uri="{BB962C8B-B14F-4D97-AF65-F5344CB8AC3E}">
        <p14:creationId xmlns:p14="http://schemas.microsoft.com/office/powerpoint/2010/main" val="912263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算法分析实例</a:t>
            </a:r>
            <a:r>
              <a:rPr lang="en-US" altLang="zh-CN" sz="4400" dirty="0">
                <a:solidFill>
                  <a:schemeClr val="tx1"/>
                </a:solidFill>
              </a:rPr>
              <a:t>-</a:t>
            </a:r>
            <a:r>
              <a:rPr lang="zh-CN" altLang="en-US" sz="3600" dirty="0">
                <a:solidFill>
                  <a:srgbClr val="FF0000"/>
                </a:solidFill>
                <a:latin typeface="SimSun" panose="02010600030101010101" pitchFamily="2" charset="-122"/>
                <a:ea typeface="SimSun" panose="02010600030101010101" pitchFamily="2" charset="-122"/>
              </a:rPr>
              <a:t>递归算法分析</a:t>
            </a:r>
            <a:endParaRPr lang="zh-CN" altLang="en-US" dirty="0">
              <a:solidFill>
                <a:srgbClr val="FF0000"/>
              </a:solidFill>
              <a:latin typeface="SimSun" panose="02010600030101010101" pitchFamily="2" charset="-122"/>
              <a:ea typeface="SimSun" panose="02010600030101010101" pitchFamily="2" charset="-122"/>
            </a:endParaRPr>
          </a:p>
        </p:txBody>
      </p:sp>
      <p:sp>
        <p:nvSpPr>
          <p:cNvPr id="5" name="Text Box 5">
            <a:extLst>
              <a:ext uri="{FF2B5EF4-FFF2-40B4-BE49-F238E27FC236}">
                <a16:creationId xmlns:a16="http://schemas.microsoft.com/office/drawing/2014/main" id="{C400B83C-451C-EE41-948A-BA7F7B77E649}"/>
              </a:ext>
            </a:extLst>
          </p:cNvPr>
          <p:cNvSpPr txBox="1">
            <a:spLocks noChangeArrowheads="1"/>
          </p:cNvSpPr>
          <p:nvPr/>
        </p:nvSpPr>
        <p:spPr bwMode="auto">
          <a:xfrm>
            <a:off x="413562" y="1475756"/>
            <a:ext cx="10994135" cy="3108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365125" indent="-98425">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1" algn="just">
              <a:lnSpc>
                <a:spcPct val="150000"/>
              </a:lnSpc>
            </a:pPr>
            <a:r>
              <a:rPr lang="en-US" altLang="zh-CN" b="1" dirty="0">
                <a:solidFill>
                  <a:schemeClr val="tx2"/>
                </a:solidFill>
                <a:latin typeface="黑体" panose="02010609060101010101" pitchFamily="49" charset="-122"/>
                <a:ea typeface="黑体" panose="02010609060101010101" pitchFamily="49" charset="-122"/>
              </a:rPr>
              <a:t>3) </a:t>
            </a:r>
            <a:r>
              <a:rPr lang="zh-CN" altLang="en-US" b="1" dirty="0">
                <a:solidFill>
                  <a:schemeClr val="tx2"/>
                </a:solidFill>
                <a:latin typeface="黑体" panose="02010609060101010101" pitchFamily="49" charset="-122"/>
                <a:ea typeface="黑体" panose="02010609060101010101" pitchFamily="49" charset="-122"/>
              </a:rPr>
              <a:t>递归算法的效率分析方法</a:t>
            </a:r>
          </a:p>
          <a:p>
            <a:pPr algn="just">
              <a:lnSpc>
                <a:spcPct val="150000"/>
              </a:lnSpc>
              <a:spcBef>
                <a:spcPct val="45000"/>
              </a:spcBef>
            </a:pPr>
            <a:r>
              <a:rPr lang="zh-CN" altLang="en-US" b="1" dirty="0">
                <a:latin typeface="宋体" panose="02010600030101010101" pitchFamily="2" charset="-122"/>
              </a:rPr>
              <a:t>递归算法的常用分析方法 </a:t>
            </a:r>
            <a:r>
              <a:rPr lang="en-US" altLang="zh-CN" b="1" dirty="0">
                <a:latin typeface="宋体" panose="02010600030101010101" pitchFamily="2" charset="-122"/>
              </a:rPr>
              <a:t>-- </a:t>
            </a:r>
            <a:r>
              <a:rPr lang="zh-CN" altLang="en-US" b="1" dirty="0">
                <a:latin typeface="宋体" panose="02010600030101010101" pitchFamily="2" charset="-122"/>
              </a:rPr>
              <a:t>迭代法</a:t>
            </a:r>
            <a:endParaRPr lang="en-US" altLang="zh-CN" b="1" dirty="0">
              <a:solidFill>
                <a:schemeClr val="tx2"/>
              </a:solidFill>
              <a:latin typeface="黑体" panose="02010609060101010101" pitchFamily="49" charset="-122"/>
              <a:ea typeface="黑体" panose="02010609060101010101" pitchFamily="49" charset="-122"/>
            </a:endParaRPr>
          </a:p>
          <a:p>
            <a:pPr algn="just">
              <a:lnSpc>
                <a:spcPct val="150000"/>
              </a:lnSpc>
              <a:spcBef>
                <a:spcPct val="45000"/>
              </a:spcBef>
            </a:pPr>
            <a:r>
              <a:rPr lang="zh-CN" altLang="en-US" b="1" dirty="0">
                <a:solidFill>
                  <a:schemeClr val="tx2"/>
                </a:solidFill>
                <a:latin typeface="黑体" panose="02010609060101010101" pitchFamily="49" charset="-122"/>
                <a:ea typeface="黑体" panose="02010609060101010101" pitchFamily="49" charset="-122"/>
              </a:rPr>
              <a:t>迭代法：</a:t>
            </a:r>
            <a:r>
              <a:rPr lang="zh-CN" altLang="en-US" b="1" dirty="0">
                <a:latin typeface="宋体" panose="02010600030101010101" pitchFamily="2" charset="-122"/>
              </a:rPr>
              <a:t>通过将递归算法简化为对应的递归方程，然后通过反复迭代，将递归方程的右端变换成一个级数，最后求级数的和，估计级数和的渐近阶，实现对递归方程解的渐近阶的估计。</a:t>
            </a:r>
          </a:p>
        </p:txBody>
      </p:sp>
    </p:spTree>
    <p:extLst>
      <p:ext uri="{BB962C8B-B14F-4D97-AF65-F5344CB8AC3E}">
        <p14:creationId xmlns:p14="http://schemas.microsoft.com/office/powerpoint/2010/main" val="1777438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8">
            <a:extLst>
              <a:ext uri="{FF2B5EF4-FFF2-40B4-BE49-F238E27FC236}">
                <a16:creationId xmlns:a16="http://schemas.microsoft.com/office/drawing/2014/main" id="{92330598-CA55-544E-BBB8-4BF2C65D274A}"/>
              </a:ext>
            </a:extLst>
          </p:cNvPr>
          <p:cNvSpPr>
            <a:spLocks noGrp="1"/>
          </p:cNvSpPr>
          <p:nvPr>
            <p:ph type="title"/>
          </p:nvPr>
        </p:nvSpPr>
        <p:spPr>
          <a:xfrm>
            <a:off x="1205956" y="376263"/>
            <a:ext cx="8562512" cy="569668"/>
          </a:xfrm>
        </p:spPr>
        <p:txBody>
          <a:bodyPr>
            <a:noAutofit/>
          </a:bodyPr>
          <a:lstStyle/>
          <a:p>
            <a:r>
              <a:rPr lang="zh-CN" altLang="en-US" sz="4400" dirty="0">
                <a:solidFill>
                  <a:schemeClr val="tx1"/>
                </a:solidFill>
                <a:latin typeface="SimSun" panose="02010600030101010101" pitchFamily="2" charset="-122"/>
                <a:ea typeface="SimSun" panose="02010600030101010101" pitchFamily="2" charset="-122"/>
              </a:rPr>
              <a:t>提高算法质量</a:t>
            </a:r>
            <a:endParaRPr lang="zh-CN" altLang="en-US" dirty="0">
              <a:solidFill>
                <a:srgbClr val="FF0000"/>
              </a:solidFill>
              <a:latin typeface="SimSun" panose="02010600030101010101" pitchFamily="2" charset="-122"/>
              <a:ea typeface="SimSun" panose="02010600030101010101" pitchFamily="2" charset="-122"/>
            </a:endParaRPr>
          </a:p>
        </p:txBody>
      </p:sp>
      <p:sp>
        <p:nvSpPr>
          <p:cNvPr id="6" name="Text Box 1026">
            <a:extLst>
              <a:ext uri="{FF2B5EF4-FFF2-40B4-BE49-F238E27FC236}">
                <a16:creationId xmlns:a16="http://schemas.microsoft.com/office/drawing/2014/main" id="{E8EFC234-91CD-E147-BC50-909A4A701706}"/>
              </a:ext>
            </a:extLst>
          </p:cNvPr>
          <p:cNvSpPr txBox="1">
            <a:spLocks noChangeArrowheads="1"/>
          </p:cNvSpPr>
          <p:nvPr/>
        </p:nvSpPr>
        <p:spPr bwMode="auto">
          <a:xfrm>
            <a:off x="603134" y="1714462"/>
            <a:ext cx="11139100" cy="131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2800" b="1" dirty="0">
                <a:latin typeface="宋体" panose="02010600030101010101" pitchFamily="2" charset="-122"/>
              </a:rPr>
              <a:t>设计算法不要一味地追求算法的效率，应当在满足正确性、可靠性、健壮性、可读性等质量因素的</a:t>
            </a:r>
            <a:r>
              <a:rPr lang="zh-CN" altLang="en-US" sz="2800" b="1" dirty="0">
                <a:solidFill>
                  <a:srgbClr val="FF0000"/>
                </a:solidFill>
                <a:latin typeface="宋体" panose="02010600030101010101" pitchFamily="2" charset="-122"/>
              </a:rPr>
              <a:t>前提</a:t>
            </a:r>
            <a:r>
              <a:rPr lang="zh-CN" altLang="en-US" sz="2800" b="1" dirty="0">
                <a:latin typeface="宋体" panose="02010600030101010101" pitchFamily="2" charset="-122"/>
              </a:rPr>
              <a:t>下，设法提高算法的效率。</a:t>
            </a:r>
            <a:endParaRPr lang="en-US" altLang="zh-CN" sz="2800" dirty="0">
              <a:latin typeface="楷体_GB2312" pitchFamily="49" charset="-122"/>
              <a:ea typeface="楷体_GB2312" pitchFamily="49" charset="-122"/>
            </a:endParaRPr>
          </a:p>
        </p:txBody>
      </p:sp>
      <p:sp>
        <p:nvSpPr>
          <p:cNvPr id="7" name="Text Box 1026">
            <a:extLst>
              <a:ext uri="{FF2B5EF4-FFF2-40B4-BE49-F238E27FC236}">
                <a16:creationId xmlns:a16="http://schemas.microsoft.com/office/drawing/2014/main" id="{3E584124-7B47-AC4B-8FD8-3519C190DED2}"/>
              </a:ext>
            </a:extLst>
          </p:cNvPr>
          <p:cNvSpPr txBox="1">
            <a:spLocks noChangeArrowheads="1"/>
          </p:cNvSpPr>
          <p:nvPr/>
        </p:nvSpPr>
        <p:spPr bwMode="auto">
          <a:xfrm>
            <a:off x="603134" y="3253330"/>
            <a:ext cx="9555626" cy="2632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endParaRPr lang="zh-CN" altLang="en-US" sz="2200" dirty="0">
              <a:solidFill>
                <a:srgbClr val="000000"/>
              </a:solidFill>
              <a:latin typeface="楷体_GB2312" pitchFamily="49" charset="-122"/>
              <a:ea typeface="楷体_GB2312" pitchFamily="49" charset="-122"/>
            </a:endParaRPr>
          </a:p>
          <a:p>
            <a:pPr algn="just"/>
            <a:r>
              <a:rPr lang="zh-CN" altLang="en-US" sz="2200" b="1" dirty="0">
                <a:solidFill>
                  <a:srgbClr val="000000"/>
                </a:solidFill>
                <a:latin typeface="宋体" panose="02010600030101010101" pitchFamily="2" charset="-122"/>
              </a:rPr>
              <a:t>两组操作：</a:t>
            </a:r>
            <a:r>
              <a:rPr lang="zh-CN" altLang="en-US" b="1" dirty="0">
                <a:solidFill>
                  <a:srgbClr val="000000"/>
                </a:solidFill>
                <a:latin typeface="宋体" panose="02010600030101010101" pitchFamily="2" charset="-122"/>
              </a:rPr>
              <a:t>	</a:t>
            </a:r>
            <a:r>
              <a:rPr lang="en-US" altLang="zh-CN" sz="2400" b="1" dirty="0">
                <a:solidFill>
                  <a:srgbClr val="000000"/>
                </a:solidFill>
                <a:latin typeface="Times New Roman" panose="02020603050405020304" pitchFamily="18" charset="0"/>
                <a:cs typeface="Times New Roman" panose="02020603050405020304" pitchFamily="18" charset="0"/>
              </a:rPr>
              <a:t>(1) a=</a:t>
            </a:r>
            <a:r>
              <a:rPr lang="en-US" altLang="zh-CN" sz="2400" b="1" dirty="0" err="1">
                <a:solidFill>
                  <a:srgbClr val="000000"/>
                </a:solidFill>
                <a:latin typeface="Times New Roman" panose="02020603050405020304" pitchFamily="18" charset="0"/>
                <a:cs typeface="Times New Roman" panose="02020603050405020304" pitchFamily="18" charset="0"/>
              </a:rPr>
              <a:t>a+b</a:t>
            </a: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b=a-b</a:t>
            </a:r>
            <a:r>
              <a:rPr lang="zh-CN" altLang="en-US" sz="2400" b="1" dirty="0">
                <a:solidFill>
                  <a:srgbClr val="000000"/>
                </a:solidFill>
                <a:latin typeface="Times New Roman" panose="02020603050405020304" pitchFamily="18" charset="0"/>
                <a:cs typeface="Times New Roman" panose="02020603050405020304" pitchFamily="18" charset="0"/>
              </a:rPr>
              <a:t>；</a:t>
            </a:r>
            <a:r>
              <a:rPr lang="en-US" altLang="zh-CN" sz="2400" b="1" dirty="0">
                <a:solidFill>
                  <a:srgbClr val="000000"/>
                </a:solidFill>
                <a:latin typeface="Times New Roman" panose="02020603050405020304" pitchFamily="18" charset="0"/>
                <a:cs typeface="Times New Roman" panose="02020603050405020304" pitchFamily="18" charset="0"/>
              </a:rPr>
              <a:t>a=a-b</a:t>
            </a:r>
            <a:r>
              <a:rPr lang="zh-CN" altLang="en-US" sz="2400" b="1" dirty="0">
                <a:solidFill>
                  <a:srgbClr val="000000"/>
                </a:solidFill>
                <a:latin typeface="Times New Roman" panose="02020603050405020304" pitchFamily="18" charset="0"/>
                <a:cs typeface="Times New Roman" panose="02020603050405020304" pitchFamily="18" charset="0"/>
              </a:rPr>
              <a:t>；</a:t>
            </a:r>
          </a:p>
          <a:p>
            <a:pPr algn="just">
              <a:spcBef>
                <a:spcPct val="20000"/>
              </a:spcBef>
            </a:pP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(2) t=a</a:t>
            </a: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a=b</a:t>
            </a: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b=t</a:t>
            </a:r>
            <a:r>
              <a:rPr lang="zh-CN" altLang="en-US" sz="2400" b="1" dirty="0">
                <a:solidFill>
                  <a:srgbClr val="000000"/>
                </a:solidFill>
                <a:latin typeface="Times New Roman" panose="02020603050405020304" pitchFamily="18" charset="0"/>
                <a:cs typeface="Times New Roman" panose="02020603050405020304" pitchFamily="18" charset="0"/>
              </a:rPr>
              <a:t>；</a:t>
            </a:r>
          </a:p>
          <a:p>
            <a:pPr algn="just"/>
            <a:endParaRPr lang="zh-CN" altLang="en-US" sz="2800" b="1" dirty="0">
              <a:solidFill>
                <a:srgbClr val="000000"/>
              </a:solidFill>
              <a:latin typeface="Arial" panose="020B0604020202020204" pitchFamily="34" charset="0"/>
            </a:endParaRPr>
          </a:p>
          <a:p>
            <a:pPr algn="just">
              <a:lnSpc>
                <a:spcPct val="150000"/>
              </a:lnSpc>
            </a:pPr>
            <a:r>
              <a:rPr lang="zh-CN" altLang="en-US" sz="2200" b="1" dirty="0">
                <a:solidFill>
                  <a:srgbClr val="000000"/>
                </a:solidFill>
                <a:latin typeface="宋体" panose="02010600030101010101" pitchFamily="2" charset="-122"/>
              </a:rPr>
              <a:t>两组操作的功能都是：“交换变量</a:t>
            </a:r>
            <a:r>
              <a:rPr lang="en-US" altLang="zh-CN" sz="2200" b="1" dirty="0">
                <a:solidFill>
                  <a:srgbClr val="000000"/>
                </a:solidFill>
                <a:latin typeface="宋体" panose="02010600030101010101" pitchFamily="2" charset="-122"/>
              </a:rPr>
              <a:t>a</a:t>
            </a:r>
            <a:r>
              <a:rPr lang="zh-CN" altLang="en-US" sz="2200" b="1" dirty="0">
                <a:solidFill>
                  <a:srgbClr val="000000"/>
                </a:solidFill>
                <a:latin typeface="宋体" panose="02010600030101010101" pitchFamily="2" charset="-122"/>
              </a:rPr>
              <a:t>、</a:t>
            </a:r>
            <a:r>
              <a:rPr lang="en-US" altLang="zh-CN" sz="2200" b="1" dirty="0">
                <a:solidFill>
                  <a:srgbClr val="000000"/>
                </a:solidFill>
                <a:latin typeface="宋体" panose="02010600030101010101" pitchFamily="2" charset="-122"/>
              </a:rPr>
              <a:t>b</a:t>
            </a:r>
            <a:r>
              <a:rPr lang="zh-CN" altLang="en-US" sz="2200" b="1" dirty="0">
                <a:solidFill>
                  <a:srgbClr val="000000"/>
                </a:solidFill>
                <a:latin typeface="宋体" panose="02010600030101010101" pitchFamily="2" charset="-122"/>
              </a:rPr>
              <a:t>中的数据”。</a:t>
            </a:r>
            <a:endParaRPr lang="en-US" altLang="zh-CN" sz="2200" b="1" dirty="0">
              <a:solidFill>
                <a:srgbClr val="000000"/>
              </a:solidFill>
              <a:latin typeface="宋体" panose="02010600030101010101" pitchFamily="2" charset="-122"/>
            </a:endParaRPr>
          </a:p>
          <a:p>
            <a:pPr algn="just">
              <a:lnSpc>
                <a:spcPct val="150000"/>
              </a:lnSpc>
            </a:pPr>
            <a:r>
              <a:rPr lang="zh-CN" altLang="en-US" sz="2200" b="1" dirty="0">
                <a:solidFill>
                  <a:srgbClr val="000000"/>
                </a:solidFill>
                <a:latin typeface="宋体" panose="02010600030101010101" pitchFamily="2" charset="-122"/>
              </a:rPr>
              <a:t>虽然第一组操作节省了一个存储空间，但失去了可读性，是不可取的。</a:t>
            </a:r>
          </a:p>
        </p:txBody>
      </p:sp>
    </p:spTree>
    <p:extLst>
      <p:ext uri="{BB962C8B-B14F-4D97-AF65-F5344CB8AC3E}">
        <p14:creationId xmlns:p14="http://schemas.microsoft.com/office/powerpoint/2010/main" val="70941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charRg st="77" end="127"/>
                                            </p:txEl>
                                          </p:spTgt>
                                        </p:tgtEl>
                                        <p:attrNameLst>
                                          <p:attrName>style.visibility</p:attrName>
                                        </p:attrNameLst>
                                      </p:cBhvr>
                                      <p:to>
                                        <p:strVal val="visible"/>
                                      </p:to>
                                    </p:set>
                                    <p:animEffect transition="in" filter="blinds(horizontal)">
                                      <p:cBhvr>
                                        <p:cTn id="7" dur="500"/>
                                        <p:tgtEl>
                                          <p:spTgt spid="7">
                                            <p:txEl>
                                              <p:charRg st="77" end="1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ICON" val="#53131;#53131;#177509;#76194;#815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12504</TotalTime>
  <Words>3553</Words>
  <Application>Microsoft Macintosh PowerPoint</Application>
  <PresentationFormat>宽屏</PresentationFormat>
  <Paragraphs>359</Paragraphs>
  <Slides>39</Slides>
  <Notes>23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39</vt:i4>
      </vt:variant>
    </vt:vector>
  </HeadingPairs>
  <TitlesOfParts>
    <vt:vector size="55" baseType="lpstr">
      <vt:lpstr>等线</vt:lpstr>
      <vt:lpstr>等线 Light</vt:lpstr>
      <vt:lpstr>方正大标宋简体</vt:lpstr>
      <vt:lpstr>方正清刻本悦宋简体</vt:lpstr>
      <vt:lpstr>黑体</vt:lpstr>
      <vt:lpstr>楷体_GB2312</vt:lpstr>
      <vt:lpstr>宋体</vt:lpstr>
      <vt:lpstr>宋体</vt:lpstr>
      <vt:lpstr>微软雅黑</vt:lpstr>
      <vt:lpstr>Times New Roman Regular</vt:lpstr>
      <vt:lpstr>Arial</vt:lpstr>
      <vt:lpstr>Cambria Math</vt:lpstr>
      <vt:lpstr>Consolas</vt:lpstr>
      <vt:lpstr>Times New Roman</vt:lpstr>
      <vt:lpstr>Wingdings</vt:lpstr>
      <vt:lpstr>Office 主题​​</vt:lpstr>
      <vt:lpstr>算法设计与分析</vt:lpstr>
      <vt:lpstr>PowerPoint 演示文稿</vt:lpstr>
      <vt:lpstr>一个简单问题的求解过程 (续)</vt:lpstr>
      <vt:lpstr>一个简单问题的求解过程 (续)</vt:lpstr>
      <vt:lpstr>一个简单问题的求解过程 (续)</vt:lpstr>
      <vt:lpstr>一个简单问题的求解过程 (续)</vt:lpstr>
      <vt:lpstr>一个简单问题的求解过程 (续)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算法分析体系及计量</vt:lpstr>
      <vt:lpstr>算法分析体系及计量</vt:lpstr>
      <vt:lpstr>算法时间复杂度分析</vt:lpstr>
      <vt:lpstr>算法时间复杂度分析</vt:lpstr>
      <vt:lpstr>算法时间复杂度分析</vt:lpstr>
      <vt:lpstr>算法时间复杂度分析</vt:lpstr>
      <vt:lpstr>算法时间复杂度分析</vt:lpstr>
      <vt:lpstr>算法时间复杂度分析</vt:lpstr>
      <vt:lpstr>算法时间复杂度分析</vt:lpstr>
      <vt:lpstr>算法空间复杂性</vt:lpstr>
      <vt:lpstr>算法空间复杂性</vt:lpstr>
      <vt:lpstr>算法分析实例-非递归算法分析</vt:lpstr>
      <vt:lpstr>算法分析实例-非递归算法分析</vt:lpstr>
      <vt:lpstr>算法分析实例-非递归算法分析</vt:lpstr>
      <vt:lpstr>算法分析实例-非递归算法分析</vt:lpstr>
      <vt:lpstr>算法分析实例-非递归算法分析</vt:lpstr>
      <vt:lpstr>算法分析实例-递归算法分析</vt:lpstr>
      <vt:lpstr>算法分析实例-递归算法分析</vt:lpstr>
      <vt:lpstr>算法分析实例-递归算法分析</vt:lpstr>
      <vt:lpstr>算法分析实例-递归算法分析</vt:lpstr>
      <vt:lpstr>算法分析实例-递归算法分析</vt:lpstr>
      <vt:lpstr>提高算法质量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 浩然</dc:creator>
  <cp:lastModifiedBy>赵 浩然</cp:lastModifiedBy>
  <cp:revision>396</cp:revision>
  <dcterms:created xsi:type="dcterms:W3CDTF">2022-08-31T02:13:47Z</dcterms:created>
  <dcterms:modified xsi:type="dcterms:W3CDTF">2023-04-19T09:58:12Z</dcterms:modified>
</cp:coreProperties>
</file>