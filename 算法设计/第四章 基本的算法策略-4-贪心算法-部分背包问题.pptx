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95" r:id="rId2"/>
    <p:sldId id="259" r:id="rId3"/>
    <p:sldId id="425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428" r:id="rId27"/>
    <p:sldId id="281" r:id="rId28"/>
    <p:sldId id="282" r:id="rId29"/>
    <p:sldId id="429" r:id="rId30"/>
    <p:sldId id="430" r:id="rId31"/>
    <p:sldId id="431" r:id="rId32"/>
    <p:sldId id="432" r:id="rId33"/>
    <p:sldId id="433" r:id="rId34"/>
    <p:sldId id="434" r:id="rId35"/>
    <p:sldId id="435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23"/>
    <p:restoredTop sz="85610"/>
  </p:normalViewPr>
  <p:slideViewPr>
    <p:cSldViewPr snapToGrid="0" snapToObjects="1">
      <p:cViewPr varScale="1">
        <p:scale>
          <a:sx n="119" d="100"/>
          <a:sy n="119" d="100"/>
        </p:scale>
        <p:origin x="23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31A9-199E-0040-B421-36D8B674C3C2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1ABD9-FA3A-ED42-B2DF-4A75A1E7DD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005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B3782-2C2A-4249-98A3-D66C57BFD1C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贪心策略，不用教，大家都会，是人的本性，贪婪！！！</a:t>
            </a:r>
            <a:endParaRPr kumimoji="1" lang="en-US" altLang="zh-CN" dirty="0"/>
          </a:p>
          <a:p>
            <a:r>
              <a:rPr kumimoji="1" lang="zh-CN" altLang="en-US" dirty="0"/>
              <a:t>例如，超市找零钱！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692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想出来一种贪心策略不难，关键是要证明它的正确性。通常采用替换法。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6719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假设另外存在一种最优解，</a:t>
            </a:r>
            <a:r>
              <a:rPr kumimoji="1" lang="en-US" altLang="zh-CN" dirty="0"/>
              <a:t>star</a:t>
            </a:r>
            <a:r>
              <a:rPr kumimoji="1" lang="zh-CN" altLang="en-US" dirty="0"/>
              <a:t>，两种方案都给它按照性价比排个序，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9347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贪心的解只有最后一个可能装不满，装一部分，其它的都是装满当前全部。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7902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对大的</a:t>
            </a:r>
            <a:r>
              <a:rPr lang="en" altLang="zh-CN" dirty="0"/>
              <a:t>n</a:t>
            </a:r>
            <a:r>
              <a:rPr lang="zh-CN" altLang="en" dirty="0"/>
              <a:t>，</a:t>
            </a:r>
            <a:r>
              <a:rPr lang="zh-CN" altLang="en-US" dirty="0"/>
              <a:t>由于</a:t>
            </a:r>
            <a:r>
              <a:rPr lang="en" altLang="zh-CN" dirty="0"/>
              <a:t>log(n) &gt;1</a:t>
            </a:r>
            <a:r>
              <a:rPr lang="zh-CN" altLang="en" dirty="0"/>
              <a:t>，</a:t>
            </a:r>
            <a:r>
              <a:rPr lang="zh-CN" altLang="en-US" dirty="0"/>
              <a:t>所以</a:t>
            </a:r>
            <a:r>
              <a:rPr lang="en" altLang="zh-CN" dirty="0"/>
              <a:t>O(</a:t>
            </a:r>
            <a:r>
              <a:rPr lang="en" altLang="zh-CN" dirty="0" err="1"/>
              <a:t>nlog</a:t>
            </a:r>
            <a:r>
              <a:rPr lang="en" altLang="zh-CN" dirty="0"/>
              <a:t>(n))</a:t>
            </a:r>
            <a:r>
              <a:rPr lang="zh-CN" altLang="en-US" dirty="0"/>
              <a:t>是</a:t>
            </a:r>
            <a:r>
              <a:rPr lang="en" altLang="zh-CN" dirty="0"/>
              <a:t>O(n)</a:t>
            </a:r>
            <a:r>
              <a:rPr lang="zh-CN" altLang="en-US" dirty="0"/>
              <a:t>的超集。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4384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193039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55D43-650A-8A4B-B4D9-196FB2C2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E4EBA6-65F5-F74A-84A4-1DAA79C9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730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5F6E5-6A2C-7845-96D1-C3F40C7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72C42-3007-F74B-BAC1-5ECA1441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DA583F-A0A9-184A-920D-99C2970D07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5">
            <a:extLst>
              <a:ext uri="{FF2B5EF4-FFF2-40B4-BE49-F238E27FC236}">
                <a16:creationId xmlns:a16="http://schemas.microsoft.com/office/drawing/2014/main" id="{59417B76-385F-8F47-9B73-0CC349ACC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6" name="图片 5" descr="5">
            <a:extLst>
              <a:ext uri="{FF2B5EF4-FFF2-40B4-BE49-F238E27FC236}">
                <a16:creationId xmlns:a16="http://schemas.microsoft.com/office/drawing/2014/main" id="{B1FF307E-882A-204E-8371-C5B671C94F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7" name="任意多边形: 形状 8">
            <a:extLst>
              <a:ext uri="{FF2B5EF4-FFF2-40B4-BE49-F238E27FC236}">
                <a16:creationId xmlns:a16="http://schemas.microsoft.com/office/drawing/2014/main" id="{CD9F0C46-2A13-7B45-81EB-EFB03DDF0203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DBBE2AB-3342-1A43-B2D9-3B6F8B655CDE}"/>
              </a:ext>
            </a:extLst>
          </p:cNvPr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6">
            <a:extLst>
              <a:ext uri="{FF2B5EF4-FFF2-40B4-BE49-F238E27FC236}">
                <a16:creationId xmlns:a16="http://schemas.microsoft.com/office/drawing/2014/main" id="{238E4E78-41CE-BF47-A793-D77629CA3E76}"/>
              </a:ext>
            </a:extLst>
          </p:cNvPr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EF31D326-2891-3944-8D5B-E4558A6F1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274642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D2F9D-10B2-074B-8179-66513359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FD4FF-6442-7D42-B1EE-9A10919F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457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3275C-4BF5-474C-80F4-71D90D9D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C7054-56E6-B54D-86C2-B62A7024A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159AA6-2DAB-3D4B-968C-0C220983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0620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E1A48-F79F-564A-B2C8-EB0F930E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51C87-D0E9-8B44-8CAB-1AE71AC39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EDA7B3-E5BE-FC4D-B7BF-2B58A0493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D6C4BB-9DB3-5143-8B4A-DBAE48BA7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E585AB-BE90-9748-958F-7AFFC1666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0034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073C-34CE-AC4E-ABB7-C7FC12F3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38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8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79DE3-176F-7442-91F0-E6732C33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DB349-89E5-AF43-A214-0FF14DB1A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0DD20-A8C2-9849-809E-627CE58CD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1167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92B43-D872-114B-9A28-B0084886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339AFF-5EFD-7944-A43D-2353E0990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4B25B-91B6-DC42-9D31-70F2E52E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080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22525-0C80-9541-BB3B-BC93FC85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C1780-5833-6242-ABA7-FD54F283E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9354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1D9FF4-CA80-5F4D-AD5D-F4CDA27A7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23BF3-514A-1149-85D7-971F2301A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37626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2C13E-B573-714B-95DA-FE1C7233B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9F250F-66A4-CB44-B444-3B095FB2B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F82AD-DCFE-7E4E-BC3B-B8961D0D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6CDDD-056A-1A4C-95F9-15BE2F0C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CE82C-2DD0-3646-86EF-1408634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140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E2E0D-F100-0B4D-BA37-588E52D6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A4034-A796-F141-8E93-7D05FA74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E16C0-D6BE-0D44-807B-EE5C78EB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FBDA1-4D93-7443-974E-B17BB720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5421B-EACC-AE4F-B121-1D692C9C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78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0E980-962D-3F44-B0EA-A409EF1D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65C97-A96A-6A4D-927E-F838B2F0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C3D4C-C0E9-CC4A-8470-334D0F88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69112-64F2-DB41-9DE9-D0C488E2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072F-377D-184E-8A96-A3A16B3B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287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1FDEA-62E9-A94A-B877-2CEE48D6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BAE09-663E-5246-B2E4-5FB1D3203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204E9-1F8D-1441-9E4C-06E8C04E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DC6EB-2F6E-0244-93A2-A837744C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C55E37-181B-A148-966C-4DAF9A1A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CD124-A548-0943-8084-CC531D00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323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78BAB-2899-214C-BD61-A44AF5D1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53B725-02FC-B943-BB4C-36416CD16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85D86A-09D3-C44C-B9F4-6E588BD2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30A9B-0EB2-7D46-9DBE-21F3FC022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191EEA-8572-9B4E-9BBC-22A9CFF17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4ECD55-32DF-4F4E-87AB-7EA31985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0257D9-AB89-CD48-8EAB-65F0C1A2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92495F-1C7B-FC49-9072-1A1CE7A0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789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79860-597F-4B4F-883A-07CEB021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BCFC3-D3A4-C04F-BCEF-DEC58AC2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8B824B-4892-E447-B7D3-02DD4BE5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7D6A84-B6F8-E146-9356-7F8CA2E5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493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B2F9ED-98A6-1F40-B60C-87E35353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693E35-5555-584E-A717-28E84DBB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BD873-0F17-9343-9583-D51ABBFA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651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F2912-F3DA-C647-9CA0-A2998256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8FE21-107F-0A46-9DCC-01F8EFC1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677B0A-3D49-6F4A-A0BD-178A30EA5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8C4D0-E7BC-7346-A225-616065D0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55970-7EEC-9F4D-9441-ACCDA32E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A71E7-E4C1-0345-916A-B57A481A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74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64561-286B-E149-AE7F-1FF412E9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3A84CE-2FA0-6E48-A6C9-C447366A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A75F7-3CD5-0848-9A3B-8CD19328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7D8C3B-237F-1C49-99C1-735A2D85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2BEC2-2425-2742-8386-3ADBB06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96E39-1419-7E45-BD69-DE0A3C7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4809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AF69E-AF88-B64D-ABDD-04DB5D3E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59B29-31C7-A143-8657-8AE1CB8EF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5996D-ACFA-8F4D-B912-DF75E3CC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2A62C-C6DE-D04B-8735-FED3190F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D29B5-61B5-B74D-BE03-88925EFB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0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0B4B1E-E39D-DD4A-B7F7-1B2FF26C7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80FF54-B8C4-224E-8541-7902A0031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664AE-D3DB-2A40-ACE1-DBC1E97A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85D98-2BB9-784B-8D6D-76BBD0EA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E00FF-4311-1C4D-A115-27DB4E71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8700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 userDrawn="1"/>
        </p:nvCxnSpPr>
        <p:spPr>
          <a:xfrm flipV="1">
            <a:off x="2784475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 flipV="1">
            <a:off x="2861310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2880995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0800000" flipH="1" flipV="1">
            <a:off x="9404350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 rot="10800000" flipH="1" flipV="1">
            <a:off x="9327515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/>
        </p:nvCxnSpPr>
        <p:spPr>
          <a:xfrm rot="5400000" flipH="1">
            <a:off x="9193530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126" y="-5114"/>
            <a:ext cx="12191748" cy="3616817"/>
          </a:xfrm>
        </p:spPr>
      </p:sp>
      <p:sp>
        <p:nvSpPr>
          <p:cNvPr id="40" name="任意多边形: 形状 39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  <a:effectLst>
            <a:outerShdw blurRad="190500" dist="381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 userDrawn="1"/>
        </p:nvSpPr>
        <p:spPr>
          <a:xfrm>
            <a:off x="-170180" y="-10795"/>
            <a:ext cx="12532360" cy="384111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FilmGrain grainSize="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6" t="-64169" r="586" b="-25181"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19867" y="3935404"/>
            <a:ext cx="6752267" cy="652810"/>
          </a:xfrm>
        </p:spPr>
        <p:txBody>
          <a:bodyPr lIns="0" tIns="0" rIns="0" bIns="0"/>
          <a:lstStyle>
            <a:lvl1pPr>
              <a:defRPr b="1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b="1" dirty="0"/>
              <a:t>青岛理工大学答辩答辩模板</a:t>
            </a:r>
            <a:endParaRPr kumimoji="0" lang="zh-CN" altLang="en-US" sz="8800" b="1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7" name="弧形 36"/>
          <p:cNvSpPr/>
          <p:nvPr userDrawn="1"/>
        </p:nvSpPr>
        <p:spPr>
          <a:xfrm>
            <a:off x="-912640" y="2648627"/>
            <a:ext cx="14352607" cy="5450476"/>
          </a:xfrm>
          <a:prstGeom prst="arc">
            <a:avLst>
              <a:gd name="adj1" fmla="val 11562219"/>
              <a:gd name="adj2" fmla="val 20729169"/>
            </a:avLst>
          </a:prstGeom>
          <a:ln w="53975">
            <a:solidFill>
              <a:srgbClr val="005D9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4657177"/>
            <a:ext cx="11160126" cy="337185"/>
          </a:xfrm>
          <a:prstGeom prst="rect">
            <a:avLst/>
          </a:prstGeom>
        </p:spPr>
        <p:txBody>
          <a:bodyPr vert="horz" wrap="square" lIns="0" tIns="45720" rIns="91440" bIns="45720" anchor="ctr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200">
                <a:solidFill>
                  <a:srgbClr val="595959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Qingdao University of Technology PowerPoint Template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占位符 52"/>
          <p:cNvSpPr>
            <a:spLocks noGrp="1"/>
          </p:cNvSpPr>
          <p:nvPr>
            <p:ph type="body" sz="quarter" idx="13" hasCustomPrompt="1"/>
          </p:nvPr>
        </p:nvSpPr>
        <p:spPr>
          <a:xfrm>
            <a:off x="3979414" y="5821985"/>
            <a:ext cx="1978489" cy="304165"/>
          </a:xfrm>
          <a:prstGeom prst="rect">
            <a:avLst/>
          </a:prstGeom>
        </p:spPr>
        <p:txBody>
          <a:bodyPr vert="horz" wrap="square" lIns="0" tIns="0" rIns="0" bIns="0" anchor="b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汇报人：青小理</a:t>
            </a:r>
          </a:p>
        </p:txBody>
      </p:sp>
      <p:sp>
        <p:nvSpPr>
          <p:cNvPr id="44" name="文本占位符 1"/>
          <p:cNvSpPr>
            <a:spLocks noGrp="1"/>
          </p:cNvSpPr>
          <p:nvPr>
            <p:ph type="body" sz="quarter" idx="15" hasCustomPrompt="1"/>
          </p:nvPr>
        </p:nvSpPr>
        <p:spPr>
          <a:xfrm>
            <a:off x="6756211" y="5838317"/>
            <a:ext cx="1849890" cy="287836"/>
          </a:xfrm>
          <a:prstGeom prst="rect">
            <a:avLst/>
          </a:prstGeom>
        </p:spPr>
        <p:txBody>
          <a:bodyPr vert="horz" wrap="square" lIns="0" tIns="0" rIns="0" bIns="0" anchor="b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指导老师：青老师</a:t>
            </a:r>
          </a:p>
        </p:txBody>
      </p:sp>
      <p:sp>
        <p:nvSpPr>
          <p:cNvPr id="17" name="任意多边形: 形状 41"/>
          <p:cNvSpPr/>
          <p:nvPr userDrawn="1"/>
        </p:nvSpPr>
        <p:spPr>
          <a:xfrm>
            <a:off x="-170180" y="-56515"/>
            <a:ext cx="12532360" cy="390842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rgbClr val="005D96">
              <a:alpha val="69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0196830" y="-13589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9" name="图片 18" descr="青岛理工大学校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3835" y="1692910"/>
            <a:ext cx="1783715" cy="178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5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55445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2D3ABB-1285-294F-A20A-F30083EB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A8907-74D6-0D45-95A8-836E4EC8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7F7AE-BD20-0A4F-80C4-18B0EDB6D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CF517-7373-6349-A426-5E433EDE14F4}" type="datetimeFigureOut">
              <a:rPr kumimoji="1" lang="zh-CN" altLang="en-US" smtClean="0"/>
              <a:t>2023/5/31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4DFE5-4086-414D-857D-C32B7481E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6FCBA4-62E5-7A40-8979-12F1BF0DD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87543E-91E5-5145-A581-4D7204F32D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5">
            <a:extLst>
              <a:ext uri="{FF2B5EF4-FFF2-40B4-BE49-F238E27FC236}">
                <a16:creationId xmlns:a16="http://schemas.microsoft.com/office/drawing/2014/main" id="{86770886-93F4-434C-9FE2-AEFDCF90D23E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-3829050" y="-421622"/>
            <a:ext cx="7726680" cy="7726680"/>
          </a:xfrm>
          <a:prstGeom prst="rect">
            <a:avLst/>
          </a:prstGeom>
        </p:spPr>
      </p:pic>
      <p:pic>
        <p:nvPicPr>
          <p:cNvPr id="9" name="图片 8" descr="5">
            <a:extLst>
              <a:ext uri="{FF2B5EF4-FFF2-40B4-BE49-F238E27FC236}">
                <a16:creationId xmlns:a16="http://schemas.microsoft.com/office/drawing/2014/main" id="{33BEC999-C1B9-3948-9008-02B970DB7EAB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8328660" y="-434340"/>
            <a:ext cx="7726680" cy="7726680"/>
          </a:xfrm>
          <a:prstGeom prst="rect">
            <a:avLst/>
          </a:prstGeom>
        </p:spPr>
      </p:pic>
      <p:sp>
        <p:nvSpPr>
          <p:cNvPr id="10" name="任意多边形: 形状 8">
            <a:extLst>
              <a:ext uri="{FF2B5EF4-FFF2-40B4-BE49-F238E27FC236}">
                <a16:creationId xmlns:a16="http://schemas.microsoft.com/office/drawing/2014/main" id="{CF7A9872-9A2D-0544-B95E-53F0A0452969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7">
            <a:extLst>
              <a:ext uri="{FF2B5EF4-FFF2-40B4-BE49-F238E27FC236}">
                <a16:creationId xmlns:a16="http://schemas.microsoft.com/office/drawing/2014/main" id="{7990B218-ED19-EA44-9E8D-A10600CCD7A7}"/>
              </a:ext>
            </a:extLst>
          </p:cNvPr>
          <p:cNvSpPr/>
          <p:nvPr userDrawn="1"/>
        </p:nvSpPr>
        <p:spPr>
          <a:xfrm rot="21413345">
            <a:off x="-51285" y="5815216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6">
            <a:extLst>
              <a:ext uri="{FF2B5EF4-FFF2-40B4-BE49-F238E27FC236}">
                <a16:creationId xmlns:a16="http://schemas.microsoft.com/office/drawing/2014/main" id="{AF003127-AEDD-8E4C-9F09-DA9AF5FD300F}"/>
              </a:ext>
            </a:extLst>
          </p:cNvPr>
          <p:cNvSpPr/>
          <p:nvPr userDrawn="1"/>
        </p:nvSpPr>
        <p:spPr>
          <a:xfrm rot="21413345">
            <a:off x="-9274" y="5823247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日期占位符 9">
            <a:extLst>
              <a:ext uri="{FF2B5EF4-FFF2-40B4-BE49-F238E27FC236}">
                <a16:creationId xmlns:a16="http://schemas.microsoft.com/office/drawing/2014/main" id="{25D4FA56-C140-9844-933D-B552570A8775}"/>
              </a:ext>
            </a:extLst>
          </p:cNvPr>
          <p:cNvSpPr txBox="1">
            <a:spLocks/>
          </p:cNvSpPr>
          <p:nvPr userDrawn="1"/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百折不挠</a:t>
            </a:r>
            <a:r>
              <a:rPr lang="en-US" altLang="zh-CN"/>
              <a:t> </a:t>
            </a:r>
            <a:r>
              <a:rPr lang="zh-CN" altLang="en-US"/>
              <a:t>刚毅厚重</a:t>
            </a:r>
            <a:r>
              <a:rPr lang="en-US" altLang="zh-CN"/>
              <a:t> </a:t>
            </a:r>
            <a:r>
              <a:rPr lang="zh-CN" altLang="en-US"/>
              <a:t>勇承重载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BF4C09-9862-DF42-BD08-3AFBEDF9DF09}"/>
              </a:ext>
            </a:extLst>
          </p:cNvPr>
          <p:cNvSpPr/>
          <p:nvPr userDrawn="1"/>
        </p:nvSpPr>
        <p:spPr>
          <a:xfrm>
            <a:off x="762000" y="0"/>
            <a:ext cx="333926" cy="944563"/>
          </a:xfrm>
          <a:prstGeom prst="rect">
            <a:avLst/>
          </a:prstGeom>
          <a:solidFill>
            <a:srgbClr val="005D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15" name="图片 14" descr="青岛理工大学校徽">
            <a:extLst>
              <a:ext uri="{FF2B5EF4-FFF2-40B4-BE49-F238E27FC236}">
                <a16:creationId xmlns:a16="http://schemas.microsoft.com/office/drawing/2014/main" id="{41EA12D9-A451-3B45-A579-CA2846C1C316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973435" y="221615"/>
            <a:ext cx="723265" cy="72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  <p:sldLayoutId id="2147483661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6.png"/><Relationship Id="rId1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7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719705" y="3857271"/>
            <a:ext cx="7350125" cy="65278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算法设计与分析</a:t>
            </a:r>
            <a:endParaRPr lang="zh-CN" altLang="en-US" dirty="0">
              <a:solidFill>
                <a:srgbClr val="005D96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 flipV="1">
            <a:off x="2784475" y="5848350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2861310" y="589534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6200000">
            <a:off x="2880995" y="5981065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3161491" y="5800840"/>
            <a:ext cx="5933868" cy="367111"/>
            <a:chOff x="3517041" y="5800840"/>
            <a:chExt cx="5082917" cy="367111"/>
          </a:xfrm>
        </p:grpSpPr>
        <p:sp>
          <p:nvSpPr>
            <p:cNvPr id="36" name="文本框 35"/>
            <p:cNvSpPr txBox="1"/>
            <p:nvPr/>
          </p:nvSpPr>
          <p:spPr>
            <a:xfrm>
              <a:off x="3826448" y="5856877"/>
              <a:ext cx="2349253" cy="2834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 algn="r">
                <a:lnSpc>
                  <a:spcPct val="110000"/>
                </a:lnSpc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开课专业班级：软件</a:t>
              </a:r>
              <a:r>
                <a:rPr lang="en-US" altLang="zh-CN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211-3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5D96"/>
                  </a:solidFill>
                  <a:effectLst/>
                  <a:uLnTx/>
                  <a:uFillTx/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 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30089" y="5810965"/>
              <a:ext cx="1769869" cy="3148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开课教师：</a:t>
              </a:r>
              <a:r>
                <a:rPr lang="zh-CN" altLang="en-US" sz="2000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赵浩然</a:t>
              </a:r>
            </a:p>
          </p:txBody>
        </p:sp>
        <p:sp>
          <p:nvSpPr>
            <p:cNvPr id="39" name="graduate_57239"/>
            <p:cNvSpPr>
              <a:spLocks noChangeAspect="1"/>
            </p:cNvSpPr>
            <p:nvPr/>
          </p:nvSpPr>
          <p:spPr bwMode="auto">
            <a:xfrm>
              <a:off x="3517041" y="5800840"/>
              <a:ext cx="247420" cy="360000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45" name="professor_53644"/>
            <p:cNvSpPr>
              <a:spLocks noChangeAspect="1"/>
            </p:cNvSpPr>
            <p:nvPr/>
          </p:nvSpPr>
          <p:spPr bwMode="auto">
            <a:xfrm>
              <a:off x="6601606" y="5807951"/>
              <a:ext cx="254137" cy="360000"/>
            </a:xfrm>
            <a:custGeom>
              <a:avLst/>
              <a:gdLst>
                <a:gd name="connsiteX0" fmla="*/ 274879 w 424808"/>
                <a:gd name="connsiteY0" fmla="*/ 445205 h 601764"/>
                <a:gd name="connsiteX1" fmla="*/ 274879 w 424808"/>
                <a:gd name="connsiteY1" fmla="*/ 470531 h 601764"/>
                <a:gd name="connsiteX2" fmla="*/ 332512 w 424808"/>
                <a:gd name="connsiteY2" fmla="*/ 470531 h 601764"/>
                <a:gd name="connsiteX3" fmla="*/ 332512 w 424808"/>
                <a:gd name="connsiteY3" fmla="*/ 445205 h 601764"/>
                <a:gd name="connsiteX4" fmla="*/ 107051 w 424808"/>
                <a:gd name="connsiteY4" fmla="*/ 280818 h 601764"/>
                <a:gd name="connsiteX5" fmla="*/ 183588 w 424808"/>
                <a:gd name="connsiteY5" fmla="*/ 420340 h 601764"/>
                <a:gd name="connsiteX6" fmla="*/ 191426 w 424808"/>
                <a:gd name="connsiteY6" fmla="*/ 393633 h 601764"/>
                <a:gd name="connsiteX7" fmla="*/ 179899 w 424808"/>
                <a:gd name="connsiteY7" fmla="*/ 369228 h 601764"/>
                <a:gd name="connsiteX8" fmla="*/ 212174 w 424808"/>
                <a:gd name="connsiteY8" fmla="*/ 336074 h 601764"/>
                <a:gd name="connsiteX9" fmla="*/ 244910 w 424808"/>
                <a:gd name="connsiteY9" fmla="*/ 369228 h 601764"/>
                <a:gd name="connsiteX10" fmla="*/ 233383 w 424808"/>
                <a:gd name="connsiteY10" fmla="*/ 393633 h 601764"/>
                <a:gd name="connsiteX11" fmla="*/ 240760 w 424808"/>
                <a:gd name="connsiteY11" fmla="*/ 420340 h 601764"/>
                <a:gd name="connsiteX12" fmla="*/ 317758 w 424808"/>
                <a:gd name="connsiteY12" fmla="*/ 280818 h 601764"/>
                <a:gd name="connsiteX13" fmla="*/ 424726 w 424808"/>
                <a:gd name="connsiteY13" fmla="*/ 513815 h 601764"/>
                <a:gd name="connsiteX14" fmla="*/ 388763 w 424808"/>
                <a:gd name="connsiteY14" fmla="*/ 559861 h 601764"/>
                <a:gd name="connsiteX15" fmla="*/ 347267 w 424808"/>
                <a:gd name="connsiteY15" fmla="*/ 561703 h 601764"/>
                <a:gd name="connsiteX16" fmla="*/ 213557 w 424808"/>
                <a:gd name="connsiteY16" fmla="*/ 601764 h 601764"/>
                <a:gd name="connsiteX17" fmla="*/ 78003 w 424808"/>
                <a:gd name="connsiteY17" fmla="*/ 561703 h 601764"/>
                <a:gd name="connsiteX18" fmla="*/ 36507 w 424808"/>
                <a:gd name="connsiteY18" fmla="*/ 559861 h 601764"/>
                <a:gd name="connsiteX19" fmla="*/ 83 w 424808"/>
                <a:gd name="connsiteY19" fmla="*/ 513815 h 601764"/>
                <a:gd name="connsiteX20" fmla="*/ 107051 w 424808"/>
                <a:gd name="connsiteY20" fmla="*/ 280818 h 601764"/>
                <a:gd name="connsiteX21" fmla="*/ 184977 w 424808"/>
                <a:gd name="connsiteY21" fmla="*/ 152406 h 601764"/>
                <a:gd name="connsiteX22" fmla="*/ 153631 w 424808"/>
                <a:gd name="connsiteY22" fmla="*/ 166680 h 601764"/>
                <a:gd name="connsiteX23" fmla="*/ 153631 w 424808"/>
                <a:gd name="connsiteY23" fmla="*/ 167601 h 601764"/>
                <a:gd name="connsiteX24" fmla="*/ 170226 w 424808"/>
                <a:gd name="connsiteY24" fmla="*/ 184637 h 601764"/>
                <a:gd name="connsiteX25" fmla="*/ 178062 w 424808"/>
                <a:gd name="connsiteY25" fmla="*/ 184637 h 601764"/>
                <a:gd name="connsiteX26" fmla="*/ 195118 w 424808"/>
                <a:gd name="connsiteY26" fmla="*/ 167601 h 601764"/>
                <a:gd name="connsiteX27" fmla="*/ 184977 w 424808"/>
                <a:gd name="connsiteY27" fmla="*/ 152406 h 601764"/>
                <a:gd name="connsiteX28" fmla="*/ 247208 w 424808"/>
                <a:gd name="connsiteY28" fmla="*/ 150564 h 601764"/>
                <a:gd name="connsiteX29" fmla="*/ 230152 w 424808"/>
                <a:gd name="connsiteY29" fmla="*/ 167601 h 601764"/>
                <a:gd name="connsiteX30" fmla="*/ 247208 w 424808"/>
                <a:gd name="connsiteY30" fmla="*/ 184637 h 601764"/>
                <a:gd name="connsiteX31" fmla="*/ 254583 w 424808"/>
                <a:gd name="connsiteY31" fmla="*/ 184637 h 601764"/>
                <a:gd name="connsiteX32" fmla="*/ 271639 w 424808"/>
                <a:gd name="connsiteY32" fmla="*/ 167601 h 601764"/>
                <a:gd name="connsiteX33" fmla="*/ 254583 w 424808"/>
                <a:gd name="connsiteY33" fmla="*/ 150564 h 601764"/>
                <a:gd name="connsiteX34" fmla="*/ 236144 w 424808"/>
                <a:gd name="connsiteY34" fmla="*/ 107283 h 601764"/>
                <a:gd name="connsiteX35" fmla="*/ 196040 w 424808"/>
                <a:gd name="connsiteY35" fmla="*/ 145039 h 601764"/>
                <a:gd name="connsiteX36" fmla="*/ 201572 w 424808"/>
                <a:gd name="connsiteY36" fmla="*/ 150564 h 601764"/>
                <a:gd name="connsiteX37" fmla="*/ 223237 w 424808"/>
                <a:gd name="connsiteY37" fmla="*/ 150564 h 601764"/>
                <a:gd name="connsiteX38" fmla="*/ 247208 w 424808"/>
                <a:gd name="connsiteY38" fmla="*/ 138593 h 601764"/>
                <a:gd name="connsiteX39" fmla="*/ 254583 w 424808"/>
                <a:gd name="connsiteY39" fmla="*/ 138593 h 601764"/>
                <a:gd name="connsiteX40" fmla="*/ 284085 w 424808"/>
                <a:gd name="connsiteY40" fmla="*/ 167601 h 601764"/>
                <a:gd name="connsiteX41" fmla="*/ 254583 w 424808"/>
                <a:gd name="connsiteY41" fmla="*/ 197069 h 601764"/>
                <a:gd name="connsiteX42" fmla="*/ 247208 w 424808"/>
                <a:gd name="connsiteY42" fmla="*/ 197069 h 601764"/>
                <a:gd name="connsiteX43" fmla="*/ 217706 w 424808"/>
                <a:gd name="connsiteY43" fmla="*/ 167601 h 601764"/>
                <a:gd name="connsiteX44" fmla="*/ 218167 w 424808"/>
                <a:gd name="connsiteY44" fmla="*/ 162996 h 601764"/>
                <a:gd name="connsiteX45" fmla="*/ 206642 w 424808"/>
                <a:gd name="connsiteY45" fmla="*/ 162996 h 601764"/>
                <a:gd name="connsiteX46" fmla="*/ 207103 w 424808"/>
                <a:gd name="connsiteY46" fmla="*/ 167601 h 601764"/>
                <a:gd name="connsiteX47" fmla="*/ 178062 w 424808"/>
                <a:gd name="connsiteY47" fmla="*/ 197069 h 601764"/>
                <a:gd name="connsiteX48" fmla="*/ 170226 w 424808"/>
                <a:gd name="connsiteY48" fmla="*/ 197069 h 601764"/>
                <a:gd name="connsiteX49" fmla="*/ 141185 w 424808"/>
                <a:gd name="connsiteY49" fmla="*/ 170363 h 601764"/>
                <a:gd name="connsiteX50" fmla="*/ 119519 w 424808"/>
                <a:gd name="connsiteY50" fmla="*/ 173586 h 601764"/>
                <a:gd name="connsiteX51" fmla="*/ 212635 w 424808"/>
                <a:gd name="connsiteY51" fmla="*/ 280869 h 601764"/>
                <a:gd name="connsiteX52" fmla="*/ 307594 w 424808"/>
                <a:gd name="connsiteY52" fmla="*/ 155629 h 601764"/>
                <a:gd name="connsiteX53" fmla="*/ 236144 w 424808"/>
                <a:gd name="connsiteY53" fmla="*/ 107283 h 601764"/>
                <a:gd name="connsiteX54" fmla="*/ 212635 w 424808"/>
                <a:gd name="connsiteY54" fmla="*/ 0 h 601764"/>
                <a:gd name="connsiteX55" fmla="*/ 340323 w 424808"/>
                <a:gd name="connsiteY55" fmla="*/ 127082 h 601764"/>
                <a:gd name="connsiteX56" fmla="*/ 365215 w 424808"/>
                <a:gd name="connsiteY56" fmla="*/ 175889 h 601764"/>
                <a:gd name="connsiteX57" fmla="*/ 326955 w 424808"/>
                <a:gd name="connsiteY57" fmla="*/ 224695 h 601764"/>
                <a:gd name="connsiteX58" fmla="*/ 212635 w 424808"/>
                <a:gd name="connsiteY58" fmla="*/ 317244 h 601764"/>
                <a:gd name="connsiteX59" fmla="*/ 98315 w 424808"/>
                <a:gd name="connsiteY59" fmla="*/ 224695 h 601764"/>
                <a:gd name="connsiteX60" fmla="*/ 59594 w 424808"/>
                <a:gd name="connsiteY60" fmla="*/ 175889 h 601764"/>
                <a:gd name="connsiteX61" fmla="*/ 84947 w 424808"/>
                <a:gd name="connsiteY61" fmla="*/ 127082 h 601764"/>
                <a:gd name="connsiteX62" fmla="*/ 212635 w 424808"/>
                <a:gd name="connsiteY62" fmla="*/ 0 h 60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24808" h="601764">
                  <a:moveTo>
                    <a:pt x="274879" y="445205"/>
                  </a:moveTo>
                  <a:lnTo>
                    <a:pt x="274879" y="470531"/>
                  </a:lnTo>
                  <a:lnTo>
                    <a:pt x="332512" y="470531"/>
                  </a:lnTo>
                  <a:lnTo>
                    <a:pt x="332512" y="445205"/>
                  </a:lnTo>
                  <a:close/>
                  <a:moveTo>
                    <a:pt x="107051" y="280818"/>
                  </a:moveTo>
                  <a:lnTo>
                    <a:pt x="183588" y="420340"/>
                  </a:lnTo>
                  <a:lnTo>
                    <a:pt x="191426" y="393633"/>
                  </a:lnTo>
                  <a:cubicBezTo>
                    <a:pt x="184510" y="387647"/>
                    <a:pt x="179899" y="378898"/>
                    <a:pt x="179899" y="369228"/>
                  </a:cubicBezTo>
                  <a:cubicBezTo>
                    <a:pt x="179899" y="350809"/>
                    <a:pt x="193731" y="336074"/>
                    <a:pt x="212174" y="336074"/>
                  </a:cubicBezTo>
                  <a:cubicBezTo>
                    <a:pt x="230156" y="336074"/>
                    <a:pt x="244910" y="350809"/>
                    <a:pt x="244910" y="369228"/>
                  </a:cubicBezTo>
                  <a:cubicBezTo>
                    <a:pt x="244910" y="378898"/>
                    <a:pt x="240299" y="387647"/>
                    <a:pt x="233383" y="393633"/>
                  </a:cubicBezTo>
                  <a:lnTo>
                    <a:pt x="240760" y="420340"/>
                  </a:lnTo>
                  <a:lnTo>
                    <a:pt x="317758" y="280818"/>
                  </a:lnTo>
                  <a:cubicBezTo>
                    <a:pt x="367092" y="310288"/>
                    <a:pt x="417810" y="377977"/>
                    <a:pt x="424726" y="513815"/>
                  </a:cubicBezTo>
                  <a:cubicBezTo>
                    <a:pt x="426109" y="537759"/>
                    <a:pt x="409972" y="558480"/>
                    <a:pt x="388763" y="559861"/>
                  </a:cubicBezTo>
                  <a:cubicBezTo>
                    <a:pt x="387840" y="559861"/>
                    <a:pt x="347267" y="561703"/>
                    <a:pt x="347267" y="561703"/>
                  </a:cubicBezTo>
                  <a:cubicBezTo>
                    <a:pt x="322830" y="588410"/>
                    <a:pt x="274879" y="601764"/>
                    <a:pt x="213557" y="601764"/>
                  </a:cubicBezTo>
                  <a:cubicBezTo>
                    <a:pt x="155463" y="601764"/>
                    <a:pt x="103362" y="590713"/>
                    <a:pt x="78003" y="561703"/>
                  </a:cubicBezTo>
                  <a:cubicBezTo>
                    <a:pt x="78003" y="561703"/>
                    <a:pt x="36969" y="559861"/>
                    <a:pt x="36507" y="559861"/>
                  </a:cubicBezTo>
                  <a:cubicBezTo>
                    <a:pt x="14837" y="558480"/>
                    <a:pt x="-1300" y="537759"/>
                    <a:pt x="83" y="513815"/>
                  </a:cubicBezTo>
                  <a:cubicBezTo>
                    <a:pt x="6999" y="377056"/>
                    <a:pt x="57717" y="309827"/>
                    <a:pt x="107051" y="280818"/>
                  </a:cubicBezTo>
                  <a:close/>
                  <a:moveTo>
                    <a:pt x="184977" y="152406"/>
                  </a:moveTo>
                  <a:cubicBezTo>
                    <a:pt x="175758" y="157931"/>
                    <a:pt x="165155" y="162996"/>
                    <a:pt x="153631" y="166680"/>
                  </a:cubicBezTo>
                  <a:cubicBezTo>
                    <a:pt x="153631" y="167140"/>
                    <a:pt x="153631" y="167601"/>
                    <a:pt x="153631" y="167601"/>
                  </a:cubicBezTo>
                  <a:cubicBezTo>
                    <a:pt x="153631" y="176809"/>
                    <a:pt x="161007" y="184637"/>
                    <a:pt x="170226" y="184637"/>
                  </a:cubicBezTo>
                  <a:lnTo>
                    <a:pt x="178062" y="184637"/>
                  </a:lnTo>
                  <a:cubicBezTo>
                    <a:pt x="187282" y="184637"/>
                    <a:pt x="195118" y="176809"/>
                    <a:pt x="195118" y="167601"/>
                  </a:cubicBezTo>
                  <a:cubicBezTo>
                    <a:pt x="195118" y="160694"/>
                    <a:pt x="190969" y="155169"/>
                    <a:pt x="184977" y="152406"/>
                  </a:cubicBezTo>
                  <a:close/>
                  <a:moveTo>
                    <a:pt x="247208" y="150564"/>
                  </a:moveTo>
                  <a:cubicBezTo>
                    <a:pt x="237527" y="150564"/>
                    <a:pt x="230152" y="158392"/>
                    <a:pt x="230152" y="167601"/>
                  </a:cubicBezTo>
                  <a:cubicBezTo>
                    <a:pt x="230152" y="176809"/>
                    <a:pt x="237527" y="184637"/>
                    <a:pt x="247208" y="184637"/>
                  </a:cubicBezTo>
                  <a:lnTo>
                    <a:pt x="254583" y="184637"/>
                  </a:lnTo>
                  <a:cubicBezTo>
                    <a:pt x="263802" y="184637"/>
                    <a:pt x="271639" y="176809"/>
                    <a:pt x="271639" y="167601"/>
                  </a:cubicBezTo>
                  <a:cubicBezTo>
                    <a:pt x="271639" y="158392"/>
                    <a:pt x="263802" y="150564"/>
                    <a:pt x="254583" y="150564"/>
                  </a:cubicBezTo>
                  <a:close/>
                  <a:moveTo>
                    <a:pt x="236144" y="107283"/>
                  </a:moveTo>
                  <a:cubicBezTo>
                    <a:pt x="232457" y="111887"/>
                    <a:pt x="218628" y="129384"/>
                    <a:pt x="196040" y="145039"/>
                  </a:cubicBezTo>
                  <a:cubicBezTo>
                    <a:pt x="198345" y="146420"/>
                    <a:pt x="200189" y="148723"/>
                    <a:pt x="201572" y="150564"/>
                  </a:cubicBezTo>
                  <a:lnTo>
                    <a:pt x="223237" y="150564"/>
                  </a:lnTo>
                  <a:cubicBezTo>
                    <a:pt x="228769" y="143197"/>
                    <a:pt x="237066" y="138593"/>
                    <a:pt x="247208" y="138593"/>
                  </a:cubicBezTo>
                  <a:lnTo>
                    <a:pt x="254583" y="138593"/>
                  </a:lnTo>
                  <a:cubicBezTo>
                    <a:pt x="270717" y="138593"/>
                    <a:pt x="284085" y="151485"/>
                    <a:pt x="284085" y="167601"/>
                  </a:cubicBezTo>
                  <a:cubicBezTo>
                    <a:pt x="284085" y="183716"/>
                    <a:pt x="270717" y="197069"/>
                    <a:pt x="254583" y="197069"/>
                  </a:cubicBezTo>
                  <a:lnTo>
                    <a:pt x="247208" y="197069"/>
                  </a:lnTo>
                  <a:cubicBezTo>
                    <a:pt x="231074" y="197069"/>
                    <a:pt x="217706" y="183716"/>
                    <a:pt x="217706" y="167601"/>
                  </a:cubicBezTo>
                  <a:cubicBezTo>
                    <a:pt x="217706" y="166219"/>
                    <a:pt x="218167" y="164378"/>
                    <a:pt x="218167" y="162996"/>
                  </a:cubicBezTo>
                  <a:lnTo>
                    <a:pt x="206642" y="162996"/>
                  </a:lnTo>
                  <a:cubicBezTo>
                    <a:pt x="207103" y="164378"/>
                    <a:pt x="207103" y="166219"/>
                    <a:pt x="207103" y="167601"/>
                  </a:cubicBezTo>
                  <a:cubicBezTo>
                    <a:pt x="207103" y="183716"/>
                    <a:pt x="194196" y="197069"/>
                    <a:pt x="178062" y="197069"/>
                  </a:cubicBezTo>
                  <a:lnTo>
                    <a:pt x="170226" y="197069"/>
                  </a:lnTo>
                  <a:cubicBezTo>
                    <a:pt x="155014" y="197069"/>
                    <a:pt x="142568" y="185097"/>
                    <a:pt x="141185" y="170363"/>
                  </a:cubicBezTo>
                  <a:cubicBezTo>
                    <a:pt x="134270" y="171745"/>
                    <a:pt x="126895" y="173126"/>
                    <a:pt x="119519" y="173586"/>
                  </a:cubicBezTo>
                  <a:cubicBezTo>
                    <a:pt x="129200" y="235746"/>
                    <a:pt x="163311" y="280869"/>
                    <a:pt x="212635" y="280869"/>
                  </a:cubicBezTo>
                  <a:cubicBezTo>
                    <a:pt x="264724" y="280869"/>
                    <a:pt x="302985" y="228839"/>
                    <a:pt x="307594" y="155629"/>
                  </a:cubicBezTo>
                  <a:cubicBezTo>
                    <a:pt x="260576" y="144579"/>
                    <a:pt x="242598" y="119715"/>
                    <a:pt x="236144" y="107283"/>
                  </a:cubicBezTo>
                  <a:close/>
                  <a:moveTo>
                    <a:pt x="212635" y="0"/>
                  </a:moveTo>
                  <a:cubicBezTo>
                    <a:pt x="313126" y="0"/>
                    <a:pt x="333870" y="55713"/>
                    <a:pt x="340323" y="127082"/>
                  </a:cubicBezTo>
                  <a:cubicBezTo>
                    <a:pt x="359684" y="130305"/>
                    <a:pt x="370286" y="145499"/>
                    <a:pt x="365215" y="175889"/>
                  </a:cubicBezTo>
                  <a:cubicBezTo>
                    <a:pt x="361067" y="201213"/>
                    <a:pt x="349081" y="222854"/>
                    <a:pt x="326955" y="224695"/>
                  </a:cubicBezTo>
                  <a:cubicBezTo>
                    <a:pt x="305290" y="281790"/>
                    <a:pt x="262420" y="317244"/>
                    <a:pt x="212635" y="317244"/>
                  </a:cubicBezTo>
                  <a:cubicBezTo>
                    <a:pt x="160546" y="317244"/>
                    <a:pt x="119980" y="280409"/>
                    <a:pt x="98315" y="224695"/>
                  </a:cubicBezTo>
                  <a:cubicBezTo>
                    <a:pt x="76188" y="222854"/>
                    <a:pt x="64203" y="201213"/>
                    <a:pt x="59594" y="175889"/>
                  </a:cubicBezTo>
                  <a:cubicBezTo>
                    <a:pt x="54523" y="145499"/>
                    <a:pt x="65586" y="130305"/>
                    <a:pt x="84947" y="127082"/>
                  </a:cubicBezTo>
                  <a:cubicBezTo>
                    <a:pt x="91400" y="55713"/>
                    <a:pt x="111222" y="0"/>
                    <a:pt x="212635" y="0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-114300" y="45021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E574F-A14B-EE44-B58F-28595D784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8922" y="4734940"/>
            <a:ext cx="5881922" cy="337185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----</a:t>
            </a:r>
            <a:r>
              <a:rPr lang="zh-CN" altLang="en-US" b="1" dirty="0">
                <a:solidFill>
                  <a:schemeClr val="tx1"/>
                </a:solidFill>
              </a:rPr>
              <a:t> 课程编号：</a:t>
            </a:r>
            <a:r>
              <a:rPr lang="en-US" altLang="zh-CN" b="1" dirty="0">
                <a:solidFill>
                  <a:schemeClr val="tx1"/>
                </a:solidFill>
              </a:rPr>
              <a:t>BK10504150-01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83860" y="981075"/>
            <a:ext cx="1360805" cy="1334770"/>
          </a:xfrm>
          <a:prstGeom prst="ellipse">
            <a:avLst/>
          </a:prstGeom>
          <a:gradFill>
            <a:gsLst>
              <a:gs pos="0">
                <a:srgbClr val="005D96"/>
              </a:gs>
              <a:gs pos="100000">
                <a:srgbClr val="06253A"/>
              </a:gs>
            </a:gsLst>
            <a:lin ang="13500000" scaled="1"/>
          </a:gradFill>
          <a:ln>
            <a:solidFill>
              <a:srgbClr val="005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04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44526" y="2794468"/>
            <a:ext cx="6301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tx2">
                    <a:lumMod val="50000"/>
                  </a:schemeClr>
                </a:solidFill>
              </a:rPr>
              <a:t>第四章 基本的算法策略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5410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贪心算法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6871972-7126-AE40-8810-E975CFED9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873" y="1434464"/>
            <a:ext cx="7488237" cy="47148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4.1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迭代算法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4.2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蛮力法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4.3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分治算法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4.4 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贪婪算法（贪心）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4.5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动态规划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4.6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算法策略间的比较</a:t>
            </a:r>
          </a:p>
        </p:txBody>
      </p:sp>
    </p:spTree>
    <p:extLst>
      <p:ext uri="{BB962C8B-B14F-4D97-AF65-F5344CB8AC3E}">
        <p14:creationId xmlns:p14="http://schemas.microsoft.com/office/powerpoint/2010/main" val="8279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640" y="955803"/>
            <a:ext cx="10471150" cy="14382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调制饮品比赛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参赛者拥有容量为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𝟖𝟎𝟎</a:t>
            </a:r>
            <a:r>
              <a:rPr sz="2400" b="1" spc="-10" dirty="0" err="1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ml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的杯子，可任选不超过体积上限的饮料进行混合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调制饮品价格为各所使用饮料的价格之和，所得饮品价格之和最高者获胜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0203" y="267474"/>
            <a:ext cx="2044557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问题背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景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2482" y="6033515"/>
            <a:ext cx="7527290" cy="72009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2400" spc="-5">
                <a:latin typeface="PMingLiU"/>
                <a:cs typeface="PMingLiU"/>
              </a:rPr>
              <a:t>问题：如何使调制的饮品价格最高？</a:t>
            </a:r>
            <a:endParaRPr sz="2400">
              <a:latin typeface="PMingLiU"/>
              <a:cs typeface="PMingLiU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497295"/>
              </p:ext>
            </p:extLst>
          </p:nvPr>
        </p:nvGraphicFramePr>
        <p:xfrm>
          <a:off x="1425194" y="2508092"/>
          <a:ext cx="4587874" cy="3371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40" dirty="0" err="1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r>
                        <a:rPr sz="2200" spc="40" dirty="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spc="40" dirty="0" err="1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元</a:t>
                      </a:r>
                      <a:r>
                        <a:rPr sz="2200" spc="40" dirty="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 dirty="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200" spc="1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苏打水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60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30">
                          <a:latin typeface="PMingLiU"/>
                          <a:cs typeface="PMingLiU"/>
                        </a:rPr>
                        <a:t>汽水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250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橙汁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36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苹果汁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0" dirty="0" err="1">
                          <a:latin typeface="PMingLiU"/>
                          <a:cs typeface="PMingLiU"/>
                        </a:rPr>
                        <a:t>西瓜汁</a:t>
                      </a:r>
                      <a:endParaRPr sz="2200" dirty="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45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300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/>
          <a:stretch>
            <a:fillRect/>
          </a:stretch>
        </p:blipFill>
        <p:spPr>
          <a:xfrm>
            <a:off x="1453133" y="4815573"/>
            <a:ext cx="422147" cy="39471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453133" y="5393930"/>
            <a:ext cx="405765" cy="394970"/>
            <a:chOff x="1453133" y="5243321"/>
            <a:chExt cx="405765" cy="394970"/>
          </a:xfrm>
        </p:grpSpPr>
        <p:pic>
          <p:nvPicPr>
            <p:cNvPr id="8" name="object 8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02485" y="5243321"/>
              <a:ext cx="256031" cy="3947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453133" y="5338571"/>
              <a:ext cx="288797" cy="29946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431797" y="3013442"/>
            <a:ext cx="464184" cy="1710055"/>
            <a:chOff x="1431797" y="2862833"/>
            <a:chExt cx="464184" cy="1710055"/>
          </a:xfrm>
        </p:grpSpPr>
        <p:pic>
          <p:nvPicPr>
            <p:cNvPr id="11" name="object 11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521713" y="3428237"/>
              <a:ext cx="296418" cy="5890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431797" y="4058411"/>
              <a:ext cx="464058" cy="5143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544573" y="2862833"/>
              <a:ext cx="296418" cy="56159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7244333" y="2947416"/>
            <a:ext cx="2821305" cy="2536190"/>
            <a:chOff x="7244333" y="2947416"/>
            <a:chExt cx="2821305" cy="2536190"/>
          </a:xfrm>
        </p:grpSpPr>
        <p:sp>
          <p:nvSpPr>
            <p:cNvPr id="15" name="object 15"/>
            <p:cNvSpPr/>
            <p:nvPr/>
          </p:nvSpPr>
          <p:spPr>
            <a:xfrm>
              <a:off x="8002523" y="4971288"/>
              <a:ext cx="1487805" cy="339090"/>
            </a:xfrm>
            <a:custGeom>
              <a:avLst/>
              <a:gdLst/>
              <a:ahLst/>
              <a:cxnLst/>
              <a:rect l="l" t="t" r="r" b="b"/>
              <a:pathLst>
                <a:path w="1487804" h="339089">
                  <a:moveTo>
                    <a:pt x="1487424" y="0"/>
                  </a:moveTo>
                  <a:lnTo>
                    <a:pt x="0" y="0"/>
                  </a:lnTo>
                  <a:lnTo>
                    <a:pt x="0" y="265811"/>
                  </a:lnTo>
                  <a:lnTo>
                    <a:pt x="73278" y="339090"/>
                  </a:lnTo>
                  <a:lnTo>
                    <a:pt x="1414145" y="339090"/>
                  </a:lnTo>
                  <a:lnTo>
                    <a:pt x="1487424" y="265811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8E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62899" y="4632198"/>
              <a:ext cx="1567180" cy="339090"/>
            </a:xfrm>
            <a:custGeom>
              <a:avLst/>
              <a:gdLst/>
              <a:ahLst/>
              <a:cxnLst/>
              <a:rect l="l" t="t" r="r" b="b"/>
              <a:pathLst>
                <a:path w="1567179" h="339089">
                  <a:moveTo>
                    <a:pt x="1566672" y="0"/>
                  </a:moveTo>
                  <a:lnTo>
                    <a:pt x="0" y="0"/>
                  </a:lnTo>
                  <a:lnTo>
                    <a:pt x="0" y="295782"/>
                  </a:lnTo>
                  <a:lnTo>
                    <a:pt x="43306" y="339089"/>
                  </a:lnTo>
                  <a:lnTo>
                    <a:pt x="1523365" y="339089"/>
                  </a:lnTo>
                  <a:lnTo>
                    <a:pt x="1566672" y="295782"/>
                  </a:lnTo>
                  <a:lnTo>
                    <a:pt x="1566672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39277" y="4294632"/>
              <a:ext cx="1630045" cy="340360"/>
            </a:xfrm>
            <a:custGeom>
              <a:avLst/>
              <a:gdLst/>
              <a:ahLst/>
              <a:cxnLst/>
              <a:rect l="l" t="t" r="r" b="b"/>
              <a:pathLst>
                <a:path w="1630045" h="340360">
                  <a:moveTo>
                    <a:pt x="1629918" y="0"/>
                  </a:moveTo>
                  <a:lnTo>
                    <a:pt x="0" y="0"/>
                  </a:lnTo>
                  <a:lnTo>
                    <a:pt x="0" y="296418"/>
                  </a:lnTo>
                  <a:lnTo>
                    <a:pt x="43433" y="339852"/>
                  </a:lnTo>
                  <a:lnTo>
                    <a:pt x="1586483" y="339852"/>
                  </a:lnTo>
                  <a:lnTo>
                    <a:pt x="1629918" y="296418"/>
                  </a:lnTo>
                  <a:lnTo>
                    <a:pt x="1629918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87461" y="3955541"/>
              <a:ext cx="1713864" cy="337820"/>
            </a:xfrm>
            <a:custGeom>
              <a:avLst/>
              <a:gdLst/>
              <a:ahLst/>
              <a:cxnLst/>
              <a:rect l="l" t="t" r="r" b="b"/>
              <a:pathLst>
                <a:path w="1713864" h="337820">
                  <a:moveTo>
                    <a:pt x="1713738" y="0"/>
                  </a:moveTo>
                  <a:lnTo>
                    <a:pt x="0" y="0"/>
                  </a:lnTo>
                  <a:lnTo>
                    <a:pt x="0" y="270763"/>
                  </a:lnTo>
                  <a:lnTo>
                    <a:pt x="66802" y="337565"/>
                  </a:lnTo>
                  <a:lnTo>
                    <a:pt x="1646936" y="337565"/>
                  </a:lnTo>
                  <a:lnTo>
                    <a:pt x="1713738" y="270763"/>
                  </a:lnTo>
                  <a:lnTo>
                    <a:pt x="1713738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87461" y="3620262"/>
              <a:ext cx="1721485" cy="339090"/>
            </a:xfrm>
            <a:custGeom>
              <a:avLst/>
              <a:gdLst/>
              <a:ahLst/>
              <a:cxnLst/>
              <a:rect l="l" t="t" r="r" b="b"/>
              <a:pathLst>
                <a:path w="1721483" h="339089">
                  <a:moveTo>
                    <a:pt x="1721358" y="0"/>
                  </a:moveTo>
                  <a:lnTo>
                    <a:pt x="0" y="0"/>
                  </a:lnTo>
                  <a:lnTo>
                    <a:pt x="0" y="296799"/>
                  </a:lnTo>
                  <a:lnTo>
                    <a:pt x="42291" y="339089"/>
                  </a:lnTo>
                  <a:lnTo>
                    <a:pt x="1679067" y="339089"/>
                  </a:lnTo>
                  <a:lnTo>
                    <a:pt x="1721358" y="296799"/>
                  </a:lnTo>
                  <a:lnTo>
                    <a:pt x="1721358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7244333" y="2947416"/>
              <a:ext cx="2820924" cy="253593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468614" y="3372357"/>
            <a:ext cx="5422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>
                <a:solidFill>
                  <a:srgbClr val="2D4545"/>
                </a:solidFill>
                <a:latin typeface="Cambria Math"/>
                <a:cs typeface="Cambria Math"/>
              </a:rPr>
              <a:t>𝟖𝟎𝟎</a:t>
            </a:r>
            <a:r>
              <a:rPr sz="1400" b="1" spc="-10">
                <a:solidFill>
                  <a:srgbClr val="2D4545"/>
                </a:solidFill>
                <a:latin typeface="Times New Roman"/>
                <a:cs typeface="Times New Roman"/>
              </a:rPr>
              <a:t>ml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0551" y="245284"/>
            <a:ext cx="281992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问题定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义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6977" y="1498227"/>
            <a:ext cx="9630410" cy="4687570"/>
          </a:xfrm>
          <a:custGeom>
            <a:avLst/>
            <a:gdLst/>
            <a:ahLst/>
            <a:cxnLst/>
            <a:rect l="l" t="t" r="r" b="b"/>
            <a:pathLst>
              <a:path w="9630410" h="4687570">
                <a:moveTo>
                  <a:pt x="0" y="4687061"/>
                </a:moveTo>
                <a:lnTo>
                  <a:pt x="9630156" y="4687061"/>
                </a:lnTo>
                <a:lnTo>
                  <a:pt x="9630156" y="0"/>
                </a:lnTo>
                <a:lnTo>
                  <a:pt x="0" y="0"/>
                </a:lnTo>
                <a:lnTo>
                  <a:pt x="0" y="468706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3016" y="2167263"/>
            <a:ext cx="9421495" cy="1036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200" spc="-25" dirty="0" err="1">
                <a:solidFill>
                  <a:srgbClr val="006FC0"/>
                </a:solidFill>
                <a:latin typeface="PMingLiU"/>
                <a:cs typeface="PMingLiU"/>
              </a:rPr>
              <a:t>输入</a:t>
            </a:r>
            <a:endParaRPr sz="2200" dirty="0">
              <a:latin typeface="PMingLiU"/>
              <a:cs typeface="PMingLiU"/>
            </a:endParaRPr>
          </a:p>
          <a:p>
            <a:pPr marL="311150" indent="-2857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310515" algn="l"/>
                <a:tab pos="311150" algn="l"/>
              </a:tabLst>
            </a:pPr>
            <a:r>
              <a:rPr sz="2200" dirty="0">
                <a:latin typeface="Cambria Math"/>
                <a:cs typeface="Cambria Math"/>
              </a:rPr>
              <a:t>𝒏</a:t>
            </a:r>
            <a:r>
              <a:rPr sz="22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个物品组成的集合</a:t>
            </a:r>
            <a:r>
              <a:rPr sz="2200" dirty="0">
                <a:latin typeface="Cambria Math"/>
                <a:cs typeface="Cambria Math"/>
              </a:rPr>
              <a:t>𝑶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每个物品有两个属性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𝒗</a:t>
            </a:r>
            <a:r>
              <a:rPr sz="2400" baseline="-1562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sz="22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𝒑</a:t>
            </a:r>
            <a:r>
              <a:rPr sz="2400" baseline="-1562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sz="2400" spc="472" baseline="-1562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分别表示体积和价格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11150" indent="-285750">
              <a:lnSpc>
                <a:spcPct val="100000"/>
              </a:lnSpc>
              <a:buFont typeface="Arial"/>
              <a:buChar char="•"/>
              <a:tabLst>
                <a:tab pos="310515" algn="l"/>
                <a:tab pos="311150" algn="l"/>
              </a:tabLst>
            </a:pPr>
            <a:r>
              <a:rPr sz="22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背包容量为</a:t>
            </a:r>
            <a:r>
              <a:rPr sz="2200" spc="-5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𝑪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8416" y="3173103"/>
            <a:ext cx="5721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solidFill>
                  <a:srgbClr val="006FC0"/>
                </a:solidFill>
                <a:latin typeface="PMingLiU"/>
                <a:cs typeface="PMingLiU"/>
              </a:rPr>
              <a:t>输出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8416" y="3513718"/>
            <a:ext cx="2981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2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求解一个解决方案</a:t>
            </a:r>
            <a:r>
              <a:rPr sz="2200" dirty="0">
                <a:latin typeface="Cambria Math"/>
                <a:cs typeface="Cambria Math"/>
              </a:rPr>
              <a:t>𝑺</a:t>
            </a:r>
            <a:r>
              <a:rPr sz="2200" spc="40" dirty="0">
                <a:latin typeface="Cambria Math"/>
                <a:cs typeface="Cambria Math"/>
              </a:rPr>
              <a:t> =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06322" y="3595760"/>
            <a:ext cx="3184525" cy="260985"/>
          </a:xfrm>
          <a:custGeom>
            <a:avLst/>
            <a:gdLst/>
            <a:ahLst/>
            <a:cxnLst/>
            <a:rect l="l" t="t" r="r" b="b"/>
            <a:pathLst>
              <a:path w="3184525" h="260985">
                <a:moveTo>
                  <a:pt x="398399" y="3301"/>
                </a:moveTo>
                <a:lnTo>
                  <a:pt x="377317" y="3301"/>
                </a:lnTo>
                <a:lnTo>
                  <a:pt x="377317" y="257428"/>
                </a:lnTo>
                <a:lnTo>
                  <a:pt x="398399" y="257428"/>
                </a:lnTo>
                <a:lnTo>
                  <a:pt x="398399" y="3301"/>
                </a:lnTo>
                <a:close/>
              </a:path>
              <a:path w="3184525" h="260985">
                <a:moveTo>
                  <a:pt x="87122" y="0"/>
                </a:moveTo>
                <a:lnTo>
                  <a:pt x="83566" y="0"/>
                </a:lnTo>
                <a:lnTo>
                  <a:pt x="68492" y="1141"/>
                </a:lnTo>
                <a:lnTo>
                  <a:pt x="28578" y="22663"/>
                </a:lnTo>
                <a:lnTo>
                  <a:pt x="19685" y="57150"/>
                </a:lnTo>
                <a:lnTo>
                  <a:pt x="19877" y="62982"/>
                </a:lnTo>
                <a:lnTo>
                  <a:pt x="20462" y="69230"/>
                </a:lnTo>
                <a:lnTo>
                  <a:pt x="21453" y="75884"/>
                </a:lnTo>
                <a:lnTo>
                  <a:pt x="22860" y="82931"/>
                </a:lnTo>
                <a:lnTo>
                  <a:pt x="25019" y="92583"/>
                </a:lnTo>
                <a:lnTo>
                  <a:pt x="26035" y="99060"/>
                </a:lnTo>
                <a:lnTo>
                  <a:pt x="26035" y="108585"/>
                </a:lnTo>
                <a:lnTo>
                  <a:pt x="23876" y="113664"/>
                </a:lnTo>
                <a:lnTo>
                  <a:pt x="19558" y="117728"/>
                </a:lnTo>
                <a:lnTo>
                  <a:pt x="15240" y="121665"/>
                </a:lnTo>
                <a:lnTo>
                  <a:pt x="8762" y="123698"/>
                </a:lnTo>
                <a:lnTo>
                  <a:pt x="0" y="124078"/>
                </a:lnTo>
                <a:lnTo>
                  <a:pt x="0" y="135255"/>
                </a:lnTo>
                <a:lnTo>
                  <a:pt x="8762" y="135509"/>
                </a:lnTo>
                <a:lnTo>
                  <a:pt x="15240" y="137668"/>
                </a:lnTo>
                <a:lnTo>
                  <a:pt x="23876" y="145542"/>
                </a:lnTo>
                <a:lnTo>
                  <a:pt x="26035" y="150622"/>
                </a:lnTo>
                <a:lnTo>
                  <a:pt x="26035" y="160274"/>
                </a:lnTo>
                <a:lnTo>
                  <a:pt x="25019" y="166624"/>
                </a:lnTo>
                <a:lnTo>
                  <a:pt x="22860" y="176275"/>
                </a:lnTo>
                <a:lnTo>
                  <a:pt x="21453" y="183324"/>
                </a:lnTo>
                <a:lnTo>
                  <a:pt x="20462" y="189991"/>
                </a:lnTo>
                <a:lnTo>
                  <a:pt x="19877" y="196278"/>
                </a:lnTo>
                <a:lnTo>
                  <a:pt x="19685" y="202184"/>
                </a:lnTo>
                <a:lnTo>
                  <a:pt x="20665" y="215919"/>
                </a:lnTo>
                <a:lnTo>
                  <a:pt x="44489" y="251958"/>
                </a:lnTo>
                <a:lnTo>
                  <a:pt x="83566" y="260476"/>
                </a:lnTo>
                <a:lnTo>
                  <a:pt x="87122" y="260476"/>
                </a:lnTo>
                <a:lnTo>
                  <a:pt x="87122" y="250062"/>
                </a:lnTo>
                <a:lnTo>
                  <a:pt x="85090" y="250062"/>
                </a:lnTo>
                <a:lnTo>
                  <a:pt x="75711" y="249420"/>
                </a:lnTo>
                <a:lnTo>
                  <a:pt x="45640" y="225805"/>
                </a:lnTo>
                <a:lnTo>
                  <a:pt x="42799" y="204597"/>
                </a:lnTo>
                <a:lnTo>
                  <a:pt x="42799" y="198247"/>
                </a:lnTo>
                <a:lnTo>
                  <a:pt x="43815" y="190373"/>
                </a:lnTo>
                <a:lnTo>
                  <a:pt x="47371" y="171576"/>
                </a:lnTo>
                <a:lnTo>
                  <a:pt x="48260" y="164846"/>
                </a:lnTo>
                <a:lnTo>
                  <a:pt x="48260" y="153162"/>
                </a:lnTo>
                <a:lnTo>
                  <a:pt x="46101" y="146812"/>
                </a:lnTo>
                <a:lnTo>
                  <a:pt x="36957" y="136906"/>
                </a:lnTo>
                <a:lnTo>
                  <a:pt x="31496" y="133223"/>
                </a:lnTo>
                <a:lnTo>
                  <a:pt x="25273" y="130810"/>
                </a:lnTo>
                <a:lnTo>
                  <a:pt x="25273" y="128397"/>
                </a:lnTo>
                <a:lnTo>
                  <a:pt x="31496" y="125984"/>
                </a:lnTo>
                <a:lnTo>
                  <a:pt x="36957" y="122427"/>
                </a:lnTo>
                <a:lnTo>
                  <a:pt x="41529" y="117348"/>
                </a:lnTo>
                <a:lnTo>
                  <a:pt x="46101" y="112395"/>
                </a:lnTo>
                <a:lnTo>
                  <a:pt x="48260" y="106045"/>
                </a:lnTo>
                <a:lnTo>
                  <a:pt x="48260" y="94361"/>
                </a:lnTo>
                <a:lnTo>
                  <a:pt x="47371" y="87630"/>
                </a:lnTo>
                <a:lnTo>
                  <a:pt x="43815" y="68961"/>
                </a:lnTo>
                <a:lnTo>
                  <a:pt x="42799" y="61087"/>
                </a:lnTo>
                <a:lnTo>
                  <a:pt x="42799" y="54610"/>
                </a:lnTo>
                <a:lnTo>
                  <a:pt x="43511" y="43632"/>
                </a:lnTo>
                <a:lnTo>
                  <a:pt x="67405" y="12985"/>
                </a:lnTo>
                <a:lnTo>
                  <a:pt x="85090" y="10413"/>
                </a:lnTo>
                <a:lnTo>
                  <a:pt x="87122" y="10413"/>
                </a:lnTo>
                <a:lnTo>
                  <a:pt x="87122" y="0"/>
                </a:lnTo>
                <a:close/>
              </a:path>
              <a:path w="3184525" h="260985">
                <a:moveTo>
                  <a:pt x="3100832" y="0"/>
                </a:moveTo>
                <a:lnTo>
                  <a:pt x="3097276" y="0"/>
                </a:lnTo>
                <a:lnTo>
                  <a:pt x="3097276" y="10413"/>
                </a:lnTo>
                <a:lnTo>
                  <a:pt x="3099308" y="10413"/>
                </a:lnTo>
                <a:lnTo>
                  <a:pt x="3108686" y="11056"/>
                </a:lnTo>
                <a:lnTo>
                  <a:pt x="3140886" y="43739"/>
                </a:lnTo>
                <a:lnTo>
                  <a:pt x="3141599" y="54737"/>
                </a:lnTo>
                <a:lnTo>
                  <a:pt x="3141599" y="61213"/>
                </a:lnTo>
                <a:lnTo>
                  <a:pt x="3140583" y="69087"/>
                </a:lnTo>
                <a:lnTo>
                  <a:pt x="3137027" y="87757"/>
                </a:lnTo>
                <a:lnTo>
                  <a:pt x="3136138" y="94487"/>
                </a:lnTo>
                <a:lnTo>
                  <a:pt x="3136138" y="106172"/>
                </a:lnTo>
                <a:lnTo>
                  <a:pt x="3138424" y="112522"/>
                </a:lnTo>
                <a:lnTo>
                  <a:pt x="3142868" y="117601"/>
                </a:lnTo>
                <a:lnTo>
                  <a:pt x="3147441" y="122555"/>
                </a:lnTo>
                <a:lnTo>
                  <a:pt x="3152902" y="126111"/>
                </a:lnTo>
                <a:lnTo>
                  <a:pt x="3159125" y="128524"/>
                </a:lnTo>
                <a:lnTo>
                  <a:pt x="3159125" y="130937"/>
                </a:lnTo>
                <a:lnTo>
                  <a:pt x="3136138" y="153288"/>
                </a:lnTo>
                <a:lnTo>
                  <a:pt x="3136138" y="165100"/>
                </a:lnTo>
                <a:lnTo>
                  <a:pt x="3137027" y="171703"/>
                </a:lnTo>
                <a:lnTo>
                  <a:pt x="3140583" y="190500"/>
                </a:lnTo>
                <a:lnTo>
                  <a:pt x="3141599" y="198374"/>
                </a:lnTo>
                <a:lnTo>
                  <a:pt x="3141599" y="204724"/>
                </a:lnTo>
                <a:lnTo>
                  <a:pt x="3140886" y="216201"/>
                </a:lnTo>
                <a:lnTo>
                  <a:pt x="3116992" y="247491"/>
                </a:lnTo>
                <a:lnTo>
                  <a:pt x="3099308" y="250062"/>
                </a:lnTo>
                <a:lnTo>
                  <a:pt x="3097276" y="250062"/>
                </a:lnTo>
                <a:lnTo>
                  <a:pt x="3097276" y="260476"/>
                </a:lnTo>
                <a:lnTo>
                  <a:pt x="3100832" y="260476"/>
                </a:lnTo>
                <a:lnTo>
                  <a:pt x="3115905" y="259335"/>
                </a:lnTo>
                <a:lnTo>
                  <a:pt x="3155819" y="237743"/>
                </a:lnTo>
                <a:lnTo>
                  <a:pt x="3164713" y="202311"/>
                </a:lnTo>
                <a:lnTo>
                  <a:pt x="3164520" y="196405"/>
                </a:lnTo>
                <a:lnTo>
                  <a:pt x="3163935" y="190118"/>
                </a:lnTo>
                <a:lnTo>
                  <a:pt x="3162944" y="183451"/>
                </a:lnTo>
                <a:lnTo>
                  <a:pt x="3161538" y="176402"/>
                </a:lnTo>
                <a:lnTo>
                  <a:pt x="3159379" y="166750"/>
                </a:lnTo>
                <a:lnTo>
                  <a:pt x="3158363" y="160400"/>
                </a:lnTo>
                <a:lnTo>
                  <a:pt x="3158363" y="150749"/>
                </a:lnTo>
                <a:lnTo>
                  <a:pt x="3160522" y="145669"/>
                </a:lnTo>
                <a:lnTo>
                  <a:pt x="3169158" y="137795"/>
                </a:lnTo>
                <a:lnTo>
                  <a:pt x="3175635" y="135636"/>
                </a:lnTo>
                <a:lnTo>
                  <a:pt x="3184398" y="135382"/>
                </a:lnTo>
                <a:lnTo>
                  <a:pt x="3184398" y="124206"/>
                </a:lnTo>
                <a:lnTo>
                  <a:pt x="3158363" y="108712"/>
                </a:lnTo>
                <a:lnTo>
                  <a:pt x="3158363" y="99187"/>
                </a:lnTo>
                <a:lnTo>
                  <a:pt x="3159379" y="92710"/>
                </a:lnTo>
                <a:lnTo>
                  <a:pt x="3161538" y="83058"/>
                </a:lnTo>
                <a:lnTo>
                  <a:pt x="3162944" y="76011"/>
                </a:lnTo>
                <a:lnTo>
                  <a:pt x="3163935" y="69357"/>
                </a:lnTo>
                <a:lnTo>
                  <a:pt x="3164520" y="63109"/>
                </a:lnTo>
                <a:lnTo>
                  <a:pt x="3164713" y="57276"/>
                </a:lnTo>
                <a:lnTo>
                  <a:pt x="3163732" y="43967"/>
                </a:lnTo>
                <a:lnTo>
                  <a:pt x="3139908" y="8518"/>
                </a:lnTo>
                <a:lnTo>
                  <a:pt x="3115905" y="1141"/>
                </a:lnTo>
                <a:lnTo>
                  <a:pt x="31008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76426" y="3513718"/>
            <a:ext cx="2996565" cy="1243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mbria Math"/>
                <a:cs typeface="Cambria Math"/>
              </a:rPr>
              <a:t>𝒙</a:t>
            </a:r>
            <a:r>
              <a:rPr sz="2400" baseline="-15625" dirty="0">
                <a:latin typeface="Cambria Math"/>
                <a:cs typeface="Cambria Math"/>
              </a:rPr>
              <a:t>𝒊</a:t>
            </a:r>
            <a:r>
              <a:rPr sz="2400" spc="637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𝟏</a:t>
            </a:r>
            <a:r>
              <a:rPr sz="2200" spc="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≤</a:t>
            </a:r>
            <a:r>
              <a:rPr sz="2200" spc="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𝒊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≤</a:t>
            </a:r>
            <a:r>
              <a:rPr sz="2200" spc="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𝒏,</a:t>
            </a:r>
            <a:r>
              <a:rPr sz="2200" spc="-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𝟎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≤</a:t>
            </a:r>
            <a:r>
              <a:rPr sz="2200" spc="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𝒙</a:t>
            </a:r>
            <a:r>
              <a:rPr sz="2400" baseline="-15625" dirty="0">
                <a:latin typeface="Cambria Math"/>
                <a:cs typeface="Cambria Math"/>
              </a:rPr>
              <a:t>𝒊</a:t>
            </a:r>
            <a:r>
              <a:rPr sz="2400" spc="509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≤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𝟏</a:t>
            </a:r>
            <a:endParaRPr sz="2200" dirty="0">
              <a:latin typeface="Cambria Math"/>
              <a:cs typeface="Cambria Math"/>
            </a:endParaRPr>
          </a:p>
          <a:p>
            <a:pPr marL="701040">
              <a:lnSpc>
                <a:spcPct val="100000"/>
              </a:lnSpc>
              <a:spcBef>
                <a:spcPts val="1620"/>
              </a:spcBef>
            </a:pPr>
            <a:r>
              <a:rPr sz="2200" dirty="0">
                <a:latin typeface="Cambria Math"/>
                <a:cs typeface="Cambria Math"/>
              </a:rPr>
              <a:t>𝐦𝐚𝐱</a:t>
            </a:r>
            <a:endParaRPr sz="2400" baseline="-15625" dirty="0">
              <a:latin typeface="Cambria Math"/>
              <a:cs typeface="Cambria Math"/>
            </a:endParaRPr>
          </a:p>
          <a:p>
            <a:pPr marL="34925" algn="ctr">
              <a:lnSpc>
                <a:spcPct val="100000"/>
              </a:lnSpc>
              <a:spcBef>
                <a:spcPts val="770"/>
              </a:spcBef>
            </a:pPr>
            <a:r>
              <a:rPr sz="1600" spc="-20" dirty="0">
                <a:latin typeface="Cambria Math"/>
                <a:cs typeface="Cambria Math"/>
              </a:rPr>
              <a:t>𝒙</a:t>
            </a:r>
            <a:r>
              <a:rPr sz="1950" spc="-30" baseline="-14957" dirty="0">
                <a:latin typeface="Cambria Math"/>
                <a:cs typeface="Cambria Math"/>
              </a:rPr>
              <a:t>𝒊</a:t>
            </a:r>
            <a:r>
              <a:rPr sz="1600" spc="-20" dirty="0">
                <a:latin typeface="Cambria Math"/>
                <a:cs typeface="Cambria Math"/>
              </a:rPr>
              <a:t>∈𝑺</a:t>
            </a:r>
            <a:endParaRPr sz="1600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52676" y="5113131"/>
            <a:ext cx="2496313" cy="83502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0"/>
              </a:spcBef>
            </a:pPr>
            <a:r>
              <a:rPr sz="2200" spc="-10" dirty="0">
                <a:latin typeface="Cambria Math"/>
                <a:cs typeface="Cambria Math"/>
              </a:rPr>
              <a:t>𝒔.</a:t>
            </a:r>
            <a:r>
              <a:rPr sz="2200" spc="-13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𝒕.</a:t>
            </a:r>
            <a:r>
              <a:rPr sz="2200" spc="110" dirty="0">
                <a:latin typeface="Cambria Math"/>
                <a:cs typeface="Cambria Math"/>
              </a:rPr>
              <a:t> </a:t>
            </a:r>
            <a:r>
              <a:rPr sz="2200" spc="120" dirty="0">
                <a:latin typeface="Cambria Math"/>
                <a:cs typeface="Cambria Math"/>
              </a:rPr>
              <a:t> </a:t>
            </a:r>
            <a:endParaRPr sz="2200" dirty="0">
              <a:latin typeface="Cambria Math"/>
              <a:cs typeface="Cambria Math"/>
            </a:endParaRPr>
          </a:p>
          <a:p>
            <a:pPr marL="488950">
              <a:lnSpc>
                <a:spcPct val="100000"/>
              </a:lnSpc>
              <a:spcBef>
                <a:spcPts val="770"/>
              </a:spcBef>
            </a:pPr>
            <a:r>
              <a:rPr sz="1600" spc="-20" dirty="0">
                <a:latin typeface="Cambria Math"/>
                <a:cs typeface="Cambria Math"/>
              </a:rPr>
              <a:t>𝒙</a:t>
            </a:r>
            <a:r>
              <a:rPr sz="1950" spc="-30" baseline="-14957" dirty="0">
                <a:latin typeface="Cambria Math"/>
                <a:cs typeface="Cambria Math"/>
              </a:rPr>
              <a:t>𝒊</a:t>
            </a:r>
            <a:r>
              <a:rPr sz="1600" spc="-20" dirty="0">
                <a:latin typeface="Cambria Math"/>
                <a:cs typeface="Cambria Math"/>
              </a:rPr>
              <a:t>∈𝑺</a:t>
            </a:r>
            <a:endParaRPr sz="1600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5963" y="1108083"/>
            <a:ext cx="2594610" cy="403860"/>
          </a:xfrm>
          <a:custGeom>
            <a:avLst/>
            <a:gdLst/>
            <a:ahLst/>
            <a:cxnLst/>
            <a:rect l="l" t="t" r="r" b="b"/>
            <a:pathLst>
              <a:path w="2594610" h="403859">
                <a:moveTo>
                  <a:pt x="2493644" y="0"/>
                </a:moveTo>
                <a:lnTo>
                  <a:pt x="100965" y="0"/>
                </a:lnTo>
                <a:lnTo>
                  <a:pt x="0" y="403860"/>
                </a:lnTo>
                <a:lnTo>
                  <a:pt x="2594609" y="403860"/>
                </a:lnTo>
                <a:lnTo>
                  <a:pt x="249364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8416" y="1000553"/>
            <a:ext cx="3610610" cy="88265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560070">
              <a:lnSpc>
                <a:spcPct val="100000"/>
              </a:lnSpc>
              <a:spcBef>
                <a:spcPts val="735"/>
              </a:spcBef>
            </a:pPr>
            <a:r>
              <a:rPr sz="2400" spc="-1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部分背包问题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r>
              <a:rPr sz="2200" b="1" dirty="0">
                <a:solidFill>
                  <a:srgbClr val="006FC0"/>
                </a:solidFill>
                <a:latin typeface="Times New Roman"/>
                <a:cs typeface="Times New Roman"/>
              </a:rPr>
              <a:t>Fractional Knapsack</a:t>
            </a:r>
            <a:r>
              <a:rPr sz="22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Problem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35045" y="3959487"/>
            <a:ext cx="2468245" cy="401320"/>
          </a:xfrm>
          <a:custGeom>
            <a:avLst/>
            <a:gdLst/>
            <a:ahLst/>
            <a:cxnLst/>
            <a:rect l="l" t="t" r="r" b="b"/>
            <a:pathLst>
              <a:path w="2468245" h="401320">
                <a:moveTo>
                  <a:pt x="2468117" y="0"/>
                </a:moveTo>
                <a:lnTo>
                  <a:pt x="300227" y="0"/>
                </a:lnTo>
                <a:lnTo>
                  <a:pt x="300227" y="221869"/>
                </a:lnTo>
                <a:lnTo>
                  <a:pt x="0" y="401320"/>
                </a:lnTo>
                <a:lnTo>
                  <a:pt x="300227" y="316865"/>
                </a:lnTo>
                <a:lnTo>
                  <a:pt x="300227" y="380238"/>
                </a:lnTo>
                <a:lnTo>
                  <a:pt x="2468117" y="380238"/>
                </a:lnTo>
                <a:lnTo>
                  <a:pt x="2468117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003421" y="3399001"/>
            <a:ext cx="1436370" cy="88455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5"/>
              </a:spcBef>
            </a:pPr>
            <a:r>
              <a:rPr sz="22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2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使得</a:t>
            </a:r>
            <a:r>
              <a:rPr sz="22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408305">
              <a:lnSpc>
                <a:spcPct val="100000"/>
              </a:lnSpc>
              <a:spcBef>
                <a:spcPts val="815"/>
              </a:spcBef>
            </a:pPr>
            <a:r>
              <a:rPr sz="2000" spc="-2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优化目</a:t>
            </a:r>
            <a:r>
              <a:rPr sz="2000" spc="-5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标</a:t>
            </a:r>
            <a:endParaRPr sz="20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35045" y="5072008"/>
            <a:ext cx="2468245" cy="402590"/>
          </a:xfrm>
          <a:custGeom>
            <a:avLst/>
            <a:gdLst/>
            <a:ahLst/>
            <a:cxnLst/>
            <a:rect l="l" t="t" r="r" b="b"/>
            <a:pathLst>
              <a:path w="2468245" h="402589">
                <a:moveTo>
                  <a:pt x="2468117" y="0"/>
                </a:moveTo>
                <a:lnTo>
                  <a:pt x="300227" y="0"/>
                </a:lnTo>
                <a:lnTo>
                  <a:pt x="300227" y="222250"/>
                </a:lnTo>
                <a:lnTo>
                  <a:pt x="0" y="402208"/>
                </a:lnTo>
                <a:lnTo>
                  <a:pt x="300227" y="317500"/>
                </a:lnTo>
                <a:lnTo>
                  <a:pt x="300227" y="381000"/>
                </a:lnTo>
                <a:lnTo>
                  <a:pt x="2468117" y="381000"/>
                </a:lnTo>
                <a:lnTo>
                  <a:pt x="2468117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412107" y="5066673"/>
            <a:ext cx="10280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spc="-2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约束条</a:t>
            </a:r>
            <a:r>
              <a:rPr sz="2000" spc="-5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件</a:t>
            </a:r>
            <a:endParaRPr sz="20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04164" y="3013084"/>
            <a:ext cx="2167890" cy="585470"/>
          </a:xfrm>
          <a:custGeom>
            <a:avLst/>
            <a:gdLst/>
            <a:ahLst/>
            <a:cxnLst/>
            <a:rect l="l" t="t" r="r" b="b"/>
            <a:pathLst>
              <a:path w="2167890" h="585470">
                <a:moveTo>
                  <a:pt x="2167890" y="0"/>
                </a:moveTo>
                <a:lnTo>
                  <a:pt x="0" y="0"/>
                </a:lnTo>
                <a:lnTo>
                  <a:pt x="0" y="403098"/>
                </a:lnTo>
                <a:lnTo>
                  <a:pt x="361314" y="403098"/>
                </a:lnTo>
                <a:lnTo>
                  <a:pt x="720598" y="585343"/>
                </a:lnTo>
                <a:lnTo>
                  <a:pt x="903224" y="403098"/>
                </a:lnTo>
                <a:lnTo>
                  <a:pt x="2167890" y="403098"/>
                </a:lnTo>
                <a:lnTo>
                  <a:pt x="2167890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499745" y="3018163"/>
            <a:ext cx="1789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2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选取物品的比例</a:t>
            </a:r>
            <a:endParaRPr sz="20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BF212C7-2065-1B47-BDC6-2297756C8187}"/>
                  </a:ext>
                </a:extLst>
              </p:cNvPr>
              <p:cNvSpPr txBox="1"/>
              <p:nvPr/>
            </p:nvSpPr>
            <p:spPr>
              <a:xfrm>
                <a:off x="5146866" y="3947209"/>
                <a:ext cx="970650" cy="6706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zh-CN" altLang="en-US" dirty="0">
                              <a:latin typeface="Cambria Math"/>
                              <a:cs typeface="Cambria Math"/>
                            </a:rPr>
                            <m:t>𝒙</m:t>
                          </m:r>
                          <m:r>
                            <m:rPr>
                              <m:nor/>
                            </m:rPr>
                            <a:rPr lang="zh-CN" altLang="en-US" baseline="-15625" dirty="0">
                              <a:latin typeface="Cambria Math"/>
                              <a:cs typeface="Cambria Math"/>
                            </a:rPr>
                            <m:t>𝒊</m:t>
                          </m:r>
                          <m:r>
                            <m:rPr>
                              <m:nor/>
                            </m:rPr>
                            <a:rPr lang="zh-CN" altLang="en-US" spc="330" baseline="-15625" dirty="0">
                              <a:latin typeface="Cambria Math"/>
                              <a:cs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zh-CN" altLang="en-US" dirty="0">
                              <a:latin typeface="Cambria Math"/>
                              <a:cs typeface="Cambria Math"/>
                            </a:rPr>
                            <m:t>⋅ </m:t>
                          </m:r>
                          <m:r>
                            <m:rPr>
                              <m:nor/>
                            </m:rPr>
                            <a:rPr lang="zh-CN" altLang="en-US" spc="-25" dirty="0">
                              <a:latin typeface="Cambria Math"/>
                              <a:cs typeface="Cambria Math"/>
                            </a:rPr>
                            <m:t>𝒑</m:t>
                          </m:r>
                          <m:r>
                            <m:rPr>
                              <m:nor/>
                            </m:rPr>
                            <a:rPr lang="zh-CN" altLang="en-US" spc="-37" baseline="-15625" dirty="0">
                              <a:latin typeface="Cambria Math"/>
                              <a:cs typeface="Cambria Math"/>
                            </a:rPr>
                            <m:t>𝒊</m:t>
                          </m:r>
                        </m:e>
                      </m:nary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BF212C7-2065-1B47-BDC6-2297756C8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866" y="3947209"/>
                <a:ext cx="970650" cy="670696"/>
              </a:xfrm>
              <a:prstGeom prst="rect">
                <a:avLst/>
              </a:prstGeom>
              <a:blipFill>
                <a:blip r:embed="rId2"/>
                <a:stretch>
                  <a:fillRect l="-85714" t="-149057" r="-1299" b="-20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FD5279E-94D2-774F-BF57-1224AEB78A81}"/>
                  </a:ext>
                </a:extLst>
              </p:cNvPr>
              <p:cNvSpPr txBox="1"/>
              <p:nvPr/>
            </p:nvSpPr>
            <p:spPr>
              <a:xfrm>
                <a:off x="4849690" y="5134647"/>
                <a:ext cx="1387559" cy="6706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zh-CN" altLang="en-US" dirty="0">
                              <a:latin typeface="Cambria Math"/>
                              <a:cs typeface="Cambria Math"/>
                            </a:rPr>
                            <m:t>𝒙</m:t>
                          </m:r>
                          <m:r>
                            <m:rPr>
                              <m:nor/>
                            </m:rPr>
                            <a:rPr lang="zh-CN" altLang="en-US" baseline="-15625" dirty="0">
                              <a:latin typeface="Cambria Math"/>
                              <a:cs typeface="Cambria Math"/>
                            </a:rPr>
                            <m:t>𝒊</m:t>
                          </m:r>
                          <m:r>
                            <m:rPr>
                              <m:nor/>
                            </m:rPr>
                            <a:rPr lang="zh-CN" altLang="en-US" spc="337" baseline="-15625" dirty="0">
                              <a:latin typeface="Cambria Math"/>
                              <a:cs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zh-CN" altLang="en-US" dirty="0">
                              <a:latin typeface="Cambria Math"/>
                              <a:cs typeface="Cambria Math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zh-CN" altLang="en-US" spc="5" dirty="0">
                              <a:latin typeface="Cambria Math"/>
                              <a:cs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zh-CN" altLang="en-US" dirty="0">
                              <a:latin typeface="Cambria Math"/>
                              <a:cs typeface="Cambria Math"/>
                            </a:rPr>
                            <m:t>𝒗</m:t>
                          </m:r>
                          <m:r>
                            <m:rPr>
                              <m:nor/>
                            </m:rPr>
                            <a:rPr lang="zh-CN" altLang="en-US" baseline="-15625" dirty="0">
                              <a:latin typeface="Cambria Math"/>
                              <a:cs typeface="Cambria Math"/>
                            </a:rPr>
                            <m:t>𝒊</m:t>
                          </m:r>
                          <m:r>
                            <m:rPr>
                              <m:nor/>
                            </m:rPr>
                            <a:rPr lang="zh-CN" altLang="en-US" spc="532" baseline="-15625" dirty="0">
                              <a:latin typeface="Cambria Math"/>
                              <a:cs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zh-CN" altLang="en-US" spc="-50" dirty="0">
                              <a:latin typeface="Cambria Math"/>
                              <a:cs typeface="Cambria Math"/>
                            </a:rPr>
                            <m:t>≤</m:t>
                          </m:r>
                        </m:e>
                      </m:nary>
                      <m:r>
                        <m:rPr>
                          <m:sty m:val="p"/>
                        </m:rPr>
                        <a:rPr kumimoji="1" lang="en-US" altLang="zh-CN" i="1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FD5279E-94D2-774F-BF57-1224AEB78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690" y="5134647"/>
                <a:ext cx="1387559" cy="670696"/>
              </a:xfrm>
              <a:prstGeom prst="rect">
                <a:avLst/>
              </a:prstGeom>
              <a:blipFill>
                <a:blip r:embed="rId3"/>
                <a:stretch>
                  <a:fillRect l="-60000" t="-149057" r="-2727" b="-20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标注 19">
            <a:extLst>
              <a:ext uri="{FF2B5EF4-FFF2-40B4-BE49-F238E27FC236}">
                <a16:creationId xmlns:a16="http://schemas.microsoft.com/office/drawing/2014/main" id="{8FF695C6-9ADB-E54B-8F4B-7FF2E70FE431}"/>
              </a:ext>
            </a:extLst>
          </p:cNvPr>
          <p:cNvSpPr/>
          <p:nvPr/>
        </p:nvSpPr>
        <p:spPr>
          <a:xfrm>
            <a:off x="6838505" y="2898512"/>
            <a:ext cx="2574956" cy="615206"/>
          </a:xfrm>
          <a:prstGeom prst="wedgeRectCallout">
            <a:avLst>
              <a:gd name="adj1" fmla="val -65770"/>
              <a:gd name="adj2" fmla="val 574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rgbClr val="FFC000"/>
                </a:solidFill>
                <a:latin typeface="Cambria Math"/>
                <a:cs typeface="Cambria Math"/>
              </a:rPr>
              <a:t>𝒙</a:t>
            </a:r>
            <a:r>
              <a:rPr lang="zh-CN" altLang="en-US" sz="2000" baseline="-15325" dirty="0">
                <a:solidFill>
                  <a:srgbClr val="FFC000"/>
                </a:solidFill>
                <a:latin typeface="Cambria Math"/>
                <a:cs typeface="Cambria Math"/>
              </a:rPr>
              <a:t>𝒊</a:t>
            </a:r>
            <a:r>
              <a:rPr lang="zh-CN" altLang="en-US" sz="1800" spc="-20" dirty="0">
                <a:solidFill>
                  <a:srgbClr val="FFFFFF"/>
                </a:solidFill>
                <a:latin typeface="PMingLiU"/>
                <a:cs typeface="PMingLiU"/>
              </a:rPr>
              <a:t>只能取</a:t>
            </a:r>
            <a:r>
              <a:rPr lang="zh-CN" altLang="en-US" sz="1800" spc="-25" dirty="0">
                <a:solidFill>
                  <a:srgbClr val="FFC000"/>
                </a:solidFill>
                <a:latin typeface="Cambria Math"/>
                <a:cs typeface="Cambria Math"/>
              </a:rPr>
              <a:t>𝟎</a:t>
            </a:r>
            <a:r>
              <a:rPr lang="zh-CN" altLang="en-US" sz="1800" spc="-20" dirty="0">
                <a:solidFill>
                  <a:srgbClr val="FFC000"/>
                </a:solidFill>
                <a:latin typeface="PMingLiU"/>
                <a:cs typeface="PMingLiU"/>
              </a:rPr>
              <a:t>或</a:t>
            </a:r>
            <a:r>
              <a:rPr lang="zh-CN" altLang="en-US" sz="1800" spc="-10" dirty="0">
                <a:solidFill>
                  <a:srgbClr val="FFC000"/>
                </a:solidFill>
                <a:latin typeface="Cambria Math"/>
                <a:cs typeface="Cambria Math"/>
              </a:rPr>
              <a:t>𝟏</a:t>
            </a:r>
            <a:r>
              <a:rPr lang="zh-CN" altLang="en-US" sz="1800" spc="-50" dirty="0">
                <a:solidFill>
                  <a:srgbClr val="FFFFFF"/>
                </a:solidFill>
                <a:latin typeface="PMingLiU"/>
                <a:cs typeface="PMingLiU"/>
              </a:rPr>
              <a:t>时</a:t>
            </a:r>
            <a:r>
              <a:rPr lang="zh-CN" altLang="en-US" sz="1800" spc="-20" dirty="0">
                <a:solidFill>
                  <a:srgbClr val="FFFFFF"/>
                </a:solidFill>
                <a:latin typeface="PMingLiU"/>
                <a:cs typeface="PMingLiU"/>
              </a:rPr>
              <a:t>变为</a:t>
            </a:r>
            <a:r>
              <a:rPr lang="zh-CN" altLang="en-US" sz="1800" spc="-10" dirty="0">
                <a:solidFill>
                  <a:srgbClr val="FFC000"/>
                </a:solidFill>
                <a:latin typeface="Cambria Math"/>
                <a:cs typeface="Cambria Math"/>
              </a:rPr>
              <a:t>𝟎</a:t>
            </a:r>
            <a:r>
              <a:rPr lang="en-US" altLang="zh-CN" sz="1800" spc="-10" dirty="0">
                <a:solidFill>
                  <a:srgbClr val="FFC000"/>
                </a:solidFill>
                <a:latin typeface="Arial"/>
                <a:cs typeface="Arial"/>
              </a:rPr>
              <a:t>-</a:t>
            </a:r>
            <a:r>
              <a:rPr lang="zh-CN" altLang="en-US" sz="1800" spc="-20" dirty="0">
                <a:solidFill>
                  <a:srgbClr val="FFC000"/>
                </a:solidFill>
                <a:latin typeface="Cambria Math"/>
                <a:cs typeface="Cambria Math"/>
              </a:rPr>
              <a:t>𝟏</a:t>
            </a:r>
            <a:r>
              <a:rPr lang="zh-CN" altLang="en-US" sz="1800" spc="-20" dirty="0">
                <a:solidFill>
                  <a:srgbClr val="FFC000"/>
                </a:solidFill>
                <a:latin typeface="PMingLiU"/>
                <a:cs typeface="PMingLiU"/>
              </a:rPr>
              <a:t>背包问</a:t>
            </a:r>
            <a:r>
              <a:rPr lang="zh-CN" altLang="en-US" sz="1800" spc="-50" dirty="0">
                <a:solidFill>
                  <a:srgbClr val="FFC000"/>
                </a:solidFill>
                <a:latin typeface="PMingLiU"/>
                <a:cs typeface="PMingLiU"/>
              </a:rPr>
              <a:t>题</a:t>
            </a:r>
            <a:endParaRPr lang="zh-CN" altLang="en-US" sz="1800" dirty="0">
              <a:latin typeface="PMingLiU"/>
              <a:cs typeface="PMingLiU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944354"/>
            <a:ext cx="7423150" cy="143700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25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5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性价比 </a:t>
            </a:r>
            <a:r>
              <a:rPr sz="2400" spc="65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= </a:t>
            </a:r>
            <a:r>
              <a:rPr sz="240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价格</a:t>
            </a:r>
            <a:r>
              <a:rPr sz="2400" spc="-1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/</a:t>
            </a:r>
            <a:r>
              <a:rPr sz="2400" spc="-25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体积</a:t>
            </a:r>
            <a:endParaRPr sz="240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3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优先选择</a:t>
            </a:r>
            <a:r>
              <a:rPr sz="240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高性价比</a:t>
            </a:r>
            <a:r>
              <a:rPr sz="2400" spc="-5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饮料全部装入，尽可能装满杯子</a:t>
            </a:r>
            <a:endParaRPr sz="240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9146" y="286352"/>
            <a:ext cx="316179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贪心策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略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687242"/>
              </p:ext>
            </p:extLst>
          </p:nvPr>
        </p:nvGraphicFramePr>
        <p:xfrm>
          <a:off x="3443276" y="2665507"/>
          <a:ext cx="5335905" cy="3571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200" spc="-25" dirty="0" err="1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 dirty="0">
                        <a:latin typeface="PMingLiU"/>
                        <a:cs typeface="PMingLiU"/>
                      </a:endParaRPr>
                    </a:p>
                  </a:txBody>
                  <a:tcPr marL="0" marR="0" marT="178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 dirty="0" err="1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 dirty="0">
                        <a:latin typeface="PMingLiU"/>
                        <a:cs typeface="PMingLiU"/>
                      </a:endParaRPr>
                    </a:p>
                    <a:p>
                      <a:pPr marL="312420">
                        <a:lnSpc>
                          <a:spcPct val="100000"/>
                        </a:lnSpc>
                      </a:pPr>
                      <a:r>
                        <a:rPr sz="2200" spc="70" dirty="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spc="70" dirty="0" err="1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元</a:t>
                      </a:r>
                      <a:r>
                        <a:rPr sz="2200" spc="70" dirty="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 dirty="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851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性价比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</a:pPr>
                      <a:r>
                        <a:rPr sz="2200" spc="6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(元/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0" dirty="0" err="1">
                          <a:latin typeface="PMingLiU"/>
                          <a:cs typeface="PMingLiU"/>
                        </a:rPr>
                        <a:t>苏打水</a:t>
                      </a:r>
                      <a:endParaRPr sz="2200" dirty="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5" dirty="0" err="1">
                          <a:latin typeface="PMingLiU"/>
                          <a:cs typeface="PMingLiU"/>
                        </a:rPr>
                        <a:t>汽水</a:t>
                      </a:r>
                      <a:endParaRPr sz="2200" dirty="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250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0.04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5" dirty="0" err="1">
                          <a:latin typeface="PMingLiU"/>
                          <a:cs typeface="PMingLiU"/>
                        </a:rPr>
                        <a:t>橙汁</a:t>
                      </a:r>
                      <a:endParaRPr sz="2200" dirty="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0" dirty="0" err="1">
                          <a:latin typeface="PMingLiU"/>
                          <a:cs typeface="PMingLiU"/>
                        </a:rPr>
                        <a:t>苹果汁</a:t>
                      </a:r>
                      <a:endParaRPr sz="2200" dirty="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200" spc="-20" dirty="0" err="1">
                          <a:latin typeface="PMingLiU"/>
                          <a:cs typeface="PMingLiU"/>
                        </a:rPr>
                        <a:t>西瓜汁</a:t>
                      </a:r>
                      <a:endParaRPr sz="2200" dirty="0">
                        <a:latin typeface="PMingLiU"/>
                        <a:cs typeface="PMingLiU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45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0.15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/>
          <a:stretch>
            <a:fillRect/>
          </a:stretch>
        </p:blipFill>
        <p:spPr>
          <a:xfrm>
            <a:off x="3483864" y="5164254"/>
            <a:ext cx="422148" cy="39471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483864" y="5742611"/>
            <a:ext cx="405765" cy="395605"/>
            <a:chOff x="3483864" y="5538215"/>
            <a:chExt cx="405765" cy="395605"/>
          </a:xfrm>
        </p:grpSpPr>
        <p:pic>
          <p:nvPicPr>
            <p:cNvPr id="7" name="object 7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3633216" y="5538215"/>
              <a:ext cx="256032" cy="39547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483864" y="5633465"/>
              <a:ext cx="288798" cy="300228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462528" y="3362123"/>
            <a:ext cx="464820" cy="1710055"/>
            <a:chOff x="3462528" y="3157727"/>
            <a:chExt cx="464820" cy="1710055"/>
          </a:xfrm>
        </p:grpSpPr>
        <p:pic>
          <p:nvPicPr>
            <p:cNvPr id="10" name="object 10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553206" y="3723131"/>
              <a:ext cx="295655" cy="58902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3462528" y="4353305"/>
              <a:ext cx="464820" cy="5143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3575304" y="3157727"/>
              <a:ext cx="296417" cy="561594"/>
            </a:xfrm>
            <a:prstGeom prst="rect">
              <a:avLst/>
            </a:prstGeom>
          </p:spPr>
        </p:pic>
      </p:grpSp>
      <p:sp>
        <p:nvSpPr>
          <p:cNvPr id="13" name="矩形标注 12">
            <a:extLst>
              <a:ext uri="{FF2B5EF4-FFF2-40B4-BE49-F238E27FC236}">
                <a16:creationId xmlns:a16="http://schemas.microsoft.com/office/drawing/2014/main" id="{4363E562-2213-D24C-9E2C-226FF4EA7EBD}"/>
              </a:ext>
            </a:extLst>
          </p:cNvPr>
          <p:cNvSpPr/>
          <p:nvPr/>
        </p:nvSpPr>
        <p:spPr>
          <a:xfrm>
            <a:off x="5247563" y="463976"/>
            <a:ext cx="4927002" cy="960756"/>
          </a:xfrm>
          <a:prstGeom prst="wedgeRectCallout">
            <a:avLst>
              <a:gd name="adj1" fmla="val -41114"/>
              <a:gd name="adj2" fmla="val 800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 dirty="0"/>
              <a:t>核心思想：</a:t>
            </a:r>
            <a:r>
              <a:rPr lang="zh-CN" altLang="en-US" dirty="0"/>
              <a:t>总是选择当前状态下最优的策略。并不以整体最优进行考虑，而只考虑当前这一步，可获得局部最优解。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1828" y="262542"/>
            <a:ext cx="286004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解决方案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5624" y="269039"/>
            <a:ext cx="286003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30111" y="1678685"/>
            <a:ext cx="5335905" cy="3573779"/>
            <a:chOff x="6230111" y="1678685"/>
            <a:chExt cx="5335905" cy="3573779"/>
          </a:xfrm>
        </p:grpSpPr>
        <p:sp>
          <p:nvSpPr>
            <p:cNvPr id="5" name="object 5"/>
            <p:cNvSpPr/>
            <p:nvPr/>
          </p:nvSpPr>
          <p:spPr>
            <a:xfrm>
              <a:off x="6230111" y="1678685"/>
              <a:ext cx="5335905" cy="3573779"/>
            </a:xfrm>
            <a:custGeom>
              <a:avLst/>
              <a:gdLst/>
              <a:ahLst/>
              <a:cxnLst/>
              <a:rect l="l" t="t" r="r" b="b"/>
              <a:pathLst>
                <a:path w="5335905" h="3573779">
                  <a:moveTo>
                    <a:pt x="5335651" y="0"/>
                  </a:moveTo>
                  <a:lnTo>
                    <a:pt x="0" y="0"/>
                  </a:lnTo>
                  <a:lnTo>
                    <a:pt x="0" y="3573272"/>
                  </a:lnTo>
                  <a:lnTo>
                    <a:pt x="5335651" y="3573272"/>
                  </a:lnTo>
                  <a:lnTo>
                    <a:pt x="533565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30111" y="2440660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30111" y="3002889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30111" y="3565118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30111" y="4127474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30111" y="4689703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265164" y="2469642"/>
            <a:ext cx="464820" cy="2792730"/>
            <a:chOff x="6265164" y="2469642"/>
            <a:chExt cx="464820" cy="2792730"/>
          </a:xfrm>
        </p:grpSpPr>
        <p:pic>
          <p:nvPicPr>
            <p:cNvPr id="12" name="object 1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86500" y="3068574"/>
              <a:ext cx="422148" cy="39547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348984" y="4673346"/>
              <a:ext cx="296417" cy="5890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265164" y="2469642"/>
              <a:ext cx="464819" cy="5151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6444234" y="3592830"/>
              <a:ext cx="255269" cy="3947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348984" y="4089654"/>
              <a:ext cx="296417" cy="561594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7"/>
          <a:stretch>
            <a:fillRect/>
          </a:stretch>
        </p:blipFill>
        <p:spPr>
          <a:xfrm>
            <a:off x="6294882" y="3688079"/>
            <a:ext cx="288797" cy="299466"/>
          </a:xfrm>
          <a:prstGeom prst="rect">
            <a:avLst/>
          </a:prstGeom>
        </p:spPr>
      </p:pic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209964" y="1672335"/>
          <a:ext cx="5335905" cy="3571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81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8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12420">
                        <a:lnSpc>
                          <a:spcPct val="100000"/>
                        </a:lnSpc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851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性价比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</a:pPr>
                      <a:r>
                        <a:rPr sz="2200" spc="6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(元/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橙汁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191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苹果汁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西瓜汁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45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苏打水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汽水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250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0.04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546232"/>
              </p:ext>
            </p:extLst>
          </p:nvPr>
        </p:nvGraphicFramePr>
        <p:xfrm>
          <a:off x="603250" y="1672335"/>
          <a:ext cx="5335903" cy="1220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200" spc="-3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365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200" spc="-3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092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总价格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橙汁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" name="object 20"/>
          <p:cNvPicPr/>
          <p:nvPr/>
        </p:nvPicPr>
        <p:blipFill>
          <a:blip r:embed="rId8"/>
          <a:stretch>
            <a:fillRect/>
          </a:stretch>
        </p:blipFill>
        <p:spPr>
          <a:xfrm>
            <a:off x="686562" y="2458211"/>
            <a:ext cx="392430" cy="44500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495805" y="4215384"/>
            <a:ext cx="2821940" cy="2534920"/>
            <a:chOff x="1495805" y="4215384"/>
            <a:chExt cx="2821940" cy="2534920"/>
          </a:xfrm>
        </p:grpSpPr>
        <p:sp>
          <p:nvSpPr>
            <p:cNvPr id="22" name="object 22"/>
            <p:cNvSpPr/>
            <p:nvPr/>
          </p:nvSpPr>
          <p:spPr>
            <a:xfrm>
              <a:off x="2256281" y="6087618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2" y="0"/>
                  </a:moveTo>
                  <a:lnTo>
                    <a:pt x="0" y="0"/>
                  </a:lnTo>
                  <a:lnTo>
                    <a:pt x="0" y="406590"/>
                  </a:lnTo>
                  <a:lnTo>
                    <a:pt x="91693" y="498347"/>
                  </a:lnTo>
                  <a:lnTo>
                    <a:pt x="1394968" y="498347"/>
                  </a:lnTo>
                  <a:lnTo>
                    <a:pt x="1486662" y="406590"/>
                  </a:lnTo>
                  <a:lnTo>
                    <a:pt x="1486662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495805" y="4215384"/>
              <a:ext cx="2821686" cy="2534412"/>
            </a:xfrm>
            <a:prstGeom prst="rect">
              <a:avLst/>
            </a:prstGeom>
          </p:spPr>
        </p:pic>
      </p:grp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A3304268-DC3A-E84B-A395-271E47B24928}"/>
              </a:ext>
            </a:extLst>
          </p:cNvPr>
          <p:cNvCxnSpPr/>
          <p:nvPr/>
        </p:nvCxnSpPr>
        <p:spPr>
          <a:xfrm>
            <a:off x="6209964" y="2419144"/>
            <a:ext cx="5335905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6230111" y="1678685"/>
            <a:ext cx="5335905" cy="3573779"/>
            <a:chOff x="6230111" y="1678685"/>
            <a:chExt cx="5335905" cy="3573779"/>
          </a:xfrm>
        </p:grpSpPr>
        <p:sp>
          <p:nvSpPr>
            <p:cNvPr id="5" name="object 5"/>
            <p:cNvSpPr/>
            <p:nvPr/>
          </p:nvSpPr>
          <p:spPr>
            <a:xfrm>
              <a:off x="6230111" y="1678685"/>
              <a:ext cx="5335905" cy="3573779"/>
            </a:xfrm>
            <a:custGeom>
              <a:avLst/>
              <a:gdLst/>
              <a:ahLst/>
              <a:cxnLst/>
              <a:rect l="l" t="t" r="r" b="b"/>
              <a:pathLst>
                <a:path w="5335905" h="3573779">
                  <a:moveTo>
                    <a:pt x="5335651" y="0"/>
                  </a:moveTo>
                  <a:lnTo>
                    <a:pt x="0" y="0"/>
                  </a:lnTo>
                  <a:lnTo>
                    <a:pt x="0" y="3573272"/>
                  </a:lnTo>
                  <a:lnTo>
                    <a:pt x="5335651" y="3573272"/>
                  </a:lnTo>
                  <a:lnTo>
                    <a:pt x="533565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30111" y="2440660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30111" y="3002889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30111" y="3565118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30111" y="4127474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30111" y="4689703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265164" y="2469642"/>
            <a:ext cx="464820" cy="2792730"/>
            <a:chOff x="6265164" y="2469642"/>
            <a:chExt cx="464820" cy="2792730"/>
          </a:xfrm>
        </p:grpSpPr>
        <p:pic>
          <p:nvPicPr>
            <p:cNvPr id="12" name="object 1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86500" y="3068574"/>
              <a:ext cx="422148" cy="39547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348984" y="4673346"/>
              <a:ext cx="296417" cy="5890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265164" y="2469642"/>
              <a:ext cx="464819" cy="5151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6444234" y="3592830"/>
              <a:ext cx="255269" cy="3947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348984" y="4089654"/>
              <a:ext cx="296417" cy="561594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7"/>
          <a:stretch>
            <a:fillRect/>
          </a:stretch>
        </p:blipFill>
        <p:spPr>
          <a:xfrm>
            <a:off x="6294882" y="3688079"/>
            <a:ext cx="288797" cy="299466"/>
          </a:xfrm>
          <a:prstGeom prst="rect">
            <a:avLst/>
          </a:prstGeom>
        </p:spPr>
      </p:pic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209964" y="1672335"/>
          <a:ext cx="5335905" cy="357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81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8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12420">
                        <a:lnSpc>
                          <a:spcPct val="100000"/>
                        </a:lnSpc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851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性价比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</a:pPr>
                      <a:r>
                        <a:rPr sz="2200" spc="6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(元/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橙汁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191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苹果汁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699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69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西瓜汁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45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苏打水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汽水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250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0.04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03250" y="1672335"/>
          <a:ext cx="5335903" cy="1658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200" spc="-3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365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200" spc="-3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092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总价格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橙汁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苹果汁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0" name="object 20"/>
          <p:cNvPicPr/>
          <p:nvPr/>
        </p:nvPicPr>
        <p:blipFill>
          <a:blip r:embed="rId8"/>
          <a:stretch>
            <a:fillRect/>
          </a:stretch>
        </p:blipFill>
        <p:spPr>
          <a:xfrm>
            <a:off x="686562" y="2965704"/>
            <a:ext cx="356616" cy="34213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/>
          <a:stretch>
            <a:fillRect/>
          </a:stretch>
        </p:blipFill>
        <p:spPr>
          <a:xfrm>
            <a:off x="686562" y="2458211"/>
            <a:ext cx="392430" cy="445008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495805" y="4215384"/>
            <a:ext cx="2821940" cy="2534920"/>
            <a:chOff x="1495805" y="4215384"/>
            <a:chExt cx="2821940" cy="2534920"/>
          </a:xfrm>
        </p:grpSpPr>
        <p:sp>
          <p:nvSpPr>
            <p:cNvPr id="23" name="object 23"/>
            <p:cNvSpPr/>
            <p:nvPr/>
          </p:nvSpPr>
          <p:spPr>
            <a:xfrm>
              <a:off x="2256281" y="6087618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2" y="0"/>
                  </a:moveTo>
                  <a:lnTo>
                    <a:pt x="0" y="0"/>
                  </a:lnTo>
                  <a:lnTo>
                    <a:pt x="0" y="428574"/>
                  </a:lnTo>
                  <a:lnTo>
                    <a:pt x="69723" y="498347"/>
                  </a:lnTo>
                  <a:lnTo>
                    <a:pt x="1416939" y="498347"/>
                  </a:lnTo>
                  <a:lnTo>
                    <a:pt x="1486662" y="428574"/>
                  </a:lnTo>
                  <a:lnTo>
                    <a:pt x="1486662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31136" y="5814060"/>
              <a:ext cx="1558290" cy="273685"/>
            </a:xfrm>
            <a:custGeom>
              <a:avLst/>
              <a:gdLst/>
              <a:ahLst/>
              <a:cxnLst/>
              <a:rect l="l" t="t" r="r" b="b"/>
              <a:pathLst>
                <a:path w="1558289" h="273685">
                  <a:moveTo>
                    <a:pt x="1558289" y="0"/>
                  </a:moveTo>
                  <a:lnTo>
                    <a:pt x="0" y="0"/>
                  </a:lnTo>
                  <a:lnTo>
                    <a:pt x="0" y="246113"/>
                  </a:lnTo>
                  <a:lnTo>
                    <a:pt x="27431" y="273557"/>
                  </a:lnTo>
                  <a:lnTo>
                    <a:pt x="1530858" y="273557"/>
                  </a:lnTo>
                  <a:lnTo>
                    <a:pt x="1558289" y="246113"/>
                  </a:lnTo>
                  <a:lnTo>
                    <a:pt x="1558289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495805" y="4215384"/>
              <a:ext cx="2821686" cy="2534412"/>
            </a:xfrm>
            <a:prstGeom prst="rect">
              <a:avLst/>
            </a:prstGeom>
          </p:spPr>
        </p:pic>
      </p:grp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5693F33A-967F-F447-806A-DA1B2DF2F8F7}"/>
              </a:ext>
            </a:extLst>
          </p:cNvPr>
          <p:cNvCxnSpPr/>
          <p:nvPr/>
        </p:nvCxnSpPr>
        <p:spPr>
          <a:xfrm>
            <a:off x="6209964" y="2419144"/>
            <a:ext cx="5335905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bject 2">
            <a:extLst>
              <a:ext uri="{FF2B5EF4-FFF2-40B4-BE49-F238E27FC236}">
                <a16:creationId xmlns:a16="http://schemas.microsoft.com/office/drawing/2014/main" id="{EE2F3F5F-CC77-E74C-9892-A9B4F96C0BF1}"/>
              </a:ext>
            </a:extLst>
          </p:cNvPr>
          <p:cNvSpPr txBox="1"/>
          <p:nvPr/>
        </p:nvSpPr>
        <p:spPr>
          <a:xfrm>
            <a:off x="3711828" y="262542"/>
            <a:ext cx="286004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解决方案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73EC625A-5C4A-E841-99C3-41C05949FB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624" y="269039"/>
            <a:ext cx="286003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6230111" y="1678685"/>
            <a:ext cx="5335905" cy="3573779"/>
            <a:chOff x="6230111" y="1678685"/>
            <a:chExt cx="5335905" cy="3573779"/>
          </a:xfrm>
        </p:grpSpPr>
        <p:sp>
          <p:nvSpPr>
            <p:cNvPr id="5" name="object 5"/>
            <p:cNvSpPr/>
            <p:nvPr/>
          </p:nvSpPr>
          <p:spPr>
            <a:xfrm>
              <a:off x="6230111" y="1678685"/>
              <a:ext cx="5335905" cy="3573779"/>
            </a:xfrm>
            <a:custGeom>
              <a:avLst/>
              <a:gdLst/>
              <a:ahLst/>
              <a:cxnLst/>
              <a:rect l="l" t="t" r="r" b="b"/>
              <a:pathLst>
                <a:path w="5335905" h="3573779">
                  <a:moveTo>
                    <a:pt x="5335651" y="0"/>
                  </a:moveTo>
                  <a:lnTo>
                    <a:pt x="0" y="0"/>
                  </a:lnTo>
                  <a:lnTo>
                    <a:pt x="0" y="3573272"/>
                  </a:lnTo>
                  <a:lnTo>
                    <a:pt x="5335651" y="3573272"/>
                  </a:lnTo>
                  <a:lnTo>
                    <a:pt x="533565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30111" y="2440660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30111" y="3002889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30111" y="3565118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30111" y="4127474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30111" y="4689703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265164" y="2469642"/>
            <a:ext cx="464820" cy="2792730"/>
            <a:chOff x="6265164" y="2469642"/>
            <a:chExt cx="464820" cy="2792730"/>
          </a:xfrm>
        </p:grpSpPr>
        <p:pic>
          <p:nvPicPr>
            <p:cNvPr id="12" name="object 1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86500" y="3068574"/>
              <a:ext cx="422148" cy="39547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348984" y="4673346"/>
              <a:ext cx="296417" cy="5890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265164" y="2469642"/>
              <a:ext cx="464819" cy="5151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6444234" y="3592830"/>
              <a:ext cx="255269" cy="3947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348984" y="4089654"/>
              <a:ext cx="296417" cy="561594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7"/>
          <a:stretch>
            <a:fillRect/>
          </a:stretch>
        </p:blipFill>
        <p:spPr>
          <a:xfrm>
            <a:off x="6294882" y="3688079"/>
            <a:ext cx="288797" cy="299466"/>
          </a:xfrm>
          <a:prstGeom prst="rect">
            <a:avLst/>
          </a:prstGeom>
        </p:spPr>
      </p:pic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200441" y="1672335"/>
          <a:ext cx="5335905" cy="357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81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8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12420">
                        <a:lnSpc>
                          <a:spcPct val="100000"/>
                        </a:lnSpc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851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性价比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</a:pPr>
                      <a:r>
                        <a:rPr sz="2200" spc="6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(元/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橙汁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191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苹果汁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699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西瓜汁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572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45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苏打水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汽水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250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0.04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03250" y="1672335"/>
          <a:ext cx="5335903" cy="2096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200" spc="-3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365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200" spc="-3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092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总价格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橙汁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苹果汁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西瓜汁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45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0" name="object 20"/>
          <p:cNvPicPr/>
          <p:nvPr/>
        </p:nvPicPr>
        <p:blipFill>
          <a:blip r:embed="rId8"/>
          <a:stretch>
            <a:fillRect/>
          </a:stretch>
        </p:blipFill>
        <p:spPr>
          <a:xfrm>
            <a:off x="686562" y="2965704"/>
            <a:ext cx="356616" cy="34213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/>
          <a:stretch>
            <a:fillRect/>
          </a:stretch>
        </p:blipFill>
        <p:spPr>
          <a:xfrm>
            <a:off x="686562" y="2458211"/>
            <a:ext cx="392430" cy="445008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696468" y="3370326"/>
            <a:ext cx="341630" cy="341630"/>
            <a:chOff x="696468" y="3370326"/>
            <a:chExt cx="341630" cy="341630"/>
          </a:xfrm>
        </p:grpSpPr>
        <p:pic>
          <p:nvPicPr>
            <p:cNvPr id="23" name="object 23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822197" y="3370326"/>
              <a:ext cx="215646" cy="3413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696468" y="3452622"/>
              <a:ext cx="243078" cy="259079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1495805" y="4215384"/>
            <a:ext cx="2821940" cy="2534920"/>
            <a:chOff x="1495805" y="4215384"/>
            <a:chExt cx="2821940" cy="2534920"/>
          </a:xfrm>
        </p:grpSpPr>
        <p:sp>
          <p:nvSpPr>
            <p:cNvPr id="26" name="object 26"/>
            <p:cNvSpPr/>
            <p:nvPr/>
          </p:nvSpPr>
          <p:spPr>
            <a:xfrm>
              <a:off x="2184654" y="5239512"/>
              <a:ext cx="1630045" cy="628650"/>
            </a:xfrm>
            <a:custGeom>
              <a:avLst/>
              <a:gdLst/>
              <a:ahLst/>
              <a:cxnLst/>
              <a:rect l="l" t="t" r="r" b="b"/>
              <a:pathLst>
                <a:path w="1630045" h="628650">
                  <a:moveTo>
                    <a:pt x="1629918" y="0"/>
                  </a:moveTo>
                  <a:lnTo>
                    <a:pt x="0" y="0"/>
                  </a:lnTo>
                  <a:lnTo>
                    <a:pt x="0" y="504164"/>
                  </a:lnTo>
                  <a:lnTo>
                    <a:pt x="124459" y="628650"/>
                  </a:lnTo>
                  <a:lnTo>
                    <a:pt x="1505458" y="628650"/>
                  </a:lnTo>
                  <a:lnTo>
                    <a:pt x="1629918" y="504164"/>
                  </a:lnTo>
                  <a:lnTo>
                    <a:pt x="1629918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56281" y="6087618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2" y="0"/>
                  </a:moveTo>
                  <a:lnTo>
                    <a:pt x="0" y="0"/>
                  </a:lnTo>
                  <a:lnTo>
                    <a:pt x="0" y="406590"/>
                  </a:lnTo>
                  <a:lnTo>
                    <a:pt x="91693" y="498347"/>
                  </a:lnTo>
                  <a:lnTo>
                    <a:pt x="1394968" y="498347"/>
                  </a:lnTo>
                  <a:lnTo>
                    <a:pt x="1486662" y="406590"/>
                  </a:lnTo>
                  <a:lnTo>
                    <a:pt x="1486662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31136" y="5814060"/>
              <a:ext cx="1558290" cy="273685"/>
            </a:xfrm>
            <a:custGeom>
              <a:avLst/>
              <a:gdLst/>
              <a:ahLst/>
              <a:cxnLst/>
              <a:rect l="l" t="t" r="r" b="b"/>
              <a:pathLst>
                <a:path w="1558289" h="273685">
                  <a:moveTo>
                    <a:pt x="1558289" y="0"/>
                  </a:moveTo>
                  <a:lnTo>
                    <a:pt x="0" y="0"/>
                  </a:lnTo>
                  <a:lnTo>
                    <a:pt x="0" y="246113"/>
                  </a:lnTo>
                  <a:lnTo>
                    <a:pt x="27431" y="273557"/>
                  </a:lnTo>
                  <a:lnTo>
                    <a:pt x="1530858" y="273557"/>
                  </a:lnTo>
                  <a:lnTo>
                    <a:pt x="1558289" y="246113"/>
                  </a:lnTo>
                  <a:lnTo>
                    <a:pt x="1558289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29789" y="4866894"/>
              <a:ext cx="1739900" cy="438150"/>
            </a:xfrm>
            <a:custGeom>
              <a:avLst/>
              <a:gdLst/>
              <a:ahLst/>
              <a:cxnLst/>
              <a:rect l="l" t="t" r="r" b="b"/>
              <a:pathLst>
                <a:path w="1739900" h="438150">
                  <a:moveTo>
                    <a:pt x="1739646" y="0"/>
                  </a:moveTo>
                  <a:lnTo>
                    <a:pt x="0" y="0"/>
                  </a:lnTo>
                  <a:lnTo>
                    <a:pt x="0" y="382142"/>
                  </a:lnTo>
                  <a:lnTo>
                    <a:pt x="56007" y="438149"/>
                  </a:lnTo>
                  <a:lnTo>
                    <a:pt x="1683639" y="438149"/>
                  </a:lnTo>
                  <a:lnTo>
                    <a:pt x="1739646" y="382142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1495805" y="4215384"/>
              <a:ext cx="2821686" cy="2534412"/>
            </a:xfrm>
            <a:prstGeom prst="rect">
              <a:avLst/>
            </a:prstGeom>
          </p:spPr>
        </p:pic>
      </p:grp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2FACB286-37D7-E844-9314-34A475DEFFCA}"/>
              </a:ext>
            </a:extLst>
          </p:cNvPr>
          <p:cNvCxnSpPr/>
          <p:nvPr/>
        </p:nvCxnSpPr>
        <p:spPr>
          <a:xfrm>
            <a:off x="6209964" y="2419144"/>
            <a:ext cx="5335905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bject 2">
            <a:extLst>
              <a:ext uri="{FF2B5EF4-FFF2-40B4-BE49-F238E27FC236}">
                <a16:creationId xmlns:a16="http://schemas.microsoft.com/office/drawing/2014/main" id="{6436B999-E510-2D48-9DAB-A4EC321424B2}"/>
              </a:ext>
            </a:extLst>
          </p:cNvPr>
          <p:cNvSpPr txBox="1"/>
          <p:nvPr/>
        </p:nvSpPr>
        <p:spPr>
          <a:xfrm>
            <a:off x="3711828" y="262542"/>
            <a:ext cx="286004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解决方案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5" name="object 3">
            <a:extLst>
              <a:ext uri="{FF2B5EF4-FFF2-40B4-BE49-F238E27FC236}">
                <a16:creationId xmlns:a16="http://schemas.microsoft.com/office/drawing/2014/main" id="{AC3F65BE-E775-1043-83E0-169F86002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624" y="269039"/>
            <a:ext cx="286003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6230111" y="1678685"/>
            <a:ext cx="5335905" cy="3573779"/>
            <a:chOff x="6230111" y="1678685"/>
            <a:chExt cx="5335905" cy="3573779"/>
          </a:xfrm>
        </p:grpSpPr>
        <p:sp>
          <p:nvSpPr>
            <p:cNvPr id="5" name="object 5"/>
            <p:cNvSpPr/>
            <p:nvPr/>
          </p:nvSpPr>
          <p:spPr>
            <a:xfrm>
              <a:off x="6230111" y="1678685"/>
              <a:ext cx="5335905" cy="3573779"/>
            </a:xfrm>
            <a:custGeom>
              <a:avLst/>
              <a:gdLst/>
              <a:ahLst/>
              <a:cxnLst/>
              <a:rect l="l" t="t" r="r" b="b"/>
              <a:pathLst>
                <a:path w="5335905" h="3573779">
                  <a:moveTo>
                    <a:pt x="5335651" y="0"/>
                  </a:moveTo>
                  <a:lnTo>
                    <a:pt x="0" y="0"/>
                  </a:lnTo>
                  <a:lnTo>
                    <a:pt x="0" y="3573272"/>
                  </a:lnTo>
                  <a:lnTo>
                    <a:pt x="5335651" y="3573272"/>
                  </a:lnTo>
                  <a:lnTo>
                    <a:pt x="533565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30111" y="2440660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30111" y="3002889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30111" y="3565118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30111" y="4127474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30111" y="4689703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265164" y="2469642"/>
            <a:ext cx="464820" cy="2792730"/>
            <a:chOff x="6265164" y="2469642"/>
            <a:chExt cx="464820" cy="2792730"/>
          </a:xfrm>
        </p:grpSpPr>
        <p:pic>
          <p:nvPicPr>
            <p:cNvPr id="12" name="object 1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86500" y="3068574"/>
              <a:ext cx="422148" cy="39547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348984" y="4673346"/>
              <a:ext cx="296417" cy="5890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265164" y="2469642"/>
              <a:ext cx="464819" cy="5151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6444234" y="3592830"/>
              <a:ext cx="255269" cy="3947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294882" y="3688080"/>
              <a:ext cx="288797" cy="29946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6348984" y="4089654"/>
              <a:ext cx="296417" cy="561594"/>
            </a:xfrm>
            <a:prstGeom prst="rect">
              <a:avLst/>
            </a:prstGeom>
          </p:spPr>
        </p:pic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200441" y="1672335"/>
          <a:ext cx="5335905" cy="357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81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8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12420">
                        <a:lnSpc>
                          <a:spcPct val="100000"/>
                        </a:lnSpc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851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性价比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</a:pPr>
                      <a:r>
                        <a:rPr sz="2200" spc="6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(元/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橙汁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191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苹果汁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699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西瓜汁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572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45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2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苏打水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572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汽水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250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0.04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03250" y="1672335"/>
          <a:ext cx="5335903" cy="2534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200" spc="-3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365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200" spc="-3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092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总价格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橙汁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苹果汁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西瓜汁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45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苏打水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object 20"/>
          <p:cNvPicPr/>
          <p:nvPr/>
        </p:nvPicPr>
        <p:blipFill>
          <a:blip r:embed="rId8"/>
          <a:stretch>
            <a:fillRect/>
          </a:stretch>
        </p:blipFill>
        <p:spPr>
          <a:xfrm>
            <a:off x="686562" y="2965704"/>
            <a:ext cx="356616" cy="34213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/>
          <a:stretch>
            <a:fillRect/>
          </a:stretch>
        </p:blipFill>
        <p:spPr>
          <a:xfrm>
            <a:off x="686562" y="2458211"/>
            <a:ext cx="392430" cy="445008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696468" y="3370326"/>
            <a:ext cx="341630" cy="788035"/>
            <a:chOff x="696468" y="3370326"/>
            <a:chExt cx="341630" cy="788035"/>
          </a:xfrm>
        </p:grpSpPr>
        <p:pic>
          <p:nvPicPr>
            <p:cNvPr id="23" name="object 23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822197" y="3370326"/>
              <a:ext cx="215646" cy="3413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696468" y="3452622"/>
              <a:ext cx="243078" cy="25907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757428" y="3748278"/>
              <a:ext cx="250697" cy="409956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495805" y="4215384"/>
            <a:ext cx="2821940" cy="2534920"/>
            <a:chOff x="1495805" y="4215384"/>
            <a:chExt cx="2821940" cy="2534920"/>
          </a:xfrm>
        </p:grpSpPr>
        <p:sp>
          <p:nvSpPr>
            <p:cNvPr id="27" name="object 27"/>
            <p:cNvSpPr/>
            <p:nvPr/>
          </p:nvSpPr>
          <p:spPr>
            <a:xfrm>
              <a:off x="2184654" y="5239512"/>
              <a:ext cx="1630045" cy="628650"/>
            </a:xfrm>
            <a:custGeom>
              <a:avLst/>
              <a:gdLst/>
              <a:ahLst/>
              <a:cxnLst/>
              <a:rect l="l" t="t" r="r" b="b"/>
              <a:pathLst>
                <a:path w="1630045" h="628650">
                  <a:moveTo>
                    <a:pt x="1629918" y="0"/>
                  </a:moveTo>
                  <a:lnTo>
                    <a:pt x="0" y="0"/>
                  </a:lnTo>
                  <a:lnTo>
                    <a:pt x="0" y="504164"/>
                  </a:lnTo>
                  <a:lnTo>
                    <a:pt x="124459" y="628650"/>
                  </a:lnTo>
                  <a:lnTo>
                    <a:pt x="1505458" y="628650"/>
                  </a:lnTo>
                  <a:lnTo>
                    <a:pt x="1629918" y="504164"/>
                  </a:lnTo>
                  <a:lnTo>
                    <a:pt x="1629918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29789" y="4866894"/>
              <a:ext cx="1739900" cy="438150"/>
            </a:xfrm>
            <a:custGeom>
              <a:avLst/>
              <a:gdLst/>
              <a:ahLst/>
              <a:cxnLst/>
              <a:rect l="l" t="t" r="r" b="b"/>
              <a:pathLst>
                <a:path w="1739900" h="438150">
                  <a:moveTo>
                    <a:pt x="1739646" y="0"/>
                  </a:moveTo>
                  <a:lnTo>
                    <a:pt x="0" y="0"/>
                  </a:lnTo>
                  <a:lnTo>
                    <a:pt x="0" y="382142"/>
                  </a:lnTo>
                  <a:lnTo>
                    <a:pt x="56007" y="438149"/>
                  </a:lnTo>
                  <a:lnTo>
                    <a:pt x="1683639" y="438149"/>
                  </a:lnTo>
                  <a:lnTo>
                    <a:pt x="1739646" y="382142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56281" y="6087618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2" y="0"/>
                  </a:moveTo>
                  <a:lnTo>
                    <a:pt x="0" y="0"/>
                  </a:lnTo>
                  <a:lnTo>
                    <a:pt x="0" y="419773"/>
                  </a:lnTo>
                  <a:lnTo>
                    <a:pt x="78612" y="498347"/>
                  </a:lnTo>
                  <a:lnTo>
                    <a:pt x="1408048" y="498347"/>
                  </a:lnTo>
                  <a:lnTo>
                    <a:pt x="1486662" y="419773"/>
                  </a:lnTo>
                  <a:lnTo>
                    <a:pt x="1486662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31136" y="5814060"/>
              <a:ext cx="1558290" cy="273685"/>
            </a:xfrm>
            <a:custGeom>
              <a:avLst/>
              <a:gdLst/>
              <a:ahLst/>
              <a:cxnLst/>
              <a:rect l="l" t="t" r="r" b="b"/>
              <a:pathLst>
                <a:path w="1558289" h="273685">
                  <a:moveTo>
                    <a:pt x="1558289" y="0"/>
                  </a:moveTo>
                  <a:lnTo>
                    <a:pt x="0" y="0"/>
                  </a:lnTo>
                  <a:lnTo>
                    <a:pt x="0" y="246113"/>
                  </a:lnTo>
                  <a:lnTo>
                    <a:pt x="27431" y="273557"/>
                  </a:lnTo>
                  <a:lnTo>
                    <a:pt x="1530858" y="273557"/>
                  </a:lnTo>
                  <a:lnTo>
                    <a:pt x="1558289" y="246113"/>
                  </a:lnTo>
                  <a:lnTo>
                    <a:pt x="1558289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1495805" y="4215384"/>
              <a:ext cx="2821686" cy="2534412"/>
            </a:xfrm>
            <a:prstGeom prst="rect">
              <a:avLst/>
            </a:prstGeom>
          </p:spPr>
        </p:pic>
      </p:grp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02416B2D-BF9E-D14E-97A3-4AA9017DF642}"/>
              </a:ext>
            </a:extLst>
          </p:cNvPr>
          <p:cNvCxnSpPr/>
          <p:nvPr/>
        </p:nvCxnSpPr>
        <p:spPr>
          <a:xfrm>
            <a:off x="6209964" y="2429902"/>
            <a:ext cx="5335905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bject 2">
            <a:extLst>
              <a:ext uri="{FF2B5EF4-FFF2-40B4-BE49-F238E27FC236}">
                <a16:creationId xmlns:a16="http://schemas.microsoft.com/office/drawing/2014/main" id="{DF20B34F-24EB-984A-A6E4-07F0EDC4B0AC}"/>
              </a:ext>
            </a:extLst>
          </p:cNvPr>
          <p:cNvSpPr txBox="1"/>
          <p:nvPr/>
        </p:nvSpPr>
        <p:spPr>
          <a:xfrm>
            <a:off x="3711828" y="262542"/>
            <a:ext cx="286004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解决方案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6" name="object 3">
            <a:extLst>
              <a:ext uri="{FF2B5EF4-FFF2-40B4-BE49-F238E27FC236}">
                <a16:creationId xmlns:a16="http://schemas.microsoft.com/office/drawing/2014/main" id="{0F77457E-B02B-9F4D-95A7-161E73CCFC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624" y="269039"/>
            <a:ext cx="286003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7" name="矩形标注 36">
            <a:extLst>
              <a:ext uri="{FF2B5EF4-FFF2-40B4-BE49-F238E27FC236}">
                <a16:creationId xmlns:a16="http://schemas.microsoft.com/office/drawing/2014/main" id="{238D2705-0C69-854A-9BE0-48490BE7A450}"/>
              </a:ext>
            </a:extLst>
          </p:cNvPr>
          <p:cNvSpPr/>
          <p:nvPr/>
        </p:nvSpPr>
        <p:spPr>
          <a:xfrm>
            <a:off x="4264546" y="4514649"/>
            <a:ext cx="1674607" cy="474319"/>
          </a:xfrm>
          <a:prstGeom prst="wedgeRectCallout">
            <a:avLst>
              <a:gd name="adj1" fmla="val -36892"/>
              <a:gd name="adj2" fmla="val -1257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部分背包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6230111" y="1678685"/>
            <a:ext cx="5335905" cy="3573779"/>
            <a:chOff x="6230111" y="1678685"/>
            <a:chExt cx="5335905" cy="3573779"/>
          </a:xfrm>
        </p:grpSpPr>
        <p:sp>
          <p:nvSpPr>
            <p:cNvPr id="5" name="object 5"/>
            <p:cNvSpPr/>
            <p:nvPr/>
          </p:nvSpPr>
          <p:spPr>
            <a:xfrm>
              <a:off x="6230111" y="1678685"/>
              <a:ext cx="5335905" cy="3573779"/>
            </a:xfrm>
            <a:custGeom>
              <a:avLst/>
              <a:gdLst/>
              <a:ahLst/>
              <a:cxnLst/>
              <a:rect l="l" t="t" r="r" b="b"/>
              <a:pathLst>
                <a:path w="5335905" h="3573779">
                  <a:moveTo>
                    <a:pt x="5335651" y="0"/>
                  </a:moveTo>
                  <a:lnTo>
                    <a:pt x="0" y="0"/>
                  </a:lnTo>
                  <a:lnTo>
                    <a:pt x="0" y="3573272"/>
                  </a:lnTo>
                  <a:lnTo>
                    <a:pt x="5335651" y="3573272"/>
                  </a:lnTo>
                  <a:lnTo>
                    <a:pt x="533565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30111" y="2440660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30111" y="3002889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30111" y="3565118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30111" y="4127474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30111" y="4689703"/>
              <a:ext cx="1807210" cy="562610"/>
            </a:xfrm>
            <a:custGeom>
              <a:avLst/>
              <a:gdLst/>
              <a:ahLst/>
              <a:cxnLst/>
              <a:rect l="l" t="t" r="r" b="b"/>
              <a:pathLst>
                <a:path w="1807208" h="562610">
                  <a:moveTo>
                    <a:pt x="1806701" y="0"/>
                  </a:moveTo>
                  <a:lnTo>
                    <a:pt x="0" y="0"/>
                  </a:lnTo>
                  <a:lnTo>
                    <a:pt x="0" y="562254"/>
                  </a:lnTo>
                  <a:lnTo>
                    <a:pt x="1806701" y="562254"/>
                  </a:lnTo>
                  <a:lnTo>
                    <a:pt x="1806701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265164" y="2469642"/>
            <a:ext cx="464820" cy="2792730"/>
            <a:chOff x="6265164" y="2469642"/>
            <a:chExt cx="464820" cy="2792730"/>
          </a:xfrm>
        </p:grpSpPr>
        <p:pic>
          <p:nvPicPr>
            <p:cNvPr id="12" name="object 1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286500" y="3068574"/>
              <a:ext cx="422148" cy="39547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348984" y="4673346"/>
              <a:ext cx="296417" cy="5890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6265164" y="2469642"/>
              <a:ext cx="464819" cy="5151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444234" y="3592830"/>
              <a:ext cx="255269" cy="3947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6294882" y="3688080"/>
              <a:ext cx="288797" cy="29946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6348984" y="4089654"/>
              <a:ext cx="296417" cy="561594"/>
            </a:xfrm>
            <a:prstGeom prst="rect">
              <a:avLst/>
            </a:prstGeom>
          </p:spPr>
        </p:pic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200441" y="1672335"/>
          <a:ext cx="5335905" cy="357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81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8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12420">
                        <a:lnSpc>
                          <a:spcPct val="100000"/>
                        </a:lnSpc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851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性价比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</a:pPr>
                      <a:r>
                        <a:rPr sz="2200" spc="6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(元/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橙汁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191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苹果汁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699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西瓜汁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572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45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2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苏打水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5725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600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0000"/>
                      </a:solidFill>
                      <a:prstDash val="sysDash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57150">
                      <a:solidFill>
                        <a:srgbClr val="FF0000"/>
                      </a:solidFill>
                      <a:prstDash val="sysDash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汽水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250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0.04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03250" y="1672335"/>
          <a:ext cx="5335903" cy="2534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饮料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200" spc="-3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365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200" spc="-3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marL="3092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</a:t>
                      </a:r>
                      <a:r>
                        <a:rPr sz="2200" b="1" spc="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2200" spc="5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总价格</a:t>
                      </a:r>
                      <a:endParaRPr sz="2200">
                        <a:latin typeface="PMingLiU"/>
                        <a:cs typeface="PMingLiU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spc="7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(元)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橙汁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367665">
                        <a:lnSpc>
                          <a:spcPct val="100000"/>
                        </a:lnSpc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117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苹果汁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西瓜汁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45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300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苏打水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object 20"/>
          <p:cNvPicPr/>
          <p:nvPr/>
        </p:nvPicPr>
        <p:blipFill>
          <a:blip r:embed="rId9"/>
          <a:stretch>
            <a:fillRect/>
          </a:stretch>
        </p:blipFill>
        <p:spPr>
          <a:xfrm>
            <a:off x="686562" y="2965704"/>
            <a:ext cx="356616" cy="34213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/>
          <a:stretch>
            <a:fillRect/>
          </a:stretch>
        </p:blipFill>
        <p:spPr>
          <a:xfrm>
            <a:off x="686562" y="2458211"/>
            <a:ext cx="392430" cy="445008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696468" y="3370326"/>
            <a:ext cx="341630" cy="788035"/>
            <a:chOff x="696468" y="3370326"/>
            <a:chExt cx="341630" cy="788035"/>
          </a:xfrm>
        </p:grpSpPr>
        <p:pic>
          <p:nvPicPr>
            <p:cNvPr id="23" name="object 23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822197" y="3370326"/>
              <a:ext cx="215646" cy="3413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696468" y="3452622"/>
              <a:ext cx="243078" cy="25907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757428" y="3748278"/>
              <a:ext cx="250697" cy="409956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495805" y="4215384"/>
            <a:ext cx="2821940" cy="2534920"/>
            <a:chOff x="1495805" y="4215384"/>
            <a:chExt cx="2821940" cy="2534920"/>
          </a:xfrm>
        </p:grpSpPr>
        <p:sp>
          <p:nvSpPr>
            <p:cNvPr id="27" name="object 27"/>
            <p:cNvSpPr/>
            <p:nvPr/>
          </p:nvSpPr>
          <p:spPr>
            <a:xfrm>
              <a:off x="2184654" y="5239512"/>
              <a:ext cx="1630045" cy="628650"/>
            </a:xfrm>
            <a:custGeom>
              <a:avLst/>
              <a:gdLst/>
              <a:ahLst/>
              <a:cxnLst/>
              <a:rect l="l" t="t" r="r" b="b"/>
              <a:pathLst>
                <a:path w="1630045" h="628650">
                  <a:moveTo>
                    <a:pt x="1629918" y="0"/>
                  </a:moveTo>
                  <a:lnTo>
                    <a:pt x="0" y="0"/>
                  </a:lnTo>
                  <a:lnTo>
                    <a:pt x="0" y="504164"/>
                  </a:lnTo>
                  <a:lnTo>
                    <a:pt x="124459" y="628650"/>
                  </a:lnTo>
                  <a:lnTo>
                    <a:pt x="1505458" y="628650"/>
                  </a:lnTo>
                  <a:lnTo>
                    <a:pt x="1629918" y="504164"/>
                  </a:lnTo>
                  <a:lnTo>
                    <a:pt x="1629918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29789" y="4866894"/>
              <a:ext cx="1739900" cy="438150"/>
            </a:xfrm>
            <a:custGeom>
              <a:avLst/>
              <a:gdLst/>
              <a:ahLst/>
              <a:cxnLst/>
              <a:rect l="l" t="t" r="r" b="b"/>
              <a:pathLst>
                <a:path w="1739900" h="438150">
                  <a:moveTo>
                    <a:pt x="1739646" y="0"/>
                  </a:moveTo>
                  <a:lnTo>
                    <a:pt x="0" y="0"/>
                  </a:lnTo>
                  <a:lnTo>
                    <a:pt x="0" y="382142"/>
                  </a:lnTo>
                  <a:lnTo>
                    <a:pt x="56007" y="438149"/>
                  </a:lnTo>
                  <a:lnTo>
                    <a:pt x="1683639" y="438149"/>
                  </a:lnTo>
                  <a:lnTo>
                    <a:pt x="1739646" y="382142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56281" y="6087618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2" y="0"/>
                  </a:moveTo>
                  <a:lnTo>
                    <a:pt x="0" y="0"/>
                  </a:lnTo>
                  <a:lnTo>
                    <a:pt x="0" y="419773"/>
                  </a:lnTo>
                  <a:lnTo>
                    <a:pt x="78612" y="498347"/>
                  </a:lnTo>
                  <a:lnTo>
                    <a:pt x="1408048" y="498347"/>
                  </a:lnTo>
                  <a:lnTo>
                    <a:pt x="1486662" y="419773"/>
                  </a:lnTo>
                  <a:lnTo>
                    <a:pt x="1486662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31136" y="5814060"/>
              <a:ext cx="1558290" cy="273685"/>
            </a:xfrm>
            <a:custGeom>
              <a:avLst/>
              <a:gdLst/>
              <a:ahLst/>
              <a:cxnLst/>
              <a:rect l="l" t="t" r="r" b="b"/>
              <a:pathLst>
                <a:path w="1558289" h="273685">
                  <a:moveTo>
                    <a:pt x="1558289" y="0"/>
                  </a:moveTo>
                  <a:lnTo>
                    <a:pt x="0" y="0"/>
                  </a:lnTo>
                  <a:lnTo>
                    <a:pt x="0" y="246113"/>
                  </a:lnTo>
                  <a:lnTo>
                    <a:pt x="27431" y="273557"/>
                  </a:lnTo>
                  <a:lnTo>
                    <a:pt x="1530858" y="273557"/>
                  </a:lnTo>
                  <a:lnTo>
                    <a:pt x="1558289" y="246113"/>
                  </a:lnTo>
                  <a:lnTo>
                    <a:pt x="1558289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1495805" y="4215384"/>
              <a:ext cx="2821686" cy="2534412"/>
            </a:xfrm>
            <a:prstGeom prst="rect">
              <a:avLst/>
            </a:prstGeom>
          </p:spPr>
        </p:pic>
      </p:grp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74714E72-79FC-C34C-876E-AE7A80BA18FE}"/>
              </a:ext>
            </a:extLst>
          </p:cNvPr>
          <p:cNvCxnSpPr/>
          <p:nvPr/>
        </p:nvCxnSpPr>
        <p:spPr>
          <a:xfrm>
            <a:off x="6209964" y="2408386"/>
            <a:ext cx="5335905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bject 2">
            <a:extLst>
              <a:ext uri="{FF2B5EF4-FFF2-40B4-BE49-F238E27FC236}">
                <a16:creationId xmlns:a16="http://schemas.microsoft.com/office/drawing/2014/main" id="{A6CC6471-0AB5-D541-8A09-9C2AF761F7E7}"/>
              </a:ext>
            </a:extLst>
          </p:cNvPr>
          <p:cNvSpPr txBox="1"/>
          <p:nvPr/>
        </p:nvSpPr>
        <p:spPr>
          <a:xfrm>
            <a:off x="3711828" y="262542"/>
            <a:ext cx="286004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解决方案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6" name="object 3">
            <a:extLst>
              <a:ext uri="{FF2B5EF4-FFF2-40B4-BE49-F238E27FC236}">
                <a16:creationId xmlns:a16="http://schemas.microsoft.com/office/drawing/2014/main" id="{27BB7DCB-C51C-A949-AEBD-210350FCCB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624" y="269039"/>
            <a:ext cx="286003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9436" y="975907"/>
            <a:ext cx="463867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贪心策略：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3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证明：贪心解不劣于最优解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6364" y="280947"/>
            <a:ext cx="254160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正确性证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明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1754" y="2417064"/>
            <a:ext cx="2838450" cy="465512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13105">
              <a:lnSpc>
                <a:spcPct val="100000"/>
              </a:lnSpc>
              <a:spcBef>
                <a:spcPts val="270"/>
              </a:spcBef>
            </a:pPr>
            <a:r>
              <a:rPr sz="2800" spc="-5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最优解</a:t>
            </a:r>
            <a:r>
              <a:rPr sz="2800" spc="-25" dirty="0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-37" baseline="28455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3075" baseline="28455" dirty="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13959" y="2602229"/>
            <a:ext cx="2021839" cy="273050"/>
          </a:xfrm>
          <a:custGeom>
            <a:avLst/>
            <a:gdLst/>
            <a:ahLst/>
            <a:cxnLst/>
            <a:rect l="l" t="t" r="r" b="b"/>
            <a:pathLst>
              <a:path w="2021839" h="273050">
                <a:moveTo>
                  <a:pt x="1885188" y="0"/>
                </a:moveTo>
                <a:lnTo>
                  <a:pt x="1885188" y="68199"/>
                </a:lnTo>
                <a:lnTo>
                  <a:pt x="0" y="68199"/>
                </a:lnTo>
                <a:lnTo>
                  <a:pt x="0" y="204597"/>
                </a:lnTo>
                <a:lnTo>
                  <a:pt x="1885188" y="204597"/>
                </a:lnTo>
                <a:lnTo>
                  <a:pt x="1885188" y="272796"/>
                </a:lnTo>
                <a:lnTo>
                  <a:pt x="2021586" y="136398"/>
                </a:lnTo>
                <a:lnTo>
                  <a:pt x="188518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70064" y="2447544"/>
            <a:ext cx="2838450" cy="465512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30885">
              <a:lnSpc>
                <a:spcPct val="100000"/>
              </a:lnSpc>
              <a:spcBef>
                <a:spcPts val="270"/>
              </a:spcBef>
            </a:pPr>
            <a:r>
              <a:rPr sz="280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贪心解</a:t>
            </a:r>
            <a:r>
              <a:rPr sz="2800" spc="70" dirty="0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104" baseline="28455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3075" baseline="28455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8508" y="2268220"/>
            <a:ext cx="864869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5">
                <a:latin typeface="PMingLiU"/>
                <a:cs typeface="PMingLiU"/>
              </a:rPr>
              <a:t>替换为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868" y="3993134"/>
            <a:ext cx="1424305" cy="1024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ctr">
              <a:lnSpc>
                <a:spcPct val="99000"/>
              </a:lnSpc>
              <a:spcBef>
                <a:spcPts val="125"/>
              </a:spcBef>
            </a:pP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最优解方案也按性价比</a:t>
            </a:r>
            <a:r>
              <a:rPr sz="22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降序排序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00022" y="3153155"/>
            <a:ext cx="8574405" cy="2535555"/>
            <a:chOff x="1700022" y="3153155"/>
            <a:chExt cx="8574405" cy="2535555"/>
          </a:xfrm>
        </p:grpSpPr>
        <p:sp>
          <p:nvSpPr>
            <p:cNvPr id="10" name="object 10"/>
            <p:cNvSpPr/>
            <p:nvPr/>
          </p:nvSpPr>
          <p:spPr>
            <a:xfrm>
              <a:off x="10159745" y="3516629"/>
              <a:ext cx="114300" cy="2072005"/>
            </a:xfrm>
            <a:custGeom>
              <a:avLst/>
              <a:gdLst/>
              <a:ahLst/>
              <a:cxnLst/>
              <a:rect l="l" t="t" r="r" b="b"/>
              <a:pathLst>
                <a:path w="114300" h="207200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071941"/>
                  </a:lnTo>
                  <a:lnTo>
                    <a:pt x="76200" y="2071941"/>
                  </a:lnTo>
                  <a:lnTo>
                    <a:pt x="76200" y="95250"/>
                  </a:lnTo>
                  <a:close/>
                </a:path>
                <a:path w="114300" h="207200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07200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74913" y="4177283"/>
              <a:ext cx="1630045" cy="628650"/>
            </a:xfrm>
            <a:custGeom>
              <a:avLst/>
              <a:gdLst/>
              <a:ahLst/>
              <a:cxnLst/>
              <a:rect l="l" t="t" r="r" b="b"/>
              <a:pathLst>
                <a:path w="1630045" h="628650">
                  <a:moveTo>
                    <a:pt x="1629917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124459" y="628650"/>
                  </a:lnTo>
                  <a:lnTo>
                    <a:pt x="1505457" y="628650"/>
                  </a:lnTo>
                  <a:lnTo>
                    <a:pt x="1629917" y="504190"/>
                  </a:lnTo>
                  <a:lnTo>
                    <a:pt x="1629917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20050" y="3804665"/>
              <a:ext cx="1739900" cy="438150"/>
            </a:xfrm>
            <a:custGeom>
              <a:avLst/>
              <a:gdLst/>
              <a:ahLst/>
              <a:cxnLst/>
              <a:rect l="l" t="t" r="r" b="b"/>
              <a:pathLst>
                <a:path w="1739900" h="438150">
                  <a:moveTo>
                    <a:pt x="1739646" y="0"/>
                  </a:moveTo>
                  <a:lnTo>
                    <a:pt x="0" y="0"/>
                  </a:lnTo>
                  <a:lnTo>
                    <a:pt x="0" y="382142"/>
                  </a:lnTo>
                  <a:lnTo>
                    <a:pt x="56006" y="438149"/>
                  </a:lnTo>
                  <a:lnTo>
                    <a:pt x="1683639" y="438149"/>
                  </a:lnTo>
                  <a:lnTo>
                    <a:pt x="1739646" y="382142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46542" y="5025389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415417"/>
                  </a:lnTo>
                  <a:lnTo>
                    <a:pt x="82930" y="498348"/>
                  </a:lnTo>
                  <a:lnTo>
                    <a:pt x="1403730" y="498348"/>
                  </a:lnTo>
                  <a:lnTo>
                    <a:pt x="1486661" y="415417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21395" y="4751831"/>
              <a:ext cx="1558290" cy="273685"/>
            </a:xfrm>
            <a:custGeom>
              <a:avLst/>
              <a:gdLst/>
              <a:ahLst/>
              <a:cxnLst/>
              <a:rect l="l" t="t" r="r" b="b"/>
              <a:pathLst>
                <a:path w="1558290" h="273685">
                  <a:moveTo>
                    <a:pt x="1558289" y="0"/>
                  </a:moveTo>
                  <a:lnTo>
                    <a:pt x="0" y="0"/>
                  </a:lnTo>
                  <a:lnTo>
                    <a:pt x="0" y="246126"/>
                  </a:lnTo>
                  <a:lnTo>
                    <a:pt x="27431" y="273558"/>
                  </a:lnTo>
                  <a:lnTo>
                    <a:pt x="1530857" y="273558"/>
                  </a:lnTo>
                  <a:lnTo>
                    <a:pt x="1558289" y="246126"/>
                  </a:lnTo>
                  <a:lnTo>
                    <a:pt x="1558289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386066" y="3153155"/>
              <a:ext cx="2821685" cy="253517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432304" y="3806189"/>
              <a:ext cx="1723389" cy="340360"/>
            </a:xfrm>
            <a:custGeom>
              <a:avLst/>
              <a:gdLst/>
              <a:ahLst/>
              <a:cxnLst/>
              <a:rect l="l" t="t" r="r" b="b"/>
              <a:pathLst>
                <a:path w="1723389" h="340360">
                  <a:moveTo>
                    <a:pt x="1722882" y="0"/>
                  </a:moveTo>
                  <a:lnTo>
                    <a:pt x="0" y="0"/>
                  </a:lnTo>
                  <a:lnTo>
                    <a:pt x="0" y="312166"/>
                  </a:lnTo>
                  <a:lnTo>
                    <a:pt x="27685" y="339852"/>
                  </a:lnTo>
                  <a:lnTo>
                    <a:pt x="1695195" y="339852"/>
                  </a:lnTo>
                  <a:lnTo>
                    <a:pt x="1722882" y="312166"/>
                  </a:lnTo>
                  <a:lnTo>
                    <a:pt x="1722882" y="0"/>
                  </a:lnTo>
                  <a:close/>
                </a:path>
              </a:pathLst>
            </a:custGeom>
            <a:solidFill>
              <a:srgbClr val="8E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09266" y="4470399"/>
              <a:ext cx="1592580" cy="340360"/>
            </a:xfrm>
            <a:custGeom>
              <a:avLst/>
              <a:gdLst/>
              <a:ahLst/>
              <a:cxnLst/>
              <a:rect l="l" t="t" r="r" b="b"/>
              <a:pathLst>
                <a:path w="1592579" h="340360">
                  <a:moveTo>
                    <a:pt x="1592580" y="0"/>
                  </a:moveTo>
                  <a:lnTo>
                    <a:pt x="0" y="0"/>
                  </a:lnTo>
                  <a:lnTo>
                    <a:pt x="0" y="336550"/>
                  </a:lnTo>
                  <a:lnTo>
                    <a:pt x="2527" y="336550"/>
                  </a:lnTo>
                  <a:lnTo>
                    <a:pt x="2527" y="340360"/>
                  </a:lnTo>
                  <a:lnTo>
                    <a:pt x="1590040" y="340360"/>
                  </a:lnTo>
                  <a:lnTo>
                    <a:pt x="1590040" y="336550"/>
                  </a:lnTo>
                  <a:lnTo>
                    <a:pt x="1592580" y="336550"/>
                  </a:lnTo>
                  <a:lnTo>
                    <a:pt x="1592580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87168" y="4146041"/>
              <a:ext cx="1642110" cy="339090"/>
            </a:xfrm>
            <a:custGeom>
              <a:avLst/>
              <a:gdLst/>
              <a:ahLst/>
              <a:cxnLst/>
              <a:rect l="l" t="t" r="r" b="b"/>
              <a:pathLst>
                <a:path w="1642110" h="339089">
                  <a:moveTo>
                    <a:pt x="1642109" y="0"/>
                  </a:moveTo>
                  <a:lnTo>
                    <a:pt x="0" y="0"/>
                  </a:lnTo>
                  <a:lnTo>
                    <a:pt x="0" y="296798"/>
                  </a:lnTo>
                  <a:lnTo>
                    <a:pt x="42290" y="339089"/>
                  </a:lnTo>
                  <a:lnTo>
                    <a:pt x="1599819" y="339089"/>
                  </a:lnTo>
                  <a:lnTo>
                    <a:pt x="1642109" y="296798"/>
                  </a:lnTo>
                  <a:lnTo>
                    <a:pt x="1642109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42794" y="5000244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398652"/>
                  </a:lnTo>
                  <a:lnTo>
                    <a:pt x="99694" y="498347"/>
                  </a:lnTo>
                  <a:lnTo>
                    <a:pt x="1386967" y="498347"/>
                  </a:lnTo>
                  <a:lnTo>
                    <a:pt x="1486661" y="398652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09266" y="4742688"/>
              <a:ext cx="1559560" cy="273050"/>
            </a:xfrm>
            <a:custGeom>
              <a:avLst/>
              <a:gdLst/>
              <a:ahLst/>
              <a:cxnLst/>
              <a:rect l="l" t="t" r="r" b="b"/>
              <a:pathLst>
                <a:path w="1559560" h="273050">
                  <a:moveTo>
                    <a:pt x="1559051" y="0"/>
                  </a:moveTo>
                  <a:lnTo>
                    <a:pt x="0" y="0"/>
                  </a:lnTo>
                  <a:lnTo>
                    <a:pt x="0" y="245491"/>
                  </a:lnTo>
                  <a:lnTo>
                    <a:pt x="27304" y="272795"/>
                  </a:lnTo>
                  <a:lnTo>
                    <a:pt x="1531746" y="272795"/>
                  </a:lnTo>
                  <a:lnTo>
                    <a:pt x="1559051" y="245491"/>
                  </a:lnTo>
                  <a:lnTo>
                    <a:pt x="1559051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795272" y="3153155"/>
              <a:ext cx="2821686" cy="25351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700022" y="3506723"/>
              <a:ext cx="114300" cy="2072005"/>
            </a:xfrm>
            <a:custGeom>
              <a:avLst/>
              <a:gdLst/>
              <a:ahLst/>
              <a:cxnLst/>
              <a:rect l="l" t="t" r="r" b="b"/>
              <a:pathLst>
                <a:path w="114300" h="207200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072004"/>
                  </a:lnTo>
                  <a:lnTo>
                    <a:pt x="76200" y="2072004"/>
                  </a:lnTo>
                  <a:lnTo>
                    <a:pt x="76200" y="95250"/>
                  </a:lnTo>
                  <a:close/>
                </a:path>
                <a:path w="114300" h="207200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07200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20413" y="3341369"/>
              <a:ext cx="3156585" cy="514350"/>
            </a:xfrm>
            <a:custGeom>
              <a:avLst/>
              <a:gdLst/>
              <a:ahLst/>
              <a:cxnLst/>
              <a:rect l="l" t="t" r="r" b="b"/>
              <a:pathLst>
                <a:path w="3156584" h="514350">
                  <a:moveTo>
                    <a:pt x="3156585" y="489077"/>
                  </a:moveTo>
                  <a:lnTo>
                    <a:pt x="2312784" y="284035"/>
                  </a:lnTo>
                  <a:lnTo>
                    <a:pt x="2312784" y="0"/>
                  </a:lnTo>
                  <a:lnTo>
                    <a:pt x="2303653" y="0"/>
                  </a:lnTo>
                  <a:lnTo>
                    <a:pt x="786511" y="0"/>
                  </a:lnTo>
                  <a:lnTo>
                    <a:pt x="777367" y="0"/>
                  </a:lnTo>
                  <a:lnTo>
                    <a:pt x="777367" y="284518"/>
                  </a:lnTo>
                  <a:lnTo>
                    <a:pt x="0" y="513969"/>
                  </a:lnTo>
                  <a:lnTo>
                    <a:pt x="777367" y="403885"/>
                  </a:lnTo>
                  <a:lnTo>
                    <a:pt x="777367" y="483108"/>
                  </a:lnTo>
                  <a:lnTo>
                    <a:pt x="786511" y="483108"/>
                  </a:lnTo>
                  <a:lnTo>
                    <a:pt x="2303653" y="483108"/>
                  </a:lnTo>
                  <a:lnTo>
                    <a:pt x="2312784" y="483108"/>
                  </a:lnTo>
                  <a:lnTo>
                    <a:pt x="2312784" y="403517"/>
                  </a:lnTo>
                  <a:lnTo>
                    <a:pt x="3156585" y="489077"/>
                  </a:lnTo>
                  <a:close/>
                </a:path>
              </a:pathLst>
            </a:custGeom>
            <a:solidFill>
              <a:srgbClr val="083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468111" y="3408605"/>
            <a:ext cx="786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均装</a:t>
            </a:r>
            <a:r>
              <a:rPr sz="2000" spc="-5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满</a:t>
            </a:r>
            <a:endParaRPr sz="20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316552" y="4258308"/>
            <a:ext cx="3156585" cy="513715"/>
          </a:xfrm>
          <a:custGeom>
            <a:avLst/>
            <a:gdLst/>
            <a:ahLst/>
            <a:cxnLst/>
            <a:rect l="l" t="t" r="r" b="b"/>
            <a:pathLst>
              <a:path w="3156584" h="513714">
                <a:moveTo>
                  <a:pt x="3156204" y="488315"/>
                </a:moveTo>
                <a:lnTo>
                  <a:pt x="2311654" y="283349"/>
                </a:lnTo>
                <a:lnTo>
                  <a:pt x="2311654" y="0"/>
                </a:lnTo>
                <a:lnTo>
                  <a:pt x="2303272" y="0"/>
                </a:lnTo>
                <a:lnTo>
                  <a:pt x="786130" y="0"/>
                </a:lnTo>
                <a:lnTo>
                  <a:pt x="776986" y="0"/>
                </a:lnTo>
                <a:lnTo>
                  <a:pt x="776986" y="284010"/>
                </a:lnTo>
                <a:lnTo>
                  <a:pt x="0" y="513207"/>
                </a:lnTo>
                <a:lnTo>
                  <a:pt x="776986" y="403250"/>
                </a:lnTo>
                <a:lnTo>
                  <a:pt x="776986" y="482346"/>
                </a:lnTo>
                <a:lnTo>
                  <a:pt x="786130" y="482346"/>
                </a:lnTo>
                <a:lnTo>
                  <a:pt x="2303272" y="482346"/>
                </a:lnTo>
                <a:lnTo>
                  <a:pt x="2311654" y="482346"/>
                </a:lnTo>
                <a:lnTo>
                  <a:pt x="2311654" y="402805"/>
                </a:lnTo>
                <a:lnTo>
                  <a:pt x="3156204" y="488315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235818" y="4867655"/>
            <a:ext cx="1827530" cy="482600"/>
          </a:xfrm>
          <a:custGeom>
            <a:avLst/>
            <a:gdLst/>
            <a:ahLst/>
            <a:cxnLst/>
            <a:rect l="l" t="t" r="r" b="b"/>
            <a:pathLst>
              <a:path w="1827529" h="482600">
                <a:moveTo>
                  <a:pt x="1827402" y="0"/>
                </a:moveTo>
                <a:lnTo>
                  <a:pt x="301878" y="0"/>
                </a:lnTo>
                <a:lnTo>
                  <a:pt x="301878" y="281305"/>
                </a:lnTo>
                <a:lnTo>
                  <a:pt x="0" y="470535"/>
                </a:lnTo>
                <a:lnTo>
                  <a:pt x="301878" y="401955"/>
                </a:lnTo>
                <a:lnTo>
                  <a:pt x="301878" y="482346"/>
                </a:lnTo>
                <a:lnTo>
                  <a:pt x="1827402" y="482346"/>
                </a:lnTo>
                <a:lnTo>
                  <a:pt x="1827402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1038078" y="5046979"/>
            <a:ext cx="9461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866373" y="4917439"/>
            <a:ext cx="7848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60">
                <a:solidFill>
                  <a:srgbClr val="FFFFFF"/>
                </a:solidFill>
                <a:latin typeface="Cambria Math"/>
                <a:cs typeface="Cambria Math"/>
              </a:rPr>
              <a:t>𝒙</a:t>
            </a:r>
            <a:r>
              <a:rPr sz="2175" spc="89" baseline="30651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r>
              <a:rPr sz="2175" spc="487" baseline="30651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000" spc="114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235818" y="3493008"/>
            <a:ext cx="1827530" cy="483234"/>
          </a:xfrm>
          <a:custGeom>
            <a:avLst/>
            <a:gdLst/>
            <a:ahLst/>
            <a:cxnLst/>
            <a:rect l="l" t="t" r="r" b="b"/>
            <a:pathLst>
              <a:path w="1827529" h="483234">
                <a:moveTo>
                  <a:pt x="1827402" y="0"/>
                </a:moveTo>
                <a:lnTo>
                  <a:pt x="301878" y="0"/>
                </a:lnTo>
                <a:lnTo>
                  <a:pt x="301878" y="281812"/>
                </a:lnTo>
                <a:lnTo>
                  <a:pt x="0" y="471296"/>
                </a:lnTo>
                <a:lnTo>
                  <a:pt x="301878" y="402589"/>
                </a:lnTo>
                <a:lnTo>
                  <a:pt x="301878" y="483107"/>
                </a:lnTo>
                <a:lnTo>
                  <a:pt x="1827402" y="483107"/>
                </a:lnTo>
                <a:lnTo>
                  <a:pt x="1827402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1088369" y="3648202"/>
            <a:ext cx="90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0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924540" y="3683254"/>
            <a:ext cx="32067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>
                <a:solidFill>
                  <a:srgbClr val="FFFFFF"/>
                </a:solidFill>
                <a:latin typeface="Cambria Math"/>
                <a:cs typeface="Cambria Math"/>
              </a:rPr>
              <a:t>|𝑺</a:t>
            </a:r>
            <a:r>
              <a:rPr sz="1450" spc="24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50" spc="-50">
                <a:solidFill>
                  <a:srgbClr val="FFFFFF"/>
                </a:solidFill>
                <a:latin typeface="Cambria Math"/>
                <a:cs typeface="Cambria Math"/>
              </a:rPr>
              <a:t>|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752835" y="3417315"/>
            <a:ext cx="2889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00" spc="52" baseline="-25000">
                <a:solidFill>
                  <a:srgbClr val="FFFFFF"/>
                </a:solidFill>
                <a:latin typeface="Cambria Math"/>
                <a:cs typeface="Cambria Math"/>
              </a:rPr>
              <a:t>𝒙</a:t>
            </a:r>
            <a:r>
              <a:rPr sz="1450" spc="35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300968" y="3529329"/>
            <a:ext cx="4381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000" spc="10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000" spc="-6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5" name="object 24">
            <a:extLst>
              <a:ext uri="{FF2B5EF4-FFF2-40B4-BE49-F238E27FC236}">
                <a16:creationId xmlns:a16="http://schemas.microsoft.com/office/drawing/2014/main" id="{25095DD2-397C-564C-BF0F-E6BDC322073B}"/>
              </a:ext>
            </a:extLst>
          </p:cNvPr>
          <p:cNvSpPr txBox="1"/>
          <p:nvPr/>
        </p:nvSpPr>
        <p:spPr>
          <a:xfrm>
            <a:off x="5230488" y="4340479"/>
            <a:ext cx="144533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000" spc="-50" dirty="0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性价比递减</a:t>
            </a:r>
            <a:endParaRPr sz="20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2183" y="972247"/>
            <a:ext cx="463867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贪心策略：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3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证明：贪心解不劣于最优解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1754" y="241706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13105">
              <a:lnSpc>
                <a:spcPct val="100000"/>
              </a:lnSpc>
              <a:spcBef>
                <a:spcPts val="270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最优解</a:t>
            </a:r>
            <a:r>
              <a:rPr sz="2800" spc="-25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-37" baseline="28455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3075" baseline="28455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13959" y="2602229"/>
            <a:ext cx="2021839" cy="273050"/>
          </a:xfrm>
          <a:custGeom>
            <a:avLst/>
            <a:gdLst/>
            <a:ahLst/>
            <a:cxnLst/>
            <a:rect l="l" t="t" r="r" b="b"/>
            <a:pathLst>
              <a:path w="2021839" h="273050">
                <a:moveTo>
                  <a:pt x="1885188" y="0"/>
                </a:moveTo>
                <a:lnTo>
                  <a:pt x="1885188" y="68199"/>
                </a:lnTo>
                <a:lnTo>
                  <a:pt x="0" y="68199"/>
                </a:lnTo>
                <a:lnTo>
                  <a:pt x="0" y="204597"/>
                </a:lnTo>
                <a:lnTo>
                  <a:pt x="1885188" y="204597"/>
                </a:lnTo>
                <a:lnTo>
                  <a:pt x="1885188" y="272796"/>
                </a:lnTo>
                <a:lnTo>
                  <a:pt x="2021586" y="136398"/>
                </a:lnTo>
                <a:lnTo>
                  <a:pt x="188518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70064" y="244754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30885">
              <a:lnSpc>
                <a:spcPct val="100000"/>
              </a:lnSpc>
              <a:spcBef>
                <a:spcPts val="27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贪心解</a:t>
            </a:r>
            <a:r>
              <a:rPr sz="2800" spc="70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104" baseline="28455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3075" baseline="28455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8508" y="2268220"/>
            <a:ext cx="864869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5">
                <a:latin typeface="PMingLiU"/>
                <a:cs typeface="PMingLiU"/>
              </a:rPr>
              <a:t>替换为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37659" y="5183885"/>
            <a:ext cx="3843654" cy="190500"/>
          </a:xfrm>
          <a:custGeom>
            <a:avLst/>
            <a:gdLst/>
            <a:ahLst/>
            <a:cxnLst/>
            <a:rect l="l" t="t" r="r" b="b"/>
            <a:pathLst>
              <a:path w="3843654" h="190500">
                <a:moveTo>
                  <a:pt x="114300" y="0"/>
                </a:moveTo>
                <a:lnTo>
                  <a:pt x="0" y="95250"/>
                </a:lnTo>
                <a:lnTo>
                  <a:pt x="114300" y="190500"/>
                </a:lnTo>
                <a:lnTo>
                  <a:pt x="114300" y="114300"/>
                </a:lnTo>
                <a:lnTo>
                  <a:pt x="95250" y="1143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0"/>
                </a:lnTo>
                <a:close/>
              </a:path>
              <a:path w="3843654" h="190500">
                <a:moveTo>
                  <a:pt x="3728973" y="0"/>
                </a:moveTo>
                <a:lnTo>
                  <a:pt x="3728973" y="190500"/>
                </a:lnTo>
                <a:lnTo>
                  <a:pt x="3820414" y="114300"/>
                </a:lnTo>
                <a:lnTo>
                  <a:pt x="3748150" y="114300"/>
                </a:lnTo>
                <a:lnTo>
                  <a:pt x="3748150" y="76200"/>
                </a:lnTo>
                <a:lnTo>
                  <a:pt x="3820414" y="76200"/>
                </a:lnTo>
                <a:lnTo>
                  <a:pt x="3728973" y="0"/>
                </a:lnTo>
                <a:close/>
              </a:path>
              <a:path w="3843654" h="190500">
                <a:moveTo>
                  <a:pt x="114300" y="76200"/>
                </a:moveTo>
                <a:lnTo>
                  <a:pt x="95250" y="76200"/>
                </a:lnTo>
                <a:lnTo>
                  <a:pt x="95250" y="114300"/>
                </a:lnTo>
                <a:lnTo>
                  <a:pt x="114300" y="114300"/>
                </a:lnTo>
                <a:lnTo>
                  <a:pt x="114300" y="76200"/>
                </a:lnTo>
                <a:close/>
              </a:path>
              <a:path w="3843654" h="190500">
                <a:moveTo>
                  <a:pt x="3728973" y="76200"/>
                </a:moveTo>
                <a:lnTo>
                  <a:pt x="114300" y="76200"/>
                </a:lnTo>
                <a:lnTo>
                  <a:pt x="114300" y="114300"/>
                </a:lnTo>
                <a:lnTo>
                  <a:pt x="3728973" y="114300"/>
                </a:lnTo>
                <a:lnTo>
                  <a:pt x="3728973" y="76200"/>
                </a:lnTo>
                <a:close/>
              </a:path>
              <a:path w="3843654" h="190500">
                <a:moveTo>
                  <a:pt x="3820414" y="76200"/>
                </a:moveTo>
                <a:lnTo>
                  <a:pt x="3748150" y="76200"/>
                </a:lnTo>
                <a:lnTo>
                  <a:pt x="3748150" y="114300"/>
                </a:lnTo>
                <a:lnTo>
                  <a:pt x="3820414" y="114300"/>
                </a:lnTo>
                <a:lnTo>
                  <a:pt x="3843273" y="95250"/>
                </a:lnTo>
                <a:lnTo>
                  <a:pt x="3820414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40858" y="4782083"/>
            <a:ext cx="14236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>
                <a:latin typeface="PMingLiU"/>
                <a:cs typeface="PMingLiU"/>
              </a:rPr>
              <a:t>相同的不变</a:t>
            </a:r>
            <a:endParaRPr sz="2200">
              <a:latin typeface="PMingLiU"/>
              <a:cs typeface="PMingLiU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00022" y="3506723"/>
            <a:ext cx="8574405" cy="2129790"/>
            <a:chOff x="1700022" y="3506723"/>
            <a:chExt cx="8574405" cy="2129790"/>
          </a:xfrm>
        </p:grpSpPr>
        <p:sp>
          <p:nvSpPr>
            <p:cNvPr id="11" name="object 11"/>
            <p:cNvSpPr/>
            <p:nvPr/>
          </p:nvSpPr>
          <p:spPr>
            <a:xfrm>
              <a:off x="5063363" y="5377179"/>
              <a:ext cx="2064385" cy="259079"/>
            </a:xfrm>
            <a:custGeom>
              <a:avLst/>
              <a:gdLst/>
              <a:ahLst/>
              <a:cxnLst/>
              <a:rect l="l" t="t" r="r" b="b"/>
              <a:pathLst>
                <a:path w="2064383" h="259078">
                  <a:moveTo>
                    <a:pt x="86360" y="10541"/>
                  </a:moveTo>
                  <a:lnTo>
                    <a:pt x="82677" y="0"/>
                  </a:lnTo>
                  <a:lnTo>
                    <a:pt x="63906" y="6845"/>
                  </a:lnTo>
                  <a:lnTo>
                    <a:pt x="47447" y="16687"/>
                  </a:lnTo>
                  <a:lnTo>
                    <a:pt x="21463" y="45466"/>
                  </a:lnTo>
                  <a:lnTo>
                    <a:pt x="5397" y="83947"/>
                  </a:lnTo>
                  <a:lnTo>
                    <a:pt x="0" y="129667"/>
                  </a:lnTo>
                  <a:lnTo>
                    <a:pt x="1333" y="153441"/>
                  </a:lnTo>
                  <a:lnTo>
                    <a:pt x="12001" y="195516"/>
                  </a:lnTo>
                  <a:lnTo>
                    <a:pt x="33159" y="229679"/>
                  </a:lnTo>
                  <a:lnTo>
                    <a:pt x="63830" y="252310"/>
                  </a:lnTo>
                  <a:lnTo>
                    <a:pt x="82677" y="259080"/>
                  </a:lnTo>
                  <a:lnTo>
                    <a:pt x="85979" y="248564"/>
                  </a:lnTo>
                  <a:lnTo>
                    <a:pt x="71183" y="242036"/>
                  </a:lnTo>
                  <a:lnTo>
                    <a:pt x="58432" y="232930"/>
                  </a:lnTo>
                  <a:lnTo>
                    <a:pt x="32296" y="190512"/>
                  </a:lnTo>
                  <a:lnTo>
                    <a:pt x="24587" y="151130"/>
                  </a:lnTo>
                  <a:lnTo>
                    <a:pt x="23622" y="128270"/>
                  </a:lnTo>
                  <a:lnTo>
                    <a:pt x="24587" y="106184"/>
                  </a:lnTo>
                  <a:lnTo>
                    <a:pt x="32296" y="67805"/>
                  </a:lnTo>
                  <a:lnTo>
                    <a:pt x="58521" y="26060"/>
                  </a:lnTo>
                  <a:lnTo>
                    <a:pt x="71399" y="17043"/>
                  </a:lnTo>
                  <a:lnTo>
                    <a:pt x="86360" y="10541"/>
                  </a:lnTo>
                  <a:close/>
                </a:path>
                <a:path w="2064383" h="259078">
                  <a:moveTo>
                    <a:pt x="847979" y="129667"/>
                  </a:moveTo>
                  <a:lnTo>
                    <a:pt x="842632" y="83947"/>
                  </a:lnTo>
                  <a:lnTo>
                    <a:pt x="826643" y="45466"/>
                  </a:lnTo>
                  <a:lnTo>
                    <a:pt x="800646" y="16687"/>
                  </a:lnTo>
                  <a:lnTo>
                    <a:pt x="765429" y="0"/>
                  </a:lnTo>
                  <a:lnTo>
                    <a:pt x="761746" y="10541"/>
                  </a:lnTo>
                  <a:lnTo>
                    <a:pt x="776719" y="17043"/>
                  </a:lnTo>
                  <a:lnTo>
                    <a:pt x="789622" y="26060"/>
                  </a:lnTo>
                  <a:lnTo>
                    <a:pt x="815784" y="67805"/>
                  </a:lnTo>
                  <a:lnTo>
                    <a:pt x="823404" y="106184"/>
                  </a:lnTo>
                  <a:lnTo>
                    <a:pt x="824357" y="128270"/>
                  </a:lnTo>
                  <a:lnTo>
                    <a:pt x="823391" y="151130"/>
                  </a:lnTo>
                  <a:lnTo>
                    <a:pt x="815721" y="190512"/>
                  </a:lnTo>
                  <a:lnTo>
                    <a:pt x="789647" y="232930"/>
                  </a:lnTo>
                  <a:lnTo>
                    <a:pt x="762127" y="248564"/>
                  </a:lnTo>
                  <a:lnTo>
                    <a:pt x="765429" y="259080"/>
                  </a:lnTo>
                  <a:lnTo>
                    <a:pt x="800760" y="242506"/>
                  </a:lnTo>
                  <a:lnTo>
                    <a:pt x="826770" y="213817"/>
                  </a:lnTo>
                  <a:lnTo>
                    <a:pt x="842657" y="175387"/>
                  </a:lnTo>
                  <a:lnTo>
                    <a:pt x="846645" y="153441"/>
                  </a:lnTo>
                  <a:lnTo>
                    <a:pt x="847979" y="129667"/>
                  </a:lnTo>
                  <a:close/>
                </a:path>
                <a:path w="2064383" h="259078">
                  <a:moveTo>
                    <a:pt x="1346708" y="10541"/>
                  </a:moveTo>
                  <a:lnTo>
                    <a:pt x="1343025" y="0"/>
                  </a:lnTo>
                  <a:lnTo>
                    <a:pt x="1324254" y="6845"/>
                  </a:lnTo>
                  <a:lnTo>
                    <a:pt x="1307795" y="16687"/>
                  </a:lnTo>
                  <a:lnTo>
                    <a:pt x="1281811" y="45466"/>
                  </a:lnTo>
                  <a:lnTo>
                    <a:pt x="1265745" y="83947"/>
                  </a:lnTo>
                  <a:lnTo>
                    <a:pt x="1260348" y="129667"/>
                  </a:lnTo>
                  <a:lnTo>
                    <a:pt x="1261681" y="153441"/>
                  </a:lnTo>
                  <a:lnTo>
                    <a:pt x="1272349" y="195516"/>
                  </a:lnTo>
                  <a:lnTo>
                    <a:pt x="1293507" y="229679"/>
                  </a:lnTo>
                  <a:lnTo>
                    <a:pt x="1324178" y="252310"/>
                  </a:lnTo>
                  <a:lnTo>
                    <a:pt x="1343025" y="259080"/>
                  </a:lnTo>
                  <a:lnTo>
                    <a:pt x="1346327" y="248564"/>
                  </a:lnTo>
                  <a:lnTo>
                    <a:pt x="1331531" y="242036"/>
                  </a:lnTo>
                  <a:lnTo>
                    <a:pt x="1318780" y="232930"/>
                  </a:lnTo>
                  <a:lnTo>
                    <a:pt x="1292644" y="190512"/>
                  </a:lnTo>
                  <a:lnTo>
                    <a:pt x="1284935" y="151130"/>
                  </a:lnTo>
                  <a:lnTo>
                    <a:pt x="1283970" y="128270"/>
                  </a:lnTo>
                  <a:lnTo>
                    <a:pt x="1284935" y="106184"/>
                  </a:lnTo>
                  <a:lnTo>
                    <a:pt x="1292644" y="67805"/>
                  </a:lnTo>
                  <a:lnTo>
                    <a:pt x="1318869" y="26060"/>
                  </a:lnTo>
                  <a:lnTo>
                    <a:pt x="1331747" y="17043"/>
                  </a:lnTo>
                  <a:lnTo>
                    <a:pt x="1346708" y="10541"/>
                  </a:lnTo>
                  <a:close/>
                </a:path>
                <a:path w="2064383" h="259078">
                  <a:moveTo>
                    <a:pt x="2064131" y="129667"/>
                  </a:moveTo>
                  <a:lnTo>
                    <a:pt x="2058797" y="83947"/>
                  </a:lnTo>
                  <a:lnTo>
                    <a:pt x="2042795" y="45466"/>
                  </a:lnTo>
                  <a:lnTo>
                    <a:pt x="2016798" y="16687"/>
                  </a:lnTo>
                  <a:lnTo>
                    <a:pt x="1981581" y="0"/>
                  </a:lnTo>
                  <a:lnTo>
                    <a:pt x="1977898" y="10541"/>
                  </a:lnTo>
                  <a:lnTo>
                    <a:pt x="1992871" y="17043"/>
                  </a:lnTo>
                  <a:lnTo>
                    <a:pt x="2005774" y="26060"/>
                  </a:lnTo>
                  <a:lnTo>
                    <a:pt x="2031936" y="67805"/>
                  </a:lnTo>
                  <a:lnTo>
                    <a:pt x="2039556" y="106184"/>
                  </a:lnTo>
                  <a:lnTo>
                    <a:pt x="2040509" y="128270"/>
                  </a:lnTo>
                  <a:lnTo>
                    <a:pt x="2039543" y="151130"/>
                  </a:lnTo>
                  <a:lnTo>
                    <a:pt x="2031873" y="190512"/>
                  </a:lnTo>
                  <a:lnTo>
                    <a:pt x="2005799" y="232930"/>
                  </a:lnTo>
                  <a:lnTo>
                    <a:pt x="1978279" y="248564"/>
                  </a:lnTo>
                  <a:lnTo>
                    <a:pt x="1981581" y="259080"/>
                  </a:lnTo>
                  <a:lnTo>
                    <a:pt x="2016912" y="242506"/>
                  </a:lnTo>
                  <a:lnTo>
                    <a:pt x="2042922" y="213817"/>
                  </a:lnTo>
                  <a:lnTo>
                    <a:pt x="2058809" y="175387"/>
                  </a:lnTo>
                  <a:lnTo>
                    <a:pt x="2062797" y="153441"/>
                  </a:lnTo>
                  <a:lnTo>
                    <a:pt x="2064131" y="129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74913" y="4177283"/>
              <a:ext cx="1630045" cy="628650"/>
            </a:xfrm>
            <a:custGeom>
              <a:avLst/>
              <a:gdLst/>
              <a:ahLst/>
              <a:cxnLst/>
              <a:rect l="l" t="t" r="r" b="b"/>
              <a:pathLst>
                <a:path w="1630045" h="628650">
                  <a:moveTo>
                    <a:pt x="1629917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124459" y="628650"/>
                  </a:lnTo>
                  <a:lnTo>
                    <a:pt x="1505457" y="628650"/>
                  </a:lnTo>
                  <a:lnTo>
                    <a:pt x="1629917" y="504190"/>
                  </a:lnTo>
                  <a:lnTo>
                    <a:pt x="1629917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20050" y="3804665"/>
              <a:ext cx="1739900" cy="438150"/>
            </a:xfrm>
            <a:custGeom>
              <a:avLst/>
              <a:gdLst/>
              <a:ahLst/>
              <a:cxnLst/>
              <a:rect l="l" t="t" r="r" b="b"/>
              <a:pathLst>
                <a:path w="1739900" h="438150">
                  <a:moveTo>
                    <a:pt x="1739646" y="0"/>
                  </a:moveTo>
                  <a:lnTo>
                    <a:pt x="0" y="0"/>
                  </a:lnTo>
                  <a:lnTo>
                    <a:pt x="0" y="382142"/>
                  </a:lnTo>
                  <a:lnTo>
                    <a:pt x="56006" y="438149"/>
                  </a:lnTo>
                  <a:lnTo>
                    <a:pt x="1683639" y="438149"/>
                  </a:lnTo>
                  <a:lnTo>
                    <a:pt x="1739646" y="382142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46542" y="5025389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415417"/>
                  </a:lnTo>
                  <a:lnTo>
                    <a:pt x="82930" y="498348"/>
                  </a:lnTo>
                  <a:lnTo>
                    <a:pt x="1403730" y="498348"/>
                  </a:lnTo>
                  <a:lnTo>
                    <a:pt x="1486661" y="415417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21395" y="4751831"/>
              <a:ext cx="1558290" cy="273685"/>
            </a:xfrm>
            <a:custGeom>
              <a:avLst/>
              <a:gdLst/>
              <a:ahLst/>
              <a:cxnLst/>
              <a:rect l="l" t="t" r="r" b="b"/>
              <a:pathLst>
                <a:path w="1558290" h="273685">
                  <a:moveTo>
                    <a:pt x="1558289" y="0"/>
                  </a:moveTo>
                  <a:lnTo>
                    <a:pt x="0" y="0"/>
                  </a:lnTo>
                  <a:lnTo>
                    <a:pt x="0" y="246126"/>
                  </a:lnTo>
                  <a:lnTo>
                    <a:pt x="27431" y="273558"/>
                  </a:lnTo>
                  <a:lnTo>
                    <a:pt x="1530857" y="273558"/>
                  </a:lnTo>
                  <a:lnTo>
                    <a:pt x="1558289" y="246126"/>
                  </a:lnTo>
                  <a:lnTo>
                    <a:pt x="1558289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59745" y="3516629"/>
              <a:ext cx="114300" cy="2072005"/>
            </a:xfrm>
            <a:custGeom>
              <a:avLst/>
              <a:gdLst/>
              <a:ahLst/>
              <a:cxnLst/>
              <a:rect l="l" t="t" r="r" b="b"/>
              <a:pathLst>
                <a:path w="114300" h="207200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071941"/>
                  </a:lnTo>
                  <a:lnTo>
                    <a:pt x="76200" y="2071941"/>
                  </a:lnTo>
                  <a:lnTo>
                    <a:pt x="76200" y="95250"/>
                  </a:lnTo>
                  <a:close/>
                </a:path>
                <a:path w="114300" h="207200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07200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32304" y="3806189"/>
              <a:ext cx="1723389" cy="340360"/>
            </a:xfrm>
            <a:custGeom>
              <a:avLst/>
              <a:gdLst/>
              <a:ahLst/>
              <a:cxnLst/>
              <a:rect l="l" t="t" r="r" b="b"/>
              <a:pathLst>
                <a:path w="1723389" h="340360">
                  <a:moveTo>
                    <a:pt x="1722882" y="0"/>
                  </a:moveTo>
                  <a:lnTo>
                    <a:pt x="0" y="0"/>
                  </a:lnTo>
                  <a:lnTo>
                    <a:pt x="0" y="312166"/>
                  </a:lnTo>
                  <a:lnTo>
                    <a:pt x="27685" y="339852"/>
                  </a:lnTo>
                  <a:lnTo>
                    <a:pt x="1695195" y="339852"/>
                  </a:lnTo>
                  <a:lnTo>
                    <a:pt x="1722882" y="312166"/>
                  </a:lnTo>
                  <a:lnTo>
                    <a:pt x="1722882" y="0"/>
                  </a:lnTo>
                  <a:close/>
                </a:path>
              </a:pathLst>
            </a:custGeom>
            <a:solidFill>
              <a:srgbClr val="8E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09266" y="4470399"/>
              <a:ext cx="1592580" cy="340360"/>
            </a:xfrm>
            <a:custGeom>
              <a:avLst/>
              <a:gdLst/>
              <a:ahLst/>
              <a:cxnLst/>
              <a:rect l="l" t="t" r="r" b="b"/>
              <a:pathLst>
                <a:path w="1592579" h="340360">
                  <a:moveTo>
                    <a:pt x="1592580" y="0"/>
                  </a:moveTo>
                  <a:lnTo>
                    <a:pt x="0" y="0"/>
                  </a:lnTo>
                  <a:lnTo>
                    <a:pt x="0" y="336550"/>
                  </a:lnTo>
                  <a:lnTo>
                    <a:pt x="2527" y="336550"/>
                  </a:lnTo>
                  <a:lnTo>
                    <a:pt x="2527" y="340360"/>
                  </a:lnTo>
                  <a:lnTo>
                    <a:pt x="1590040" y="340360"/>
                  </a:lnTo>
                  <a:lnTo>
                    <a:pt x="1590040" y="336550"/>
                  </a:lnTo>
                  <a:lnTo>
                    <a:pt x="1592580" y="336550"/>
                  </a:lnTo>
                  <a:lnTo>
                    <a:pt x="1592580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87168" y="4146041"/>
              <a:ext cx="1642110" cy="339090"/>
            </a:xfrm>
            <a:custGeom>
              <a:avLst/>
              <a:gdLst/>
              <a:ahLst/>
              <a:cxnLst/>
              <a:rect l="l" t="t" r="r" b="b"/>
              <a:pathLst>
                <a:path w="1642110" h="339089">
                  <a:moveTo>
                    <a:pt x="1642109" y="0"/>
                  </a:moveTo>
                  <a:lnTo>
                    <a:pt x="0" y="0"/>
                  </a:lnTo>
                  <a:lnTo>
                    <a:pt x="0" y="296798"/>
                  </a:lnTo>
                  <a:lnTo>
                    <a:pt x="42290" y="339089"/>
                  </a:lnTo>
                  <a:lnTo>
                    <a:pt x="1599819" y="339089"/>
                  </a:lnTo>
                  <a:lnTo>
                    <a:pt x="1642109" y="296798"/>
                  </a:lnTo>
                  <a:lnTo>
                    <a:pt x="1642109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42794" y="5000243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398652"/>
                  </a:lnTo>
                  <a:lnTo>
                    <a:pt x="99694" y="498347"/>
                  </a:lnTo>
                  <a:lnTo>
                    <a:pt x="1386967" y="498347"/>
                  </a:lnTo>
                  <a:lnTo>
                    <a:pt x="1486661" y="398652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09266" y="4742687"/>
              <a:ext cx="1559560" cy="273050"/>
            </a:xfrm>
            <a:custGeom>
              <a:avLst/>
              <a:gdLst/>
              <a:ahLst/>
              <a:cxnLst/>
              <a:rect l="l" t="t" r="r" b="b"/>
              <a:pathLst>
                <a:path w="1559560" h="273050">
                  <a:moveTo>
                    <a:pt x="1559051" y="0"/>
                  </a:moveTo>
                  <a:lnTo>
                    <a:pt x="0" y="0"/>
                  </a:lnTo>
                  <a:lnTo>
                    <a:pt x="0" y="245491"/>
                  </a:lnTo>
                  <a:lnTo>
                    <a:pt x="27304" y="272795"/>
                  </a:lnTo>
                  <a:lnTo>
                    <a:pt x="1531746" y="272795"/>
                  </a:lnTo>
                  <a:lnTo>
                    <a:pt x="1559051" y="245491"/>
                  </a:lnTo>
                  <a:lnTo>
                    <a:pt x="1559051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00022" y="3506723"/>
              <a:ext cx="114300" cy="2072005"/>
            </a:xfrm>
            <a:custGeom>
              <a:avLst/>
              <a:gdLst/>
              <a:ahLst/>
              <a:cxnLst/>
              <a:rect l="l" t="t" r="r" b="b"/>
              <a:pathLst>
                <a:path w="114300" h="207200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072004"/>
                  </a:lnTo>
                  <a:lnTo>
                    <a:pt x="76200" y="2072004"/>
                  </a:lnTo>
                  <a:lnTo>
                    <a:pt x="76200" y="95250"/>
                  </a:lnTo>
                  <a:close/>
                </a:path>
                <a:path w="114300" h="207200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07200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091429" y="5376727"/>
            <a:ext cx="1993264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1885"/>
              </a:lnSpc>
              <a:spcBef>
                <a:spcPts val="100"/>
              </a:spcBef>
              <a:tabLst>
                <a:tab pos="922019" algn="l"/>
                <a:tab pos="1323975" algn="l"/>
              </a:tabLst>
            </a:pPr>
            <a:r>
              <a:rPr sz="2200" dirty="0">
                <a:latin typeface="Cambria Math"/>
                <a:cs typeface="Cambria Math"/>
              </a:rPr>
              <a:t>𝒑</a:t>
            </a:r>
            <a:r>
              <a:rPr sz="2400" baseline="31250" dirty="0">
                <a:latin typeface="Cambria Math"/>
                <a:cs typeface="Cambria Math"/>
              </a:rPr>
              <a:t>∗</a:t>
            </a:r>
            <a:r>
              <a:rPr sz="2200" dirty="0">
                <a:latin typeface="Cambria Math"/>
                <a:cs typeface="Cambria Math"/>
              </a:rPr>
              <a:t>,</a:t>
            </a:r>
            <a:r>
              <a:rPr sz="2200" spc="-40" dirty="0">
                <a:latin typeface="Cambria Math"/>
                <a:cs typeface="Cambria Math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𝒗</a:t>
            </a:r>
            <a:r>
              <a:rPr sz="2400" spc="-37" baseline="31250" dirty="0">
                <a:latin typeface="Cambria Math"/>
                <a:cs typeface="Cambria Math"/>
              </a:rPr>
              <a:t>∗</a:t>
            </a:r>
            <a:r>
              <a:rPr sz="2400" baseline="3125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=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85" dirty="0">
                <a:latin typeface="Cambria Math"/>
                <a:cs typeface="Cambria Math"/>
              </a:rPr>
              <a:t>𝒑</a:t>
            </a:r>
            <a:r>
              <a:rPr sz="2400" spc="127" baseline="31250" dirty="0">
                <a:latin typeface="Cambria Math"/>
                <a:cs typeface="Cambria Math"/>
              </a:rPr>
              <a:t>′</a:t>
            </a:r>
            <a:r>
              <a:rPr sz="2200" spc="85" dirty="0">
                <a:latin typeface="Cambria Math"/>
                <a:cs typeface="Cambria Math"/>
              </a:rPr>
              <a:t>,</a:t>
            </a:r>
            <a:r>
              <a:rPr sz="2200" spc="-105" dirty="0">
                <a:latin typeface="Cambria Math"/>
                <a:cs typeface="Cambria Math"/>
              </a:rPr>
              <a:t> </a:t>
            </a:r>
            <a:r>
              <a:rPr sz="2200" spc="50" dirty="0">
                <a:latin typeface="Cambria Math"/>
                <a:cs typeface="Cambria Math"/>
              </a:rPr>
              <a:t>𝒗</a:t>
            </a:r>
            <a:r>
              <a:rPr sz="2400" spc="75" baseline="31250" dirty="0">
                <a:latin typeface="Cambria Math"/>
                <a:cs typeface="Cambria Math"/>
              </a:rPr>
              <a:t>′</a:t>
            </a:r>
            <a:endParaRPr sz="2400" baseline="31250" dirty="0">
              <a:latin typeface="Cambria Math"/>
              <a:cs typeface="Cambria Math"/>
            </a:endParaRPr>
          </a:p>
          <a:p>
            <a:pPr marL="236854">
              <a:lnSpc>
                <a:spcPts val="1165"/>
              </a:lnSpc>
              <a:tabLst>
                <a:tab pos="617855" algn="l"/>
                <a:tab pos="1497330" algn="l"/>
                <a:tab pos="1856105" algn="l"/>
              </a:tabLst>
            </a:pPr>
            <a:r>
              <a:rPr sz="1600" spc="-50" dirty="0">
                <a:latin typeface="Cambria Math"/>
                <a:cs typeface="Cambria Math"/>
              </a:rPr>
              <a:t>𝒊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𝒊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𝒊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𝒊</a:t>
            </a:r>
            <a:endParaRPr sz="1600" dirty="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95272" y="3153155"/>
            <a:ext cx="8412480" cy="2535555"/>
            <a:chOff x="1795272" y="3153155"/>
            <a:chExt cx="8412480" cy="2535555"/>
          </a:xfrm>
        </p:grpSpPr>
        <p:sp>
          <p:nvSpPr>
            <p:cNvPr id="25" name="object 25"/>
            <p:cNvSpPr/>
            <p:nvPr/>
          </p:nvSpPr>
          <p:spPr>
            <a:xfrm>
              <a:off x="8024622" y="3801617"/>
              <a:ext cx="1739900" cy="1217930"/>
            </a:xfrm>
            <a:custGeom>
              <a:avLst/>
              <a:gdLst/>
              <a:ahLst/>
              <a:cxnLst/>
              <a:rect l="l" t="t" r="r" b="b"/>
              <a:pathLst>
                <a:path w="1739900" h="1217929">
                  <a:moveTo>
                    <a:pt x="1739646" y="0"/>
                  </a:moveTo>
                  <a:lnTo>
                    <a:pt x="0" y="0"/>
                  </a:lnTo>
                  <a:lnTo>
                    <a:pt x="0" y="446659"/>
                  </a:lnTo>
                  <a:lnTo>
                    <a:pt x="43307" y="489966"/>
                  </a:lnTo>
                  <a:lnTo>
                    <a:pt x="50292" y="489966"/>
                  </a:lnTo>
                  <a:lnTo>
                    <a:pt x="50292" y="929259"/>
                  </a:lnTo>
                  <a:lnTo>
                    <a:pt x="111633" y="990600"/>
                  </a:lnTo>
                  <a:lnTo>
                    <a:pt x="76200" y="990600"/>
                  </a:lnTo>
                  <a:lnTo>
                    <a:pt x="76200" y="1189863"/>
                  </a:lnTo>
                  <a:lnTo>
                    <a:pt x="104013" y="1217676"/>
                  </a:lnTo>
                  <a:lnTo>
                    <a:pt x="1621155" y="1217676"/>
                  </a:lnTo>
                  <a:lnTo>
                    <a:pt x="1648968" y="1189863"/>
                  </a:lnTo>
                  <a:lnTo>
                    <a:pt x="1648968" y="990600"/>
                  </a:lnTo>
                  <a:lnTo>
                    <a:pt x="1631823" y="990600"/>
                  </a:lnTo>
                  <a:lnTo>
                    <a:pt x="1693164" y="929259"/>
                  </a:lnTo>
                  <a:lnTo>
                    <a:pt x="1693164" y="489966"/>
                  </a:lnTo>
                  <a:lnTo>
                    <a:pt x="1696339" y="489966"/>
                  </a:lnTo>
                  <a:lnTo>
                    <a:pt x="1739646" y="446659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D9D9D9">
                <a:alpha val="8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386066" y="3153155"/>
              <a:ext cx="2821685" cy="253517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432304" y="3807713"/>
              <a:ext cx="1739900" cy="1205865"/>
            </a:xfrm>
            <a:custGeom>
              <a:avLst/>
              <a:gdLst/>
              <a:ahLst/>
              <a:cxnLst/>
              <a:rect l="l" t="t" r="r" b="b"/>
              <a:pathLst>
                <a:path w="1739900" h="1205864">
                  <a:moveTo>
                    <a:pt x="1739646" y="0"/>
                  </a:moveTo>
                  <a:lnTo>
                    <a:pt x="0" y="0"/>
                  </a:lnTo>
                  <a:lnTo>
                    <a:pt x="0" y="456438"/>
                  </a:lnTo>
                  <a:lnTo>
                    <a:pt x="44196" y="500634"/>
                  </a:lnTo>
                  <a:lnTo>
                    <a:pt x="50292" y="500634"/>
                  </a:lnTo>
                  <a:lnTo>
                    <a:pt x="50292" y="929259"/>
                  </a:lnTo>
                  <a:lnTo>
                    <a:pt x="100203" y="979170"/>
                  </a:lnTo>
                  <a:lnTo>
                    <a:pt x="63246" y="979170"/>
                  </a:lnTo>
                  <a:lnTo>
                    <a:pt x="63246" y="1177798"/>
                  </a:lnTo>
                  <a:lnTo>
                    <a:pt x="90932" y="1205484"/>
                  </a:lnTo>
                  <a:lnTo>
                    <a:pt x="1608328" y="1205484"/>
                  </a:lnTo>
                  <a:lnTo>
                    <a:pt x="1636014" y="1177798"/>
                  </a:lnTo>
                  <a:lnTo>
                    <a:pt x="1636014" y="986409"/>
                  </a:lnTo>
                  <a:lnTo>
                    <a:pt x="1693164" y="929259"/>
                  </a:lnTo>
                  <a:lnTo>
                    <a:pt x="1693164" y="500634"/>
                  </a:lnTo>
                  <a:lnTo>
                    <a:pt x="1695450" y="500634"/>
                  </a:lnTo>
                  <a:lnTo>
                    <a:pt x="1739646" y="456438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D9D9D9">
                <a:alpha val="8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795272" y="3153155"/>
              <a:ext cx="2821686" cy="253517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53567" y="3993134"/>
            <a:ext cx="1238759" cy="1024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ctr">
              <a:lnSpc>
                <a:spcPct val="99000"/>
              </a:lnSpc>
              <a:spcBef>
                <a:spcPts val="125"/>
              </a:spcBef>
            </a:pPr>
            <a:r>
              <a:rPr sz="22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按性价比递减顺序进行替换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95CCE37F-16BF-5247-85E5-DB1A70F7B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364" y="280947"/>
            <a:ext cx="254160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正确性证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明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2183" y="944181"/>
            <a:ext cx="463867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贪心策略：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3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证明：贪心解不劣于最优解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1754" y="241706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13105">
              <a:lnSpc>
                <a:spcPct val="100000"/>
              </a:lnSpc>
              <a:spcBef>
                <a:spcPts val="270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最优解</a:t>
            </a:r>
            <a:r>
              <a:rPr sz="2800" spc="-25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-37" baseline="28455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3075" baseline="28455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13959" y="2602229"/>
            <a:ext cx="2021839" cy="273050"/>
          </a:xfrm>
          <a:custGeom>
            <a:avLst/>
            <a:gdLst/>
            <a:ahLst/>
            <a:cxnLst/>
            <a:rect l="l" t="t" r="r" b="b"/>
            <a:pathLst>
              <a:path w="2021839" h="273050">
                <a:moveTo>
                  <a:pt x="1885188" y="0"/>
                </a:moveTo>
                <a:lnTo>
                  <a:pt x="1885188" y="68199"/>
                </a:lnTo>
                <a:lnTo>
                  <a:pt x="0" y="68199"/>
                </a:lnTo>
                <a:lnTo>
                  <a:pt x="0" y="204597"/>
                </a:lnTo>
                <a:lnTo>
                  <a:pt x="1885188" y="204597"/>
                </a:lnTo>
                <a:lnTo>
                  <a:pt x="1885188" y="272796"/>
                </a:lnTo>
                <a:lnTo>
                  <a:pt x="2021586" y="136398"/>
                </a:lnTo>
                <a:lnTo>
                  <a:pt x="188518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70064" y="244754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30885">
              <a:lnSpc>
                <a:spcPct val="100000"/>
              </a:lnSpc>
              <a:spcBef>
                <a:spcPts val="27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贪心解</a:t>
            </a:r>
            <a:r>
              <a:rPr sz="2800" spc="70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104" baseline="28455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3075" baseline="28455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37659" y="4784597"/>
            <a:ext cx="3843654" cy="190500"/>
          </a:xfrm>
          <a:custGeom>
            <a:avLst/>
            <a:gdLst/>
            <a:ahLst/>
            <a:cxnLst/>
            <a:rect l="l" t="t" r="r" b="b"/>
            <a:pathLst>
              <a:path w="3843654" h="190500">
                <a:moveTo>
                  <a:pt x="114300" y="0"/>
                </a:moveTo>
                <a:lnTo>
                  <a:pt x="0" y="95250"/>
                </a:lnTo>
                <a:lnTo>
                  <a:pt x="114300" y="190500"/>
                </a:lnTo>
                <a:lnTo>
                  <a:pt x="114300" y="114300"/>
                </a:lnTo>
                <a:lnTo>
                  <a:pt x="95250" y="1143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0"/>
                </a:lnTo>
                <a:close/>
              </a:path>
              <a:path w="3843654" h="190500">
                <a:moveTo>
                  <a:pt x="3728973" y="0"/>
                </a:moveTo>
                <a:lnTo>
                  <a:pt x="3728973" y="190500"/>
                </a:lnTo>
                <a:lnTo>
                  <a:pt x="3820414" y="114300"/>
                </a:lnTo>
                <a:lnTo>
                  <a:pt x="3748150" y="114300"/>
                </a:lnTo>
                <a:lnTo>
                  <a:pt x="3748150" y="76200"/>
                </a:lnTo>
                <a:lnTo>
                  <a:pt x="3820414" y="76200"/>
                </a:lnTo>
                <a:lnTo>
                  <a:pt x="3728973" y="0"/>
                </a:lnTo>
                <a:close/>
              </a:path>
              <a:path w="3843654" h="190500">
                <a:moveTo>
                  <a:pt x="114300" y="76200"/>
                </a:moveTo>
                <a:lnTo>
                  <a:pt x="95250" y="76200"/>
                </a:lnTo>
                <a:lnTo>
                  <a:pt x="95250" y="114300"/>
                </a:lnTo>
                <a:lnTo>
                  <a:pt x="114300" y="114300"/>
                </a:lnTo>
                <a:lnTo>
                  <a:pt x="114300" y="76200"/>
                </a:lnTo>
                <a:close/>
              </a:path>
              <a:path w="3843654" h="190500">
                <a:moveTo>
                  <a:pt x="3728973" y="76200"/>
                </a:moveTo>
                <a:lnTo>
                  <a:pt x="114300" y="76200"/>
                </a:lnTo>
                <a:lnTo>
                  <a:pt x="114300" y="114300"/>
                </a:lnTo>
                <a:lnTo>
                  <a:pt x="3728973" y="114300"/>
                </a:lnTo>
                <a:lnTo>
                  <a:pt x="3728973" y="76200"/>
                </a:lnTo>
                <a:close/>
              </a:path>
              <a:path w="3843654" h="190500">
                <a:moveTo>
                  <a:pt x="3820414" y="76200"/>
                </a:moveTo>
                <a:lnTo>
                  <a:pt x="3748150" y="76200"/>
                </a:lnTo>
                <a:lnTo>
                  <a:pt x="3748150" y="114300"/>
                </a:lnTo>
                <a:lnTo>
                  <a:pt x="3820414" y="114300"/>
                </a:lnTo>
                <a:lnTo>
                  <a:pt x="3843273" y="95250"/>
                </a:lnTo>
                <a:lnTo>
                  <a:pt x="3820414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40858" y="4405424"/>
            <a:ext cx="14236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 err="1">
                <a:latin typeface="PMingLiU"/>
                <a:cs typeface="PMingLiU"/>
              </a:rPr>
              <a:t>相同的不变</a:t>
            </a:r>
            <a:endParaRPr sz="2200" dirty="0">
              <a:latin typeface="PMingLiU"/>
              <a:cs typeface="PMingLiU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00022" y="3506723"/>
            <a:ext cx="8574405" cy="2082164"/>
            <a:chOff x="1700022" y="3506723"/>
            <a:chExt cx="8574405" cy="2082164"/>
          </a:xfrm>
        </p:grpSpPr>
        <p:sp>
          <p:nvSpPr>
            <p:cNvPr id="10" name="object 10"/>
            <p:cNvSpPr/>
            <p:nvPr/>
          </p:nvSpPr>
          <p:spPr>
            <a:xfrm>
              <a:off x="2509266" y="4470399"/>
              <a:ext cx="1592580" cy="340360"/>
            </a:xfrm>
            <a:custGeom>
              <a:avLst/>
              <a:gdLst/>
              <a:ahLst/>
              <a:cxnLst/>
              <a:rect l="l" t="t" r="r" b="b"/>
              <a:pathLst>
                <a:path w="1592579" h="340360">
                  <a:moveTo>
                    <a:pt x="1592580" y="0"/>
                  </a:moveTo>
                  <a:lnTo>
                    <a:pt x="0" y="0"/>
                  </a:lnTo>
                  <a:lnTo>
                    <a:pt x="0" y="336550"/>
                  </a:lnTo>
                  <a:lnTo>
                    <a:pt x="2527" y="336550"/>
                  </a:lnTo>
                  <a:lnTo>
                    <a:pt x="2527" y="340360"/>
                  </a:lnTo>
                  <a:lnTo>
                    <a:pt x="1590040" y="340360"/>
                  </a:lnTo>
                  <a:lnTo>
                    <a:pt x="1590040" y="336550"/>
                  </a:lnTo>
                  <a:lnTo>
                    <a:pt x="1592580" y="336550"/>
                  </a:lnTo>
                  <a:lnTo>
                    <a:pt x="1592580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32304" y="3806189"/>
              <a:ext cx="1723389" cy="340360"/>
            </a:xfrm>
            <a:custGeom>
              <a:avLst/>
              <a:gdLst/>
              <a:ahLst/>
              <a:cxnLst/>
              <a:rect l="l" t="t" r="r" b="b"/>
              <a:pathLst>
                <a:path w="1723389" h="340360">
                  <a:moveTo>
                    <a:pt x="1722882" y="0"/>
                  </a:moveTo>
                  <a:lnTo>
                    <a:pt x="0" y="0"/>
                  </a:lnTo>
                  <a:lnTo>
                    <a:pt x="0" y="312166"/>
                  </a:lnTo>
                  <a:lnTo>
                    <a:pt x="27685" y="339852"/>
                  </a:lnTo>
                  <a:lnTo>
                    <a:pt x="1695195" y="339852"/>
                  </a:lnTo>
                  <a:lnTo>
                    <a:pt x="1722882" y="312166"/>
                  </a:lnTo>
                  <a:lnTo>
                    <a:pt x="1722882" y="0"/>
                  </a:lnTo>
                  <a:close/>
                </a:path>
              </a:pathLst>
            </a:custGeom>
            <a:solidFill>
              <a:srgbClr val="8E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87168" y="4146041"/>
              <a:ext cx="1642110" cy="339090"/>
            </a:xfrm>
            <a:custGeom>
              <a:avLst/>
              <a:gdLst/>
              <a:ahLst/>
              <a:cxnLst/>
              <a:rect l="l" t="t" r="r" b="b"/>
              <a:pathLst>
                <a:path w="1642110" h="339089">
                  <a:moveTo>
                    <a:pt x="1642109" y="0"/>
                  </a:moveTo>
                  <a:lnTo>
                    <a:pt x="0" y="0"/>
                  </a:lnTo>
                  <a:lnTo>
                    <a:pt x="0" y="296798"/>
                  </a:lnTo>
                  <a:lnTo>
                    <a:pt x="42290" y="339089"/>
                  </a:lnTo>
                  <a:lnTo>
                    <a:pt x="1599819" y="339089"/>
                  </a:lnTo>
                  <a:lnTo>
                    <a:pt x="1642109" y="296798"/>
                  </a:lnTo>
                  <a:lnTo>
                    <a:pt x="1642109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42794" y="5000243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398652"/>
                  </a:lnTo>
                  <a:lnTo>
                    <a:pt x="99694" y="498347"/>
                  </a:lnTo>
                  <a:lnTo>
                    <a:pt x="1386967" y="498347"/>
                  </a:lnTo>
                  <a:lnTo>
                    <a:pt x="1486661" y="398652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09266" y="4742687"/>
              <a:ext cx="1559560" cy="273050"/>
            </a:xfrm>
            <a:custGeom>
              <a:avLst/>
              <a:gdLst/>
              <a:ahLst/>
              <a:cxnLst/>
              <a:rect l="l" t="t" r="r" b="b"/>
              <a:pathLst>
                <a:path w="1559560" h="273050">
                  <a:moveTo>
                    <a:pt x="1559051" y="0"/>
                  </a:moveTo>
                  <a:lnTo>
                    <a:pt x="0" y="0"/>
                  </a:lnTo>
                  <a:lnTo>
                    <a:pt x="0" y="245491"/>
                  </a:lnTo>
                  <a:lnTo>
                    <a:pt x="27304" y="272795"/>
                  </a:lnTo>
                  <a:lnTo>
                    <a:pt x="1531746" y="272795"/>
                  </a:lnTo>
                  <a:lnTo>
                    <a:pt x="1559051" y="245491"/>
                  </a:lnTo>
                  <a:lnTo>
                    <a:pt x="1559051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63363" y="4978272"/>
              <a:ext cx="2064385" cy="259079"/>
            </a:xfrm>
            <a:custGeom>
              <a:avLst/>
              <a:gdLst/>
              <a:ahLst/>
              <a:cxnLst/>
              <a:rect l="l" t="t" r="r" b="b"/>
              <a:pathLst>
                <a:path w="2064383" h="259078">
                  <a:moveTo>
                    <a:pt x="86360" y="10414"/>
                  </a:moveTo>
                  <a:lnTo>
                    <a:pt x="82677" y="0"/>
                  </a:lnTo>
                  <a:lnTo>
                    <a:pt x="63906" y="6769"/>
                  </a:lnTo>
                  <a:lnTo>
                    <a:pt x="47447" y="16586"/>
                  </a:lnTo>
                  <a:lnTo>
                    <a:pt x="21463" y="45339"/>
                  </a:lnTo>
                  <a:lnTo>
                    <a:pt x="5397" y="83820"/>
                  </a:lnTo>
                  <a:lnTo>
                    <a:pt x="0" y="129540"/>
                  </a:lnTo>
                  <a:lnTo>
                    <a:pt x="1333" y="153314"/>
                  </a:lnTo>
                  <a:lnTo>
                    <a:pt x="12001" y="195414"/>
                  </a:lnTo>
                  <a:lnTo>
                    <a:pt x="33159" y="229577"/>
                  </a:lnTo>
                  <a:lnTo>
                    <a:pt x="63830" y="252196"/>
                  </a:lnTo>
                  <a:lnTo>
                    <a:pt x="82677" y="258953"/>
                  </a:lnTo>
                  <a:lnTo>
                    <a:pt x="85979" y="248424"/>
                  </a:lnTo>
                  <a:lnTo>
                    <a:pt x="71183" y="241896"/>
                  </a:lnTo>
                  <a:lnTo>
                    <a:pt x="58432" y="232816"/>
                  </a:lnTo>
                  <a:lnTo>
                    <a:pt x="32296" y="190436"/>
                  </a:lnTo>
                  <a:lnTo>
                    <a:pt x="24587" y="151003"/>
                  </a:lnTo>
                  <a:lnTo>
                    <a:pt x="23622" y="128143"/>
                  </a:lnTo>
                  <a:lnTo>
                    <a:pt x="24587" y="106070"/>
                  </a:lnTo>
                  <a:lnTo>
                    <a:pt x="32296" y="67729"/>
                  </a:lnTo>
                  <a:lnTo>
                    <a:pt x="58521" y="25933"/>
                  </a:lnTo>
                  <a:lnTo>
                    <a:pt x="71399" y="16916"/>
                  </a:lnTo>
                  <a:lnTo>
                    <a:pt x="86360" y="10414"/>
                  </a:lnTo>
                  <a:close/>
                </a:path>
                <a:path w="2064383" h="259078">
                  <a:moveTo>
                    <a:pt x="847979" y="129540"/>
                  </a:moveTo>
                  <a:lnTo>
                    <a:pt x="842632" y="83820"/>
                  </a:lnTo>
                  <a:lnTo>
                    <a:pt x="826643" y="45339"/>
                  </a:lnTo>
                  <a:lnTo>
                    <a:pt x="800646" y="16586"/>
                  </a:lnTo>
                  <a:lnTo>
                    <a:pt x="765429" y="0"/>
                  </a:lnTo>
                  <a:lnTo>
                    <a:pt x="761746" y="10414"/>
                  </a:lnTo>
                  <a:lnTo>
                    <a:pt x="776719" y="16916"/>
                  </a:lnTo>
                  <a:lnTo>
                    <a:pt x="789622" y="25933"/>
                  </a:lnTo>
                  <a:lnTo>
                    <a:pt x="815784" y="67729"/>
                  </a:lnTo>
                  <a:lnTo>
                    <a:pt x="823404" y="106070"/>
                  </a:lnTo>
                  <a:lnTo>
                    <a:pt x="824357" y="128143"/>
                  </a:lnTo>
                  <a:lnTo>
                    <a:pt x="823391" y="151003"/>
                  </a:lnTo>
                  <a:lnTo>
                    <a:pt x="815721" y="190436"/>
                  </a:lnTo>
                  <a:lnTo>
                    <a:pt x="789647" y="232816"/>
                  </a:lnTo>
                  <a:lnTo>
                    <a:pt x="762127" y="248424"/>
                  </a:lnTo>
                  <a:lnTo>
                    <a:pt x="765429" y="258953"/>
                  </a:lnTo>
                  <a:lnTo>
                    <a:pt x="800760" y="242404"/>
                  </a:lnTo>
                  <a:lnTo>
                    <a:pt x="826770" y="213741"/>
                  </a:lnTo>
                  <a:lnTo>
                    <a:pt x="842657" y="175260"/>
                  </a:lnTo>
                  <a:lnTo>
                    <a:pt x="846645" y="153314"/>
                  </a:lnTo>
                  <a:lnTo>
                    <a:pt x="847979" y="129540"/>
                  </a:lnTo>
                  <a:close/>
                </a:path>
                <a:path w="2064383" h="259078">
                  <a:moveTo>
                    <a:pt x="1346708" y="10414"/>
                  </a:moveTo>
                  <a:lnTo>
                    <a:pt x="1343025" y="0"/>
                  </a:lnTo>
                  <a:lnTo>
                    <a:pt x="1324254" y="6769"/>
                  </a:lnTo>
                  <a:lnTo>
                    <a:pt x="1307795" y="16586"/>
                  </a:lnTo>
                  <a:lnTo>
                    <a:pt x="1281811" y="45339"/>
                  </a:lnTo>
                  <a:lnTo>
                    <a:pt x="1265745" y="83820"/>
                  </a:lnTo>
                  <a:lnTo>
                    <a:pt x="1260348" y="129540"/>
                  </a:lnTo>
                  <a:lnTo>
                    <a:pt x="1261681" y="153314"/>
                  </a:lnTo>
                  <a:lnTo>
                    <a:pt x="1272349" y="195414"/>
                  </a:lnTo>
                  <a:lnTo>
                    <a:pt x="1293507" y="229577"/>
                  </a:lnTo>
                  <a:lnTo>
                    <a:pt x="1324178" y="252196"/>
                  </a:lnTo>
                  <a:lnTo>
                    <a:pt x="1343025" y="258953"/>
                  </a:lnTo>
                  <a:lnTo>
                    <a:pt x="1346327" y="248424"/>
                  </a:lnTo>
                  <a:lnTo>
                    <a:pt x="1331531" y="241896"/>
                  </a:lnTo>
                  <a:lnTo>
                    <a:pt x="1318780" y="232816"/>
                  </a:lnTo>
                  <a:lnTo>
                    <a:pt x="1292644" y="190436"/>
                  </a:lnTo>
                  <a:lnTo>
                    <a:pt x="1284935" y="151003"/>
                  </a:lnTo>
                  <a:lnTo>
                    <a:pt x="1283970" y="128143"/>
                  </a:lnTo>
                  <a:lnTo>
                    <a:pt x="1284935" y="106070"/>
                  </a:lnTo>
                  <a:lnTo>
                    <a:pt x="1292644" y="67729"/>
                  </a:lnTo>
                  <a:lnTo>
                    <a:pt x="1318869" y="25933"/>
                  </a:lnTo>
                  <a:lnTo>
                    <a:pt x="1331747" y="16916"/>
                  </a:lnTo>
                  <a:lnTo>
                    <a:pt x="1346708" y="10414"/>
                  </a:lnTo>
                  <a:close/>
                </a:path>
                <a:path w="2064383" h="259078">
                  <a:moveTo>
                    <a:pt x="2064131" y="129540"/>
                  </a:moveTo>
                  <a:lnTo>
                    <a:pt x="2058797" y="83820"/>
                  </a:lnTo>
                  <a:lnTo>
                    <a:pt x="2042795" y="45339"/>
                  </a:lnTo>
                  <a:lnTo>
                    <a:pt x="2016798" y="16586"/>
                  </a:lnTo>
                  <a:lnTo>
                    <a:pt x="1981581" y="0"/>
                  </a:lnTo>
                  <a:lnTo>
                    <a:pt x="1977898" y="10414"/>
                  </a:lnTo>
                  <a:lnTo>
                    <a:pt x="1992871" y="16916"/>
                  </a:lnTo>
                  <a:lnTo>
                    <a:pt x="2005774" y="25933"/>
                  </a:lnTo>
                  <a:lnTo>
                    <a:pt x="2031936" y="67729"/>
                  </a:lnTo>
                  <a:lnTo>
                    <a:pt x="2039556" y="106070"/>
                  </a:lnTo>
                  <a:lnTo>
                    <a:pt x="2040509" y="128143"/>
                  </a:lnTo>
                  <a:lnTo>
                    <a:pt x="2039543" y="151003"/>
                  </a:lnTo>
                  <a:lnTo>
                    <a:pt x="2031873" y="190436"/>
                  </a:lnTo>
                  <a:lnTo>
                    <a:pt x="2005799" y="232816"/>
                  </a:lnTo>
                  <a:lnTo>
                    <a:pt x="1978279" y="248424"/>
                  </a:lnTo>
                  <a:lnTo>
                    <a:pt x="1981581" y="258953"/>
                  </a:lnTo>
                  <a:lnTo>
                    <a:pt x="2016912" y="242404"/>
                  </a:lnTo>
                  <a:lnTo>
                    <a:pt x="2042922" y="213741"/>
                  </a:lnTo>
                  <a:lnTo>
                    <a:pt x="2058809" y="175260"/>
                  </a:lnTo>
                  <a:lnTo>
                    <a:pt x="2062797" y="153314"/>
                  </a:lnTo>
                  <a:lnTo>
                    <a:pt x="2064131" y="129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74913" y="4177283"/>
              <a:ext cx="1630045" cy="628650"/>
            </a:xfrm>
            <a:custGeom>
              <a:avLst/>
              <a:gdLst/>
              <a:ahLst/>
              <a:cxnLst/>
              <a:rect l="l" t="t" r="r" b="b"/>
              <a:pathLst>
                <a:path w="1630045" h="628650">
                  <a:moveTo>
                    <a:pt x="1629917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124459" y="628650"/>
                  </a:lnTo>
                  <a:lnTo>
                    <a:pt x="1505457" y="628650"/>
                  </a:lnTo>
                  <a:lnTo>
                    <a:pt x="1629917" y="504190"/>
                  </a:lnTo>
                  <a:lnTo>
                    <a:pt x="1629917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20050" y="3804665"/>
              <a:ext cx="1739900" cy="438150"/>
            </a:xfrm>
            <a:custGeom>
              <a:avLst/>
              <a:gdLst/>
              <a:ahLst/>
              <a:cxnLst/>
              <a:rect l="l" t="t" r="r" b="b"/>
              <a:pathLst>
                <a:path w="1739900" h="438150">
                  <a:moveTo>
                    <a:pt x="1739646" y="0"/>
                  </a:moveTo>
                  <a:lnTo>
                    <a:pt x="0" y="0"/>
                  </a:lnTo>
                  <a:lnTo>
                    <a:pt x="0" y="382142"/>
                  </a:lnTo>
                  <a:lnTo>
                    <a:pt x="56006" y="438149"/>
                  </a:lnTo>
                  <a:lnTo>
                    <a:pt x="1683639" y="438149"/>
                  </a:lnTo>
                  <a:lnTo>
                    <a:pt x="1739646" y="382142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46542" y="5025389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415417"/>
                  </a:lnTo>
                  <a:lnTo>
                    <a:pt x="82930" y="498348"/>
                  </a:lnTo>
                  <a:lnTo>
                    <a:pt x="1403730" y="498348"/>
                  </a:lnTo>
                  <a:lnTo>
                    <a:pt x="1486661" y="415417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21395" y="4751831"/>
              <a:ext cx="1558290" cy="273685"/>
            </a:xfrm>
            <a:custGeom>
              <a:avLst/>
              <a:gdLst/>
              <a:ahLst/>
              <a:cxnLst/>
              <a:rect l="l" t="t" r="r" b="b"/>
              <a:pathLst>
                <a:path w="1558290" h="273685">
                  <a:moveTo>
                    <a:pt x="1558289" y="0"/>
                  </a:moveTo>
                  <a:lnTo>
                    <a:pt x="0" y="0"/>
                  </a:lnTo>
                  <a:lnTo>
                    <a:pt x="0" y="246126"/>
                  </a:lnTo>
                  <a:lnTo>
                    <a:pt x="27431" y="273558"/>
                  </a:lnTo>
                  <a:lnTo>
                    <a:pt x="1530857" y="273558"/>
                  </a:lnTo>
                  <a:lnTo>
                    <a:pt x="1558289" y="246126"/>
                  </a:lnTo>
                  <a:lnTo>
                    <a:pt x="1558289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00022" y="3506723"/>
              <a:ext cx="8574405" cy="2082164"/>
            </a:xfrm>
            <a:custGeom>
              <a:avLst/>
              <a:gdLst/>
              <a:ahLst/>
              <a:cxnLst/>
              <a:rect l="l" t="t" r="r" b="b"/>
              <a:pathLst>
                <a:path w="8574405" h="2082164">
                  <a:moveTo>
                    <a:pt x="114300" y="114300"/>
                  </a:moveTo>
                  <a:lnTo>
                    <a:pt x="104775" y="95250"/>
                  </a:lnTo>
                  <a:lnTo>
                    <a:pt x="57150" y="0"/>
                  </a:lnTo>
                  <a:lnTo>
                    <a:pt x="0" y="114300"/>
                  </a:lnTo>
                  <a:lnTo>
                    <a:pt x="38100" y="114300"/>
                  </a:lnTo>
                  <a:lnTo>
                    <a:pt x="38100" y="2072005"/>
                  </a:lnTo>
                  <a:lnTo>
                    <a:pt x="76200" y="2072005"/>
                  </a:lnTo>
                  <a:lnTo>
                    <a:pt x="76200" y="114300"/>
                  </a:lnTo>
                  <a:lnTo>
                    <a:pt x="114300" y="114300"/>
                  </a:lnTo>
                  <a:close/>
                </a:path>
                <a:path w="8574405" h="2082164">
                  <a:moveTo>
                    <a:pt x="8574024" y="124218"/>
                  </a:moveTo>
                  <a:lnTo>
                    <a:pt x="8564499" y="105156"/>
                  </a:lnTo>
                  <a:lnTo>
                    <a:pt x="8516874" y="9906"/>
                  </a:lnTo>
                  <a:lnTo>
                    <a:pt x="8459724" y="124218"/>
                  </a:lnTo>
                  <a:lnTo>
                    <a:pt x="8497824" y="124218"/>
                  </a:lnTo>
                  <a:lnTo>
                    <a:pt x="8497824" y="2081847"/>
                  </a:lnTo>
                  <a:lnTo>
                    <a:pt x="8535924" y="2081847"/>
                  </a:lnTo>
                  <a:lnTo>
                    <a:pt x="8535924" y="124218"/>
                  </a:lnTo>
                  <a:lnTo>
                    <a:pt x="8574024" y="124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091429" y="4992672"/>
            <a:ext cx="1993264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1885"/>
              </a:lnSpc>
              <a:spcBef>
                <a:spcPts val="100"/>
              </a:spcBef>
              <a:tabLst>
                <a:tab pos="922019" algn="l"/>
                <a:tab pos="1323975" algn="l"/>
              </a:tabLst>
            </a:pPr>
            <a:r>
              <a:rPr sz="2200">
                <a:latin typeface="Cambria Math"/>
                <a:cs typeface="Cambria Math"/>
              </a:rPr>
              <a:t>𝒑</a:t>
            </a:r>
            <a:r>
              <a:rPr sz="2400" baseline="31250">
                <a:latin typeface="Cambria Math"/>
                <a:cs typeface="Cambria Math"/>
              </a:rPr>
              <a:t>∗</a:t>
            </a:r>
            <a:r>
              <a:rPr sz="2200">
                <a:latin typeface="Cambria Math"/>
                <a:cs typeface="Cambria Math"/>
              </a:rPr>
              <a:t>,</a:t>
            </a:r>
            <a:r>
              <a:rPr sz="2200" spc="-4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𝒗</a:t>
            </a:r>
            <a:r>
              <a:rPr sz="2400" spc="-37" baseline="31250">
                <a:latin typeface="Cambria Math"/>
                <a:cs typeface="Cambria Math"/>
              </a:rPr>
              <a:t>∗</a:t>
            </a:r>
            <a:r>
              <a:rPr sz="2400" baseline="31250">
                <a:latin typeface="Cambria Math"/>
                <a:cs typeface="Cambria Math"/>
              </a:rPr>
              <a:t>	</a:t>
            </a:r>
            <a:r>
              <a:rPr sz="2200" spc="-50">
                <a:latin typeface="Cambria Math"/>
                <a:cs typeface="Cambria Math"/>
              </a:rPr>
              <a:t>=</a:t>
            </a:r>
            <a:r>
              <a:rPr sz="2200">
                <a:latin typeface="Cambria Math"/>
                <a:cs typeface="Cambria Math"/>
              </a:rPr>
              <a:t>	</a:t>
            </a:r>
            <a:r>
              <a:rPr sz="2200" spc="85">
                <a:latin typeface="Cambria Math"/>
                <a:cs typeface="Cambria Math"/>
              </a:rPr>
              <a:t>𝒑</a:t>
            </a:r>
            <a:r>
              <a:rPr sz="2400" spc="127" baseline="31250">
                <a:latin typeface="Cambria Math"/>
                <a:cs typeface="Cambria Math"/>
              </a:rPr>
              <a:t>′</a:t>
            </a:r>
            <a:r>
              <a:rPr sz="2200" spc="85">
                <a:latin typeface="Cambria Math"/>
                <a:cs typeface="Cambria Math"/>
              </a:rPr>
              <a:t>,</a:t>
            </a:r>
            <a:r>
              <a:rPr sz="2200" spc="-105">
                <a:latin typeface="Cambria Math"/>
                <a:cs typeface="Cambria Math"/>
              </a:rPr>
              <a:t> </a:t>
            </a:r>
            <a:r>
              <a:rPr sz="2200" spc="50">
                <a:latin typeface="Cambria Math"/>
                <a:cs typeface="Cambria Math"/>
              </a:rPr>
              <a:t>𝒗</a:t>
            </a:r>
            <a:r>
              <a:rPr sz="2400" spc="75" baseline="31250">
                <a:latin typeface="Cambria Math"/>
                <a:cs typeface="Cambria Math"/>
              </a:rPr>
              <a:t>′</a:t>
            </a:r>
            <a:endParaRPr sz="2400" baseline="31250">
              <a:latin typeface="Cambria Math"/>
              <a:cs typeface="Cambria Math"/>
            </a:endParaRPr>
          </a:p>
          <a:p>
            <a:pPr marL="236854">
              <a:lnSpc>
                <a:spcPts val="1165"/>
              </a:lnSpc>
              <a:tabLst>
                <a:tab pos="617855" algn="l"/>
                <a:tab pos="1497330" algn="l"/>
                <a:tab pos="1856105" algn="l"/>
              </a:tabLst>
            </a:pPr>
            <a:r>
              <a:rPr sz="1600" spc="-50">
                <a:latin typeface="Cambria Math"/>
                <a:cs typeface="Cambria Math"/>
              </a:rPr>
              <a:t>𝒊</a:t>
            </a:r>
            <a:r>
              <a:rPr sz="1600">
                <a:latin typeface="Cambria Math"/>
                <a:cs typeface="Cambria Math"/>
              </a:rPr>
              <a:t>	</a:t>
            </a:r>
            <a:r>
              <a:rPr sz="1600" spc="-50">
                <a:latin typeface="Cambria Math"/>
                <a:cs typeface="Cambria Math"/>
              </a:rPr>
              <a:t>𝒊</a:t>
            </a:r>
            <a:r>
              <a:rPr sz="1600">
                <a:latin typeface="Cambria Math"/>
                <a:cs typeface="Cambria Math"/>
              </a:rPr>
              <a:t>	</a:t>
            </a:r>
            <a:r>
              <a:rPr sz="1600" spc="-50">
                <a:latin typeface="Cambria Math"/>
                <a:cs typeface="Cambria Math"/>
              </a:rPr>
              <a:t>𝒊</a:t>
            </a:r>
            <a:r>
              <a:rPr sz="1600">
                <a:latin typeface="Cambria Math"/>
                <a:cs typeface="Cambria Math"/>
              </a:rPr>
              <a:t>	</a:t>
            </a:r>
            <a:r>
              <a:rPr sz="1600" spc="-50">
                <a:latin typeface="Cambria Math"/>
                <a:cs typeface="Cambria Math"/>
              </a:rPr>
              <a:t>𝒊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95272" y="3153155"/>
            <a:ext cx="8412480" cy="2535555"/>
            <a:chOff x="1795272" y="3153155"/>
            <a:chExt cx="8412480" cy="2535555"/>
          </a:xfrm>
        </p:grpSpPr>
        <p:sp>
          <p:nvSpPr>
            <p:cNvPr id="23" name="object 23"/>
            <p:cNvSpPr/>
            <p:nvPr/>
          </p:nvSpPr>
          <p:spPr>
            <a:xfrm>
              <a:off x="2428494" y="3796029"/>
              <a:ext cx="7331709" cy="956310"/>
            </a:xfrm>
            <a:custGeom>
              <a:avLst/>
              <a:gdLst/>
              <a:ahLst/>
              <a:cxnLst/>
              <a:rect l="l" t="t" r="r" b="b"/>
              <a:pathLst>
                <a:path w="7331709" h="956310">
                  <a:moveTo>
                    <a:pt x="1739646" y="8636"/>
                  </a:moveTo>
                  <a:lnTo>
                    <a:pt x="0" y="8636"/>
                  </a:lnTo>
                  <a:lnTo>
                    <a:pt x="0" y="498729"/>
                  </a:lnTo>
                  <a:lnTo>
                    <a:pt x="14351" y="513080"/>
                  </a:lnTo>
                  <a:lnTo>
                    <a:pt x="41910" y="513080"/>
                  </a:lnTo>
                  <a:lnTo>
                    <a:pt x="41910" y="920496"/>
                  </a:lnTo>
                  <a:lnTo>
                    <a:pt x="68072" y="946658"/>
                  </a:lnTo>
                  <a:lnTo>
                    <a:pt x="1667002" y="946658"/>
                  </a:lnTo>
                  <a:lnTo>
                    <a:pt x="1693164" y="920496"/>
                  </a:lnTo>
                  <a:lnTo>
                    <a:pt x="1693164" y="513080"/>
                  </a:lnTo>
                  <a:lnTo>
                    <a:pt x="1725295" y="513080"/>
                  </a:lnTo>
                  <a:lnTo>
                    <a:pt x="1739646" y="498729"/>
                  </a:lnTo>
                  <a:lnTo>
                    <a:pt x="1739646" y="8636"/>
                  </a:lnTo>
                  <a:close/>
                </a:path>
                <a:path w="7331709" h="956310">
                  <a:moveTo>
                    <a:pt x="7331202" y="0"/>
                  </a:moveTo>
                  <a:lnTo>
                    <a:pt x="5591556" y="0"/>
                  </a:lnTo>
                  <a:lnTo>
                    <a:pt x="5591556" y="427990"/>
                  </a:lnTo>
                  <a:lnTo>
                    <a:pt x="5597779" y="427990"/>
                  </a:lnTo>
                  <a:lnTo>
                    <a:pt x="5597779" y="440690"/>
                  </a:lnTo>
                  <a:lnTo>
                    <a:pt x="5637276" y="440690"/>
                  </a:lnTo>
                  <a:lnTo>
                    <a:pt x="5637276" y="910336"/>
                  </a:lnTo>
                  <a:lnTo>
                    <a:pt x="5682742" y="955802"/>
                  </a:lnTo>
                  <a:lnTo>
                    <a:pt x="7230872" y="955802"/>
                  </a:lnTo>
                  <a:lnTo>
                    <a:pt x="7276338" y="910336"/>
                  </a:lnTo>
                  <a:lnTo>
                    <a:pt x="7276338" y="440690"/>
                  </a:lnTo>
                  <a:lnTo>
                    <a:pt x="7324979" y="440690"/>
                  </a:lnTo>
                  <a:lnTo>
                    <a:pt x="7324979" y="427990"/>
                  </a:lnTo>
                  <a:lnTo>
                    <a:pt x="7331202" y="427990"/>
                  </a:lnTo>
                  <a:lnTo>
                    <a:pt x="7331202" y="0"/>
                  </a:lnTo>
                  <a:close/>
                </a:path>
              </a:pathLst>
            </a:custGeom>
            <a:solidFill>
              <a:srgbClr val="D9D9D9">
                <a:alpha val="8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386066" y="3153155"/>
              <a:ext cx="2821685" cy="25351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795272" y="3153155"/>
              <a:ext cx="2821686" cy="253517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588508" y="2268220"/>
            <a:ext cx="864869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5">
                <a:latin typeface="PMingLiU"/>
                <a:cs typeface="PMingLiU"/>
              </a:rPr>
              <a:t>替换为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3568" y="3993134"/>
            <a:ext cx="1145540" cy="1024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9000"/>
              </a:lnSpc>
              <a:spcBef>
                <a:spcPts val="125"/>
              </a:spcBef>
            </a:pPr>
            <a:r>
              <a:rPr sz="22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按性价比递减顺序进行替换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8" name="object 3">
            <a:extLst>
              <a:ext uri="{FF2B5EF4-FFF2-40B4-BE49-F238E27FC236}">
                <a16:creationId xmlns:a16="http://schemas.microsoft.com/office/drawing/2014/main" id="{1032139A-53B1-D341-8943-2476200D61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364" y="280947"/>
            <a:ext cx="254160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正确性证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明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32304" y="3806190"/>
            <a:ext cx="1723389" cy="340360"/>
          </a:xfrm>
          <a:custGeom>
            <a:avLst/>
            <a:gdLst/>
            <a:ahLst/>
            <a:cxnLst/>
            <a:rect l="l" t="t" r="r" b="b"/>
            <a:pathLst>
              <a:path w="1723389" h="340360">
                <a:moveTo>
                  <a:pt x="1722882" y="0"/>
                </a:moveTo>
                <a:lnTo>
                  <a:pt x="0" y="0"/>
                </a:lnTo>
                <a:lnTo>
                  <a:pt x="0" y="312166"/>
                </a:lnTo>
                <a:lnTo>
                  <a:pt x="27685" y="339852"/>
                </a:lnTo>
                <a:lnTo>
                  <a:pt x="1695195" y="339852"/>
                </a:lnTo>
                <a:lnTo>
                  <a:pt x="1722882" y="312166"/>
                </a:lnTo>
                <a:lnTo>
                  <a:pt x="1722882" y="0"/>
                </a:lnTo>
                <a:close/>
              </a:path>
            </a:pathLst>
          </a:custGeom>
          <a:solidFill>
            <a:srgbClr val="8E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87167" y="4146041"/>
            <a:ext cx="1642110" cy="664845"/>
            <a:chOff x="2487167" y="4146041"/>
            <a:chExt cx="1642110" cy="664845"/>
          </a:xfrm>
        </p:grpSpPr>
        <p:sp>
          <p:nvSpPr>
            <p:cNvPr id="4" name="object 4"/>
            <p:cNvSpPr/>
            <p:nvPr/>
          </p:nvSpPr>
          <p:spPr>
            <a:xfrm>
              <a:off x="2509266" y="4470399"/>
              <a:ext cx="1592580" cy="340360"/>
            </a:xfrm>
            <a:custGeom>
              <a:avLst/>
              <a:gdLst/>
              <a:ahLst/>
              <a:cxnLst/>
              <a:rect l="l" t="t" r="r" b="b"/>
              <a:pathLst>
                <a:path w="1592579" h="340360">
                  <a:moveTo>
                    <a:pt x="1592580" y="0"/>
                  </a:moveTo>
                  <a:lnTo>
                    <a:pt x="0" y="0"/>
                  </a:lnTo>
                  <a:lnTo>
                    <a:pt x="0" y="336550"/>
                  </a:lnTo>
                  <a:lnTo>
                    <a:pt x="2527" y="336550"/>
                  </a:lnTo>
                  <a:lnTo>
                    <a:pt x="2527" y="340360"/>
                  </a:lnTo>
                  <a:lnTo>
                    <a:pt x="1590040" y="340360"/>
                  </a:lnTo>
                  <a:lnTo>
                    <a:pt x="1590040" y="336550"/>
                  </a:lnTo>
                  <a:lnTo>
                    <a:pt x="1592580" y="336550"/>
                  </a:lnTo>
                  <a:lnTo>
                    <a:pt x="1592580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87167" y="4146041"/>
              <a:ext cx="1642110" cy="339090"/>
            </a:xfrm>
            <a:custGeom>
              <a:avLst/>
              <a:gdLst/>
              <a:ahLst/>
              <a:cxnLst/>
              <a:rect l="l" t="t" r="r" b="b"/>
              <a:pathLst>
                <a:path w="1642110" h="339089">
                  <a:moveTo>
                    <a:pt x="1642109" y="0"/>
                  </a:moveTo>
                  <a:lnTo>
                    <a:pt x="0" y="0"/>
                  </a:lnTo>
                  <a:lnTo>
                    <a:pt x="0" y="296798"/>
                  </a:lnTo>
                  <a:lnTo>
                    <a:pt x="42290" y="339089"/>
                  </a:lnTo>
                  <a:lnTo>
                    <a:pt x="1599819" y="339089"/>
                  </a:lnTo>
                  <a:lnTo>
                    <a:pt x="1642109" y="296798"/>
                  </a:lnTo>
                  <a:lnTo>
                    <a:pt x="1642109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509266" y="4518659"/>
            <a:ext cx="5471795" cy="980440"/>
            <a:chOff x="2509266" y="4518659"/>
            <a:chExt cx="5471795" cy="980440"/>
          </a:xfrm>
        </p:grpSpPr>
        <p:sp>
          <p:nvSpPr>
            <p:cNvPr id="7" name="object 7"/>
            <p:cNvSpPr/>
            <p:nvPr/>
          </p:nvSpPr>
          <p:spPr>
            <a:xfrm>
              <a:off x="2542794" y="5000243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398652"/>
                  </a:lnTo>
                  <a:lnTo>
                    <a:pt x="99694" y="498347"/>
                  </a:lnTo>
                  <a:lnTo>
                    <a:pt x="1386967" y="498347"/>
                  </a:lnTo>
                  <a:lnTo>
                    <a:pt x="1486661" y="398652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09266" y="4742687"/>
              <a:ext cx="1559560" cy="273050"/>
            </a:xfrm>
            <a:custGeom>
              <a:avLst/>
              <a:gdLst/>
              <a:ahLst/>
              <a:cxnLst/>
              <a:rect l="l" t="t" r="r" b="b"/>
              <a:pathLst>
                <a:path w="1559560" h="273050">
                  <a:moveTo>
                    <a:pt x="1559051" y="0"/>
                  </a:moveTo>
                  <a:lnTo>
                    <a:pt x="0" y="0"/>
                  </a:lnTo>
                  <a:lnTo>
                    <a:pt x="0" y="245491"/>
                  </a:lnTo>
                  <a:lnTo>
                    <a:pt x="27304" y="272795"/>
                  </a:lnTo>
                  <a:lnTo>
                    <a:pt x="1531746" y="272795"/>
                  </a:lnTo>
                  <a:lnTo>
                    <a:pt x="1559051" y="245491"/>
                  </a:lnTo>
                  <a:lnTo>
                    <a:pt x="1559051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37660" y="4518659"/>
              <a:ext cx="3843654" cy="190500"/>
            </a:xfrm>
            <a:custGeom>
              <a:avLst/>
              <a:gdLst/>
              <a:ahLst/>
              <a:cxnLst/>
              <a:rect l="l" t="t" r="r" b="b"/>
              <a:pathLst>
                <a:path w="3843654" h="190500">
                  <a:moveTo>
                    <a:pt x="114300" y="0"/>
                  </a:moveTo>
                  <a:lnTo>
                    <a:pt x="0" y="95250"/>
                  </a:lnTo>
                  <a:lnTo>
                    <a:pt x="114300" y="190500"/>
                  </a:lnTo>
                  <a:lnTo>
                    <a:pt x="114300" y="114300"/>
                  </a:lnTo>
                  <a:lnTo>
                    <a:pt x="95250" y="1143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0"/>
                  </a:lnTo>
                  <a:close/>
                </a:path>
                <a:path w="3843654" h="190500">
                  <a:moveTo>
                    <a:pt x="3728973" y="0"/>
                  </a:moveTo>
                  <a:lnTo>
                    <a:pt x="3728973" y="190500"/>
                  </a:lnTo>
                  <a:lnTo>
                    <a:pt x="3820414" y="114300"/>
                  </a:lnTo>
                  <a:lnTo>
                    <a:pt x="3748150" y="114300"/>
                  </a:lnTo>
                  <a:lnTo>
                    <a:pt x="3748150" y="76200"/>
                  </a:lnTo>
                  <a:lnTo>
                    <a:pt x="3820414" y="76200"/>
                  </a:lnTo>
                  <a:lnTo>
                    <a:pt x="3728973" y="0"/>
                  </a:lnTo>
                  <a:close/>
                </a:path>
                <a:path w="3843654" h="190500">
                  <a:moveTo>
                    <a:pt x="114300" y="76200"/>
                  </a:moveTo>
                  <a:lnTo>
                    <a:pt x="95250" y="76200"/>
                  </a:lnTo>
                  <a:lnTo>
                    <a:pt x="95250" y="114300"/>
                  </a:lnTo>
                  <a:lnTo>
                    <a:pt x="114300" y="114300"/>
                  </a:lnTo>
                  <a:lnTo>
                    <a:pt x="114300" y="76200"/>
                  </a:lnTo>
                  <a:close/>
                </a:path>
                <a:path w="3843654" h="190500">
                  <a:moveTo>
                    <a:pt x="3728973" y="76200"/>
                  </a:moveTo>
                  <a:lnTo>
                    <a:pt x="114300" y="76200"/>
                  </a:lnTo>
                  <a:lnTo>
                    <a:pt x="114300" y="114300"/>
                  </a:lnTo>
                  <a:lnTo>
                    <a:pt x="3728973" y="114300"/>
                  </a:lnTo>
                  <a:lnTo>
                    <a:pt x="3728973" y="76200"/>
                  </a:lnTo>
                  <a:close/>
                </a:path>
                <a:path w="3843654" h="190500">
                  <a:moveTo>
                    <a:pt x="3820414" y="76200"/>
                  </a:moveTo>
                  <a:lnTo>
                    <a:pt x="3748150" y="76200"/>
                  </a:lnTo>
                  <a:lnTo>
                    <a:pt x="3748150" y="114300"/>
                  </a:lnTo>
                  <a:lnTo>
                    <a:pt x="3820414" y="114300"/>
                  </a:lnTo>
                  <a:lnTo>
                    <a:pt x="3843273" y="95250"/>
                  </a:lnTo>
                  <a:lnTo>
                    <a:pt x="3820414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02183" y="953451"/>
            <a:ext cx="463867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贪心策略：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3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证明：贪心解不劣于最优解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41754" y="241706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13105">
              <a:lnSpc>
                <a:spcPct val="100000"/>
              </a:lnSpc>
              <a:spcBef>
                <a:spcPts val="270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最优解</a:t>
            </a:r>
            <a:r>
              <a:rPr sz="2800" spc="-25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-37" baseline="28455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3075" baseline="28455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13959" y="2602229"/>
            <a:ext cx="2021839" cy="273050"/>
          </a:xfrm>
          <a:custGeom>
            <a:avLst/>
            <a:gdLst/>
            <a:ahLst/>
            <a:cxnLst/>
            <a:rect l="l" t="t" r="r" b="b"/>
            <a:pathLst>
              <a:path w="2021839" h="273050">
                <a:moveTo>
                  <a:pt x="1885188" y="0"/>
                </a:moveTo>
                <a:lnTo>
                  <a:pt x="1885188" y="68199"/>
                </a:lnTo>
                <a:lnTo>
                  <a:pt x="0" y="68199"/>
                </a:lnTo>
                <a:lnTo>
                  <a:pt x="0" y="204597"/>
                </a:lnTo>
                <a:lnTo>
                  <a:pt x="1885188" y="204597"/>
                </a:lnTo>
                <a:lnTo>
                  <a:pt x="1885188" y="272796"/>
                </a:lnTo>
                <a:lnTo>
                  <a:pt x="2021586" y="136398"/>
                </a:lnTo>
                <a:lnTo>
                  <a:pt x="188518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70064" y="244754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30885">
              <a:lnSpc>
                <a:spcPct val="100000"/>
              </a:lnSpc>
              <a:spcBef>
                <a:spcPts val="27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贪心解</a:t>
            </a:r>
            <a:r>
              <a:rPr sz="2800" spc="70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104" baseline="28455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3075" baseline="28455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40858" y="4172278"/>
            <a:ext cx="14236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不同的调整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00022" y="3506723"/>
            <a:ext cx="8574405" cy="2082164"/>
            <a:chOff x="1700022" y="3506723"/>
            <a:chExt cx="8574405" cy="2082164"/>
          </a:xfrm>
        </p:grpSpPr>
        <p:sp>
          <p:nvSpPr>
            <p:cNvPr id="17" name="object 17"/>
            <p:cNvSpPr/>
            <p:nvPr/>
          </p:nvSpPr>
          <p:spPr>
            <a:xfrm>
              <a:off x="8074913" y="4177283"/>
              <a:ext cx="1630045" cy="628650"/>
            </a:xfrm>
            <a:custGeom>
              <a:avLst/>
              <a:gdLst/>
              <a:ahLst/>
              <a:cxnLst/>
              <a:rect l="l" t="t" r="r" b="b"/>
              <a:pathLst>
                <a:path w="1630045" h="628650">
                  <a:moveTo>
                    <a:pt x="1629917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124459" y="628650"/>
                  </a:lnTo>
                  <a:lnTo>
                    <a:pt x="1505457" y="628650"/>
                  </a:lnTo>
                  <a:lnTo>
                    <a:pt x="1629917" y="504190"/>
                  </a:lnTo>
                  <a:lnTo>
                    <a:pt x="1629917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20050" y="3804665"/>
              <a:ext cx="1739900" cy="438150"/>
            </a:xfrm>
            <a:custGeom>
              <a:avLst/>
              <a:gdLst/>
              <a:ahLst/>
              <a:cxnLst/>
              <a:rect l="l" t="t" r="r" b="b"/>
              <a:pathLst>
                <a:path w="1739900" h="438150">
                  <a:moveTo>
                    <a:pt x="1739646" y="0"/>
                  </a:moveTo>
                  <a:lnTo>
                    <a:pt x="0" y="0"/>
                  </a:lnTo>
                  <a:lnTo>
                    <a:pt x="0" y="382142"/>
                  </a:lnTo>
                  <a:lnTo>
                    <a:pt x="56006" y="438149"/>
                  </a:lnTo>
                  <a:lnTo>
                    <a:pt x="1683639" y="438149"/>
                  </a:lnTo>
                  <a:lnTo>
                    <a:pt x="1739646" y="382142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46542" y="5025389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415417"/>
                  </a:lnTo>
                  <a:lnTo>
                    <a:pt x="82930" y="498348"/>
                  </a:lnTo>
                  <a:lnTo>
                    <a:pt x="1403730" y="498348"/>
                  </a:lnTo>
                  <a:lnTo>
                    <a:pt x="1486661" y="415417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21395" y="4751831"/>
              <a:ext cx="1558290" cy="273685"/>
            </a:xfrm>
            <a:custGeom>
              <a:avLst/>
              <a:gdLst/>
              <a:ahLst/>
              <a:cxnLst/>
              <a:rect l="l" t="t" r="r" b="b"/>
              <a:pathLst>
                <a:path w="1558290" h="273685">
                  <a:moveTo>
                    <a:pt x="1558289" y="0"/>
                  </a:moveTo>
                  <a:lnTo>
                    <a:pt x="0" y="0"/>
                  </a:lnTo>
                  <a:lnTo>
                    <a:pt x="0" y="246126"/>
                  </a:lnTo>
                  <a:lnTo>
                    <a:pt x="27431" y="273558"/>
                  </a:lnTo>
                  <a:lnTo>
                    <a:pt x="1530857" y="273558"/>
                  </a:lnTo>
                  <a:lnTo>
                    <a:pt x="1558289" y="246126"/>
                  </a:lnTo>
                  <a:lnTo>
                    <a:pt x="1558289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00022" y="3506723"/>
              <a:ext cx="8574405" cy="2082164"/>
            </a:xfrm>
            <a:custGeom>
              <a:avLst/>
              <a:gdLst/>
              <a:ahLst/>
              <a:cxnLst/>
              <a:rect l="l" t="t" r="r" b="b"/>
              <a:pathLst>
                <a:path w="8574405" h="2082164">
                  <a:moveTo>
                    <a:pt x="114300" y="114300"/>
                  </a:moveTo>
                  <a:lnTo>
                    <a:pt x="104775" y="95250"/>
                  </a:lnTo>
                  <a:lnTo>
                    <a:pt x="57150" y="0"/>
                  </a:lnTo>
                  <a:lnTo>
                    <a:pt x="0" y="114300"/>
                  </a:lnTo>
                  <a:lnTo>
                    <a:pt x="38100" y="114300"/>
                  </a:lnTo>
                  <a:lnTo>
                    <a:pt x="38100" y="2072005"/>
                  </a:lnTo>
                  <a:lnTo>
                    <a:pt x="76200" y="2072005"/>
                  </a:lnTo>
                  <a:lnTo>
                    <a:pt x="76200" y="114300"/>
                  </a:lnTo>
                  <a:lnTo>
                    <a:pt x="114300" y="114300"/>
                  </a:lnTo>
                  <a:close/>
                </a:path>
                <a:path w="8574405" h="2082164">
                  <a:moveTo>
                    <a:pt x="8574024" y="124218"/>
                  </a:moveTo>
                  <a:lnTo>
                    <a:pt x="8564499" y="105156"/>
                  </a:lnTo>
                  <a:lnTo>
                    <a:pt x="8516874" y="9906"/>
                  </a:lnTo>
                  <a:lnTo>
                    <a:pt x="8459724" y="124218"/>
                  </a:lnTo>
                  <a:lnTo>
                    <a:pt x="8497824" y="124218"/>
                  </a:lnTo>
                  <a:lnTo>
                    <a:pt x="8497824" y="2081847"/>
                  </a:lnTo>
                  <a:lnTo>
                    <a:pt x="8535924" y="2081847"/>
                  </a:lnTo>
                  <a:lnTo>
                    <a:pt x="8535924" y="124218"/>
                  </a:lnTo>
                  <a:lnTo>
                    <a:pt x="8574024" y="124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608829" y="4731798"/>
            <a:ext cx="2956560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1885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𝒙</a:t>
            </a:r>
            <a:r>
              <a:rPr sz="2400" spc="247" baseline="31250">
                <a:latin typeface="Cambria Math"/>
                <a:cs typeface="Cambria Math"/>
              </a:rPr>
              <a:t>∗ </a:t>
            </a:r>
            <a:r>
              <a:rPr sz="2200" spc="60">
                <a:latin typeface="Cambria Math"/>
                <a:cs typeface="Cambria Math"/>
              </a:rPr>
              <a:t>≤ </a:t>
            </a:r>
            <a:r>
              <a:rPr sz="2200">
                <a:latin typeface="Cambria Math"/>
                <a:cs typeface="Cambria Math"/>
              </a:rPr>
              <a:t>𝟏</a:t>
            </a:r>
            <a:r>
              <a:rPr sz="2200" spc="75">
                <a:latin typeface="Cambria Math"/>
                <a:cs typeface="Cambria Math"/>
              </a:rPr>
              <a:t> = </a:t>
            </a:r>
            <a:r>
              <a:rPr sz="2200" spc="85">
                <a:latin typeface="Cambria Math"/>
                <a:cs typeface="Cambria Math"/>
              </a:rPr>
              <a:t>𝒙</a:t>
            </a:r>
            <a:r>
              <a:rPr sz="2400" spc="127" baseline="31250">
                <a:latin typeface="Cambria Math"/>
                <a:cs typeface="Cambria Math"/>
              </a:rPr>
              <a:t>′</a:t>
            </a:r>
            <a:r>
              <a:rPr sz="2200" spc="40">
                <a:latin typeface="PMingLiU"/>
                <a:cs typeface="PMingLiU"/>
              </a:rPr>
              <a:t>，则</a:t>
            </a:r>
            <a:r>
              <a:rPr sz="2200">
                <a:latin typeface="Cambria Math"/>
                <a:cs typeface="Cambria Math"/>
              </a:rPr>
              <a:t>𝒗</a:t>
            </a:r>
            <a:r>
              <a:rPr sz="2400" spc="262" baseline="31250">
                <a:latin typeface="Cambria Math"/>
                <a:cs typeface="Cambria Math"/>
              </a:rPr>
              <a:t>∗ </a:t>
            </a:r>
            <a:r>
              <a:rPr sz="2200" spc="60">
                <a:latin typeface="Cambria Math"/>
                <a:cs typeface="Cambria Math"/>
              </a:rPr>
              <a:t>≤ </a:t>
            </a:r>
            <a:r>
              <a:rPr sz="2200" spc="50">
                <a:latin typeface="Cambria Math"/>
                <a:cs typeface="Cambria Math"/>
              </a:rPr>
              <a:t>𝒗</a:t>
            </a:r>
            <a:r>
              <a:rPr sz="2400" spc="75" baseline="31250">
                <a:latin typeface="Cambria Math"/>
                <a:cs typeface="Cambria Math"/>
              </a:rPr>
              <a:t>′</a:t>
            </a:r>
            <a:endParaRPr sz="2400" baseline="31250">
              <a:latin typeface="Cambria Math"/>
              <a:cs typeface="Cambria Math"/>
            </a:endParaRPr>
          </a:p>
          <a:p>
            <a:pPr marL="211454">
              <a:lnSpc>
                <a:spcPts val="1165"/>
              </a:lnSpc>
              <a:tabLst>
                <a:tab pos="1376045" algn="l"/>
                <a:tab pos="2190115" algn="l"/>
                <a:tab pos="2832735" algn="l"/>
              </a:tabLst>
            </a:pPr>
            <a:r>
              <a:rPr sz="1600" spc="-50">
                <a:latin typeface="Cambria Math"/>
                <a:cs typeface="Cambria Math"/>
              </a:rPr>
              <a:t>𝒊</a:t>
            </a:r>
            <a:r>
              <a:rPr sz="1600">
                <a:latin typeface="Cambria Math"/>
                <a:cs typeface="Cambria Math"/>
              </a:rPr>
              <a:t>	</a:t>
            </a:r>
            <a:r>
              <a:rPr sz="1600" spc="-50">
                <a:latin typeface="Cambria Math"/>
                <a:cs typeface="Cambria Math"/>
              </a:rPr>
              <a:t>𝒊</a:t>
            </a:r>
            <a:r>
              <a:rPr sz="1600">
                <a:latin typeface="Cambria Math"/>
                <a:cs typeface="Cambria Math"/>
              </a:rPr>
              <a:t>	</a:t>
            </a:r>
            <a:r>
              <a:rPr sz="1600" spc="-50">
                <a:latin typeface="Cambria Math"/>
                <a:cs typeface="Cambria Math"/>
              </a:rPr>
              <a:t>𝒊</a:t>
            </a:r>
            <a:r>
              <a:rPr sz="1600">
                <a:latin typeface="Cambria Math"/>
                <a:cs typeface="Cambria Math"/>
              </a:rPr>
              <a:t>	</a:t>
            </a:r>
            <a:r>
              <a:rPr sz="1600" spc="-50">
                <a:latin typeface="Cambria Math"/>
                <a:cs typeface="Cambria Math"/>
              </a:rPr>
              <a:t>𝒊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795272" y="3153155"/>
            <a:ext cx="8412480" cy="2535555"/>
            <a:chOff x="1795272" y="3153155"/>
            <a:chExt cx="8412480" cy="2535555"/>
          </a:xfrm>
        </p:grpSpPr>
        <p:sp>
          <p:nvSpPr>
            <p:cNvPr id="24" name="object 24"/>
            <p:cNvSpPr/>
            <p:nvPr/>
          </p:nvSpPr>
          <p:spPr>
            <a:xfrm>
              <a:off x="8020050" y="3804665"/>
              <a:ext cx="1739900" cy="440055"/>
            </a:xfrm>
            <a:custGeom>
              <a:avLst/>
              <a:gdLst/>
              <a:ahLst/>
              <a:cxnLst/>
              <a:rect l="l" t="t" r="r" b="b"/>
              <a:pathLst>
                <a:path w="1739900" h="440054">
                  <a:moveTo>
                    <a:pt x="1739646" y="0"/>
                  </a:moveTo>
                  <a:lnTo>
                    <a:pt x="0" y="0"/>
                  </a:lnTo>
                  <a:lnTo>
                    <a:pt x="0" y="383539"/>
                  </a:lnTo>
                  <a:lnTo>
                    <a:pt x="56133" y="439673"/>
                  </a:lnTo>
                  <a:lnTo>
                    <a:pt x="1683511" y="439673"/>
                  </a:lnTo>
                  <a:lnTo>
                    <a:pt x="1739646" y="383539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D9D9D9">
                <a:alpha val="8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386066" y="3153155"/>
              <a:ext cx="2821685" cy="25351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429256" y="3803141"/>
              <a:ext cx="1739900" cy="682625"/>
            </a:xfrm>
            <a:custGeom>
              <a:avLst/>
              <a:gdLst/>
              <a:ahLst/>
              <a:cxnLst/>
              <a:rect l="l" t="t" r="r" b="b"/>
              <a:pathLst>
                <a:path w="1739900" h="682625">
                  <a:moveTo>
                    <a:pt x="1739646" y="0"/>
                  </a:moveTo>
                  <a:lnTo>
                    <a:pt x="0" y="0"/>
                  </a:lnTo>
                  <a:lnTo>
                    <a:pt x="0" y="415417"/>
                  </a:lnTo>
                  <a:lnTo>
                    <a:pt x="57531" y="472948"/>
                  </a:lnTo>
                  <a:lnTo>
                    <a:pt x="44196" y="472948"/>
                  </a:lnTo>
                  <a:lnTo>
                    <a:pt x="44196" y="669798"/>
                  </a:lnTo>
                  <a:lnTo>
                    <a:pt x="50546" y="669798"/>
                  </a:lnTo>
                  <a:lnTo>
                    <a:pt x="50546" y="682498"/>
                  </a:lnTo>
                  <a:lnTo>
                    <a:pt x="1708150" y="682498"/>
                  </a:lnTo>
                  <a:lnTo>
                    <a:pt x="1708150" y="669798"/>
                  </a:lnTo>
                  <a:lnTo>
                    <a:pt x="1714500" y="669798"/>
                  </a:lnTo>
                  <a:lnTo>
                    <a:pt x="1714500" y="472948"/>
                  </a:lnTo>
                  <a:lnTo>
                    <a:pt x="1682115" y="472948"/>
                  </a:lnTo>
                  <a:lnTo>
                    <a:pt x="1739646" y="415417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D9D9D9">
                <a:alpha val="8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795272" y="3153155"/>
              <a:ext cx="2821686" cy="253517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53568" y="3993134"/>
            <a:ext cx="1145540" cy="1024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9000"/>
              </a:lnSpc>
              <a:spcBef>
                <a:spcPts val="125"/>
              </a:spcBef>
            </a:pPr>
            <a:r>
              <a:rPr sz="22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按性价比递减顺序进行替换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88508" y="2268220"/>
            <a:ext cx="864869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5">
                <a:latin typeface="PMingLiU"/>
                <a:cs typeface="PMingLiU"/>
              </a:rPr>
              <a:t>替换为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1F241ADE-A900-6546-BDB7-25960BA37F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364" y="280947"/>
            <a:ext cx="254160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正确性证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明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32304" y="3806190"/>
            <a:ext cx="1723389" cy="340360"/>
          </a:xfrm>
          <a:custGeom>
            <a:avLst/>
            <a:gdLst/>
            <a:ahLst/>
            <a:cxnLst/>
            <a:rect l="l" t="t" r="r" b="b"/>
            <a:pathLst>
              <a:path w="1723389" h="340360">
                <a:moveTo>
                  <a:pt x="1722882" y="0"/>
                </a:moveTo>
                <a:lnTo>
                  <a:pt x="0" y="0"/>
                </a:lnTo>
                <a:lnTo>
                  <a:pt x="0" y="312166"/>
                </a:lnTo>
                <a:lnTo>
                  <a:pt x="27685" y="339852"/>
                </a:lnTo>
                <a:lnTo>
                  <a:pt x="1695195" y="339852"/>
                </a:lnTo>
                <a:lnTo>
                  <a:pt x="1722882" y="312166"/>
                </a:lnTo>
                <a:lnTo>
                  <a:pt x="1722882" y="0"/>
                </a:lnTo>
                <a:close/>
              </a:path>
            </a:pathLst>
          </a:custGeom>
          <a:solidFill>
            <a:srgbClr val="8E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87167" y="4146041"/>
            <a:ext cx="1642110" cy="664845"/>
            <a:chOff x="2487167" y="4146041"/>
            <a:chExt cx="1642110" cy="664845"/>
          </a:xfrm>
        </p:grpSpPr>
        <p:sp>
          <p:nvSpPr>
            <p:cNvPr id="4" name="object 4"/>
            <p:cNvSpPr/>
            <p:nvPr/>
          </p:nvSpPr>
          <p:spPr>
            <a:xfrm>
              <a:off x="2509266" y="4470399"/>
              <a:ext cx="1592580" cy="340360"/>
            </a:xfrm>
            <a:custGeom>
              <a:avLst/>
              <a:gdLst/>
              <a:ahLst/>
              <a:cxnLst/>
              <a:rect l="l" t="t" r="r" b="b"/>
              <a:pathLst>
                <a:path w="1592579" h="340360">
                  <a:moveTo>
                    <a:pt x="1592580" y="0"/>
                  </a:moveTo>
                  <a:lnTo>
                    <a:pt x="0" y="0"/>
                  </a:lnTo>
                  <a:lnTo>
                    <a:pt x="0" y="336550"/>
                  </a:lnTo>
                  <a:lnTo>
                    <a:pt x="2527" y="336550"/>
                  </a:lnTo>
                  <a:lnTo>
                    <a:pt x="2527" y="340360"/>
                  </a:lnTo>
                  <a:lnTo>
                    <a:pt x="1590040" y="340360"/>
                  </a:lnTo>
                  <a:lnTo>
                    <a:pt x="1590040" y="336550"/>
                  </a:lnTo>
                  <a:lnTo>
                    <a:pt x="1592580" y="336550"/>
                  </a:lnTo>
                  <a:lnTo>
                    <a:pt x="1592580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87167" y="4146041"/>
              <a:ext cx="1642110" cy="339090"/>
            </a:xfrm>
            <a:custGeom>
              <a:avLst/>
              <a:gdLst/>
              <a:ahLst/>
              <a:cxnLst/>
              <a:rect l="l" t="t" r="r" b="b"/>
              <a:pathLst>
                <a:path w="1642110" h="339089">
                  <a:moveTo>
                    <a:pt x="1642109" y="0"/>
                  </a:moveTo>
                  <a:lnTo>
                    <a:pt x="0" y="0"/>
                  </a:lnTo>
                  <a:lnTo>
                    <a:pt x="0" y="296798"/>
                  </a:lnTo>
                  <a:lnTo>
                    <a:pt x="42290" y="339089"/>
                  </a:lnTo>
                  <a:lnTo>
                    <a:pt x="1599819" y="339089"/>
                  </a:lnTo>
                  <a:lnTo>
                    <a:pt x="1642109" y="296798"/>
                  </a:lnTo>
                  <a:lnTo>
                    <a:pt x="1642109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700022" y="3506723"/>
            <a:ext cx="8574405" cy="2082164"/>
            <a:chOff x="1700022" y="3506723"/>
            <a:chExt cx="8574405" cy="2082164"/>
          </a:xfrm>
        </p:grpSpPr>
        <p:sp>
          <p:nvSpPr>
            <p:cNvPr id="7" name="object 7"/>
            <p:cNvSpPr/>
            <p:nvPr/>
          </p:nvSpPr>
          <p:spPr>
            <a:xfrm>
              <a:off x="2542794" y="5000243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398652"/>
                  </a:lnTo>
                  <a:lnTo>
                    <a:pt x="99694" y="498347"/>
                  </a:lnTo>
                  <a:lnTo>
                    <a:pt x="1386967" y="498347"/>
                  </a:lnTo>
                  <a:lnTo>
                    <a:pt x="1486661" y="398652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09266" y="4742687"/>
              <a:ext cx="1559560" cy="273050"/>
            </a:xfrm>
            <a:custGeom>
              <a:avLst/>
              <a:gdLst/>
              <a:ahLst/>
              <a:cxnLst/>
              <a:rect l="l" t="t" r="r" b="b"/>
              <a:pathLst>
                <a:path w="1559560" h="273050">
                  <a:moveTo>
                    <a:pt x="1559051" y="0"/>
                  </a:moveTo>
                  <a:lnTo>
                    <a:pt x="0" y="0"/>
                  </a:lnTo>
                  <a:lnTo>
                    <a:pt x="0" y="245491"/>
                  </a:lnTo>
                  <a:lnTo>
                    <a:pt x="27304" y="272795"/>
                  </a:lnTo>
                  <a:lnTo>
                    <a:pt x="1531746" y="272795"/>
                  </a:lnTo>
                  <a:lnTo>
                    <a:pt x="1559051" y="245491"/>
                  </a:lnTo>
                  <a:lnTo>
                    <a:pt x="1559051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37660" y="4518659"/>
              <a:ext cx="3843654" cy="190500"/>
            </a:xfrm>
            <a:custGeom>
              <a:avLst/>
              <a:gdLst/>
              <a:ahLst/>
              <a:cxnLst/>
              <a:rect l="l" t="t" r="r" b="b"/>
              <a:pathLst>
                <a:path w="3843654" h="190500">
                  <a:moveTo>
                    <a:pt x="114300" y="0"/>
                  </a:moveTo>
                  <a:lnTo>
                    <a:pt x="0" y="95250"/>
                  </a:lnTo>
                  <a:lnTo>
                    <a:pt x="114300" y="190500"/>
                  </a:lnTo>
                  <a:lnTo>
                    <a:pt x="114300" y="114300"/>
                  </a:lnTo>
                  <a:lnTo>
                    <a:pt x="95250" y="1143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0"/>
                  </a:lnTo>
                  <a:close/>
                </a:path>
                <a:path w="3843654" h="190500">
                  <a:moveTo>
                    <a:pt x="3728973" y="0"/>
                  </a:moveTo>
                  <a:lnTo>
                    <a:pt x="3728973" y="190500"/>
                  </a:lnTo>
                  <a:lnTo>
                    <a:pt x="3820414" y="114300"/>
                  </a:lnTo>
                  <a:lnTo>
                    <a:pt x="3748150" y="114300"/>
                  </a:lnTo>
                  <a:lnTo>
                    <a:pt x="3748150" y="76200"/>
                  </a:lnTo>
                  <a:lnTo>
                    <a:pt x="3820414" y="76200"/>
                  </a:lnTo>
                  <a:lnTo>
                    <a:pt x="3728973" y="0"/>
                  </a:lnTo>
                  <a:close/>
                </a:path>
                <a:path w="3843654" h="190500">
                  <a:moveTo>
                    <a:pt x="114300" y="76200"/>
                  </a:moveTo>
                  <a:lnTo>
                    <a:pt x="95250" y="76200"/>
                  </a:lnTo>
                  <a:lnTo>
                    <a:pt x="95250" y="114300"/>
                  </a:lnTo>
                  <a:lnTo>
                    <a:pt x="114300" y="114300"/>
                  </a:lnTo>
                  <a:lnTo>
                    <a:pt x="114300" y="76200"/>
                  </a:lnTo>
                  <a:close/>
                </a:path>
                <a:path w="3843654" h="190500">
                  <a:moveTo>
                    <a:pt x="3728973" y="76200"/>
                  </a:moveTo>
                  <a:lnTo>
                    <a:pt x="114300" y="76200"/>
                  </a:lnTo>
                  <a:lnTo>
                    <a:pt x="114300" y="114300"/>
                  </a:lnTo>
                  <a:lnTo>
                    <a:pt x="3728973" y="114300"/>
                  </a:lnTo>
                  <a:lnTo>
                    <a:pt x="3728973" y="76200"/>
                  </a:lnTo>
                  <a:close/>
                </a:path>
                <a:path w="3843654" h="190500">
                  <a:moveTo>
                    <a:pt x="3820414" y="76200"/>
                  </a:moveTo>
                  <a:lnTo>
                    <a:pt x="3748150" y="76200"/>
                  </a:lnTo>
                  <a:lnTo>
                    <a:pt x="3748150" y="114300"/>
                  </a:lnTo>
                  <a:lnTo>
                    <a:pt x="3820414" y="114300"/>
                  </a:lnTo>
                  <a:lnTo>
                    <a:pt x="3843273" y="95250"/>
                  </a:lnTo>
                  <a:lnTo>
                    <a:pt x="3820414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74913" y="4177283"/>
              <a:ext cx="1630045" cy="628650"/>
            </a:xfrm>
            <a:custGeom>
              <a:avLst/>
              <a:gdLst/>
              <a:ahLst/>
              <a:cxnLst/>
              <a:rect l="l" t="t" r="r" b="b"/>
              <a:pathLst>
                <a:path w="1630045" h="628650">
                  <a:moveTo>
                    <a:pt x="1629917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124459" y="628650"/>
                  </a:lnTo>
                  <a:lnTo>
                    <a:pt x="1505457" y="628650"/>
                  </a:lnTo>
                  <a:lnTo>
                    <a:pt x="1629917" y="504190"/>
                  </a:lnTo>
                  <a:lnTo>
                    <a:pt x="1629917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0050" y="3804665"/>
              <a:ext cx="1739900" cy="438150"/>
            </a:xfrm>
            <a:custGeom>
              <a:avLst/>
              <a:gdLst/>
              <a:ahLst/>
              <a:cxnLst/>
              <a:rect l="l" t="t" r="r" b="b"/>
              <a:pathLst>
                <a:path w="1739900" h="438150">
                  <a:moveTo>
                    <a:pt x="1739646" y="0"/>
                  </a:moveTo>
                  <a:lnTo>
                    <a:pt x="0" y="0"/>
                  </a:lnTo>
                  <a:lnTo>
                    <a:pt x="0" y="382142"/>
                  </a:lnTo>
                  <a:lnTo>
                    <a:pt x="56006" y="438149"/>
                  </a:lnTo>
                  <a:lnTo>
                    <a:pt x="1683639" y="438149"/>
                  </a:lnTo>
                  <a:lnTo>
                    <a:pt x="1739646" y="382142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46542" y="5025389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415417"/>
                  </a:lnTo>
                  <a:lnTo>
                    <a:pt x="82930" y="498348"/>
                  </a:lnTo>
                  <a:lnTo>
                    <a:pt x="1403730" y="498348"/>
                  </a:lnTo>
                  <a:lnTo>
                    <a:pt x="1486661" y="415417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21395" y="4751831"/>
              <a:ext cx="1558290" cy="273685"/>
            </a:xfrm>
            <a:custGeom>
              <a:avLst/>
              <a:gdLst/>
              <a:ahLst/>
              <a:cxnLst/>
              <a:rect l="l" t="t" r="r" b="b"/>
              <a:pathLst>
                <a:path w="1558290" h="273685">
                  <a:moveTo>
                    <a:pt x="1558289" y="0"/>
                  </a:moveTo>
                  <a:lnTo>
                    <a:pt x="0" y="0"/>
                  </a:lnTo>
                  <a:lnTo>
                    <a:pt x="0" y="246126"/>
                  </a:lnTo>
                  <a:lnTo>
                    <a:pt x="27431" y="273558"/>
                  </a:lnTo>
                  <a:lnTo>
                    <a:pt x="1530857" y="273558"/>
                  </a:lnTo>
                  <a:lnTo>
                    <a:pt x="1558289" y="246126"/>
                  </a:lnTo>
                  <a:lnTo>
                    <a:pt x="1558289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00022" y="3506723"/>
              <a:ext cx="8574405" cy="2082164"/>
            </a:xfrm>
            <a:custGeom>
              <a:avLst/>
              <a:gdLst/>
              <a:ahLst/>
              <a:cxnLst/>
              <a:rect l="l" t="t" r="r" b="b"/>
              <a:pathLst>
                <a:path w="8574405" h="2082164">
                  <a:moveTo>
                    <a:pt x="114300" y="114300"/>
                  </a:moveTo>
                  <a:lnTo>
                    <a:pt x="104775" y="95250"/>
                  </a:lnTo>
                  <a:lnTo>
                    <a:pt x="57150" y="0"/>
                  </a:lnTo>
                  <a:lnTo>
                    <a:pt x="0" y="114300"/>
                  </a:lnTo>
                  <a:lnTo>
                    <a:pt x="38100" y="114300"/>
                  </a:lnTo>
                  <a:lnTo>
                    <a:pt x="38100" y="2072005"/>
                  </a:lnTo>
                  <a:lnTo>
                    <a:pt x="76200" y="2072005"/>
                  </a:lnTo>
                  <a:lnTo>
                    <a:pt x="76200" y="114300"/>
                  </a:lnTo>
                  <a:lnTo>
                    <a:pt x="114300" y="114300"/>
                  </a:lnTo>
                  <a:close/>
                </a:path>
                <a:path w="8574405" h="2082164">
                  <a:moveTo>
                    <a:pt x="8574024" y="124218"/>
                  </a:moveTo>
                  <a:lnTo>
                    <a:pt x="8564499" y="105156"/>
                  </a:lnTo>
                  <a:lnTo>
                    <a:pt x="8516874" y="9906"/>
                  </a:lnTo>
                  <a:lnTo>
                    <a:pt x="8459724" y="124218"/>
                  </a:lnTo>
                  <a:lnTo>
                    <a:pt x="8497824" y="124218"/>
                  </a:lnTo>
                  <a:lnTo>
                    <a:pt x="8497824" y="2081847"/>
                  </a:lnTo>
                  <a:lnTo>
                    <a:pt x="8535924" y="2081847"/>
                  </a:lnTo>
                  <a:lnTo>
                    <a:pt x="8535924" y="124218"/>
                  </a:lnTo>
                  <a:lnTo>
                    <a:pt x="8574024" y="124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46214" y="968501"/>
            <a:ext cx="463867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贪心策略：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3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证明：贪心解不劣于最优解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41754" y="241706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13105">
              <a:lnSpc>
                <a:spcPct val="100000"/>
              </a:lnSpc>
              <a:spcBef>
                <a:spcPts val="270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最优解</a:t>
            </a:r>
            <a:r>
              <a:rPr sz="2800" spc="-25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-37" baseline="28455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3075" baseline="28455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13959" y="2602229"/>
            <a:ext cx="2021839" cy="273050"/>
          </a:xfrm>
          <a:custGeom>
            <a:avLst/>
            <a:gdLst/>
            <a:ahLst/>
            <a:cxnLst/>
            <a:rect l="l" t="t" r="r" b="b"/>
            <a:pathLst>
              <a:path w="2021839" h="273050">
                <a:moveTo>
                  <a:pt x="1885188" y="0"/>
                </a:moveTo>
                <a:lnTo>
                  <a:pt x="1885188" y="68199"/>
                </a:lnTo>
                <a:lnTo>
                  <a:pt x="0" y="68199"/>
                </a:lnTo>
                <a:lnTo>
                  <a:pt x="0" y="204597"/>
                </a:lnTo>
                <a:lnTo>
                  <a:pt x="1885188" y="204597"/>
                </a:lnTo>
                <a:lnTo>
                  <a:pt x="1885188" y="272796"/>
                </a:lnTo>
                <a:lnTo>
                  <a:pt x="2021586" y="136398"/>
                </a:lnTo>
                <a:lnTo>
                  <a:pt x="188518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370064" y="244754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30885">
              <a:lnSpc>
                <a:spcPct val="100000"/>
              </a:lnSpc>
              <a:spcBef>
                <a:spcPts val="27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贪心解</a:t>
            </a:r>
            <a:r>
              <a:rPr sz="2800" spc="70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104" baseline="28455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3075" baseline="28455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08829" y="4721040"/>
            <a:ext cx="2956560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1885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𝒙</a:t>
            </a:r>
            <a:r>
              <a:rPr sz="2400" spc="247" baseline="31250">
                <a:latin typeface="Cambria Math"/>
                <a:cs typeface="Cambria Math"/>
              </a:rPr>
              <a:t>∗ </a:t>
            </a:r>
            <a:r>
              <a:rPr sz="2200" spc="60">
                <a:latin typeface="Cambria Math"/>
                <a:cs typeface="Cambria Math"/>
              </a:rPr>
              <a:t>≤ </a:t>
            </a:r>
            <a:r>
              <a:rPr sz="2200">
                <a:latin typeface="Cambria Math"/>
                <a:cs typeface="Cambria Math"/>
              </a:rPr>
              <a:t>𝟏</a:t>
            </a:r>
            <a:r>
              <a:rPr sz="2200" spc="75">
                <a:latin typeface="Cambria Math"/>
                <a:cs typeface="Cambria Math"/>
              </a:rPr>
              <a:t> = </a:t>
            </a:r>
            <a:r>
              <a:rPr sz="2200" spc="85">
                <a:latin typeface="Cambria Math"/>
                <a:cs typeface="Cambria Math"/>
              </a:rPr>
              <a:t>𝒙</a:t>
            </a:r>
            <a:r>
              <a:rPr sz="2400" spc="127" baseline="31250">
                <a:latin typeface="Cambria Math"/>
                <a:cs typeface="Cambria Math"/>
              </a:rPr>
              <a:t>′</a:t>
            </a:r>
            <a:r>
              <a:rPr sz="2200" spc="40">
                <a:latin typeface="PMingLiU"/>
                <a:cs typeface="PMingLiU"/>
              </a:rPr>
              <a:t>，则</a:t>
            </a:r>
            <a:r>
              <a:rPr sz="2200">
                <a:latin typeface="Cambria Math"/>
                <a:cs typeface="Cambria Math"/>
              </a:rPr>
              <a:t>𝒗</a:t>
            </a:r>
            <a:r>
              <a:rPr sz="2400" spc="262" baseline="31250">
                <a:latin typeface="Cambria Math"/>
                <a:cs typeface="Cambria Math"/>
              </a:rPr>
              <a:t>∗ </a:t>
            </a:r>
            <a:r>
              <a:rPr sz="2200" spc="60">
                <a:latin typeface="Cambria Math"/>
                <a:cs typeface="Cambria Math"/>
              </a:rPr>
              <a:t>≤ </a:t>
            </a:r>
            <a:r>
              <a:rPr sz="2200" spc="50">
                <a:latin typeface="Cambria Math"/>
                <a:cs typeface="Cambria Math"/>
              </a:rPr>
              <a:t>𝒗</a:t>
            </a:r>
            <a:r>
              <a:rPr sz="2400" spc="75" baseline="31250">
                <a:latin typeface="Cambria Math"/>
                <a:cs typeface="Cambria Math"/>
              </a:rPr>
              <a:t>′</a:t>
            </a:r>
            <a:endParaRPr sz="2400" baseline="31250">
              <a:latin typeface="Cambria Math"/>
              <a:cs typeface="Cambria Math"/>
            </a:endParaRPr>
          </a:p>
          <a:p>
            <a:pPr marL="211454">
              <a:lnSpc>
                <a:spcPts val="1165"/>
              </a:lnSpc>
              <a:tabLst>
                <a:tab pos="1376045" algn="l"/>
                <a:tab pos="2190115" algn="l"/>
                <a:tab pos="2832735" algn="l"/>
              </a:tabLst>
            </a:pPr>
            <a:r>
              <a:rPr sz="1600" spc="-50">
                <a:latin typeface="Cambria Math"/>
                <a:cs typeface="Cambria Math"/>
              </a:rPr>
              <a:t>𝒊</a:t>
            </a:r>
            <a:r>
              <a:rPr sz="1600">
                <a:latin typeface="Cambria Math"/>
                <a:cs typeface="Cambria Math"/>
              </a:rPr>
              <a:t>	</a:t>
            </a:r>
            <a:r>
              <a:rPr sz="1600" spc="-50">
                <a:latin typeface="Cambria Math"/>
                <a:cs typeface="Cambria Math"/>
              </a:rPr>
              <a:t>𝒊</a:t>
            </a:r>
            <a:r>
              <a:rPr sz="1600">
                <a:latin typeface="Cambria Math"/>
                <a:cs typeface="Cambria Math"/>
              </a:rPr>
              <a:t>	</a:t>
            </a:r>
            <a:r>
              <a:rPr sz="1600" spc="-50">
                <a:latin typeface="Cambria Math"/>
                <a:cs typeface="Cambria Math"/>
              </a:rPr>
              <a:t>𝒊</a:t>
            </a:r>
            <a:r>
              <a:rPr sz="1600">
                <a:latin typeface="Cambria Math"/>
                <a:cs typeface="Cambria Math"/>
              </a:rPr>
              <a:t>	</a:t>
            </a:r>
            <a:r>
              <a:rPr sz="1600" spc="-50">
                <a:latin typeface="Cambria Math"/>
                <a:cs typeface="Cambria Math"/>
              </a:rPr>
              <a:t>𝒊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95272" y="3153155"/>
            <a:ext cx="8412479" cy="2535174"/>
            <a:chOff x="1795272" y="3153155"/>
            <a:chExt cx="8412479" cy="2535174"/>
          </a:xfrm>
        </p:grpSpPr>
        <p:sp>
          <p:nvSpPr>
            <p:cNvPr id="22" name="object 22"/>
            <p:cNvSpPr/>
            <p:nvPr/>
          </p:nvSpPr>
          <p:spPr>
            <a:xfrm>
              <a:off x="8020050" y="3804665"/>
              <a:ext cx="1739900" cy="440055"/>
            </a:xfrm>
            <a:custGeom>
              <a:avLst/>
              <a:gdLst/>
              <a:ahLst/>
              <a:cxnLst/>
              <a:rect l="l" t="t" r="r" b="b"/>
              <a:pathLst>
                <a:path w="1739900" h="440054">
                  <a:moveTo>
                    <a:pt x="1739646" y="0"/>
                  </a:moveTo>
                  <a:lnTo>
                    <a:pt x="0" y="0"/>
                  </a:lnTo>
                  <a:lnTo>
                    <a:pt x="0" y="383539"/>
                  </a:lnTo>
                  <a:lnTo>
                    <a:pt x="56133" y="439673"/>
                  </a:lnTo>
                  <a:lnTo>
                    <a:pt x="1683511" y="439673"/>
                  </a:lnTo>
                  <a:lnTo>
                    <a:pt x="1739646" y="383539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D9D9D9">
                <a:alpha val="8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386066" y="3153155"/>
              <a:ext cx="2821685" cy="25351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429255" y="3803141"/>
              <a:ext cx="1739900" cy="476250"/>
            </a:xfrm>
            <a:custGeom>
              <a:avLst/>
              <a:gdLst/>
              <a:ahLst/>
              <a:cxnLst/>
              <a:rect l="l" t="t" r="r" b="b"/>
              <a:pathLst>
                <a:path w="1739900" h="476250">
                  <a:moveTo>
                    <a:pt x="1739645" y="0"/>
                  </a:moveTo>
                  <a:lnTo>
                    <a:pt x="0" y="0"/>
                  </a:lnTo>
                  <a:lnTo>
                    <a:pt x="0" y="415416"/>
                  </a:lnTo>
                  <a:lnTo>
                    <a:pt x="60832" y="476249"/>
                  </a:lnTo>
                  <a:lnTo>
                    <a:pt x="1678813" y="476249"/>
                  </a:lnTo>
                  <a:lnTo>
                    <a:pt x="1739645" y="415416"/>
                  </a:lnTo>
                  <a:lnTo>
                    <a:pt x="1739645" y="0"/>
                  </a:lnTo>
                  <a:close/>
                </a:path>
              </a:pathLst>
            </a:custGeom>
            <a:solidFill>
              <a:srgbClr val="D9D9D9">
                <a:alpha val="8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795272" y="3153155"/>
              <a:ext cx="2821686" cy="25351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325623" y="4304538"/>
              <a:ext cx="1942464" cy="162560"/>
            </a:xfrm>
            <a:custGeom>
              <a:avLst/>
              <a:gdLst/>
              <a:ahLst/>
              <a:cxnLst/>
              <a:rect l="l" t="t" r="r" b="b"/>
              <a:pathLst>
                <a:path w="1942464" h="162560">
                  <a:moveTo>
                    <a:pt x="0" y="27050"/>
                  </a:moveTo>
                  <a:lnTo>
                    <a:pt x="2119" y="16502"/>
                  </a:lnTo>
                  <a:lnTo>
                    <a:pt x="7905" y="7905"/>
                  </a:lnTo>
                  <a:lnTo>
                    <a:pt x="16502" y="2119"/>
                  </a:lnTo>
                  <a:lnTo>
                    <a:pt x="27050" y="0"/>
                  </a:lnTo>
                  <a:lnTo>
                    <a:pt x="1915287" y="0"/>
                  </a:lnTo>
                  <a:lnTo>
                    <a:pt x="1925835" y="2119"/>
                  </a:lnTo>
                  <a:lnTo>
                    <a:pt x="1934432" y="7905"/>
                  </a:lnTo>
                  <a:lnTo>
                    <a:pt x="1940218" y="16502"/>
                  </a:lnTo>
                  <a:lnTo>
                    <a:pt x="1942338" y="27050"/>
                  </a:lnTo>
                  <a:lnTo>
                    <a:pt x="1942338" y="135255"/>
                  </a:lnTo>
                  <a:lnTo>
                    <a:pt x="1940218" y="145803"/>
                  </a:lnTo>
                  <a:lnTo>
                    <a:pt x="1934432" y="154400"/>
                  </a:lnTo>
                  <a:lnTo>
                    <a:pt x="1925835" y="160186"/>
                  </a:lnTo>
                  <a:lnTo>
                    <a:pt x="1915287" y="162306"/>
                  </a:lnTo>
                  <a:lnTo>
                    <a:pt x="27050" y="162306"/>
                  </a:lnTo>
                  <a:lnTo>
                    <a:pt x="16502" y="160186"/>
                  </a:lnTo>
                  <a:lnTo>
                    <a:pt x="7905" y="154400"/>
                  </a:lnTo>
                  <a:lnTo>
                    <a:pt x="2119" y="145803"/>
                  </a:lnTo>
                  <a:lnTo>
                    <a:pt x="0" y="135255"/>
                  </a:lnTo>
                  <a:lnTo>
                    <a:pt x="0" y="27050"/>
                  </a:lnTo>
                  <a:close/>
                </a:path>
              </a:pathLst>
            </a:custGeom>
            <a:ln w="3175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72330" y="3603496"/>
              <a:ext cx="3192145" cy="790955"/>
            </a:xfrm>
            <a:custGeom>
              <a:avLst/>
              <a:gdLst/>
              <a:ahLst/>
              <a:cxnLst/>
              <a:rect l="l" t="t" r="r" b="b"/>
              <a:pathLst>
                <a:path w="3192145" h="735329">
                  <a:moveTo>
                    <a:pt x="3191637" y="0"/>
                  </a:moveTo>
                  <a:lnTo>
                    <a:pt x="453771" y="0"/>
                  </a:lnTo>
                  <a:lnTo>
                    <a:pt x="453771" y="371982"/>
                  </a:lnTo>
                  <a:lnTo>
                    <a:pt x="0" y="735329"/>
                  </a:lnTo>
                  <a:lnTo>
                    <a:pt x="453771" y="531494"/>
                  </a:lnTo>
                  <a:lnTo>
                    <a:pt x="453771" y="637794"/>
                  </a:lnTo>
                  <a:lnTo>
                    <a:pt x="3191637" y="637794"/>
                  </a:lnTo>
                  <a:lnTo>
                    <a:pt x="3191637" y="0"/>
                  </a:lnTo>
                  <a:close/>
                </a:path>
              </a:pathLst>
            </a:custGeom>
            <a:solidFill>
              <a:srgbClr val="083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53568" y="3993134"/>
            <a:ext cx="1145540" cy="1024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9000"/>
              </a:lnSpc>
              <a:spcBef>
                <a:spcPts val="125"/>
              </a:spcBef>
            </a:pPr>
            <a:r>
              <a:rPr sz="22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按性价比递减顺序进行替换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13732" y="3574033"/>
            <a:ext cx="25628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将下一种饮料变为当</a:t>
            </a:r>
            <a:r>
              <a:rPr sz="2000" spc="-5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前</a:t>
            </a:r>
            <a:endParaRPr sz="20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47665" y="3937195"/>
            <a:ext cx="2082164" cy="377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714"/>
              </a:lnSpc>
              <a:spcBef>
                <a:spcPts val="95"/>
              </a:spcBef>
            </a:pPr>
            <a:r>
              <a:rPr sz="2000" spc="-20" dirty="0" err="1">
                <a:solidFill>
                  <a:srgbClr val="FFFFFF"/>
                </a:solidFill>
                <a:latin typeface="PMingLiU"/>
                <a:cs typeface="PMingLiU"/>
              </a:rPr>
              <a:t>饮料使</a:t>
            </a:r>
            <a:r>
              <a:rPr sz="2000" dirty="0">
                <a:solidFill>
                  <a:srgbClr val="FFFFFF"/>
                </a:solidFill>
                <a:latin typeface="Cambria Math"/>
                <a:cs typeface="Cambria Math"/>
              </a:rPr>
              <a:t>𝒙</a:t>
            </a:r>
            <a:r>
              <a:rPr sz="2175" baseline="30651" dirty="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r>
              <a:rPr sz="2000" spc="-20" dirty="0" err="1">
                <a:solidFill>
                  <a:srgbClr val="FFFFFF"/>
                </a:solidFill>
                <a:latin typeface="PMingLiU"/>
                <a:cs typeface="PMingLiU"/>
              </a:rPr>
              <a:t>补齐为</a:t>
            </a:r>
            <a:r>
              <a:rPr sz="2000" spc="35" dirty="0">
                <a:solidFill>
                  <a:srgbClr val="FFFFFF"/>
                </a:solidFill>
                <a:latin typeface="Cambria Math"/>
                <a:cs typeface="Cambria Math"/>
              </a:rPr>
              <a:t>𝒙</a:t>
            </a:r>
            <a:r>
              <a:rPr sz="2175" spc="52" baseline="30651" dirty="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2175" baseline="30651" dirty="0">
              <a:latin typeface="Cambria Math"/>
              <a:cs typeface="Cambria Math"/>
            </a:endParaRPr>
          </a:p>
          <a:p>
            <a:pPr marL="958215">
              <a:lnSpc>
                <a:spcPts val="1055"/>
              </a:lnSpc>
              <a:tabLst>
                <a:tab pos="1964689" algn="l"/>
              </a:tabLst>
            </a:pPr>
            <a:r>
              <a:rPr sz="1450" spc="-50" dirty="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145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450" spc="-50" dirty="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endParaRPr sz="1450" dirty="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88508" y="2268220"/>
            <a:ext cx="864869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5">
                <a:latin typeface="PMingLiU"/>
                <a:cs typeface="PMingLiU"/>
              </a:rPr>
              <a:t>替换为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267961" y="4290059"/>
            <a:ext cx="3713479" cy="190500"/>
          </a:xfrm>
          <a:custGeom>
            <a:avLst/>
            <a:gdLst/>
            <a:ahLst/>
            <a:cxnLst/>
            <a:rect l="l" t="t" r="r" b="b"/>
            <a:pathLst>
              <a:path w="3713479" h="190500">
                <a:moveTo>
                  <a:pt x="3598798" y="0"/>
                </a:moveTo>
                <a:lnTo>
                  <a:pt x="3598798" y="190500"/>
                </a:lnTo>
                <a:lnTo>
                  <a:pt x="3690239" y="114300"/>
                </a:lnTo>
                <a:lnTo>
                  <a:pt x="3617848" y="114300"/>
                </a:lnTo>
                <a:lnTo>
                  <a:pt x="3617848" y="76200"/>
                </a:lnTo>
                <a:lnTo>
                  <a:pt x="3690239" y="76200"/>
                </a:lnTo>
                <a:lnTo>
                  <a:pt x="3598798" y="0"/>
                </a:lnTo>
                <a:close/>
              </a:path>
              <a:path w="3713479" h="190500">
                <a:moveTo>
                  <a:pt x="3598798" y="76200"/>
                </a:moveTo>
                <a:lnTo>
                  <a:pt x="0" y="76200"/>
                </a:lnTo>
                <a:lnTo>
                  <a:pt x="0" y="114300"/>
                </a:lnTo>
                <a:lnTo>
                  <a:pt x="3598798" y="114300"/>
                </a:lnTo>
                <a:lnTo>
                  <a:pt x="3598798" y="76200"/>
                </a:lnTo>
                <a:close/>
              </a:path>
              <a:path w="3713479" h="190500">
                <a:moveTo>
                  <a:pt x="3690239" y="76200"/>
                </a:moveTo>
                <a:lnTo>
                  <a:pt x="3617848" y="76200"/>
                </a:lnTo>
                <a:lnTo>
                  <a:pt x="3617848" y="114300"/>
                </a:lnTo>
                <a:lnTo>
                  <a:pt x="3690239" y="114300"/>
                </a:lnTo>
                <a:lnTo>
                  <a:pt x="3713098" y="95250"/>
                </a:lnTo>
                <a:lnTo>
                  <a:pt x="3690239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95866DD7-9521-0E43-AD77-3D0C4CD0A6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364" y="280947"/>
            <a:ext cx="254160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正确性证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明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583" y="958088"/>
            <a:ext cx="463867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贪心策略：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3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证明：贪心解不劣于最优解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1754" y="241706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13105">
              <a:lnSpc>
                <a:spcPct val="100000"/>
              </a:lnSpc>
              <a:spcBef>
                <a:spcPts val="270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最优解</a:t>
            </a:r>
            <a:r>
              <a:rPr sz="2800" spc="-25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-37" baseline="28455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3075" baseline="28455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13959" y="2602229"/>
            <a:ext cx="2021839" cy="273050"/>
          </a:xfrm>
          <a:custGeom>
            <a:avLst/>
            <a:gdLst/>
            <a:ahLst/>
            <a:cxnLst/>
            <a:rect l="l" t="t" r="r" b="b"/>
            <a:pathLst>
              <a:path w="2021839" h="273050">
                <a:moveTo>
                  <a:pt x="1885188" y="0"/>
                </a:moveTo>
                <a:lnTo>
                  <a:pt x="1885188" y="68199"/>
                </a:lnTo>
                <a:lnTo>
                  <a:pt x="0" y="68199"/>
                </a:lnTo>
                <a:lnTo>
                  <a:pt x="0" y="204597"/>
                </a:lnTo>
                <a:lnTo>
                  <a:pt x="1885188" y="204597"/>
                </a:lnTo>
                <a:lnTo>
                  <a:pt x="1885188" y="272796"/>
                </a:lnTo>
                <a:lnTo>
                  <a:pt x="2021586" y="136398"/>
                </a:lnTo>
                <a:lnTo>
                  <a:pt x="188518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70064" y="244754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30885">
              <a:lnSpc>
                <a:spcPct val="100000"/>
              </a:lnSpc>
              <a:spcBef>
                <a:spcPts val="27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贪心解</a:t>
            </a:r>
            <a:r>
              <a:rPr sz="2800" spc="70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104" baseline="28455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3075" baseline="28455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00022" y="3153155"/>
            <a:ext cx="8574405" cy="2535555"/>
            <a:chOff x="1700022" y="3153155"/>
            <a:chExt cx="8574405" cy="2535555"/>
          </a:xfrm>
        </p:grpSpPr>
        <p:sp>
          <p:nvSpPr>
            <p:cNvPr id="8" name="object 8"/>
            <p:cNvSpPr/>
            <p:nvPr/>
          </p:nvSpPr>
          <p:spPr>
            <a:xfrm>
              <a:off x="4137660" y="4518659"/>
              <a:ext cx="3843654" cy="190500"/>
            </a:xfrm>
            <a:custGeom>
              <a:avLst/>
              <a:gdLst/>
              <a:ahLst/>
              <a:cxnLst/>
              <a:rect l="l" t="t" r="r" b="b"/>
              <a:pathLst>
                <a:path w="3843654" h="190500">
                  <a:moveTo>
                    <a:pt x="114300" y="0"/>
                  </a:moveTo>
                  <a:lnTo>
                    <a:pt x="0" y="95250"/>
                  </a:lnTo>
                  <a:lnTo>
                    <a:pt x="114300" y="190500"/>
                  </a:lnTo>
                  <a:lnTo>
                    <a:pt x="114300" y="114300"/>
                  </a:lnTo>
                  <a:lnTo>
                    <a:pt x="95250" y="1143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0"/>
                  </a:lnTo>
                  <a:close/>
                </a:path>
                <a:path w="3843654" h="190500">
                  <a:moveTo>
                    <a:pt x="3728973" y="0"/>
                  </a:moveTo>
                  <a:lnTo>
                    <a:pt x="3728973" y="190500"/>
                  </a:lnTo>
                  <a:lnTo>
                    <a:pt x="3820414" y="114300"/>
                  </a:lnTo>
                  <a:lnTo>
                    <a:pt x="3748150" y="114300"/>
                  </a:lnTo>
                  <a:lnTo>
                    <a:pt x="3748150" y="76200"/>
                  </a:lnTo>
                  <a:lnTo>
                    <a:pt x="3820414" y="76200"/>
                  </a:lnTo>
                  <a:lnTo>
                    <a:pt x="3728973" y="0"/>
                  </a:lnTo>
                  <a:close/>
                </a:path>
                <a:path w="3843654" h="190500">
                  <a:moveTo>
                    <a:pt x="114300" y="76200"/>
                  </a:moveTo>
                  <a:lnTo>
                    <a:pt x="95250" y="76200"/>
                  </a:lnTo>
                  <a:lnTo>
                    <a:pt x="95250" y="114300"/>
                  </a:lnTo>
                  <a:lnTo>
                    <a:pt x="114300" y="114300"/>
                  </a:lnTo>
                  <a:lnTo>
                    <a:pt x="114300" y="76200"/>
                  </a:lnTo>
                  <a:close/>
                </a:path>
                <a:path w="3843654" h="190500">
                  <a:moveTo>
                    <a:pt x="3728973" y="76200"/>
                  </a:moveTo>
                  <a:lnTo>
                    <a:pt x="114300" y="76200"/>
                  </a:lnTo>
                  <a:lnTo>
                    <a:pt x="114300" y="114300"/>
                  </a:lnTo>
                  <a:lnTo>
                    <a:pt x="3728973" y="114300"/>
                  </a:lnTo>
                  <a:lnTo>
                    <a:pt x="3728973" y="76200"/>
                  </a:lnTo>
                  <a:close/>
                </a:path>
                <a:path w="3843654" h="190500">
                  <a:moveTo>
                    <a:pt x="3820414" y="76200"/>
                  </a:moveTo>
                  <a:lnTo>
                    <a:pt x="3748150" y="76200"/>
                  </a:lnTo>
                  <a:lnTo>
                    <a:pt x="3748150" y="114300"/>
                  </a:lnTo>
                  <a:lnTo>
                    <a:pt x="3820414" y="114300"/>
                  </a:lnTo>
                  <a:lnTo>
                    <a:pt x="3843273" y="95250"/>
                  </a:lnTo>
                  <a:lnTo>
                    <a:pt x="3820414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09266" y="4470399"/>
              <a:ext cx="1592580" cy="340360"/>
            </a:xfrm>
            <a:custGeom>
              <a:avLst/>
              <a:gdLst/>
              <a:ahLst/>
              <a:cxnLst/>
              <a:rect l="l" t="t" r="r" b="b"/>
              <a:pathLst>
                <a:path w="1592579" h="340360">
                  <a:moveTo>
                    <a:pt x="1592580" y="0"/>
                  </a:moveTo>
                  <a:lnTo>
                    <a:pt x="0" y="0"/>
                  </a:lnTo>
                  <a:lnTo>
                    <a:pt x="0" y="336550"/>
                  </a:lnTo>
                  <a:lnTo>
                    <a:pt x="2527" y="336550"/>
                  </a:lnTo>
                  <a:lnTo>
                    <a:pt x="2527" y="340360"/>
                  </a:lnTo>
                  <a:lnTo>
                    <a:pt x="1590040" y="340360"/>
                  </a:lnTo>
                  <a:lnTo>
                    <a:pt x="1590040" y="336550"/>
                  </a:lnTo>
                  <a:lnTo>
                    <a:pt x="1592580" y="336550"/>
                  </a:lnTo>
                  <a:lnTo>
                    <a:pt x="1592580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32304" y="3806189"/>
              <a:ext cx="1723389" cy="340360"/>
            </a:xfrm>
            <a:custGeom>
              <a:avLst/>
              <a:gdLst/>
              <a:ahLst/>
              <a:cxnLst/>
              <a:rect l="l" t="t" r="r" b="b"/>
              <a:pathLst>
                <a:path w="1723389" h="340360">
                  <a:moveTo>
                    <a:pt x="1722882" y="0"/>
                  </a:moveTo>
                  <a:lnTo>
                    <a:pt x="0" y="0"/>
                  </a:lnTo>
                  <a:lnTo>
                    <a:pt x="0" y="312166"/>
                  </a:lnTo>
                  <a:lnTo>
                    <a:pt x="27685" y="339852"/>
                  </a:lnTo>
                  <a:lnTo>
                    <a:pt x="1695195" y="339852"/>
                  </a:lnTo>
                  <a:lnTo>
                    <a:pt x="1722882" y="312166"/>
                  </a:lnTo>
                  <a:lnTo>
                    <a:pt x="1722882" y="0"/>
                  </a:lnTo>
                  <a:close/>
                </a:path>
              </a:pathLst>
            </a:custGeom>
            <a:solidFill>
              <a:srgbClr val="8E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87168" y="4146041"/>
              <a:ext cx="1642110" cy="339090"/>
            </a:xfrm>
            <a:custGeom>
              <a:avLst/>
              <a:gdLst/>
              <a:ahLst/>
              <a:cxnLst/>
              <a:rect l="l" t="t" r="r" b="b"/>
              <a:pathLst>
                <a:path w="1642110" h="339089">
                  <a:moveTo>
                    <a:pt x="1642109" y="0"/>
                  </a:moveTo>
                  <a:lnTo>
                    <a:pt x="0" y="0"/>
                  </a:lnTo>
                  <a:lnTo>
                    <a:pt x="0" y="296798"/>
                  </a:lnTo>
                  <a:lnTo>
                    <a:pt x="42290" y="339089"/>
                  </a:lnTo>
                  <a:lnTo>
                    <a:pt x="1599819" y="339089"/>
                  </a:lnTo>
                  <a:lnTo>
                    <a:pt x="1642109" y="296798"/>
                  </a:lnTo>
                  <a:lnTo>
                    <a:pt x="1642109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42794" y="5000244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398652"/>
                  </a:lnTo>
                  <a:lnTo>
                    <a:pt x="99694" y="498347"/>
                  </a:lnTo>
                  <a:lnTo>
                    <a:pt x="1386967" y="498347"/>
                  </a:lnTo>
                  <a:lnTo>
                    <a:pt x="1486661" y="398652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09266" y="4742688"/>
              <a:ext cx="1559560" cy="273050"/>
            </a:xfrm>
            <a:custGeom>
              <a:avLst/>
              <a:gdLst/>
              <a:ahLst/>
              <a:cxnLst/>
              <a:rect l="l" t="t" r="r" b="b"/>
              <a:pathLst>
                <a:path w="1559560" h="273050">
                  <a:moveTo>
                    <a:pt x="1559051" y="0"/>
                  </a:moveTo>
                  <a:lnTo>
                    <a:pt x="0" y="0"/>
                  </a:lnTo>
                  <a:lnTo>
                    <a:pt x="0" y="245491"/>
                  </a:lnTo>
                  <a:lnTo>
                    <a:pt x="27304" y="272795"/>
                  </a:lnTo>
                  <a:lnTo>
                    <a:pt x="1531746" y="272795"/>
                  </a:lnTo>
                  <a:lnTo>
                    <a:pt x="1559051" y="245491"/>
                  </a:lnTo>
                  <a:lnTo>
                    <a:pt x="1559051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82596" y="4177283"/>
              <a:ext cx="7222490" cy="628650"/>
            </a:xfrm>
            <a:custGeom>
              <a:avLst/>
              <a:gdLst/>
              <a:ahLst/>
              <a:cxnLst/>
              <a:rect l="l" t="t" r="r" b="b"/>
              <a:pathLst>
                <a:path w="7222490" h="628650">
                  <a:moveTo>
                    <a:pt x="1665732" y="70104"/>
                  </a:moveTo>
                  <a:lnTo>
                    <a:pt x="0" y="70104"/>
                  </a:lnTo>
                  <a:lnTo>
                    <a:pt x="0" y="328676"/>
                  </a:lnTo>
                  <a:lnTo>
                    <a:pt x="169672" y="498348"/>
                  </a:lnTo>
                  <a:lnTo>
                    <a:pt x="1496060" y="498348"/>
                  </a:lnTo>
                  <a:lnTo>
                    <a:pt x="1665732" y="328676"/>
                  </a:lnTo>
                  <a:lnTo>
                    <a:pt x="1665732" y="70104"/>
                  </a:lnTo>
                  <a:close/>
                </a:path>
                <a:path w="7222490" h="628650">
                  <a:moveTo>
                    <a:pt x="7222236" y="0"/>
                  </a:moveTo>
                  <a:lnTo>
                    <a:pt x="5592318" y="0"/>
                  </a:lnTo>
                  <a:lnTo>
                    <a:pt x="5592318" y="504190"/>
                  </a:lnTo>
                  <a:lnTo>
                    <a:pt x="5716778" y="628650"/>
                  </a:lnTo>
                  <a:lnTo>
                    <a:pt x="7097776" y="628650"/>
                  </a:lnTo>
                  <a:lnTo>
                    <a:pt x="7222236" y="504190"/>
                  </a:lnTo>
                  <a:lnTo>
                    <a:pt x="7222236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20050" y="3804665"/>
              <a:ext cx="1739900" cy="438150"/>
            </a:xfrm>
            <a:custGeom>
              <a:avLst/>
              <a:gdLst/>
              <a:ahLst/>
              <a:cxnLst/>
              <a:rect l="l" t="t" r="r" b="b"/>
              <a:pathLst>
                <a:path w="1739900" h="438150">
                  <a:moveTo>
                    <a:pt x="1739646" y="0"/>
                  </a:moveTo>
                  <a:lnTo>
                    <a:pt x="0" y="0"/>
                  </a:lnTo>
                  <a:lnTo>
                    <a:pt x="0" y="382142"/>
                  </a:lnTo>
                  <a:lnTo>
                    <a:pt x="56006" y="438149"/>
                  </a:lnTo>
                  <a:lnTo>
                    <a:pt x="1683639" y="438149"/>
                  </a:lnTo>
                  <a:lnTo>
                    <a:pt x="1739646" y="382142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46542" y="5025389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415417"/>
                  </a:lnTo>
                  <a:lnTo>
                    <a:pt x="82930" y="498348"/>
                  </a:lnTo>
                  <a:lnTo>
                    <a:pt x="1403730" y="498348"/>
                  </a:lnTo>
                  <a:lnTo>
                    <a:pt x="1486661" y="415417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21395" y="4751831"/>
              <a:ext cx="1558290" cy="273685"/>
            </a:xfrm>
            <a:custGeom>
              <a:avLst/>
              <a:gdLst/>
              <a:ahLst/>
              <a:cxnLst/>
              <a:rect l="l" t="t" r="r" b="b"/>
              <a:pathLst>
                <a:path w="1558290" h="273685">
                  <a:moveTo>
                    <a:pt x="1558289" y="0"/>
                  </a:moveTo>
                  <a:lnTo>
                    <a:pt x="0" y="0"/>
                  </a:lnTo>
                  <a:lnTo>
                    <a:pt x="0" y="246126"/>
                  </a:lnTo>
                  <a:lnTo>
                    <a:pt x="27431" y="273558"/>
                  </a:lnTo>
                  <a:lnTo>
                    <a:pt x="1530857" y="273558"/>
                  </a:lnTo>
                  <a:lnTo>
                    <a:pt x="1558289" y="246126"/>
                  </a:lnTo>
                  <a:lnTo>
                    <a:pt x="1558289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29256" y="3804665"/>
              <a:ext cx="7330440" cy="440055"/>
            </a:xfrm>
            <a:custGeom>
              <a:avLst/>
              <a:gdLst/>
              <a:ahLst/>
              <a:cxnLst/>
              <a:rect l="l" t="t" r="r" b="b"/>
              <a:pathLst>
                <a:path w="7330440" h="440054">
                  <a:moveTo>
                    <a:pt x="1739646" y="0"/>
                  </a:moveTo>
                  <a:lnTo>
                    <a:pt x="0" y="0"/>
                  </a:lnTo>
                  <a:lnTo>
                    <a:pt x="0" y="383540"/>
                  </a:lnTo>
                  <a:lnTo>
                    <a:pt x="56134" y="439674"/>
                  </a:lnTo>
                  <a:lnTo>
                    <a:pt x="1683512" y="439674"/>
                  </a:lnTo>
                  <a:lnTo>
                    <a:pt x="1739646" y="383540"/>
                  </a:lnTo>
                  <a:lnTo>
                    <a:pt x="1739646" y="0"/>
                  </a:lnTo>
                  <a:close/>
                </a:path>
                <a:path w="7330440" h="440054">
                  <a:moveTo>
                    <a:pt x="7330440" y="0"/>
                  </a:moveTo>
                  <a:lnTo>
                    <a:pt x="5590794" y="0"/>
                  </a:lnTo>
                  <a:lnTo>
                    <a:pt x="5590794" y="383540"/>
                  </a:lnTo>
                  <a:lnTo>
                    <a:pt x="5646928" y="439674"/>
                  </a:lnTo>
                  <a:lnTo>
                    <a:pt x="7274306" y="439674"/>
                  </a:lnTo>
                  <a:lnTo>
                    <a:pt x="7330440" y="383540"/>
                  </a:lnTo>
                  <a:lnTo>
                    <a:pt x="7330440" y="0"/>
                  </a:lnTo>
                  <a:close/>
                </a:path>
              </a:pathLst>
            </a:custGeom>
            <a:solidFill>
              <a:srgbClr val="D9D9D9">
                <a:alpha val="8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159745" y="3516629"/>
              <a:ext cx="114300" cy="2072005"/>
            </a:xfrm>
            <a:custGeom>
              <a:avLst/>
              <a:gdLst/>
              <a:ahLst/>
              <a:cxnLst/>
              <a:rect l="l" t="t" r="r" b="b"/>
              <a:pathLst>
                <a:path w="114300" h="207200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071941"/>
                  </a:lnTo>
                  <a:lnTo>
                    <a:pt x="76200" y="2071941"/>
                  </a:lnTo>
                  <a:lnTo>
                    <a:pt x="76200" y="95250"/>
                  </a:lnTo>
                  <a:close/>
                </a:path>
                <a:path w="114300" h="207200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07200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386066" y="3153155"/>
              <a:ext cx="2821685" cy="25351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00022" y="3506723"/>
              <a:ext cx="114300" cy="2072005"/>
            </a:xfrm>
            <a:custGeom>
              <a:avLst/>
              <a:gdLst/>
              <a:ahLst/>
              <a:cxnLst/>
              <a:rect l="l" t="t" r="r" b="b"/>
              <a:pathLst>
                <a:path w="114300" h="207200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072004"/>
                  </a:lnTo>
                  <a:lnTo>
                    <a:pt x="76200" y="2072004"/>
                  </a:lnTo>
                  <a:lnTo>
                    <a:pt x="76200" y="95250"/>
                  </a:lnTo>
                  <a:close/>
                </a:path>
                <a:path w="114300" h="207200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07200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795272" y="3153155"/>
              <a:ext cx="2821686" cy="2535174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1757172" y="5763005"/>
            <a:ext cx="8460105" cy="939165"/>
          </a:xfrm>
          <a:custGeom>
            <a:avLst/>
            <a:gdLst/>
            <a:ahLst/>
            <a:cxnLst/>
            <a:rect l="l" t="t" r="r" b="b"/>
            <a:pathLst>
              <a:path w="8460105" h="939165">
                <a:moveTo>
                  <a:pt x="8459724" y="0"/>
                </a:moveTo>
                <a:lnTo>
                  <a:pt x="0" y="0"/>
                </a:lnTo>
                <a:lnTo>
                  <a:pt x="0" y="938784"/>
                </a:lnTo>
                <a:lnTo>
                  <a:pt x="8459724" y="938784"/>
                </a:lnTo>
                <a:lnTo>
                  <a:pt x="845972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867653" y="5938265"/>
            <a:ext cx="174942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98475" algn="l"/>
                <a:tab pos="1294765" algn="l"/>
              </a:tabLst>
            </a:pPr>
            <a:r>
              <a:rPr sz="2050" spc="-5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05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2050" spc="-5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05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2050" spc="-25">
                <a:solidFill>
                  <a:srgbClr val="FFFFFF"/>
                </a:solidFill>
                <a:latin typeface="Cambria Math"/>
                <a:cs typeface="Cambria Math"/>
              </a:rPr>
              <a:t>𝒊+𝟏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85896" y="5756909"/>
            <a:ext cx="38411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800" spc="10">
                <a:solidFill>
                  <a:srgbClr val="FFFFFF"/>
                </a:solidFill>
                <a:latin typeface="PMingLiU"/>
                <a:cs typeface="PMingLiU"/>
              </a:rPr>
              <a:t>性价比递减：</a:t>
            </a:r>
            <a:r>
              <a:rPr sz="2800" spc="85">
                <a:solidFill>
                  <a:srgbClr val="FFFFFF"/>
                </a:solidFill>
                <a:latin typeface="Cambria Math"/>
                <a:cs typeface="Cambria Math"/>
              </a:rPr>
              <a:t>𝒑</a:t>
            </a:r>
            <a:r>
              <a:rPr sz="3075" spc="127" baseline="29810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r>
              <a:rPr sz="2800" spc="85">
                <a:solidFill>
                  <a:srgbClr val="FFFFFF"/>
                </a:solidFill>
                <a:latin typeface="Cambria Math"/>
                <a:cs typeface="Cambria Math"/>
              </a:rPr>
              <a:t>/𝒗</a:t>
            </a:r>
            <a:r>
              <a:rPr sz="3075" spc="419" baseline="29810">
                <a:solidFill>
                  <a:srgbClr val="FFFFFF"/>
                </a:solidFill>
                <a:latin typeface="Cambria Math"/>
                <a:cs typeface="Cambria Math"/>
              </a:rPr>
              <a:t>′ </a:t>
            </a:r>
            <a:r>
              <a:rPr sz="2800" spc="85">
                <a:solidFill>
                  <a:srgbClr val="FFFFFF"/>
                </a:solidFill>
                <a:latin typeface="Cambria Math"/>
                <a:cs typeface="Cambria Math"/>
              </a:rPr>
              <a:t>≥ </a:t>
            </a:r>
            <a:r>
              <a:rPr sz="2800" spc="-25">
                <a:solidFill>
                  <a:srgbClr val="FFFFFF"/>
                </a:solidFill>
                <a:latin typeface="Cambria Math"/>
                <a:cs typeface="Cambria Math"/>
              </a:rPr>
              <a:t>𝒑</a:t>
            </a:r>
            <a:r>
              <a:rPr sz="3075" spc="-37" baseline="2981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3075" baseline="2981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06588" y="5938265"/>
            <a:ext cx="454659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50" spc="-25">
                <a:solidFill>
                  <a:srgbClr val="FFFFFF"/>
                </a:solidFill>
                <a:latin typeface="Cambria Math"/>
                <a:cs typeface="Cambria Math"/>
              </a:rPr>
              <a:t>𝒊+𝟏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93330" y="5756909"/>
            <a:ext cx="5772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800" spc="-25">
                <a:solidFill>
                  <a:srgbClr val="FFFFFF"/>
                </a:solidFill>
                <a:latin typeface="Cambria Math"/>
                <a:cs typeface="Cambria Math"/>
              </a:rPr>
              <a:t>/𝒗</a:t>
            </a:r>
            <a:r>
              <a:rPr sz="3075" spc="-37" baseline="29810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3075" baseline="2981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30217" y="6183629"/>
            <a:ext cx="39274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则替换后总价值不会减少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88508" y="2268220"/>
            <a:ext cx="864869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5">
                <a:latin typeface="PMingLiU"/>
                <a:cs typeface="PMingLiU"/>
              </a:rPr>
              <a:t>替换为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3568" y="3993134"/>
            <a:ext cx="1145540" cy="1024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9000"/>
              </a:lnSpc>
              <a:spcBef>
                <a:spcPts val="125"/>
              </a:spcBef>
            </a:pPr>
            <a:r>
              <a:rPr sz="22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按性价比递减顺序进行替换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3FEDF100-CA70-C946-8F0D-0347880E60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364" y="280947"/>
            <a:ext cx="254160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正确性证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明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639" y="940307"/>
            <a:ext cx="463867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贪心策略：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最高性价比</a:t>
            </a:r>
            <a:r>
              <a:rPr sz="2800" spc="-3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优先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证明：贪心解不劣于最优解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1754" y="241706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13105">
              <a:lnSpc>
                <a:spcPct val="100000"/>
              </a:lnSpc>
              <a:spcBef>
                <a:spcPts val="270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最优解</a:t>
            </a:r>
            <a:r>
              <a:rPr sz="2800" spc="-25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-37" baseline="28455">
                <a:solidFill>
                  <a:srgbClr val="FFFFFF"/>
                </a:solidFill>
                <a:latin typeface="Cambria Math"/>
                <a:cs typeface="Cambria Math"/>
              </a:rPr>
              <a:t>∗</a:t>
            </a:r>
            <a:endParaRPr sz="3075" baseline="28455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13959" y="2602229"/>
            <a:ext cx="2021839" cy="273050"/>
          </a:xfrm>
          <a:custGeom>
            <a:avLst/>
            <a:gdLst/>
            <a:ahLst/>
            <a:cxnLst/>
            <a:rect l="l" t="t" r="r" b="b"/>
            <a:pathLst>
              <a:path w="2021839" h="273050">
                <a:moveTo>
                  <a:pt x="1885188" y="0"/>
                </a:moveTo>
                <a:lnTo>
                  <a:pt x="1885188" y="68199"/>
                </a:lnTo>
                <a:lnTo>
                  <a:pt x="0" y="68199"/>
                </a:lnTo>
                <a:lnTo>
                  <a:pt x="0" y="204597"/>
                </a:lnTo>
                <a:lnTo>
                  <a:pt x="1885188" y="204597"/>
                </a:lnTo>
                <a:lnTo>
                  <a:pt x="1885188" y="272796"/>
                </a:lnTo>
                <a:lnTo>
                  <a:pt x="2021586" y="136398"/>
                </a:lnTo>
                <a:lnTo>
                  <a:pt x="188518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70064" y="2447544"/>
            <a:ext cx="2838450" cy="56896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730885">
              <a:lnSpc>
                <a:spcPct val="100000"/>
              </a:lnSpc>
              <a:spcBef>
                <a:spcPts val="27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贪心解</a:t>
            </a:r>
            <a:r>
              <a:rPr sz="2800" spc="70">
                <a:solidFill>
                  <a:srgbClr val="FFFFFF"/>
                </a:solidFill>
                <a:latin typeface="Cambria Math"/>
                <a:cs typeface="Cambria Math"/>
              </a:rPr>
              <a:t>𝑺</a:t>
            </a:r>
            <a:r>
              <a:rPr sz="3075" spc="104" baseline="28455">
                <a:solidFill>
                  <a:srgbClr val="FFFFFF"/>
                </a:solidFill>
                <a:latin typeface="Cambria Math"/>
                <a:cs typeface="Cambria Math"/>
              </a:rPr>
              <a:t>′</a:t>
            </a:r>
            <a:endParaRPr sz="3075" baseline="28455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386066" y="3153155"/>
            <a:ext cx="2887980" cy="2535555"/>
            <a:chOff x="7386066" y="3153155"/>
            <a:chExt cx="2887980" cy="2535555"/>
          </a:xfrm>
        </p:grpSpPr>
        <p:sp>
          <p:nvSpPr>
            <p:cNvPr id="8" name="object 8"/>
            <p:cNvSpPr/>
            <p:nvPr/>
          </p:nvSpPr>
          <p:spPr>
            <a:xfrm>
              <a:off x="8074914" y="4177283"/>
              <a:ext cx="1630045" cy="628650"/>
            </a:xfrm>
            <a:custGeom>
              <a:avLst/>
              <a:gdLst/>
              <a:ahLst/>
              <a:cxnLst/>
              <a:rect l="l" t="t" r="r" b="b"/>
              <a:pathLst>
                <a:path w="1630045" h="628650">
                  <a:moveTo>
                    <a:pt x="1629917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124459" y="628650"/>
                  </a:lnTo>
                  <a:lnTo>
                    <a:pt x="1505457" y="628650"/>
                  </a:lnTo>
                  <a:lnTo>
                    <a:pt x="1629917" y="504190"/>
                  </a:lnTo>
                  <a:lnTo>
                    <a:pt x="1629917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20050" y="3804665"/>
              <a:ext cx="1739900" cy="438150"/>
            </a:xfrm>
            <a:custGeom>
              <a:avLst/>
              <a:gdLst/>
              <a:ahLst/>
              <a:cxnLst/>
              <a:rect l="l" t="t" r="r" b="b"/>
              <a:pathLst>
                <a:path w="1739900" h="438150">
                  <a:moveTo>
                    <a:pt x="1739646" y="0"/>
                  </a:moveTo>
                  <a:lnTo>
                    <a:pt x="0" y="0"/>
                  </a:lnTo>
                  <a:lnTo>
                    <a:pt x="0" y="382142"/>
                  </a:lnTo>
                  <a:lnTo>
                    <a:pt x="56006" y="438149"/>
                  </a:lnTo>
                  <a:lnTo>
                    <a:pt x="1683639" y="438149"/>
                  </a:lnTo>
                  <a:lnTo>
                    <a:pt x="1739646" y="382142"/>
                  </a:lnTo>
                  <a:lnTo>
                    <a:pt x="1739646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46542" y="5025389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415417"/>
                  </a:lnTo>
                  <a:lnTo>
                    <a:pt x="82930" y="498348"/>
                  </a:lnTo>
                  <a:lnTo>
                    <a:pt x="1403730" y="498348"/>
                  </a:lnTo>
                  <a:lnTo>
                    <a:pt x="1486661" y="415417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21396" y="4751831"/>
              <a:ext cx="1558290" cy="273685"/>
            </a:xfrm>
            <a:custGeom>
              <a:avLst/>
              <a:gdLst/>
              <a:ahLst/>
              <a:cxnLst/>
              <a:rect l="l" t="t" r="r" b="b"/>
              <a:pathLst>
                <a:path w="1558290" h="273685">
                  <a:moveTo>
                    <a:pt x="1558289" y="0"/>
                  </a:moveTo>
                  <a:lnTo>
                    <a:pt x="0" y="0"/>
                  </a:lnTo>
                  <a:lnTo>
                    <a:pt x="0" y="246126"/>
                  </a:lnTo>
                  <a:lnTo>
                    <a:pt x="27431" y="273558"/>
                  </a:lnTo>
                  <a:lnTo>
                    <a:pt x="1530857" y="273558"/>
                  </a:lnTo>
                  <a:lnTo>
                    <a:pt x="1558289" y="246126"/>
                  </a:lnTo>
                  <a:lnTo>
                    <a:pt x="1558289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159746" y="3516629"/>
              <a:ext cx="114300" cy="2072005"/>
            </a:xfrm>
            <a:custGeom>
              <a:avLst/>
              <a:gdLst/>
              <a:ahLst/>
              <a:cxnLst/>
              <a:rect l="l" t="t" r="r" b="b"/>
              <a:pathLst>
                <a:path w="114300" h="207200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071941"/>
                  </a:lnTo>
                  <a:lnTo>
                    <a:pt x="76200" y="2071941"/>
                  </a:lnTo>
                  <a:lnTo>
                    <a:pt x="76200" y="95250"/>
                  </a:lnTo>
                  <a:close/>
                </a:path>
                <a:path w="114300" h="207200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07200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386066" y="3153155"/>
              <a:ext cx="2821685" cy="253517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700022" y="3153155"/>
            <a:ext cx="2917190" cy="2535555"/>
            <a:chOff x="1700022" y="3153155"/>
            <a:chExt cx="2917190" cy="2535555"/>
          </a:xfrm>
        </p:grpSpPr>
        <p:sp>
          <p:nvSpPr>
            <p:cNvPr id="15" name="object 15"/>
            <p:cNvSpPr/>
            <p:nvPr/>
          </p:nvSpPr>
          <p:spPr>
            <a:xfrm>
              <a:off x="1700022" y="3506723"/>
              <a:ext cx="114300" cy="2072005"/>
            </a:xfrm>
            <a:custGeom>
              <a:avLst/>
              <a:gdLst/>
              <a:ahLst/>
              <a:cxnLst/>
              <a:rect l="l" t="t" r="r" b="b"/>
              <a:pathLst>
                <a:path w="114300" h="207200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072004"/>
                  </a:lnTo>
                  <a:lnTo>
                    <a:pt x="76200" y="2072004"/>
                  </a:lnTo>
                  <a:lnTo>
                    <a:pt x="76200" y="95250"/>
                  </a:lnTo>
                  <a:close/>
                </a:path>
                <a:path w="114300" h="207200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07200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09266" y="4470399"/>
              <a:ext cx="1592580" cy="340360"/>
            </a:xfrm>
            <a:custGeom>
              <a:avLst/>
              <a:gdLst/>
              <a:ahLst/>
              <a:cxnLst/>
              <a:rect l="l" t="t" r="r" b="b"/>
              <a:pathLst>
                <a:path w="1592579" h="340360">
                  <a:moveTo>
                    <a:pt x="1592580" y="0"/>
                  </a:moveTo>
                  <a:lnTo>
                    <a:pt x="0" y="0"/>
                  </a:lnTo>
                  <a:lnTo>
                    <a:pt x="0" y="336550"/>
                  </a:lnTo>
                  <a:lnTo>
                    <a:pt x="2527" y="336550"/>
                  </a:lnTo>
                  <a:lnTo>
                    <a:pt x="2527" y="340360"/>
                  </a:lnTo>
                  <a:lnTo>
                    <a:pt x="1590040" y="340360"/>
                  </a:lnTo>
                  <a:lnTo>
                    <a:pt x="1590040" y="336550"/>
                  </a:lnTo>
                  <a:lnTo>
                    <a:pt x="1592580" y="336550"/>
                  </a:lnTo>
                  <a:lnTo>
                    <a:pt x="1592580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87168" y="4146041"/>
              <a:ext cx="1642110" cy="339090"/>
            </a:xfrm>
            <a:custGeom>
              <a:avLst/>
              <a:gdLst/>
              <a:ahLst/>
              <a:cxnLst/>
              <a:rect l="l" t="t" r="r" b="b"/>
              <a:pathLst>
                <a:path w="1642110" h="339089">
                  <a:moveTo>
                    <a:pt x="1642109" y="0"/>
                  </a:moveTo>
                  <a:lnTo>
                    <a:pt x="0" y="0"/>
                  </a:lnTo>
                  <a:lnTo>
                    <a:pt x="0" y="296798"/>
                  </a:lnTo>
                  <a:lnTo>
                    <a:pt x="42290" y="339089"/>
                  </a:lnTo>
                  <a:lnTo>
                    <a:pt x="1599819" y="339089"/>
                  </a:lnTo>
                  <a:lnTo>
                    <a:pt x="1642109" y="296798"/>
                  </a:lnTo>
                  <a:lnTo>
                    <a:pt x="1642109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42794" y="5000244"/>
              <a:ext cx="1487170" cy="498475"/>
            </a:xfrm>
            <a:custGeom>
              <a:avLst/>
              <a:gdLst/>
              <a:ahLst/>
              <a:cxnLst/>
              <a:rect l="l" t="t" r="r" b="b"/>
              <a:pathLst>
                <a:path w="1487170" h="498475">
                  <a:moveTo>
                    <a:pt x="1486661" y="0"/>
                  </a:moveTo>
                  <a:lnTo>
                    <a:pt x="0" y="0"/>
                  </a:lnTo>
                  <a:lnTo>
                    <a:pt x="0" y="398652"/>
                  </a:lnTo>
                  <a:lnTo>
                    <a:pt x="99694" y="498347"/>
                  </a:lnTo>
                  <a:lnTo>
                    <a:pt x="1386967" y="498347"/>
                  </a:lnTo>
                  <a:lnTo>
                    <a:pt x="1486661" y="398652"/>
                  </a:lnTo>
                  <a:lnTo>
                    <a:pt x="1486661" y="0"/>
                  </a:lnTo>
                  <a:close/>
                </a:path>
              </a:pathLst>
            </a:custGeom>
            <a:solidFill>
              <a:srgbClr val="F385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09266" y="4742688"/>
              <a:ext cx="1559560" cy="273050"/>
            </a:xfrm>
            <a:custGeom>
              <a:avLst/>
              <a:gdLst/>
              <a:ahLst/>
              <a:cxnLst/>
              <a:rect l="l" t="t" r="r" b="b"/>
              <a:pathLst>
                <a:path w="1559560" h="273050">
                  <a:moveTo>
                    <a:pt x="1559051" y="0"/>
                  </a:moveTo>
                  <a:lnTo>
                    <a:pt x="0" y="0"/>
                  </a:lnTo>
                  <a:lnTo>
                    <a:pt x="0" y="245491"/>
                  </a:lnTo>
                  <a:lnTo>
                    <a:pt x="27304" y="272795"/>
                  </a:lnTo>
                  <a:lnTo>
                    <a:pt x="1531746" y="272795"/>
                  </a:lnTo>
                  <a:lnTo>
                    <a:pt x="1559051" y="245491"/>
                  </a:lnTo>
                  <a:lnTo>
                    <a:pt x="1559051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82595" y="4247388"/>
              <a:ext cx="1666239" cy="428625"/>
            </a:xfrm>
            <a:custGeom>
              <a:avLst/>
              <a:gdLst/>
              <a:ahLst/>
              <a:cxnLst/>
              <a:rect l="l" t="t" r="r" b="b"/>
              <a:pathLst>
                <a:path w="1666239" h="428625">
                  <a:moveTo>
                    <a:pt x="1665732" y="0"/>
                  </a:moveTo>
                  <a:lnTo>
                    <a:pt x="0" y="0"/>
                  </a:lnTo>
                  <a:lnTo>
                    <a:pt x="0" y="258572"/>
                  </a:lnTo>
                  <a:lnTo>
                    <a:pt x="169672" y="428244"/>
                  </a:lnTo>
                  <a:lnTo>
                    <a:pt x="1496059" y="428244"/>
                  </a:lnTo>
                  <a:lnTo>
                    <a:pt x="1665732" y="258572"/>
                  </a:lnTo>
                  <a:lnTo>
                    <a:pt x="1665732" y="0"/>
                  </a:lnTo>
                  <a:close/>
                </a:path>
              </a:pathLst>
            </a:custGeom>
            <a:solidFill>
              <a:srgbClr val="E84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23159" y="3810761"/>
              <a:ext cx="1739900" cy="438150"/>
            </a:xfrm>
            <a:custGeom>
              <a:avLst/>
              <a:gdLst/>
              <a:ahLst/>
              <a:cxnLst/>
              <a:rect l="l" t="t" r="r" b="b"/>
              <a:pathLst>
                <a:path w="1739900" h="438150">
                  <a:moveTo>
                    <a:pt x="1739645" y="0"/>
                  </a:moveTo>
                  <a:lnTo>
                    <a:pt x="0" y="0"/>
                  </a:lnTo>
                  <a:lnTo>
                    <a:pt x="0" y="382143"/>
                  </a:lnTo>
                  <a:lnTo>
                    <a:pt x="56006" y="438150"/>
                  </a:lnTo>
                  <a:lnTo>
                    <a:pt x="1683639" y="438150"/>
                  </a:lnTo>
                  <a:lnTo>
                    <a:pt x="1739645" y="382143"/>
                  </a:lnTo>
                  <a:lnTo>
                    <a:pt x="1739645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795272" y="3153155"/>
              <a:ext cx="2821686" cy="253517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757172" y="5763005"/>
            <a:ext cx="8460105" cy="868186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6350" rIns="0" bIns="0" rtlCol="0">
            <a:spAutoFit/>
          </a:bodyPr>
          <a:lstStyle/>
          <a:p>
            <a:pPr marL="2450465" marR="1909445" indent="-533400">
              <a:lnSpc>
                <a:spcPct val="100000"/>
              </a:lnSpc>
              <a:spcBef>
                <a:spcPts val="50"/>
              </a:spcBef>
            </a:pPr>
            <a:r>
              <a:rPr sz="2800" spc="-5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替换后单位体积价值均不减少故贪心解不劣于最优解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3568" y="3993134"/>
            <a:ext cx="1145540" cy="1024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9000"/>
              </a:lnSpc>
              <a:spcBef>
                <a:spcPts val="125"/>
              </a:spcBef>
            </a:pPr>
            <a:r>
              <a:rPr sz="22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按性价比递减顺序进行替换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88508" y="2268220"/>
            <a:ext cx="864869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5">
                <a:latin typeface="PMingLiU"/>
                <a:cs typeface="PMingLiU"/>
              </a:rPr>
              <a:t>替换为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F1C226C0-F4C9-594A-9BDF-DC655A8F82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364" y="280947"/>
            <a:ext cx="254160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正确性证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明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2412" y="1263787"/>
            <a:ext cx="7463155" cy="5418455"/>
            <a:chOff x="982412" y="1263787"/>
            <a:chExt cx="7463155" cy="541845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2412" y="1263787"/>
              <a:ext cx="7462638" cy="54178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1203" y="1808226"/>
              <a:ext cx="6871970" cy="1059180"/>
            </a:xfrm>
            <a:custGeom>
              <a:avLst/>
              <a:gdLst/>
              <a:ahLst/>
              <a:cxnLst/>
              <a:rect l="l" t="t" r="r" b="b"/>
              <a:pathLst>
                <a:path w="6871970" h="1059180">
                  <a:moveTo>
                    <a:pt x="0" y="123571"/>
                  </a:moveTo>
                  <a:lnTo>
                    <a:pt x="9717" y="75491"/>
                  </a:lnTo>
                  <a:lnTo>
                    <a:pt x="36210" y="36210"/>
                  </a:lnTo>
                  <a:lnTo>
                    <a:pt x="75491" y="9717"/>
                  </a:lnTo>
                  <a:lnTo>
                    <a:pt x="123571" y="0"/>
                  </a:lnTo>
                  <a:lnTo>
                    <a:pt x="6748145" y="0"/>
                  </a:lnTo>
                  <a:lnTo>
                    <a:pt x="6796224" y="9717"/>
                  </a:lnTo>
                  <a:lnTo>
                    <a:pt x="6835505" y="36210"/>
                  </a:lnTo>
                  <a:lnTo>
                    <a:pt x="6861998" y="75491"/>
                  </a:lnTo>
                  <a:lnTo>
                    <a:pt x="6871716" y="123571"/>
                  </a:lnTo>
                  <a:lnTo>
                    <a:pt x="6871716" y="935609"/>
                  </a:lnTo>
                  <a:lnTo>
                    <a:pt x="6861998" y="983688"/>
                  </a:lnTo>
                  <a:lnTo>
                    <a:pt x="6835505" y="1022969"/>
                  </a:lnTo>
                  <a:lnTo>
                    <a:pt x="6796224" y="1049462"/>
                  </a:lnTo>
                  <a:lnTo>
                    <a:pt x="6748145" y="1059179"/>
                  </a:lnTo>
                  <a:lnTo>
                    <a:pt x="123571" y="1059179"/>
                  </a:lnTo>
                  <a:lnTo>
                    <a:pt x="75491" y="1049462"/>
                  </a:lnTo>
                  <a:lnTo>
                    <a:pt x="36210" y="1022969"/>
                  </a:lnTo>
                  <a:lnTo>
                    <a:pt x="9717" y="983688"/>
                  </a:lnTo>
                  <a:lnTo>
                    <a:pt x="0" y="935609"/>
                  </a:lnTo>
                  <a:lnTo>
                    <a:pt x="0" y="12357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129533" y="312435"/>
            <a:ext cx="4993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 err="1">
                <a:latin typeface="Times New Roman"/>
                <a:cs typeface="Times New Roman"/>
              </a:rPr>
              <a:t>FractionalKnapsack</a:t>
            </a:r>
            <a:r>
              <a:rPr sz="2800" b="1" spc="-10" dirty="0">
                <a:latin typeface="Times New Roman"/>
                <a:cs typeface="Times New Roman"/>
              </a:rPr>
              <a:t>(</a:t>
            </a:r>
            <a:r>
              <a:rPr sz="2800" spc="-10" dirty="0">
                <a:latin typeface="Cambria Math"/>
                <a:cs typeface="Cambria Math"/>
              </a:rPr>
              <a:t>𝒏,</a:t>
            </a:r>
            <a:r>
              <a:rPr sz="2800" spc="-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8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𝒗,</a:t>
            </a:r>
            <a:r>
              <a:rPr sz="2800" spc="-8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𝑪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51203" y="176316"/>
            <a:ext cx="170112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22589" y="2192654"/>
            <a:ext cx="3589020" cy="4191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98780">
              <a:lnSpc>
                <a:spcPct val="100000"/>
              </a:lnSpc>
              <a:spcBef>
                <a:spcPts val="240"/>
              </a:spcBef>
            </a:pPr>
            <a:r>
              <a:rPr sz="2000" spc="-20">
                <a:latin typeface="PMingLiU"/>
                <a:cs typeface="PMingLiU"/>
              </a:rPr>
              <a:t>按性价比排序，并初始</a:t>
            </a:r>
            <a:r>
              <a:rPr sz="2000" spc="-50">
                <a:latin typeface="PMingLiU"/>
                <a:cs typeface="PMingLiU"/>
              </a:rPr>
              <a:t>化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2412" y="1263787"/>
            <a:ext cx="7463155" cy="5418455"/>
            <a:chOff x="982412" y="1263787"/>
            <a:chExt cx="7463155" cy="541845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2412" y="1263787"/>
              <a:ext cx="7462638" cy="54178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1203" y="3157727"/>
              <a:ext cx="6871970" cy="271780"/>
            </a:xfrm>
            <a:custGeom>
              <a:avLst/>
              <a:gdLst/>
              <a:ahLst/>
              <a:cxnLst/>
              <a:rect l="l" t="t" r="r" b="b"/>
              <a:pathLst>
                <a:path w="6871970" h="271779">
                  <a:moveTo>
                    <a:pt x="0" y="31623"/>
                  </a:moveTo>
                  <a:lnTo>
                    <a:pt x="2487" y="19341"/>
                  </a:lnTo>
                  <a:lnTo>
                    <a:pt x="9267" y="9286"/>
                  </a:lnTo>
                  <a:lnTo>
                    <a:pt x="19320" y="2494"/>
                  </a:lnTo>
                  <a:lnTo>
                    <a:pt x="31623" y="0"/>
                  </a:lnTo>
                  <a:lnTo>
                    <a:pt x="6840093" y="0"/>
                  </a:lnTo>
                  <a:lnTo>
                    <a:pt x="6852374" y="2494"/>
                  </a:lnTo>
                  <a:lnTo>
                    <a:pt x="6862429" y="9286"/>
                  </a:lnTo>
                  <a:lnTo>
                    <a:pt x="6869221" y="19341"/>
                  </a:lnTo>
                  <a:lnTo>
                    <a:pt x="6871716" y="31623"/>
                  </a:lnTo>
                  <a:lnTo>
                    <a:pt x="6871716" y="239649"/>
                  </a:lnTo>
                  <a:lnTo>
                    <a:pt x="6869221" y="251930"/>
                  </a:lnTo>
                  <a:lnTo>
                    <a:pt x="6862429" y="261985"/>
                  </a:lnTo>
                  <a:lnTo>
                    <a:pt x="6852374" y="268777"/>
                  </a:lnTo>
                  <a:lnTo>
                    <a:pt x="6840093" y="271272"/>
                  </a:lnTo>
                  <a:lnTo>
                    <a:pt x="31623" y="271272"/>
                  </a:lnTo>
                  <a:lnTo>
                    <a:pt x="19320" y="268777"/>
                  </a:lnTo>
                  <a:lnTo>
                    <a:pt x="9267" y="261985"/>
                  </a:lnTo>
                  <a:lnTo>
                    <a:pt x="2487" y="251930"/>
                  </a:lnTo>
                  <a:lnTo>
                    <a:pt x="0" y="239649"/>
                  </a:lnTo>
                  <a:lnTo>
                    <a:pt x="0" y="31623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22589" y="3080385"/>
            <a:ext cx="3589020" cy="4203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244"/>
              </a:spcBef>
            </a:pPr>
            <a:r>
              <a:rPr sz="2000" spc="-20">
                <a:latin typeface="PMingLiU"/>
                <a:cs typeface="PMingLiU"/>
              </a:rPr>
              <a:t>当背包未装满且商品未装完</a:t>
            </a:r>
            <a:r>
              <a:rPr sz="2000" spc="-50">
                <a:latin typeface="PMingLiU"/>
                <a:cs typeface="PMingLiU"/>
              </a:rPr>
              <a:t>时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A03A68D6-E589-7349-8779-E4180876A5B3}"/>
              </a:ext>
            </a:extLst>
          </p:cNvPr>
          <p:cNvSpPr txBox="1"/>
          <p:nvPr/>
        </p:nvSpPr>
        <p:spPr>
          <a:xfrm>
            <a:off x="3129533" y="312435"/>
            <a:ext cx="4993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 err="1">
                <a:latin typeface="Times New Roman"/>
                <a:cs typeface="Times New Roman"/>
              </a:rPr>
              <a:t>FractionalKnapsack</a:t>
            </a:r>
            <a:r>
              <a:rPr sz="2800" b="1" spc="-10" dirty="0">
                <a:latin typeface="Times New Roman"/>
                <a:cs typeface="Times New Roman"/>
              </a:rPr>
              <a:t>(</a:t>
            </a:r>
            <a:r>
              <a:rPr sz="2800" spc="-10" dirty="0">
                <a:latin typeface="Cambria Math"/>
                <a:cs typeface="Cambria Math"/>
              </a:rPr>
              <a:t>𝒏,</a:t>
            </a:r>
            <a:r>
              <a:rPr sz="2800" spc="-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8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𝒗,</a:t>
            </a:r>
            <a:r>
              <a:rPr sz="2800" spc="-8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𝑪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154D6F48-CA51-B34B-AC07-BC9D4815B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1203" y="176316"/>
            <a:ext cx="170112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2412" y="1263787"/>
            <a:ext cx="7463155" cy="5418455"/>
            <a:chOff x="982412" y="1263787"/>
            <a:chExt cx="7463155" cy="541845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2412" y="1263787"/>
              <a:ext cx="7462638" cy="54178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1203" y="3415283"/>
              <a:ext cx="6871970" cy="1325245"/>
            </a:xfrm>
            <a:custGeom>
              <a:avLst/>
              <a:gdLst/>
              <a:ahLst/>
              <a:cxnLst/>
              <a:rect l="l" t="t" r="r" b="b"/>
              <a:pathLst>
                <a:path w="6871970" h="1325245">
                  <a:moveTo>
                    <a:pt x="0" y="154558"/>
                  </a:moveTo>
                  <a:lnTo>
                    <a:pt x="7881" y="105712"/>
                  </a:lnTo>
                  <a:lnTo>
                    <a:pt x="29825" y="63285"/>
                  </a:lnTo>
                  <a:lnTo>
                    <a:pt x="63285" y="29825"/>
                  </a:lnTo>
                  <a:lnTo>
                    <a:pt x="105712" y="7881"/>
                  </a:lnTo>
                  <a:lnTo>
                    <a:pt x="154559" y="0"/>
                  </a:lnTo>
                  <a:lnTo>
                    <a:pt x="6717157" y="0"/>
                  </a:lnTo>
                  <a:lnTo>
                    <a:pt x="6766003" y="7881"/>
                  </a:lnTo>
                  <a:lnTo>
                    <a:pt x="6808430" y="29825"/>
                  </a:lnTo>
                  <a:lnTo>
                    <a:pt x="6841890" y="63285"/>
                  </a:lnTo>
                  <a:lnTo>
                    <a:pt x="6863834" y="105712"/>
                  </a:lnTo>
                  <a:lnTo>
                    <a:pt x="6871716" y="154558"/>
                  </a:lnTo>
                  <a:lnTo>
                    <a:pt x="6871716" y="1170558"/>
                  </a:lnTo>
                  <a:lnTo>
                    <a:pt x="6863834" y="1219405"/>
                  </a:lnTo>
                  <a:lnTo>
                    <a:pt x="6841890" y="1261832"/>
                  </a:lnTo>
                  <a:lnTo>
                    <a:pt x="6808430" y="1295292"/>
                  </a:lnTo>
                  <a:lnTo>
                    <a:pt x="6766003" y="1317236"/>
                  </a:lnTo>
                  <a:lnTo>
                    <a:pt x="6717157" y="1325117"/>
                  </a:lnTo>
                  <a:lnTo>
                    <a:pt x="154559" y="1325117"/>
                  </a:lnTo>
                  <a:lnTo>
                    <a:pt x="105712" y="1317236"/>
                  </a:lnTo>
                  <a:lnTo>
                    <a:pt x="63285" y="1295292"/>
                  </a:lnTo>
                  <a:lnTo>
                    <a:pt x="29825" y="1261832"/>
                  </a:lnTo>
                  <a:lnTo>
                    <a:pt x="7881" y="1219405"/>
                  </a:lnTo>
                  <a:lnTo>
                    <a:pt x="0" y="1170558"/>
                  </a:lnTo>
                  <a:lnTo>
                    <a:pt x="0" y="15455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22589" y="3870578"/>
            <a:ext cx="3589020" cy="4191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245"/>
              </a:spcBef>
            </a:pPr>
            <a:r>
              <a:rPr sz="2000" spc="-20">
                <a:latin typeface="PMingLiU"/>
                <a:cs typeface="PMingLiU"/>
              </a:rPr>
              <a:t>商品体积不大于容量则全部装</a:t>
            </a:r>
            <a:r>
              <a:rPr sz="2000" spc="-50">
                <a:latin typeface="PMingLiU"/>
                <a:cs typeface="PMingLiU"/>
              </a:rPr>
              <a:t>入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8C746785-C6E1-B04D-A6C9-CD04B8D53A3F}"/>
              </a:ext>
            </a:extLst>
          </p:cNvPr>
          <p:cNvSpPr txBox="1"/>
          <p:nvPr/>
        </p:nvSpPr>
        <p:spPr>
          <a:xfrm>
            <a:off x="3129533" y="312435"/>
            <a:ext cx="4993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 err="1">
                <a:latin typeface="Times New Roman"/>
                <a:cs typeface="Times New Roman"/>
              </a:rPr>
              <a:t>FractionalKnapsack</a:t>
            </a:r>
            <a:r>
              <a:rPr sz="2800" b="1" spc="-10" dirty="0">
                <a:latin typeface="Times New Roman"/>
                <a:cs typeface="Times New Roman"/>
              </a:rPr>
              <a:t>(</a:t>
            </a:r>
            <a:r>
              <a:rPr sz="2800" spc="-10" dirty="0">
                <a:latin typeface="Cambria Math"/>
                <a:cs typeface="Cambria Math"/>
              </a:rPr>
              <a:t>𝒏,</a:t>
            </a:r>
            <a:r>
              <a:rPr sz="2800" spc="-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8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𝒗,</a:t>
            </a:r>
            <a:r>
              <a:rPr sz="2800" spc="-8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𝑪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02A2F1D9-2B22-0C44-9BD9-83E7BAED2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1203" y="176316"/>
            <a:ext cx="170112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2412" y="1263787"/>
            <a:ext cx="7463155" cy="5418455"/>
            <a:chOff x="982412" y="1263787"/>
            <a:chExt cx="7463155" cy="541845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2412" y="1263787"/>
              <a:ext cx="7462638" cy="54178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1203" y="4684776"/>
              <a:ext cx="6871970" cy="1325245"/>
            </a:xfrm>
            <a:custGeom>
              <a:avLst/>
              <a:gdLst/>
              <a:ahLst/>
              <a:cxnLst/>
              <a:rect l="l" t="t" r="r" b="b"/>
              <a:pathLst>
                <a:path w="6871970" h="1325245">
                  <a:moveTo>
                    <a:pt x="0" y="154559"/>
                  </a:moveTo>
                  <a:lnTo>
                    <a:pt x="7881" y="105712"/>
                  </a:lnTo>
                  <a:lnTo>
                    <a:pt x="29825" y="63285"/>
                  </a:lnTo>
                  <a:lnTo>
                    <a:pt x="63285" y="29825"/>
                  </a:lnTo>
                  <a:lnTo>
                    <a:pt x="105712" y="7881"/>
                  </a:lnTo>
                  <a:lnTo>
                    <a:pt x="154559" y="0"/>
                  </a:lnTo>
                  <a:lnTo>
                    <a:pt x="6717157" y="0"/>
                  </a:lnTo>
                  <a:lnTo>
                    <a:pt x="6766003" y="7881"/>
                  </a:lnTo>
                  <a:lnTo>
                    <a:pt x="6808430" y="29825"/>
                  </a:lnTo>
                  <a:lnTo>
                    <a:pt x="6841890" y="63285"/>
                  </a:lnTo>
                  <a:lnTo>
                    <a:pt x="6863834" y="105712"/>
                  </a:lnTo>
                  <a:lnTo>
                    <a:pt x="6871716" y="154559"/>
                  </a:lnTo>
                  <a:lnTo>
                    <a:pt x="6871716" y="1170508"/>
                  </a:lnTo>
                  <a:lnTo>
                    <a:pt x="6863834" y="1219374"/>
                  </a:lnTo>
                  <a:lnTo>
                    <a:pt x="6841890" y="1261815"/>
                  </a:lnTo>
                  <a:lnTo>
                    <a:pt x="6808430" y="1295285"/>
                  </a:lnTo>
                  <a:lnTo>
                    <a:pt x="6766003" y="1317235"/>
                  </a:lnTo>
                  <a:lnTo>
                    <a:pt x="6717157" y="1325118"/>
                  </a:lnTo>
                  <a:lnTo>
                    <a:pt x="154559" y="1325118"/>
                  </a:lnTo>
                  <a:lnTo>
                    <a:pt x="105712" y="1317235"/>
                  </a:lnTo>
                  <a:lnTo>
                    <a:pt x="63285" y="1295285"/>
                  </a:lnTo>
                  <a:lnTo>
                    <a:pt x="29825" y="1261815"/>
                  </a:lnTo>
                  <a:lnTo>
                    <a:pt x="7881" y="1219374"/>
                  </a:lnTo>
                  <a:lnTo>
                    <a:pt x="0" y="1170508"/>
                  </a:lnTo>
                  <a:lnTo>
                    <a:pt x="0" y="15455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22589" y="5140071"/>
            <a:ext cx="3589020" cy="4191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71780">
              <a:lnSpc>
                <a:spcPct val="100000"/>
              </a:lnSpc>
              <a:spcBef>
                <a:spcPts val="245"/>
              </a:spcBef>
            </a:pPr>
            <a:r>
              <a:rPr sz="2000" spc="-20">
                <a:latin typeface="PMingLiU"/>
                <a:cs typeface="PMingLiU"/>
              </a:rPr>
              <a:t>否则装入部分商品填满背</a:t>
            </a:r>
            <a:r>
              <a:rPr sz="2000" spc="-50">
                <a:latin typeface="PMingLiU"/>
                <a:cs typeface="PMingLiU"/>
              </a:rPr>
              <a:t>包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D5BCB2B3-E974-2F41-BC4F-62AB0016A614}"/>
              </a:ext>
            </a:extLst>
          </p:cNvPr>
          <p:cNvSpPr txBox="1"/>
          <p:nvPr/>
        </p:nvSpPr>
        <p:spPr>
          <a:xfrm>
            <a:off x="3129533" y="312435"/>
            <a:ext cx="4993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 err="1">
                <a:latin typeface="Times New Roman"/>
                <a:cs typeface="Times New Roman"/>
              </a:rPr>
              <a:t>FractionalKnapsack</a:t>
            </a:r>
            <a:r>
              <a:rPr sz="2800" b="1" spc="-10" dirty="0">
                <a:latin typeface="Times New Roman"/>
                <a:cs typeface="Times New Roman"/>
              </a:rPr>
              <a:t>(</a:t>
            </a:r>
            <a:r>
              <a:rPr sz="2800" spc="-10" dirty="0">
                <a:latin typeface="Cambria Math"/>
                <a:cs typeface="Cambria Math"/>
              </a:rPr>
              <a:t>𝒏,</a:t>
            </a:r>
            <a:r>
              <a:rPr sz="2800" spc="-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8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𝒗,</a:t>
            </a:r>
            <a:r>
              <a:rPr sz="2800" spc="-8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𝑪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FC024037-3D87-1E44-8BD7-9532106A3B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1203" y="176316"/>
            <a:ext cx="170112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2412" y="1263787"/>
            <a:ext cx="7496175" cy="5418455"/>
            <a:chOff x="982412" y="1263787"/>
            <a:chExt cx="7496175" cy="541845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2412" y="1263787"/>
              <a:ext cx="7462638" cy="54178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01406" y="2004059"/>
              <a:ext cx="257810" cy="921385"/>
            </a:xfrm>
            <a:custGeom>
              <a:avLst/>
              <a:gdLst/>
              <a:ahLst/>
              <a:cxnLst/>
              <a:rect l="l" t="t" r="r" b="b"/>
              <a:pathLst>
                <a:path w="257809" h="921385">
                  <a:moveTo>
                    <a:pt x="0" y="0"/>
                  </a:moveTo>
                  <a:lnTo>
                    <a:pt x="50125" y="1692"/>
                  </a:lnTo>
                  <a:lnTo>
                    <a:pt x="91058" y="6302"/>
                  </a:lnTo>
                  <a:lnTo>
                    <a:pt x="118657" y="13126"/>
                  </a:lnTo>
                  <a:lnTo>
                    <a:pt x="128777" y="21462"/>
                  </a:lnTo>
                  <a:lnTo>
                    <a:pt x="128777" y="439165"/>
                  </a:lnTo>
                  <a:lnTo>
                    <a:pt x="138898" y="447502"/>
                  </a:lnTo>
                  <a:lnTo>
                    <a:pt x="166497" y="454326"/>
                  </a:lnTo>
                  <a:lnTo>
                    <a:pt x="207430" y="458936"/>
                  </a:lnTo>
                  <a:lnTo>
                    <a:pt x="257555" y="460628"/>
                  </a:lnTo>
                  <a:lnTo>
                    <a:pt x="207430" y="462321"/>
                  </a:lnTo>
                  <a:lnTo>
                    <a:pt x="166497" y="466931"/>
                  </a:lnTo>
                  <a:lnTo>
                    <a:pt x="138898" y="473755"/>
                  </a:lnTo>
                  <a:lnTo>
                    <a:pt x="128777" y="482091"/>
                  </a:lnTo>
                  <a:lnTo>
                    <a:pt x="128777" y="899794"/>
                  </a:lnTo>
                  <a:lnTo>
                    <a:pt x="118657" y="908131"/>
                  </a:lnTo>
                  <a:lnTo>
                    <a:pt x="91058" y="914955"/>
                  </a:lnTo>
                  <a:lnTo>
                    <a:pt x="50125" y="919565"/>
                  </a:lnTo>
                  <a:lnTo>
                    <a:pt x="0" y="92125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71338" y="212412"/>
            <a:ext cx="248251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复杂度分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826118" y="2343911"/>
            <a:ext cx="1042669" cy="259079"/>
          </a:xfrm>
          <a:custGeom>
            <a:avLst/>
            <a:gdLst/>
            <a:ahLst/>
            <a:cxnLst/>
            <a:rect l="l" t="t" r="r" b="b"/>
            <a:pathLst>
              <a:path w="1042669" h="259079">
                <a:moveTo>
                  <a:pt x="959611" y="0"/>
                </a:moveTo>
                <a:lnTo>
                  <a:pt x="955928" y="10540"/>
                </a:lnTo>
                <a:lnTo>
                  <a:pt x="970903" y="17039"/>
                </a:lnTo>
                <a:lnTo>
                  <a:pt x="983805" y="26050"/>
                </a:lnTo>
                <a:lnTo>
                  <a:pt x="1009967" y="67780"/>
                </a:lnTo>
                <a:lnTo>
                  <a:pt x="1017587" y="106122"/>
                </a:lnTo>
                <a:lnTo>
                  <a:pt x="1018539" y="128270"/>
                </a:lnTo>
                <a:lnTo>
                  <a:pt x="1017585" y="151110"/>
                </a:lnTo>
                <a:lnTo>
                  <a:pt x="1009913" y="190456"/>
                </a:lnTo>
                <a:lnTo>
                  <a:pt x="983837" y="232917"/>
                </a:lnTo>
                <a:lnTo>
                  <a:pt x="956309" y="248538"/>
                </a:lnTo>
                <a:lnTo>
                  <a:pt x="959611" y="259079"/>
                </a:lnTo>
                <a:lnTo>
                  <a:pt x="994949" y="242506"/>
                </a:lnTo>
                <a:lnTo>
                  <a:pt x="1020952" y="213740"/>
                </a:lnTo>
                <a:lnTo>
                  <a:pt x="1036891" y="175355"/>
                </a:lnTo>
                <a:lnTo>
                  <a:pt x="1042161" y="129539"/>
                </a:lnTo>
                <a:lnTo>
                  <a:pt x="1040828" y="105848"/>
                </a:lnTo>
                <a:lnTo>
                  <a:pt x="1030160" y="63799"/>
                </a:lnTo>
                <a:lnTo>
                  <a:pt x="1008993" y="29485"/>
                </a:lnTo>
                <a:lnTo>
                  <a:pt x="978374" y="6764"/>
                </a:lnTo>
                <a:lnTo>
                  <a:pt x="959611" y="0"/>
                </a:lnTo>
                <a:close/>
              </a:path>
              <a:path w="1042669" h="259079">
                <a:moveTo>
                  <a:pt x="82550" y="0"/>
                </a:moveTo>
                <a:lnTo>
                  <a:pt x="47323" y="16589"/>
                </a:lnTo>
                <a:lnTo>
                  <a:pt x="21335" y="45465"/>
                </a:lnTo>
                <a:lnTo>
                  <a:pt x="5333" y="83931"/>
                </a:lnTo>
                <a:lnTo>
                  <a:pt x="0" y="129539"/>
                </a:lnTo>
                <a:lnTo>
                  <a:pt x="1313" y="153376"/>
                </a:lnTo>
                <a:lnTo>
                  <a:pt x="11894" y="195476"/>
                </a:lnTo>
                <a:lnTo>
                  <a:pt x="33043" y="229647"/>
                </a:lnTo>
                <a:lnTo>
                  <a:pt x="63714" y="252317"/>
                </a:lnTo>
                <a:lnTo>
                  <a:pt x="82550" y="259079"/>
                </a:lnTo>
                <a:lnTo>
                  <a:pt x="85851" y="248538"/>
                </a:lnTo>
                <a:lnTo>
                  <a:pt x="71064" y="242014"/>
                </a:lnTo>
                <a:lnTo>
                  <a:pt x="58324" y="232917"/>
                </a:lnTo>
                <a:lnTo>
                  <a:pt x="32248" y="190456"/>
                </a:lnTo>
                <a:lnTo>
                  <a:pt x="24576" y="151110"/>
                </a:lnTo>
                <a:lnTo>
                  <a:pt x="23622" y="128270"/>
                </a:lnTo>
                <a:lnTo>
                  <a:pt x="24576" y="106122"/>
                </a:lnTo>
                <a:lnTo>
                  <a:pt x="32248" y="67780"/>
                </a:lnTo>
                <a:lnTo>
                  <a:pt x="58419" y="26050"/>
                </a:lnTo>
                <a:lnTo>
                  <a:pt x="86232" y="10540"/>
                </a:lnTo>
                <a:lnTo>
                  <a:pt x="82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84438" y="2261361"/>
            <a:ext cx="120650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200" spc="4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200" spc="-1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200" spc="-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2412" y="1263787"/>
            <a:ext cx="7496175" cy="5418455"/>
            <a:chOff x="982412" y="1263787"/>
            <a:chExt cx="7496175" cy="541845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2412" y="1263787"/>
              <a:ext cx="7462638" cy="54178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01406" y="2004059"/>
              <a:ext cx="257810" cy="4051935"/>
            </a:xfrm>
            <a:custGeom>
              <a:avLst/>
              <a:gdLst/>
              <a:ahLst/>
              <a:cxnLst/>
              <a:rect l="l" t="t" r="r" b="b"/>
              <a:pathLst>
                <a:path w="257809" h="4051935">
                  <a:moveTo>
                    <a:pt x="0" y="0"/>
                  </a:moveTo>
                  <a:lnTo>
                    <a:pt x="50125" y="1692"/>
                  </a:lnTo>
                  <a:lnTo>
                    <a:pt x="91058" y="6302"/>
                  </a:lnTo>
                  <a:lnTo>
                    <a:pt x="118657" y="13126"/>
                  </a:lnTo>
                  <a:lnTo>
                    <a:pt x="128777" y="21462"/>
                  </a:lnTo>
                  <a:lnTo>
                    <a:pt x="128777" y="439165"/>
                  </a:lnTo>
                  <a:lnTo>
                    <a:pt x="138898" y="447502"/>
                  </a:lnTo>
                  <a:lnTo>
                    <a:pt x="166497" y="454326"/>
                  </a:lnTo>
                  <a:lnTo>
                    <a:pt x="207430" y="458936"/>
                  </a:lnTo>
                  <a:lnTo>
                    <a:pt x="257555" y="460628"/>
                  </a:lnTo>
                  <a:lnTo>
                    <a:pt x="207430" y="462321"/>
                  </a:lnTo>
                  <a:lnTo>
                    <a:pt x="166497" y="466931"/>
                  </a:lnTo>
                  <a:lnTo>
                    <a:pt x="138898" y="473755"/>
                  </a:lnTo>
                  <a:lnTo>
                    <a:pt x="128777" y="482091"/>
                  </a:lnTo>
                  <a:lnTo>
                    <a:pt x="128777" y="899794"/>
                  </a:lnTo>
                  <a:lnTo>
                    <a:pt x="118657" y="908131"/>
                  </a:lnTo>
                  <a:lnTo>
                    <a:pt x="91058" y="914955"/>
                  </a:lnTo>
                  <a:lnTo>
                    <a:pt x="50125" y="919565"/>
                  </a:lnTo>
                  <a:lnTo>
                    <a:pt x="0" y="921257"/>
                  </a:lnTo>
                </a:path>
                <a:path w="257809" h="4051935">
                  <a:moveTo>
                    <a:pt x="0" y="1266443"/>
                  </a:moveTo>
                  <a:lnTo>
                    <a:pt x="50125" y="1268136"/>
                  </a:lnTo>
                  <a:lnTo>
                    <a:pt x="91058" y="1272746"/>
                  </a:lnTo>
                  <a:lnTo>
                    <a:pt x="118657" y="1279570"/>
                  </a:lnTo>
                  <a:lnTo>
                    <a:pt x="128777" y="1287906"/>
                  </a:lnTo>
                  <a:lnTo>
                    <a:pt x="128777" y="2637535"/>
                  </a:lnTo>
                  <a:lnTo>
                    <a:pt x="138898" y="2645872"/>
                  </a:lnTo>
                  <a:lnTo>
                    <a:pt x="166497" y="2652696"/>
                  </a:lnTo>
                  <a:lnTo>
                    <a:pt x="207430" y="2657306"/>
                  </a:lnTo>
                  <a:lnTo>
                    <a:pt x="257555" y="2658998"/>
                  </a:lnTo>
                  <a:lnTo>
                    <a:pt x="207430" y="2660691"/>
                  </a:lnTo>
                  <a:lnTo>
                    <a:pt x="166497" y="2665301"/>
                  </a:lnTo>
                  <a:lnTo>
                    <a:pt x="138898" y="2672125"/>
                  </a:lnTo>
                  <a:lnTo>
                    <a:pt x="128777" y="2680462"/>
                  </a:lnTo>
                  <a:lnTo>
                    <a:pt x="128777" y="4030091"/>
                  </a:lnTo>
                  <a:lnTo>
                    <a:pt x="118657" y="4038443"/>
                  </a:lnTo>
                  <a:lnTo>
                    <a:pt x="91058" y="4045265"/>
                  </a:lnTo>
                  <a:lnTo>
                    <a:pt x="50125" y="4049866"/>
                  </a:lnTo>
                  <a:lnTo>
                    <a:pt x="0" y="405155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826118" y="2343911"/>
            <a:ext cx="1042669" cy="259079"/>
          </a:xfrm>
          <a:custGeom>
            <a:avLst/>
            <a:gdLst/>
            <a:ahLst/>
            <a:cxnLst/>
            <a:rect l="l" t="t" r="r" b="b"/>
            <a:pathLst>
              <a:path w="1042669" h="259079">
                <a:moveTo>
                  <a:pt x="959611" y="0"/>
                </a:moveTo>
                <a:lnTo>
                  <a:pt x="955928" y="10540"/>
                </a:lnTo>
                <a:lnTo>
                  <a:pt x="970903" y="17039"/>
                </a:lnTo>
                <a:lnTo>
                  <a:pt x="983805" y="26050"/>
                </a:lnTo>
                <a:lnTo>
                  <a:pt x="1009967" y="67780"/>
                </a:lnTo>
                <a:lnTo>
                  <a:pt x="1017587" y="106122"/>
                </a:lnTo>
                <a:lnTo>
                  <a:pt x="1018539" y="128270"/>
                </a:lnTo>
                <a:lnTo>
                  <a:pt x="1017585" y="151110"/>
                </a:lnTo>
                <a:lnTo>
                  <a:pt x="1009913" y="190456"/>
                </a:lnTo>
                <a:lnTo>
                  <a:pt x="983837" y="232917"/>
                </a:lnTo>
                <a:lnTo>
                  <a:pt x="956309" y="248538"/>
                </a:lnTo>
                <a:lnTo>
                  <a:pt x="959611" y="259079"/>
                </a:lnTo>
                <a:lnTo>
                  <a:pt x="994949" y="242506"/>
                </a:lnTo>
                <a:lnTo>
                  <a:pt x="1020952" y="213740"/>
                </a:lnTo>
                <a:lnTo>
                  <a:pt x="1036891" y="175355"/>
                </a:lnTo>
                <a:lnTo>
                  <a:pt x="1042161" y="129539"/>
                </a:lnTo>
                <a:lnTo>
                  <a:pt x="1040828" y="105848"/>
                </a:lnTo>
                <a:lnTo>
                  <a:pt x="1030160" y="63799"/>
                </a:lnTo>
                <a:lnTo>
                  <a:pt x="1008993" y="29485"/>
                </a:lnTo>
                <a:lnTo>
                  <a:pt x="978374" y="6764"/>
                </a:lnTo>
                <a:lnTo>
                  <a:pt x="959611" y="0"/>
                </a:lnTo>
                <a:close/>
              </a:path>
              <a:path w="1042669" h="259079">
                <a:moveTo>
                  <a:pt x="82550" y="0"/>
                </a:moveTo>
                <a:lnTo>
                  <a:pt x="47323" y="16589"/>
                </a:lnTo>
                <a:lnTo>
                  <a:pt x="21335" y="45465"/>
                </a:lnTo>
                <a:lnTo>
                  <a:pt x="5333" y="83931"/>
                </a:lnTo>
                <a:lnTo>
                  <a:pt x="0" y="129539"/>
                </a:lnTo>
                <a:lnTo>
                  <a:pt x="1313" y="153376"/>
                </a:lnTo>
                <a:lnTo>
                  <a:pt x="11894" y="195476"/>
                </a:lnTo>
                <a:lnTo>
                  <a:pt x="33043" y="229647"/>
                </a:lnTo>
                <a:lnTo>
                  <a:pt x="63714" y="252317"/>
                </a:lnTo>
                <a:lnTo>
                  <a:pt x="82550" y="259079"/>
                </a:lnTo>
                <a:lnTo>
                  <a:pt x="85851" y="248538"/>
                </a:lnTo>
                <a:lnTo>
                  <a:pt x="71064" y="242014"/>
                </a:lnTo>
                <a:lnTo>
                  <a:pt x="58324" y="232917"/>
                </a:lnTo>
                <a:lnTo>
                  <a:pt x="32248" y="190456"/>
                </a:lnTo>
                <a:lnTo>
                  <a:pt x="24576" y="151110"/>
                </a:lnTo>
                <a:lnTo>
                  <a:pt x="23622" y="128270"/>
                </a:lnTo>
                <a:lnTo>
                  <a:pt x="24576" y="106122"/>
                </a:lnTo>
                <a:lnTo>
                  <a:pt x="32248" y="67780"/>
                </a:lnTo>
                <a:lnTo>
                  <a:pt x="58419" y="26050"/>
                </a:lnTo>
                <a:lnTo>
                  <a:pt x="86232" y="10540"/>
                </a:lnTo>
                <a:lnTo>
                  <a:pt x="82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84438" y="2261361"/>
            <a:ext cx="120650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200" spc="4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200" spc="-1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200" spc="-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822308" y="4520310"/>
            <a:ext cx="363220" cy="259079"/>
          </a:xfrm>
          <a:custGeom>
            <a:avLst/>
            <a:gdLst/>
            <a:ahLst/>
            <a:cxnLst/>
            <a:rect l="l" t="t" r="r" b="b"/>
            <a:pathLst>
              <a:path w="363220" h="259078">
                <a:moveTo>
                  <a:pt x="280670" y="0"/>
                </a:moveTo>
                <a:lnTo>
                  <a:pt x="276987" y="10540"/>
                </a:lnTo>
                <a:lnTo>
                  <a:pt x="291961" y="17039"/>
                </a:lnTo>
                <a:lnTo>
                  <a:pt x="304863" y="26050"/>
                </a:lnTo>
                <a:lnTo>
                  <a:pt x="331025" y="67851"/>
                </a:lnTo>
                <a:lnTo>
                  <a:pt x="338645" y="106193"/>
                </a:lnTo>
                <a:lnTo>
                  <a:pt x="339598" y="128269"/>
                </a:lnTo>
                <a:lnTo>
                  <a:pt x="338643" y="151128"/>
                </a:lnTo>
                <a:lnTo>
                  <a:pt x="330971" y="190509"/>
                </a:lnTo>
                <a:lnTo>
                  <a:pt x="304895" y="232917"/>
                </a:lnTo>
                <a:lnTo>
                  <a:pt x="277368" y="248538"/>
                </a:lnTo>
                <a:lnTo>
                  <a:pt x="280670" y="259080"/>
                </a:lnTo>
                <a:lnTo>
                  <a:pt x="316007" y="242522"/>
                </a:lnTo>
                <a:lnTo>
                  <a:pt x="342011" y="213868"/>
                </a:lnTo>
                <a:lnTo>
                  <a:pt x="357949" y="175387"/>
                </a:lnTo>
                <a:lnTo>
                  <a:pt x="363220" y="129666"/>
                </a:lnTo>
                <a:lnTo>
                  <a:pt x="361886" y="105902"/>
                </a:lnTo>
                <a:lnTo>
                  <a:pt x="351218" y="63801"/>
                </a:lnTo>
                <a:lnTo>
                  <a:pt x="330051" y="29557"/>
                </a:lnTo>
                <a:lnTo>
                  <a:pt x="299432" y="6836"/>
                </a:lnTo>
                <a:lnTo>
                  <a:pt x="280670" y="0"/>
                </a:lnTo>
                <a:close/>
              </a:path>
              <a:path w="363220" h="259078">
                <a:moveTo>
                  <a:pt x="82550" y="0"/>
                </a:moveTo>
                <a:lnTo>
                  <a:pt x="47323" y="16684"/>
                </a:lnTo>
                <a:lnTo>
                  <a:pt x="21336" y="45465"/>
                </a:lnTo>
                <a:lnTo>
                  <a:pt x="5334" y="83947"/>
                </a:lnTo>
                <a:lnTo>
                  <a:pt x="0" y="129666"/>
                </a:lnTo>
                <a:lnTo>
                  <a:pt x="1313" y="153431"/>
                </a:lnTo>
                <a:lnTo>
                  <a:pt x="11894" y="195532"/>
                </a:lnTo>
                <a:lnTo>
                  <a:pt x="33043" y="229701"/>
                </a:lnTo>
                <a:lnTo>
                  <a:pt x="63714" y="252319"/>
                </a:lnTo>
                <a:lnTo>
                  <a:pt x="82550" y="259080"/>
                </a:lnTo>
                <a:lnTo>
                  <a:pt x="85851" y="248538"/>
                </a:lnTo>
                <a:lnTo>
                  <a:pt x="71064" y="242014"/>
                </a:lnTo>
                <a:lnTo>
                  <a:pt x="58324" y="232917"/>
                </a:lnTo>
                <a:lnTo>
                  <a:pt x="32248" y="190509"/>
                </a:lnTo>
                <a:lnTo>
                  <a:pt x="24576" y="151128"/>
                </a:lnTo>
                <a:lnTo>
                  <a:pt x="23622" y="128269"/>
                </a:lnTo>
                <a:lnTo>
                  <a:pt x="24576" y="106193"/>
                </a:lnTo>
                <a:lnTo>
                  <a:pt x="32248" y="67851"/>
                </a:lnTo>
                <a:lnTo>
                  <a:pt x="58420" y="26050"/>
                </a:lnTo>
                <a:lnTo>
                  <a:pt x="86233" y="10540"/>
                </a:lnTo>
                <a:lnTo>
                  <a:pt x="82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580628" y="4437888"/>
            <a:ext cx="5276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200" spc="4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5EFF4A6E-6111-1A46-BF3C-90A50D85F0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1338" y="212412"/>
            <a:ext cx="248251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复杂度分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2412" y="1263787"/>
            <a:ext cx="7496175" cy="5418455"/>
            <a:chOff x="982412" y="1263787"/>
            <a:chExt cx="7496175" cy="5418455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982412" y="1263787"/>
              <a:ext cx="7462638" cy="54178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01406" y="2004059"/>
              <a:ext cx="257810" cy="921385"/>
            </a:xfrm>
            <a:custGeom>
              <a:avLst/>
              <a:gdLst/>
              <a:ahLst/>
              <a:cxnLst/>
              <a:rect l="l" t="t" r="r" b="b"/>
              <a:pathLst>
                <a:path w="257809" h="921385">
                  <a:moveTo>
                    <a:pt x="0" y="0"/>
                  </a:moveTo>
                  <a:lnTo>
                    <a:pt x="50125" y="1692"/>
                  </a:lnTo>
                  <a:lnTo>
                    <a:pt x="91058" y="6302"/>
                  </a:lnTo>
                  <a:lnTo>
                    <a:pt x="118657" y="13126"/>
                  </a:lnTo>
                  <a:lnTo>
                    <a:pt x="128777" y="21462"/>
                  </a:lnTo>
                  <a:lnTo>
                    <a:pt x="128777" y="439165"/>
                  </a:lnTo>
                  <a:lnTo>
                    <a:pt x="138898" y="447502"/>
                  </a:lnTo>
                  <a:lnTo>
                    <a:pt x="166497" y="454326"/>
                  </a:lnTo>
                  <a:lnTo>
                    <a:pt x="207430" y="458936"/>
                  </a:lnTo>
                  <a:lnTo>
                    <a:pt x="257555" y="460628"/>
                  </a:lnTo>
                  <a:lnTo>
                    <a:pt x="207430" y="462321"/>
                  </a:lnTo>
                  <a:lnTo>
                    <a:pt x="166497" y="466931"/>
                  </a:lnTo>
                  <a:lnTo>
                    <a:pt x="138898" y="473755"/>
                  </a:lnTo>
                  <a:lnTo>
                    <a:pt x="128777" y="482091"/>
                  </a:lnTo>
                  <a:lnTo>
                    <a:pt x="128777" y="899794"/>
                  </a:lnTo>
                  <a:lnTo>
                    <a:pt x="118657" y="908131"/>
                  </a:lnTo>
                  <a:lnTo>
                    <a:pt x="91058" y="914955"/>
                  </a:lnTo>
                  <a:lnTo>
                    <a:pt x="50125" y="919565"/>
                  </a:lnTo>
                  <a:lnTo>
                    <a:pt x="0" y="92125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826118" y="2343911"/>
            <a:ext cx="1042669" cy="259079"/>
          </a:xfrm>
          <a:custGeom>
            <a:avLst/>
            <a:gdLst/>
            <a:ahLst/>
            <a:cxnLst/>
            <a:rect l="l" t="t" r="r" b="b"/>
            <a:pathLst>
              <a:path w="1042669" h="259079">
                <a:moveTo>
                  <a:pt x="959611" y="0"/>
                </a:moveTo>
                <a:lnTo>
                  <a:pt x="955928" y="10540"/>
                </a:lnTo>
                <a:lnTo>
                  <a:pt x="970903" y="17039"/>
                </a:lnTo>
                <a:lnTo>
                  <a:pt x="983805" y="26050"/>
                </a:lnTo>
                <a:lnTo>
                  <a:pt x="1009967" y="67780"/>
                </a:lnTo>
                <a:lnTo>
                  <a:pt x="1017587" y="106122"/>
                </a:lnTo>
                <a:lnTo>
                  <a:pt x="1018539" y="128270"/>
                </a:lnTo>
                <a:lnTo>
                  <a:pt x="1017585" y="151110"/>
                </a:lnTo>
                <a:lnTo>
                  <a:pt x="1009913" y="190456"/>
                </a:lnTo>
                <a:lnTo>
                  <a:pt x="983837" y="232917"/>
                </a:lnTo>
                <a:lnTo>
                  <a:pt x="956309" y="248538"/>
                </a:lnTo>
                <a:lnTo>
                  <a:pt x="959611" y="259079"/>
                </a:lnTo>
                <a:lnTo>
                  <a:pt x="994949" y="242506"/>
                </a:lnTo>
                <a:lnTo>
                  <a:pt x="1020952" y="213740"/>
                </a:lnTo>
                <a:lnTo>
                  <a:pt x="1036891" y="175355"/>
                </a:lnTo>
                <a:lnTo>
                  <a:pt x="1042161" y="129539"/>
                </a:lnTo>
                <a:lnTo>
                  <a:pt x="1040828" y="105848"/>
                </a:lnTo>
                <a:lnTo>
                  <a:pt x="1030160" y="63799"/>
                </a:lnTo>
                <a:lnTo>
                  <a:pt x="1008993" y="29485"/>
                </a:lnTo>
                <a:lnTo>
                  <a:pt x="978374" y="6764"/>
                </a:lnTo>
                <a:lnTo>
                  <a:pt x="959611" y="0"/>
                </a:lnTo>
                <a:close/>
              </a:path>
              <a:path w="1042669" h="259079">
                <a:moveTo>
                  <a:pt x="82550" y="0"/>
                </a:moveTo>
                <a:lnTo>
                  <a:pt x="47323" y="16589"/>
                </a:lnTo>
                <a:lnTo>
                  <a:pt x="21335" y="45465"/>
                </a:lnTo>
                <a:lnTo>
                  <a:pt x="5333" y="83931"/>
                </a:lnTo>
                <a:lnTo>
                  <a:pt x="0" y="129539"/>
                </a:lnTo>
                <a:lnTo>
                  <a:pt x="1313" y="153376"/>
                </a:lnTo>
                <a:lnTo>
                  <a:pt x="11894" y="195476"/>
                </a:lnTo>
                <a:lnTo>
                  <a:pt x="33043" y="229647"/>
                </a:lnTo>
                <a:lnTo>
                  <a:pt x="63714" y="252317"/>
                </a:lnTo>
                <a:lnTo>
                  <a:pt x="82550" y="259079"/>
                </a:lnTo>
                <a:lnTo>
                  <a:pt x="85851" y="248538"/>
                </a:lnTo>
                <a:lnTo>
                  <a:pt x="71064" y="242014"/>
                </a:lnTo>
                <a:lnTo>
                  <a:pt x="58324" y="232917"/>
                </a:lnTo>
                <a:lnTo>
                  <a:pt x="32248" y="190456"/>
                </a:lnTo>
                <a:lnTo>
                  <a:pt x="24576" y="151110"/>
                </a:lnTo>
                <a:lnTo>
                  <a:pt x="23622" y="128270"/>
                </a:lnTo>
                <a:lnTo>
                  <a:pt x="24576" y="106122"/>
                </a:lnTo>
                <a:lnTo>
                  <a:pt x="32248" y="67780"/>
                </a:lnTo>
                <a:lnTo>
                  <a:pt x="58419" y="26050"/>
                </a:lnTo>
                <a:lnTo>
                  <a:pt x="86232" y="10540"/>
                </a:lnTo>
                <a:lnTo>
                  <a:pt x="82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84438" y="2261361"/>
            <a:ext cx="120650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200" spc="4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200" spc="-1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200" spc="-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5578" y="6098285"/>
            <a:ext cx="3435350" cy="5867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793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25"/>
              </a:spcBef>
            </a:pPr>
            <a:r>
              <a:rPr sz="2400">
                <a:solidFill>
                  <a:srgbClr val="FFFFFF"/>
                </a:solidFill>
                <a:latin typeface="PMingLiU"/>
                <a:cs typeface="PMingLiU"/>
              </a:rPr>
              <a:t>时间复杂度：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𝑶(𝒏</a:t>
            </a:r>
            <a:r>
              <a:rPr sz="2400" spc="-13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𝐥𝐨𝐠</a:t>
            </a:r>
            <a:r>
              <a:rPr sz="2400" spc="-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FFFFFF"/>
                </a:solidFill>
                <a:latin typeface="Cambria Math"/>
                <a:cs typeface="Cambria Math"/>
              </a:rPr>
              <a:t>𝒏)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01406" y="3270503"/>
            <a:ext cx="257810" cy="2785110"/>
          </a:xfrm>
          <a:custGeom>
            <a:avLst/>
            <a:gdLst/>
            <a:ahLst/>
            <a:cxnLst/>
            <a:rect l="l" t="t" r="r" b="b"/>
            <a:pathLst>
              <a:path w="257809" h="2785110">
                <a:moveTo>
                  <a:pt x="0" y="0"/>
                </a:moveTo>
                <a:lnTo>
                  <a:pt x="50125" y="1692"/>
                </a:lnTo>
                <a:lnTo>
                  <a:pt x="91058" y="6302"/>
                </a:lnTo>
                <a:lnTo>
                  <a:pt x="118657" y="13126"/>
                </a:lnTo>
                <a:lnTo>
                  <a:pt x="128777" y="21462"/>
                </a:lnTo>
                <a:lnTo>
                  <a:pt x="128777" y="1371092"/>
                </a:lnTo>
                <a:lnTo>
                  <a:pt x="138898" y="1379428"/>
                </a:lnTo>
                <a:lnTo>
                  <a:pt x="166497" y="1386252"/>
                </a:lnTo>
                <a:lnTo>
                  <a:pt x="207430" y="1390862"/>
                </a:lnTo>
                <a:lnTo>
                  <a:pt x="257555" y="1392555"/>
                </a:lnTo>
                <a:lnTo>
                  <a:pt x="207430" y="1394247"/>
                </a:lnTo>
                <a:lnTo>
                  <a:pt x="166497" y="1398857"/>
                </a:lnTo>
                <a:lnTo>
                  <a:pt x="138898" y="1405681"/>
                </a:lnTo>
                <a:lnTo>
                  <a:pt x="128777" y="1414018"/>
                </a:lnTo>
                <a:lnTo>
                  <a:pt x="128777" y="2763647"/>
                </a:lnTo>
                <a:lnTo>
                  <a:pt x="118657" y="2771999"/>
                </a:lnTo>
                <a:lnTo>
                  <a:pt x="91058" y="2778821"/>
                </a:lnTo>
                <a:lnTo>
                  <a:pt x="50125" y="2783422"/>
                </a:lnTo>
                <a:lnTo>
                  <a:pt x="0" y="278511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22308" y="4520310"/>
            <a:ext cx="363220" cy="259079"/>
          </a:xfrm>
          <a:custGeom>
            <a:avLst/>
            <a:gdLst/>
            <a:ahLst/>
            <a:cxnLst/>
            <a:rect l="l" t="t" r="r" b="b"/>
            <a:pathLst>
              <a:path w="363220" h="259078">
                <a:moveTo>
                  <a:pt x="280670" y="0"/>
                </a:moveTo>
                <a:lnTo>
                  <a:pt x="276987" y="10540"/>
                </a:lnTo>
                <a:lnTo>
                  <a:pt x="291961" y="17039"/>
                </a:lnTo>
                <a:lnTo>
                  <a:pt x="304863" y="26050"/>
                </a:lnTo>
                <a:lnTo>
                  <a:pt x="331025" y="67851"/>
                </a:lnTo>
                <a:lnTo>
                  <a:pt x="338645" y="106193"/>
                </a:lnTo>
                <a:lnTo>
                  <a:pt x="339598" y="128269"/>
                </a:lnTo>
                <a:lnTo>
                  <a:pt x="338643" y="151128"/>
                </a:lnTo>
                <a:lnTo>
                  <a:pt x="330971" y="190509"/>
                </a:lnTo>
                <a:lnTo>
                  <a:pt x="304895" y="232917"/>
                </a:lnTo>
                <a:lnTo>
                  <a:pt x="277368" y="248538"/>
                </a:lnTo>
                <a:lnTo>
                  <a:pt x="280670" y="259080"/>
                </a:lnTo>
                <a:lnTo>
                  <a:pt x="316007" y="242522"/>
                </a:lnTo>
                <a:lnTo>
                  <a:pt x="342011" y="213868"/>
                </a:lnTo>
                <a:lnTo>
                  <a:pt x="357949" y="175387"/>
                </a:lnTo>
                <a:lnTo>
                  <a:pt x="363220" y="129666"/>
                </a:lnTo>
                <a:lnTo>
                  <a:pt x="361886" y="105902"/>
                </a:lnTo>
                <a:lnTo>
                  <a:pt x="351218" y="63801"/>
                </a:lnTo>
                <a:lnTo>
                  <a:pt x="330051" y="29557"/>
                </a:lnTo>
                <a:lnTo>
                  <a:pt x="299432" y="6836"/>
                </a:lnTo>
                <a:lnTo>
                  <a:pt x="280670" y="0"/>
                </a:lnTo>
                <a:close/>
              </a:path>
              <a:path w="363220" h="259078">
                <a:moveTo>
                  <a:pt x="82550" y="0"/>
                </a:moveTo>
                <a:lnTo>
                  <a:pt x="47323" y="16684"/>
                </a:lnTo>
                <a:lnTo>
                  <a:pt x="21336" y="45465"/>
                </a:lnTo>
                <a:lnTo>
                  <a:pt x="5334" y="83947"/>
                </a:lnTo>
                <a:lnTo>
                  <a:pt x="0" y="129666"/>
                </a:lnTo>
                <a:lnTo>
                  <a:pt x="1313" y="153431"/>
                </a:lnTo>
                <a:lnTo>
                  <a:pt x="11894" y="195532"/>
                </a:lnTo>
                <a:lnTo>
                  <a:pt x="33043" y="229701"/>
                </a:lnTo>
                <a:lnTo>
                  <a:pt x="63714" y="252319"/>
                </a:lnTo>
                <a:lnTo>
                  <a:pt x="82550" y="259080"/>
                </a:lnTo>
                <a:lnTo>
                  <a:pt x="85851" y="248538"/>
                </a:lnTo>
                <a:lnTo>
                  <a:pt x="71064" y="242014"/>
                </a:lnTo>
                <a:lnTo>
                  <a:pt x="58324" y="232917"/>
                </a:lnTo>
                <a:lnTo>
                  <a:pt x="32248" y="190509"/>
                </a:lnTo>
                <a:lnTo>
                  <a:pt x="24576" y="151128"/>
                </a:lnTo>
                <a:lnTo>
                  <a:pt x="23622" y="128269"/>
                </a:lnTo>
                <a:lnTo>
                  <a:pt x="24576" y="106193"/>
                </a:lnTo>
                <a:lnTo>
                  <a:pt x="32248" y="67851"/>
                </a:lnTo>
                <a:lnTo>
                  <a:pt x="58420" y="26050"/>
                </a:lnTo>
                <a:lnTo>
                  <a:pt x="86233" y="10540"/>
                </a:lnTo>
                <a:lnTo>
                  <a:pt x="82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580628" y="4437888"/>
            <a:ext cx="5276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200" spc="4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FB5FC4A3-DA10-594D-BCF5-837AC8BA88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1338" y="212412"/>
            <a:ext cx="248251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复杂度分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121">
            <a:extLst>
              <a:ext uri="{FF2B5EF4-FFF2-40B4-BE49-F238E27FC236}">
                <a16:creationId xmlns:a16="http://schemas.microsoft.com/office/drawing/2014/main" id="{2B0FDFBA-8250-7C4F-B8D7-5CCC7C64A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94" y="1487302"/>
            <a:ext cx="11276012" cy="3309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10000"/>
              </a:spcBef>
              <a:buFont typeface="Wingdings" pitchFamily="2" charset="2"/>
              <a:buChar char="l"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贪心算法的思想是逐步获得最优解，是解决</a:t>
            </a:r>
            <a:r>
              <a:rPr lang="zh-CN" altLang="en-US" sz="2800" b="1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最优化问题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的一种简单、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适用范围有限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的策略</a:t>
            </a:r>
            <a:r>
              <a:rPr lang="zh-CN" altLang="en-US" sz="2800" b="1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 marL="457200" indent="-457200">
              <a:lnSpc>
                <a:spcPct val="150000"/>
              </a:lnSpc>
              <a:spcBef>
                <a:spcPct val="10000"/>
              </a:spcBef>
              <a:buFont typeface="Wingdings" pitchFamily="2" charset="2"/>
              <a:buChar char="l"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贪心算法没有固定的算法框架，算法设计的关键是贪心策略的选择。</a:t>
            </a:r>
          </a:p>
          <a:p>
            <a:pPr marL="457200" indent="-457200">
              <a:lnSpc>
                <a:spcPct val="150000"/>
              </a:lnSpc>
              <a:spcBef>
                <a:spcPct val="10000"/>
              </a:spcBef>
              <a:buFont typeface="Wingdings" pitchFamily="2" charset="2"/>
              <a:buChar char="l"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一定要注意，选择的贪心策略要具有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无后向性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r>
              <a:rPr lang="zh-CN" altLang="en-US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某状态以后的过程不会影响以前的状态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只与当前状态有关</a:t>
            </a:r>
            <a:r>
              <a:rPr lang="en-US" altLang="zh-CN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称这种特性为</a:t>
            </a:r>
            <a:r>
              <a:rPr lang="zh-CN" altLang="en-US" sz="2800" b="1" u="sng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无后效性</a:t>
            </a:r>
            <a:r>
              <a:rPr lang="zh-CN" altLang="en-US" sz="2800" b="1" u="sng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944370-5D08-644A-85A8-76337F2A6949}"/>
              </a:ext>
            </a:extLst>
          </p:cNvPr>
          <p:cNvSpPr txBox="1"/>
          <p:nvPr/>
        </p:nvSpPr>
        <p:spPr>
          <a:xfrm>
            <a:off x="1301675" y="248632"/>
            <a:ext cx="2431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latin typeface="SimSun" panose="02010600030101010101" pitchFamily="2" charset="-122"/>
                <a:ea typeface="SimSun" panose="02010600030101010101" pitchFamily="2" charset="-122"/>
              </a:rPr>
              <a:t>贪心</a:t>
            </a:r>
            <a:r>
              <a:rPr kumimoji="1"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3117368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95066" y="2005764"/>
            <a:ext cx="1150620" cy="1271270"/>
          </a:xfrm>
          <a:custGeom>
            <a:avLst/>
            <a:gdLst/>
            <a:ahLst/>
            <a:cxnLst/>
            <a:rect l="l" t="t" r="r" b="b"/>
            <a:pathLst>
              <a:path w="1150620" h="1271270">
                <a:moveTo>
                  <a:pt x="0" y="1271015"/>
                </a:moveTo>
                <a:lnTo>
                  <a:pt x="1150620" y="1271015"/>
                </a:lnTo>
                <a:lnTo>
                  <a:pt x="1150620" y="0"/>
                </a:lnTo>
                <a:lnTo>
                  <a:pt x="0" y="0"/>
                </a:lnTo>
                <a:lnTo>
                  <a:pt x="0" y="1271015"/>
                </a:lnTo>
                <a:close/>
              </a:path>
            </a:pathLst>
          </a:custGeom>
          <a:solidFill>
            <a:srgbClr val="FFF96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711451" y="4277287"/>
            <a:ext cx="3451860" cy="1287780"/>
            <a:chOff x="1711451" y="4072890"/>
            <a:chExt cx="3451860" cy="1287780"/>
          </a:xfrm>
        </p:grpSpPr>
        <p:sp>
          <p:nvSpPr>
            <p:cNvPr id="4" name="object 4"/>
            <p:cNvSpPr/>
            <p:nvPr/>
          </p:nvSpPr>
          <p:spPr>
            <a:xfrm>
              <a:off x="3990594" y="4090416"/>
              <a:ext cx="1172845" cy="1270635"/>
            </a:xfrm>
            <a:custGeom>
              <a:avLst/>
              <a:gdLst/>
              <a:ahLst/>
              <a:cxnLst/>
              <a:rect l="l" t="t" r="r" b="b"/>
              <a:pathLst>
                <a:path w="1172845" h="1270635">
                  <a:moveTo>
                    <a:pt x="1172718" y="0"/>
                  </a:moveTo>
                  <a:lnTo>
                    <a:pt x="0" y="0"/>
                  </a:lnTo>
                  <a:lnTo>
                    <a:pt x="0" y="1270254"/>
                  </a:lnTo>
                  <a:lnTo>
                    <a:pt x="1172718" y="1270254"/>
                  </a:lnTo>
                  <a:lnTo>
                    <a:pt x="1172718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2145" y="4079748"/>
              <a:ext cx="1305560" cy="1270635"/>
            </a:xfrm>
            <a:custGeom>
              <a:avLst/>
              <a:gdLst/>
              <a:ahLst/>
              <a:cxnLst/>
              <a:rect l="l" t="t" r="r" b="b"/>
              <a:pathLst>
                <a:path w="1305560" h="1270635">
                  <a:moveTo>
                    <a:pt x="0" y="1270254"/>
                  </a:moveTo>
                  <a:lnTo>
                    <a:pt x="1305306" y="1270254"/>
                  </a:lnTo>
                  <a:lnTo>
                    <a:pt x="1305306" y="0"/>
                  </a:lnTo>
                  <a:lnTo>
                    <a:pt x="0" y="0"/>
                  </a:lnTo>
                  <a:lnTo>
                    <a:pt x="0" y="127025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1451" y="4072890"/>
              <a:ext cx="981075" cy="1271270"/>
            </a:xfrm>
            <a:custGeom>
              <a:avLst/>
              <a:gdLst/>
              <a:ahLst/>
              <a:cxnLst/>
              <a:rect l="l" t="t" r="r" b="b"/>
              <a:pathLst>
                <a:path w="981075" h="1271270">
                  <a:moveTo>
                    <a:pt x="980694" y="0"/>
                  </a:moveTo>
                  <a:lnTo>
                    <a:pt x="0" y="0"/>
                  </a:lnTo>
                  <a:lnTo>
                    <a:pt x="0" y="1271016"/>
                  </a:lnTo>
                  <a:lnTo>
                    <a:pt x="980694" y="1271016"/>
                  </a:lnTo>
                  <a:lnTo>
                    <a:pt x="980694" y="0"/>
                  </a:lnTo>
                  <a:close/>
                </a:path>
              </a:pathLst>
            </a:custGeom>
            <a:solidFill>
              <a:srgbClr val="D26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419605" y="2005002"/>
            <a:ext cx="4015740" cy="1271270"/>
            <a:chOff x="1419605" y="1800605"/>
            <a:chExt cx="4015740" cy="1271270"/>
          </a:xfrm>
        </p:grpSpPr>
        <p:sp>
          <p:nvSpPr>
            <p:cNvPr id="8" name="object 8"/>
            <p:cNvSpPr/>
            <p:nvPr/>
          </p:nvSpPr>
          <p:spPr>
            <a:xfrm>
              <a:off x="4358639" y="1800605"/>
              <a:ext cx="1076960" cy="1271270"/>
            </a:xfrm>
            <a:custGeom>
              <a:avLst/>
              <a:gdLst/>
              <a:ahLst/>
              <a:cxnLst/>
              <a:rect l="l" t="t" r="r" b="b"/>
              <a:pathLst>
                <a:path w="1076960" h="1271270">
                  <a:moveTo>
                    <a:pt x="897255" y="0"/>
                  </a:moveTo>
                  <a:lnTo>
                    <a:pt x="179450" y="0"/>
                  </a:lnTo>
                  <a:lnTo>
                    <a:pt x="131762" y="6413"/>
                  </a:lnTo>
                  <a:lnTo>
                    <a:pt x="88900" y="24511"/>
                  </a:lnTo>
                  <a:lnTo>
                    <a:pt x="52577" y="52578"/>
                  </a:lnTo>
                  <a:lnTo>
                    <a:pt x="24511" y="88900"/>
                  </a:lnTo>
                  <a:lnTo>
                    <a:pt x="6413" y="131762"/>
                  </a:lnTo>
                  <a:lnTo>
                    <a:pt x="0" y="179451"/>
                  </a:lnTo>
                  <a:lnTo>
                    <a:pt x="0" y="1091565"/>
                  </a:lnTo>
                  <a:lnTo>
                    <a:pt x="6413" y="1139253"/>
                  </a:lnTo>
                  <a:lnTo>
                    <a:pt x="24511" y="1182116"/>
                  </a:lnTo>
                  <a:lnTo>
                    <a:pt x="52577" y="1218438"/>
                  </a:lnTo>
                  <a:lnTo>
                    <a:pt x="88900" y="1246505"/>
                  </a:lnTo>
                  <a:lnTo>
                    <a:pt x="131762" y="1264602"/>
                  </a:lnTo>
                  <a:lnTo>
                    <a:pt x="179450" y="1271016"/>
                  </a:lnTo>
                  <a:lnTo>
                    <a:pt x="897255" y="1271016"/>
                  </a:lnTo>
                  <a:lnTo>
                    <a:pt x="944943" y="1264602"/>
                  </a:lnTo>
                  <a:lnTo>
                    <a:pt x="987806" y="1246505"/>
                  </a:lnTo>
                  <a:lnTo>
                    <a:pt x="1024128" y="1218438"/>
                  </a:lnTo>
                  <a:lnTo>
                    <a:pt x="1052195" y="1182116"/>
                  </a:lnTo>
                  <a:lnTo>
                    <a:pt x="1070292" y="1139253"/>
                  </a:lnTo>
                  <a:lnTo>
                    <a:pt x="1076706" y="1091565"/>
                  </a:lnTo>
                  <a:lnTo>
                    <a:pt x="1076706" y="179451"/>
                  </a:lnTo>
                  <a:lnTo>
                    <a:pt x="1070292" y="131762"/>
                  </a:lnTo>
                  <a:lnTo>
                    <a:pt x="1052195" y="88900"/>
                  </a:lnTo>
                  <a:lnTo>
                    <a:pt x="1024128" y="52578"/>
                  </a:lnTo>
                  <a:lnTo>
                    <a:pt x="987806" y="24511"/>
                  </a:lnTo>
                  <a:lnTo>
                    <a:pt x="944943" y="6413"/>
                  </a:lnTo>
                  <a:lnTo>
                    <a:pt x="89725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19605" y="1800605"/>
              <a:ext cx="2939415" cy="1271270"/>
            </a:xfrm>
            <a:custGeom>
              <a:avLst/>
              <a:gdLst/>
              <a:ahLst/>
              <a:cxnLst/>
              <a:rect l="l" t="t" r="r" b="b"/>
              <a:pathLst>
                <a:path w="2939415" h="1271270">
                  <a:moveTo>
                    <a:pt x="2727197" y="0"/>
                  </a:moveTo>
                  <a:lnTo>
                    <a:pt x="211836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6"/>
                  </a:lnTo>
                  <a:lnTo>
                    <a:pt x="0" y="1059180"/>
                  </a:lnTo>
                  <a:lnTo>
                    <a:pt x="5596" y="1107743"/>
                  </a:lnTo>
                  <a:lnTo>
                    <a:pt x="21535" y="1152328"/>
                  </a:lnTo>
                  <a:lnTo>
                    <a:pt x="46546" y="1191661"/>
                  </a:lnTo>
                  <a:lnTo>
                    <a:pt x="79354" y="1224469"/>
                  </a:lnTo>
                  <a:lnTo>
                    <a:pt x="118687" y="1249480"/>
                  </a:lnTo>
                  <a:lnTo>
                    <a:pt x="163272" y="1265419"/>
                  </a:lnTo>
                  <a:lnTo>
                    <a:pt x="211836" y="1271016"/>
                  </a:lnTo>
                  <a:lnTo>
                    <a:pt x="2727197" y="1271016"/>
                  </a:lnTo>
                  <a:lnTo>
                    <a:pt x="2775761" y="1265419"/>
                  </a:lnTo>
                  <a:lnTo>
                    <a:pt x="2820346" y="1249480"/>
                  </a:lnTo>
                  <a:lnTo>
                    <a:pt x="2859679" y="1224469"/>
                  </a:lnTo>
                  <a:lnTo>
                    <a:pt x="2892487" y="1191661"/>
                  </a:lnTo>
                  <a:lnTo>
                    <a:pt x="2917498" y="1152328"/>
                  </a:lnTo>
                  <a:lnTo>
                    <a:pt x="2933437" y="1107743"/>
                  </a:lnTo>
                  <a:lnTo>
                    <a:pt x="2939034" y="1059180"/>
                  </a:lnTo>
                  <a:lnTo>
                    <a:pt x="2939034" y="211836"/>
                  </a:lnTo>
                  <a:lnTo>
                    <a:pt x="2933437" y="163272"/>
                  </a:lnTo>
                  <a:lnTo>
                    <a:pt x="2917498" y="118687"/>
                  </a:lnTo>
                  <a:lnTo>
                    <a:pt x="2892487" y="79354"/>
                  </a:lnTo>
                  <a:lnTo>
                    <a:pt x="2859679" y="46546"/>
                  </a:lnTo>
                  <a:lnTo>
                    <a:pt x="2820346" y="21535"/>
                  </a:lnTo>
                  <a:lnTo>
                    <a:pt x="2775761" y="5596"/>
                  </a:lnTo>
                  <a:lnTo>
                    <a:pt x="2727197" y="0"/>
                  </a:lnTo>
                  <a:close/>
                </a:path>
              </a:pathLst>
            </a:custGeom>
            <a:solidFill>
              <a:srgbClr val="FFF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763773" y="1948433"/>
              <a:ext cx="359663" cy="36042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63395" y="275533"/>
            <a:ext cx="444093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对比</a:t>
            </a:r>
            <a:r>
              <a:rPr sz="3600" b="1" spc="-25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0-1</a:t>
            </a: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背包问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77414" y="2590472"/>
            <a:ext cx="533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啤</a:t>
            </a:r>
            <a:r>
              <a:rPr sz="2000" spc="-50">
                <a:latin typeface="PMingLiU"/>
                <a:cs typeface="PMingLiU"/>
              </a:rPr>
              <a:t>酒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15692" y="2917879"/>
            <a:ext cx="65659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>
                <a:latin typeface="Cambria Math"/>
                <a:cs typeface="Cambria Math"/>
              </a:rPr>
              <a:t>𝒗</a:t>
            </a:r>
            <a:r>
              <a:rPr sz="1600" spc="85">
                <a:latin typeface="Cambria Math"/>
                <a:cs typeface="Cambria Math"/>
              </a:rPr>
              <a:t> </a:t>
            </a:r>
            <a:r>
              <a:rPr sz="1600">
                <a:latin typeface="Cambria Math"/>
                <a:cs typeface="Cambria Math"/>
              </a:rPr>
              <a:t>=</a:t>
            </a:r>
            <a:r>
              <a:rPr sz="1600" spc="90">
                <a:latin typeface="Cambria Math"/>
                <a:cs typeface="Cambria Math"/>
              </a:rPr>
              <a:t> </a:t>
            </a:r>
            <a:r>
              <a:rPr sz="1600" spc="-25">
                <a:latin typeface="Cambria Math"/>
                <a:cs typeface="Cambria Math"/>
              </a:rPr>
              <a:t>𝟏𝟎</a:t>
            </a:r>
            <a:endParaRPr sz="1600">
              <a:latin typeface="Cambria Math"/>
              <a:cs typeface="Cambria Math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774433" y="1710435"/>
          <a:ext cx="4873624" cy="299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4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商品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价格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200" spc="-25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体积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200" spc="-2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性价比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啤酒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2.40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牛奶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>
                          <a:latin typeface="Times New Roman"/>
                          <a:cs typeface="Times New Roman"/>
                        </a:rPr>
                        <a:t>9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2.25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2200" spc="-25">
                          <a:latin typeface="PMingLiU"/>
                          <a:cs typeface="PMingLiU"/>
                        </a:rPr>
                        <a:t>饼干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>
                          <a:latin typeface="Times New Roman"/>
                          <a:cs typeface="Times New Roman"/>
                        </a:rPr>
                        <a:t>9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2.25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2200" spc="-30">
                          <a:latin typeface="PMingLiU"/>
                          <a:cs typeface="PMingLiU"/>
                        </a:rPr>
                        <a:t>面包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>
                          <a:latin typeface="Times New Roman"/>
                          <a:cs typeface="Times New Roman"/>
                        </a:rPr>
                        <a:t>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b="1" spc="-20">
                          <a:latin typeface="Times New Roman"/>
                          <a:cs typeface="Times New Roman"/>
                        </a:rPr>
                        <a:t>2.00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" name="object 15"/>
          <p:cNvPicPr/>
          <p:nvPr/>
        </p:nvPicPr>
        <p:blipFill>
          <a:blip r:embed="rId3"/>
          <a:stretch>
            <a:fillRect/>
          </a:stretch>
        </p:blipFill>
        <p:spPr>
          <a:xfrm>
            <a:off x="6850380" y="4200905"/>
            <a:ext cx="360425" cy="38709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/>
          <a:stretch>
            <a:fillRect/>
          </a:stretch>
        </p:blipFill>
        <p:spPr>
          <a:xfrm>
            <a:off x="6841235" y="2380488"/>
            <a:ext cx="359664" cy="38709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/>
          <a:stretch>
            <a:fillRect/>
          </a:stretch>
        </p:blipFill>
        <p:spPr>
          <a:xfrm>
            <a:off x="6881621" y="2999232"/>
            <a:ext cx="359664" cy="38709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/>
          <a:stretch>
            <a:fillRect/>
          </a:stretch>
        </p:blipFill>
        <p:spPr>
          <a:xfrm>
            <a:off x="6841997" y="3598926"/>
            <a:ext cx="359664" cy="38709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781038" y="4824221"/>
            <a:ext cx="4872355" cy="54483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84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sz="2400">
                <a:solidFill>
                  <a:srgbClr val="FFFFFF"/>
                </a:solidFill>
                <a:latin typeface="PMingLiU"/>
                <a:cs typeface="PMingLiU"/>
              </a:rPr>
              <a:t>背包体积为</a:t>
            </a:r>
            <a:r>
              <a:rPr sz="2400" spc="-25">
                <a:solidFill>
                  <a:srgbClr val="FFFFFF"/>
                </a:solidFill>
                <a:latin typeface="Cambria Math"/>
                <a:cs typeface="Cambria Math"/>
              </a:rPr>
              <a:t>𝟏𝟑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00555" y="4266618"/>
            <a:ext cx="4041775" cy="1309370"/>
            <a:chOff x="1400555" y="4062221"/>
            <a:chExt cx="4041775" cy="1309370"/>
          </a:xfrm>
        </p:grpSpPr>
        <p:sp>
          <p:nvSpPr>
            <p:cNvPr id="21" name="object 21"/>
            <p:cNvSpPr/>
            <p:nvPr/>
          </p:nvSpPr>
          <p:spPr>
            <a:xfrm>
              <a:off x="1419605" y="4090415"/>
              <a:ext cx="1259840" cy="1270635"/>
            </a:xfrm>
            <a:custGeom>
              <a:avLst/>
              <a:gdLst/>
              <a:ahLst/>
              <a:cxnLst/>
              <a:rect l="l" t="t" r="r" b="b"/>
              <a:pathLst>
                <a:path w="1259839" h="1270635">
                  <a:moveTo>
                    <a:pt x="1049655" y="0"/>
                  </a:moveTo>
                  <a:lnTo>
                    <a:pt x="209931" y="0"/>
                  </a:lnTo>
                  <a:lnTo>
                    <a:pt x="161792" y="5543"/>
                  </a:lnTo>
                  <a:lnTo>
                    <a:pt x="117604" y="21335"/>
                  </a:lnTo>
                  <a:lnTo>
                    <a:pt x="78625" y="46116"/>
                  </a:lnTo>
                  <a:lnTo>
                    <a:pt x="46116" y="78625"/>
                  </a:lnTo>
                  <a:lnTo>
                    <a:pt x="21335" y="117604"/>
                  </a:lnTo>
                  <a:lnTo>
                    <a:pt x="5543" y="161792"/>
                  </a:lnTo>
                  <a:lnTo>
                    <a:pt x="0" y="209930"/>
                  </a:lnTo>
                  <a:lnTo>
                    <a:pt x="0" y="1060322"/>
                  </a:lnTo>
                  <a:lnTo>
                    <a:pt x="5543" y="1108461"/>
                  </a:lnTo>
                  <a:lnTo>
                    <a:pt x="21336" y="1152649"/>
                  </a:lnTo>
                  <a:lnTo>
                    <a:pt x="46116" y="1191628"/>
                  </a:lnTo>
                  <a:lnTo>
                    <a:pt x="78625" y="1224137"/>
                  </a:lnTo>
                  <a:lnTo>
                    <a:pt x="117604" y="1248917"/>
                  </a:lnTo>
                  <a:lnTo>
                    <a:pt x="161792" y="1264710"/>
                  </a:lnTo>
                  <a:lnTo>
                    <a:pt x="209931" y="1270253"/>
                  </a:lnTo>
                  <a:lnTo>
                    <a:pt x="1049655" y="1270253"/>
                  </a:lnTo>
                  <a:lnTo>
                    <a:pt x="1097793" y="1264710"/>
                  </a:lnTo>
                  <a:lnTo>
                    <a:pt x="1141981" y="1248917"/>
                  </a:lnTo>
                  <a:lnTo>
                    <a:pt x="1180960" y="1224137"/>
                  </a:lnTo>
                  <a:lnTo>
                    <a:pt x="1213469" y="1191628"/>
                  </a:lnTo>
                  <a:lnTo>
                    <a:pt x="1238250" y="1152649"/>
                  </a:lnTo>
                  <a:lnTo>
                    <a:pt x="1254042" y="1108461"/>
                  </a:lnTo>
                  <a:lnTo>
                    <a:pt x="1259586" y="1060322"/>
                  </a:lnTo>
                  <a:lnTo>
                    <a:pt x="1259586" y="209930"/>
                  </a:lnTo>
                  <a:lnTo>
                    <a:pt x="1254042" y="161792"/>
                  </a:lnTo>
                  <a:lnTo>
                    <a:pt x="1238250" y="117604"/>
                  </a:lnTo>
                  <a:lnTo>
                    <a:pt x="1213469" y="78625"/>
                  </a:lnTo>
                  <a:lnTo>
                    <a:pt x="1180960" y="46116"/>
                  </a:lnTo>
                  <a:lnTo>
                    <a:pt x="1141981" y="21335"/>
                  </a:lnTo>
                  <a:lnTo>
                    <a:pt x="1097793" y="5543"/>
                  </a:lnTo>
                  <a:lnTo>
                    <a:pt x="1049655" y="0"/>
                  </a:lnTo>
                  <a:close/>
                </a:path>
              </a:pathLst>
            </a:custGeom>
            <a:solidFill>
              <a:srgbClr val="D26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05861" y="4072127"/>
              <a:ext cx="1291590" cy="1271270"/>
            </a:xfrm>
            <a:custGeom>
              <a:avLst/>
              <a:gdLst/>
              <a:ahLst/>
              <a:cxnLst/>
              <a:rect l="l" t="t" r="r" b="b"/>
              <a:pathLst>
                <a:path w="1291589" h="1271270">
                  <a:moveTo>
                    <a:pt x="1079753" y="0"/>
                  </a:moveTo>
                  <a:lnTo>
                    <a:pt x="211836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6"/>
                  </a:lnTo>
                  <a:lnTo>
                    <a:pt x="0" y="1059180"/>
                  </a:lnTo>
                  <a:lnTo>
                    <a:pt x="5596" y="1107743"/>
                  </a:lnTo>
                  <a:lnTo>
                    <a:pt x="21535" y="1152328"/>
                  </a:lnTo>
                  <a:lnTo>
                    <a:pt x="46546" y="1191661"/>
                  </a:lnTo>
                  <a:lnTo>
                    <a:pt x="79354" y="1224469"/>
                  </a:lnTo>
                  <a:lnTo>
                    <a:pt x="118687" y="1249480"/>
                  </a:lnTo>
                  <a:lnTo>
                    <a:pt x="163272" y="1265419"/>
                  </a:lnTo>
                  <a:lnTo>
                    <a:pt x="211836" y="1271016"/>
                  </a:lnTo>
                  <a:lnTo>
                    <a:pt x="1079753" y="1271016"/>
                  </a:lnTo>
                  <a:lnTo>
                    <a:pt x="1128317" y="1265419"/>
                  </a:lnTo>
                  <a:lnTo>
                    <a:pt x="1172902" y="1249480"/>
                  </a:lnTo>
                  <a:lnTo>
                    <a:pt x="1212235" y="1224469"/>
                  </a:lnTo>
                  <a:lnTo>
                    <a:pt x="1245043" y="1191661"/>
                  </a:lnTo>
                  <a:lnTo>
                    <a:pt x="1270054" y="1152328"/>
                  </a:lnTo>
                  <a:lnTo>
                    <a:pt x="1285993" y="1107743"/>
                  </a:lnTo>
                  <a:lnTo>
                    <a:pt x="1291589" y="1059180"/>
                  </a:lnTo>
                  <a:lnTo>
                    <a:pt x="1291589" y="211836"/>
                  </a:lnTo>
                  <a:lnTo>
                    <a:pt x="1285993" y="163272"/>
                  </a:lnTo>
                  <a:lnTo>
                    <a:pt x="1270054" y="118687"/>
                  </a:lnTo>
                  <a:lnTo>
                    <a:pt x="1245043" y="79354"/>
                  </a:lnTo>
                  <a:lnTo>
                    <a:pt x="1212235" y="46546"/>
                  </a:lnTo>
                  <a:lnTo>
                    <a:pt x="1172902" y="21535"/>
                  </a:lnTo>
                  <a:lnTo>
                    <a:pt x="1128317" y="5596"/>
                  </a:lnTo>
                  <a:lnTo>
                    <a:pt x="107975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97451" y="4081271"/>
              <a:ext cx="1438275" cy="1271270"/>
            </a:xfrm>
            <a:custGeom>
              <a:avLst/>
              <a:gdLst/>
              <a:ahLst/>
              <a:cxnLst/>
              <a:rect l="l" t="t" r="r" b="b"/>
              <a:pathLst>
                <a:path w="1438275" h="1271270">
                  <a:moveTo>
                    <a:pt x="1226058" y="0"/>
                  </a:moveTo>
                  <a:lnTo>
                    <a:pt x="211836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5"/>
                  </a:lnTo>
                  <a:lnTo>
                    <a:pt x="0" y="1059179"/>
                  </a:lnTo>
                  <a:lnTo>
                    <a:pt x="5596" y="1107743"/>
                  </a:lnTo>
                  <a:lnTo>
                    <a:pt x="21535" y="1152328"/>
                  </a:lnTo>
                  <a:lnTo>
                    <a:pt x="46546" y="1191661"/>
                  </a:lnTo>
                  <a:lnTo>
                    <a:pt x="79354" y="1224469"/>
                  </a:lnTo>
                  <a:lnTo>
                    <a:pt x="118687" y="1249480"/>
                  </a:lnTo>
                  <a:lnTo>
                    <a:pt x="163272" y="1265419"/>
                  </a:lnTo>
                  <a:lnTo>
                    <a:pt x="211836" y="1271015"/>
                  </a:lnTo>
                  <a:lnTo>
                    <a:pt x="1226058" y="1271015"/>
                  </a:lnTo>
                  <a:lnTo>
                    <a:pt x="1274621" y="1265419"/>
                  </a:lnTo>
                  <a:lnTo>
                    <a:pt x="1319206" y="1249480"/>
                  </a:lnTo>
                  <a:lnTo>
                    <a:pt x="1358539" y="1224469"/>
                  </a:lnTo>
                  <a:lnTo>
                    <a:pt x="1391347" y="1191661"/>
                  </a:lnTo>
                  <a:lnTo>
                    <a:pt x="1416358" y="1152328"/>
                  </a:lnTo>
                  <a:lnTo>
                    <a:pt x="1432297" y="1107743"/>
                  </a:lnTo>
                  <a:lnTo>
                    <a:pt x="1437894" y="1059179"/>
                  </a:lnTo>
                  <a:lnTo>
                    <a:pt x="1437894" y="211835"/>
                  </a:lnTo>
                  <a:lnTo>
                    <a:pt x="1432297" y="163272"/>
                  </a:lnTo>
                  <a:lnTo>
                    <a:pt x="1416358" y="118687"/>
                  </a:lnTo>
                  <a:lnTo>
                    <a:pt x="1391347" y="79354"/>
                  </a:lnTo>
                  <a:lnTo>
                    <a:pt x="1358539" y="46546"/>
                  </a:lnTo>
                  <a:lnTo>
                    <a:pt x="1319206" y="21535"/>
                  </a:lnTo>
                  <a:lnTo>
                    <a:pt x="1274621" y="5596"/>
                  </a:lnTo>
                  <a:lnTo>
                    <a:pt x="1226058" y="0"/>
                  </a:lnTo>
                  <a:close/>
                </a:path>
              </a:pathLst>
            </a:custGeom>
            <a:solidFill>
              <a:srgbClr val="99D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19605" y="4081271"/>
              <a:ext cx="4003675" cy="1271270"/>
            </a:xfrm>
            <a:custGeom>
              <a:avLst/>
              <a:gdLst/>
              <a:ahLst/>
              <a:cxnLst/>
              <a:rect l="l" t="t" r="r" b="b"/>
              <a:pathLst>
                <a:path w="4003675" h="1271270">
                  <a:moveTo>
                    <a:pt x="0" y="211835"/>
                  </a:moveTo>
                  <a:lnTo>
                    <a:pt x="5596" y="163272"/>
                  </a:lnTo>
                  <a:lnTo>
                    <a:pt x="21535" y="118687"/>
                  </a:lnTo>
                  <a:lnTo>
                    <a:pt x="46546" y="79354"/>
                  </a:lnTo>
                  <a:lnTo>
                    <a:pt x="79354" y="46546"/>
                  </a:lnTo>
                  <a:lnTo>
                    <a:pt x="118687" y="21535"/>
                  </a:lnTo>
                  <a:lnTo>
                    <a:pt x="163272" y="5596"/>
                  </a:lnTo>
                  <a:lnTo>
                    <a:pt x="211836" y="0"/>
                  </a:lnTo>
                  <a:lnTo>
                    <a:pt x="3791711" y="0"/>
                  </a:lnTo>
                  <a:lnTo>
                    <a:pt x="3840275" y="5596"/>
                  </a:lnTo>
                  <a:lnTo>
                    <a:pt x="3884860" y="21535"/>
                  </a:lnTo>
                  <a:lnTo>
                    <a:pt x="3924193" y="46546"/>
                  </a:lnTo>
                  <a:lnTo>
                    <a:pt x="3957001" y="79354"/>
                  </a:lnTo>
                  <a:lnTo>
                    <a:pt x="3982012" y="118687"/>
                  </a:lnTo>
                  <a:lnTo>
                    <a:pt x="3997951" y="163272"/>
                  </a:lnTo>
                  <a:lnTo>
                    <a:pt x="4003548" y="211835"/>
                  </a:lnTo>
                  <a:lnTo>
                    <a:pt x="4003548" y="1059179"/>
                  </a:lnTo>
                  <a:lnTo>
                    <a:pt x="3997951" y="1107743"/>
                  </a:lnTo>
                  <a:lnTo>
                    <a:pt x="3982012" y="1152328"/>
                  </a:lnTo>
                  <a:lnTo>
                    <a:pt x="3957001" y="1191661"/>
                  </a:lnTo>
                  <a:lnTo>
                    <a:pt x="3924193" y="1224469"/>
                  </a:lnTo>
                  <a:lnTo>
                    <a:pt x="3884860" y="1249480"/>
                  </a:lnTo>
                  <a:lnTo>
                    <a:pt x="3840275" y="1265419"/>
                  </a:lnTo>
                  <a:lnTo>
                    <a:pt x="3791711" y="1271015"/>
                  </a:lnTo>
                  <a:lnTo>
                    <a:pt x="211836" y="1271015"/>
                  </a:lnTo>
                  <a:lnTo>
                    <a:pt x="163272" y="1265419"/>
                  </a:lnTo>
                  <a:lnTo>
                    <a:pt x="118687" y="1249480"/>
                  </a:lnTo>
                  <a:lnTo>
                    <a:pt x="79354" y="1224469"/>
                  </a:lnTo>
                  <a:lnTo>
                    <a:pt x="46546" y="1191661"/>
                  </a:lnTo>
                  <a:lnTo>
                    <a:pt x="21535" y="1152328"/>
                  </a:lnTo>
                  <a:lnTo>
                    <a:pt x="5596" y="1107743"/>
                  </a:lnTo>
                  <a:lnTo>
                    <a:pt x="0" y="1059179"/>
                  </a:lnTo>
                  <a:lnTo>
                    <a:pt x="0" y="211835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711451" y="4277287"/>
            <a:ext cx="981075" cy="1271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  <a:spcBef>
                <a:spcPts val="1785"/>
              </a:spcBef>
            </a:pPr>
            <a:r>
              <a:rPr sz="2000" spc="-20">
                <a:latin typeface="PMingLiU"/>
                <a:cs typeface="PMingLiU"/>
              </a:rPr>
              <a:t>饼</a:t>
            </a:r>
            <a:r>
              <a:rPr sz="2000" spc="-50">
                <a:latin typeface="PMingLiU"/>
                <a:cs typeface="PMingLiU"/>
              </a:rPr>
              <a:t>干</a:t>
            </a:r>
            <a:endParaRPr sz="2000">
              <a:latin typeface="PMingLiU"/>
              <a:cs typeface="PMingLiU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</a:pPr>
            <a:r>
              <a:rPr sz="1600">
                <a:latin typeface="Cambria Math"/>
                <a:cs typeface="Cambria Math"/>
              </a:rPr>
              <a:t>𝒗</a:t>
            </a:r>
            <a:r>
              <a:rPr sz="1600" spc="95">
                <a:latin typeface="Cambria Math"/>
                <a:cs typeface="Cambria Math"/>
              </a:rPr>
              <a:t> </a:t>
            </a:r>
            <a:r>
              <a:rPr sz="1600">
                <a:latin typeface="Cambria Math"/>
                <a:cs typeface="Cambria Math"/>
              </a:rPr>
              <a:t>=</a:t>
            </a:r>
            <a:r>
              <a:rPr sz="1600" spc="90">
                <a:latin typeface="Cambria Math"/>
                <a:cs typeface="Cambria Math"/>
              </a:rPr>
              <a:t> </a:t>
            </a:r>
            <a:r>
              <a:rPr sz="1600" spc="-50">
                <a:latin typeface="Cambria Math"/>
                <a:cs typeface="Cambria Math"/>
              </a:rPr>
              <a:t>𝟒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862327" y="4418256"/>
            <a:ext cx="3093085" cy="360045"/>
            <a:chOff x="1862327" y="4213859"/>
            <a:chExt cx="3093085" cy="360045"/>
          </a:xfrm>
        </p:grpSpPr>
        <p:pic>
          <p:nvPicPr>
            <p:cNvPr id="27" name="object 27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862327" y="4213859"/>
              <a:ext cx="359663" cy="35966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123438" y="4213859"/>
              <a:ext cx="360425" cy="35966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4595622" y="4213859"/>
              <a:ext cx="359663" cy="35966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048254" y="4813545"/>
            <a:ext cx="522605" cy="6261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325"/>
              </a:spcBef>
            </a:pPr>
            <a:r>
              <a:rPr sz="2000" spc="-20">
                <a:latin typeface="PMingLiU"/>
                <a:cs typeface="PMingLiU"/>
              </a:rPr>
              <a:t>面</a:t>
            </a:r>
            <a:r>
              <a:rPr sz="2000" spc="-50">
                <a:latin typeface="PMingLiU"/>
                <a:cs typeface="PMingLiU"/>
              </a:rPr>
              <a:t>包</a:t>
            </a:r>
            <a:endParaRPr sz="20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r>
              <a:rPr sz="1600">
                <a:latin typeface="Cambria Math"/>
                <a:cs typeface="Cambria Math"/>
              </a:rPr>
              <a:t>𝒗</a:t>
            </a:r>
            <a:r>
              <a:rPr sz="1600" spc="95">
                <a:latin typeface="Cambria Math"/>
                <a:cs typeface="Cambria Math"/>
              </a:rPr>
              <a:t> </a:t>
            </a:r>
            <a:r>
              <a:rPr sz="1600">
                <a:latin typeface="Cambria Math"/>
                <a:cs typeface="Cambria Math"/>
              </a:rPr>
              <a:t>=</a:t>
            </a:r>
            <a:r>
              <a:rPr sz="1600" spc="90">
                <a:latin typeface="Cambria Math"/>
                <a:cs typeface="Cambria Math"/>
              </a:rPr>
              <a:t> </a:t>
            </a:r>
            <a:r>
              <a:rPr sz="1600" spc="-50">
                <a:latin typeface="Cambria Math"/>
                <a:cs typeface="Cambria Math"/>
              </a:rPr>
              <a:t>𝟒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23485" y="4813545"/>
            <a:ext cx="522605" cy="6261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325"/>
              </a:spcBef>
            </a:pPr>
            <a:r>
              <a:rPr sz="2000" spc="-20">
                <a:latin typeface="PMingLiU"/>
                <a:cs typeface="PMingLiU"/>
              </a:rPr>
              <a:t>牛</a:t>
            </a:r>
            <a:r>
              <a:rPr sz="2000" spc="-50">
                <a:latin typeface="PMingLiU"/>
                <a:cs typeface="PMingLiU"/>
              </a:rPr>
              <a:t>奶</a:t>
            </a:r>
            <a:endParaRPr sz="20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r>
              <a:rPr sz="1600">
                <a:latin typeface="Cambria Math"/>
                <a:cs typeface="Cambria Math"/>
              </a:rPr>
              <a:t>𝒗</a:t>
            </a:r>
            <a:r>
              <a:rPr sz="1600" spc="95">
                <a:latin typeface="Cambria Math"/>
                <a:cs typeface="Cambria Math"/>
              </a:rPr>
              <a:t> </a:t>
            </a:r>
            <a:r>
              <a:rPr sz="1600">
                <a:latin typeface="Cambria Math"/>
                <a:cs typeface="Cambria Math"/>
              </a:rPr>
              <a:t>=</a:t>
            </a:r>
            <a:r>
              <a:rPr sz="1600" spc="90">
                <a:latin typeface="Cambria Math"/>
                <a:cs typeface="Cambria Math"/>
              </a:rPr>
              <a:t> </a:t>
            </a:r>
            <a:r>
              <a:rPr sz="1600" spc="-50">
                <a:latin typeface="Cambria Math"/>
                <a:cs typeface="Cambria Math"/>
              </a:rPr>
              <a:t>𝟓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345685" y="2008813"/>
            <a:ext cx="782320" cy="1271270"/>
          </a:xfrm>
          <a:custGeom>
            <a:avLst/>
            <a:gdLst/>
            <a:ahLst/>
            <a:cxnLst/>
            <a:rect l="l" t="t" r="r" b="b"/>
            <a:pathLst>
              <a:path w="782320" h="1271270">
                <a:moveTo>
                  <a:pt x="781812" y="0"/>
                </a:moveTo>
                <a:lnTo>
                  <a:pt x="0" y="0"/>
                </a:lnTo>
                <a:lnTo>
                  <a:pt x="0" y="1271015"/>
                </a:lnTo>
                <a:lnTo>
                  <a:pt x="781812" y="1271015"/>
                </a:lnTo>
                <a:lnTo>
                  <a:pt x="78181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15323" y="937682"/>
            <a:ext cx="4514850" cy="170688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0-1</a:t>
            </a:r>
            <a:r>
              <a:rPr sz="2800" spc="-15" dirty="0">
                <a:latin typeface="PMingLiU"/>
                <a:cs typeface="PMingLiU"/>
              </a:rPr>
              <a:t>背包问题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6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latin typeface="PMingLiU"/>
                <a:cs typeface="PMingLiU"/>
              </a:rPr>
              <a:t>贪心算法结果</a:t>
            </a:r>
            <a:r>
              <a:rPr sz="2400" spc="-10" dirty="0">
                <a:latin typeface="PMingLiU"/>
                <a:cs typeface="PMingLiU"/>
              </a:rPr>
              <a:t>：</a:t>
            </a:r>
            <a:endParaRPr sz="24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 dirty="0">
              <a:latin typeface="PMingLiU"/>
              <a:cs typeface="PMingLiU"/>
            </a:endParaRPr>
          </a:p>
          <a:p>
            <a:pPr marR="5080" algn="r">
              <a:lnSpc>
                <a:spcPct val="100000"/>
              </a:lnSpc>
            </a:pPr>
            <a:r>
              <a:rPr sz="2000" spc="-20" dirty="0" err="1">
                <a:latin typeface="PMingLiU"/>
                <a:cs typeface="PMingLiU"/>
              </a:rPr>
              <a:t>剩</a:t>
            </a:r>
            <a:r>
              <a:rPr sz="2000" spc="-50" dirty="0" err="1">
                <a:latin typeface="PMingLiU"/>
                <a:cs typeface="PMingLiU"/>
              </a:rPr>
              <a:t>余</a:t>
            </a:r>
            <a:endParaRPr sz="2000" dirty="0">
              <a:latin typeface="PMingLiU"/>
              <a:cs typeface="PMingLiU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70297" y="2587679"/>
            <a:ext cx="533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容</a:t>
            </a:r>
            <a:r>
              <a:rPr sz="2000" spc="-50">
                <a:latin typeface="PMingLiU"/>
                <a:cs typeface="PMingLiU"/>
              </a:rPr>
              <a:t>量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69535" y="2915339"/>
            <a:ext cx="5346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latin typeface="Cambria Math"/>
                <a:cs typeface="Cambria Math"/>
              </a:rPr>
              <a:t>𝒗</a:t>
            </a:r>
            <a:r>
              <a:rPr sz="1600" spc="90">
                <a:latin typeface="Cambria Math"/>
                <a:cs typeface="Cambria Math"/>
              </a:rPr>
              <a:t> </a:t>
            </a:r>
            <a:r>
              <a:rPr sz="1600">
                <a:latin typeface="Cambria Math"/>
                <a:cs typeface="Cambria Math"/>
              </a:rPr>
              <a:t>=</a:t>
            </a:r>
            <a:r>
              <a:rPr sz="1600" spc="90">
                <a:latin typeface="Cambria Math"/>
                <a:cs typeface="Cambria Math"/>
              </a:rPr>
              <a:t> </a:t>
            </a:r>
            <a:r>
              <a:rPr sz="1600" spc="-50">
                <a:latin typeface="Cambria Math"/>
                <a:cs typeface="Cambria Math"/>
              </a:rPr>
              <a:t>𝟑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419605" y="2005002"/>
            <a:ext cx="4003675" cy="1271270"/>
          </a:xfrm>
          <a:custGeom>
            <a:avLst/>
            <a:gdLst/>
            <a:ahLst/>
            <a:cxnLst/>
            <a:rect l="l" t="t" r="r" b="b"/>
            <a:pathLst>
              <a:path w="4003675" h="1271270">
                <a:moveTo>
                  <a:pt x="0" y="211836"/>
                </a:moveTo>
                <a:lnTo>
                  <a:pt x="5596" y="163272"/>
                </a:lnTo>
                <a:lnTo>
                  <a:pt x="21535" y="118687"/>
                </a:lnTo>
                <a:lnTo>
                  <a:pt x="46546" y="79354"/>
                </a:lnTo>
                <a:lnTo>
                  <a:pt x="79354" y="46546"/>
                </a:lnTo>
                <a:lnTo>
                  <a:pt x="118687" y="21535"/>
                </a:lnTo>
                <a:lnTo>
                  <a:pt x="163272" y="5596"/>
                </a:lnTo>
                <a:lnTo>
                  <a:pt x="211836" y="0"/>
                </a:lnTo>
                <a:lnTo>
                  <a:pt x="3791711" y="0"/>
                </a:lnTo>
                <a:lnTo>
                  <a:pt x="3840275" y="5596"/>
                </a:lnTo>
                <a:lnTo>
                  <a:pt x="3884860" y="21535"/>
                </a:lnTo>
                <a:lnTo>
                  <a:pt x="3924193" y="46546"/>
                </a:lnTo>
                <a:lnTo>
                  <a:pt x="3957001" y="79354"/>
                </a:lnTo>
                <a:lnTo>
                  <a:pt x="3982012" y="118687"/>
                </a:lnTo>
                <a:lnTo>
                  <a:pt x="3997951" y="163272"/>
                </a:lnTo>
                <a:lnTo>
                  <a:pt x="4003548" y="211836"/>
                </a:lnTo>
                <a:lnTo>
                  <a:pt x="4003548" y="1059180"/>
                </a:lnTo>
                <a:lnTo>
                  <a:pt x="3997951" y="1107743"/>
                </a:lnTo>
                <a:lnTo>
                  <a:pt x="3982012" y="1152328"/>
                </a:lnTo>
                <a:lnTo>
                  <a:pt x="3957001" y="1191661"/>
                </a:lnTo>
                <a:lnTo>
                  <a:pt x="3924193" y="1224469"/>
                </a:lnTo>
                <a:lnTo>
                  <a:pt x="3884860" y="1249480"/>
                </a:lnTo>
                <a:lnTo>
                  <a:pt x="3840275" y="1265419"/>
                </a:lnTo>
                <a:lnTo>
                  <a:pt x="3791711" y="1271016"/>
                </a:lnTo>
                <a:lnTo>
                  <a:pt x="211836" y="1271016"/>
                </a:lnTo>
                <a:lnTo>
                  <a:pt x="163272" y="1265419"/>
                </a:lnTo>
                <a:lnTo>
                  <a:pt x="118687" y="1249480"/>
                </a:lnTo>
                <a:lnTo>
                  <a:pt x="79354" y="1224469"/>
                </a:lnTo>
                <a:lnTo>
                  <a:pt x="46546" y="1191661"/>
                </a:lnTo>
                <a:lnTo>
                  <a:pt x="21535" y="1152328"/>
                </a:lnTo>
                <a:lnTo>
                  <a:pt x="5596" y="1107743"/>
                </a:lnTo>
                <a:lnTo>
                  <a:pt x="0" y="1059180"/>
                </a:lnTo>
                <a:lnTo>
                  <a:pt x="0" y="211836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032763" y="3316450"/>
            <a:ext cx="3116580" cy="86486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26895">
              <a:lnSpc>
                <a:spcPct val="100000"/>
              </a:lnSpc>
              <a:spcBef>
                <a:spcPts val="700"/>
              </a:spcBef>
            </a:pPr>
            <a:r>
              <a:rPr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总价值</a:t>
            </a:r>
            <a:r>
              <a:rPr sz="2800" spc="-37" baseline="-4166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𝟐𝟒</a:t>
            </a:r>
            <a:endParaRPr sz="2800" baseline="-4166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  <a:p>
            <a:pPr marL="360045" indent="-347980">
              <a:lnSpc>
                <a:spcPct val="100000"/>
              </a:lnSpc>
              <a:spcBef>
                <a:spcPts val="7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spc="-10" dirty="0" err="1">
                <a:latin typeface="PMingLiU"/>
                <a:cs typeface="PMingLiU"/>
              </a:rPr>
              <a:t>动态规划算法结果</a:t>
            </a:r>
            <a:r>
              <a:rPr sz="2400" spc="-10" dirty="0">
                <a:latin typeface="PMingLiU"/>
                <a:cs typeface="PMingLiU"/>
              </a:rPr>
              <a:t>：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791461" y="6020870"/>
            <a:ext cx="8640445" cy="688487"/>
          </a:xfrm>
          <a:custGeom>
            <a:avLst/>
            <a:gdLst/>
            <a:ahLst/>
            <a:cxnLst/>
            <a:rect l="l" t="t" r="r" b="b"/>
            <a:pathLst>
              <a:path w="8640445" h="788034">
                <a:moveTo>
                  <a:pt x="8640318" y="0"/>
                </a:moveTo>
                <a:lnTo>
                  <a:pt x="0" y="0"/>
                </a:lnTo>
                <a:lnTo>
                  <a:pt x="0" y="787908"/>
                </a:lnTo>
                <a:lnTo>
                  <a:pt x="8640318" y="787908"/>
                </a:lnTo>
                <a:lnTo>
                  <a:pt x="864031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883661" y="6109911"/>
            <a:ext cx="564134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8044" algn="ctr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0-1</a:t>
            </a:r>
            <a:r>
              <a:rPr sz="2800" spc="-10" dirty="0">
                <a:solidFill>
                  <a:srgbClr val="FFFFFF"/>
                </a:solidFill>
                <a:latin typeface="PMingLiU"/>
                <a:cs typeface="PMingLiU"/>
              </a:rPr>
              <a:t>背包问题不能使用贪心算法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243537A-1B25-4B4C-8A86-C36A93E475FD}"/>
              </a:ext>
            </a:extLst>
          </p:cNvPr>
          <p:cNvSpPr txBox="1"/>
          <p:nvPr/>
        </p:nvSpPr>
        <p:spPr>
          <a:xfrm>
            <a:off x="2789933" y="5611922"/>
            <a:ext cx="1172845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pc="-2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总价值</a:t>
            </a:r>
            <a:r>
              <a:rPr lang="zh-CN" altLang="en-US" sz="2800" spc="-37" baseline="-4166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𝟐𝟖</a:t>
            </a:r>
            <a:endParaRPr lang="zh-CN" altLang="en-US" sz="2800" baseline="-4166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8340" y="2395091"/>
            <a:ext cx="2438400" cy="8826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905510">
              <a:lnSpc>
                <a:spcPct val="100000"/>
              </a:lnSpc>
              <a:spcBef>
                <a:spcPts val="509"/>
              </a:spcBef>
              <a:tabLst>
                <a:tab pos="1917700" algn="l"/>
              </a:tabLst>
            </a:pPr>
            <a:r>
              <a:rPr sz="2000" spc="-20" dirty="0" err="1">
                <a:latin typeface="PMingLiU"/>
                <a:cs typeface="PMingLiU"/>
              </a:rPr>
              <a:t>啤</a:t>
            </a:r>
            <a:r>
              <a:rPr sz="2000" spc="-50" dirty="0" err="1">
                <a:latin typeface="PMingLiU"/>
                <a:cs typeface="PMingLiU"/>
              </a:rPr>
              <a:t>酒</a:t>
            </a:r>
            <a:r>
              <a:rPr sz="2000" dirty="0">
                <a:latin typeface="PMingLiU"/>
                <a:cs typeface="PMingLiU"/>
              </a:rPr>
              <a:t>	</a:t>
            </a:r>
            <a:r>
              <a:rPr sz="2000" spc="-20" dirty="0" err="1">
                <a:latin typeface="PMingLiU"/>
                <a:cs typeface="PMingLiU"/>
              </a:rPr>
              <a:t>饼</a:t>
            </a:r>
            <a:r>
              <a:rPr sz="2000" spc="-50" dirty="0" err="1">
                <a:latin typeface="PMingLiU"/>
                <a:cs typeface="PMingLiU"/>
              </a:rPr>
              <a:t>干</a:t>
            </a:r>
            <a:endParaRPr sz="2000" dirty="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解决方法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9049" y="277573"/>
            <a:ext cx="446786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对比</a:t>
            </a:r>
            <a:r>
              <a:rPr sz="3600" b="1" spc="-25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0-1</a:t>
            </a:r>
            <a:r>
              <a:rPr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背包问</a:t>
            </a:r>
            <a:r>
              <a:rPr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</a:p>
        </p:txBody>
      </p:sp>
      <p:pic>
        <p:nvPicPr>
          <p:cNvPr id="5" name="object 5"/>
          <p:cNvPicPr/>
          <p:nvPr/>
        </p:nvPicPr>
        <p:blipFill>
          <a:blip r:embed="rId2"/>
          <a:stretch>
            <a:fillRect/>
          </a:stretch>
        </p:blipFill>
        <p:spPr>
          <a:xfrm>
            <a:off x="2683353" y="2075833"/>
            <a:ext cx="276664" cy="2740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3609594" y="2084396"/>
            <a:ext cx="360425" cy="2569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/>
          <a:stretch>
            <a:fillRect/>
          </a:stretch>
        </p:blipFill>
        <p:spPr>
          <a:xfrm>
            <a:off x="1701780" y="2033016"/>
            <a:ext cx="304331" cy="3596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/>
          <a:stretch>
            <a:fillRect/>
          </a:stretch>
        </p:blipFill>
        <p:spPr>
          <a:xfrm>
            <a:off x="4582707" y="2037297"/>
            <a:ext cx="350441" cy="3511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22979" y="2447289"/>
            <a:ext cx="14617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41069" algn="l"/>
              </a:tabLst>
            </a:pPr>
            <a:r>
              <a:rPr sz="2000" spc="-20">
                <a:latin typeface="PMingLiU"/>
                <a:cs typeface="PMingLiU"/>
              </a:rPr>
              <a:t>面</a:t>
            </a:r>
            <a:r>
              <a:rPr sz="2000" spc="-50">
                <a:latin typeface="PMingLiU"/>
                <a:cs typeface="PMingLiU"/>
              </a:rPr>
              <a:t>包</a:t>
            </a:r>
            <a:r>
              <a:rPr sz="2000">
                <a:latin typeface="PMingLiU"/>
                <a:cs typeface="PMingLiU"/>
              </a:rPr>
              <a:t>	</a:t>
            </a:r>
            <a:r>
              <a:rPr sz="2000" spc="-20">
                <a:latin typeface="PMingLiU"/>
                <a:cs typeface="PMingLiU"/>
              </a:rPr>
              <a:t>牛</a:t>
            </a:r>
            <a:r>
              <a:rPr sz="2000" spc="-50">
                <a:latin typeface="PMingLiU"/>
                <a:cs typeface="PMingLiU"/>
              </a:rPr>
              <a:t>奶</a:t>
            </a:r>
            <a:endParaRPr sz="2000">
              <a:latin typeface="PMingLiU"/>
              <a:cs typeface="PMingLiU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/>
          <a:stretch>
            <a:fillRect/>
          </a:stretch>
        </p:blipFill>
        <p:spPr>
          <a:xfrm>
            <a:off x="9158544" y="2020168"/>
            <a:ext cx="385439" cy="36328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/>
          <a:stretch>
            <a:fillRect/>
          </a:stretch>
        </p:blipFill>
        <p:spPr>
          <a:xfrm>
            <a:off x="7453300" y="1831234"/>
            <a:ext cx="273260" cy="5430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/>
          <a:stretch>
            <a:fillRect/>
          </a:stretch>
        </p:blipFill>
        <p:spPr>
          <a:xfrm>
            <a:off x="8223624" y="1905136"/>
            <a:ext cx="428002" cy="473719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0032492" y="2020168"/>
            <a:ext cx="395605" cy="377190"/>
            <a:chOff x="10032492" y="2020168"/>
            <a:chExt cx="395605" cy="377190"/>
          </a:xfrm>
        </p:grpSpPr>
        <p:pic>
          <p:nvPicPr>
            <p:cNvPr id="14" name="object 14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0190392" y="2020168"/>
              <a:ext cx="237411" cy="36328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0032492" y="2097024"/>
              <a:ext cx="288798" cy="300227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1"/>
          <a:stretch>
            <a:fillRect/>
          </a:stretch>
        </p:blipFill>
        <p:spPr>
          <a:xfrm>
            <a:off x="6682096" y="1858674"/>
            <a:ext cx="231576" cy="51556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347205" y="2435860"/>
            <a:ext cx="43370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26794" algn="l"/>
                <a:tab pos="1786889" algn="l"/>
                <a:tab pos="2547620" algn="l"/>
                <a:tab pos="3561715" algn="l"/>
              </a:tabLst>
            </a:pPr>
            <a:r>
              <a:rPr sz="2000" spc="-20">
                <a:latin typeface="PMingLiU"/>
                <a:cs typeface="PMingLiU"/>
              </a:rPr>
              <a:t>苏打</a:t>
            </a:r>
            <a:r>
              <a:rPr sz="2000" spc="-50">
                <a:latin typeface="PMingLiU"/>
                <a:cs typeface="PMingLiU"/>
              </a:rPr>
              <a:t>水</a:t>
            </a:r>
            <a:r>
              <a:rPr sz="2000">
                <a:latin typeface="PMingLiU"/>
                <a:cs typeface="PMingLiU"/>
              </a:rPr>
              <a:t>	</a:t>
            </a:r>
            <a:r>
              <a:rPr sz="2000" spc="-20">
                <a:latin typeface="PMingLiU"/>
                <a:cs typeface="PMingLiU"/>
              </a:rPr>
              <a:t>汽</a:t>
            </a:r>
            <a:r>
              <a:rPr sz="2000" spc="-50">
                <a:latin typeface="PMingLiU"/>
                <a:cs typeface="PMingLiU"/>
              </a:rPr>
              <a:t>水</a:t>
            </a:r>
            <a:r>
              <a:rPr sz="2000">
                <a:latin typeface="PMingLiU"/>
                <a:cs typeface="PMingLiU"/>
              </a:rPr>
              <a:t>	</a:t>
            </a:r>
            <a:r>
              <a:rPr sz="2000" spc="-20">
                <a:latin typeface="PMingLiU"/>
                <a:cs typeface="PMingLiU"/>
              </a:rPr>
              <a:t>橙</a:t>
            </a:r>
            <a:r>
              <a:rPr sz="2000" spc="-50">
                <a:latin typeface="PMingLiU"/>
                <a:cs typeface="PMingLiU"/>
              </a:rPr>
              <a:t>汁</a:t>
            </a:r>
            <a:r>
              <a:rPr sz="2000">
                <a:latin typeface="PMingLiU"/>
                <a:cs typeface="PMingLiU"/>
              </a:rPr>
              <a:t>	</a:t>
            </a:r>
            <a:r>
              <a:rPr sz="2000" spc="-20">
                <a:latin typeface="PMingLiU"/>
                <a:cs typeface="PMingLiU"/>
              </a:rPr>
              <a:t>苹果</a:t>
            </a:r>
            <a:r>
              <a:rPr sz="2000" spc="-60">
                <a:latin typeface="PMingLiU"/>
                <a:cs typeface="PMingLiU"/>
              </a:rPr>
              <a:t>汁</a:t>
            </a:r>
            <a:r>
              <a:rPr sz="2000">
                <a:latin typeface="PMingLiU"/>
                <a:cs typeface="PMingLiU"/>
              </a:rPr>
              <a:t>	</a:t>
            </a:r>
            <a:r>
              <a:rPr sz="2000" spc="-20">
                <a:latin typeface="PMingLiU"/>
                <a:cs typeface="PMingLiU"/>
              </a:rPr>
              <a:t>西瓜</a:t>
            </a:r>
            <a:r>
              <a:rPr sz="2000" spc="-50">
                <a:latin typeface="PMingLiU"/>
                <a:cs typeface="PMingLiU"/>
              </a:rPr>
              <a:t>汁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50619" y="1248917"/>
            <a:ext cx="4467860" cy="56769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1165860">
              <a:lnSpc>
                <a:spcPct val="100000"/>
              </a:lnSpc>
              <a:spcBef>
                <a:spcPts val="270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物品不可分割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72833" y="1248917"/>
            <a:ext cx="3764279" cy="56769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992505">
              <a:lnSpc>
                <a:spcPct val="100000"/>
              </a:lnSpc>
              <a:spcBef>
                <a:spcPts val="270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物品可分割</a:t>
            </a:r>
            <a:endParaRPr sz="2800">
              <a:latin typeface="PMingLiU"/>
              <a:cs typeface="PMingLiU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2"/>
          <a:stretch>
            <a:fillRect/>
          </a:stretch>
        </p:blipFill>
        <p:spPr>
          <a:xfrm>
            <a:off x="1164052" y="4638075"/>
            <a:ext cx="3437991" cy="175349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150619" y="3607133"/>
            <a:ext cx="4467860" cy="56769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动态规划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72833" y="3531827"/>
            <a:ext cx="3764279" cy="56769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4290" rIns="0" bIns="0" rtlCol="0">
            <a:spAutoFit/>
          </a:bodyPr>
          <a:lstStyle/>
          <a:p>
            <a:pPr marL="1170940">
              <a:lnSpc>
                <a:spcPct val="100000"/>
              </a:lnSpc>
              <a:spcBef>
                <a:spcPts val="270"/>
              </a:spcBef>
            </a:pP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贪心策略</a:t>
            </a:r>
            <a:endParaRPr sz="2800">
              <a:latin typeface="PMingLiU"/>
              <a:cs typeface="PMingLiU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3"/>
          <a:stretch>
            <a:fillRect/>
          </a:stretch>
        </p:blipFill>
        <p:spPr>
          <a:xfrm>
            <a:off x="6677101" y="4252684"/>
            <a:ext cx="3747208" cy="251397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/>
          <a:stretch>
            <a:fillRect/>
          </a:stretch>
        </p:blipFill>
        <p:spPr>
          <a:xfrm>
            <a:off x="4817364" y="4407995"/>
            <a:ext cx="800862" cy="22890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68BDD702-962B-C641-94C9-14DB678F5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062" y="1360580"/>
            <a:ext cx="5905500" cy="3869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递推法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递归法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蛮力枚举法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分而治之法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动态规划法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贪心算法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DCB5C7-2268-FE41-AAD6-DD12A0D645A3}"/>
              </a:ext>
            </a:extLst>
          </p:cNvPr>
          <p:cNvSpPr txBox="1"/>
          <p:nvPr/>
        </p:nvSpPr>
        <p:spPr>
          <a:xfrm>
            <a:off x="1226370" y="279700"/>
            <a:ext cx="4184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不同算法策略的特点</a:t>
            </a: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62F579FA-BE7A-2A49-B89A-2E30876C1D0A}"/>
              </a:ext>
            </a:extLst>
          </p:cNvPr>
          <p:cNvSpPr/>
          <p:nvPr/>
        </p:nvSpPr>
        <p:spPr>
          <a:xfrm>
            <a:off x="710006" y="1613647"/>
            <a:ext cx="225911" cy="3463962"/>
          </a:xfrm>
          <a:prstGeom prst="leftBrac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7139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19E1DB-14C9-5149-88C3-11C0458493B2}"/>
              </a:ext>
            </a:extLst>
          </p:cNvPr>
          <p:cNvSpPr txBox="1"/>
          <p:nvPr/>
        </p:nvSpPr>
        <p:spPr>
          <a:xfrm>
            <a:off x="771861" y="1559423"/>
            <a:ext cx="9956202" cy="1930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“递推法”和贪心算法一样，是由当前问题的逐步解决从而得到整个问题的解，只是依赖的是信息间本身的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递推关系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，每一步不需要策略参与到算法中，它们更多地用于计算。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CA3BD5-5D7C-C94B-B294-113931D93CFF}"/>
              </a:ext>
            </a:extLst>
          </p:cNvPr>
          <p:cNvSpPr txBox="1"/>
          <p:nvPr/>
        </p:nvSpPr>
        <p:spPr>
          <a:xfrm>
            <a:off x="1245198" y="396247"/>
            <a:ext cx="9956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递推法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78825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4C0D928-A548-2248-BC8C-733920077981}"/>
              </a:ext>
            </a:extLst>
          </p:cNvPr>
          <p:cNvSpPr txBox="1"/>
          <p:nvPr/>
        </p:nvSpPr>
        <p:spPr>
          <a:xfrm>
            <a:off x="653527" y="1269471"/>
            <a:ext cx="11538473" cy="397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"/>
              </a:spcBef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递归法是利用大问题与其子问题间的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递归关系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来解决问题的。</a:t>
            </a:r>
          </a:p>
          <a:p>
            <a:pPr algn="just">
              <a:lnSpc>
                <a:spcPct val="150000"/>
              </a:lnSpc>
              <a:spcBef>
                <a:spcPct val="5000"/>
              </a:spcBef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能采用递归描述的算法通常有这样的特征：</a:t>
            </a:r>
          </a:p>
          <a:p>
            <a:pPr lvl="2" algn="just">
              <a:lnSpc>
                <a:spcPct val="150000"/>
              </a:lnSpc>
              <a:spcBef>
                <a:spcPct val="5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分解成规模较小的问题</a:t>
            </a:r>
          </a:p>
          <a:p>
            <a:pPr lvl="2" algn="just">
              <a:lnSpc>
                <a:spcPct val="150000"/>
              </a:lnSpc>
              <a:spcBef>
                <a:spcPct val="5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小问题的解方便地构造出大问题的解</a:t>
            </a:r>
          </a:p>
          <a:p>
            <a:pPr lvl="2" algn="just">
              <a:lnSpc>
                <a:spcPct val="150000"/>
              </a:lnSpc>
              <a:spcBef>
                <a:spcPct val="5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小问题也能采用同样的分解和综合方法分解成规模更小的问题</a:t>
            </a:r>
          </a:p>
          <a:p>
            <a:pPr lvl="2" algn="just">
              <a:lnSpc>
                <a:spcPct val="150000"/>
              </a:lnSpc>
              <a:spcBef>
                <a:spcPct val="5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当规模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N=1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时，能直接得解。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5731D2-C153-C145-AB94-0D55B1C1DA7C}"/>
              </a:ext>
            </a:extLst>
          </p:cNvPr>
          <p:cNvSpPr txBox="1"/>
          <p:nvPr/>
        </p:nvSpPr>
        <p:spPr>
          <a:xfrm>
            <a:off x="1245198" y="353215"/>
            <a:ext cx="9956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递归法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37616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CBC4794-0190-0343-B01C-5CCBDD1ED9DE}"/>
              </a:ext>
            </a:extLst>
          </p:cNvPr>
          <p:cNvSpPr txBox="1"/>
          <p:nvPr/>
        </p:nvSpPr>
        <p:spPr>
          <a:xfrm>
            <a:off x="675042" y="1498663"/>
            <a:ext cx="9956202" cy="1930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用于求解较复杂的问题，这类问题是可以被分解成独立的子问题来解决的，将两个或两个以上的独立子问题的解“合成”，就得到较大的子问题的解，最后合成为总问题的解。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1DD020-9BBF-694B-871F-DE5DAD918345}"/>
              </a:ext>
            </a:extLst>
          </p:cNvPr>
          <p:cNvSpPr txBox="1"/>
          <p:nvPr/>
        </p:nvSpPr>
        <p:spPr>
          <a:xfrm>
            <a:off x="1280160" y="365760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分而治之</a:t>
            </a:r>
          </a:p>
        </p:txBody>
      </p:sp>
    </p:spTree>
    <p:extLst>
      <p:ext uri="{BB962C8B-B14F-4D97-AF65-F5344CB8AC3E}">
        <p14:creationId xmlns:p14="http://schemas.microsoft.com/office/powerpoint/2010/main" val="2938506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D2371EC-312C-B84B-84E2-FABD684498C8}"/>
              </a:ext>
            </a:extLst>
          </p:cNvPr>
          <p:cNvSpPr txBox="1"/>
          <p:nvPr/>
        </p:nvSpPr>
        <p:spPr>
          <a:xfrm>
            <a:off x="632011" y="1509515"/>
            <a:ext cx="10932459" cy="2576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动态规划法与贪心法类似，是通过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多阶段决策过程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来解决问题的。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另一方面，动态规划法与分治法类似，当问题不能分解为独立的子问题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但又符合最优化原理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最优子结构性质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时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用动态规划，通过多阶段决策过程从逐步找出子问题的最优解，从而决策出问题的结果。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822E80-494D-0441-A950-A40C058C8D60}"/>
              </a:ext>
            </a:extLst>
          </p:cNvPr>
          <p:cNvSpPr txBox="1"/>
          <p:nvPr/>
        </p:nvSpPr>
        <p:spPr>
          <a:xfrm>
            <a:off x="1277471" y="342458"/>
            <a:ext cx="9956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动态规划法</a:t>
            </a:r>
            <a:endParaRPr lang="zh-CN" altLang="en-US" sz="3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7507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17C6C9D8-240B-BA4E-9F83-65DAF8EAF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766" y="1358657"/>
            <a:ext cx="10828468" cy="3222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对问题进行分解的算法策略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“分治法”与“动态规划法”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“分治法”与“动态规划法”都是递归思想的应用之一，是找出大问题与小的子问题之间的关系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直到小的子问题很容易解决，再由小的子问题的解导出大问题的解。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9F2E63-67D4-5C43-A89A-D1EBBE6077B5}"/>
              </a:ext>
            </a:extLst>
          </p:cNvPr>
          <p:cNvSpPr txBox="1"/>
          <p:nvPr/>
        </p:nvSpPr>
        <p:spPr>
          <a:xfrm>
            <a:off x="1161826" y="398034"/>
            <a:ext cx="3463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不同算法策略的特点</a:t>
            </a:r>
          </a:p>
        </p:txBody>
      </p:sp>
    </p:spTree>
    <p:extLst>
      <p:ext uri="{BB962C8B-B14F-4D97-AF65-F5344CB8AC3E}">
        <p14:creationId xmlns:p14="http://schemas.microsoft.com/office/powerpoint/2010/main" val="1615627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BC11FF18-EEF9-C14B-A2D0-43193AA5C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576" y="1365069"/>
            <a:ext cx="9580581" cy="4127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分治法所能解决的问题一般具有以下几个特征：</a:t>
            </a:r>
          </a:p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1) 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问题的规模缩小到一定的程度就可以容易地解决； </a:t>
            </a:r>
          </a:p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2) 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问题可以分解为若干个规模较小的相同问题。</a:t>
            </a:r>
          </a:p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3) 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子问题的解可以合并为该问题的解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;</a:t>
            </a:r>
          </a:p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4) 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各个子问题是相互独立的。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动态规划的实质是分治思想和解决冗余。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91816A-8578-8E41-ABBE-6A16112696E7}"/>
              </a:ext>
            </a:extLst>
          </p:cNvPr>
          <p:cNvSpPr txBox="1"/>
          <p:nvPr/>
        </p:nvSpPr>
        <p:spPr>
          <a:xfrm>
            <a:off x="1161826" y="398034"/>
            <a:ext cx="3463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不同算法策略的特点</a:t>
            </a:r>
          </a:p>
        </p:txBody>
      </p:sp>
    </p:spTree>
    <p:extLst>
      <p:ext uri="{BB962C8B-B14F-4D97-AF65-F5344CB8AC3E}">
        <p14:creationId xmlns:p14="http://schemas.microsoft.com/office/powerpoint/2010/main" val="9865543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53131;#53131;#177509;#76194;#81515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22793</TotalTime>
  <Words>1597</Words>
  <Application>Microsoft Macintosh PowerPoint</Application>
  <PresentationFormat>宽屏</PresentationFormat>
  <Paragraphs>517</Paragraphs>
  <Slides>35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等线</vt:lpstr>
      <vt:lpstr>等线 Light</vt:lpstr>
      <vt:lpstr>方正大标宋简体</vt:lpstr>
      <vt:lpstr>方正清刻本悦宋简体</vt:lpstr>
      <vt:lpstr>SimSun</vt:lpstr>
      <vt:lpstr>PMingLiU</vt:lpstr>
      <vt:lpstr>Times New Roman Regular</vt:lpstr>
      <vt:lpstr>Arial</vt:lpstr>
      <vt:lpstr>Cambria Math</vt:lpstr>
      <vt:lpstr>Times New Roman</vt:lpstr>
      <vt:lpstr>Wingdings</vt:lpstr>
      <vt:lpstr>Office 主题​​</vt:lpstr>
      <vt:lpstr>算法设计与分析</vt:lpstr>
      <vt:lpstr>PowerPoint 演示文稿</vt:lpstr>
      <vt:lpstr>PowerPoint 演示文稿</vt:lpstr>
      <vt:lpstr>问题背景</vt:lpstr>
      <vt:lpstr>问题定义</vt:lpstr>
      <vt:lpstr>贪心策略</vt:lpstr>
      <vt:lpstr>算法实例</vt:lpstr>
      <vt:lpstr>算法实例</vt:lpstr>
      <vt:lpstr>算法实例</vt:lpstr>
      <vt:lpstr>算法实例</vt:lpstr>
      <vt:lpstr>算法实例</vt:lpstr>
      <vt:lpstr>正确性证明</vt:lpstr>
      <vt:lpstr>正确性证明</vt:lpstr>
      <vt:lpstr>正确性证明</vt:lpstr>
      <vt:lpstr>正确性证明</vt:lpstr>
      <vt:lpstr>正确性证明</vt:lpstr>
      <vt:lpstr>正确性证明</vt:lpstr>
      <vt:lpstr>正确性证明</vt:lpstr>
      <vt:lpstr>伪代码</vt:lpstr>
      <vt:lpstr>伪代码</vt:lpstr>
      <vt:lpstr>伪代码</vt:lpstr>
      <vt:lpstr>伪代码</vt:lpstr>
      <vt:lpstr>复杂度分析</vt:lpstr>
      <vt:lpstr>复杂度分析</vt:lpstr>
      <vt:lpstr>复杂度分析</vt:lpstr>
      <vt:lpstr>PowerPoint 演示文稿</vt:lpstr>
      <vt:lpstr>对比0-1背包问题</vt:lpstr>
      <vt:lpstr>对比0-1背包问题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浩然</dc:creator>
  <cp:lastModifiedBy>赵 浩然</cp:lastModifiedBy>
  <cp:revision>962</cp:revision>
  <dcterms:created xsi:type="dcterms:W3CDTF">2022-08-31T02:13:47Z</dcterms:created>
  <dcterms:modified xsi:type="dcterms:W3CDTF">2023-05-31T01:24:35Z</dcterms:modified>
</cp:coreProperties>
</file>